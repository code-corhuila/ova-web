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caso con la tabla del cuaderno. En cada grupo 8 cumplen y 2 no. Pedir que, sin calcular nada, miren las etiquetas rojas: ¿dónde hay más descartes entre los círculos llenos? Esa intuición es la que el taller convierte en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cinco puntos son una sola historia: el punto 1 prepara el 5, el 2 muestra el número que engaña y el 3 lo desmonta. Insistir: en cada punto había que escribir la cuenta a mano en la celda «Mi respuesta», no solo correr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idea del paso 5 del cuaderno. Mostrar en el cuaderno la celda del paso 8 y la del punto 2 una al lado de la otra: solo cambian los nombres (pagaria por cumple, decision por modelo, aprobado por entrevista, negado por descartado). Error común: olvidar la sangría de 4 espacios dentro del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código: suma_mujeres = sum(mujeres) y promedio_mujeres = sum(mujeres) / len(mujeres), con mujeres = pausas_laborales[0:10]. Python muestra 1.2 con punto decimal. Error común: dejar algún None o dividir entre 20 en lugar 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con el dedo: mujeres 6 aciertos (1, 3, 5, 7, 9 y 10), hombres 8 (11 a 14, 16 a 18 y 19). Los rojos: candidatas 2, 4, 6 y 8 (cumplían y fueron descartadas), el 15 (igual) y el 20 (no cumplía y pasó). La tercera pregunta del punto pedía opinión argumentada: la buena respuesta es que el promedio puede esconder la diferencia entre grupos.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se pedía en el taller, pero es la función del paso 11 con los nombres del caso. Sirve para conectar con la sesión: el 83,3 % del banco era 91,7 % y 75 %. Aquí, 70 % es 60 % y 80 %.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Descarte injusto = cumplía el perfil y el modelo lo descartó. A quien no cumplía, descartarlo es correcto, por eso se divide entre 8 y no entre 10. Error común: dividir entre 10 (sale 40 % y 10 %) o contar también a las candidatas 9 y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celda del punto 4 traía valores = [0, 0], por eso la gráfica salía vacía. Había que poner descarte_M y descarte_H en el mismo orden de los nombres de las barras. Título débil: «Gráfica» o «Descarte por sexo». Título fuerte: «El modelo descarta 4 veces más a las mujeres que cumplen».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las dos frases y pedir otras al grupo. La regla: hablar de personas y de proporciones («una de cada dos») en lugar de porcentajes y términos técnicos. Se califican las dos frases.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los 16 que cumplían. Todos los descartados tienen 2 o 3 años de pausa (cuatro mujeres y el hombre 15); los que pasaron tienen 0 o 1. Castigar las pausas es castigar a las mujeres: las pausas son la variable sustituta (proxy) del sexo, igual que el barrio en el paso 13. El único hombre con 2 años también fue descartado: el modelo no mira el sexo, mira las pausas.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Aceptar «decisiones de diseño» si el estudiante argumenta que alguien decidió incluir la columna de pausas. Lo que no se acepta: nombrar la fuente sin explicar cómo aparece en el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una sola acción concreta y bien explicada el punto está completo. Borrar la columna del sexo NO es una buena acción: el modelo ya no la ve y aun así discrimina.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que el taller es individual: dos entregas con las mismas frases se califican como copia.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con las tres ideas del cuaderno.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Contar para ver el sesgo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Principios de Inteligencia Artificial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Semana 12 · taller guiado · qué había que hacer y cómo se resuelve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Un modelo de IA decide quién pasa a entrevista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caso: 20 hojas de vida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7B3FBF"/>
                </a:solidFill>
                <a:latin typeface="Aptos"/>
              </a:rPr>
              <a:t>Mujeres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12" name="Oval 11"/>
          <p:cNvSpPr/>
          <p:nvPr/>
        </p:nvSpPr>
        <p:spPr>
          <a:xfrm>
            <a:off x="1810512" y="20574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0512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46504" y="28986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4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16" name="Oval 15"/>
          <p:cNvSpPr/>
          <p:nvPr/>
        </p:nvSpPr>
        <p:spPr>
          <a:xfrm>
            <a:off x="2798064" y="20574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4056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20" name="Oval 19"/>
          <p:cNvSpPr/>
          <p:nvPr/>
        </p:nvSpPr>
        <p:spPr>
          <a:xfrm>
            <a:off x="3785616" y="20574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21608" y="28986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1608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20574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988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32" name="Oval 31"/>
          <p:cNvSpPr/>
          <p:nvPr/>
        </p:nvSpPr>
        <p:spPr>
          <a:xfrm>
            <a:off x="1810512" y="36576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0512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46504" y="44988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46504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36" name="Oval 35"/>
          <p:cNvSpPr/>
          <p:nvPr/>
        </p:nvSpPr>
        <p:spPr>
          <a:xfrm>
            <a:off x="2798064" y="3657600"/>
            <a:ext cx="777240" cy="777240"/>
          </a:xfrm>
          <a:prstGeom prst="ellipse">
            <a:avLst/>
          </a:prstGeom>
          <a:solidFill>
            <a:srgbClr val="7B3FB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8064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34056" y="44988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4056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40" name="Oval 39"/>
          <p:cNvSpPr/>
          <p:nvPr/>
        </p:nvSpPr>
        <p:spPr>
          <a:xfrm>
            <a:off x="3785616" y="365760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5616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B3FBF"/>
                </a:solidFill>
                <a:latin typeface="Aptos"/>
              </a:rPr>
              <a:t>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21608" y="44988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44" name="Oval 43"/>
          <p:cNvSpPr/>
          <p:nvPr/>
        </p:nvSpPr>
        <p:spPr>
          <a:xfrm>
            <a:off x="4773168" y="365760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73168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B3FBF"/>
                </a:solidFill>
                <a:latin typeface="Aptos"/>
              </a:rP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44988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Aptos"/>
              </a:rPr>
              <a:t>Hombres</a:t>
            </a:r>
          </a:p>
        </p:txBody>
      </p:sp>
      <p:sp>
        <p:nvSpPr>
          <p:cNvPr id="49" name="Oval 48"/>
          <p:cNvSpPr/>
          <p:nvPr/>
        </p:nvSpPr>
        <p:spPr>
          <a:xfrm>
            <a:off x="6309360" y="20574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5352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53" name="Oval 52"/>
          <p:cNvSpPr/>
          <p:nvPr/>
        </p:nvSpPr>
        <p:spPr>
          <a:xfrm>
            <a:off x="7296912" y="20574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32904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32904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57" name="Oval 56"/>
          <p:cNvSpPr/>
          <p:nvPr/>
        </p:nvSpPr>
        <p:spPr>
          <a:xfrm>
            <a:off x="8284464" y="20574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4464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0456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0456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61" name="Oval 60"/>
          <p:cNvSpPr/>
          <p:nvPr/>
        </p:nvSpPr>
        <p:spPr>
          <a:xfrm>
            <a:off x="9272016" y="20574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08008" y="28986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08008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65" name="Oval 64"/>
          <p:cNvSpPr/>
          <p:nvPr/>
        </p:nvSpPr>
        <p:spPr>
          <a:xfrm>
            <a:off x="10259568" y="20574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59568" y="20574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95560" y="28986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95560" y="28986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69" name="Oval 68"/>
          <p:cNvSpPr/>
          <p:nvPr/>
        </p:nvSpPr>
        <p:spPr>
          <a:xfrm>
            <a:off x="6309360" y="36576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45352" y="44988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5352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73" name="Oval 72"/>
          <p:cNvSpPr/>
          <p:nvPr/>
        </p:nvSpPr>
        <p:spPr>
          <a:xfrm>
            <a:off x="7296912" y="36576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96912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32904" y="44988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32904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77" name="Oval 76"/>
          <p:cNvSpPr/>
          <p:nvPr/>
        </p:nvSpPr>
        <p:spPr>
          <a:xfrm>
            <a:off x="8284464" y="3657600"/>
            <a:ext cx="777240" cy="7772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84464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0456" y="44988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0456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81" name="Oval 80"/>
          <p:cNvSpPr/>
          <p:nvPr/>
        </p:nvSpPr>
        <p:spPr>
          <a:xfrm>
            <a:off x="9272016" y="365760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72016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B"/>
                </a:solidFill>
                <a:latin typeface="Aptos"/>
              </a:rPr>
              <a:t>19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208008" y="4498848"/>
            <a:ext cx="914400" cy="29260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08008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descartado</a:t>
            </a:r>
          </a:p>
        </p:txBody>
      </p:sp>
      <p:sp>
        <p:nvSpPr>
          <p:cNvPr id="85" name="Oval 84"/>
          <p:cNvSpPr/>
          <p:nvPr/>
        </p:nvSpPr>
        <p:spPr>
          <a:xfrm>
            <a:off x="10259568" y="365760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59568" y="3657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7C7B"/>
                </a:solidFill>
                <a:latin typeface="Aptos"/>
              </a:rPr>
              <a:t>20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95560" y="4498848"/>
            <a:ext cx="914400" cy="29260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95560" y="449884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entrevista</a:t>
            </a:r>
          </a:p>
        </p:txBody>
      </p:sp>
      <p:sp>
        <p:nvSpPr>
          <p:cNvPr id="89" name="Oval 88"/>
          <p:cNvSpPr/>
          <p:nvPr/>
        </p:nvSpPr>
        <p:spPr>
          <a:xfrm>
            <a:off x="822960" y="5532120"/>
            <a:ext cx="274320" cy="27432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88720" y="5468112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Aptos"/>
              </a:rPr>
              <a:t>círculo lleno: cumple el perfil</a:t>
            </a:r>
          </a:p>
        </p:txBody>
      </p:sp>
      <p:sp>
        <p:nvSpPr>
          <p:cNvPr id="91" name="Oval 90"/>
          <p:cNvSpPr/>
          <p:nvPr/>
        </p:nvSpPr>
        <p:spPr>
          <a:xfrm>
            <a:off x="4206240" y="55321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0" y="5468112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Aptos"/>
              </a:rPr>
              <a:t>círculo vacío: no cumple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5468112"/>
            <a:ext cx="4023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Aptos"/>
              </a:rPr>
              <a:t>la etiqueta: lo que decidió el modelo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Lo que pedía el taller · individual · 5,0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Cinco puntos, un solo hilo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920240"/>
            <a:ext cx="1600200" cy="1600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65760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Suma y promedio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40690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3475B"/>
                </a:solidFill>
                <a:latin typeface="Aptos"/>
              </a:rPr>
              <a:t>de las pausas laborales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46634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1,0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0320" y="2514600"/>
            <a:ext cx="411480" cy="41148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3239" y="1920240"/>
            <a:ext cx="1600200" cy="1600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192024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65760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Exactitud general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0690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3475B"/>
                </a:solidFill>
                <a:latin typeface="Aptos"/>
              </a:rPr>
              <a:t>el número que engaña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634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1,0</a:t>
            </a:r>
          </a:p>
        </p:txBody>
      </p:sp>
      <p:sp>
        <p:nvSpPr>
          <p:cNvPr id="18" name="Chevron 17"/>
          <p:cNvSpPr/>
          <p:nvPr/>
        </p:nvSpPr>
        <p:spPr>
          <a:xfrm>
            <a:off x="4754879" y="2514600"/>
            <a:ext cx="411480" cy="41148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7800" y="1920240"/>
            <a:ext cx="1600200" cy="160020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2024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65760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Descarte injusto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0690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3475B"/>
                </a:solidFill>
                <a:latin typeface="Aptos"/>
              </a:rPr>
              <a:t>la prueba del auditor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6634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1,0</a:t>
            </a:r>
          </a:p>
        </p:txBody>
      </p:sp>
      <p:sp>
        <p:nvSpPr>
          <p:cNvPr id="24" name="Chevron 23"/>
          <p:cNvSpPr/>
          <p:nvPr/>
        </p:nvSpPr>
        <p:spPr>
          <a:xfrm>
            <a:off x="6949440" y="2514600"/>
            <a:ext cx="411480" cy="41148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52359" y="1920240"/>
            <a:ext cx="1600200" cy="1600200"/>
          </a:xfrm>
          <a:prstGeom prst="ellipse">
            <a:avLst/>
          </a:prstGeom>
          <a:solidFill>
            <a:srgbClr val="009540"/>
          </a:solidFill>
          <a:ln w="12700">
            <a:solidFill>
              <a:srgbClr val="009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59" y="192024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39" y="365760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La gráfica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39" y="40690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3475B"/>
                </a:solidFill>
                <a:latin typeface="Aptos"/>
              </a:rPr>
              <a:t>y dos frases para la gerente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39" y="46634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1,0</a:t>
            </a:r>
          </a:p>
        </p:txBody>
      </p:sp>
      <p:sp>
        <p:nvSpPr>
          <p:cNvPr id="30" name="Chevron 29"/>
          <p:cNvSpPr/>
          <p:nvPr/>
        </p:nvSpPr>
        <p:spPr>
          <a:xfrm>
            <a:off x="9143999" y="2514600"/>
            <a:ext cx="411480" cy="41148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46919" y="1920240"/>
            <a:ext cx="1600200" cy="1600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19" y="1920240"/>
            <a:ext cx="160020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365760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La causa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599" y="40690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3475B"/>
                </a:solidFill>
                <a:latin typeface="Aptos"/>
              </a:rPr>
              <a:t>variable sustituta y acción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46634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1,0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349240"/>
            <a:ext cx="10515600" cy="685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2841"/>
                </a:solidFill>
                <a:latin typeface="Aptos"/>
              </a:rPr>
              <a:t>Se califica la cuenta escrita a mano y la explicación, no solo que la celda corra.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for + if + contador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truco de todo el taller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731520"/>
          </a:xfrm>
          <a:prstGeom prst="roundRect">
            <a:avLst>
              <a:gd name="adj" fmla="val 18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onsolas"/>
              </a:rPr>
              <a:t>contador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3736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75B"/>
                </a:solidFill>
                <a:latin typeface="Aptos"/>
              </a:rPr>
              <a:t>arranca en cero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761488"/>
            <a:ext cx="4937760" cy="731520"/>
          </a:xfrm>
          <a:prstGeom prst="roundRect">
            <a:avLst>
              <a:gd name="adj" fmla="val 1800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61488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onsolas"/>
              </a:rPr>
              <a:t>for cada candidato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6148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75B"/>
                </a:solidFill>
                <a:latin typeface="Aptos"/>
              </a:rPr>
              <a:t>recorre la lista con zip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785616"/>
            <a:ext cx="4937760" cy="731520"/>
          </a:xfrm>
          <a:prstGeom prst="roundRect">
            <a:avLst>
              <a:gd name="adj" fmla="val 1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85616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onsolas"/>
              </a:rPr>
              <a:t>if cumple la condición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85616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75B"/>
                </a:solidFill>
                <a:latin typeface="Aptos"/>
              </a:rPr>
              <a:t>pregunta por él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4809744"/>
            <a:ext cx="4937760" cy="731520"/>
          </a:xfrm>
          <a:prstGeom prst="roundRect">
            <a:avLst>
              <a:gd name="adj" fmla="val 1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809744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onsolas"/>
              </a:rPr>
              <a:t>contador = contador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809744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75B"/>
                </a:solidFill>
                <a:latin typeface="Aptos"/>
              </a:rPr>
              <a:t>si sí, suma uno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332720" y="2103120"/>
            <a:ext cx="0" cy="2423160"/>
          </a:xfrm>
          <a:prstGeom prst="line">
            <a:avLst/>
          </a:prstGeom>
          <a:ln w="31750">
            <a:solidFill>
              <a:srgbClr val="7A8B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Up Arrow 19"/>
          <p:cNvSpPr/>
          <p:nvPr/>
        </p:nvSpPr>
        <p:spPr>
          <a:xfrm>
            <a:off x="10104120" y="1874519"/>
            <a:ext cx="457200" cy="365760"/>
          </a:xfrm>
          <a:prstGeom prst="upArrow">
            <a:avLst/>
          </a:prstGeom>
          <a:solidFill>
            <a:srgbClr val="7A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017520"/>
            <a:ext cx="1188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8B9E"/>
                </a:solidFill>
                <a:latin typeface="Aptos"/>
              </a:rPr>
              <a:t>siguiente
candidato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15000"/>
            <a:ext cx="10515600" cy="548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0E2841"/>
                </a:solidFill>
                <a:latin typeface="Aptos"/>
              </a:rPr>
              <a:t>Con este patrón se cuentan los aciertos (punto 2) y los descartes injustos (punto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Suma y promedio con sum() y len()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Punto 1 · Las pausas no se reparten igual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841"/>
                </a:solidFill>
                <a:latin typeface="Aptos"/>
              </a:rPr>
              <a:t>Años de pausa de cada candidato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7B3FBF"/>
                </a:solidFill>
                <a:latin typeface="Aptos"/>
              </a:rPr>
              <a:t>Mujeres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60320" y="2770632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72384" y="311810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770632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86783" y="311810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0" y="2770632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478024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0" y="2770632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5583" y="311810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7920" y="3063240"/>
            <a:ext cx="256032" cy="25603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011680" y="3355848"/>
            <a:ext cx="4663440" cy="0"/>
          </a:xfrm>
          <a:prstGeom prst="line">
            <a:avLst/>
          </a:prstGeom>
          <a:ln w="1270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11680" y="33832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B3FBF"/>
                </a:solidFill>
                <a:latin typeface="Aptos"/>
              </a:rPr>
              <a:t>suma = 12 · promedio = 12 ÷ 10 = 1,2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Aptos"/>
              </a:rPr>
              <a:t>Hombres</a:t>
            </a:r>
          </a:p>
        </p:txBody>
      </p:sp>
      <p:sp>
        <p:nvSpPr>
          <p:cNvPr id="27" name="Oval 26"/>
          <p:cNvSpPr/>
          <p:nvPr/>
        </p:nvSpPr>
        <p:spPr>
          <a:xfrm>
            <a:off x="2157984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15184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17520" y="461772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9584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31920" y="461772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31920" y="4325112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43983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01183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58383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0" y="461772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72783" y="4672584"/>
            <a:ext cx="146304" cy="146304"/>
          </a:xfrm>
          <a:prstGeom prst="ellipse">
            <a:avLst/>
          </a:prstGeom>
          <a:solidFill>
            <a:srgbClr val="D9E3EC"/>
          </a:solidFill>
          <a:ln w="12700">
            <a:solidFill>
              <a:srgbClr val="D9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011680" y="4910328"/>
            <a:ext cx="4663440" cy="0"/>
          </a:xfrm>
          <a:prstGeom prst="line">
            <a:avLst/>
          </a:prstGeom>
          <a:ln w="1270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11680" y="4937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Aptos"/>
              </a:rPr>
              <a:t>suma = 4 · promedio = 4 ÷ 10 = 0,4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16002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2841"/>
                </a:solidFill>
                <a:latin typeface="Aptos"/>
              </a:rPr>
              <a:t>Promedio de años de pausa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769325"/>
            <a:ext cx="1097280" cy="2351314"/>
          </a:xfrm>
          <a:prstGeom prst="rect">
            <a:avLst/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2266405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841"/>
                </a:solidFill>
                <a:latin typeface="Aptos Display"/>
              </a:rPr>
              <a:t>1,2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212079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Mujeres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336868"/>
            <a:ext cx="1097280" cy="78377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19" y="38339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E2841"/>
                </a:solidFill>
                <a:latin typeface="Aptos Display"/>
              </a:rPr>
              <a:t>0,4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5212079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Hombres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89519" y="5120640"/>
            <a:ext cx="3566161" cy="0"/>
          </a:xfrm>
          <a:prstGeom prst="line">
            <a:avLst/>
          </a:prstGeom>
          <a:ln w="1905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2960" y="5760720"/>
            <a:ext cx="10515600" cy="5029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2841"/>
                </a:solidFill>
                <a:latin typeface="Aptos"/>
              </a:rPr>
              <a:t>Las mujeres tienen el triple de pausa: 1,2 ÷ 0,4 = 3. Guárdelo para el punto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La exactitud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Punto 2 · 14 de 20: un 70 % que engaña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35607" y="182880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7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2536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2536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9463" y="182880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9463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6391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1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182880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37176" y="182880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37176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4104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4104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71032" y="182880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71032" y="18288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233172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5607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5607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9887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02536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02536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6816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69463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9463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36391" y="324612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36391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03320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03320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70248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0248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37176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7176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91456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04104" y="3246120"/>
            <a:ext cx="475488" cy="475488"/>
          </a:xfrm>
          <a:prstGeom prst="round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4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58384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19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71032" y="3246120"/>
            <a:ext cx="475488" cy="475488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1032" y="3246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25312" y="3749039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A8B9E"/>
                </a:solidFill>
                <a:latin typeface="Aptos"/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146304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B3FBF"/>
                </a:solidFill>
                <a:latin typeface="Aptos"/>
              </a:rPr>
              <a:t>Mujeres (1 a 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288036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Aptos"/>
              </a:rPr>
              <a:t>Hombres (11 a 20)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1645920"/>
            <a:ext cx="38404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0E2841"/>
                </a:solidFill>
                <a:latin typeface="Aptos Display"/>
              </a:rPr>
              <a:t>70 %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3063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33475B"/>
                </a:solidFill>
                <a:latin typeface="Aptos"/>
              </a:rPr>
              <a:t>14 aciertos ÷ 20 × 100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0690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2841"/>
                </a:solidFill>
                <a:latin typeface="Aptos"/>
              </a:rPr>
              <a:t>Acierta si: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448056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75B"/>
                </a:solidFill>
                <a:latin typeface="Consolas"/>
              </a:rPr>
              <a:t>(cumple == "sí" and modelo == "entrevista")
or (cumple == "no" and modelo == "descartado")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98079" y="3931920"/>
            <a:ext cx="3840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4005072"/>
            <a:ext cx="34747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"/>
              </a:rPr>
              <a:t>¿El modelo es bueno?
Con este número solo,
no se puede saber.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5715000"/>
            <a:ext cx="10515600" cy="548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5840" y="5715000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0E2841"/>
                </a:solidFill>
                <a:latin typeface="Aptos"/>
              </a:rPr>
              <a:t>Error común: responder «sí, porque acierta 7 de cada 10». Hay que medir por grupo.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Comprobación: la exactitud por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promedio esconde dos números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182112"/>
            <a:ext cx="1463040" cy="1755648"/>
          </a:xfrm>
          <a:prstGeom prst="rect">
            <a:avLst/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639312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60 %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029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Mujeres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89504"/>
            <a:ext cx="1463040" cy="2048256"/>
          </a:xfrm>
          <a:prstGeom prst="rect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34670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70 %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5029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General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596896"/>
            <a:ext cx="1463040" cy="2340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5409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5029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Hombres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4480" y="4937760"/>
            <a:ext cx="7132320" cy="0"/>
          </a:xfrm>
          <a:prstGeom prst="line">
            <a:avLst/>
          </a:prstGeom>
          <a:ln w="1905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3040" y="2889504"/>
            <a:ext cx="7680960" cy="0"/>
          </a:xfrm>
          <a:prstGeom prst="line">
            <a:avLst/>
          </a:prstGeom>
          <a:ln w="19050">
            <a:solidFill>
              <a:srgbClr val="7A8B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52560" y="27066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A8B9E"/>
                </a:solidFill>
                <a:latin typeface="Aptos"/>
              </a:rPr>
              <a:t>el 70 % que ve el jefe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15600" cy="5943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2841"/>
                </a:solidFill>
                <a:latin typeface="Aptos"/>
              </a:rPr>
              <a:t>Mujeres 6 de 10 · hombres 8 de 10. El 70 % es el promedio y no deja ver la diferencia.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La pregunta del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Punto 3 · Solo cuentan los que cumplían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B3FBF"/>
                </a:solidFill>
                <a:latin typeface="Aptos"/>
              </a:rPr>
              <a:t>Mujeres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4937760" cy="777240"/>
          </a:xfrm>
          <a:prstGeom prst="roundRect">
            <a:avLst>
              <a:gd name="adj" fmla="val 20000"/>
            </a:avLst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10 candidatas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3840480" cy="777240"/>
          </a:xfrm>
          <a:prstGeom prst="roundRect">
            <a:avLst>
              <a:gd name="adj" fmla="val 20000"/>
            </a:avLst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 cumplían el perfil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977639"/>
            <a:ext cx="2743200" cy="7772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977639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 descartadas injustamente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B3FBF"/>
                </a:solidFill>
                <a:latin typeface="Aptos Display"/>
              </a:rPr>
              <a:t>4 ÷ 8 = 50 %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Aptos"/>
              </a:rPr>
              <a:t>Hombres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4937760" cy="77724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10 candidatos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017520"/>
            <a:ext cx="3840480" cy="77724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 cumplían el perfil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977639"/>
            <a:ext cx="2743200" cy="7772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977639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 descartado injustamente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834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E7C7B"/>
                </a:solidFill>
                <a:latin typeface="Aptos Display"/>
              </a:rPr>
              <a:t>1 ÷ 8 = 12,5 %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A8B9E"/>
                </a:solidFill>
                <a:latin typeface="Aptos"/>
              </a:rPr>
              <a:t>Candidatas descartadas: 2, 4, 6 y 8 · candidato descartado: el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Punto 3 y punto 4 · la 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Cuatro veces más descartes injustos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438400"/>
            <a:ext cx="1463040" cy="2590800"/>
          </a:xfrm>
          <a:prstGeom prst="rect">
            <a:avLst/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54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E2841"/>
                </a:solidFill>
                <a:latin typeface="Aptos Display"/>
              </a:rPr>
              <a:t>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Mujeres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381500"/>
            <a:ext cx="1463040" cy="6477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8785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E2841"/>
                </a:solidFill>
                <a:latin typeface="Aptos Display"/>
              </a:rPr>
              <a:t>12,5 %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206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8B9E"/>
                </a:solidFill>
                <a:latin typeface="Aptos"/>
              </a:rPr>
              <a:t>Hombres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5029200"/>
            <a:ext cx="4571999" cy="0"/>
          </a:xfrm>
          <a:prstGeom prst="line">
            <a:avLst/>
          </a:prstGeom>
          <a:ln w="1905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El modelo descarta 4 veces más a las mujeres que cumplen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1828800"/>
            <a:ext cx="2011680" cy="201168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201168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7132"/>
                </a:solidFill>
                <a:latin typeface="Aptos"/>
              </a:rPr>
              <a:t>50 ÷ 12,5 =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"/>
              </a:rPr>
              <a:t>En el código del punto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4805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Consolas"/>
              </a:rPr>
              <a:t>valores = [descarte_M, descarte_H]
plt.title("…lo que muestra…")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669280"/>
            <a:ext cx="10515600" cy="5943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6928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2841"/>
                </a:solidFill>
                <a:latin typeface="Aptos"/>
              </a:rPr>
              <a:t>Un buen título dice la conclusión, no el nombre de la variable.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Punto 4 · explicar sin jerga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Dos frases para la gerente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822960" y="1645920"/>
            <a:ext cx="9418320" cy="1234440"/>
          </a:xfrm>
          <a:prstGeom prst="wedgeRoundRectCallout">
            <a:avLst>
              <a:gd name="adj1" fmla="val -38000"/>
              <a:gd name="adj2" fmla="val 62000"/>
              <a:gd name="adj3" fmla="val 16667"/>
            </a:avLst>
          </a:prstGeom>
          <a:solidFill>
            <a:srgbClr val="7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87782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«De cada dos mujeres que cumplen el perfil, el programa descarta a una; de cada ocho hombres que lo cumplen, descarta a uno.»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1920240" y="3337560"/>
            <a:ext cx="9418320" cy="1234440"/>
          </a:xfrm>
          <a:prstGeom prst="wedgeRoundRectCallout">
            <a:avLst>
              <a:gd name="adj1" fmla="val -38000"/>
              <a:gd name="adj2" fmla="val 62000"/>
              <a:gd name="adj3" fmla="val 16667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3337560"/>
            <a:ext cx="87782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«Estamos dejando por fuera a buenas candidatas solo por ser mujeres, y el 70 % de aciertos no deja ver ese problema.»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53212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64545"/>
                </a:solidFill>
                <a:latin typeface="Aptos"/>
              </a:rPr>
              <a:t>exactitud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39" y="5806440"/>
            <a:ext cx="1920241" cy="0"/>
          </a:xfrm>
          <a:prstGeom prst="line">
            <a:avLst/>
          </a:prstGeom>
          <a:ln w="1270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03320" y="553212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5532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64545"/>
                </a:solidFill>
                <a:latin typeface="Aptos"/>
              </a:rPr>
              <a:t>modelo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5806440"/>
            <a:ext cx="1920240" cy="0"/>
          </a:xfrm>
          <a:prstGeom prst="line">
            <a:avLst/>
          </a:prstGeom>
          <a:ln w="1270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553212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5532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64545"/>
                </a:solidFill>
                <a:latin typeface="Aptos"/>
              </a:rPr>
              <a:t>sesgo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5806440"/>
            <a:ext cx="1920240" cy="0"/>
          </a:xfrm>
          <a:prstGeom prst="line">
            <a:avLst/>
          </a:prstGeom>
          <a:ln w="1270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5532120"/>
            <a:ext cx="21945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5532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64545"/>
                </a:solidFill>
                <a:latin typeface="Aptos"/>
              </a:rPr>
              <a:t>variable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52560" y="5806440"/>
            <a:ext cx="1920240" cy="0"/>
          </a:xfrm>
          <a:prstGeom prst="line">
            <a:avLst/>
          </a:prstGeom>
          <a:ln w="1270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138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8B9E"/>
                </a:solidFill>
                <a:latin typeface="Aptos"/>
              </a:rPr>
              <a:t>Palabras que la gerente no necesita oír: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La variable sustituta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Punto 5 · Las pausas delatan el sexo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1783080"/>
            <a:ext cx="0" cy="2743200"/>
          </a:xfrm>
          <a:prstGeom prst="line">
            <a:avLst/>
          </a:prstGeom>
          <a:ln w="12700">
            <a:solidFill>
              <a:srgbClr val="D9E3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20240" y="45720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Aptos"/>
              </a:rPr>
              <a:t>0 años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59680" y="1783080"/>
            <a:ext cx="0" cy="2743200"/>
          </a:xfrm>
          <a:prstGeom prst="line">
            <a:avLst/>
          </a:prstGeom>
          <a:ln w="12700">
            <a:solidFill>
              <a:srgbClr val="D9E3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02480" y="45720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Aptos"/>
              </a:rPr>
              <a:t>1 año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41920" y="1783080"/>
            <a:ext cx="0" cy="2743200"/>
          </a:xfrm>
          <a:prstGeom prst="line">
            <a:avLst/>
          </a:prstGeom>
          <a:ln w="12700">
            <a:solidFill>
              <a:srgbClr val="D9E3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84720" y="45720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Aptos"/>
              </a:rPr>
              <a:t>2 años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24160" y="1783080"/>
            <a:ext cx="0" cy="2743200"/>
          </a:xfrm>
          <a:prstGeom prst="line">
            <a:avLst/>
          </a:prstGeom>
          <a:ln w="12700">
            <a:solidFill>
              <a:srgbClr val="D9E3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60" y="45720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7A8B9E"/>
                </a:solidFill>
                <a:latin typeface="Aptos"/>
              </a:rPr>
              <a:t>3 años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5740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64545"/>
                </a:solidFill>
                <a:latin typeface="Aptos"/>
              </a:rPr>
              <a:t>descartados
(cumplían)</a:t>
            </a:r>
          </a:p>
        </p:txBody>
      </p:sp>
      <p:sp>
        <p:nvSpPr>
          <p:cNvPr id="16" name="Oval 15"/>
          <p:cNvSpPr/>
          <p:nvPr/>
        </p:nvSpPr>
        <p:spPr>
          <a:xfrm>
            <a:off x="7010400" y="21488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94448" y="21488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21488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8496" y="21488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62544" y="21488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pasaron a
entrevista</a:t>
            </a:r>
          </a:p>
        </p:txBody>
      </p:sp>
      <p:sp>
        <p:nvSpPr>
          <p:cNvPr id="22" name="Oval 21"/>
          <p:cNvSpPr/>
          <p:nvPr/>
        </p:nvSpPr>
        <p:spPr>
          <a:xfrm>
            <a:off x="4328160" y="35204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45919" y="35204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29967" y="35204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12208" y="3520440"/>
            <a:ext cx="347472" cy="347472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14015" y="3520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98064" y="3520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96256" y="3520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45919" y="393192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29967" y="393192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414015" y="393192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98064" y="393192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69024" y="1783080"/>
            <a:ext cx="73152" cy="2743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6184" y="14630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ptos"/>
              </a:rPr>
              <a:t>de 2 años en adelante: descartado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5120640"/>
            <a:ext cx="274320" cy="274320"/>
          </a:xfrm>
          <a:prstGeom prst="ellipse">
            <a:avLst/>
          </a:prstGeom>
          <a:solidFill>
            <a:srgbClr val="7B3FBF"/>
          </a:solidFill>
          <a:ln w="12700">
            <a:solidFill>
              <a:srgbClr val="7B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056632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Aptos"/>
              </a:rPr>
              <a:t>mujer</a:t>
            </a:r>
          </a:p>
        </p:txBody>
      </p:sp>
      <p:sp>
        <p:nvSpPr>
          <p:cNvPr id="37" name="Oval 36"/>
          <p:cNvSpPr/>
          <p:nvPr/>
        </p:nvSpPr>
        <p:spPr>
          <a:xfrm>
            <a:off x="2377440" y="5120640"/>
            <a:ext cx="274320" cy="2743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5056632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75B"/>
                </a:solidFill>
                <a:latin typeface="Aptos"/>
              </a:rPr>
              <a:t>hombre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623560"/>
            <a:ext cx="10515600" cy="6400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623560"/>
            <a:ext cx="1014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2841"/>
                </a:solidFill>
                <a:latin typeface="Aptos"/>
              </a:rPr>
              <a:t>El modelo no ve el sexo, pero castiga las pausas largas, y casi todas son de mujeres.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Punto 5 · las fuentes de la sesión de 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¿De dónde viene el sesgo?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Datos del pasado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Aprendió de contrataciones antiguas, con pocas personas con pausas</a:t>
            </a:r>
          </a:p>
        </p:txBody>
      </p:sp>
      <p:sp>
        <p:nvSpPr>
          <p:cNvPr id="10" name="Oval 9"/>
          <p:cNvSpPr/>
          <p:nvPr/>
        </p:nvSpPr>
        <p:spPr>
          <a:xfrm>
            <a:off x="525780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Medir la cosa equivocada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Las pausas no miden si la persona puede hacer el trabajo</a:t>
            </a:r>
          </a:p>
        </p:txBody>
      </p:sp>
      <p:sp>
        <p:nvSpPr>
          <p:cNvPr id="15" name="Oval 14"/>
          <p:cNvSpPr/>
          <p:nvPr/>
        </p:nvSpPr>
        <p:spPr>
          <a:xfrm>
            <a:off x="1065276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2044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8B9E"/>
                </a:solidFill>
                <a:latin typeface="Aptos Display"/>
              </a:rPr>
              <a:t>Decisiones de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8B9E"/>
                </a:solidFill>
                <a:latin typeface="Aptos"/>
              </a:rPr>
              <a:t>Qué columnas se le dieron al modelo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2044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8B9E"/>
                </a:solidFill>
                <a:latin typeface="Aptos Display"/>
              </a:rPr>
              <a:t>Uso fuera de contexto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8B9E"/>
                </a:solidFill>
                <a:latin typeface="Aptos"/>
              </a:rPr>
              <a:t>Un modelo hecho para otro cargo u otra empresa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3475B"/>
                </a:solidFill>
                <a:latin typeface="Aptos"/>
              </a:rPr>
              <a:t>Las dos de arriba son las que mejor explican este caso. Bastaba con una, bien argumentada en dos o tres frases.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Punto 5 · una acción concreta antes de usar 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haría un ingeniero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Medir por 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el descarte injusto con los candidatos reales del último año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3088" y="3154680"/>
            <a:ext cx="274320" cy="45720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Quitar o revisar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la columna de pausas, y volver a medir</a:t>
            </a:r>
          </a:p>
        </p:txBody>
      </p:sp>
      <p:sp>
        <p:nvSpPr>
          <p:cNvPr id="16" name="Chevron 15"/>
          <p:cNvSpPr/>
          <p:nvPr/>
        </p:nvSpPr>
        <p:spPr>
          <a:xfrm>
            <a:off x="7744968" y="3154680"/>
            <a:ext cx="274320" cy="457200"/>
          </a:xfrm>
          <a:prstGeom prst="chevron">
            <a:avLst/>
          </a:prstGeom>
          <a:solidFill>
            <a:srgbClr val="A9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Revisión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de los descartes de quienes cumplen el perfil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49240"/>
            <a:ext cx="10515600" cy="822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E2841"/>
                </a:solidFill>
                <a:latin typeface="Aptos"/>
              </a:rPr>
              <a:t>Respuesta débil: «hay que mejorar el modelo» o «quitar la IA».
Respuesta fuerte: dice qué se mide, sobre qué datos y qué se hace con el resultado.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540"/>
                </a:solidFill>
                <a:latin typeface="Aptos"/>
              </a:rPr>
              <a:t>Revise su cuaderno antes de subirlo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Errores comunes al entregar</a:t>
            </a:r>
          </a:p>
        </p:txBody>
      </p:sp>
      <p:pic>
        <p:nvPicPr>
          <p:cNvPr id="4" name="Picture 3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3657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5566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Principios de IA  ·  Semana 12 · Taller «Contar para ver el sesgo»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55664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46304" cy="5486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841"/>
                </a:solidFill>
                <a:latin typeface="Aptos"/>
              </a:rPr>
              <a:t>Dejar un None o el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75B"/>
                </a:solidFill>
                <a:latin typeface="Aptos"/>
              </a:rPr>
              <a:t>la celda corre pero no calcula nada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146304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841"/>
                </a:solidFill>
                <a:latin typeface="Aptos"/>
              </a:rPr>
              <a:t>Dividir entre 10 en el punto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75B"/>
                </a:solidFill>
                <a:latin typeface="Aptos"/>
              </a:rPr>
              <a:t>solo cuentan los 8 que cumplían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29000"/>
            <a:ext cx="146304" cy="5486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841"/>
                </a:solidFill>
                <a:latin typeface="Aptos"/>
              </a:rPr>
              <a:t>Solo código, sin la cuenta a 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3756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75B"/>
                </a:solidFill>
                <a:latin typeface="Aptos"/>
              </a:rPr>
              <a:t>se califica la celda «Mi respuesta»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51960"/>
            <a:ext cx="146304" cy="5486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16052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841"/>
                </a:solidFill>
                <a:latin typeface="Aptos"/>
              </a:rPr>
              <a:t>No reiniciar y ejecutar todo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75B"/>
                </a:solidFill>
                <a:latin typeface="Aptos"/>
              </a:rPr>
              <a:t>quedan errores en rojo o salidas viejas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74920"/>
            <a:ext cx="146304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841"/>
                </a:solidFill>
                <a:latin typeface="Aptos"/>
              </a:rPr>
              <a:t>Subir sin el enlace de Colab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983480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75B"/>
                </a:solidFill>
                <a:latin typeface="Aptos"/>
              </a:rPr>
              <a:t>van el .ipynb y el enlace como 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8B9E"/>
                </a:solidFill>
                <a:latin typeface="Aptos"/>
              </a:rPr>
              <a:t>Entrega: viernes 30 de octubre, 11:59 p. m., en Moodle (c3-activity-02). Individual.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9540"/>
                </a:solidFill>
                <a:latin typeface="Aptos"/>
              </a:rPr>
              <a:t>Para llevarse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Aptos Display"/>
              </a:rPr>
              <a:t>Un 70 % puede esconder un 50 %.
Si no se mide por grupo, no se puede saber.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8E8"/>
                </a:solidFill>
                <a:latin typeface="Aptos"/>
              </a:rPr>
              <a:t>Y borrar la columna del grupo no basta: otras columnas, como el barrio o las pausas, pueden delatarlo.</a:t>
            </a:r>
          </a:p>
        </p:txBody>
      </p:sp>
      <p:pic>
        <p:nvPicPr>
          <p:cNvPr id="6" name="Picture 5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89788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
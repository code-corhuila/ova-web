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7" r:id="rId4"/>
  </p:sldMasterIdLst>
  <p:sldIdLst>
    <p:sldId id="256" r:id="rId7"/>
    <p:sldId id="257" r:id="rId6"/>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94658"/>
  </p:normalViewPr>
  <p:slideViewPr>
    <p:cSldViewPr snapToGrid="0">
      <p:cViewPr varScale="1">
        <p:scale>
          <a:sx n="106" d="100"/>
          <a:sy n="106"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slide" Target="slides/slide47.xml"/><Relationship Id="rId57" Type="http://schemas.openxmlformats.org/officeDocument/2006/relationships/slide" Target="slides/slide48.xml"/><Relationship Id="rId58" Type="http://schemas.openxmlformats.org/officeDocument/2006/relationships/slide" Target="slides/slide49.xml"/><Relationship Id="rId59" Type="http://schemas.openxmlformats.org/officeDocument/2006/relationships/slide" Target="slides/slide50.xml"/><Relationship Id="rId60" Type="http://schemas.openxmlformats.org/officeDocument/2006/relationships/slide" Target="slides/slide51.xml"/><Relationship Id="rId61" Type="http://schemas.openxmlformats.org/officeDocument/2006/relationships/slide" Target="slides/slide52.xml"/><Relationship Id="rId62" Type="http://schemas.openxmlformats.org/officeDocument/2006/relationships/slide" Target="slides/slide53.xml"/><Relationship Id="rId63" Type="http://schemas.openxmlformats.org/officeDocument/2006/relationships/slide" Target="slides/slide54.xml"/><Relationship Id="rId64"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 Encuentro 3 (abre la unidad). Lanzar la pregunta ANTES de mostrar las viñetas y recoger tres respuestas en el chat del Meet; casi todos dirán «cuando pasa las pruebas» o «cuando está en la tienda». Las cinco viñetas son el mapa de la unidad: cada una es una sección y una decisión de arquitectura verificable. Enlace con lo anterior: en la Unidad 1 decidieron la estructura; en la Unidad 2, la presentación y los datos; aquí deciden cómo se toca el dispositivo, cómo se garantiza la calidad y cómo llega la app al usuario. En el marco de gobierno móvil del curso corresponde a las secciones 04 Calidad y 05 Release, más las reglas de seguridad de 00 Gobierno. Caso conductor de toda la unidad: Bitácora de Campo, la app con la que un técnico registra visitas con foto y ubicación.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 Encuentro 3, y se retoma al abrir el Encuentro 4. Leer en clave de capacidad. Aclarar qué es este documento: material de apoyo de la unidad completa, no el guion de la hora; en cada encuentro se proyecta una parte y el resto queda para estudiar. Meet de ambos encuentros: meet.google.com/pzh-kxer-pnx. El Encuentro 3 incluye la clínica de la A2 (vence el domingo 25 de octubre); el Encuentro 4, la clínica de la A3. En el proyecto ABP esta unidad responde a dos mínimos: (7) dos plugins nativos como adaptadores de un puerto, con permisos just-in-time, y (8) pruebas unitarias de casos de uso y state holders + AAB/APK firmado + checklist de release. Las plantillas de 04 y 05 están en «Plantillas del proyecto» y los hitos en la «Guía ABP», ambas en el aula. RECORRIDO EN VIVO (numeración del pie). Encuentro 3: 1, 2, 4, 5, 7, 9, 10, 14, 15, 16, 17, 19, 21, 22; si sobra tiempo, 20. Encuentro 4: 2 (repaso de ruta), 24, 26, 27, 28, 30, 31, 33, 36, 37, 38, 41, 42, 43, 44, 45. Todo lo demás es CONSULTA: se señala y se deja para estudiar.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 Encuentro 3 (mencionarlo en 30 segundos). El PDF institucional es la base temática, pero algunas APIs que cita cambiaron desde que se escribió. Esta tabla evita dos daños: copiar código del PDF que ya no compila y, peor, guardar el token en Preferences creyendo que está cifrado. Cada fila remite a una sección de este deck: storage a Seguridad; push y biometría a Plugins; Permissions a Permisos; virtual scroll y loadChildren a Rendimiento; cordova-res a Release; Jasmine/Karma a Pruebas.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 Encuentro 3. Capacitor es un puente: el TypeScript llama a una API basada en promesas y Capacitor la despacha a Kotlin/Java o Swift. La pregunta de arquitectura no es cómo llamar al plugin —eso cabe en tres líneas— sino quién tiene permitido llamarlo. Regla de dependencias (01 Arquitectura del marco): el dominio tiene cero dependencias hacia afuera. Tres razones para sostenerla: TESTABILIDAD, el caso de uso que depende del puerto Camara se prueba en milisegundos con un fake, el que importa @capacitor/camera necesita un teléfono; VOLATILIDAD, las APIs de los plugins cambian entre versiones mayores y la biometría depende de plugins comunitarios, así que el cambio queda encerrado en un archivo; LENGUAJE, el dominio habla de PermisoDenegadoError('camara'), no de PermissionState ni de códigos de Android. Analogía: un plugin es como la base de datos; nadie pondría SQL dentro de una regla de negocio. Las flechas del diagrama original van de la presentación al dominio y de los adaptadores al dominio: nadie depende de los datos.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 Encuentro 3, rápido: detenerse solo en la idea fuerza. Detalle de la tabla para estudiar. Particularidades: push requiere backend emisor y token FCM / APNs; la biometría es compuerta al token, no reemplazo; y @capacitor/preferences guarda texto plano, por eso el token va en un plugin sobre Keychain / Keystore. En Android, CAMERA se pide en ejecución si se declara y desde Android 13 el selector de fotos del sistema no necesita permiso de almacenamiento. Ubicación: ACCESS_COARSE_LOCATION + ACCESS_FINE_LOCATION en Android y NSLocationWhenInUseUsageDescription en iOS; Android 12+ e iOS 14+ permiten conceder solo la aproximada. Push: POST_NOTIFICATIONS desde Android 13; en iOS, diálogo del sistema + capacidad Push; requiere backend emisor y un token por dispositivo (FCM / APNs). Biometría: USE_BIOMETRIC es un permiso normal (sin diálogo) y en iOS se declara NSFaceIDUsageDescription. Almacenamiento seguro: plugin sobre Keychain / Keystore, sin permiso. La regla de authentication.md del marco: el token vive en almacenamiento seguro y la huella o el rostro solo autorizan a leerlo; guardar usuario y contraseña en el equipo para un «login biométrico» es lo que el marco prohíbe. Provocar: «¿cuántos han visto apps que guardan la contraseña para el login con huella?».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 Encuentro 3 (señalar las dos pestañas y seguir). El puerto vive en features/visitas/domain/ y es TypeScript puro: ni Angular ni Capacitor. Completo, declara también Recurso ('camara' | 'ubicacion'), PermisoDenegadoError(recurso, definitivo), UbicacionNoDisponibleError, Foto, Coordenadas (latitud, longitud, precisionMetros), Reloj { ahora(): Date } y Ubicacion { permiso(); actual() }. El adaptador CamaraCapacitor (features/visitas/data/) es el ÚNICO archivo de la feature que conoce @capacitor/camera. Su función aEstado traduce PermissionState: 'granted' o 'limited' pasan a 'concedido', 'denied' a 'denegado', y 'prompt' o 'prompt-with-rationale' a 'preguntable'. En el material, requestPermissions recibe { permissions: ['camera'] } y getPhoto usa source: CameraSource.Camera, quality 70 y width 1600. Resultado por URI, nunca base64: lo retoma la sección de rendimiento.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 Encuentro 3. La regla de negocio de CapturarEvidencia: la foto es obligatoria y la ubicación es de mejor esfuerzo. Sin permiso de cámara no hay evidencia; sin ubicación (por permiso, señal o tiempo agotado) la visita se guarda igual, sin coordenadas. El caso de uso recibe por constructor tres puertos: Camara, Ubicacion y Reloj. Error que se provoca en vivo: «¿y si actual() lanza un TypeError por un bug?». Respuesta: se propaga, porque el catch solo absorbe los dos errores que la regla declara esperables. Un catch genérico que se traga todo convierte un bug en una visita sin coordenadas que nadie investiga.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 Encuentro 3 (si hay tiempo, leer solo las dos del centro). La composición vive en la frontera de la feature, visitas.providers.ts: allí se declaran los InjectionToken CAMARA y UBICACION, se enlazan a sus adaptadores y se construye el caso de uso con useFactory + inject(). Los tokens de Angular NO entran al dominio. Las otras tres son de arquitectura, no de estilo: el orden (foto primero), la traducción de estados en el adaptador y la absorción selectiva de errores. UbicacionCapacitor usa Geolocation.getCurrentPosition({ enableHighAccuracy: true, timeout: 8000, maximumAge: 60000 }). Si el usuario concedió solo la ubicación aproximada, checkPermissions() devuelve coarseLocation: 'granted': se trata como concedido y precisionMetros le cuenta al dominio cuánta precisión hay.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Solo en el adaptador de datos que implementa el puerto `Camara`. El dominio no tiene dependencias hacia afuera: declara el puerto `Camara` en su propio idioma y la capa de datos lo implementa. Así el caso de uso se prueba con un fake y un cambio del plugin queda encerrado en un archivo. Ni el ViewModel ni `shared/` deben conocer infraestructura. EN VIVO · Encuentro 3. Votación en el chat antes de revelar. La opción del ViewModel es la trampa más votada: recordar que la presentación puede depender de puertos, nunca de adaptadores.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 Encuentro 3. La regla del marco (security-rules.md) es tajante: el mínimo de permisos, justo cuando se necesitan y con una justificación clara; nunca «por si acaso». Pedirlo todo al arrancar produce lo contrario de lo que se busca: el usuario niega por reflejo, en Android dos negativas bastan para que el sistema no vuelva a mostrar el diálogo, y las tiendas lo revisan (Apple rechaza textos de propósito vagos; Google Play exige justificar la ubicación en segundo plano). Ramas del flujo completo: si ya está concedido, directo a tomarFoto(); en la pantalla propia, «Ahora no» lleva a un estado degradado; si niega en el diálogo, se explica y se reintenta más tarde; si está denegado, se explica lo que se pierde y se ofrece «Abrir ajustes». Nunca un bucle de diálogos: el sistema ya no los muestra. Pedir a alguien que recuerde una app que le pidió todo al instalarla y qué respondió.</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 Encuentro 3. La presentación puede depender de los puertos del dominio (nunca de los adaptadores): el ViewModel consulta permiso() para mostrar la justificación ANTES del diálogo del sistema y traduce los errores del caso de uso a un estado de pantalla inmutable. _estado es un signal&lt;EstadoCaptura&gt; privado que arranca en { tipo: 'inicial' }. capturarAhora() se llama tras «Continuar» o si el permiso ya está concedido o denegado: pone 'capturando', ejecuta CapturarEvidencia y traduce el resultado: evidencia a 'lista'; PermisoDenegadoError a 'sin-permiso' con recurso y definitivo; cualquier otro error a 'error' con «No se pudo capturar la evidencia.».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 Encuentro 3. En Android se declara con uses-permission en el manifest y el sistema redacta el texto del diálogo: tu justificación va en tu pantalla propia. En iOS el diálogo muestra TU texto del Info.plist, dentro de un &lt;string&gt; bajo cada &lt;key&gt;; si falta la clave NS…UsageDescription, la app se cierra al pedir el recurso. Un texto vago («para mejorar tu experiencia») es motivo de rechazo en la revisión de Apple. Ejercicio para la A3: escribir los textos de sus dos plugins con el qué y el para qué.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 Encuentro 3. Referencia para la memoria técnica. La fila que más importa es «Volver a preguntar»: explica por qué no puede haber bucles de diálogos. Detalle de ubicación: en Android la de segundo plano es otro permiso y se declara y justifica en Play Console; en iOS «Siempre» se pide después de «Al usar la app». Conecta con la siguiente pregunta.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Guardar la visita sin coordenadas y ofrecer abrir los ajustes de la app. Tras dos negativas el sistema ya no muestra el diálogo, así que insistir crea un bucle inútil. Como la regla de negocio define la ubicación como de mejor esfuerzo, la visita se guarda sin coordenadas y se explica cómo habilitarla desde Ajustes. Pedir segundo plano sería un permiso más invasivo, no una alternativa. EN VIVO · Encuentro 3. Junta dos ideas: la regla de negocio (mejor esfuerzo) y el comportamiento del sistema (dos negativas). Quien elige «bloquear» olvidó la regla; quien elige «segundo plano» confundió alternativa con escalada.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 Encuentro 3. La verdad incómoda de una app híbrida: el APK es un archivo comprimido. Demostración posible de un minuto: copiar un .apk, renombrarlo a .zip, abrirlo y mostrar assets/public con el JavaScript legible. La columna MASVS es el estándar de verificación de seguridad móvil de OWASP: sirve para citar en la memoria técnica qué categoría cubre cada control. Detalle completo de la tabla del material: las llaves de terceros van en el backend y los secretos de build en el CI; el pinning nativo lleva pin de respaldo; las amenazas a los datos incluyen la pérdida del equipo y los respaldos, y lo sensible se borra al cerrar sesión; la amenaza a los tokens es la lectura de preferencias en equipos comprometidos, y el control es un plugin sobre Keychain / Keystore; el hardening (R8, logs fuera, WebView sin depuración) responde a la ingeniería inversa y a la depuración en producción.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 Encuentro 3. Si una llave de terceros (mapas, correo, IA) permite gastar dinero o leer datos, va en el backend, que la app llama con el token del usuario. Keystore, contraseñas y certificados viven en los secretos del CI y en una bóveda, nunca en environment.ts. Pregunta para el grupo: «¿qué llave tiene hoy su proyecto en environment.prod.ts?». Es el error común número 5: creer que un secreto en environment.prod.ts está protegido.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 Encuentro 3. TLS evita que alguien lea el tráfico; el pinning evita que alguien con un certificado «válido» (instalado en el equipo o emitido por error) suplante tu API. En una híbrida NO se hace desde Angular: el WebView no expone a JavaScript la validación del certificado. Se hace en la capa nativa y las llamadas sensibles viajan por la pila HTTP nativa. El XML va envuelto en &lt;network-security-config&gt; y se referencia en el manifest con android:networkSecurityConfig="@xml/network_security_config". En capacitor.config.ts el build de release lleva plugins: { CapacitorHttp: { enabled: true } } (fetch y XHR por la pila nativa, que sí respeta el pin-set) y nunca server.url ni server.cleartext: true, que son del live reload. En iOS el pinning requiere código o plugin nativo: documentar la decisión en un ADR.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 Encuentro 3, pero anunciarla: es la checklist de seguridad que la memoria técnica de H3 debe mostrar con evidencia. Detalle de datos en reposo y hardening (4.2 del material): los tokens de acceso y de refresco van solo en almacenamiento seguro, y la biometría solo abre la puerta; las fotos de evidencia van en el directorio privado de la app, no en la galería, y la caché offline no guarda PII que la pantalla no use; al cerrar sesión se borran tokens y caché sensible y se cancelan las peticiones en curso; el build de release lleva minifyEnabled true (R8) en la capa nativa y ng build de producción en la web, recordando que minificar no es cifrar; nada de console.log con datos ni tokens, webContentsDebuggingEnabled apagado y android:allowBackup="false" si hay datos sensibles.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En almacenamiento seguro respaldado por Keychain o por Keystore. Preferences, localStorage y una SQLite sin cifrar guardan texto plano, y una clave dentro del bundle no es secreta porque el APK se descomprime. La regla del marco es explícita: tokens solo en el almacenamiento seguro de la plataforma. EN VIVO · Encuentro 3. Pregunta rápida de verificación. La opción de localStorage «cifrado» es la que más engaña: la clave está en el mismo bundle que se descomprime.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Se configura en la capa nativa e incluye al menos un pin de respaldo. JavaScript no controla la validación del certificado en el WebView, así que el pinning vive en la capa nativa (Network Security Config en Android, código o plugin en iOS) con las llamadas sensibles por HTTP nativo. Sin pin de respaldo, rotar el certificado deja la app sin servicio. TLS solo no protege contra un certificado emitido por una CA en la que el equipo confía. EN VIVO si hay tiempo · Encuentro 3; si no, CONSULTA de repaso. Quienes vienen de backend suelen elegir el interceptor: es la intuición correcta en un navegador y la incorrecta en una híbrida.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 Encuentro 3. «Que sea rápida» no es un requisito; un presupuesto sí: un número, una forma de medirlo y la regla de que superarlo es un defecto que bloquea el release (performance-budgets.md del marco). Medir antes de optimizar: conectar el teléfono, abrir chrome://inspect (Android) o Safari, menú Desarrollo (iOS), grabar el flujo lento y optimizar lo que el perfil señala. Matiz híbrido: el primer frame nativo (el splash) no es el primer frame útil; hay que medir también cuándo pinta Angular. Detalle de la tabla: el arranque se mide en gama media; la fluidez se rompe también al animar top/left; la red de listas se pagina con una primera página de unos 20 ítems. Pregunta: «¿cuánto tarda hoy su app en arrancar en frío, medido?». Casi nadie lo sabe: esa es la lección.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 Encuentro 3 (cierre del encuentro, antes de la clínica de la A2). Lazy loading en app.routes.ts: { path: 'visitas', canActivate: [sesionActivaGuard], loadChildren: () =&gt; import('./features/visitas/visitas.routes').then(m =&gt; m.VISITAS_ROUTES) }, con provideRouter(routes, withPreloading(PreloadAllModules)); lo pesado de una página va con @defer (on viewport). OnPush + signals: TarjetaVisitaComponent declara changeDetection: ChangeDetectionStrategy.OnPush, recibe visita = input.required&lt;VisitaResumen&gt;() y calcula color = computed(...) según el estado; solo se repinta cuando cambian sus datos. Buenas prácticas del WebView: transform y opacity se componen en la GPU sin recalcular el layout; track permite a Angular reutilizar nodos; imágenes redimensionadas, en WebP y con loading="lazy", sin scripts externos innecesarios; una foto de 12 MP en base64 son megabytes de texto en memoria; comprimir o procesar va a un Web Worker o a un plugin nativo.</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 Encuentro 3. El virtual scroll del CDK mantiene en el DOM solo las filas visibles más un margen: con 2.000 visitas hay unas 15 filas en el DOM. Exige filas de alto fijo (itemSize="72"). ion-content va con [scrollY]="false" y el viewport toma la clase ion-content-scroll-host para que Ionic delegue el scroll. El presupuesto de bundle se automatiza en angular.json: el build falla al pasar 1.5 MB y la regresión no llega a la tienda.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 Encuentro 4 (abre el encuentro tras repasar la ruta en la slide 2). La pirámide: hacia la base, pruebas más rápidas, baratas y estables. Aquí el ancho de cada barra es la cantidad: la más ancha es la que más pruebas lleva. Las E2E corren en emulador o dispositivo, de noche y antes de cada release, no en cada PR. El marco fija tres cosas no negociables: qué se prueba en cada nivel, cuánto de cada nivel y cómo se nombran. Puente con el Encuentro 3: como el dominio no importa Capacitor, el 70 % de las pruebas no necesita teléfono.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 Encuentro 4. Los adaptadores nativos y el flujo completo se validan en dispositivos: Firebase Test Lab ejecuta la app en una matriz de equipos reales (incluida la prueba Robo, que la recorre sin escribir código) y Appium automatiza el flujo sobre el binario. Lo que no se automatice se documenta con la plantilla de caso de prueba de la sección 04 del marco. La fila de Dominio dice «ubicación opcional» por espacio: en el material es «ubicación de mejor esfuerzo». La fila de Datos también cubre repositorios.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 Encuentro 4. La decisión que vale: escribir las pruebas con el subconjunto común (última fila) y fakes propios, y capturar los rechazos con try/catch en lugar de expectAsync o rejects. Así las mismas pruebas corren con el runner que traiga el proyecto. El aula pide Jasmine + Karma; Angular 21+ crea proyectos con Vitest: con esta regla, ambos sirven.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 Encuentro 4. Meszaros distingue tres dobles: el fake es una implementación real pero simplificada de la interfaz; el stub solo devuelve valores; el mock verifica llamadas. Como el dominio depende de Camara y no de @capacitor/camera, el fake es una clase corta: no hay que simular módulos de npm ni hardware. El marco pide simular solo dependencias directas y probar comportamiento y transiciones de estado, no detalles de implementación. En el material, FakeCamara y FakeUbicacion llevan además un contador llamadas que se incrementa en cada tomarFoto() o actual(); FakeUbicacion recibe Coordenadas | Error, su permiso() devuelve 'concedido' y su llamadas sirve para afirmar «no se pidió la ubicación». errorDe captura el rechazo sin APIs propias del runner.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 Encuentro 4. El nombre unidad_condicion_resultado, por ejemplo capturarEvidencia_sinPermisoDeCamara_lanzaPermisoDenegado, dice qué regla se rompió sin abrir el código. El tiempo entra por el puerto Reloj. Una línea cubierta no es un comportamiento probado. Datos de la suite: FOTO = { ruta: 'evidencias/visita-1.jpeg', formato: 'jpeg' }; NEIVA = { latitud: 2.9273, longitud: -75.2819, precisionMetros: 12 }; reloj fijo en 2026-10-23T23:00:00Z; sinCamara() = new FakeCamara(new PermisoDenegadoError('camara', false)). Las cuatro pruebas del material: conAmbosPermisos_devuelveFotoUbicacionYFecha (toEqual con foto, ubicación y fecha), sinPermisoDeUbicacion_guardaSinCoordenadas (ubicacion toBeNull), sinPermisoDeCamara_lanzaPermisoDenegado (errorDe + instanceof) y la de la pantalla, que protege el orden «foto antes que ubicación». npm run test:ci es ng test --no-watch --code-coverage --browsers=ChromeHeadless con Karma, o ng test --no-watch --coverage con Vitest.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 Encuentro 4. El ViewModel se prueba igual que el caso de uso: TestBed con RegistroVisitaViewModel, el puerto CAMARA resuelto con new FakeCamara(FOTO, 'preguntable') y un caso de uso falso (casoFalso es el nombre ilustrativo de ese doble). Se afirma sobre el estado que verá la vista, no sobre qué métodos se llamaron: así la prueba sobrevive a un refactor interno.</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Prueban el comportamiento sin hardware y no dependen de Jasmine ni de Vitest. El fake implementa el puerto del dominio, así que la prueba verifica la regla de negocio (foto obligatoria, ubicación de mejor esfuerzo) sin hardware y con el subconjunto común de ambos runners. Los adaptadores, en cambio, se validan en dispositivo. EN VIVO · Encuentro 4. Si eligen la de cobertura de adaptadores, devolverlos a la tabla de capas: los adaptadores se validan en dispositivo, no con fakes.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No cumple: el piso del 80 % se exige en dominio y en ViewModels. El marco fija 80 % mínimo en casos de uso y state holders, donde vive la lógica. Un promedio alto sostenido por código trivial no compensa reglas de negocio sin probar, y las E2E son lentas y escasas por diseño de la pirámide. EN VIVO · Encuentro 4. Es el error común 8 al revés: perseguir el 100 % global. Pedir que en la memoria de H3 reporten la cobertura por carpeta, no un solo número.</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 Encuentro 4. Publicar no es «compilar y subir»: es una cadena de identidades y números que, si se rompe, no siempre tiene arreglo. Perder la clave de firma o reutilizar un número de build son errores que la tienda no perdona. @capacitor/assets genera todos los tamaños desde pocas imágenes; el splash lleva el logo centrado sobre fondo sólido. Android usa versionName y versionCode en build.gradle; iOS, CFBundleShortVersionString y CFBundleVersion en Xcode. El número de build es un entero monótono. En Android 12+ el sistema dibuja su propio splash (ícono sobre un color): diseñarlo como marca mínima. El ícono adaptativo recorta el primer plano a una zona segura central: dejar aire.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 Encuentro 4. La firma prueba que el binario no fue alterado y que viene del mismo autor que la versión anterior: Android solo acepta una actualización firmada con la misma identidad. Con Play App Signing (obligatorio en apps nuevas) hay dos claves: la de SUBIDA, que custodia el equipo y solo lo autentica ante Play, y la de FIRMA DE APP, que custodia Google y firma los APK que Play genera para cada dispositivo. En iOS la identidad es un certificado de distribución más un perfil de aprovisionamiento, y se necesita macOS con Xcode. Prepara la pregunta de la clave perdida.</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 Encuentro 4. Play genera desde el AAB un APK por idioma, densidad y arquitectura; es obligatorio para apps nuevas desde agosto de 2021. Para H3 la evidencia instalable es el APK firmado. El IPA documentado o simulado describe la cadena: certificado, perfil, Archive, Distribute App y TestFlight, y qué cambiaría en el pipeline. Recalcar: simular es explicar, no fabricar capturas.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 Encuentro 4. El build.gradle no contiene ninguna contraseña: las lee de variables de entorno que el CI llena desde sus secretos. En el material, defaultConfig fija versionCode 14 y versionName "1.4.0", y el release declara además proguardFiles getDefaultProguardFile('proguard-android-optimize.txt'), 'proguard-rules.pro'. Al activar R8 hay que verificar la app en un dispositivo. Rutas de salida: app/build/outputs/bundle/release/app-release.aab y app/build/outputs/apk/release/app-release.apk. El keytool se ejecuta una sola vez; el .jks va a la bóveda, nunca al repositorio.</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 Encuentro 4. Despliegue escalonado: interna, prueba cerrada y producción al 5, 20, 50 y 100 %; el porcentaje limita el daño de un defecto. Apple ofrece el equivalente como phased release de siete días. Las cuentas personales nuevas de Play deben pasar una prueba cerrada con testers durante 14 días antes de producción: planearlo o documentar la simulación. Rollback en móvil no es volver atrás: no se «despublica» hacia una versión anterior en los equipos que ya actualizaron. Ante el disparador se detiene el despliegue y se avanza con un build de número mayor, aunque lleve el código anterior. La bandera de funcionalidad es el único rollback instantáneo. La actualización forzada se sube ante un cambio de API incompatible o una corrección crítica.</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Solicitan a Google restablecer la clave de subida y registran una nueva. Con Play App Signing, Google custodia la clave de firma de la app; la de subida solo autentica al equipo y puede restablecerse. Sin ese esquema, perder el keystore impedía volver a actualizar. Y el número de build nunca se reutiliza. EN VIVO · Encuentro 4. Volver a la slide 33 si dudan: dos claves, dos custodios. La tercera opción tiene dos errores a la vez (otra clave y el mismo versionCode).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 Encuentro 4. El principio de ci-cd.md del marco: ningún binario de tienda sale del portátil de un desarrollador. Sale de un pipeline reproducible, con credenciales en los secretos del CI y los valores de cada ambiente inyectados al compilar. Tres disparadores: el PR corre lint y pruebas y bloquea el merge; el merge a main produce un build firmado de staging para testers internos; el tag vX.Y.Z produce el AAB/IPA de producción, compara arranque y tamaño contra la versión anterior y lo promueve a revisión de tienda. Un release.yml disparado por el tag: el job de Android corre npm ci, lint, npm run test:ci, npm run build y npx cap sync android; restaura el keystore desde un secreto codificado en base64 y ejecuta ./gradlew bundleRelease con las variables BITACORA_* que lee build.gradle. El binario sale firmado sin que nadie vea la clave.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 Encuentro 4. Los sufijos del applicationId permiten tener las tres variantes instaladas a la vez en el mismo teléfono. La web empaquetada debe corresponder al ambiente nativo: por eso el ng build con la configuración del flavor va antes de cap sync. Error típico: un build de prod con la web compilada para staging.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 Encuentro 4. AppFlow es nativo del ecosistema Ionic, pero Ionic anunció en 2025 el retiro de su oferta comercial para clientes nuevos: verificar disponibilidad antes de proponerlo. EAS Build figura porque el material institucional cubre varios stacks; no aplica a Ionic + Capacitor. Para la A3 basta un pipeline real o diseñado con una de estas piezas por etapa.</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 Encuentro 4. Un fallo nativo cierra la app y lo ve cualquier reportador de crashes; un error de JavaScript deja la app abierta con la pantalla muerta y nadie se entera si no se reporta. Por eso el ErrorHandler de Angular se conecta al reportador a través de un puerto (REPORTADOR_FALLOS): Crashlytics, Sentry u otro quedan detrás de un adaptador, igual que la cámara en el Encuentro 3. Cerrar el círculo: el mismo patrón de puertos de la primera sección sirve para la observabilidad.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 Encuentro 4. Crash-free ≥ 99,5 % en sesiones y usuarios; además, ANR bajo el umbral de la plataforma y el embudo clave sin regresión frente al release anterior. Trazas legibles: subir el mapping.txt de R8, los dSYM de iOS y los source maps ocultos de Angular ("sourceMap": { "scripts": true, "hidden": true }). Analítica sin PII: eventos definidos de antemano, como visita_registrada con tiene_foto y permiso_respondido con recurso y resultado; ni nombres, ni correos, ni coordenadas. Banderas: toda función riesgosa detrás de una bandera remota, apagada por defecto en producción, con dueño y fecha de retiro. La idea fuerza cierra el círculo con permisos: si después de la pantalla de justificación la mayoría niega la ubicación, el problema no es el usuario.</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Detener el despliegue y publicar una corrección con un build mayor. Bajo 99,5 % se dispara el rollback, que en móvil significa detener el despliegue y avanzar con un build de número mayor (aunque lleve el código anterior), o apagar la bandera de la función. La tienda rechaza un número de build repetido. EN VIVO · Encuentro 4. Junta release y observabilidad: el número (99,5 %) sale de la observación y la acción (detener y avanzar) sale del release. Quien elige la primera opción pensó el rollback como en un backend.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 Encuentro 4. Recorrer en voz alta y pedir que cada pareja marque cuáles tiene hoy su proyecto: es la mejor revisión previa a H3. Complementos del material: el 1 hace que un cambio del plugin se propague a toda la feature; el 2 además lo marca el checklist; el 3 se resuelve explicando y ofreciendo los ajustes; el 4 se corrige con almacenamiento seguro; el 5 con llaves en el backend; el 6 con la URI del archivo; el 7 con fakes del puerto; el 9 hace que la app instalada apunte al portátil del desarrollador. El 10 incluye pensar el rollback como en un backend, que deja a los usuarios atrapados en la versión defectuosa.</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 Encuentro 4 (cierre). La frase de la unidad: la calidad y la entrega también se diseñan. Los plugins entran por puertos, los permisos se piden cuando tienen sentido, la seguridad parte de que el binario es público, el rendimiento tiene números, las pruebas no necesitan un teléfono y el release es una cadena de identidades custodiadas que termina en observación. ACTIVIDAD: para H3 (domingo 1 de noviembre, 11:59 p. m.), la memoria técnica muestra estas decisiones con evidencia: estrategia de pruebas con cobertura por carpeta, checklist de seguridad, firma y binario, pipeline (real o diseñado) y cómo se observará la app publicada. Para el Documento ABP (domingo 8 de noviembre), las secciones 04 y 05 del marco quedan diligenciadas con esa misma evidencia, usando las Plantillas del proyecto y su lista de verificación de release. FUENTES. Material institucional: Corporación Universitaria del Huila (2026), Unidad de aprendizaje 3: Funcionalidades nativas, pruebas y despliegue [PDF], aula virtual; Clase digital 3 en Moodle; marco de gobierno móvil del curso, reglas de seguridad (00), Calidad (04) y Release (05). Bibliografía de la clase digital: Capacitor Documentation (capacitorjs.com/docs); Ionic CLI Documentation; Google Developers, Publishing with Android App Bundles; Apple Developer, Distribute — App Store; Angular, Testing in Angular; AppFlow by Ionic; Fastlane Tools; Firebase Test Lab; Expo EAS Build; Jest y Vue Test Utils (otros stacks); Sommerville (2011), Ingeniería de software; Aguilar (2020), Fundamentos de programación Plus; Pressman y Maxim (2021), Ingeniería de Software Plus, en la biblioteca digital de CORHUILA. Complementarias: OWASP MASVS; Meszaros (2007), xUnit Test Patterns; Cockburn (2005), Hexagonal Architecture.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C6517A-6E51-D8FF-5518-33DCF1BB8315}"/>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BA5F916A-7D6A-E8AF-439A-8D6840C6F0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C846680D-0A49-4B54-F51B-03AA27F6B2CE}"/>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5396F560-F0B8-AB29-82CA-A2DDE7D3568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B5D50BE2-EBBD-61B9-3E6C-B4C2BA988EBE}"/>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4168766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8836D1-D4F9-8F5A-DCDD-25408D7D36D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1551DC57-A21A-5278-EC55-4C245B3FC0B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02E49EC-4920-0E2F-9C8B-0B674CB07209}"/>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8F31254A-3742-246E-D797-82A0482FE25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2D15C84-0D5E-FBD8-F4A6-A48214F7CB87}"/>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1553980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5FBBEC-EF89-8C3C-71B9-577DC2668ABA}"/>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6B7EF770-ACB6-2BA3-E667-9EBABFB4AEB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DAD28F8-48D0-258C-AD9D-D166F7F2D745}"/>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868163DA-7927-EC0F-B832-B0D9CEF2421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7D2D961-09A6-F702-5A58-9A2E9D96BDE2}"/>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7144780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EAE57A-7BC8-A4F0-8EC3-29FA071B4D3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66DB23D6-B010-B5CB-011A-B03D0B3E9DF7}"/>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180C2A42-464D-5E30-A614-F5201EA4318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6B7E369D-DA34-3508-5F83-FE255ACE6A7E}"/>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6" name="Marcador de pie de página 5">
            <a:extLst>
              <a:ext uri="{FF2B5EF4-FFF2-40B4-BE49-F238E27FC236}">
                <a16:creationId xmlns:a16="http://schemas.microsoft.com/office/drawing/2014/main" id="{5FAF6228-C474-55C2-F2A3-A80C9ECB9BE4}"/>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CE2CA109-4F43-98C5-5BA6-85F5B496EC33}"/>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215908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ADADB-6CDF-BDB1-1300-FAEA2D84BEEF}"/>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07B4924-BB64-D547-A28B-666362350C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507D8AA5-BF4A-D02D-E702-0FBE685A5087}"/>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26BC7471-CDF8-0C0F-6D28-4001FC2838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533769A5-222B-5317-4503-6E9D363E28B6}"/>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A17FE0D7-3EEC-E3E6-7C86-CF7C18AB6C98}"/>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8" name="Marcador de pie de página 7">
            <a:extLst>
              <a:ext uri="{FF2B5EF4-FFF2-40B4-BE49-F238E27FC236}">
                <a16:creationId xmlns:a16="http://schemas.microsoft.com/office/drawing/2014/main" id="{C8EFF3E5-4BD9-D039-6F0A-0A92B04A1CBC}"/>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8DF0DEE6-C861-6117-2772-892873D92EAD}"/>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14483474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91AA1F-2C39-64AF-4C6F-BF1C44530D3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F0E135E8-59EC-9B87-4141-B4E0DEA152F1}"/>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4" name="Marcador de pie de página 3">
            <a:extLst>
              <a:ext uri="{FF2B5EF4-FFF2-40B4-BE49-F238E27FC236}">
                <a16:creationId xmlns:a16="http://schemas.microsoft.com/office/drawing/2014/main" id="{22565AFD-1683-D460-140D-9F48CBCBAB0B}"/>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3E711735-1F41-F218-7243-AC89EA548BC9}"/>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1261154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188DA81-50FE-72AF-6F22-3D317B92F3BC}"/>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3" name="Marcador de pie de página 2">
            <a:extLst>
              <a:ext uri="{FF2B5EF4-FFF2-40B4-BE49-F238E27FC236}">
                <a16:creationId xmlns:a16="http://schemas.microsoft.com/office/drawing/2014/main" id="{4DADFFC1-222F-FA4F-F745-4AECF65CE087}"/>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AFB47231-DA7E-E86D-0ECA-3CD935CB1700}"/>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469125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6A5293-4CAF-8D46-B44D-99EAF11FD55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AA782D5-A60C-369C-7F2E-20DC36F50E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53C7E45F-8F4D-4A4A-AD2B-580AA0500F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E49A9D3-41A6-5F05-3785-C76553A3237C}"/>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6" name="Marcador de pie de página 5">
            <a:extLst>
              <a:ext uri="{FF2B5EF4-FFF2-40B4-BE49-F238E27FC236}">
                <a16:creationId xmlns:a16="http://schemas.microsoft.com/office/drawing/2014/main" id="{F339118E-A5D9-04A8-223B-C952BE301095}"/>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0AFCCC82-59BC-CBA8-F9A5-1C4603AD8128}"/>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328771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0C677B-1ABC-81D6-857F-7E1F6785CB1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B8FFF9DA-1F76-6604-0F69-D17DFFA8AD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94FD3A44-53F9-E2AD-4B37-3C2CD8A25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EA3A846-4373-5BFE-DCED-CDECAACAAD8F}"/>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6" name="Marcador de pie de página 5">
            <a:extLst>
              <a:ext uri="{FF2B5EF4-FFF2-40B4-BE49-F238E27FC236}">
                <a16:creationId xmlns:a16="http://schemas.microsoft.com/office/drawing/2014/main" id="{C0137096-4AD9-8D1E-B119-EDDF0F3EA803}"/>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A7ADAE5B-0E78-C71A-B918-853E86CE07AC}"/>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464844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A2BA9E-020E-BCD8-9EA9-9BDFB1673E5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9D2EE6B7-CD7D-EA57-7B4D-87C2F63C8D6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16BA0735-0CBD-5147-C06C-3B03006C1423}"/>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8CCAF2C5-C162-2021-6EDC-A716463031D0}"/>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6AD3F66-F4A3-A221-BA4A-2F327442751D}"/>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161594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64F149B-9E13-3157-0B62-971D8EB526C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F87BBD2-5343-3A5D-564E-2D534BC7D0FB}"/>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CB2F397-0E8A-92C8-93C4-9018446E3819}"/>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216F7EEE-EA06-5E8F-8174-D1B755A7BBE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D7410F1-59DC-8093-6A75-33AE1285CCFE}"/>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70393169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1D6B204-4AEE-9E74-8DF2-926D69EDA9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8E631246-8F97-5699-6653-D3A77D7644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73B2563-9278-5DCC-E5B5-CCE80A0280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74AD3EE7-759B-C8A2-7A15-CC1FFB8018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99BE85B8-1FF9-DDC6-E068-D7EEA7240D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908E7FD-F6A8-D246-986A-AA7D283E6007}" type="slidenum">
              <a:rPr lang="es-CO" smtClean="0"/>
              <a:t>‹Nº›</a:t>
            </a:fld>
            <a:endParaRPr lang="es-CO"/>
          </a:p>
        </p:txBody>
      </p:sp>
    </p:spTree>
    <p:extLst>
      <p:ext uri="{BB962C8B-B14F-4D97-AF65-F5344CB8AC3E}">
        <p14:creationId xmlns:p14="http://schemas.microsoft.com/office/powerpoint/2010/main" val="196690471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520440"/>
            <a:ext cx="11734800" cy="25146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Institucional-con-advertencia-Vigilado-Mineducacion-Blanco.png"/>
          <p:cNvPicPr>
            <a:picLocks noChangeAspect="1"/>
          </p:cNvPicPr>
          <p:nvPr/>
        </p:nvPicPr>
        <p:blipFill>
          <a:blip r:embed="rId2"/>
          <a:stretch>
            <a:fillRect/>
          </a:stretch>
        </p:blipFill>
        <p:spPr>
          <a:xfrm>
            <a:off x="4844395" y="548640"/>
            <a:ext cx="2503210" cy="2286000"/>
          </a:xfrm>
          <a:prstGeom prst="rect">
            <a:avLst/>
          </a:prstGeom>
        </p:spPr>
      </p:pic>
      <p:sp>
        <p:nvSpPr>
          <p:cNvPr id="5" name="Rectangle 4"/>
          <p:cNvSpPr/>
          <p:nvPr/>
        </p:nvSpPr>
        <p:spPr>
          <a:xfrm>
            <a:off x="457200" y="3429000"/>
            <a:ext cx="11734800" cy="762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703320"/>
            <a:ext cx="10881360" cy="1280160"/>
          </a:xfrm>
          <a:prstGeom prst="rect">
            <a:avLst/>
          </a:prstGeom>
          <a:noFill/>
        </p:spPr>
        <p:txBody>
          <a:bodyPr wrap="square" anchor="t" lIns="0" rIns="0" tIns="0" bIns="0">
            <a:spAutoFit/>
          </a:bodyPr>
          <a:lstStyle/>
          <a:p>
            <a:pPr algn="ctr"/>
            <a:r>
              <a:rPr sz="3800" b="1">
                <a:solidFill>
                  <a:srgbClr val="FFFFFF"/>
                </a:solidFill>
                <a:latin typeface="Aptos Display"/>
              </a:rPr>
              <a:t>Calidad y entrega: del plugin a la tienda</a:t>
            </a:r>
          </a:p>
        </p:txBody>
      </p:sp>
      <p:sp>
        <p:nvSpPr>
          <p:cNvPr id="7" name="TextBox 6"/>
          <p:cNvSpPr txBox="1"/>
          <p:nvPr/>
        </p:nvSpPr>
        <p:spPr>
          <a:xfrm>
            <a:off x="640080" y="5029200"/>
            <a:ext cx="10881360" cy="457200"/>
          </a:xfrm>
          <a:prstGeom prst="rect">
            <a:avLst/>
          </a:prstGeom>
          <a:noFill/>
        </p:spPr>
        <p:txBody>
          <a:bodyPr wrap="square" anchor="t" lIns="0" rIns="0" tIns="0" bIns="0">
            <a:spAutoFit/>
          </a:bodyPr>
          <a:lstStyle/>
          <a:p>
            <a:pPr algn="ctr"/>
            <a:r>
              <a:rPr sz="1500" b="0">
                <a:solidFill>
                  <a:srgbClr val="E8E8E8"/>
                </a:solidFill>
                <a:latin typeface="Aptos"/>
              </a:rPr>
              <a:t>Ingeniería para el Desarrollo Móvil [G1-2026B]  ·  Jesús Ariel González Bonilla  ·  2026-B  ·  Unidad 3</a:t>
            </a:r>
          </a:p>
        </p:txBody>
      </p:sp>
      <p:sp>
        <p:nvSpPr>
          <p:cNvPr id="8" name="TextBox 7"/>
          <p:cNvSpPr txBox="1"/>
          <p:nvPr/>
        </p:nvSpPr>
        <p:spPr>
          <a:xfrm>
            <a:off x="1371600" y="5532120"/>
            <a:ext cx="9418320" cy="457200"/>
          </a:xfrm>
          <a:prstGeom prst="rect">
            <a:avLst/>
          </a:prstGeom>
          <a:noFill/>
        </p:spPr>
        <p:txBody>
          <a:bodyPr wrap="square" anchor="t" lIns="0" rIns="0" tIns="0" bIns="0">
            <a:spAutoFit/>
          </a:bodyPr>
          <a:lstStyle/>
          <a:p>
            <a:pPr algn="ctr"/>
            <a:r>
              <a:rPr sz="1300" b="0">
                <a:solidFill>
                  <a:srgbClr val="E8E8E8"/>
                </a:solidFill>
                <a:latin typeface="Aptos"/>
              </a:rPr>
              <a:t>Arquitectura de calidad y de entrega: nativo, pruebas y despliegue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NATIVO, CALIDAD Y DESPLIEGUE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Que funcione en tu teléfono no basta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399032"/>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289304"/>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399032"/>
          </a:xfrm>
          <a:prstGeom prst="rect">
            <a:avLst/>
          </a:prstGeom>
          <a:noFill/>
        </p:spPr>
        <p:txBody>
          <a:bodyPr wrap="square" anchor="ctr" lIns="0" rIns="0" tIns="0" bIns="0">
            <a:spAutoFit/>
          </a:bodyPr>
          <a:lstStyle/>
          <a:p>
            <a:pPr algn="l">
              <a:lnSpc>
                <a:spcPct val="125000"/>
              </a:lnSpc>
            </a:pPr>
            <a:r>
              <a:rPr sz="2492" b="1">
                <a:solidFill>
                  <a:srgbClr val="0E2841"/>
                </a:solidFill>
                <a:latin typeface="Aptos Display"/>
              </a:rPr>
              <a:t>¿Cuándo está terminada una app móvil? No cuando funciona en tu teléfono.</a:t>
            </a:r>
          </a:p>
        </p:txBody>
      </p:sp>
      <p:sp>
        <p:nvSpPr>
          <p:cNvPr id="10" name="Oval 9"/>
          <p:cNvSpPr/>
          <p:nvPr/>
        </p:nvSpPr>
        <p:spPr>
          <a:xfrm>
            <a:off x="585216" y="3438144"/>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3172968"/>
            <a:ext cx="10698480" cy="630936"/>
          </a:xfrm>
          <a:prstGeom prst="rect">
            <a:avLst/>
          </a:prstGeom>
          <a:noFill/>
        </p:spPr>
        <p:txBody>
          <a:bodyPr wrap="square" anchor="ctr" lIns="0" rIns="0" tIns="0" bIns="0">
            <a:spAutoFit/>
          </a:bodyPr>
          <a:lstStyle/>
          <a:p>
            <a:pPr algn="l"/>
            <a:r>
              <a:rPr sz="2379" b="1">
                <a:solidFill>
                  <a:srgbClr val="0E2841"/>
                </a:solidFill>
                <a:latin typeface="Aptos"/>
              </a:rPr>
              <a:t>Usa el hardware sin acoplarse a él</a:t>
            </a:r>
          </a:p>
        </p:txBody>
      </p:sp>
      <p:sp>
        <p:nvSpPr>
          <p:cNvPr id="12" name="Oval 11"/>
          <p:cNvSpPr/>
          <p:nvPr/>
        </p:nvSpPr>
        <p:spPr>
          <a:xfrm>
            <a:off x="585216" y="4069080"/>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3803904"/>
            <a:ext cx="10698480" cy="630936"/>
          </a:xfrm>
          <a:prstGeom prst="rect">
            <a:avLst/>
          </a:prstGeom>
          <a:noFill/>
        </p:spPr>
        <p:txBody>
          <a:bodyPr wrap="square" anchor="ctr" lIns="0" rIns="0" tIns="0" bIns="0">
            <a:spAutoFit/>
          </a:bodyPr>
          <a:lstStyle/>
          <a:p>
            <a:pPr algn="l"/>
            <a:r>
              <a:rPr sz="2379" b="1">
                <a:solidFill>
                  <a:srgbClr val="0E2841"/>
                </a:solidFill>
                <a:latin typeface="Aptos"/>
              </a:rPr>
              <a:t>Pide permisos con respeto</a:t>
            </a:r>
          </a:p>
        </p:txBody>
      </p:sp>
      <p:sp>
        <p:nvSpPr>
          <p:cNvPr id="14" name="Oval 13"/>
          <p:cNvSpPr/>
          <p:nvPr/>
        </p:nvSpPr>
        <p:spPr>
          <a:xfrm>
            <a:off x="585216" y="4700016"/>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4434840"/>
            <a:ext cx="10698480" cy="630936"/>
          </a:xfrm>
          <a:prstGeom prst="rect">
            <a:avLst/>
          </a:prstGeom>
          <a:noFill/>
        </p:spPr>
        <p:txBody>
          <a:bodyPr wrap="square" anchor="ctr" lIns="0" rIns="0" tIns="0" bIns="0">
            <a:spAutoFit/>
          </a:bodyPr>
          <a:lstStyle/>
          <a:p>
            <a:pPr algn="l"/>
            <a:r>
              <a:rPr sz="2379" b="1">
                <a:solidFill>
                  <a:srgbClr val="0E2841"/>
                </a:solidFill>
                <a:latin typeface="Aptos"/>
              </a:rPr>
              <a:t>Protege lo que guarda</a:t>
            </a:r>
          </a:p>
        </p:txBody>
      </p:sp>
      <p:sp>
        <p:nvSpPr>
          <p:cNvPr id="16" name="Oval 15"/>
          <p:cNvSpPr/>
          <p:nvPr/>
        </p:nvSpPr>
        <p:spPr>
          <a:xfrm>
            <a:off x="585216" y="5330952"/>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 y="5065776"/>
            <a:ext cx="10698480" cy="630936"/>
          </a:xfrm>
          <a:prstGeom prst="rect">
            <a:avLst/>
          </a:prstGeom>
          <a:noFill/>
        </p:spPr>
        <p:txBody>
          <a:bodyPr wrap="square" anchor="ctr" lIns="0" rIns="0" tIns="0" bIns="0">
            <a:spAutoFit/>
          </a:bodyPr>
          <a:lstStyle/>
          <a:p>
            <a:pPr algn="l"/>
            <a:r>
              <a:rPr sz="2379" b="1">
                <a:solidFill>
                  <a:srgbClr val="0E2841"/>
                </a:solidFill>
                <a:latin typeface="Aptos"/>
              </a:rPr>
              <a:t>Se prueba sin dispositivo</a:t>
            </a:r>
          </a:p>
        </p:txBody>
      </p:sp>
      <p:sp>
        <p:nvSpPr>
          <p:cNvPr id="18" name="Oval 17"/>
          <p:cNvSpPr/>
          <p:nvPr/>
        </p:nvSpPr>
        <p:spPr>
          <a:xfrm>
            <a:off x="585216" y="5961888"/>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9536" y="5696712"/>
            <a:ext cx="10698480" cy="630936"/>
          </a:xfrm>
          <a:prstGeom prst="rect">
            <a:avLst/>
          </a:prstGeom>
          <a:noFill/>
        </p:spPr>
        <p:txBody>
          <a:bodyPr wrap="square" anchor="ctr" lIns="0" rIns="0" tIns="0" bIns="0">
            <a:spAutoFit/>
          </a:bodyPr>
          <a:lstStyle/>
          <a:p>
            <a:pPr algn="l"/>
            <a:r>
              <a:rPr sz="2379" b="1">
                <a:solidFill>
                  <a:srgbClr val="0E2841"/>
                </a:solidFill>
                <a:latin typeface="Aptos"/>
              </a:rPr>
              <a:t>Se firma, se publica y se observa</a:t>
            </a:r>
          </a:p>
        </p:txBody>
      </p:sp>
      <p:sp>
        <p:nvSpPr>
          <p:cNvPr id="20" name="TextBox 19"/>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21" name="TextBox 20"/>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 / 45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NATIVO, CALIDAD Y DESPLIEGUE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Lo que vas a poder hacer al terminar</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13385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024128"/>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133856"/>
          </a:xfrm>
          <a:prstGeom prst="rect">
            <a:avLst/>
          </a:prstGeom>
          <a:noFill/>
        </p:spPr>
        <p:txBody>
          <a:bodyPr wrap="square" anchor="ctr" lIns="0" rIns="0" tIns="0" bIns="0">
            <a:spAutoFit/>
          </a:bodyPr>
          <a:lstStyle/>
          <a:p>
            <a:pPr algn="l">
              <a:lnSpc>
                <a:spcPct val="125000"/>
              </a:lnSpc>
            </a:pPr>
            <a:r>
              <a:rPr sz="2220" b="1">
                <a:solidFill>
                  <a:srgbClr val="0E2841"/>
                </a:solidFill>
                <a:latin typeface="Aptos Display"/>
              </a:rPr>
              <a:t>Encuentros de 6:00 a 7:00 p. m. por Meet · H3 (20 %): dom 1-nov, 11:59 p. m. · Documento ABP (40 %): dom 8-nov</a:t>
            </a:r>
          </a:p>
        </p:txBody>
      </p:sp>
      <p:graphicFrame>
        <p:nvGraphicFramePr>
          <p:cNvPr id="10" name="Table 9"/>
          <p:cNvGraphicFramePr>
            <a:graphicFrameLocks noGrp="1"/>
          </p:cNvGraphicFramePr>
          <p:nvPr/>
        </p:nvGraphicFramePr>
        <p:xfrm>
          <a:off x="566928" y="2907791"/>
          <a:ext cx="11064240" cy="3419850"/>
        </p:xfrm>
        <a:graphic>
          <a:graphicData uri="http://schemas.openxmlformats.org/drawingml/2006/table">
            <a:tbl>
              <a:tblPr firstRow="1">
                <a:tableStyleId>{5C22544A-7EE6-4342-B048-85BDC9FD1C3A}</a:tableStyleId>
              </a:tblPr>
              <a:tblGrid>
                <a:gridCol w="3688080"/>
                <a:gridCol w="3688080"/>
                <a:gridCol w="3688080"/>
              </a:tblGrid>
              <a:tr h="488550">
                <a:tc>
                  <a:txBody>
                    <a:bodyPr wrap="square"/>
                    <a:lstStyle/>
                    <a:p>
                      <a:r>
                        <a:rPr sz="1513" b="1">
                          <a:solidFill>
                            <a:srgbClr val="FFFFFF"/>
                          </a:solidFill>
                          <a:latin typeface="Aptos"/>
                        </a:rPr>
                        <a:t>Vas a poder…</a:t>
                      </a:r>
                    </a:p>
                  </a:txBody>
                  <a:tcPr anchor="ctr" marL="146304" marR="146304">
                    <a:solidFill>
                      <a:srgbClr val="156082"/>
                    </a:solidFill>
                  </a:tcPr>
                </a:tc>
                <a:tc>
                  <a:txBody>
                    <a:bodyPr wrap="square"/>
                    <a:lstStyle/>
                    <a:p>
                      <a:r>
                        <a:rPr sz="1513" b="1">
                          <a:solidFill>
                            <a:srgbClr val="FFFFFF"/>
                          </a:solidFill>
                          <a:latin typeface="Aptos"/>
                        </a:rPr>
                        <a:t>Sección</a:t>
                      </a:r>
                    </a:p>
                  </a:txBody>
                  <a:tcPr anchor="ctr" marL="146304" marR="146304">
                    <a:solidFill>
                      <a:srgbClr val="156082"/>
                    </a:solidFill>
                  </a:tcPr>
                </a:tc>
                <a:tc>
                  <a:txBody>
                    <a:bodyPr wrap="square"/>
                    <a:lstStyle/>
                    <a:p>
                      <a:r>
                        <a:rPr sz="1513" b="1">
                          <a:solidFill>
                            <a:srgbClr val="FFFFFF"/>
                          </a:solidFill>
                          <a:latin typeface="Aptos"/>
                        </a:rPr>
                        <a:t>Encuentro</a:t>
                      </a:r>
                    </a:p>
                  </a:txBody>
                  <a:tcPr anchor="ctr" marL="146304" marR="146304">
                    <a:solidFill>
                      <a:srgbClr val="156082"/>
                    </a:solidFill>
                  </a:tcPr>
                </a:tc>
              </a:tr>
              <a:tr h="488550">
                <a:tc>
                  <a:txBody>
                    <a:bodyPr wrap="square"/>
                    <a:lstStyle/>
                    <a:p>
                      <a:r>
                        <a:rPr sz="1413" b="1">
                          <a:solidFill>
                            <a:srgbClr val="33475B"/>
                          </a:solidFill>
                          <a:latin typeface="Aptos"/>
                        </a:rPr>
                        <a:t>Integrar plugins como adaptadores</a:t>
                      </a:r>
                    </a:p>
                  </a:txBody>
                  <a:tcPr anchor="ctr" marL="146304" marR="146304">
                    <a:solidFill>
                      <a:srgbClr val="FFFFFF"/>
                    </a:solidFill>
                  </a:tcPr>
                </a:tc>
                <a:tc>
                  <a:txBody>
                    <a:bodyPr wrap="square"/>
                    <a:lstStyle/>
                    <a:p>
                      <a:r>
                        <a:rPr sz="1413" b="0">
                          <a:solidFill>
                            <a:srgbClr val="33475B"/>
                          </a:solidFill>
                          <a:latin typeface="Aptos"/>
                        </a:rPr>
                        <a:t>Plugins</a:t>
                      </a:r>
                    </a:p>
                  </a:txBody>
                  <a:tcPr anchor="ctr" marL="146304" marR="146304">
                    <a:solidFill>
                      <a:srgbClr val="FFFFFF"/>
                    </a:solidFill>
                  </a:tcPr>
                </a:tc>
                <a:tc>
                  <a:txBody>
                    <a:bodyPr wrap="square"/>
                    <a:lstStyle/>
                    <a:p>
                      <a:r>
                        <a:rPr sz="1413" b="0">
                          <a:solidFill>
                            <a:srgbClr val="33475B"/>
                          </a:solidFill>
                          <a:latin typeface="Aptos"/>
                        </a:rPr>
                        <a:t>3 · vie 23-oct</a:t>
                      </a:r>
                    </a:p>
                  </a:txBody>
                  <a:tcPr anchor="ctr" marL="146304" marR="146304">
                    <a:solidFill>
                      <a:srgbClr val="FFFFFF"/>
                    </a:solidFill>
                  </a:tcPr>
                </a:tc>
              </a:tr>
              <a:tr h="488550">
                <a:tc>
                  <a:txBody>
                    <a:bodyPr wrap="square"/>
                    <a:lstStyle/>
                    <a:p>
                      <a:r>
                        <a:rPr sz="1413" b="1">
                          <a:solidFill>
                            <a:srgbClr val="33475B"/>
                          </a:solidFill>
                          <a:latin typeface="Aptos"/>
                        </a:rPr>
                        <a:t>Diseñar permisos just-in-time</a:t>
                      </a:r>
                    </a:p>
                  </a:txBody>
                  <a:tcPr anchor="ctr" marL="146304" marR="146304">
                    <a:solidFill>
                      <a:srgbClr val="F4F7FA"/>
                    </a:solidFill>
                  </a:tcPr>
                </a:tc>
                <a:tc>
                  <a:txBody>
                    <a:bodyPr wrap="square"/>
                    <a:lstStyle/>
                    <a:p>
                      <a:r>
                        <a:rPr sz="1413" b="0">
                          <a:solidFill>
                            <a:srgbClr val="33475B"/>
                          </a:solidFill>
                          <a:latin typeface="Aptos"/>
                        </a:rPr>
                        <a:t>Permisos</a:t>
                      </a:r>
                    </a:p>
                  </a:txBody>
                  <a:tcPr anchor="ctr" marL="146304" marR="146304">
                    <a:solidFill>
                      <a:srgbClr val="F4F7FA"/>
                    </a:solidFill>
                  </a:tcPr>
                </a:tc>
                <a:tc>
                  <a:txBody>
                    <a:bodyPr wrap="square"/>
                    <a:lstStyle/>
                    <a:p>
                      <a:r>
                        <a:rPr sz="1413" b="0">
                          <a:solidFill>
                            <a:srgbClr val="33475B"/>
                          </a:solidFill>
                          <a:latin typeface="Aptos"/>
                        </a:rPr>
                        <a:t>3 · vie 23-oct</a:t>
                      </a:r>
                    </a:p>
                  </a:txBody>
                  <a:tcPr anchor="ctr" marL="146304" marR="146304">
                    <a:solidFill>
                      <a:srgbClr val="F4F7FA"/>
                    </a:solidFill>
                  </a:tcPr>
                </a:tc>
              </a:tr>
              <a:tr h="488550">
                <a:tc>
                  <a:txBody>
                    <a:bodyPr wrap="square"/>
                    <a:lstStyle/>
                    <a:p>
                      <a:r>
                        <a:rPr sz="1413" b="1">
                          <a:solidFill>
                            <a:srgbClr val="33475B"/>
                          </a:solidFill>
                          <a:latin typeface="Aptos"/>
                        </a:rPr>
                        <a:t>Aplicar y verificar seguridad móvil</a:t>
                      </a:r>
                    </a:p>
                  </a:txBody>
                  <a:tcPr anchor="ctr" marL="146304" marR="146304">
                    <a:solidFill>
                      <a:srgbClr val="FFFFFF"/>
                    </a:solidFill>
                  </a:tcPr>
                </a:tc>
                <a:tc>
                  <a:txBody>
                    <a:bodyPr wrap="square"/>
                    <a:lstStyle/>
                    <a:p>
                      <a:r>
                        <a:rPr sz="1413" b="0">
                          <a:solidFill>
                            <a:srgbClr val="33475B"/>
                          </a:solidFill>
                          <a:latin typeface="Aptos"/>
                        </a:rPr>
                        <a:t>Seguridad</a:t>
                      </a:r>
                    </a:p>
                  </a:txBody>
                  <a:tcPr anchor="ctr" marL="146304" marR="146304">
                    <a:solidFill>
                      <a:srgbClr val="FFFFFF"/>
                    </a:solidFill>
                  </a:tcPr>
                </a:tc>
                <a:tc>
                  <a:txBody>
                    <a:bodyPr wrap="square"/>
                    <a:lstStyle/>
                    <a:p>
                      <a:r>
                        <a:rPr sz="1413" b="0">
                          <a:solidFill>
                            <a:srgbClr val="33475B"/>
                          </a:solidFill>
                          <a:latin typeface="Aptos"/>
                        </a:rPr>
                        <a:t>3 · vie 23-oct</a:t>
                      </a:r>
                    </a:p>
                  </a:txBody>
                  <a:tcPr anchor="ctr" marL="146304" marR="146304">
                    <a:solidFill>
                      <a:srgbClr val="FFFFFF"/>
                    </a:solidFill>
                  </a:tcPr>
                </a:tc>
              </a:tr>
              <a:tr h="488550">
                <a:tc>
                  <a:txBody>
                    <a:bodyPr wrap="square"/>
                    <a:lstStyle/>
                    <a:p>
                      <a:r>
                        <a:rPr sz="1413" b="1">
                          <a:solidFill>
                            <a:srgbClr val="33475B"/>
                          </a:solidFill>
                          <a:latin typeface="Aptos"/>
                        </a:rPr>
                        <a:t>Fijar presupuestos de rendimiento</a:t>
                      </a:r>
                    </a:p>
                  </a:txBody>
                  <a:tcPr anchor="ctr" marL="146304" marR="146304">
                    <a:solidFill>
                      <a:srgbClr val="F4F7FA"/>
                    </a:solidFill>
                  </a:tcPr>
                </a:tc>
                <a:tc>
                  <a:txBody>
                    <a:bodyPr wrap="square"/>
                    <a:lstStyle/>
                    <a:p>
                      <a:r>
                        <a:rPr sz="1413" b="0">
                          <a:solidFill>
                            <a:srgbClr val="33475B"/>
                          </a:solidFill>
                          <a:latin typeface="Aptos"/>
                        </a:rPr>
                        <a:t>Rendimiento</a:t>
                      </a:r>
                    </a:p>
                  </a:txBody>
                  <a:tcPr anchor="ctr" marL="146304" marR="146304">
                    <a:solidFill>
                      <a:srgbClr val="F4F7FA"/>
                    </a:solidFill>
                  </a:tcPr>
                </a:tc>
                <a:tc>
                  <a:txBody>
                    <a:bodyPr wrap="square"/>
                    <a:lstStyle/>
                    <a:p>
                      <a:r>
                        <a:rPr sz="1413" b="0">
                          <a:solidFill>
                            <a:srgbClr val="33475B"/>
                          </a:solidFill>
                          <a:latin typeface="Aptos"/>
                        </a:rPr>
                        <a:t>3 · vie 23-oct</a:t>
                      </a:r>
                    </a:p>
                  </a:txBody>
                  <a:tcPr anchor="ctr" marL="146304" marR="146304">
                    <a:solidFill>
                      <a:srgbClr val="F4F7FA"/>
                    </a:solidFill>
                  </a:tcPr>
                </a:tc>
              </a:tr>
              <a:tr h="488550">
                <a:tc>
                  <a:txBody>
                    <a:bodyPr wrap="square"/>
                    <a:lstStyle/>
                    <a:p>
                      <a:r>
                        <a:rPr sz="1413" b="1">
                          <a:solidFill>
                            <a:srgbClr val="33475B"/>
                          </a:solidFill>
                          <a:latin typeface="Aptos"/>
                        </a:rPr>
                        <a:t>Probar con fakes y cobertura ≥ 80 %</a:t>
                      </a:r>
                    </a:p>
                  </a:txBody>
                  <a:tcPr anchor="ctr" marL="146304" marR="146304">
                    <a:solidFill>
                      <a:srgbClr val="FFFFFF"/>
                    </a:solidFill>
                  </a:tcPr>
                </a:tc>
                <a:tc>
                  <a:txBody>
                    <a:bodyPr wrap="square"/>
                    <a:lstStyle/>
                    <a:p>
                      <a:r>
                        <a:rPr sz="1413" b="0">
                          <a:solidFill>
                            <a:srgbClr val="33475B"/>
                          </a:solidFill>
                          <a:latin typeface="Aptos"/>
                        </a:rPr>
                        <a:t>Pruebas</a:t>
                      </a:r>
                    </a:p>
                  </a:txBody>
                  <a:tcPr anchor="ctr" marL="146304" marR="146304">
                    <a:solidFill>
                      <a:srgbClr val="FFFFFF"/>
                    </a:solidFill>
                  </a:tcPr>
                </a:tc>
                <a:tc>
                  <a:txBody>
                    <a:bodyPr wrap="square"/>
                    <a:lstStyle/>
                    <a:p>
                      <a:r>
                        <a:rPr sz="1413" b="0">
                          <a:solidFill>
                            <a:srgbClr val="33475B"/>
                          </a:solidFill>
                          <a:latin typeface="Aptos"/>
                        </a:rPr>
                        <a:t>4 · vie 30-oct</a:t>
                      </a:r>
                    </a:p>
                  </a:txBody>
                  <a:tcPr anchor="ctr" marL="146304" marR="146304">
                    <a:solidFill>
                      <a:srgbClr val="FFFFFF"/>
                    </a:solidFill>
                  </a:tcPr>
                </a:tc>
              </a:tr>
              <a:tr h="488550">
                <a:tc>
                  <a:txBody>
                    <a:bodyPr wrap="square"/>
                    <a:lstStyle/>
                    <a:p>
                      <a:r>
                        <a:rPr sz="1413" b="1">
                          <a:solidFill>
                            <a:srgbClr val="33475B"/>
                          </a:solidFill>
                          <a:latin typeface="Aptos"/>
                        </a:rPr>
                        <a:t>Planear release, CI/CD y observabilidad</a:t>
                      </a:r>
                    </a:p>
                  </a:txBody>
                  <a:tcPr anchor="ctr" marL="146304" marR="146304">
                    <a:solidFill>
                      <a:srgbClr val="F4F7FA"/>
                    </a:solidFill>
                  </a:tcPr>
                </a:tc>
                <a:tc>
                  <a:txBody>
                    <a:bodyPr wrap="square"/>
                    <a:lstStyle/>
                    <a:p>
                      <a:r>
                        <a:rPr sz="1413" b="0">
                          <a:solidFill>
                            <a:srgbClr val="33475B"/>
                          </a:solidFill>
                          <a:latin typeface="Aptos"/>
                        </a:rPr>
                        <a:t>Release y CI/CD</a:t>
                      </a:r>
                    </a:p>
                  </a:txBody>
                  <a:tcPr anchor="ctr" marL="146304" marR="146304">
                    <a:solidFill>
                      <a:srgbClr val="F4F7FA"/>
                    </a:solidFill>
                  </a:tcPr>
                </a:tc>
                <a:tc>
                  <a:txBody>
                    <a:bodyPr wrap="square"/>
                    <a:lstStyle/>
                    <a:p>
                      <a:r>
                        <a:rPr sz="1413" b="0">
                          <a:solidFill>
                            <a:srgbClr val="33475B"/>
                          </a:solidFill>
                          <a:latin typeface="Aptos"/>
                        </a:rPr>
                        <a:t>4 · vie 30-oct</a:t>
                      </a:r>
                    </a:p>
                  </a:txBody>
                  <a:tcPr anchor="ctr" marL="146304" marR="146304">
                    <a:solidFill>
                      <a:srgbClr val="F4F7FA"/>
                    </a:solidFill>
                  </a:tcPr>
                </a:tc>
              </a:tr>
            </a:tbl>
          </a:graphicData>
        </a:graphic>
      </p:graphicFrame>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 / 45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NATIVO, CALIDAD Y DESPLIEGUE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El PDF de la unidad, leído en 2026</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6"/>
        </p:xfrm>
        <a:graphic>
          <a:graphicData uri="http://schemas.openxmlformats.org/drawingml/2006/table">
            <a:tbl>
              <a:tblPr firstRow="1">
                <a:tableStyleId>{5C22544A-7EE6-4342-B048-85BDC9FD1C3A}</a:tableStyleId>
              </a:tblPr>
              <a:tblGrid>
                <a:gridCol w="5532120"/>
                <a:gridCol w="5532120"/>
              </a:tblGrid>
              <a:tr h="486054">
                <a:tc>
                  <a:txBody>
                    <a:bodyPr wrap="square"/>
                    <a:lstStyle/>
                    <a:p>
                      <a:r>
                        <a:rPr sz="1513" b="1">
                          <a:solidFill>
                            <a:srgbClr val="FFFFFF"/>
                          </a:solidFill>
                          <a:latin typeface="Aptos"/>
                        </a:rPr>
                        <a:t>El PDF institucional dice</a:t>
                      </a:r>
                    </a:p>
                  </a:txBody>
                  <a:tcPr anchor="ctr" marL="146304" marR="146304">
                    <a:solidFill>
                      <a:srgbClr val="156082"/>
                    </a:solidFill>
                  </a:tcPr>
                </a:tc>
                <a:tc>
                  <a:txBody>
                    <a:bodyPr wrap="square"/>
                    <a:lstStyle/>
                    <a:p>
                      <a:r>
                        <a:rPr sz="1513" b="1">
                          <a:solidFill>
                            <a:srgbClr val="FFFFFF"/>
                          </a:solidFill>
                          <a:latin typeface="Aptos"/>
                        </a:rPr>
                        <a:t>Vigente con Capacitor 8, Ionic 9 y Angular 22</a:t>
                      </a:r>
                    </a:p>
                  </a:txBody>
                  <a:tcPr anchor="ctr" marL="146304" marR="146304">
                    <a:solidFill>
                      <a:srgbClr val="156082"/>
                    </a:solidFill>
                  </a:tcPr>
                </a:tc>
              </a:tr>
              <a:tr h="486054">
                <a:tc>
                  <a:txBody>
                    <a:bodyPr wrap="square"/>
                    <a:lstStyle/>
                    <a:p>
                      <a:r>
                        <a:rPr sz="1327" b="1">
                          <a:solidFill>
                            <a:srgbClr val="156082"/>
                          </a:solidFill>
                          <a:latin typeface="Consolas"/>
                        </a:rPr>
                        <a:t>@capacitor/storage</a:t>
                      </a:r>
                      <a:r>
                        <a:rPr sz="1412" b="1">
                          <a:solidFill>
                            <a:srgbClr val="33475B"/>
                          </a:solidFill>
                          <a:latin typeface="Aptos"/>
                        </a:rPr>
                        <a:t> para datos sensibles</a:t>
                      </a:r>
                    </a:p>
                  </a:txBody>
                  <a:tcPr anchor="ctr" marL="146304" marR="146304">
                    <a:solidFill>
                      <a:srgbClr val="FFFFFF"/>
                    </a:solidFill>
                  </a:tcPr>
                </a:tc>
                <a:tc>
                  <a:txBody>
                    <a:bodyPr wrap="square"/>
                    <a:lstStyle/>
                    <a:p>
                      <a:r>
                        <a:rPr sz="1412" b="0">
                          <a:solidFill>
                            <a:srgbClr val="33475B"/>
                          </a:solidFill>
                          <a:latin typeface="Aptos"/>
                        </a:rPr>
                        <a:t>Se renombró </a:t>
                      </a:r>
                      <a:r>
                        <a:rPr sz="1327" b="0">
                          <a:solidFill>
                            <a:srgbClr val="156082"/>
                          </a:solidFill>
                          <a:latin typeface="Consolas"/>
                        </a:rPr>
                        <a:t>@capacitor/preferences</a:t>
                      </a:r>
                      <a:r>
                        <a:rPr sz="1412" b="0">
                          <a:solidFill>
                            <a:srgbClr val="33475B"/>
                          </a:solidFill>
                          <a:latin typeface="Aptos"/>
                        </a:rPr>
                        <a:t> y </a:t>
                      </a:r>
                      <a:r>
                        <a:rPr sz="1412" b="1">
                          <a:solidFill>
                            <a:srgbClr val="33475B"/>
                          </a:solidFill>
                          <a:latin typeface="Aptos"/>
                        </a:rPr>
                        <a:t>no cifra</a:t>
                      </a:r>
                      <a:r>
                        <a:rPr sz="1412" b="0">
                          <a:solidFill>
                            <a:srgbClr val="33475B"/>
                          </a:solidFill>
                          <a:latin typeface="Aptos"/>
                        </a:rPr>
                        <a:t> nada</a:t>
                      </a:r>
                    </a:p>
                  </a:txBody>
                  <a:tcPr anchor="ctr" marL="146304" marR="146304">
                    <a:solidFill>
                      <a:srgbClr val="FFFFFF"/>
                    </a:solidFill>
                  </a:tcPr>
                </a:tc>
              </a:tr>
              <a:tr h="486054">
                <a:tc>
                  <a:txBody>
                    <a:bodyPr wrap="square"/>
                    <a:lstStyle/>
                    <a:p>
                      <a:r>
                        <a:rPr sz="1412" b="1">
                          <a:solidFill>
                            <a:srgbClr val="33475B"/>
                          </a:solidFill>
                          <a:latin typeface="Aptos"/>
                        </a:rPr>
                        <a:t>No hay plugin oficial de push</a:t>
                      </a:r>
                    </a:p>
                  </a:txBody>
                  <a:tcPr anchor="ctr" marL="146304" marR="146304">
                    <a:solidFill>
                      <a:srgbClr val="F4F7FA"/>
                    </a:solidFill>
                  </a:tcPr>
                </a:tc>
                <a:tc>
                  <a:txBody>
                    <a:bodyPr wrap="square"/>
                    <a:lstStyle/>
                    <a:p>
                      <a:r>
                        <a:rPr sz="1412" b="0">
                          <a:solidFill>
                            <a:srgbClr val="33475B"/>
                          </a:solidFill>
                          <a:latin typeface="Aptos"/>
                        </a:rPr>
                        <a:t>Existe </a:t>
                      </a:r>
                      <a:r>
                        <a:rPr sz="1327" b="0">
                          <a:solidFill>
                            <a:srgbClr val="156082"/>
                          </a:solidFill>
                          <a:latin typeface="Consolas"/>
                        </a:rPr>
                        <a:t>@capacitor/push-notifications</a:t>
                      </a:r>
                      <a:r>
                        <a:rPr sz="1412" b="0">
                          <a:solidFill>
                            <a:srgbClr val="33475B"/>
                          </a:solidFill>
                          <a:latin typeface="Aptos"/>
                        </a:rPr>
                        <a:t> (FCM / APNs)</a:t>
                      </a:r>
                    </a:p>
                  </a:txBody>
                  <a:tcPr anchor="ctr" marL="146304" marR="146304">
                    <a:solidFill>
                      <a:srgbClr val="F4F7FA"/>
                    </a:solidFill>
                  </a:tcPr>
                </a:tc>
              </a:tr>
              <a:tr h="486054">
                <a:tc>
                  <a:txBody>
                    <a:bodyPr wrap="square"/>
                    <a:lstStyle/>
                    <a:p>
                      <a:r>
                        <a:rPr sz="1412" b="1">
                          <a:solidFill>
                            <a:srgbClr val="33475B"/>
                          </a:solidFill>
                          <a:latin typeface="Aptos"/>
                        </a:rPr>
                        <a:t>Biometría con </a:t>
                      </a:r>
                      <a:r>
                        <a:rPr sz="1327" b="1">
                          <a:solidFill>
                            <a:srgbClr val="156082"/>
                          </a:solidFill>
                          <a:latin typeface="Consolas"/>
                        </a:rPr>
                        <a:t>@capacitor/device</a:t>
                      </a:r>
                    </a:p>
                  </a:txBody>
                  <a:tcPr anchor="ctr" marL="146304" marR="146304">
                    <a:solidFill>
                      <a:srgbClr val="FFFFFF"/>
                    </a:solidFill>
                  </a:tcPr>
                </a:tc>
                <a:tc>
                  <a:txBody>
                    <a:bodyPr wrap="square"/>
                    <a:lstStyle/>
                    <a:p>
                      <a:r>
                        <a:rPr sz="1327" b="0">
                          <a:solidFill>
                            <a:srgbClr val="156082"/>
                          </a:solidFill>
                          <a:latin typeface="Consolas"/>
                        </a:rPr>
                        <a:t>device</a:t>
                      </a:r>
                      <a:r>
                        <a:rPr sz="1412" b="0">
                          <a:solidFill>
                            <a:srgbClr val="33475B"/>
                          </a:solidFill>
                          <a:latin typeface="Aptos"/>
                        </a:rPr>
                        <a:t> solo informa del equipo; la biometría usa un plugin comunitario</a:t>
                      </a:r>
                    </a:p>
                  </a:txBody>
                  <a:tcPr anchor="ctr" marL="146304" marR="146304">
                    <a:solidFill>
                      <a:srgbClr val="FFFFFF"/>
                    </a:solidFill>
                  </a:tcPr>
                </a:tc>
              </a:tr>
              <a:tr h="486054">
                <a:tc>
                  <a:txBody>
                    <a:bodyPr wrap="square"/>
                    <a:lstStyle/>
                    <a:p>
                      <a:r>
                        <a:rPr sz="1412" b="1">
                          <a:solidFill>
                            <a:srgbClr val="33475B"/>
                          </a:solidFill>
                          <a:latin typeface="Aptos"/>
                        </a:rPr>
                        <a:t>Namespace central </a:t>
                      </a:r>
                      <a:r>
                        <a:rPr sz="1327" b="1">
                          <a:solidFill>
                            <a:srgbClr val="156082"/>
                          </a:solidFill>
                          <a:latin typeface="Consolas"/>
                        </a:rPr>
                        <a:t>Permissions</a:t>
                      </a:r>
                    </a:p>
                  </a:txBody>
                  <a:tcPr anchor="ctr" marL="146304" marR="146304">
                    <a:solidFill>
                      <a:srgbClr val="F4F7FA"/>
                    </a:solidFill>
                  </a:tcPr>
                </a:tc>
                <a:tc>
                  <a:txBody>
                    <a:bodyPr wrap="square"/>
                    <a:lstStyle/>
                    <a:p>
                      <a:r>
                        <a:rPr sz="1412" b="0">
                          <a:solidFill>
                            <a:srgbClr val="33475B"/>
                          </a:solidFill>
                          <a:latin typeface="Aptos"/>
                        </a:rPr>
                        <a:t>Cada plugin expone </a:t>
                      </a:r>
                      <a:r>
                        <a:rPr sz="1327" b="0">
                          <a:solidFill>
                            <a:srgbClr val="156082"/>
                          </a:solidFill>
                          <a:latin typeface="Consolas"/>
                        </a:rPr>
                        <a:t>checkPermissions()</a:t>
                      </a:r>
                      <a:r>
                        <a:rPr sz="1412" b="0">
                          <a:solidFill>
                            <a:srgbClr val="33475B"/>
                          </a:solidFill>
                          <a:latin typeface="Aptos"/>
                        </a:rPr>
                        <a:t> y </a:t>
                      </a:r>
                      <a:r>
                        <a:rPr sz="1327" b="0">
                          <a:solidFill>
                            <a:srgbClr val="156082"/>
                          </a:solidFill>
                          <a:latin typeface="Consolas"/>
                        </a:rPr>
                        <a:t>requestPermissions()</a:t>
                      </a:r>
                    </a:p>
                  </a:txBody>
                  <a:tcPr anchor="ctr" marL="146304" marR="146304">
                    <a:solidFill>
                      <a:srgbClr val="F4F7FA"/>
                    </a:solidFill>
                  </a:tcPr>
                </a:tc>
              </a:tr>
              <a:tr h="486054">
                <a:tc>
                  <a:txBody>
                    <a:bodyPr wrap="square"/>
                    <a:lstStyle/>
                    <a:p>
                      <a:r>
                        <a:rPr sz="1327" b="1">
                          <a:solidFill>
                            <a:srgbClr val="156082"/>
                          </a:solidFill>
                          <a:latin typeface="Consolas"/>
                        </a:rPr>
                        <a:t>ion-virtual-scroll</a:t>
                      </a:r>
                    </a:p>
                  </a:txBody>
                  <a:tcPr anchor="ctr" marL="146304" marR="146304">
                    <a:solidFill>
                      <a:srgbClr val="FFFFFF"/>
                    </a:solidFill>
                  </a:tcPr>
                </a:tc>
                <a:tc>
                  <a:txBody>
                    <a:bodyPr wrap="square"/>
                    <a:lstStyle/>
                    <a:p>
                      <a:r>
                        <a:rPr sz="1412" b="0">
                          <a:solidFill>
                            <a:srgbClr val="33475B"/>
                          </a:solidFill>
                          <a:latin typeface="Aptos"/>
                        </a:rPr>
                        <a:t>Retirado en Ionic 7: se usa el virtual scroll del CDK de Angular</a:t>
                      </a:r>
                    </a:p>
                  </a:txBody>
                  <a:tcPr anchor="ctr" marL="146304" marR="146304">
                    <a:solidFill>
                      <a:srgbClr val="FFFFFF"/>
                    </a:solidFill>
                  </a:tcPr>
                </a:tc>
              </a:tr>
              <a:tr h="486054">
                <a:tc>
                  <a:txBody>
                    <a:bodyPr wrap="square"/>
                    <a:lstStyle/>
                    <a:p>
                      <a:r>
                        <a:rPr sz="1327" b="1">
                          <a:solidFill>
                            <a:srgbClr val="156082"/>
                          </a:solidFill>
                          <a:latin typeface="Consolas"/>
                        </a:rPr>
                        <a:t>loadChildren</a:t>
                      </a:r>
                      <a:r>
                        <a:rPr sz="1412" b="1">
                          <a:solidFill>
                            <a:srgbClr val="33475B"/>
                          </a:solidFill>
                          <a:latin typeface="Aptos"/>
                        </a:rPr>
                        <a:t> con </a:t>
                      </a:r>
                      <a:r>
                        <a:rPr sz="1327" b="1">
                          <a:solidFill>
                            <a:srgbClr val="156082"/>
                          </a:solidFill>
                          <a:latin typeface="Consolas"/>
                        </a:rPr>
                        <a:t>NgModule</a:t>
                      </a:r>
                    </a:p>
                  </a:txBody>
                  <a:tcPr anchor="ctr" marL="146304" marR="146304">
                    <a:solidFill>
                      <a:srgbClr val="F4F7FA"/>
                    </a:solidFill>
                  </a:tcPr>
                </a:tc>
                <a:tc>
                  <a:txBody>
                    <a:bodyPr wrap="square"/>
                    <a:lstStyle/>
                    <a:p>
                      <a:r>
                        <a:rPr sz="1327" b="0">
                          <a:solidFill>
                            <a:srgbClr val="156082"/>
                          </a:solidFill>
                          <a:latin typeface="Consolas"/>
                        </a:rPr>
                        <a:t>loadComponent</a:t>
                      </a:r>
                      <a:r>
                        <a:rPr sz="1412" b="0">
                          <a:solidFill>
                            <a:srgbClr val="33475B"/>
                          </a:solidFill>
                          <a:latin typeface="Aptos"/>
                        </a:rPr>
                        <a:t> y </a:t>
                      </a:r>
                      <a:r>
                        <a:rPr sz="1327" b="0">
                          <a:solidFill>
                            <a:srgbClr val="156082"/>
                          </a:solidFill>
                          <a:latin typeface="Consolas"/>
                        </a:rPr>
                        <a:t>loadChildren</a:t>
                      </a:r>
                      <a:r>
                        <a:rPr sz="1412" b="0">
                          <a:solidFill>
                            <a:srgbClr val="33475B"/>
                          </a:solidFill>
                          <a:latin typeface="Aptos"/>
                        </a:rPr>
                        <a:t> con rutas standalone</a:t>
                      </a:r>
                    </a:p>
                  </a:txBody>
                  <a:tcPr anchor="ctr" marL="146304" marR="146304">
                    <a:solidFill>
                      <a:srgbClr val="F4F7FA"/>
                    </a:solidFill>
                  </a:tcPr>
                </a:tc>
              </a:tr>
              <a:tr h="486054">
                <a:tc>
                  <a:txBody>
                    <a:bodyPr wrap="square"/>
                    <a:lstStyle/>
                    <a:p>
                      <a:r>
                        <a:rPr sz="1327" b="1">
                          <a:solidFill>
                            <a:srgbClr val="156082"/>
                          </a:solidFill>
                          <a:latin typeface="Consolas"/>
                        </a:rPr>
                        <a:t>cordova-res</a:t>
                      </a:r>
                      <a:r>
                        <a:rPr sz="1412" b="1">
                          <a:solidFill>
                            <a:srgbClr val="33475B"/>
                          </a:solidFill>
                          <a:latin typeface="Aptos"/>
                        </a:rPr>
                        <a:t> en </a:t>
                      </a:r>
                      <a:r>
                        <a:rPr sz="1327" b="1">
                          <a:solidFill>
                            <a:srgbClr val="156082"/>
                          </a:solidFill>
                          <a:latin typeface="Consolas"/>
                        </a:rPr>
                        <a:t>resources/</a:t>
                      </a:r>
                    </a:p>
                  </a:txBody>
                  <a:tcPr anchor="ctr" marL="146304" marR="146304">
                    <a:solidFill>
                      <a:srgbClr val="FFFFFF"/>
                    </a:solidFill>
                  </a:tcPr>
                </a:tc>
                <a:tc>
                  <a:txBody>
                    <a:bodyPr wrap="square"/>
                    <a:lstStyle/>
                    <a:p>
                      <a:r>
                        <a:rPr sz="1327" b="0">
                          <a:solidFill>
                            <a:srgbClr val="156082"/>
                          </a:solidFill>
                          <a:latin typeface="Consolas"/>
                        </a:rPr>
                        <a:t>@capacitor/assets</a:t>
                      </a:r>
                      <a:r>
                        <a:rPr sz="1412" b="0">
                          <a:solidFill>
                            <a:srgbClr val="33475B"/>
                          </a:solidFill>
                          <a:latin typeface="Aptos"/>
                        </a:rPr>
                        <a:t> en </a:t>
                      </a:r>
                      <a:r>
                        <a:rPr sz="1327" b="0">
                          <a:solidFill>
                            <a:srgbClr val="156082"/>
                          </a:solidFill>
                          <a:latin typeface="Consolas"/>
                        </a:rPr>
                        <a:t>assets/</a:t>
                      </a:r>
                    </a:p>
                  </a:txBody>
                  <a:tcPr anchor="ctr" marL="146304" marR="146304">
                    <a:solidFill>
                      <a:srgbClr val="FFFFFF"/>
                    </a:solidFill>
                  </a:tcPr>
                </a:tc>
              </a:tr>
              <a:tr h="486054">
                <a:tc>
                  <a:txBody>
                    <a:bodyPr wrap="square"/>
                    <a:lstStyle/>
                    <a:p>
                      <a:r>
                        <a:rPr sz="1412" b="1">
                          <a:solidFill>
                            <a:srgbClr val="33475B"/>
                          </a:solidFill>
                          <a:latin typeface="Aptos"/>
                        </a:rPr>
                        <a:t>Jasmine + Karma</a:t>
                      </a:r>
                    </a:p>
                  </a:txBody>
                  <a:tcPr anchor="ctr" marL="146304" marR="146304">
                    <a:solidFill>
                      <a:srgbClr val="F4F7FA"/>
                    </a:solidFill>
                  </a:tcPr>
                </a:tc>
                <a:tc>
                  <a:txBody>
                    <a:bodyPr wrap="square"/>
                    <a:lstStyle/>
                    <a:p>
                      <a:r>
                        <a:rPr sz="1412" b="0">
                          <a:solidFill>
                            <a:srgbClr val="33475B"/>
                          </a:solidFill>
                          <a:latin typeface="Aptos"/>
                        </a:rPr>
                        <a:t>Siguen soportados; Angular 21+ crea proyectos nuevos con Vitest</a:t>
                      </a:r>
                    </a:p>
                  </a:txBody>
                  <a:tcPr anchor="ctr" marL="146304" marR="146304">
                    <a:solidFill>
                      <a:srgbClr val="F4F7FA"/>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 / 45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01</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Plugins nativos como adaptadores</a:t>
            </a:r>
          </a:p>
        </p:txBody>
      </p:sp>
      <p:sp>
        <p:nvSpPr>
          <p:cNvPr id="5" name="TextBox 4"/>
          <p:cNvSpPr txBox="1"/>
          <p:nvPr/>
        </p:nvSpPr>
        <p:spPr>
          <a:xfrm>
            <a:off x="1828800" y="4617720"/>
            <a:ext cx="8503920" cy="731520"/>
          </a:xfrm>
          <a:prstGeom prst="rect">
            <a:avLst/>
          </a:prstGeom>
          <a:noFill/>
        </p:spPr>
        <p:txBody>
          <a:bodyPr wrap="square" anchor="t" lIns="0" rIns="0" tIns="0" bIns="0">
            <a:spAutoFit/>
          </a:bodyPr>
          <a:lstStyle/>
          <a:p>
            <a:pPr algn="ctr"/>
            <a:r>
              <a:rPr sz="1600" b="0">
                <a:solidFill>
                  <a:srgbClr val="E8E8E8"/>
                </a:solidFill>
                <a:latin typeface="Aptos"/>
              </a:rPr>
              <a:t>Encuentro 3 · viernes 23 de octubre</a:t>
            </a:r>
          </a:p>
        </p:txBody>
      </p:sp>
      <p:pic>
        <p:nvPicPr>
          <p:cNvPr id="6" name="Picture 5"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NATIVO, CALIDAD Y DESPLIEGUE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Las dependencias apuntan al dominio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34660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236878"/>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346606"/>
          </a:xfrm>
          <a:prstGeom prst="rect">
            <a:avLst/>
          </a:prstGeom>
          <a:noFill/>
        </p:spPr>
        <p:txBody>
          <a:bodyPr wrap="square" anchor="ctr" lIns="0" rIns="0" tIns="0" bIns="0">
            <a:spAutoFit/>
          </a:bodyPr>
          <a:lstStyle/>
          <a:p>
            <a:pPr algn="l">
              <a:lnSpc>
                <a:spcPct val="125000"/>
              </a:lnSpc>
            </a:pPr>
            <a:r>
              <a:rPr sz="2378" b="1">
                <a:solidFill>
                  <a:srgbClr val="0E2841"/>
                </a:solidFill>
                <a:latin typeface="Aptos Display"/>
              </a:rPr>
              <a:t>Un plugin es infraestructura: el dominio declara el puerto y la capa de datos lo implementa.</a:t>
            </a:r>
          </a:p>
        </p:txBody>
      </p:sp>
      <p:sp>
        <p:nvSpPr>
          <p:cNvPr id="10" name="Rounded Rectangle 9"/>
          <p:cNvSpPr/>
          <p:nvPr/>
        </p:nvSpPr>
        <p:spPr>
          <a:xfrm>
            <a:off x="566928" y="3120542"/>
            <a:ext cx="3468624" cy="3207105"/>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 Same Side Corner Rectangle 10"/>
          <p:cNvSpPr/>
          <p:nvPr/>
        </p:nvSpPr>
        <p:spPr>
          <a:xfrm>
            <a:off x="566928" y="3120542"/>
            <a:ext cx="3468624" cy="566928"/>
          </a:xfrm>
          <a:prstGeom prst="round2SameRect">
            <a:avLst>
              <a:gd name="adj1" fmla="val 14000"/>
              <a:gd name="adj2" fmla="val 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3120542"/>
            <a:ext cx="3102864" cy="566928"/>
          </a:xfrm>
          <a:prstGeom prst="rect">
            <a:avLst/>
          </a:prstGeom>
          <a:noFill/>
        </p:spPr>
        <p:txBody>
          <a:bodyPr wrap="square" anchor="ctr" lIns="0" rIns="0" tIns="0" bIns="0">
            <a:spAutoFit/>
          </a:bodyPr>
          <a:lstStyle/>
          <a:p>
            <a:pPr algn="l"/>
            <a:r>
              <a:rPr sz="1837" b="1">
                <a:solidFill>
                  <a:srgbClr val="FFFFFF"/>
                </a:solidFill>
                <a:latin typeface="Aptos Display"/>
              </a:rPr>
              <a:t>Presentación</a:t>
            </a:r>
          </a:p>
        </p:txBody>
      </p:sp>
      <p:sp>
        <p:nvSpPr>
          <p:cNvPr id="13" name="Oval 12"/>
          <p:cNvSpPr/>
          <p:nvPr/>
        </p:nvSpPr>
        <p:spPr>
          <a:xfrm>
            <a:off x="786384" y="4431487"/>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4175455"/>
            <a:ext cx="2810256" cy="603504"/>
          </a:xfrm>
          <a:prstGeom prst="rect">
            <a:avLst/>
          </a:prstGeom>
          <a:noFill/>
        </p:spPr>
        <p:txBody>
          <a:bodyPr wrap="square" anchor="ctr" lIns="0" rIns="0" tIns="0" bIns="0">
            <a:spAutoFit/>
          </a:bodyPr>
          <a:lstStyle/>
          <a:p>
            <a:pPr algn="l"/>
            <a:r>
              <a:rPr sz="1513" b="0">
                <a:solidFill>
                  <a:srgbClr val="33475B"/>
                </a:solidFill>
                <a:latin typeface="Aptos"/>
              </a:rPr>
              <a:t>RegistroVisitaPage + ViewModel</a:t>
            </a:r>
          </a:p>
        </p:txBody>
      </p:sp>
      <p:sp>
        <p:nvSpPr>
          <p:cNvPr id="15" name="Oval 14"/>
          <p:cNvSpPr/>
          <p:nvPr/>
        </p:nvSpPr>
        <p:spPr>
          <a:xfrm>
            <a:off x="786384" y="5034991"/>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4778959"/>
            <a:ext cx="2810256" cy="603504"/>
          </a:xfrm>
          <a:prstGeom prst="rect">
            <a:avLst/>
          </a:prstGeom>
          <a:noFill/>
        </p:spPr>
        <p:txBody>
          <a:bodyPr wrap="square" anchor="ctr" lIns="0" rIns="0" tIns="0" bIns="0">
            <a:spAutoFit/>
          </a:bodyPr>
          <a:lstStyle/>
          <a:p>
            <a:pPr algn="l"/>
            <a:r>
              <a:rPr sz="1513" b="0">
                <a:solidFill>
                  <a:srgbClr val="33475B"/>
                </a:solidFill>
                <a:latin typeface="Aptos"/>
              </a:rPr>
              <a:t>Usa puertos, nunca adaptadores</a:t>
            </a:r>
          </a:p>
        </p:txBody>
      </p:sp>
      <p:sp>
        <p:nvSpPr>
          <p:cNvPr id="17" name="Oval 16"/>
          <p:cNvSpPr/>
          <p:nvPr/>
        </p:nvSpPr>
        <p:spPr>
          <a:xfrm>
            <a:off x="786384" y="5638495"/>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5382463"/>
            <a:ext cx="2810256" cy="603504"/>
          </a:xfrm>
          <a:prstGeom prst="rect">
            <a:avLst/>
          </a:prstGeom>
          <a:noFill/>
        </p:spPr>
        <p:txBody>
          <a:bodyPr wrap="square" anchor="ctr" lIns="0" rIns="0" tIns="0" bIns="0">
            <a:spAutoFit/>
          </a:bodyPr>
          <a:lstStyle/>
          <a:p>
            <a:pPr algn="l"/>
            <a:r>
              <a:rPr sz="1513" b="0">
                <a:solidFill>
                  <a:srgbClr val="33475B"/>
                </a:solidFill>
                <a:latin typeface="Aptos"/>
              </a:rPr>
              <a:t>Traduce errores a estados de pantalla</a:t>
            </a:r>
          </a:p>
        </p:txBody>
      </p:sp>
      <p:sp>
        <p:nvSpPr>
          <p:cNvPr id="19" name="Rounded Rectangle 18"/>
          <p:cNvSpPr/>
          <p:nvPr/>
        </p:nvSpPr>
        <p:spPr>
          <a:xfrm>
            <a:off x="4364736" y="3120542"/>
            <a:ext cx="3468624" cy="3207105"/>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 Same Side Corner Rectangle 19"/>
          <p:cNvSpPr/>
          <p:nvPr/>
        </p:nvSpPr>
        <p:spPr>
          <a:xfrm>
            <a:off x="4364736" y="3120542"/>
            <a:ext cx="3468624" cy="566928"/>
          </a:xfrm>
          <a:prstGeom prst="round2SameRect">
            <a:avLst>
              <a:gd name="adj1" fmla="val 14000"/>
              <a:gd name="adj2" fmla="val 0"/>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47616" y="3120542"/>
            <a:ext cx="3102864" cy="566928"/>
          </a:xfrm>
          <a:prstGeom prst="rect">
            <a:avLst/>
          </a:prstGeom>
          <a:noFill/>
        </p:spPr>
        <p:txBody>
          <a:bodyPr wrap="square" anchor="ctr" lIns="0" rIns="0" tIns="0" bIns="0">
            <a:spAutoFit/>
          </a:bodyPr>
          <a:lstStyle/>
          <a:p>
            <a:pPr algn="l"/>
            <a:r>
              <a:rPr sz="1837" b="1">
                <a:solidFill>
                  <a:srgbClr val="FFFFFF"/>
                </a:solidFill>
                <a:latin typeface="Aptos Display"/>
              </a:rPr>
              <a:t>Dominio</a:t>
            </a:r>
          </a:p>
        </p:txBody>
      </p:sp>
      <p:sp>
        <p:nvSpPr>
          <p:cNvPr id="22" name="Oval 21"/>
          <p:cNvSpPr/>
          <p:nvPr/>
        </p:nvSpPr>
        <p:spPr>
          <a:xfrm>
            <a:off x="4584192" y="4129735"/>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21936" y="3873703"/>
            <a:ext cx="2810256" cy="603504"/>
          </a:xfrm>
          <a:prstGeom prst="rect">
            <a:avLst/>
          </a:prstGeom>
          <a:noFill/>
        </p:spPr>
        <p:txBody>
          <a:bodyPr wrap="square" anchor="ctr" lIns="0" rIns="0" tIns="0" bIns="0">
            <a:spAutoFit/>
          </a:bodyPr>
          <a:lstStyle/>
          <a:p>
            <a:pPr algn="l"/>
            <a:r>
              <a:rPr sz="1513" b="0">
                <a:solidFill>
                  <a:srgbClr val="33475B"/>
                </a:solidFill>
                <a:latin typeface="Aptos"/>
              </a:rPr>
              <a:t>CapturarEvidencia y sus puertos</a:t>
            </a:r>
          </a:p>
        </p:txBody>
      </p:sp>
      <p:sp>
        <p:nvSpPr>
          <p:cNvPr id="24" name="Oval 23"/>
          <p:cNvSpPr/>
          <p:nvPr/>
        </p:nvSpPr>
        <p:spPr>
          <a:xfrm>
            <a:off x="4584192" y="4733239"/>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21936" y="4477207"/>
            <a:ext cx="2810256" cy="603504"/>
          </a:xfrm>
          <a:prstGeom prst="rect">
            <a:avLst/>
          </a:prstGeom>
          <a:noFill/>
        </p:spPr>
        <p:txBody>
          <a:bodyPr wrap="square" anchor="ctr" lIns="0" rIns="0" tIns="0" bIns="0">
            <a:spAutoFit/>
          </a:bodyPr>
          <a:lstStyle/>
          <a:p>
            <a:pPr algn="l"/>
            <a:r>
              <a:rPr sz="1513" b="0">
                <a:solidFill>
                  <a:srgbClr val="33475B"/>
                </a:solidFill>
                <a:latin typeface="Aptos"/>
              </a:rPr>
              <a:t>Cero imports de Angular o Capacitor</a:t>
            </a:r>
          </a:p>
        </p:txBody>
      </p:sp>
      <p:sp>
        <p:nvSpPr>
          <p:cNvPr id="26" name="Oval 25"/>
          <p:cNvSpPr/>
          <p:nvPr/>
        </p:nvSpPr>
        <p:spPr>
          <a:xfrm>
            <a:off x="4584192" y="5336743"/>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21936" y="5080711"/>
            <a:ext cx="2810256" cy="603504"/>
          </a:xfrm>
          <a:prstGeom prst="rect">
            <a:avLst/>
          </a:prstGeom>
          <a:noFill/>
        </p:spPr>
        <p:txBody>
          <a:bodyPr wrap="square" anchor="ctr" lIns="0" rIns="0" tIns="0" bIns="0">
            <a:spAutoFit/>
          </a:bodyPr>
          <a:lstStyle/>
          <a:p>
            <a:pPr algn="l"/>
            <a:r>
              <a:rPr sz="1513" b="0">
                <a:solidFill>
                  <a:srgbClr val="33475B"/>
                </a:solidFill>
                <a:latin typeface="Aptos"/>
              </a:rPr>
              <a:t>Habla su idioma: PermisoDenegadoError</a:t>
            </a:r>
          </a:p>
        </p:txBody>
      </p:sp>
      <p:sp>
        <p:nvSpPr>
          <p:cNvPr id="28" name="Oval 27"/>
          <p:cNvSpPr/>
          <p:nvPr/>
        </p:nvSpPr>
        <p:spPr>
          <a:xfrm>
            <a:off x="4584192" y="5940247"/>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21936" y="5684215"/>
            <a:ext cx="2810256" cy="603504"/>
          </a:xfrm>
          <a:prstGeom prst="rect">
            <a:avLst/>
          </a:prstGeom>
          <a:noFill/>
        </p:spPr>
        <p:txBody>
          <a:bodyPr wrap="square" anchor="ctr" lIns="0" rIns="0" tIns="0" bIns="0">
            <a:spAutoFit/>
          </a:bodyPr>
          <a:lstStyle/>
          <a:p>
            <a:pPr algn="l"/>
            <a:r>
              <a:rPr sz="1513" b="0">
                <a:solidFill>
                  <a:srgbClr val="33475B"/>
                </a:solidFill>
                <a:latin typeface="Aptos"/>
              </a:rPr>
              <a:t>Se prueba con fakes, sin teléfono</a:t>
            </a:r>
          </a:p>
        </p:txBody>
      </p:sp>
      <p:sp>
        <p:nvSpPr>
          <p:cNvPr id="30" name="Rounded Rectangle 29"/>
          <p:cNvSpPr/>
          <p:nvPr/>
        </p:nvSpPr>
        <p:spPr>
          <a:xfrm>
            <a:off x="8162544" y="3120542"/>
            <a:ext cx="3468624" cy="3207105"/>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 Same Side Corner Rectangle 30"/>
          <p:cNvSpPr/>
          <p:nvPr/>
        </p:nvSpPr>
        <p:spPr>
          <a:xfrm>
            <a:off x="8162544" y="3120542"/>
            <a:ext cx="3468624" cy="566928"/>
          </a:xfrm>
          <a:prstGeom prst="round2SameRect">
            <a:avLst>
              <a:gd name="adj1" fmla="val 14000"/>
              <a:gd name="adj2" fmla="val 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45424" y="3120542"/>
            <a:ext cx="3102864" cy="566928"/>
          </a:xfrm>
          <a:prstGeom prst="rect">
            <a:avLst/>
          </a:prstGeom>
          <a:noFill/>
        </p:spPr>
        <p:txBody>
          <a:bodyPr wrap="square" anchor="ctr" lIns="0" rIns="0" tIns="0" bIns="0">
            <a:spAutoFit/>
          </a:bodyPr>
          <a:lstStyle/>
          <a:p>
            <a:pPr algn="l"/>
            <a:r>
              <a:rPr sz="1837" b="1">
                <a:solidFill>
                  <a:srgbClr val="FFFFFF"/>
                </a:solidFill>
                <a:latin typeface="Aptos Display"/>
              </a:rPr>
              <a:t>Datos</a:t>
            </a:r>
          </a:p>
        </p:txBody>
      </p:sp>
      <p:sp>
        <p:nvSpPr>
          <p:cNvPr id="33" name="Oval 32"/>
          <p:cNvSpPr/>
          <p:nvPr/>
        </p:nvSpPr>
        <p:spPr>
          <a:xfrm>
            <a:off x="8382000" y="4431487"/>
            <a:ext cx="91440" cy="9144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19744" y="4175455"/>
            <a:ext cx="2810256" cy="603504"/>
          </a:xfrm>
          <a:prstGeom prst="rect">
            <a:avLst/>
          </a:prstGeom>
          <a:noFill/>
        </p:spPr>
        <p:txBody>
          <a:bodyPr wrap="square" anchor="ctr" lIns="0" rIns="0" tIns="0" bIns="0">
            <a:spAutoFit/>
          </a:bodyPr>
          <a:lstStyle/>
          <a:p>
            <a:pPr algn="l"/>
            <a:r>
              <a:rPr sz="1513" b="0">
                <a:solidFill>
                  <a:srgbClr val="33475B"/>
                </a:solidFill>
                <a:latin typeface="Aptos"/>
              </a:rPr>
              <a:t>CamaraCapacitor, UbicacionCapacitor</a:t>
            </a:r>
          </a:p>
        </p:txBody>
      </p:sp>
      <p:sp>
        <p:nvSpPr>
          <p:cNvPr id="35" name="Oval 34"/>
          <p:cNvSpPr/>
          <p:nvPr/>
        </p:nvSpPr>
        <p:spPr>
          <a:xfrm>
            <a:off x="8382000" y="5034991"/>
            <a:ext cx="91440" cy="9144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19744" y="4778959"/>
            <a:ext cx="2810256" cy="603504"/>
          </a:xfrm>
          <a:prstGeom prst="rect">
            <a:avLst/>
          </a:prstGeom>
          <a:noFill/>
        </p:spPr>
        <p:txBody>
          <a:bodyPr wrap="square" anchor="ctr" lIns="0" rIns="0" tIns="0" bIns="0">
            <a:spAutoFit/>
          </a:bodyPr>
          <a:lstStyle/>
          <a:p>
            <a:pPr algn="l"/>
            <a:r>
              <a:rPr sz="1513" b="0">
                <a:solidFill>
                  <a:srgbClr val="33475B"/>
                </a:solidFill>
                <a:latin typeface="Aptos"/>
              </a:rPr>
              <a:t>Únicos que importan @capacitor/*</a:t>
            </a:r>
          </a:p>
        </p:txBody>
      </p:sp>
      <p:sp>
        <p:nvSpPr>
          <p:cNvPr id="37" name="Oval 36"/>
          <p:cNvSpPr/>
          <p:nvPr/>
        </p:nvSpPr>
        <p:spPr>
          <a:xfrm>
            <a:off x="8382000" y="5638495"/>
            <a:ext cx="91440" cy="9144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19744" y="5382463"/>
            <a:ext cx="2810256" cy="603504"/>
          </a:xfrm>
          <a:prstGeom prst="rect">
            <a:avLst/>
          </a:prstGeom>
          <a:noFill/>
        </p:spPr>
        <p:txBody>
          <a:bodyPr wrap="square" anchor="ctr" lIns="0" rIns="0" tIns="0" bIns="0">
            <a:spAutoFit/>
          </a:bodyPr>
          <a:lstStyle/>
          <a:p>
            <a:pPr algn="l"/>
            <a:r>
              <a:rPr sz="1513" b="0">
                <a:solidFill>
                  <a:srgbClr val="33475B"/>
                </a:solidFill>
                <a:latin typeface="Aptos"/>
              </a:rPr>
              <a:t>Un cambio del plugin queda aquí</a:t>
            </a:r>
          </a:p>
        </p:txBody>
      </p:sp>
      <p:sp>
        <p:nvSpPr>
          <p:cNvPr id="39" name="TextBox 3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40" name="TextBox 3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 / 45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NATIVO, CALIDAD Y DESPLIEGUE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Cinco capacidades nativas del temario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292351"/>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182623"/>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292351"/>
          </a:xfrm>
          <a:prstGeom prst="rect">
            <a:avLst/>
          </a:prstGeom>
          <a:noFill/>
        </p:spPr>
        <p:txBody>
          <a:bodyPr wrap="square" anchor="ctr" lIns="0" rIns="0" tIns="0" bIns="0">
            <a:spAutoFit/>
          </a:bodyPr>
          <a:lstStyle/>
          <a:p>
            <a:pPr algn="l">
              <a:lnSpc>
                <a:spcPct val="125000"/>
              </a:lnSpc>
            </a:pPr>
            <a:r>
              <a:rPr sz="2302" b="1">
                <a:solidFill>
                  <a:srgbClr val="0E2841"/>
                </a:solidFill>
                <a:latin typeface="Aptos Display"/>
              </a:rPr>
              <a:t>La biometría no es una credencial: el token vive en almacenamiento seguro y la huella solo autoriza a leerlo.</a:t>
            </a:r>
          </a:p>
        </p:txBody>
      </p:sp>
      <p:graphicFrame>
        <p:nvGraphicFramePr>
          <p:cNvPr id="10" name="Table 9"/>
          <p:cNvGraphicFramePr>
            <a:graphicFrameLocks noGrp="1"/>
          </p:cNvGraphicFramePr>
          <p:nvPr/>
        </p:nvGraphicFramePr>
        <p:xfrm>
          <a:off x="566928" y="3066288"/>
          <a:ext cx="11064240" cy="3261360"/>
        </p:xfrm>
        <a:graphic>
          <a:graphicData uri="http://schemas.openxmlformats.org/drawingml/2006/table">
            <a:tbl>
              <a:tblPr firstRow="1">
                <a:tableStyleId>{5C22544A-7EE6-4342-B048-85BDC9FD1C3A}</a:tableStyleId>
              </a:tblPr>
              <a:tblGrid>
                <a:gridCol w="2766060"/>
                <a:gridCol w="2766060"/>
                <a:gridCol w="2766060"/>
                <a:gridCol w="2766060"/>
              </a:tblGrid>
              <a:tr h="543560">
                <a:tc>
                  <a:txBody>
                    <a:bodyPr wrap="square"/>
                    <a:lstStyle/>
                    <a:p>
                      <a:r>
                        <a:rPr sz="1569" b="1">
                          <a:solidFill>
                            <a:srgbClr val="FFFFFF"/>
                          </a:solidFill>
                          <a:latin typeface="Aptos"/>
                        </a:rPr>
                        <a:t>Capacidad · uso</a:t>
                      </a:r>
                    </a:p>
                  </a:txBody>
                  <a:tcPr anchor="ctr" marL="146304" marR="146304">
                    <a:solidFill>
                      <a:srgbClr val="156082"/>
                    </a:solidFill>
                  </a:tcPr>
                </a:tc>
                <a:tc>
                  <a:txBody>
                    <a:bodyPr wrap="square"/>
                    <a:lstStyle/>
                    <a:p>
                      <a:r>
                        <a:rPr sz="1569" b="1">
                          <a:solidFill>
                            <a:srgbClr val="FFFFFF"/>
                          </a:solidFill>
                          <a:latin typeface="Aptos"/>
                        </a:rPr>
                        <a:t>Plugin </a:t>
                      </a:r>
                      <a:r>
                        <a:rPr sz="1475" b="1">
                          <a:solidFill>
                            <a:srgbClr val="156082"/>
                          </a:solidFill>
                          <a:latin typeface="Consolas"/>
                        </a:rPr>
                        <a:t>@capacitor/…</a:t>
                      </a:r>
                    </a:p>
                  </a:txBody>
                  <a:tcPr anchor="ctr" marL="146304" marR="146304">
                    <a:solidFill>
                      <a:srgbClr val="156082"/>
                    </a:solidFill>
                  </a:tcPr>
                </a:tc>
                <a:tc>
                  <a:txBody>
                    <a:bodyPr wrap="square"/>
                    <a:lstStyle/>
                    <a:p>
                      <a:r>
                        <a:rPr sz="1569" b="1">
                          <a:solidFill>
                            <a:srgbClr val="FFFFFF"/>
                          </a:solidFill>
                          <a:latin typeface="Aptos"/>
                        </a:rPr>
                        <a:t>Permiso Android</a:t>
                      </a:r>
                    </a:p>
                  </a:txBody>
                  <a:tcPr anchor="ctr" marL="146304" marR="146304">
                    <a:solidFill>
                      <a:srgbClr val="156082"/>
                    </a:solidFill>
                  </a:tcPr>
                </a:tc>
                <a:tc>
                  <a:txBody>
                    <a:bodyPr wrap="square"/>
                    <a:lstStyle/>
                    <a:p>
                      <a:r>
                        <a:rPr sz="1569" b="1">
                          <a:solidFill>
                            <a:srgbClr val="FFFFFF"/>
                          </a:solidFill>
                          <a:latin typeface="Aptos"/>
                        </a:rPr>
                        <a:t>Permiso iOS</a:t>
                      </a:r>
                    </a:p>
                  </a:txBody>
                  <a:tcPr anchor="ctr" marL="146304" marR="146304">
                    <a:solidFill>
                      <a:srgbClr val="156082"/>
                    </a:solidFill>
                  </a:tcPr>
                </a:tc>
              </a:tr>
              <a:tr h="543560">
                <a:tc>
                  <a:txBody>
                    <a:bodyPr wrap="square"/>
                    <a:lstStyle/>
                    <a:p>
                      <a:r>
                        <a:rPr sz="1465" b="1">
                          <a:solidFill>
                            <a:srgbClr val="33475B"/>
                          </a:solidFill>
                          <a:latin typeface="Aptos"/>
                        </a:rPr>
                        <a:t>Cámara · evidencia</a:t>
                      </a:r>
                    </a:p>
                  </a:txBody>
                  <a:tcPr anchor="ctr" marL="146304" marR="146304">
                    <a:solidFill>
                      <a:srgbClr val="FFFFFF"/>
                    </a:solidFill>
                  </a:tcPr>
                </a:tc>
                <a:tc>
                  <a:txBody>
                    <a:bodyPr wrap="square"/>
                    <a:lstStyle/>
                    <a:p>
                      <a:r>
                        <a:rPr sz="1377" b="0">
                          <a:solidFill>
                            <a:srgbClr val="156082"/>
                          </a:solidFill>
                          <a:latin typeface="Consolas"/>
                        </a:rPr>
                        <a:t>camera</a:t>
                      </a:r>
                    </a:p>
                  </a:txBody>
                  <a:tcPr anchor="ctr" marL="146304" marR="146304">
                    <a:solidFill>
                      <a:srgbClr val="FFFFFF"/>
                    </a:solidFill>
                  </a:tcPr>
                </a:tc>
                <a:tc>
                  <a:txBody>
                    <a:bodyPr wrap="square"/>
                    <a:lstStyle/>
                    <a:p>
                      <a:r>
                        <a:rPr sz="1377" b="0">
                          <a:solidFill>
                            <a:srgbClr val="156082"/>
                          </a:solidFill>
                          <a:latin typeface="Consolas"/>
                        </a:rPr>
                        <a:t>CAMERA</a:t>
                      </a:r>
                    </a:p>
                  </a:txBody>
                  <a:tcPr anchor="ctr" marL="146304" marR="146304">
                    <a:solidFill>
                      <a:srgbClr val="FFFFFF"/>
                    </a:solidFill>
                  </a:tcPr>
                </a:tc>
                <a:tc>
                  <a:txBody>
                    <a:bodyPr wrap="square"/>
                    <a:lstStyle/>
                    <a:p>
                      <a:r>
                        <a:rPr sz="1377" b="0">
                          <a:solidFill>
                            <a:srgbClr val="156082"/>
                          </a:solidFill>
                          <a:latin typeface="Consolas"/>
                        </a:rPr>
                        <a:t>NSCameraUsageDescription</a:t>
                      </a:r>
                    </a:p>
                  </a:txBody>
                  <a:tcPr anchor="ctr" marL="146304" marR="146304">
                    <a:solidFill>
                      <a:srgbClr val="FFFFFF"/>
                    </a:solidFill>
                  </a:tcPr>
                </a:tc>
              </a:tr>
              <a:tr h="543560">
                <a:tc>
                  <a:txBody>
                    <a:bodyPr wrap="square"/>
                    <a:lstStyle/>
                    <a:p>
                      <a:r>
                        <a:rPr sz="1465" b="1">
                          <a:solidFill>
                            <a:srgbClr val="33475B"/>
                          </a:solidFill>
                          <a:latin typeface="Aptos"/>
                        </a:rPr>
                        <a:t>Ubicación · coordenadas</a:t>
                      </a:r>
                    </a:p>
                  </a:txBody>
                  <a:tcPr anchor="ctr" marL="146304" marR="146304">
                    <a:solidFill>
                      <a:srgbClr val="F4F7FA"/>
                    </a:solidFill>
                  </a:tcPr>
                </a:tc>
                <a:tc>
                  <a:txBody>
                    <a:bodyPr wrap="square"/>
                    <a:lstStyle/>
                    <a:p>
                      <a:r>
                        <a:rPr sz="1377" b="0">
                          <a:solidFill>
                            <a:srgbClr val="156082"/>
                          </a:solidFill>
                          <a:latin typeface="Consolas"/>
                        </a:rPr>
                        <a:t>geolocation</a:t>
                      </a:r>
                    </a:p>
                  </a:txBody>
                  <a:tcPr anchor="ctr" marL="146304" marR="146304">
                    <a:solidFill>
                      <a:srgbClr val="F4F7FA"/>
                    </a:solidFill>
                  </a:tcPr>
                </a:tc>
                <a:tc>
                  <a:txBody>
                    <a:bodyPr wrap="square"/>
                    <a:lstStyle/>
                    <a:p>
                      <a:r>
                        <a:rPr sz="1377" b="0">
                          <a:solidFill>
                            <a:srgbClr val="156082"/>
                          </a:solidFill>
                          <a:latin typeface="Consolas"/>
                        </a:rPr>
                        <a:t>COARSE</a:t>
                      </a:r>
                      <a:r>
                        <a:rPr sz="1465" b="0">
                          <a:solidFill>
                            <a:srgbClr val="33475B"/>
                          </a:solidFill>
                          <a:latin typeface="Aptos"/>
                        </a:rPr>
                        <a:t> + </a:t>
                      </a:r>
                      <a:r>
                        <a:rPr sz="1377" b="0">
                          <a:solidFill>
                            <a:srgbClr val="156082"/>
                          </a:solidFill>
                          <a:latin typeface="Consolas"/>
                        </a:rPr>
                        <a:t>FINE_LOCATION</a:t>
                      </a:r>
                    </a:p>
                  </a:txBody>
                  <a:tcPr anchor="ctr" marL="146304" marR="146304">
                    <a:solidFill>
                      <a:srgbClr val="F4F7FA"/>
                    </a:solidFill>
                  </a:tcPr>
                </a:tc>
                <a:tc>
                  <a:txBody>
                    <a:bodyPr wrap="square"/>
                    <a:lstStyle/>
                    <a:p>
                      <a:r>
                        <a:rPr sz="1377" b="0">
                          <a:solidFill>
                            <a:srgbClr val="156082"/>
                          </a:solidFill>
                          <a:latin typeface="Consolas"/>
                        </a:rPr>
                        <a:t>NSLocationWhenInUse…</a:t>
                      </a:r>
                    </a:p>
                  </a:txBody>
                  <a:tcPr anchor="ctr" marL="146304" marR="146304">
                    <a:solidFill>
                      <a:srgbClr val="F4F7FA"/>
                    </a:solidFill>
                  </a:tcPr>
                </a:tc>
              </a:tr>
              <a:tr h="543560">
                <a:tc>
                  <a:txBody>
                    <a:bodyPr wrap="square"/>
                    <a:lstStyle/>
                    <a:p>
                      <a:r>
                        <a:rPr sz="1465" b="1">
                          <a:solidFill>
                            <a:srgbClr val="33475B"/>
                          </a:solidFill>
                          <a:latin typeface="Aptos"/>
                        </a:rPr>
                        <a:t>Push · visita asignada</a:t>
                      </a:r>
                    </a:p>
                  </a:txBody>
                  <a:tcPr anchor="ctr" marL="146304" marR="146304">
                    <a:solidFill>
                      <a:srgbClr val="FFFFFF"/>
                    </a:solidFill>
                  </a:tcPr>
                </a:tc>
                <a:tc>
                  <a:txBody>
                    <a:bodyPr wrap="square"/>
                    <a:lstStyle/>
                    <a:p>
                      <a:r>
                        <a:rPr sz="1377" b="0">
                          <a:solidFill>
                            <a:srgbClr val="156082"/>
                          </a:solidFill>
                          <a:latin typeface="Consolas"/>
                        </a:rPr>
                        <a:t>push-notifications</a:t>
                      </a:r>
                    </a:p>
                  </a:txBody>
                  <a:tcPr anchor="ctr" marL="146304" marR="146304">
                    <a:solidFill>
                      <a:srgbClr val="FFFFFF"/>
                    </a:solidFill>
                  </a:tcPr>
                </a:tc>
                <a:tc>
                  <a:txBody>
                    <a:bodyPr wrap="square"/>
                    <a:lstStyle/>
                    <a:p>
                      <a:r>
                        <a:rPr sz="1377" b="0">
                          <a:solidFill>
                            <a:srgbClr val="156082"/>
                          </a:solidFill>
                          <a:latin typeface="Consolas"/>
                        </a:rPr>
                        <a:t>POST_NOTIFICATIONS</a:t>
                      </a:r>
                      <a:r>
                        <a:rPr sz="1465" b="0">
                          <a:solidFill>
                            <a:srgbClr val="33475B"/>
                          </a:solidFill>
                          <a:latin typeface="Aptos"/>
                        </a:rPr>
                        <a:t> (13+)</a:t>
                      </a:r>
                    </a:p>
                  </a:txBody>
                  <a:tcPr anchor="ctr" marL="146304" marR="146304">
                    <a:solidFill>
                      <a:srgbClr val="FFFFFF"/>
                    </a:solidFill>
                  </a:tcPr>
                </a:tc>
                <a:tc>
                  <a:txBody>
                    <a:bodyPr wrap="square"/>
                    <a:lstStyle/>
                    <a:p>
                      <a:r>
                        <a:rPr sz="1465" b="0">
                          <a:solidFill>
                            <a:srgbClr val="33475B"/>
                          </a:solidFill>
                          <a:latin typeface="Aptos"/>
                        </a:rPr>
                        <a:t>Diálogo + capacidad Push</a:t>
                      </a:r>
                    </a:p>
                  </a:txBody>
                  <a:tcPr anchor="ctr" marL="146304" marR="146304">
                    <a:solidFill>
                      <a:srgbClr val="FFFFFF"/>
                    </a:solidFill>
                  </a:tcPr>
                </a:tc>
              </a:tr>
              <a:tr h="543560">
                <a:tc>
                  <a:txBody>
                    <a:bodyPr wrap="square"/>
                    <a:lstStyle/>
                    <a:p>
                      <a:r>
                        <a:rPr sz="1465" b="1">
                          <a:solidFill>
                            <a:srgbClr val="33475B"/>
                          </a:solidFill>
                          <a:latin typeface="Aptos"/>
                        </a:rPr>
                        <a:t>Biometría · abrir sesión</a:t>
                      </a:r>
                    </a:p>
                  </a:txBody>
                  <a:tcPr anchor="ctr" marL="146304" marR="146304">
                    <a:solidFill>
                      <a:srgbClr val="F4F7FA"/>
                    </a:solidFill>
                  </a:tcPr>
                </a:tc>
                <a:tc>
                  <a:txBody>
                    <a:bodyPr wrap="square"/>
                    <a:lstStyle/>
                    <a:p>
                      <a:r>
                        <a:rPr sz="1465" b="0">
                          <a:solidFill>
                            <a:srgbClr val="33475B"/>
                          </a:solidFill>
                          <a:latin typeface="Aptos"/>
                        </a:rPr>
                        <a:t>Plugin comunitario</a:t>
                      </a:r>
                    </a:p>
                  </a:txBody>
                  <a:tcPr anchor="ctr" marL="146304" marR="146304">
                    <a:solidFill>
                      <a:srgbClr val="F4F7FA"/>
                    </a:solidFill>
                  </a:tcPr>
                </a:tc>
                <a:tc>
                  <a:txBody>
                    <a:bodyPr wrap="square"/>
                    <a:lstStyle/>
                    <a:p>
                      <a:r>
                        <a:rPr sz="1377" b="0">
                          <a:solidFill>
                            <a:srgbClr val="156082"/>
                          </a:solidFill>
                          <a:latin typeface="Consolas"/>
                        </a:rPr>
                        <a:t>USE_BIOMETRIC</a:t>
                      </a:r>
                      <a:r>
                        <a:rPr sz="1465" b="0">
                          <a:solidFill>
                            <a:srgbClr val="33475B"/>
                          </a:solidFill>
                          <a:latin typeface="Aptos"/>
                        </a:rPr>
                        <a:t> (normal)</a:t>
                      </a:r>
                    </a:p>
                  </a:txBody>
                  <a:tcPr anchor="ctr" marL="146304" marR="146304">
                    <a:solidFill>
                      <a:srgbClr val="F4F7FA"/>
                    </a:solidFill>
                  </a:tcPr>
                </a:tc>
                <a:tc>
                  <a:txBody>
                    <a:bodyPr wrap="square"/>
                    <a:lstStyle/>
                    <a:p>
                      <a:r>
                        <a:rPr sz="1377" b="0">
                          <a:solidFill>
                            <a:srgbClr val="156082"/>
                          </a:solidFill>
                          <a:latin typeface="Consolas"/>
                        </a:rPr>
                        <a:t>NSFaceIDUsageDescription</a:t>
                      </a:r>
                    </a:p>
                  </a:txBody>
                  <a:tcPr anchor="ctr" marL="146304" marR="146304">
                    <a:solidFill>
                      <a:srgbClr val="F4F7FA"/>
                    </a:solidFill>
                  </a:tcPr>
                </a:tc>
              </a:tr>
              <a:tr h="543560">
                <a:tc>
                  <a:txBody>
                    <a:bodyPr wrap="square"/>
                    <a:lstStyle/>
                    <a:p>
                      <a:r>
                        <a:rPr sz="1465" b="1">
                          <a:solidFill>
                            <a:srgbClr val="33475B"/>
                          </a:solidFill>
                          <a:latin typeface="Aptos"/>
                        </a:rPr>
                        <a:t>Almacén seguro · token</a:t>
                      </a:r>
                    </a:p>
                  </a:txBody>
                  <a:tcPr anchor="ctr" marL="146304" marR="146304">
                    <a:solidFill>
                      <a:srgbClr val="FFFFFF"/>
                    </a:solidFill>
                  </a:tcPr>
                </a:tc>
                <a:tc>
                  <a:txBody>
                    <a:bodyPr wrap="square"/>
                    <a:lstStyle/>
                    <a:p>
                      <a:r>
                        <a:rPr sz="1465" b="0">
                          <a:solidFill>
                            <a:srgbClr val="33475B"/>
                          </a:solidFill>
                          <a:latin typeface="Aptos"/>
                        </a:rPr>
                        <a:t>Sobre Keychain / Keystore</a:t>
                      </a:r>
                    </a:p>
                  </a:txBody>
                  <a:tcPr anchor="ctr" marL="146304" marR="146304">
                    <a:solidFill>
                      <a:srgbClr val="FFFFFF"/>
                    </a:solidFill>
                  </a:tcPr>
                </a:tc>
                <a:tc>
                  <a:txBody>
                    <a:bodyPr wrap="square"/>
                    <a:lstStyle/>
                    <a:p>
                      <a:r>
                        <a:rPr sz="1465" b="0">
                          <a:solidFill>
                            <a:srgbClr val="33475B"/>
                          </a:solidFill>
                          <a:latin typeface="Aptos"/>
                        </a:rPr>
                        <a:t>Ninguno</a:t>
                      </a:r>
                    </a:p>
                  </a:txBody>
                  <a:tcPr anchor="ctr" marL="146304" marR="146304">
                    <a:solidFill>
                      <a:srgbClr val="FFFFFF"/>
                    </a:solidFill>
                  </a:tcPr>
                </a:tc>
                <a:tc>
                  <a:txBody>
                    <a:bodyPr wrap="square"/>
                    <a:lstStyle/>
                    <a:p>
                      <a:r>
                        <a:rPr sz="1465" b="0">
                          <a:solidFill>
                            <a:srgbClr val="33475B"/>
                          </a:solidFill>
                          <a:latin typeface="Aptos"/>
                        </a:rPr>
                        <a:t>Ninguno</a:t>
                      </a:r>
                    </a:p>
                  </a:txBody>
                  <a:tcPr anchor="ctr" marL="146304" marR="146304">
                    <a:solidFill>
                      <a:srgbClr val="FFFFFF"/>
                    </a:solidFill>
                  </a:tcPr>
                </a:tc>
              </a:tr>
            </a:tbl>
          </a:graphicData>
        </a:graphic>
      </p:graphicFrame>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5 / 45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NATIVO, CALIDAD Y DESPLIEGUE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Puerto en el dominio, plugin en datos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2020824"/>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 y="1792224"/>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1755648"/>
            <a:ext cx="7315200" cy="237744"/>
          </a:xfrm>
          <a:prstGeom prst="rect">
            <a:avLst/>
          </a:prstGeom>
          <a:noFill/>
        </p:spPr>
        <p:txBody>
          <a:bodyPr wrap="square" anchor="t" lIns="0" rIns="0" tIns="0" bIns="0">
            <a:spAutoFit/>
          </a:bodyPr>
          <a:lstStyle/>
          <a:p>
            <a:pPr algn="l"/>
            <a:r>
              <a:rPr sz="1181" b="1">
                <a:solidFill>
                  <a:srgbClr val="E97132"/>
                </a:solidFill>
                <a:latin typeface="Aptos"/>
              </a:rPr>
              <a:t>DOMAIN/PUERTOS.TS · TYPESCRIPT PURO</a:t>
            </a:r>
          </a:p>
        </p:txBody>
      </p:sp>
      <p:sp>
        <p:nvSpPr>
          <p:cNvPr id="10" name="TextBox 9"/>
          <p:cNvSpPr txBox="1"/>
          <p:nvPr/>
        </p:nvSpPr>
        <p:spPr>
          <a:xfrm>
            <a:off x="877824" y="2139696"/>
            <a:ext cx="10515600" cy="1289304"/>
          </a:xfrm>
          <a:prstGeom prst="rect">
            <a:avLst/>
          </a:prstGeom>
          <a:noFill/>
        </p:spPr>
        <p:txBody>
          <a:bodyPr wrap="none" lIns="0" tIns="0">
            <a:spAutoFit/>
          </a:bodyPr>
          <a:lstStyle/>
          <a:p>
            <a:pPr>
              <a:lnSpc>
                <a:spcPct val="125000"/>
              </a:lnSpc>
            </a:pPr>
            <a:r>
              <a:rPr sz="1490">
                <a:solidFill>
                  <a:srgbClr val="E8E8E8"/>
                </a:solidFill>
                <a:latin typeface="Consolas"/>
              </a:rPr>
              <a:t>export type EstadoPermiso = 'concedido' | 'preguntable' | 'denegado';</a:t>
            </a:r>
          </a:p>
          <a:p>
            <a:pPr>
              <a:lnSpc>
                <a:spcPct val="125000"/>
              </a:lnSpc>
            </a:pPr>
            <a:r>
              <a:rPr sz="1490">
                <a:solidFill>
                  <a:srgbClr val="E8E8E8"/>
                </a:solidFill>
                <a:latin typeface="Consolas"/>
              </a:rPr>
              <a:t>export class PermisoDenegadoError extends Error { /* recurso, definitivo */ }</a:t>
            </a:r>
          </a:p>
          <a:p>
            <a:pPr>
              <a:lnSpc>
                <a:spcPct val="125000"/>
              </a:lnSpc>
            </a:pPr>
            <a:r>
              <a:rPr sz="1490">
                <a:solidFill>
                  <a:srgbClr val="E8E8E8"/>
                </a:solidFill>
                <a:latin typeface="Consolas"/>
              </a:rPr>
              <a:t>export interface Camara {</a:t>
            </a:r>
          </a:p>
          <a:p>
            <a:pPr>
              <a:lnSpc>
                <a:spcPct val="125000"/>
              </a:lnSpc>
            </a:pPr>
            <a:r>
              <a:rPr sz="1490">
                <a:solidFill>
                  <a:srgbClr val="E8E8E8"/>
                </a:solidFill>
                <a:latin typeface="Consolas"/>
              </a:rPr>
              <a:t>  permiso(): Promise&lt;EstadoPermiso&gt;;  tomarFoto(): Promise&lt;Foto&gt;;</a:t>
            </a:r>
          </a:p>
          <a:p>
            <a:pPr>
              <a:lnSpc>
                <a:spcPct val="125000"/>
              </a:lnSpc>
            </a:pPr>
            <a:r>
              <a:rPr sz="1490">
                <a:solidFill>
                  <a:srgbClr val="E8E8E8"/>
                </a:solidFill>
                <a:latin typeface="Consolas"/>
              </a:rPr>
              <a:t>}</a:t>
            </a:r>
          </a:p>
        </p:txBody>
      </p:sp>
      <p:sp>
        <p:nvSpPr>
          <p:cNvPr id="11" name="Rounded Rectangle 10"/>
          <p:cNvSpPr/>
          <p:nvPr/>
        </p:nvSpPr>
        <p:spPr>
          <a:xfrm>
            <a:off x="566928" y="3794760"/>
            <a:ext cx="11064240" cy="2532888"/>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1248" y="4014216"/>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552" y="3977640"/>
            <a:ext cx="7315200" cy="237744"/>
          </a:xfrm>
          <a:prstGeom prst="rect">
            <a:avLst/>
          </a:prstGeom>
          <a:noFill/>
        </p:spPr>
        <p:txBody>
          <a:bodyPr wrap="square" anchor="t" lIns="0" rIns="0" tIns="0" bIns="0">
            <a:spAutoFit/>
          </a:bodyPr>
          <a:lstStyle/>
          <a:p>
            <a:pPr algn="l"/>
            <a:r>
              <a:rPr sz="1181" b="1">
                <a:solidFill>
                  <a:srgbClr val="E97132"/>
                </a:solidFill>
                <a:latin typeface="Aptos"/>
              </a:rPr>
              <a:t>DATA/CAMARA-CAPACITOR.TS · TOMARFOTO()</a:t>
            </a:r>
          </a:p>
        </p:txBody>
      </p:sp>
      <p:sp>
        <p:nvSpPr>
          <p:cNvPr id="14" name="TextBox 13"/>
          <p:cNvSpPr txBox="1"/>
          <p:nvPr/>
        </p:nvSpPr>
        <p:spPr>
          <a:xfrm>
            <a:off x="877824" y="4361688"/>
            <a:ext cx="10515600" cy="1801368"/>
          </a:xfrm>
          <a:prstGeom prst="rect">
            <a:avLst/>
          </a:prstGeom>
          <a:noFill/>
        </p:spPr>
        <p:txBody>
          <a:bodyPr wrap="none" lIns="0" tIns="0">
            <a:spAutoFit/>
          </a:bodyPr>
          <a:lstStyle/>
          <a:p>
            <a:pPr>
              <a:lnSpc>
                <a:spcPct val="125000"/>
              </a:lnSpc>
            </a:pPr>
            <a:r>
              <a:rPr sz="1490">
                <a:solidFill>
                  <a:srgbClr val="E8E8E8"/>
                </a:solidFill>
                <a:latin typeface="Consolas"/>
              </a:rPr>
              <a:t>let estado = await this.permiso();     // 'granted' o 'limited' = 'concedido'</a:t>
            </a:r>
          </a:p>
          <a:p>
            <a:pPr>
              <a:lnSpc>
                <a:spcPct val="125000"/>
              </a:lnSpc>
            </a:pPr>
            <a:r>
              <a:rPr sz="1490">
                <a:solidFill>
                  <a:srgbClr val="E8E8E8"/>
                </a:solidFill>
                <a:latin typeface="Consolas"/>
              </a:rPr>
              <a:t>if (estado === 'preguntable')</a:t>
            </a:r>
          </a:p>
          <a:p>
            <a:pPr>
              <a:lnSpc>
                <a:spcPct val="125000"/>
              </a:lnSpc>
            </a:pPr>
            <a:r>
              <a:rPr sz="1490">
                <a:solidFill>
                  <a:srgbClr val="E8E8E8"/>
                </a:solidFill>
                <a:latin typeface="Consolas"/>
              </a:rPr>
              <a:t>  estado = aEstado((await Camera.requestPermissions()).camera);</a:t>
            </a:r>
          </a:p>
          <a:p>
            <a:pPr>
              <a:lnSpc>
                <a:spcPct val="125000"/>
              </a:lnSpc>
            </a:pPr>
            <a:r>
              <a:rPr sz="1490">
                <a:solidFill>
                  <a:srgbClr val="E8E8E8"/>
                </a:solidFill>
                <a:latin typeface="Consolas"/>
              </a:rPr>
              <a:t>if (estado !== 'concedido')</a:t>
            </a:r>
          </a:p>
          <a:p>
            <a:pPr>
              <a:lnSpc>
                <a:spcPct val="125000"/>
              </a:lnSpc>
            </a:pPr>
            <a:r>
              <a:rPr sz="1490">
                <a:solidFill>
                  <a:srgbClr val="E8E8E8"/>
                </a:solidFill>
                <a:latin typeface="Consolas"/>
              </a:rPr>
              <a:t>  throw new PermisoDenegadoError('camara', estado === 'denegado');</a:t>
            </a:r>
          </a:p>
          <a:p>
            <a:pPr>
              <a:lnSpc>
                <a:spcPct val="125000"/>
              </a:lnSpc>
            </a:pPr>
            <a:r>
              <a:rPr sz="1490">
                <a:solidFill>
                  <a:srgbClr val="E8E8E8"/>
                </a:solidFill>
                <a:latin typeface="Consolas"/>
              </a:rPr>
              <a:t>const foto = await Camera.getPhoto({ resultType: CameraResultType.Uri, quality: 70 });</a:t>
            </a:r>
          </a:p>
          <a:p>
            <a:pPr>
              <a:lnSpc>
                <a:spcPct val="125000"/>
              </a:lnSpc>
            </a:pPr>
            <a:r>
              <a:rPr sz="1490">
                <a:solidFill>
                  <a:srgbClr val="E8E8E8"/>
                </a:solidFill>
                <a:latin typeface="Consolas"/>
              </a:rPr>
              <a:t>return { ruta: foto.webPath ?? '', formato: foto.format };     // archivo, NO base64</a:t>
            </a:r>
          </a:p>
        </p:txBody>
      </p:sp>
      <p:sp>
        <p:nvSpPr>
          <p:cNvPr id="15" name="TextBox 14"/>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16" name="TextBox 15"/>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6 / 45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NATIVO, CALIDAD Y DESPLIEGUE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Sin foto no hay evidencia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759477"/>
            <a:ext cx="3432048" cy="1701126"/>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759477"/>
            <a:ext cx="3432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201769"/>
            <a:ext cx="3139440" cy="1156766"/>
          </a:xfrm>
          <a:prstGeom prst="rect">
            <a:avLst/>
          </a:prstGeom>
          <a:noFill/>
        </p:spPr>
        <p:txBody>
          <a:bodyPr wrap="square" anchor="t" lIns="0" rIns="0" tIns="0" bIns="0">
            <a:spAutoFit/>
          </a:bodyPr>
          <a:lstStyle/>
          <a:p>
            <a:pPr algn="ctr"/>
            <a:r>
              <a:rPr sz="1689" b="1">
                <a:solidFill>
                  <a:srgbClr val="0E2841"/>
                </a:solidFill>
                <a:latin typeface="Aptos Display"/>
              </a:rPr>
              <a:t>Tomar foto</a:t>
            </a:r>
          </a:p>
          <a:p>
            <a:pPr algn="ctr">
              <a:lnSpc>
                <a:spcPct val="120000"/>
              </a:lnSpc>
              <a:spcBef>
                <a:spcPts val="700"/>
              </a:spcBef>
            </a:pPr>
            <a:r>
              <a:rPr sz="1308" b="0">
                <a:solidFill>
                  <a:srgbClr val="7A8B9E"/>
                </a:solidFill>
                <a:latin typeface="Aptos"/>
              </a:rPr>
              <a:t>obligatoria; si falla, el error se propaga</a:t>
            </a:r>
          </a:p>
        </p:txBody>
      </p:sp>
      <p:sp>
        <p:nvSpPr>
          <p:cNvPr id="10" name="Chevron 9"/>
          <p:cNvSpPr/>
          <p:nvPr/>
        </p:nvSpPr>
        <p:spPr>
          <a:xfrm>
            <a:off x="4090416" y="2303837"/>
            <a:ext cx="201168" cy="612405"/>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83024" y="1759477"/>
            <a:ext cx="3432048" cy="1701126"/>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3024" y="1759477"/>
            <a:ext cx="3432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9328" y="2201769"/>
            <a:ext cx="3139440" cy="1156766"/>
          </a:xfrm>
          <a:prstGeom prst="rect">
            <a:avLst/>
          </a:prstGeom>
          <a:noFill/>
        </p:spPr>
        <p:txBody>
          <a:bodyPr wrap="square" anchor="t" lIns="0" rIns="0" tIns="0" bIns="0">
            <a:spAutoFit/>
          </a:bodyPr>
          <a:lstStyle/>
          <a:p>
            <a:pPr algn="ctr"/>
            <a:r>
              <a:rPr sz="1689" b="1">
                <a:solidFill>
                  <a:srgbClr val="0E2841"/>
                </a:solidFill>
                <a:latin typeface="Aptos Display"/>
              </a:rPr>
              <a:t>Pedir ubicación</a:t>
            </a:r>
          </a:p>
          <a:p>
            <a:pPr algn="ctr">
              <a:lnSpc>
                <a:spcPct val="120000"/>
              </a:lnSpc>
              <a:spcBef>
                <a:spcPts val="700"/>
              </a:spcBef>
            </a:pPr>
            <a:r>
              <a:rPr sz="1308" b="0">
                <a:solidFill>
                  <a:srgbClr val="7A8B9E"/>
                </a:solidFill>
                <a:latin typeface="Aptos"/>
              </a:rPr>
              <a:t>mejor esfuerzo; si falla, queda en null</a:t>
            </a:r>
          </a:p>
        </p:txBody>
      </p:sp>
      <p:sp>
        <p:nvSpPr>
          <p:cNvPr id="14" name="Chevron 13"/>
          <p:cNvSpPr/>
          <p:nvPr/>
        </p:nvSpPr>
        <p:spPr>
          <a:xfrm>
            <a:off x="7906512" y="2303837"/>
            <a:ext cx="201168" cy="612405"/>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99120" y="1759477"/>
            <a:ext cx="3432048" cy="1701126"/>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99120" y="1759477"/>
            <a:ext cx="3432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45424" y="2201769"/>
            <a:ext cx="3139440" cy="1156766"/>
          </a:xfrm>
          <a:prstGeom prst="rect">
            <a:avLst/>
          </a:prstGeom>
          <a:noFill/>
        </p:spPr>
        <p:txBody>
          <a:bodyPr wrap="square" anchor="t" lIns="0" rIns="0" tIns="0" bIns="0">
            <a:spAutoFit/>
          </a:bodyPr>
          <a:lstStyle/>
          <a:p>
            <a:pPr algn="ctr"/>
            <a:r>
              <a:rPr sz="1689" b="1">
                <a:solidFill>
                  <a:srgbClr val="0E2841"/>
                </a:solidFill>
                <a:latin typeface="Aptos Display"/>
              </a:rPr>
              <a:t>Evidencia</a:t>
            </a:r>
          </a:p>
          <a:p>
            <a:pPr algn="ctr">
              <a:lnSpc>
                <a:spcPct val="120000"/>
              </a:lnSpc>
              <a:spcBef>
                <a:spcPts val="700"/>
              </a:spcBef>
            </a:pPr>
            <a:r>
              <a:rPr sz="1308" b="0">
                <a:solidFill>
                  <a:srgbClr val="7A8B9E"/>
                </a:solidFill>
                <a:latin typeface="Aptos"/>
              </a:rPr>
              <a:t>foto, ubicación o null y fecha del Reloj</a:t>
            </a:r>
          </a:p>
        </p:txBody>
      </p:sp>
      <p:sp>
        <p:nvSpPr>
          <p:cNvPr id="18" name="Rounded Rectangle 17"/>
          <p:cNvSpPr/>
          <p:nvPr/>
        </p:nvSpPr>
        <p:spPr>
          <a:xfrm>
            <a:off x="566928" y="3848481"/>
            <a:ext cx="11064240" cy="2479167"/>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41248" y="4067937"/>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7552" y="4031361"/>
            <a:ext cx="7315200" cy="237744"/>
          </a:xfrm>
          <a:prstGeom prst="rect">
            <a:avLst/>
          </a:prstGeom>
          <a:noFill/>
        </p:spPr>
        <p:txBody>
          <a:bodyPr wrap="square" anchor="t" lIns="0" rIns="0" tIns="0" bIns="0">
            <a:spAutoFit/>
          </a:bodyPr>
          <a:lstStyle/>
          <a:p>
            <a:pPr algn="l"/>
            <a:r>
              <a:rPr sz="1253" b="1">
                <a:solidFill>
                  <a:srgbClr val="E97132"/>
                </a:solidFill>
                <a:latin typeface="Aptos"/>
              </a:rPr>
              <a:t>DOMAIN/CAPTURAR-EVIDENCIA.TS · EJECUTAR()</a:t>
            </a:r>
          </a:p>
        </p:txBody>
      </p:sp>
      <p:sp>
        <p:nvSpPr>
          <p:cNvPr id="21" name="TextBox 20"/>
          <p:cNvSpPr txBox="1"/>
          <p:nvPr/>
        </p:nvSpPr>
        <p:spPr>
          <a:xfrm>
            <a:off x="877824" y="4415409"/>
            <a:ext cx="10515600" cy="1747647"/>
          </a:xfrm>
          <a:prstGeom prst="rect">
            <a:avLst/>
          </a:prstGeom>
          <a:noFill/>
        </p:spPr>
        <p:txBody>
          <a:bodyPr wrap="none" lIns="0" tIns="0">
            <a:spAutoFit/>
          </a:bodyPr>
          <a:lstStyle/>
          <a:p>
            <a:pPr>
              <a:lnSpc>
                <a:spcPct val="125000"/>
              </a:lnSpc>
            </a:pPr>
            <a:r>
              <a:rPr sz="1580">
                <a:solidFill>
                  <a:srgbClr val="E8E8E8"/>
                </a:solidFill>
                <a:latin typeface="Consolas"/>
              </a:rPr>
              <a:t>const foto = await this.camara.tomarFoto();    // obligatoria: si falla, se propaga</a:t>
            </a:r>
          </a:p>
          <a:p>
            <a:pPr>
              <a:lnSpc>
                <a:spcPct val="125000"/>
              </a:lnSpc>
            </a:pPr>
            <a:r>
              <a:rPr sz="1580">
                <a:solidFill>
                  <a:srgbClr val="E8E8E8"/>
                </a:solidFill>
                <a:latin typeface="Consolas"/>
              </a:rPr>
              <a:t>let coordenadas: Coordenadas | null = null;</a:t>
            </a:r>
          </a:p>
          <a:p>
            <a:pPr>
              <a:lnSpc>
                <a:spcPct val="125000"/>
              </a:lnSpc>
            </a:pPr>
            <a:r>
              <a:rPr sz="1580">
                <a:solidFill>
                  <a:srgbClr val="E8E8E8"/>
                </a:solidFill>
                <a:latin typeface="Consolas"/>
              </a:rPr>
              <a:t>try { coordenadas = await this.ubicacion.actual(); }    // mejor esfuerzo</a:t>
            </a:r>
          </a:p>
          <a:p>
            <a:pPr>
              <a:lnSpc>
                <a:spcPct val="125000"/>
              </a:lnSpc>
            </a:pPr>
            <a:r>
              <a:rPr sz="1580">
                <a:solidFill>
                  <a:srgbClr val="E8E8E8"/>
                </a:solidFill>
                <a:latin typeface="Consolas"/>
              </a:rPr>
              <a:t>catch (e) { if (!(e instanceof PermisoDenegadoError</a:t>
            </a:r>
          </a:p>
          <a:p>
            <a:pPr>
              <a:lnSpc>
                <a:spcPct val="125000"/>
              </a:lnSpc>
            </a:pPr>
            <a:r>
              <a:rPr sz="1580">
                <a:solidFill>
                  <a:srgbClr val="E8E8E8"/>
                </a:solidFill>
                <a:latin typeface="Consolas"/>
              </a:rPr>
              <a:t>    || e instanceof UbicacionNoDisponibleError)) throw e; }    // un bug NO se traga</a:t>
            </a:r>
          </a:p>
          <a:p>
            <a:pPr>
              <a:lnSpc>
                <a:spcPct val="125000"/>
              </a:lnSpc>
            </a:pPr>
            <a:r>
              <a:rPr sz="1580">
                <a:solidFill>
                  <a:srgbClr val="E8E8E8"/>
                </a:solidFill>
                <a:latin typeface="Consolas"/>
              </a:rPr>
              <a:t>return { foto, ubicacion: coordenadas, capturadaEn: this.reloj.ahora() };</a:t>
            </a:r>
          </a:p>
        </p:txBody>
      </p:sp>
      <p:sp>
        <p:nvSpPr>
          <p:cNvPr id="22" name="TextBox 21"/>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23" name="TextBox 22"/>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7 / 45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NATIVO, CALIDAD Y DESPLIEGUE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Cuatro decisiones que no son de estilo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55578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446058"/>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555786"/>
          </a:xfrm>
          <a:prstGeom prst="rect">
            <a:avLst/>
          </a:prstGeom>
          <a:noFill/>
        </p:spPr>
        <p:txBody>
          <a:bodyPr wrap="square" anchor="ctr" lIns="0" rIns="0" tIns="0" bIns="0">
            <a:spAutoFit/>
          </a:bodyPr>
          <a:lstStyle/>
          <a:p>
            <a:pPr algn="l">
              <a:lnSpc>
                <a:spcPct val="125000"/>
              </a:lnSpc>
            </a:pPr>
            <a:r>
              <a:rPr sz="2570" b="1">
                <a:solidFill>
                  <a:srgbClr val="0E2841"/>
                </a:solidFill>
                <a:latin typeface="Aptos Display"/>
              </a:rPr>
              <a:t>UbicacionCapacitor sigue el mismo molde; si solo concedieron la aproximada, es «concedido» y </a:t>
            </a:r>
            <a:r>
              <a:rPr sz="2416" b="1">
                <a:solidFill>
                  <a:srgbClr val="156082"/>
                </a:solidFill>
                <a:latin typeface="Consolas"/>
              </a:rPr>
              <a:t>precisionMetros</a:t>
            </a:r>
            <a:r>
              <a:rPr sz="2570" b="1">
                <a:solidFill>
                  <a:srgbClr val="0E2841"/>
                </a:solidFill>
                <a:latin typeface="Aptos Display"/>
              </a:rPr>
              <a:t> cuenta la verdad.</a:t>
            </a:r>
          </a:p>
        </p:txBody>
      </p:sp>
      <p:sp>
        <p:nvSpPr>
          <p:cNvPr id="10" name="Rounded Rectangle 9"/>
          <p:cNvSpPr/>
          <p:nvPr/>
        </p:nvSpPr>
        <p:spPr>
          <a:xfrm>
            <a:off x="566928" y="3329722"/>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68096" y="3585754"/>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3841786"/>
            <a:ext cx="2130552" cy="2284693"/>
          </a:xfrm>
          <a:prstGeom prst="rect">
            <a:avLst/>
          </a:prstGeom>
          <a:noFill/>
        </p:spPr>
        <p:txBody>
          <a:bodyPr wrap="square" anchor="t" lIns="0" rIns="0" tIns="0" bIns="0">
            <a:spAutoFit/>
          </a:bodyPr>
          <a:lstStyle/>
          <a:p>
            <a:pPr algn="l"/>
            <a:r>
              <a:rPr sz="1986" b="1">
                <a:solidFill>
                  <a:srgbClr val="0E2841"/>
                </a:solidFill>
                <a:latin typeface="Aptos Display"/>
              </a:rPr>
              <a:t>Componer en la frontera</a:t>
            </a:r>
          </a:p>
          <a:p>
            <a:pPr algn="l">
              <a:lnSpc>
                <a:spcPct val="120000"/>
              </a:lnSpc>
              <a:spcBef>
                <a:spcPts val="700"/>
              </a:spcBef>
            </a:pPr>
            <a:r>
              <a:rPr sz="1518" b="0">
                <a:solidFill>
                  <a:srgbClr val="33475B"/>
                </a:solidFill>
                <a:latin typeface="Aptos"/>
              </a:rPr>
              <a:t>visitas.providers.ts enlaza los tokens y arma el caso de uso</a:t>
            </a:r>
          </a:p>
        </p:txBody>
      </p:sp>
      <p:sp>
        <p:nvSpPr>
          <p:cNvPr id="13" name="Rounded Rectangle 12"/>
          <p:cNvSpPr/>
          <p:nvPr/>
        </p:nvSpPr>
        <p:spPr>
          <a:xfrm>
            <a:off x="3410712" y="3329722"/>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11880" y="3585754"/>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11880" y="3841786"/>
            <a:ext cx="2130552" cy="2284693"/>
          </a:xfrm>
          <a:prstGeom prst="rect">
            <a:avLst/>
          </a:prstGeom>
          <a:noFill/>
        </p:spPr>
        <p:txBody>
          <a:bodyPr wrap="square" anchor="t" lIns="0" rIns="0" tIns="0" bIns="0">
            <a:spAutoFit/>
          </a:bodyPr>
          <a:lstStyle/>
          <a:p>
            <a:pPr algn="l"/>
            <a:r>
              <a:rPr sz="1986" b="1">
                <a:solidFill>
                  <a:srgbClr val="0E2841"/>
                </a:solidFill>
                <a:latin typeface="Aptos Display"/>
              </a:rPr>
              <a:t>Foto antes que ubicación</a:t>
            </a:r>
          </a:p>
          <a:p>
            <a:pPr algn="l">
              <a:lnSpc>
                <a:spcPct val="120000"/>
              </a:lnSpc>
              <a:spcBef>
                <a:spcPts val="700"/>
              </a:spcBef>
            </a:pPr>
            <a:r>
              <a:rPr sz="1518" b="0">
                <a:solidFill>
                  <a:srgbClr val="33475B"/>
                </a:solidFill>
                <a:latin typeface="Aptos"/>
              </a:rPr>
              <a:t>sin foto no se molesta al usuario con un segundo permiso</a:t>
            </a:r>
          </a:p>
        </p:txBody>
      </p:sp>
      <p:sp>
        <p:nvSpPr>
          <p:cNvPr id="16" name="Rounded Rectangle 15"/>
          <p:cNvSpPr/>
          <p:nvPr/>
        </p:nvSpPr>
        <p:spPr>
          <a:xfrm>
            <a:off x="6254496" y="3329722"/>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55664" y="3585754"/>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5664" y="3841786"/>
            <a:ext cx="2130552" cy="2284693"/>
          </a:xfrm>
          <a:prstGeom prst="rect">
            <a:avLst/>
          </a:prstGeom>
          <a:noFill/>
        </p:spPr>
        <p:txBody>
          <a:bodyPr wrap="square" anchor="t" lIns="0" rIns="0" tIns="0" bIns="0">
            <a:spAutoFit/>
          </a:bodyPr>
          <a:lstStyle/>
          <a:p>
            <a:pPr algn="l"/>
            <a:r>
              <a:rPr sz="1986" b="1">
                <a:solidFill>
                  <a:srgbClr val="0E2841"/>
                </a:solidFill>
                <a:latin typeface="Aptos Display"/>
              </a:rPr>
              <a:t>El adaptador traduce</a:t>
            </a:r>
          </a:p>
          <a:p>
            <a:pPr algn="l">
              <a:lnSpc>
                <a:spcPct val="120000"/>
              </a:lnSpc>
              <a:spcBef>
                <a:spcPts val="700"/>
              </a:spcBef>
            </a:pPr>
            <a:r>
              <a:rPr sz="1518" b="0">
                <a:solidFill>
                  <a:srgbClr val="33475B"/>
                </a:solidFill>
                <a:latin typeface="Aptos"/>
              </a:rPr>
              <a:t>los estados de Capacitor pasan al vocabulario del dominio</a:t>
            </a:r>
          </a:p>
        </p:txBody>
      </p:sp>
      <p:sp>
        <p:nvSpPr>
          <p:cNvPr id="19" name="Rounded Rectangle 18"/>
          <p:cNvSpPr/>
          <p:nvPr/>
        </p:nvSpPr>
        <p:spPr>
          <a:xfrm>
            <a:off x="9098280" y="3329722"/>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299448" y="3585754"/>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99448" y="3841786"/>
            <a:ext cx="2130552" cy="2284693"/>
          </a:xfrm>
          <a:prstGeom prst="rect">
            <a:avLst/>
          </a:prstGeom>
          <a:noFill/>
        </p:spPr>
        <p:txBody>
          <a:bodyPr wrap="square" anchor="t" lIns="0" rIns="0" tIns="0" bIns="0">
            <a:spAutoFit/>
          </a:bodyPr>
          <a:lstStyle/>
          <a:p>
            <a:pPr algn="l"/>
            <a:r>
              <a:rPr sz="1986" b="1">
                <a:solidFill>
                  <a:srgbClr val="0E2841"/>
                </a:solidFill>
                <a:latin typeface="Aptos Display"/>
              </a:rPr>
              <a:t>Solo lo esperable</a:t>
            </a:r>
          </a:p>
          <a:p>
            <a:pPr algn="l">
              <a:lnSpc>
                <a:spcPct val="120000"/>
              </a:lnSpc>
              <a:spcBef>
                <a:spcPts val="700"/>
              </a:spcBef>
            </a:pPr>
            <a:r>
              <a:rPr sz="1518" b="0">
                <a:solidFill>
                  <a:srgbClr val="33475B"/>
                </a:solidFill>
                <a:latin typeface="Aptos"/>
              </a:rPr>
              <a:t>el caso de uso absorbe lo que la regla declara; el resto se propaga</a:t>
            </a:r>
          </a:p>
        </p:txBody>
      </p:sp>
      <p:sp>
        <p:nvSpPr>
          <p:cNvPr id="22" name="TextBox 21"/>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23" name="TextBox 22"/>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8 / 45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548640"/>
            <a:ext cx="9052560" cy="822960"/>
          </a:xfrm>
          <a:prstGeom prst="rect">
            <a:avLst/>
          </a:prstGeom>
          <a:noFill/>
        </p:spPr>
        <p:txBody>
          <a:bodyPr wrap="square" anchor="t" lIns="0" rIns="0" tIns="0" bIns="0">
            <a:spAutoFit/>
          </a:bodyPr>
          <a:lstStyle/>
          <a:p>
            <a:pPr algn="l"/>
            <a:r>
              <a:rPr sz="2200" b="1">
                <a:solidFill>
                  <a:srgbClr val="0E2841"/>
                </a:solidFill>
                <a:latin typeface="Aptos Display"/>
              </a:rPr>
              <a:t>El caso de uso CapturarEvidencia necesita una foto. ¿Dónde debe aparecer </a:t>
            </a:r>
            <a:r>
              <a:rPr sz="2068" b="1">
                <a:solidFill>
                  <a:srgbClr val="156082"/>
                </a:solidFill>
                <a:latin typeface="Consolas"/>
              </a:rPr>
              <a:t>import { Camera }</a:t>
            </a:r>
            <a:r>
              <a:rPr sz="2200" b="1">
                <a:solidFill>
                  <a:srgbClr val="0E2841"/>
                </a:solidFill>
                <a:latin typeface="Aptos Display"/>
              </a:rPr>
              <a:t> del plugin?</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En el caso de uso, porque es quien decide cuándo se toma la foto</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Solo en el adaptador de datos que implementa el puerto </a:t>
            </a:r>
            <a:r>
              <a:rPr sz="1974" b="0">
                <a:solidFill>
                  <a:srgbClr val="156082"/>
                </a:solidFill>
                <a:latin typeface="Consolas"/>
              </a:rPr>
              <a:t>Camara</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En el ViewModel, que coordina la pantalla con los plugins nativos</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En un servicio de </a:t>
            </a:r>
            <a:r>
              <a:rPr sz="1974" b="0">
                <a:solidFill>
                  <a:srgbClr val="156082"/>
                </a:solidFill>
                <a:latin typeface="Consolas"/>
              </a:rPr>
              <a:t>shared/</a:t>
            </a:r>
            <a:r>
              <a:rPr sz="2100" b="0">
                <a:solidFill>
                  <a:srgbClr val="0E2841"/>
                </a:solidFill>
                <a:latin typeface="Aptos"/>
              </a:rPr>
              <a:t> reutilizado por todas las features</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9 / 45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02</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Permisos just-in-time</a:t>
            </a:r>
          </a:p>
        </p:txBody>
      </p:sp>
      <p:sp>
        <p:nvSpPr>
          <p:cNvPr id="5" name="TextBox 4"/>
          <p:cNvSpPr txBox="1"/>
          <p:nvPr/>
        </p:nvSpPr>
        <p:spPr>
          <a:xfrm>
            <a:off x="1828800" y="4617720"/>
            <a:ext cx="8503920" cy="731520"/>
          </a:xfrm>
          <a:prstGeom prst="rect">
            <a:avLst/>
          </a:prstGeom>
          <a:noFill/>
        </p:spPr>
        <p:txBody>
          <a:bodyPr wrap="square" anchor="t" lIns="0" rIns="0" tIns="0" bIns="0">
            <a:spAutoFit/>
          </a:bodyPr>
          <a:lstStyle/>
          <a:p>
            <a:pPr algn="ctr"/>
            <a:r>
              <a:rPr sz="1600" b="0">
                <a:solidFill>
                  <a:srgbClr val="E8E8E8"/>
                </a:solidFill>
                <a:latin typeface="Aptos"/>
              </a:rPr>
              <a:t>Encuentro 3 · el mínimo, justo cuando se necesita y justificado</a:t>
            </a:r>
          </a:p>
        </p:txBody>
      </p:sp>
      <p:pic>
        <p:nvPicPr>
          <p:cNvPr id="6" name="Picture 5"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NATIVO, CALIDAD Y DESPLIEGUE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El permiso se pide al tocar el botón</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738274"/>
            <a:ext cx="2478024" cy="1507947"/>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738274"/>
            <a:ext cx="2478024"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130340"/>
            <a:ext cx="2185416" cy="1025404"/>
          </a:xfrm>
          <a:prstGeom prst="rect">
            <a:avLst/>
          </a:prstGeom>
          <a:noFill/>
        </p:spPr>
        <p:txBody>
          <a:bodyPr wrap="square" anchor="t" lIns="0" rIns="0" tIns="0" bIns="0">
            <a:spAutoFit/>
          </a:bodyPr>
          <a:lstStyle/>
          <a:p>
            <a:pPr algn="ctr"/>
            <a:r>
              <a:rPr sz="1643" b="1">
                <a:solidFill>
                  <a:srgbClr val="0E2841"/>
                </a:solidFill>
                <a:latin typeface="Aptos Display"/>
              </a:rPr>
              <a:t>Agregar evidencia</a:t>
            </a:r>
          </a:p>
          <a:p>
            <a:pPr algn="ctr">
              <a:lnSpc>
                <a:spcPct val="120000"/>
              </a:lnSpc>
              <a:spcBef>
                <a:spcPts val="700"/>
              </a:spcBef>
            </a:pPr>
            <a:r>
              <a:rPr sz="1272" b="0">
                <a:solidFill>
                  <a:srgbClr val="7A8B9E"/>
                </a:solidFill>
                <a:latin typeface="Aptos"/>
              </a:rPr>
              <a:t>el usuario toca el botón</a:t>
            </a:r>
          </a:p>
        </p:txBody>
      </p:sp>
      <p:sp>
        <p:nvSpPr>
          <p:cNvPr id="10" name="Chevron 9"/>
          <p:cNvSpPr/>
          <p:nvPr/>
        </p:nvSpPr>
        <p:spPr>
          <a:xfrm>
            <a:off x="3136392" y="2220817"/>
            <a:ext cx="201168" cy="542860"/>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29000" y="1738274"/>
            <a:ext cx="2478024" cy="1507947"/>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29000" y="1738274"/>
            <a:ext cx="2478024"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75304" y="2130340"/>
            <a:ext cx="2185416" cy="1025404"/>
          </a:xfrm>
          <a:prstGeom prst="rect">
            <a:avLst/>
          </a:prstGeom>
          <a:noFill/>
        </p:spPr>
        <p:txBody>
          <a:bodyPr wrap="square" anchor="t" lIns="0" rIns="0" tIns="0" bIns="0">
            <a:spAutoFit/>
          </a:bodyPr>
          <a:lstStyle/>
          <a:p>
            <a:pPr algn="ctr"/>
            <a:r>
              <a:rPr sz="1643" b="1">
                <a:solidFill>
                  <a:srgbClr val="0E2841"/>
                </a:solidFill>
                <a:latin typeface="Aptos Display"/>
              </a:rPr>
              <a:t>permiso()</a:t>
            </a:r>
          </a:p>
          <a:p>
            <a:pPr algn="ctr">
              <a:lnSpc>
                <a:spcPct val="120000"/>
              </a:lnSpc>
              <a:spcBef>
                <a:spcPts val="700"/>
              </a:spcBef>
            </a:pPr>
            <a:r>
              <a:rPr sz="1272" b="0">
                <a:solidFill>
                  <a:srgbClr val="7A8B9E"/>
                </a:solidFill>
                <a:latin typeface="Aptos"/>
              </a:rPr>
              <a:t>consulta el estado</a:t>
            </a:r>
          </a:p>
        </p:txBody>
      </p:sp>
      <p:sp>
        <p:nvSpPr>
          <p:cNvPr id="14" name="Chevron 13"/>
          <p:cNvSpPr/>
          <p:nvPr/>
        </p:nvSpPr>
        <p:spPr>
          <a:xfrm>
            <a:off x="5998464" y="2220817"/>
            <a:ext cx="201168" cy="542860"/>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91072" y="1738274"/>
            <a:ext cx="2478024" cy="1507947"/>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91072" y="1738274"/>
            <a:ext cx="2478024"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37376" y="2130340"/>
            <a:ext cx="2185416" cy="1025404"/>
          </a:xfrm>
          <a:prstGeom prst="rect">
            <a:avLst/>
          </a:prstGeom>
          <a:noFill/>
        </p:spPr>
        <p:txBody>
          <a:bodyPr wrap="square" anchor="t" lIns="0" rIns="0" tIns="0" bIns="0">
            <a:spAutoFit/>
          </a:bodyPr>
          <a:lstStyle/>
          <a:p>
            <a:pPr algn="ctr"/>
            <a:r>
              <a:rPr sz="1643" b="1">
                <a:solidFill>
                  <a:srgbClr val="0E2841"/>
                </a:solidFill>
                <a:latin typeface="Aptos Display"/>
              </a:rPr>
              <a:t>Pantalla propia</a:t>
            </a:r>
          </a:p>
          <a:p>
            <a:pPr algn="ctr">
              <a:lnSpc>
                <a:spcPct val="120000"/>
              </a:lnSpc>
              <a:spcBef>
                <a:spcPts val="700"/>
              </a:spcBef>
            </a:pPr>
            <a:r>
              <a:rPr sz="1272" b="0">
                <a:solidFill>
                  <a:srgbClr val="7A8B9E"/>
                </a:solidFill>
                <a:latin typeface="Aptos"/>
              </a:rPr>
              <a:t>¿para qué la cámara?</a:t>
            </a:r>
          </a:p>
        </p:txBody>
      </p:sp>
      <p:sp>
        <p:nvSpPr>
          <p:cNvPr id="18" name="Chevron 17"/>
          <p:cNvSpPr/>
          <p:nvPr/>
        </p:nvSpPr>
        <p:spPr>
          <a:xfrm>
            <a:off x="8860536" y="2220817"/>
            <a:ext cx="201168" cy="542860"/>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53144" y="1738274"/>
            <a:ext cx="2478024" cy="1507947"/>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53144" y="1738274"/>
            <a:ext cx="2478024"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99448" y="2130340"/>
            <a:ext cx="2185416" cy="1025404"/>
          </a:xfrm>
          <a:prstGeom prst="rect">
            <a:avLst/>
          </a:prstGeom>
          <a:noFill/>
        </p:spPr>
        <p:txBody>
          <a:bodyPr wrap="square" anchor="t" lIns="0" rIns="0" tIns="0" bIns="0">
            <a:spAutoFit/>
          </a:bodyPr>
          <a:lstStyle/>
          <a:p>
            <a:pPr algn="ctr"/>
            <a:r>
              <a:rPr sz="1643" b="1">
                <a:solidFill>
                  <a:srgbClr val="0E2841"/>
                </a:solidFill>
                <a:latin typeface="Aptos Display"/>
              </a:rPr>
              <a:t>Diálogo del SO</a:t>
            </a:r>
          </a:p>
          <a:p>
            <a:pPr algn="ctr">
              <a:lnSpc>
                <a:spcPct val="120000"/>
              </a:lnSpc>
              <a:spcBef>
                <a:spcPts val="700"/>
              </a:spcBef>
            </a:pPr>
            <a:r>
              <a:rPr sz="1272" b="0">
                <a:solidFill>
                  <a:srgbClr val="7A8B9E"/>
                </a:solidFill>
                <a:latin typeface="Aptos"/>
              </a:rPr>
              <a:t>si concede, tomarFoto()</a:t>
            </a:r>
          </a:p>
        </p:txBody>
      </p:sp>
      <p:graphicFrame>
        <p:nvGraphicFramePr>
          <p:cNvPr id="22" name="Table 21"/>
          <p:cNvGraphicFramePr>
            <a:graphicFrameLocks noGrp="1"/>
          </p:cNvGraphicFramePr>
          <p:nvPr/>
        </p:nvGraphicFramePr>
        <p:xfrm>
          <a:off x="566928" y="3612896"/>
          <a:ext cx="11064240" cy="2714750"/>
        </p:xfrm>
        <a:graphic>
          <a:graphicData uri="http://schemas.openxmlformats.org/drawingml/2006/table">
            <a:tbl>
              <a:tblPr firstRow="1">
                <a:tableStyleId>{5C22544A-7EE6-4342-B048-85BDC9FD1C3A}</a:tableStyleId>
              </a:tblPr>
              <a:tblGrid>
                <a:gridCol w="3688080"/>
                <a:gridCol w="3688080"/>
                <a:gridCol w="3688080"/>
              </a:tblGrid>
              <a:tr h="542950">
                <a:tc>
                  <a:txBody>
                    <a:bodyPr wrap="square"/>
                    <a:lstStyle/>
                    <a:p>
                      <a:r>
                        <a:rPr sz="1590" b="1">
                          <a:solidFill>
                            <a:srgbClr val="FFFFFF"/>
                          </a:solidFill>
                          <a:latin typeface="Aptos"/>
                        </a:rPr>
                        <a:t>Estado en Capacitor</a:t>
                      </a:r>
                    </a:p>
                  </a:txBody>
                  <a:tcPr anchor="ctr" marL="146304" marR="146304">
                    <a:solidFill>
                      <a:srgbClr val="156082"/>
                    </a:solidFill>
                  </a:tcPr>
                </a:tc>
                <a:tc>
                  <a:txBody>
                    <a:bodyPr wrap="square"/>
                    <a:lstStyle/>
                    <a:p>
                      <a:r>
                        <a:rPr sz="1590" b="1">
                          <a:solidFill>
                            <a:srgbClr val="FFFFFF"/>
                          </a:solidFill>
                          <a:latin typeface="Aptos"/>
                        </a:rPr>
                        <a:t>En el dominio</a:t>
                      </a:r>
                    </a:p>
                  </a:txBody>
                  <a:tcPr anchor="ctr" marL="146304" marR="146304">
                    <a:solidFill>
                      <a:srgbClr val="156082"/>
                    </a:solidFill>
                  </a:tcPr>
                </a:tc>
                <a:tc>
                  <a:txBody>
                    <a:bodyPr wrap="square"/>
                    <a:lstStyle/>
                    <a:p>
                      <a:r>
                        <a:rPr sz="1590" b="1">
                          <a:solidFill>
                            <a:srgbClr val="FFFFFF"/>
                          </a:solidFill>
                          <a:latin typeface="Aptos"/>
                        </a:rPr>
                        <a:t>Qué ve el usuario</a:t>
                      </a:r>
                    </a:p>
                  </a:txBody>
                  <a:tcPr anchor="ctr" marL="146304" marR="146304">
                    <a:solidFill>
                      <a:srgbClr val="156082"/>
                    </a:solidFill>
                  </a:tcPr>
                </a:tc>
              </a:tr>
              <a:tr h="542950">
                <a:tc>
                  <a:txBody>
                    <a:bodyPr wrap="square"/>
                    <a:lstStyle/>
                    <a:p>
                      <a:r>
                        <a:rPr sz="1394" b="1">
                          <a:solidFill>
                            <a:srgbClr val="156082"/>
                          </a:solidFill>
                          <a:latin typeface="Consolas"/>
                        </a:rPr>
                        <a:t>granted</a:t>
                      </a:r>
                      <a:r>
                        <a:rPr sz="1484" b="1">
                          <a:solidFill>
                            <a:srgbClr val="33475B"/>
                          </a:solidFill>
                          <a:latin typeface="Aptos"/>
                        </a:rPr>
                        <a:t> (o </a:t>
                      </a:r>
                      <a:r>
                        <a:rPr sz="1394" b="1">
                          <a:solidFill>
                            <a:srgbClr val="156082"/>
                          </a:solidFill>
                          <a:latin typeface="Consolas"/>
                        </a:rPr>
                        <a:t>limited</a:t>
                      </a:r>
                      <a:r>
                        <a:rPr sz="1484" b="1">
                          <a:solidFill>
                            <a:srgbClr val="33475B"/>
                          </a:solidFill>
                          <a:latin typeface="Aptos"/>
                        </a:rPr>
                        <a:t> en fotos de iOS)</a:t>
                      </a:r>
                    </a:p>
                  </a:txBody>
                  <a:tcPr anchor="ctr" marL="146304" marR="146304">
                    <a:solidFill>
                      <a:srgbClr val="FFFFFF"/>
                    </a:solidFill>
                  </a:tcPr>
                </a:tc>
                <a:tc>
                  <a:txBody>
                    <a:bodyPr wrap="square"/>
                    <a:lstStyle/>
                    <a:p>
                      <a:r>
                        <a:rPr sz="1394" b="0">
                          <a:solidFill>
                            <a:srgbClr val="156082"/>
                          </a:solidFill>
                          <a:latin typeface="Consolas"/>
                        </a:rPr>
                        <a:t>concedido</a:t>
                      </a:r>
                    </a:p>
                  </a:txBody>
                  <a:tcPr anchor="ctr" marL="146304" marR="146304">
                    <a:solidFill>
                      <a:srgbClr val="FFFFFF"/>
                    </a:solidFill>
                  </a:tcPr>
                </a:tc>
                <a:tc>
                  <a:txBody>
                    <a:bodyPr wrap="square"/>
                    <a:lstStyle/>
                    <a:p>
                      <a:r>
                        <a:rPr sz="1484" b="0">
                          <a:solidFill>
                            <a:srgbClr val="33475B"/>
                          </a:solidFill>
                          <a:latin typeface="Aptos"/>
                        </a:rPr>
                        <a:t>La función, sin interrupciones</a:t>
                      </a:r>
                    </a:p>
                  </a:txBody>
                  <a:tcPr anchor="ctr" marL="146304" marR="146304">
                    <a:solidFill>
                      <a:srgbClr val="FFFFFF"/>
                    </a:solidFill>
                  </a:tcPr>
                </a:tc>
              </a:tr>
              <a:tr h="542950">
                <a:tc>
                  <a:txBody>
                    <a:bodyPr wrap="square"/>
                    <a:lstStyle/>
                    <a:p>
                      <a:r>
                        <a:rPr sz="1394" b="1">
                          <a:solidFill>
                            <a:srgbClr val="156082"/>
                          </a:solidFill>
                          <a:latin typeface="Consolas"/>
                        </a:rPr>
                        <a:t>prompt</a:t>
                      </a:r>
                    </a:p>
                  </a:txBody>
                  <a:tcPr anchor="ctr" marL="146304" marR="146304">
                    <a:solidFill>
                      <a:srgbClr val="F4F7FA"/>
                    </a:solidFill>
                  </a:tcPr>
                </a:tc>
                <a:tc>
                  <a:txBody>
                    <a:bodyPr wrap="square"/>
                    <a:lstStyle/>
                    <a:p>
                      <a:r>
                        <a:rPr sz="1394" b="0">
                          <a:solidFill>
                            <a:srgbClr val="156082"/>
                          </a:solidFill>
                          <a:latin typeface="Consolas"/>
                        </a:rPr>
                        <a:t>preguntable</a:t>
                      </a:r>
                    </a:p>
                  </a:txBody>
                  <a:tcPr anchor="ctr" marL="146304" marR="146304">
                    <a:solidFill>
                      <a:srgbClr val="F4F7FA"/>
                    </a:solidFill>
                  </a:tcPr>
                </a:tc>
                <a:tc>
                  <a:txBody>
                    <a:bodyPr wrap="square"/>
                    <a:lstStyle/>
                    <a:p>
                      <a:r>
                        <a:rPr sz="1484" b="0">
                          <a:solidFill>
                            <a:srgbClr val="33475B"/>
                          </a:solidFill>
                          <a:latin typeface="Aptos"/>
                        </a:rPr>
                        <a:t>Tu justificación y luego el diálogo del sistema</a:t>
                      </a:r>
                    </a:p>
                  </a:txBody>
                  <a:tcPr anchor="ctr" marL="146304" marR="146304">
                    <a:solidFill>
                      <a:srgbClr val="F4F7FA"/>
                    </a:solidFill>
                  </a:tcPr>
                </a:tc>
              </a:tr>
              <a:tr h="542950">
                <a:tc>
                  <a:txBody>
                    <a:bodyPr wrap="square"/>
                    <a:lstStyle/>
                    <a:p>
                      <a:r>
                        <a:rPr sz="1394" b="1">
                          <a:solidFill>
                            <a:srgbClr val="156082"/>
                          </a:solidFill>
                          <a:latin typeface="Consolas"/>
                        </a:rPr>
                        <a:t>prompt-with-rationale</a:t>
                      </a:r>
                      <a:r>
                        <a:rPr sz="1484" b="1">
                          <a:solidFill>
                            <a:srgbClr val="33475B"/>
                          </a:solidFill>
                          <a:latin typeface="Aptos"/>
                        </a:rPr>
                        <a:t> (solo Android)</a:t>
                      </a:r>
                    </a:p>
                  </a:txBody>
                  <a:tcPr anchor="ctr" marL="146304" marR="146304">
                    <a:solidFill>
                      <a:srgbClr val="FFFFFF"/>
                    </a:solidFill>
                  </a:tcPr>
                </a:tc>
                <a:tc>
                  <a:txBody>
                    <a:bodyPr wrap="square"/>
                    <a:lstStyle/>
                    <a:p>
                      <a:r>
                        <a:rPr sz="1394" b="0">
                          <a:solidFill>
                            <a:srgbClr val="156082"/>
                          </a:solidFill>
                          <a:latin typeface="Consolas"/>
                        </a:rPr>
                        <a:t>preguntable</a:t>
                      </a:r>
                    </a:p>
                  </a:txBody>
                  <a:tcPr anchor="ctr" marL="146304" marR="146304">
                    <a:solidFill>
                      <a:srgbClr val="FFFFFF"/>
                    </a:solidFill>
                  </a:tcPr>
                </a:tc>
                <a:tc>
                  <a:txBody>
                    <a:bodyPr wrap="square"/>
                    <a:lstStyle/>
                    <a:p>
                      <a:r>
                        <a:rPr sz="1484" b="0">
                          <a:solidFill>
                            <a:srgbClr val="33475B"/>
                          </a:solidFill>
                          <a:latin typeface="Aptos"/>
                        </a:rPr>
                        <a:t>Ya negó una vez: justificación obligatoria y más concreta</a:t>
                      </a:r>
                    </a:p>
                  </a:txBody>
                  <a:tcPr anchor="ctr" marL="146304" marR="146304">
                    <a:solidFill>
                      <a:srgbClr val="FFFFFF"/>
                    </a:solidFill>
                  </a:tcPr>
                </a:tc>
              </a:tr>
              <a:tr h="542950">
                <a:tc>
                  <a:txBody>
                    <a:bodyPr wrap="square"/>
                    <a:lstStyle/>
                    <a:p>
                      <a:r>
                        <a:rPr sz="1394" b="1">
                          <a:solidFill>
                            <a:srgbClr val="156082"/>
                          </a:solidFill>
                          <a:latin typeface="Consolas"/>
                        </a:rPr>
                        <a:t>denied</a:t>
                      </a:r>
                    </a:p>
                  </a:txBody>
                  <a:tcPr anchor="ctr" marL="146304" marR="146304">
                    <a:solidFill>
                      <a:srgbClr val="F4F7FA"/>
                    </a:solidFill>
                  </a:tcPr>
                </a:tc>
                <a:tc>
                  <a:txBody>
                    <a:bodyPr wrap="square"/>
                    <a:lstStyle/>
                    <a:p>
                      <a:r>
                        <a:rPr sz="1394" b="0">
                          <a:solidFill>
                            <a:srgbClr val="156082"/>
                          </a:solidFill>
                          <a:latin typeface="Consolas"/>
                        </a:rPr>
                        <a:t>denegado</a:t>
                      </a:r>
                    </a:p>
                  </a:txBody>
                  <a:tcPr anchor="ctr" marL="146304" marR="146304">
                    <a:solidFill>
                      <a:srgbClr val="F4F7FA"/>
                    </a:solidFill>
                  </a:tcPr>
                </a:tc>
                <a:tc>
                  <a:txBody>
                    <a:bodyPr wrap="square"/>
                    <a:lstStyle/>
                    <a:p>
                      <a:r>
                        <a:rPr sz="1484" b="0">
                          <a:solidFill>
                            <a:srgbClr val="33475B"/>
                          </a:solidFill>
                          <a:latin typeface="Aptos"/>
                        </a:rPr>
                        <a:t>Qué se pierde y el botón «Abrir ajustes»</a:t>
                      </a:r>
                    </a:p>
                  </a:txBody>
                  <a:tcPr anchor="ctr" marL="146304" marR="146304">
                    <a:solidFill>
                      <a:srgbClr val="F4F7FA"/>
                    </a:solidFill>
                  </a:tcPr>
                </a:tc>
              </a:tr>
            </a:tbl>
          </a:graphicData>
        </a:graphic>
      </p:graphicFrame>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10 / 45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NATIVO, CALIDAD Y DESPLIEGUE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El ViewModel decide; la vista pinta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892808"/>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 y="1792224"/>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1755648"/>
            <a:ext cx="7315200" cy="237744"/>
          </a:xfrm>
          <a:prstGeom prst="rect">
            <a:avLst/>
          </a:prstGeom>
          <a:noFill/>
        </p:spPr>
        <p:txBody>
          <a:bodyPr wrap="square" anchor="t" lIns="0" rIns="0" tIns="0" bIns="0">
            <a:spAutoFit/>
          </a:bodyPr>
          <a:lstStyle/>
          <a:p>
            <a:pPr algn="l"/>
            <a:r>
              <a:rPr sz="1206" b="1">
                <a:solidFill>
                  <a:srgbClr val="E97132"/>
                </a:solidFill>
                <a:latin typeface="Aptos"/>
              </a:rPr>
              <a:t>REGISTRO-VISITA.VIEWMODEL.TS · ESTADO INMUTABLE</a:t>
            </a:r>
          </a:p>
        </p:txBody>
      </p:sp>
      <p:sp>
        <p:nvSpPr>
          <p:cNvPr id="10" name="TextBox 9"/>
          <p:cNvSpPr txBox="1"/>
          <p:nvPr/>
        </p:nvSpPr>
        <p:spPr>
          <a:xfrm>
            <a:off x="877824" y="2139696"/>
            <a:ext cx="10515600" cy="1161288"/>
          </a:xfrm>
          <a:prstGeom prst="rect">
            <a:avLst/>
          </a:prstGeom>
          <a:noFill/>
        </p:spPr>
        <p:txBody>
          <a:bodyPr wrap="none" lIns="0" tIns="0">
            <a:spAutoFit/>
          </a:bodyPr>
          <a:lstStyle/>
          <a:p>
            <a:pPr>
              <a:lnSpc>
                <a:spcPct val="125000"/>
              </a:lnSpc>
            </a:pPr>
            <a:r>
              <a:rPr sz="1521">
                <a:solidFill>
                  <a:srgbClr val="E8E8E8"/>
                </a:solidFill>
                <a:latin typeface="Consolas"/>
              </a:rPr>
              <a:t>export type EstadoCaptura = { tipo: 'inicial' } | { tipo: 'capturando' }</a:t>
            </a:r>
          </a:p>
          <a:p>
            <a:pPr>
              <a:lnSpc>
                <a:spcPct val="125000"/>
              </a:lnSpc>
            </a:pPr>
            <a:r>
              <a:rPr sz="1521">
                <a:solidFill>
                  <a:srgbClr val="E8E8E8"/>
                </a:solidFill>
                <a:latin typeface="Consolas"/>
              </a:rPr>
              <a:t>  | { tipo: 'justificar'; recurso: Recurso } | { tipo: 'lista'; evidencia: Evidencia }</a:t>
            </a:r>
          </a:p>
          <a:p>
            <a:pPr>
              <a:lnSpc>
                <a:spcPct val="125000"/>
              </a:lnSpc>
            </a:pPr>
            <a:r>
              <a:rPr sz="1521">
                <a:solidFill>
                  <a:srgbClr val="E8E8E8"/>
                </a:solidFill>
                <a:latin typeface="Consolas"/>
              </a:rPr>
              <a:t>  | { tipo: 'error'; mensaje: string }</a:t>
            </a:r>
          </a:p>
          <a:p>
            <a:pPr>
              <a:lnSpc>
                <a:spcPct val="125000"/>
              </a:lnSpc>
            </a:pPr>
            <a:r>
              <a:rPr sz="1521">
                <a:solidFill>
                  <a:srgbClr val="E8E8E8"/>
                </a:solidFill>
                <a:latin typeface="Consolas"/>
              </a:rPr>
              <a:t>  | { tipo: 'sin-permiso'; recurso: Recurso; definitivo: boolean };</a:t>
            </a:r>
          </a:p>
        </p:txBody>
      </p:sp>
      <p:sp>
        <p:nvSpPr>
          <p:cNvPr id="11" name="Rounded Rectangle 10"/>
          <p:cNvSpPr/>
          <p:nvPr/>
        </p:nvSpPr>
        <p:spPr>
          <a:xfrm>
            <a:off x="566928" y="3666744"/>
            <a:ext cx="11064240" cy="2660904"/>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1248" y="3886200"/>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552" y="3849624"/>
            <a:ext cx="7315200" cy="237744"/>
          </a:xfrm>
          <a:prstGeom prst="rect">
            <a:avLst/>
          </a:prstGeom>
          <a:noFill/>
        </p:spPr>
        <p:txBody>
          <a:bodyPr wrap="square" anchor="t" lIns="0" rIns="0" tIns="0" bIns="0">
            <a:spAutoFit/>
          </a:bodyPr>
          <a:lstStyle/>
          <a:p>
            <a:pPr algn="l"/>
            <a:r>
              <a:rPr sz="1206" b="1">
                <a:solidFill>
                  <a:srgbClr val="E97132"/>
                </a:solidFill>
                <a:latin typeface="Aptos"/>
              </a:rPr>
              <a:t>AGREGAREVIDENCIA(): JUSTIFICAR ANTES DEL DIÁLOGO DEL SO</a:t>
            </a:r>
          </a:p>
        </p:txBody>
      </p:sp>
      <p:sp>
        <p:nvSpPr>
          <p:cNvPr id="14" name="TextBox 13"/>
          <p:cNvSpPr txBox="1"/>
          <p:nvPr/>
        </p:nvSpPr>
        <p:spPr>
          <a:xfrm>
            <a:off x="877824" y="4233672"/>
            <a:ext cx="10515600" cy="1929384"/>
          </a:xfrm>
          <a:prstGeom prst="rect">
            <a:avLst/>
          </a:prstGeom>
          <a:noFill/>
        </p:spPr>
        <p:txBody>
          <a:bodyPr wrap="none" lIns="0" tIns="0">
            <a:spAutoFit/>
          </a:bodyPr>
          <a:lstStyle/>
          <a:p>
            <a:pPr>
              <a:lnSpc>
                <a:spcPct val="125000"/>
              </a:lnSpc>
            </a:pPr>
            <a:r>
              <a:rPr sz="1521">
                <a:solidFill>
                  <a:srgbClr val="E8E8E8"/>
                </a:solidFill>
                <a:latin typeface="Consolas"/>
              </a:rPr>
              <a:t>private readonly camara = inject(CAMARA);         // puerto del dominio: permitido</a:t>
            </a:r>
          </a:p>
          <a:p>
            <a:pPr>
              <a:lnSpc>
                <a:spcPct val="125000"/>
              </a:lnSpc>
            </a:pPr>
            <a:r>
              <a:rPr sz="1521">
                <a:solidFill>
                  <a:srgbClr val="E8E8E8"/>
                </a:solidFill>
                <a:latin typeface="Consolas"/>
              </a:rPr>
              <a:t>readonly estado = this._estado.asReadonly();      // la vista lee, nunca escribe</a:t>
            </a:r>
          </a:p>
          <a:p>
            <a:pPr>
              <a:lnSpc>
                <a:spcPct val="125000"/>
              </a:lnSpc>
            </a:pPr>
            <a:r>
              <a:rPr sz="1521">
                <a:solidFill>
                  <a:srgbClr val="E8E8E8"/>
                </a:solidFill>
                <a:latin typeface="Consolas"/>
              </a:rPr>
              <a:t>async agregarEvidencia(): Promise&lt;void&gt; {</a:t>
            </a:r>
          </a:p>
          <a:p>
            <a:pPr>
              <a:lnSpc>
                <a:spcPct val="125000"/>
              </a:lnSpc>
            </a:pPr>
            <a:r>
              <a:rPr sz="1521">
                <a:solidFill>
                  <a:srgbClr val="E8E8E8"/>
                </a:solidFill>
                <a:latin typeface="Consolas"/>
              </a:rPr>
              <a:t>  if ((await this.camara.permiso()) === 'preguntable')</a:t>
            </a:r>
          </a:p>
          <a:p>
            <a:pPr>
              <a:lnSpc>
                <a:spcPct val="125000"/>
              </a:lnSpc>
            </a:pPr>
            <a:r>
              <a:rPr sz="1521">
                <a:solidFill>
                  <a:srgbClr val="E8E8E8"/>
                </a:solidFill>
                <a:latin typeface="Consolas"/>
              </a:rPr>
              <a:t>    this._estado.set({ tipo: 'justificar', recurso: 'camara' });</a:t>
            </a:r>
          </a:p>
          <a:p>
            <a:pPr>
              <a:lnSpc>
                <a:spcPct val="125000"/>
              </a:lnSpc>
            </a:pPr>
            <a:r>
              <a:rPr sz="1521">
                <a:solidFill>
                  <a:srgbClr val="E8E8E8"/>
                </a:solidFill>
                <a:latin typeface="Consolas"/>
              </a:rPr>
              <a:t>  else await this.capturarAhora();                // ya concedido o denegado</a:t>
            </a:r>
          </a:p>
          <a:p>
            <a:pPr>
              <a:lnSpc>
                <a:spcPct val="125000"/>
              </a:lnSpc>
            </a:pPr>
            <a:r>
              <a:rPr sz="1521">
                <a:solidFill>
                  <a:srgbClr val="E8E8E8"/>
                </a:solidFill>
                <a:latin typeface="Consolas"/>
              </a:rPr>
              <a:t>}</a:t>
            </a:r>
          </a:p>
        </p:txBody>
      </p:sp>
      <p:sp>
        <p:nvSpPr>
          <p:cNvPr id="15" name="TextBox 14"/>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16" name="TextBox 15"/>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11 / 45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NATIVO, CALIDAD Y DESPLIEGUE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Se declara solo lo que la app usa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2531581"/>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 y="1792224"/>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1755648"/>
            <a:ext cx="7315200" cy="237744"/>
          </a:xfrm>
          <a:prstGeom prst="rect">
            <a:avLst/>
          </a:prstGeom>
          <a:noFill/>
        </p:spPr>
        <p:txBody>
          <a:bodyPr wrap="square" anchor="t" lIns="0" rIns="0" tIns="0" bIns="0">
            <a:spAutoFit/>
          </a:bodyPr>
          <a:lstStyle/>
          <a:p>
            <a:pPr algn="l"/>
            <a:r>
              <a:rPr sz="1252" b="1">
                <a:solidFill>
                  <a:srgbClr val="E97132"/>
                </a:solidFill>
                <a:latin typeface="Aptos"/>
              </a:rPr>
              <a:t>ANDROID/APP/SRC/MAIN/ANDROIDMANIFEST.XML</a:t>
            </a:r>
          </a:p>
        </p:txBody>
      </p:sp>
      <p:sp>
        <p:nvSpPr>
          <p:cNvPr id="10" name="TextBox 9"/>
          <p:cNvSpPr txBox="1"/>
          <p:nvPr/>
        </p:nvSpPr>
        <p:spPr>
          <a:xfrm>
            <a:off x="877824" y="2139696"/>
            <a:ext cx="10515600" cy="1800061"/>
          </a:xfrm>
          <a:prstGeom prst="rect">
            <a:avLst/>
          </a:prstGeom>
          <a:noFill/>
        </p:spPr>
        <p:txBody>
          <a:bodyPr wrap="none" lIns="0" tIns="0">
            <a:spAutoFit/>
          </a:bodyPr>
          <a:lstStyle/>
          <a:p>
            <a:pPr>
              <a:lnSpc>
                <a:spcPct val="125000"/>
              </a:lnSpc>
            </a:pPr>
            <a:r>
              <a:rPr sz="1579">
                <a:solidFill>
                  <a:srgbClr val="E8E8E8"/>
                </a:solidFill>
                <a:latin typeface="Consolas"/>
              </a:rPr>
              <a:t>&lt;uses-permission android:name="android.permission.CAMERA" /&gt;</a:t>
            </a:r>
          </a:p>
          <a:p>
            <a:pPr>
              <a:lnSpc>
                <a:spcPct val="125000"/>
              </a:lnSpc>
            </a:pPr>
            <a:r>
              <a:rPr sz="1579">
                <a:solidFill>
                  <a:srgbClr val="E8E8E8"/>
                </a:solidFill>
                <a:latin typeface="Consolas"/>
              </a:rPr>
              <a:t>&lt;uses-permission android:name="android.permission.ACCESS_COARSE_LOCATION" /&gt;</a:t>
            </a:r>
          </a:p>
          <a:p>
            <a:pPr>
              <a:lnSpc>
                <a:spcPct val="125000"/>
              </a:lnSpc>
            </a:pPr>
            <a:r>
              <a:rPr sz="1579">
                <a:solidFill>
                  <a:srgbClr val="E8E8E8"/>
                </a:solidFill>
                <a:latin typeface="Consolas"/>
              </a:rPr>
              <a:t>&lt;uses-permission android:name="android.permission.ACCESS_FINE_LOCATION" /&gt;</a:t>
            </a:r>
          </a:p>
          <a:p>
            <a:pPr>
              <a:lnSpc>
                <a:spcPct val="125000"/>
              </a:lnSpc>
            </a:pPr>
            <a:r>
              <a:rPr sz="1579">
                <a:solidFill>
                  <a:srgbClr val="E8E8E8"/>
                </a:solidFill>
                <a:latin typeface="Consolas"/>
              </a:rPr>
              <a:t>&lt;uses-feature android:name="android.hardware.location.gps"</a:t>
            </a:r>
          </a:p>
          <a:p>
            <a:pPr>
              <a:lnSpc>
                <a:spcPct val="125000"/>
              </a:lnSpc>
            </a:pPr>
            <a:r>
              <a:rPr sz="1579">
                <a:solidFill>
                  <a:srgbClr val="E8E8E8"/>
                </a:solidFill>
                <a:latin typeface="Consolas"/>
              </a:rPr>
              <a:t>              android:required="false" /&gt;</a:t>
            </a:r>
          </a:p>
          <a:p>
            <a:pPr>
              <a:lnSpc>
                <a:spcPct val="125000"/>
              </a:lnSpc>
            </a:pPr>
            <a:r>
              <a:rPr sz="1579">
                <a:solidFill>
                  <a:srgbClr val="E8E8E8"/>
                </a:solidFill>
                <a:latin typeface="Consolas"/>
              </a:rPr>
              <a:t>&lt;!-- NO: ACCESS_BACKGROUND_LOCATION, READ_CONTACTS ni nada «por si acaso» --&gt;</a:t>
            </a:r>
          </a:p>
        </p:txBody>
      </p:sp>
      <p:graphicFrame>
        <p:nvGraphicFramePr>
          <p:cNvPr id="11" name="Table 10"/>
          <p:cNvGraphicFramePr>
            <a:graphicFrameLocks noGrp="1"/>
          </p:cNvGraphicFramePr>
          <p:nvPr/>
        </p:nvGraphicFramePr>
        <p:xfrm>
          <a:off x="566928" y="4305517"/>
          <a:ext cx="11064240" cy="2022129"/>
        </p:xfrm>
        <a:graphic>
          <a:graphicData uri="http://schemas.openxmlformats.org/drawingml/2006/table">
            <a:tbl>
              <a:tblPr firstRow="1">
                <a:tableStyleId>{5C22544A-7EE6-4342-B048-85BDC9FD1C3A}</a:tableStyleId>
              </a:tblPr>
              <a:tblGrid>
                <a:gridCol w="5532120"/>
                <a:gridCol w="5532120"/>
              </a:tblGrid>
              <a:tr h="674043">
                <a:tc>
                  <a:txBody>
                    <a:bodyPr wrap="square"/>
                    <a:lstStyle/>
                    <a:p>
                      <a:r>
                        <a:rPr sz="1633" b="1">
                          <a:solidFill>
                            <a:srgbClr val="FFFFFF"/>
                          </a:solidFill>
                          <a:latin typeface="Aptos"/>
                        </a:rPr>
                        <a:t>Clave en </a:t>
                      </a:r>
                      <a:r>
                        <a:rPr sz="1535" b="1">
                          <a:solidFill>
                            <a:srgbClr val="156082"/>
                          </a:solidFill>
                          <a:latin typeface="Consolas"/>
                        </a:rPr>
                        <a:t>ios/App/App/Info.plist</a:t>
                      </a:r>
                    </a:p>
                  </a:txBody>
                  <a:tcPr anchor="ctr" marL="146304" marR="146304">
                    <a:solidFill>
                      <a:srgbClr val="156082"/>
                    </a:solidFill>
                  </a:tcPr>
                </a:tc>
                <a:tc>
                  <a:txBody>
                    <a:bodyPr wrap="square"/>
                    <a:lstStyle/>
                    <a:p>
                      <a:r>
                        <a:rPr sz="1633" b="1">
                          <a:solidFill>
                            <a:srgbClr val="FFFFFF"/>
                          </a:solidFill>
                          <a:latin typeface="Aptos"/>
                        </a:rPr>
                        <a:t>Texto que el sistema muestra en el diálogo</a:t>
                      </a:r>
                    </a:p>
                  </a:txBody>
                  <a:tcPr anchor="ctr" marL="146304" marR="146304">
                    <a:solidFill>
                      <a:srgbClr val="156082"/>
                    </a:solidFill>
                  </a:tcPr>
                </a:tc>
              </a:tr>
              <a:tr h="674043">
                <a:tc>
                  <a:txBody>
                    <a:bodyPr wrap="square"/>
                    <a:lstStyle/>
                    <a:p>
                      <a:r>
                        <a:rPr sz="1433" b="1">
                          <a:solidFill>
                            <a:srgbClr val="156082"/>
                          </a:solidFill>
                          <a:latin typeface="Consolas"/>
                        </a:rPr>
                        <a:t>NSCameraUsageDescription</a:t>
                      </a:r>
                    </a:p>
                  </a:txBody>
                  <a:tcPr anchor="ctr" marL="146304" marR="146304">
                    <a:solidFill>
                      <a:srgbClr val="FFFFFF"/>
                    </a:solidFill>
                  </a:tcPr>
                </a:tc>
                <a:tc>
                  <a:txBody>
                    <a:bodyPr wrap="square"/>
                    <a:lstStyle/>
                    <a:p>
                      <a:r>
                        <a:rPr sz="1524" b="0">
                          <a:solidFill>
                            <a:srgbClr val="33475B"/>
                          </a:solidFill>
                          <a:latin typeface="Aptos"/>
                        </a:rPr>
                        <a:t>«Bitácora usa la cámara para adjuntar la foto de evidencia de cada visita técnica.»</a:t>
                      </a:r>
                    </a:p>
                  </a:txBody>
                  <a:tcPr anchor="ctr" marL="146304" marR="146304">
                    <a:solidFill>
                      <a:srgbClr val="FFFFFF"/>
                    </a:solidFill>
                  </a:tcPr>
                </a:tc>
              </a:tr>
              <a:tr h="674043">
                <a:tc>
                  <a:txBody>
                    <a:bodyPr wrap="square"/>
                    <a:lstStyle/>
                    <a:p>
                      <a:r>
                        <a:rPr sz="1433" b="1">
                          <a:solidFill>
                            <a:srgbClr val="156082"/>
                          </a:solidFill>
                          <a:latin typeface="Consolas"/>
                        </a:rPr>
                        <a:t>NSLocationWhenInUseUsageDescription</a:t>
                      </a:r>
                    </a:p>
                  </a:txBody>
                  <a:tcPr anchor="ctr" marL="146304" marR="146304">
                    <a:solidFill>
                      <a:srgbClr val="F4F7FA"/>
                    </a:solidFill>
                  </a:tcPr>
                </a:tc>
                <a:tc>
                  <a:txBody>
                    <a:bodyPr wrap="square"/>
                    <a:lstStyle/>
                    <a:p>
                      <a:r>
                        <a:rPr sz="1524" b="0">
                          <a:solidFill>
                            <a:srgbClr val="33475B"/>
                          </a:solidFill>
                          <a:latin typeface="Aptos"/>
                        </a:rPr>
                        <a:t>«Bitácora registra dónde se hizo la visita, solo mientras la estás registrando.»</a:t>
                      </a:r>
                    </a:p>
                  </a:txBody>
                  <a:tcPr anchor="ctr" marL="146304" marR="146304">
                    <a:solidFill>
                      <a:srgbClr val="F4F7FA"/>
                    </a:solidFill>
                  </a:tcPr>
                </a:tc>
              </a:tr>
            </a:tbl>
          </a:graphicData>
        </a:graphic>
      </p:graphicFrame>
      <p:sp>
        <p:nvSpPr>
          <p:cNvPr id="12" name="TextBox 11"/>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13" name="TextBox 12"/>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12 / 45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NATIVO, CALIDAD Y DESPLIEGUE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Android e iOS no preguntan igual</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9"/>
        </p:xfrm>
        <a:graphic>
          <a:graphicData uri="http://schemas.openxmlformats.org/drawingml/2006/table">
            <a:tbl>
              <a:tblPr firstRow="1">
                <a:tableStyleId>{5C22544A-7EE6-4342-B048-85BDC9FD1C3A}</a:tableStyleId>
              </a:tblPr>
              <a:tblGrid>
                <a:gridCol w="3688080"/>
                <a:gridCol w="3688080"/>
                <a:gridCol w="3688080"/>
              </a:tblGrid>
              <a:tr h="624927">
                <a:tc>
                  <a:txBody>
                    <a:bodyPr wrap="square"/>
                    <a:lstStyle/>
                    <a:p>
                      <a:r>
                        <a:rPr sz="1688" b="1">
                          <a:solidFill>
                            <a:srgbClr val="FFFFFF"/>
                          </a:solidFill>
                          <a:latin typeface="Aptos"/>
                        </a:rPr>
                        <a:t>Aspecto</a:t>
                      </a:r>
                    </a:p>
                  </a:txBody>
                  <a:tcPr anchor="ctr" marL="146304" marR="146304">
                    <a:solidFill>
                      <a:srgbClr val="156082"/>
                    </a:solidFill>
                  </a:tcPr>
                </a:tc>
                <a:tc>
                  <a:txBody>
                    <a:bodyPr wrap="square"/>
                    <a:lstStyle/>
                    <a:p>
                      <a:r>
                        <a:rPr sz="1688" b="1">
                          <a:solidFill>
                            <a:srgbClr val="FFFFFF"/>
                          </a:solidFill>
                          <a:latin typeface="Aptos"/>
                        </a:rPr>
                        <a:t>Android</a:t>
                      </a:r>
                    </a:p>
                  </a:txBody>
                  <a:tcPr anchor="ctr" marL="146304" marR="146304">
                    <a:solidFill>
                      <a:srgbClr val="156082"/>
                    </a:solidFill>
                  </a:tcPr>
                </a:tc>
                <a:tc>
                  <a:txBody>
                    <a:bodyPr wrap="square"/>
                    <a:lstStyle/>
                    <a:p>
                      <a:r>
                        <a:rPr sz="1688" b="1">
                          <a:solidFill>
                            <a:srgbClr val="FFFFFF"/>
                          </a:solidFill>
                          <a:latin typeface="Aptos"/>
                        </a:rPr>
                        <a:t>iOS</a:t>
                      </a:r>
                    </a:p>
                  </a:txBody>
                  <a:tcPr anchor="ctr" marL="146304" marR="146304">
                    <a:solidFill>
                      <a:srgbClr val="156082"/>
                    </a:solidFill>
                  </a:tcPr>
                </a:tc>
              </a:tr>
              <a:tr h="624927">
                <a:tc>
                  <a:txBody>
                    <a:bodyPr wrap="square"/>
                    <a:lstStyle/>
                    <a:p>
                      <a:r>
                        <a:rPr sz="1576" b="1">
                          <a:solidFill>
                            <a:srgbClr val="33475B"/>
                          </a:solidFill>
                          <a:latin typeface="Aptos"/>
                        </a:rPr>
                        <a:t>Declaración</a:t>
                      </a:r>
                    </a:p>
                  </a:txBody>
                  <a:tcPr anchor="ctr" marL="146304" marR="146304">
                    <a:solidFill>
                      <a:srgbClr val="FFFFFF"/>
                    </a:solidFill>
                  </a:tcPr>
                </a:tc>
                <a:tc>
                  <a:txBody>
                    <a:bodyPr wrap="square"/>
                    <a:lstStyle/>
                    <a:p>
                      <a:r>
                        <a:rPr sz="1481" b="0">
                          <a:solidFill>
                            <a:srgbClr val="156082"/>
                          </a:solidFill>
                          <a:latin typeface="Consolas"/>
                        </a:rPr>
                        <a:t>&lt;uses-permission&gt;</a:t>
                      </a:r>
                      <a:r>
                        <a:rPr sz="1576" b="0">
                          <a:solidFill>
                            <a:srgbClr val="33475B"/>
                          </a:solidFill>
                          <a:latin typeface="Aptos"/>
                        </a:rPr>
                        <a:t> en el manifest</a:t>
                      </a:r>
                    </a:p>
                  </a:txBody>
                  <a:tcPr anchor="ctr" marL="146304" marR="146304">
                    <a:solidFill>
                      <a:srgbClr val="FFFFFF"/>
                    </a:solidFill>
                  </a:tcPr>
                </a:tc>
                <a:tc>
                  <a:txBody>
                    <a:bodyPr wrap="square"/>
                    <a:lstStyle/>
                    <a:p>
                      <a:r>
                        <a:rPr sz="1576" b="0">
                          <a:solidFill>
                            <a:srgbClr val="33475B"/>
                          </a:solidFill>
                          <a:latin typeface="Aptos"/>
                        </a:rPr>
                        <a:t>Clave </a:t>
                      </a:r>
                      <a:r>
                        <a:rPr sz="1481" b="0">
                          <a:solidFill>
                            <a:srgbClr val="156082"/>
                          </a:solidFill>
                          <a:latin typeface="Consolas"/>
                        </a:rPr>
                        <a:t>NS…UsageDescription</a:t>
                      </a:r>
                      <a:r>
                        <a:rPr sz="1576" b="0">
                          <a:solidFill>
                            <a:srgbClr val="33475B"/>
                          </a:solidFill>
                          <a:latin typeface="Aptos"/>
                        </a:rPr>
                        <a:t>; si falta, la app se cierra</a:t>
                      </a:r>
                    </a:p>
                  </a:txBody>
                  <a:tcPr anchor="ctr" marL="146304" marR="146304">
                    <a:solidFill>
                      <a:srgbClr val="FFFFFF"/>
                    </a:solidFill>
                  </a:tcPr>
                </a:tc>
              </a:tr>
              <a:tr h="624927">
                <a:tc>
                  <a:txBody>
                    <a:bodyPr wrap="square"/>
                    <a:lstStyle/>
                    <a:p>
                      <a:r>
                        <a:rPr sz="1576" b="1">
                          <a:solidFill>
                            <a:srgbClr val="33475B"/>
                          </a:solidFill>
                          <a:latin typeface="Aptos"/>
                        </a:rPr>
                        <a:t>Texto del diálogo</a:t>
                      </a:r>
                    </a:p>
                  </a:txBody>
                  <a:tcPr anchor="ctr" marL="146304" marR="146304">
                    <a:solidFill>
                      <a:srgbClr val="F4F7FA"/>
                    </a:solidFill>
                  </a:tcPr>
                </a:tc>
                <a:tc>
                  <a:txBody>
                    <a:bodyPr wrap="square"/>
                    <a:lstStyle/>
                    <a:p>
                      <a:r>
                        <a:rPr sz="1576" b="0">
                          <a:solidFill>
                            <a:srgbClr val="33475B"/>
                          </a:solidFill>
                          <a:latin typeface="Aptos"/>
                        </a:rPr>
                        <a:t>Lo redacta el sistema; tu justificación va aparte</a:t>
                      </a:r>
                    </a:p>
                  </a:txBody>
                  <a:tcPr anchor="ctr" marL="146304" marR="146304">
                    <a:solidFill>
                      <a:srgbClr val="F4F7FA"/>
                    </a:solidFill>
                  </a:tcPr>
                </a:tc>
                <a:tc>
                  <a:txBody>
                    <a:bodyPr wrap="square"/>
                    <a:lstStyle/>
                    <a:p>
                      <a:r>
                        <a:rPr sz="1576" b="0">
                          <a:solidFill>
                            <a:srgbClr val="33475B"/>
                          </a:solidFill>
                          <a:latin typeface="Aptos"/>
                        </a:rPr>
                        <a:t>El sistema muestra </a:t>
                      </a:r>
                      <a:r>
                        <a:rPr sz="1576" b="1">
                          <a:solidFill>
                            <a:srgbClr val="33475B"/>
                          </a:solidFill>
                          <a:latin typeface="Aptos"/>
                        </a:rPr>
                        <a:t>tu</a:t>
                      </a:r>
                      <a:r>
                        <a:rPr sz="1576" b="0">
                          <a:solidFill>
                            <a:srgbClr val="33475B"/>
                          </a:solidFill>
                          <a:latin typeface="Aptos"/>
                        </a:rPr>
                        <a:t> texto del plist</a:t>
                      </a:r>
                    </a:p>
                  </a:txBody>
                  <a:tcPr anchor="ctr" marL="146304" marR="146304">
                    <a:solidFill>
                      <a:srgbClr val="F4F7FA"/>
                    </a:solidFill>
                  </a:tcPr>
                </a:tc>
              </a:tr>
              <a:tr h="624927">
                <a:tc>
                  <a:txBody>
                    <a:bodyPr wrap="square"/>
                    <a:lstStyle/>
                    <a:p>
                      <a:r>
                        <a:rPr sz="1576" b="1">
                          <a:solidFill>
                            <a:srgbClr val="33475B"/>
                          </a:solidFill>
                          <a:latin typeface="Aptos"/>
                        </a:rPr>
                        <a:t>Permisos «normales»</a:t>
                      </a:r>
                    </a:p>
                  </a:txBody>
                  <a:tcPr anchor="ctr" marL="146304" marR="146304">
                    <a:solidFill>
                      <a:srgbClr val="FFFFFF"/>
                    </a:solidFill>
                  </a:tcPr>
                </a:tc>
                <a:tc>
                  <a:txBody>
                    <a:bodyPr wrap="square"/>
                    <a:lstStyle/>
                    <a:p>
                      <a:r>
                        <a:rPr sz="1576" b="0">
                          <a:solidFill>
                            <a:srgbClr val="33475B"/>
                          </a:solidFill>
                          <a:latin typeface="Aptos"/>
                        </a:rPr>
                        <a:t>Se conceden al instalar (red, vibración, </a:t>
                      </a:r>
                      <a:r>
                        <a:rPr sz="1481" b="0">
                          <a:solidFill>
                            <a:srgbClr val="156082"/>
                          </a:solidFill>
                          <a:latin typeface="Consolas"/>
                        </a:rPr>
                        <a:t>USE_BIOMETRIC</a:t>
                      </a:r>
                      <a:r>
                        <a:rPr sz="1576" b="0">
                          <a:solidFill>
                            <a:srgbClr val="33475B"/>
                          </a:solidFill>
                          <a:latin typeface="Aptos"/>
                        </a:rPr>
                        <a:t>)</a:t>
                      </a:r>
                    </a:p>
                  </a:txBody>
                  <a:tcPr anchor="ctr" marL="146304" marR="146304">
                    <a:solidFill>
                      <a:srgbClr val="FFFFFF"/>
                    </a:solidFill>
                  </a:tcPr>
                </a:tc>
                <a:tc>
                  <a:txBody>
                    <a:bodyPr wrap="square"/>
                    <a:lstStyle/>
                    <a:p>
                      <a:r>
                        <a:rPr sz="1576" b="0">
                          <a:solidFill>
                            <a:srgbClr val="33475B"/>
                          </a:solidFill>
                          <a:latin typeface="Aptos"/>
                        </a:rPr>
                        <a:t>No existe esa categoría para recursos sensibles</a:t>
                      </a:r>
                    </a:p>
                  </a:txBody>
                  <a:tcPr anchor="ctr" marL="146304" marR="146304">
                    <a:solidFill>
                      <a:srgbClr val="FFFFFF"/>
                    </a:solidFill>
                  </a:tcPr>
                </a:tc>
              </a:tr>
              <a:tr h="624927">
                <a:tc>
                  <a:txBody>
                    <a:bodyPr wrap="square"/>
                    <a:lstStyle/>
                    <a:p>
                      <a:r>
                        <a:rPr sz="1576" b="1">
                          <a:solidFill>
                            <a:srgbClr val="33475B"/>
                          </a:solidFill>
                          <a:latin typeface="Aptos"/>
                        </a:rPr>
                        <a:t>Volver a preguntar</a:t>
                      </a:r>
                    </a:p>
                  </a:txBody>
                  <a:tcPr anchor="ctr" marL="146304" marR="146304">
                    <a:solidFill>
                      <a:srgbClr val="F4F7FA"/>
                    </a:solidFill>
                  </a:tcPr>
                </a:tc>
                <a:tc>
                  <a:txBody>
                    <a:bodyPr wrap="square"/>
                    <a:lstStyle/>
                    <a:p>
                      <a:r>
                        <a:rPr sz="1576" b="0">
                          <a:solidFill>
                            <a:srgbClr val="33475B"/>
                          </a:solidFill>
                          <a:latin typeface="Aptos"/>
                        </a:rPr>
                        <a:t>Tras dos negativas (11+) el diálogo ya no aparece</a:t>
                      </a:r>
                    </a:p>
                  </a:txBody>
                  <a:tcPr anchor="ctr" marL="146304" marR="146304">
                    <a:solidFill>
                      <a:srgbClr val="F4F7FA"/>
                    </a:solidFill>
                  </a:tcPr>
                </a:tc>
                <a:tc>
                  <a:txBody>
                    <a:bodyPr wrap="square"/>
                    <a:lstStyle/>
                    <a:p>
                      <a:r>
                        <a:rPr sz="1576" b="0">
                          <a:solidFill>
                            <a:srgbClr val="33475B"/>
                          </a:solidFill>
                          <a:latin typeface="Aptos"/>
                        </a:rPr>
                        <a:t>Aparece una sola vez; después, solo Ajustes</a:t>
                      </a:r>
                    </a:p>
                  </a:txBody>
                  <a:tcPr anchor="ctr" marL="146304" marR="146304">
                    <a:solidFill>
                      <a:srgbClr val="F4F7FA"/>
                    </a:solidFill>
                  </a:tcPr>
                </a:tc>
              </a:tr>
              <a:tr h="624927">
                <a:tc>
                  <a:txBody>
                    <a:bodyPr wrap="square"/>
                    <a:lstStyle/>
                    <a:p>
                      <a:r>
                        <a:rPr sz="1576" b="1">
                          <a:solidFill>
                            <a:srgbClr val="33475B"/>
                          </a:solidFill>
                          <a:latin typeface="Aptos"/>
                        </a:rPr>
                        <a:t>Ubicación</a:t>
                      </a:r>
                    </a:p>
                  </a:txBody>
                  <a:tcPr anchor="ctr" marL="146304" marR="146304">
                    <a:solidFill>
                      <a:srgbClr val="FFFFFF"/>
                    </a:solidFill>
                  </a:tcPr>
                </a:tc>
                <a:tc>
                  <a:txBody>
                    <a:bodyPr wrap="square"/>
                    <a:lstStyle/>
                    <a:p>
                      <a:r>
                        <a:rPr sz="1576" b="0">
                          <a:solidFill>
                            <a:srgbClr val="33475B"/>
                          </a:solidFill>
                          <a:latin typeface="Aptos"/>
                        </a:rPr>
                        <a:t>Aproximada o precisa (12+); segundo plano es otro permiso</a:t>
                      </a:r>
                    </a:p>
                  </a:txBody>
                  <a:tcPr anchor="ctr" marL="146304" marR="146304">
                    <a:solidFill>
                      <a:srgbClr val="FFFFFF"/>
                    </a:solidFill>
                  </a:tcPr>
                </a:tc>
                <a:tc>
                  <a:txBody>
                    <a:bodyPr wrap="square"/>
                    <a:lstStyle/>
                    <a:p>
                      <a:r>
                        <a:rPr sz="1576" b="0">
                          <a:solidFill>
                            <a:srgbClr val="33475B"/>
                          </a:solidFill>
                          <a:latin typeface="Aptos"/>
                        </a:rPr>
                        <a:t>Aproximada o precisa (14+); «Siempre» se pide después</a:t>
                      </a:r>
                    </a:p>
                  </a:txBody>
                  <a:tcPr anchor="ctr" marL="146304" marR="146304">
                    <a:solidFill>
                      <a:srgbClr val="FFFFFF"/>
                    </a:solidFill>
                  </a:tcPr>
                </a:tc>
              </a:tr>
              <a:tr h="624927">
                <a:tc>
                  <a:txBody>
                    <a:bodyPr wrap="square"/>
                    <a:lstStyle/>
                    <a:p>
                      <a:r>
                        <a:rPr sz="1576" b="1">
                          <a:solidFill>
                            <a:srgbClr val="33475B"/>
                          </a:solidFill>
                          <a:latin typeface="Aptos"/>
                        </a:rPr>
                        <a:t>Revocación</a:t>
                      </a:r>
                    </a:p>
                  </a:txBody>
                  <a:tcPr anchor="ctr" marL="146304" marR="146304">
                    <a:solidFill>
                      <a:srgbClr val="F4F7FA"/>
                    </a:solidFill>
                  </a:tcPr>
                </a:tc>
                <a:tc>
                  <a:txBody>
                    <a:bodyPr wrap="square"/>
                    <a:lstStyle/>
                    <a:p>
                      <a:r>
                        <a:rPr sz="1576" b="0">
                          <a:solidFill>
                            <a:srgbClr val="33475B"/>
                          </a:solidFill>
                          <a:latin typeface="Aptos"/>
                        </a:rPr>
                        <a:t>El sistema reinicia permisos de apps sin uso (11+)</a:t>
                      </a:r>
                    </a:p>
                  </a:txBody>
                  <a:tcPr anchor="ctr" marL="146304" marR="146304">
                    <a:solidFill>
                      <a:srgbClr val="F4F7FA"/>
                    </a:solidFill>
                  </a:tcPr>
                </a:tc>
                <a:tc>
                  <a:txBody>
                    <a:bodyPr wrap="square"/>
                    <a:lstStyle/>
                    <a:p>
                      <a:r>
                        <a:rPr sz="1576" b="0">
                          <a:solidFill>
                            <a:srgbClr val="33475B"/>
                          </a:solidFill>
                          <a:latin typeface="Aptos"/>
                        </a:rPr>
                        <a:t>El usuario cambia en Ajustes y la app se reinicia</a:t>
                      </a:r>
                    </a:p>
                  </a:txBody>
                  <a:tcPr anchor="ctr" marL="146304" marR="146304">
                    <a:solidFill>
                      <a:srgbClr val="F4F7FA"/>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13 / 45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548640"/>
            <a:ext cx="9052560" cy="822960"/>
          </a:xfrm>
          <a:prstGeom prst="rect">
            <a:avLst/>
          </a:prstGeom>
          <a:noFill/>
        </p:spPr>
        <p:txBody>
          <a:bodyPr wrap="square" anchor="t" lIns="0" rIns="0" tIns="0" bIns="0">
            <a:spAutoFit/>
          </a:bodyPr>
          <a:lstStyle/>
          <a:p>
            <a:pPr algn="l"/>
            <a:r>
              <a:rPr sz="2200" b="1">
                <a:solidFill>
                  <a:srgbClr val="0E2841"/>
                </a:solidFill>
                <a:latin typeface="Aptos Display"/>
              </a:rPr>
              <a:t>Un técnico negó dos veces la ubicación en Android 14 y el adaptador reporta </a:t>
            </a:r>
            <a:r>
              <a:rPr sz="2068" b="1">
                <a:solidFill>
                  <a:srgbClr val="156082"/>
                </a:solidFill>
                <a:latin typeface="Consolas"/>
              </a:rPr>
              <a:t>denegado</a:t>
            </a:r>
            <a:r>
              <a:rPr sz="2200" b="1">
                <a:solidFill>
                  <a:srgbClr val="0E2841"/>
                </a:solidFill>
                <a:latin typeface="Aptos Display"/>
              </a:rPr>
              <a:t>. ¿Qué debe hacer la app?</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Volver a llamar </a:t>
            </a:r>
            <a:r>
              <a:rPr sz="1974" b="0">
                <a:solidFill>
                  <a:srgbClr val="156082"/>
                </a:solidFill>
                <a:latin typeface="Consolas"/>
              </a:rPr>
              <a:t>requestPermissions()</a:t>
            </a:r>
            <a:r>
              <a:rPr sz="2100" b="0">
                <a:solidFill>
                  <a:srgbClr val="0E2841"/>
                </a:solidFill>
                <a:latin typeface="Aptos"/>
              </a:rPr>
              <a:t> hasta que el usuario acepte</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Guardar la visita sin coordenadas y ofrecer abrir los ajustes de la app</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Bloquear el registro de la visita hasta que haya una ubicación válida</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Solicitar la ubicación en segundo plano como alternativa al permiso</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14 / 45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03</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Seguridad móvil</a:t>
            </a:r>
          </a:p>
        </p:txBody>
      </p:sp>
      <p:sp>
        <p:nvSpPr>
          <p:cNvPr id="5" name="TextBox 4"/>
          <p:cNvSpPr txBox="1"/>
          <p:nvPr/>
        </p:nvSpPr>
        <p:spPr>
          <a:xfrm>
            <a:off x="1828800" y="4617720"/>
            <a:ext cx="8503920" cy="731520"/>
          </a:xfrm>
          <a:prstGeom prst="rect">
            <a:avLst/>
          </a:prstGeom>
          <a:noFill/>
        </p:spPr>
        <p:txBody>
          <a:bodyPr wrap="square" anchor="t" lIns="0" rIns="0" tIns="0" bIns="0">
            <a:spAutoFit/>
          </a:bodyPr>
          <a:lstStyle/>
          <a:p>
            <a:pPr algn="ctr"/>
            <a:r>
              <a:rPr sz="1600" b="0">
                <a:solidFill>
                  <a:srgbClr val="E8E8E8"/>
                </a:solidFill>
                <a:latin typeface="Aptos"/>
              </a:rPr>
              <a:t>Encuentro 3 · nada de lo que viaja en el binario es secreto</a:t>
            </a:r>
          </a:p>
        </p:txBody>
      </p:sp>
      <p:pic>
        <p:nvPicPr>
          <p:cNvPr id="6" name="Picture 5"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NATIVO, CALIDAD Y DESPLIEGUE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El APK es un archivo comprimido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292351"/>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182623"/>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292351"/>
          </a:xfrm>
          <a:prstGeom prst="rect">
            <a:avLst/>
          </a:prstGeom>
          <a:noFill/>
        </p:spPr>
        <p:txBody>
          <a:bodyPr wrap="square" anchor="ctr" lIns="0" rIns="0" tIns="0" bIns="0">
            <a:spAutoFit/>
          </a:bodyPr>
          <a:lstStyle/>
          <a:p>
            <a:pPr algn="l">
              <a:lnSpc>
                <a:spcPct val="125000"/>
              </a:lnSpc>
            </a:pPr>
            <a:r>
              <a:rPr sz="2302" b="1">
                <a:solidFill>
                  <a:srgbClr val="0E2841"/>
                </a:solidFill>
                <a:latin typeface="Aptos Display"/>
              </a:rPr>
              <a:t>Tu JavaScript se lee en </a:t>
            </a:r>
            <a:r>
              <a:rPr sz="2164" b="1">
                <a:solidFill>
                  <a:srgbClr val="156082"/>
                </a:solidFill>
                <a:latin typeface="Consolas"/>
              </a:rPr>
              <a:t>assets/public/</a:t>
            </a:r>
            <a:r>
              <a:rPr sz="2302" b="1">
                <a:solidFill>
                  <a:srgbClr val="0E2841"/>
                </a:solidFill>
                <a:latin typeface="Aptos Display"/>
              </a:rPr>
              <a:t>: nada de lo que viaja en el binario es secreto, por mucho que se minifique.</a:t>
            </a:r>
          </a:p>
        </p:txBody>
      </p:sp>
      <p:graphicFrame>
        <p:nvGraphicFramePr>
          <p:cNvPr id="10" name="Table 9"/>
          <p:cNvGraphicFramePr>
            <a:graphicFrameLocks noGrp="1"/>
          </p:cNvGraphicFramePr>
          <p:nvPr/>
        </p:nvGraphicFramePr>
        <p:xfrm>
          <a:off x="566928" y="3066288"/>
          <a:ext cx="11064240" cy="3261360"/>
        </p:xfrm>
        <a:graphic>
          <a:graphicData uri="http://schemas.openxmlformats.org/drawingml/2006/table">
            <a:tbl>
              <a:tblPr firstRow="1">
                <a:tableStyleId>{5C22544A-7EE6-4342-B048-85BDC9FD1C3A}</a:tableStyleId>
              </a:tblPr>
              <a:tblGrid>
                <a:gridCol w="2766060"/>
                <a:gridCol w="2766060"/>
                <a:gridCol w="2766060"/>
                <a:gridCol w="2766060"/>
              </a:tblGrid>
              <a:tr h="543560">
                <a:tc>
                  <a:txBody>
                    <a:bodyPr wrap="square"/>
                    <a:lstStyle/>
                    <a:p>
                      <a:r>
                        <a:rPr sz="1569" b="1">
                          <a:solidFill>
                            <a:srgbClr val="FFFFFF"/>
                          </a:solidFill>
                          <a:latin typeface="Aptos"/>
                        </a:rPr>
                        <a:t>Regla del marco</a:t>
                      </a:r>
                    </a:p>
                  </a:txBody>
                  <a:tcPr anchor="ctr" marL="146304" marR="146304">
                    <a:solidFill>
                      <a:srgbClr val="156082"/>
                    </a:solidFill>
                  </a:tcPr>
                </a:tc>
                <a:tc>
                  <a:txBody>
                    <a:bodyPr wrap="square"/>
                    <a:lstStyle/>
                    <a:p>
                      <a:r>
                        <a:rPr sz="1569" b="1">
                          <a:solidFill>
                            <a:srgbClr val="FFFFFF"/>
                          </a:solidFill>
                          <a:latin typeface="Aptos"/>
                        </a:rPr>
                        <a:t>Amenaza</a:t>
                      </a:r>
                    </a:p>
                  </a:txBody>
                  <a:tcPr anchor="ctr" marL="146304" marR="146304">
                    <a:solidFill>
                      <a:srgbClr val="156082"/>
                    </a:solidFill>
                  </a:tcPr>
                </a:tc>
                <a:tc>
                  <a:txBody>
                    <a:bodyPr wrap="square"/>
                    <a:lstStyle/>
                    <a:p>
                      <a:r>
                        <a:rPr sz="1569" b="1">
                          <a:solidFill>
                            <a:srgbClr val="FFFFFF"/>
                          </a:solidFill>
                          <a:latin typeface="Aptos"/>
                        </a:rPr>
                        <a:t>Control</a:t>
                      </a:r>
                    </a:p>
                  </a:txBody>
                  <a:tcPr anchor="ctr" marL="146304" marR="146304">
                    <a:solidFill>
                      <a:srgbClr val="156082"/>
                    </a:solidFill>
                  </a:tcPr>
                </a:tc>
                <a:tc>
                  <a:txBody>
                    <a:bodyPr wrap="square"/>
                    <a:lstStyle/>
                    <a:p>
                      <a:r>
                        <a:rPr sz="1569" b="1">
                          <a:solidFill>
                            <a:srgbClr val="FFFFFF"/>
                          </a:solidFill>
                          <a:latin typeface="Aptos"/>
                        </a:rPr>
                        <a:t>MASVS</a:t>
                      </a:r>
                    </a:p>
                  </a:txBody>
                  <a:tcPr anchor="ctr" marL="146304" marR="146304">
                    <a:solidFill>
                      <a:srgbClr val="156082"/>
                    </a:solidFill>
                  </a:tcPr>
                </a:tc>
              </a:tr>
              <a:tr h="543560">
                <a:tc>
                  <a:txBody>
                    <a:bodyPr wrap="square"/>
                    <a:lstStyle/>
                    <a:p>
                      <a:r>
                        <a:rPr sz="1465" b="1">
                          <a:solidFill>
                            <a:srgbClr val="33475B"/>
                          </a:solidFill>
                          <a:latin typeface="Aptos"/>
                        </a:rPr>
                        <a:t>Sin secretos en repo ni bundle</a:t>
                      </a:r>
                    </a:p>
                  </a:txBody>
                  <a:tcPr anchor="ctr" marL="146304" marR="146304">
                    <a:solidFill>
                      <a:srgbClr val="FFFFFF"/>
                    </a:solidFill>
                  </a:tcPr>
                </a:tc>
                <a:tc>
                  <a:txBody>
                    <a:bodyPr wrap="square"/>
                    <a:lstStyle/>
                    <a:p>
                      <a:r>
                        <a:rPr sz="1465" b="0">
                          <a:solidFill>
                            <a:srgbClr val="33475B"/>
                          </a:solidFill>
                          <a:latin typeface="Aptos"/>
                        </a:rPr>
                        <a:t>Extraer llaves del APK</a:t>
                      </a:r>
                    </a:p>
                  </a:txBody>
                  <a:tcPr anchor="ctr" marL="146304" marR="146304">
                    <a:solidFill>
                      <a:srgbClr val="FFFFFF"/>
                    </a:solidFill>
                  </a:tcPr>
                </a:tc>
                <a:tc>
                  <a:txBody>
                    <a:bodyPr wrap="square"/>
                    <a:lstStyle/>
                    <a:p>
                      <a:r>
                        <a:rPr sz="1465" b="0">
                          <a:solidFill>
                            <a:srgbClr val="33475B"/>
                          </a:solidFill>
                          <a:latin typeface="Aptos"/>
                        </a:rPr>
                        <a:t>Llaves en backend; secretos en el CI</a:t>
                      </a:r>
                    </a:p>
                  </a:txBody>
                  <a:tcPr anchor="ctr" marL="146304" marR="146304">
                    <a:solidFill>
                      <a:srgbClr val="FFFFFF"/>
                    </a:solidFill>
                  </a:tcPr>
                </a:tc>
                <a:tc>
                  <a:txBody>
                    <a:bodyPr wrap="square"/>
                    <a:lstStyle/>
                    <a:p>
                      <a:r>
                        <a:rPr sz="1465" b="0">
                          <a:solidFill>
                            <a:srgbClr val="33475B"/>
                          </a:solidFill>
                          <a:latin typeface="Aptos"/>
                        </a:rPr>
                        <a:t>CODE · STORAGE</a:t>
                      </a:r>
                    </a:p>
                  </a:txBody>
                  <a:tcPr anchor="ctr" marL="146304" marR="146304">
                    <a:solidFill>
                      <a:srgbClr val="FFFFFF"/>
                    </a:solidFill>
                  </a:tcPr>
                </a:tc>
              </a:tr>
              <a:tr h="543560">
                <a:tc>
                  <a:txBody>
                    <a:bodyPr wrap="square"/>
                    <a:lstStyle/>
                    <a:p>
                      <a:r>
                        <a:rPr sz="1465" b="1">
                          <a:solidFill>
                            <a:srgbClr val="33475B"/>
                          </a:solidFill>
                          <a:latin typeface="Aptos"/>
                        </a:rPr>
                        <a:t>Solo TLS; pinning en API sensible</a:t>
                      </a:r>
                    </a:p>
                  </a:txBody>
                  <a:tcPr anchor="ctr" marL="146304" marR="146304">
                    <a:solidFill>
                      <a:srgbClr val="F4F7FA"/>
                    </a:solidFill>
                  </a:tcPr>
                </a:tc>
                <a:tc>
                  <a:txBody>
                    <a:bodyPr wrap="square"/>
                    <a:lstStyle/>
                    <a:p>
                      <a:r>
                        <a:rPr sz="1465" b="0">
                          <a:solidFill>
                            <a:srgbClr val="33475B"/>
                          </a:solidFill>
                          <a:latin typeface="Aptos"/>
                        </a:rPr>
                        <a:t>Wi-Fi hostil, proxy</a:t>
                      </a:r>
                    </a:p>
                  </a:txBody>
                  <a:tcPr anchor="ctr" marL="146304" marR="146304">
                    <a:solidFill>
                      <a:srgbClr val="F4F7FA"/>
                    </a:solidFill>
                  </a:tcPr>
                </a:tc>
                <a:tc>
                  <a:txBody>
                    <a:bodyPr wrap="square"/>
                    <a:lstStyle/>
                    <a:p>
                      <a:r>
                        <a:rPr sz="1465" b="0">
                          <a:solidFill>
                            <a:srgbClr val="33475B"/>
                          </a:solidFill>
                          <a:latin typeface="Aptos"/>
                        </a:rPr>
                        <a:t>Sin </a:t>
                      </a:r>
                      <a:r>
                        <a:rPr sz="1377" b="0">
                          <a:solidFill>
                            <a:srgbClr val="156082"/>
                          </a:solidFill>
                          <a:latin typeface="Consolas"/>
                        </a:rPr>
                        <a:t>cleartext</a:t>
                      </a:r>
                      <a:r>
                        <a:rPr sz="1465" b="0">
                          <a:solidFill>
                            <a:srgbClr val="33475B"/>
                          </a:solidFill>
                          <a:latin typeface="Aptos"/>
                        </a:rPr>
                        <a:t>; pinning nativo</a:t>
                      </a:r>
                    </a:p>
                  </a:txBody>
                  <a:tcPr anchor="ctr" marL="146304" marR="146304">
                    <a:solidFill>
                      <a:srgbClr val="F4F7FA"/>
                    </a:solidFill>
                  </a:tcPr>
                </a:tc>
                <a:tc>
                  <a:txBody>
                    <a:bodyPr wrap="square"/>
                    <a:lstStyle/>
                    <a:p>
                      <a:r>
                        <a:rPr sz="1465" b="0">
                          <a:solidFill>
                            <a:srgbClr val="33475B"/>
                          </a:solidFill>
                          <a:latin typeface="Aptos"/>
                        </a:rPr>
                        <a:t>NETWORK</a:t>
                      </a:r>
                    </a:p>
                  </a:txBody>
                  <a:tcPr anchor="ctr" marL="146304" marR="146304">
                    <a:solidFill>
                      <a:srgbClr val="F4F7FA"/>
                    </a:solidFill>
                  </a:tcPr>
                </a:tc>
              </a:tr>
              <a:tr h="543560">
                <a:tc>
                  <a:txBody>
                    <a:bodyPr wrap="square"/>
                    <a:lstStyle/>
                    <a:p>
                      <a:r>
                        <a:rPr sz="1465" b="1">
                          <a:solidFill>
                            <a:srgbClr val="33475B"/>
                          </a:solidFill>
                          <a:latin typeface="Aptos"/>
                        </a:rPr>
                        <a:t>Cifrar lo sensible; sin PII en caché</a:t>
                      </a:r>
                    </a:p>
                  </a:txBody>
                  <a:tcPr anchor="ctr" marL="146304" marR="146304">
                    <a:solidFill>
                      <a:srgbClr val="FFFFFF"/>
                    </a:solidFill>
                  </a:tcPr>
                </a:tc>
                <a:tc>
                  <a:txBody>
                    <a:bodyPr wrap="square"/>
                    <a:lstStyle/>
                    <a:p>
                      <a:r>
                        <a:rPr sz="1465" b="0">
                          <a:solidFill>
                            <a:srgbClr val="33475B"/>
                          </a:solidFill>
                          <a:latin typeface="Aptos"/>
                        </a:rPr>
                        <a:t>Pérdida del equipo</a:t>
                      </a:r>
                    </a:p>
                  </a:txBody>
                  <a:tcPr anchor="ctr" marL="146304" marR="146304">
                    <a:solidFill>
                      <a:srgbClr val="FFFFFF"/>
                    </a:solidFill>
                  </a:tcPr>
                </a:tc>
                <a:tc>
                  <a:txBody>
                    <a:bodyPr wrap="square"/>
                    <a:lstStyle/>
                    <a:p>
                      <a:r>
                        <a:rPr sz="1465" b="0">
                          <a:solidFill>
                            <a:srgbClr val="33475B"/>
                          </a:solidFill>
                          <a:latin typeface="Aptos"/>
                        </a:rPr>
                        <a:t>Fotos en directorio privado</a:t>
                      </a:r>
                    </a:p>
                  </a:txBody>
                  <a:tcPr anchor="ctr" marL="146304" marR="146304">
                    <a:solidFill>
                      <a:srgbClr val="FFFFFF"/>
                    </a:solidFill>
                  </a:tcPr>
                </a:tc>
                <a:tc>
                  <a:txBody>
                    <a:bodyPr wrap="square"/>
                    <a:lstStyle/>
                    <a:p>
                      <a:r>
                        <a:rPr sz="1465" b="0">
                          <a:solidFill>
                            <a:srgbClr val="33475B"/>
                          </a:solidFill>
                          <a:latin typeface="Aptos"/>
                        </a:rPr>
                        <a:t>STORAGE · PRIVACY</a:t>
                      </a:r>
                    </a:p>
                  </a:txBody>
                  <a:tcPr anchor="ctr" marL="146304" marR="146304">
                    <a:solidFill>
                      <a:srgbClr val="FFFFFF"/>
                    </a:solidFill>
                  </a:tcPr>
                </a:tc>
              </a:tr>
              <a:tr h="543560">
                <a:tc>
                  <a:txBody>
                    <a:bodyPr wrap="square"/>
                    <a:lstStyle/>
                    <a:p>
                      <a:r>
                        <a:rPr sz="1465" b="1">
                          <a:solidFill>
                            <a:srgbClr val="33475B"/>
                          </a:solidFill>
                          <a:latin typeface="Aptos"/>
                        </a:rPr>
                        <a:t>Tokens solo en almacén seguro</a:t>
                      </a:r>
                    </a:p>
                  </a:txBody>
                  <a:tcPr anchor="ctr" marL="146304" marR="146304">
                    <a:solidFill>
                      <a:srgbClr val="F4F7FA"/>
                    </a:solidFill>
                  </a:tcPr>
                </a:tc>
                <a:tc>
                  <a:txBody>
                    <a:bodyPr wrap="square"/>
                    <a:lstStyle/>
                    <a:p>
                      <a:r>
                        <a:rPr sz="1465" b="0">
                          <a:solidFill>
                            <a:srgbClr val="33475B"/>
                          </a:solidFill>
                          <a:latin typeface="Aptos"/>
                        </a:rPr>
                        <a:t>Equipo comprometido</a:t>
                      </a:r>
                    </a:p>
                  </a:txBody>
                  <a:tcPr anchor="ctr" marL="146304" marR="146304">
                    <a:solidFill>
                      <a:srgbClr val="F4F7FA"/>
                    </a:solidFill>
                  </a:tcPr>
                </a:tc>
                <a:tc>
                  <a:txBody>
                    <a:bodyPr wrap="square"/>
                    <a:lstStyle/>
                    <a:p>
                      <a:r>
                        <a:rPr sz="1465" b="0">
                          <a:solidFill>
                            <a:srgbClr val="33475B"/>
                          </a:solidFill>
                          <a:latin typeface="Aptos"/>
                        </a:rPr>
                        <a:t>Keychain / Keystore</a:t>
                      </a:r>
                    </a:p>
                  </a:txBody>
                  <a:tcPr anchor="ctr" marL="146304" marR="146304">
                    <a:solidFill>
                      <a:srgbClr val="F4F7FA"/>
                    </a:solidFill>
                  </a:tcPr>
                </a:tc>
                <a:tc>
                  <a:txBody>
                    <a:bodyPr wrap="square"/>
                    <a:lstStyle/>
                    <a:p>
                      <a:r>
                        <a:rPr sz="1465" b="0">
                          <a:solidFill>
                            <a:srgbClr val="33475B"/>
                          </a:solidFill>
                          <a:latin typeface="Aptos"/>
                        </a:rPr>
                        <a:t>STORAGE · AUTH</a:t>
                      </a:r>
                    </a:p>
                  </a:txBody>
                  <a:tcPr anchor="ctr" marL="146304" marR="146304">
                    <a:solidFill>
                      <a:srgbClr val="F4F7FA"/>
                    </a:solidFill>
                  </a:tcPr>
                </a:tc>
              </a:tr>
              <a:tr h="543560">
                <a:tc>
                  <a:txBody>
                    <a:bodyPr wrap="square"/>
                    <a:lstStyle/>
                    <a:p>
                      <a:r>
                        <a:rPr sz="1465" b="1">
                          <a:solidFill>
                            <a:srgbClr val="33475B"/>
                          </a:solidFill>
                          <a:latin typeface="Aptos"/>
                        </a:rPr>
                        <a:t>Hardening del build</a:t>
                      </a:r>
                    </a:p>
                  </a:txBody>
                  <a:tcPr anchor="ctr" marL="146304" marR="146304">
                    <a:solidFill>
                      <a:srgbClr val="FFFFFF"/>
                    </a:solidFill>
                  </a:tcPr>
                </a:tc>
                <a:tc>
                  <a:txBody>
                    <a:bodyPr wrap="square"/>
                    <a:lstStyle/>
                    <a:p>
                      <a:r>
                        <a:rPr sz="1465" b="0">
                          <a:solidFill>
                            <a:srgbClr val="33475B"/>
                          </a:solidFill>
                          <a:latin typeface="Aptos"/>
                        </a:rPr>
                        <a:t>Ingeniería inversa</a:t>
                      </a:r>
                    </a:p>
                  </a:txBody>
                  <a:tcPr anchor="ctr" marL="146304" marR="146304">
                    <a:solidFill>
                      <a:srgbClr val="FFFFFF"/>
                    </a:solidFill>
                  </a:tcPr>
                </a:tc>
                <a:tc>
                  <a:txBody>
                    <a:bodyPr wrap="square"/>
                    <a:lstStyle/>
                    <a:p>
                      <a:r>
                        <a:rPr sz="1465" b="0">
                          <a:solidFill>
                            <a:srgbClr val="33475B"/>
                          </a:solidFill>
                          <a:latin typeface="Aptos"/>
                        </a:rPr>
                        <a:t>R8, sin logs ni depuración</a:t>
                      </a:r>
                    </a:p>
                  </a:txBody>
                  <a:tcPr anchor="ctr" marL="146304" marR="146304">
                    <a:solidFill>
                      <a:srgbClr val="FFFFFF"/>
                    </a:solidFill>
                  </a:tcPr>
                </a:tc>
                <a:tc>
                  <a:txBody>
                    <a:bodyPr wrap="square"/>
                    <a:lstStyle/>
                    <a:p>
                      <a:r>
                        <a:rPr sz="1465" b="0">
                          <a:solidFill>
                            <a:srgbClr val="33475B"/>
                          </a:solidFill>
                          <a:latin typeface="Aptos"/>
                        </a:rPr>
                        <a:t>RESILIENCE</a:t>
                      </a:r>
                    </a:p>
                  </a:txBody>
                  <a:tcPr anchor="ctr" marL="146304" marR="146304">
                    <a:solidFill>
                      <a:srgbClr val="FFFFFF"/>
                    </a:solidFill>
                  </a:tcPr>
                </a:tc>
              </a:tr>
            </a:tbl>
          </a:graphicData>
        </a:graphic>
      </p:graphicFrame>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15 / 45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NATIVO, CALIDAD Y DESPLIEGUE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Los secretos viven fuera del binario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221028"/>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1113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221028"/>
          </a:xfrm>
          <a:prstGeom prst="rect">
            <a:avLst/>
          </a:prstGeom>
          <a:noFill/>
        </p:spPr>
        <p:txBody>
          <a:bodyPr wrap="square" anchor="ctr" lIns="0" rIns="0" tIns="0" bIns="0">
            <a:spAutoFit/>
          </a:bodyPr>
          <a:lstStyle/>
          <a:p>
            <a:pPr algn="l">
              <a:lnSpc>
                <a:spcPct val="125000"/>
              </a:lnSpc>
            </a:pPr>
            <a:r>
              <a:rPr sz="2529" b="1">
                <a:solidFill>
                  <a:srgbClr val="0E2841"/>
                </a:solidFill>
                <a:latin typeface="Aptos Display"/>
              </a:rPr>
              <a:t>Si una llave de terceros permite gastar dinero o leer datos, no va en la app.</a:t>
            </a:r>
          </a:p>
        </p:txBody>
      </p:sp>
      <p:sp>
        <p:nvSpPr>
          <p:cNvPr id="10" name="Rounded Rectangle 9"/>
          <p:cNvSpPr/>
          <p:nvPr/>
        </p:nvSpPr>
        <p:spPr>
          <a:xfrm>
            <a:off x="566928" y="2994964"/>
            <a:ext cx="3468624" cy="3332683"/>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 Same Side Corner Rectangle 10"/>
          <p:cNvSpPr/>
          <p:nvPr/>
        </p:nvSpPr>
        <p:spPr>
          <a:xfrm>
            <a:off x="566928" y="2994964"/>
            <a:ext cx="3468624" cy="566928"/>
          </a:xfrm>
          <a:prstGeom prst="round2SameRect">
            <a:avLst>
              <a:gd name="adj1" fmla="val 14000"/>
              <a:gd name="adj2" fmla="val 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2994964"/>
            <a:ext cx="3102864" cy="566928"/>
          </a:xfrm>
          <a:prstGeom prst="rect">
            <a:avLst/>
          </a:prstGeom>
          <a:noFill/>
        </p:spPr>
        <p:txBody>
          <a:bodyPr wrap="square" anchor="ctr" lIns="0" rIns="0" tIns="0" bIns="0">
            <a:spAutoFit/>
          </a:bodyPr>
          <a:lstStyle/>
          <a:p>
            <a:pPr algn="l"/>
            <a:r>
              <a:rPr sz="1954" b="1">
                <a:solidFill>
                  <a:srgbClr val="FFFFFF"/>
                </a:solidFill>
                <a:latin typeface="Aptos Display"/>
              </a:rPr>
              <a:t>En la app: público</a:t>
            </a:r>
          </a:p>
        </p:txBody>
      </p:sp>
      <p:sp>
        <p:nvSpPr>
          <p:cNvPr id="13" name="Oval 12"/>
          <p:cNvSpPr/>
          <p:nvPr/>
        </p:nvSpPr>
        <p:spPr>
          <a:xfrm>
            <a:off x="786384" y="4311700"/>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4055668"/>
            <a:ext cx="2810256" cy="603504"/>
          </a:xfrm>
          <a:prstGeom prst="rect">
            <a:avLst/>
          </a:prstGeom>
          <a:noFill/>
        </p:spPr>
        <p:txBody>
          <a:bodyPr wrap="square" anchor="ctr" lIns="0" rIns="0" tIns="0" bIns="0">
            <a:spAutoFit/>
          </a:bodyPr>
          <a:lstStyle/>
          <a:p>
            <a:pPr algn="l"/>
            <a:r>
              <a:rPr sz="1609" b="0">
                <a:solidFill>
                  <a:srgbClr val="33475B"/>
                </a:solidFill>
                <a:latin typeface="Aptos"/>
              </a:rPr>
              <a:t>environment.ts y el bundle</a:t>
            </a:r>
          </a:p>
        </p:txBody>
      </p:sp>
      <p:sp>
        <p:nvSpPr>
          <p:cNvPr id="15" name="Oval 14"/>
          <p:cNvSpPr/>
          <p:nvPr/>
        </p:nvSpPr>
        <p:spPr>
          <a:xfrm>
            <a:off x="786384" y="4915204"/>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4659172"/>
            <a:ext cx="2810256" cy="603504"/>
          </a:xfrm>
          <a:prstGeom prst="rect">
            <a:avLst/>
          </a:prstGeom>
          <a:noFill/>
        </p:spPr>
        <p:txBody>
          <a:bodyPr wrap="square" anchor="ctr" lIns="0" rIns="0" tIns="0" bIns="0">
            <a:spAutoFit/>
          </a:bodyPr>
          <a:lstStyle/>
          <a:p>
            <a:pPr algn="l"/>
            <a:r>
              <a:rPr sz="1609" b="0">
                <a:solidFill>
                  <a:srgbClr val="33475B"/>
                </a:solidFill>
                <a:latin typeface="Aptos"/>
              </a:rPr>
              <a:t>Todo lo que se compila</a:t>
            </a:r>
          </a:p>
        </p:txBody>
      </p:sp>
      <p:sp>
        <p:nvSpPr>
          <p:cNvPr id="17" name="Oval 16"/>
          <p:cNvSpPr/>
          <p:nvPr/>
        </p:nvSpPr>
        <p:spPr>
          <a:xfrm>
            <a:off x="786384" y="5518708"/>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5262676"/>
            <a:ext cx="2810256" cy="603504"/>
          </a:xfrm>
          <a:prstGeom prst="rect">
            <a:avLst/>
          </a:prstGeom>
          <a:noFill/>
        </p:spPr>
        <p:txBody>
          <a:bodyPr wrap="square" anchor="ctr" lIns="0" rIns="0" tIns="0" bIns="0">
            <a:spAutoFit/>
          </a:bodyPr>
          <a:lstStyle/>
          <a:p>
            <a:pPr algn="l"/>
            <a:r>
              <a:rPr sz="1609" b="0">
                <a:solidFill>
                  <a:srgbClr val="33475B"/>
                </a:solidFill>
                <a:latin typeface="Aptos"/>
              </a:rPr>
              <a:t>Se lee al descomprimir el APK</a:t>
            </a:r>
          </a:p>
        </p:txBody>
      </p:sp>
      <p:sp>
        <p:nvSpPr>
          <p:cNvPr id="19" name="Rounded Rectangle 18"/>
          <p:cNvSpPr/>
          <p:nvPr/>
        </p:nvSpPr>
        <p:spPr>
          <a:xfrm>
            <a:off x="4364736" y="2994964"/>
            <a:ext cx="3468624" cy="3332683"/>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 Same Side Corner Rectangle 19"/>
          <p:cNvSpPr/>
          <p:nvPr/>
        </p:nvSpPr>
        <p:spPr>
          <a:xfrm>
            <a:off x="4364736" y="2994964"/>
            <a:ext cx="3468624" cy="566928"/>
          </a:xfrm>
          <a:prstGeom prst="round2SameRect">
            <a:avLst>
              <a:gd name="adj1" fmla="val 14000"/>
              <a:gd name="adj2" fmla="val 0"/>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47616" y="2994964"/>
            <a:ext cx="3102864" cy="566928"/>
          </a:xfrm>
          <a:prstGeom prst="rect">
            <a:avLst/>
          </a:prstGeom>
          <a:noFill/>
        </p:spPr>
        <p:txBody>
          <a:bodyPr wrap="square" anchor="ctr" lIns="0" rIns="0" tIns="0" bIns="0">
            <a:spAutoFit/>
          </a:bodyPr>
          <a:lstStyle/>
          <a:p>
            <a:pPr algn="l"/>
            <a:r>
              <a:rPr sz="1954" b="1">
                <a:solidFill>
                  <a:srgbClr val="FFFFFF"/>
                </a:solidFill>
                <a:latin typeface="Aptos Display"/>
              </a:rPr>
              <a:t>En el backend</a:t>
            </a:r>
          </a:p>
        </p:txBody>
      </p:sp>
      <p:sp>
        <p:nvSpPr>
          <p:cNvPr id="22" name="Oval 21"/>
          <p:cNvSpPr/>
          <p:nvPr/>
        </p:nvSpPr>
        <p:spPr>
          <a:xfrm>
            <a:off x="4584192" y="4311700"/>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21936" y="4055668"/>
            <a:ext cx="2810256" cy="603504"/>
          </a:xfrm>
          <a:prstGeom prst="rect">
            <a:avLst/>
          </a:prstGeom>
          <a:noFill/>
        </p:spPr>
        <p:txBody>
          <a:bodyPr wrap="square" anchor="ctr" lIns="0" rIns="0" tIns="0" bIns="0">
            <a:spAutoFit/>
          </a:bodyPr>
          <a:lstStyle/>
          <a:p>
            <a:pPr algn="l"/>
            <a:r>
              <a:rPr sz="1609" b="0">
                <a:solidFill>
                  <a:srgbClr val="33475B"/>
                </a:solidFill>
                <a:latin typeface="Aptos"/>
              </a:rPr>
              <a:t>Llaves de mapas, correo o IA</a:t>
            </a:r>
          </a:p>
        </p:txBody>
      </p:sp>
      <p:sp>
        <p:nvSpPr>
          <p:cNvPr id="24" name="Oval 23"/>
          <p:cNvSpPr/>
          <p:nvPr/>
        </p:nvSpPr>
        <p:spPr>
          <a:xfrm>
            <a:off x="4584192" y="4915204"/>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21936" y="4659172"/>
            <a:ext cx="2810256" cy="603504"/>
          </a:xfrm>
          <a:prstGeom prst="rect">
            <a:avLst/>
          </a:prstGeom>
          <a:noFill/>
        </p:spPr>
        <p:txBody>
          <a:bodyPr wrap="square" anchor="ctr" lIns="0" rIns="0" tIns="0" bIns="0">
            <a:spAutoFit/>
          </a:bodyPr>
          <a:lstStyle/>
          <a:p>
            <a:pPr algn="l"/>
            <a:r>
              <a:rPr sz="1609" b="0">
                <a:solidFill>
                  <a:srgbClr val="33475B"/>
                </a:solidFill>
                <a:latin typeface="Aptos"/>
              </a:rPr>
              <a:t>La app lo llama con el token del usuario</a:t>
            </a:r>
          </a:p>
        </p:txBody>
      </p:sp>
      <p:sp>
        <p:nvSpPr>
          <p:cNvPr id="26" name="Oval 25"/>
          <p:cNvSpPr/>
          <p:nvPr/>
        </p:nvSpPr>
        <p:spPr>
          <a:xfrm>
            <a:off x="4584192" y="5518708"/>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21936" y="5262676"/>
            <a:ext cx="2810256" cy="603504"/>
          </a:xfrm>
          <a:prstGeom prst="rect">
            <a:avLst/>
          </a:prstGeom>
          <a:noFill/>
        </p:spPr>
        <p:txBody>
          <a:bodyPr wrap="square" anchor="ctr" lIns="0" rIns="0" tIns="0" bIns="0">
            <a:spAutoFit/>
          </a:bodyPr>
          <a:lstStyle/>
          <a:p>
            <a:pPr algn="l"/>
            <a:r>
              <a:rPr sz="1609" b="0">
                <a:solidFill>
                  <a:srgbClr val="33475B"/>
                </a:solidFill>
                <a:latin typeface="Aptos"/>
              </a:rPr>
              <a:t>Lo que cuesta dinero o lee datos</a:t>
            </a:r>
          </a:p>
        </p:txBody>
      </p:sp>
      <p:sp>
        <p:nvSpPr>
          <p:cNvPr id="28" name="Rounded Rectangle 27"/>
          <p:cNvSpPr/>
          <p:nvPr/>
        </p:nvSpPr>
        <p:spPr>
          <a:xfrm>
            <a:off x="8162544" y="2994964"/>
            <a:ext cx="3468624" cy="3332683"/>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 Same Side Corner Rectangle 28"/>
          <p:cNvSpPr/>
          <p:nvPr/>
        </p:nvSpPr>
        <p:spPr>
          <a:xfrm>
            <a:off x="8162544" y="2994964"/>
            <a:ext cx="3468624" cy="566928"/>
          </a:xfrm>
          <a:prstGeom prst="round2SameRect">
            <a:avLst>
              <a:gd name="adj1" fmla="val 14000"/>
              <a:gd name="adj2" fmla="val 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45424" y="2994964"/>
            <a:ext cx="3102864" cy="566928"/>
          </a:xfrm>
          <a:prstGeom prst="rect">
            <a:avLst/>
          </a:prstGeom>
          <a:noFill/>
        </p:spPr>
        <p:txBody>
          <a:bodyPr wrap="square" anchor="ctr" lIns="0" rIns="0" tIns="0" bIns="0">
            <a:spAutoFit/>
          </a:bodyPr>
          <a:lstStyle/>
          <a:p>
            <a:pPr algn="l"/>
            <a:r>
              <a:rPr sz="1954" b="1">
                <a:solidFill>
                  <a:srgbClr val="FFFFFF"/>
                </a:solidFill>
                <a:latin typeface="Aptos Display"/>
              </a:rPr>
              <a:t>En el CI y la bóveda</a:t>
            </a:r>
          </a:p>
        </p:txBody>
      </p:sp>
      <p:sp>
        <p:nvSpPr>
          <p:cNvPr id="31" name="Oval 30"/>
          <p:cNvSpPr/>
          <p:nvPr/>
        </p:nvSpPr>
        <p:spPr>
          <a:xfrm>
            <a:off x="8382000" y="4311700"/>
            <a:ext cx="91440" cy="9144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19744" y="4055668"/>
            <a:ext cx="2810256" cy="603504"/>
          </a:xfrm>
          <a:prstGeom prst="rect">
            <a:avLst/>
          </a:prstGeom>
          <a:noFill/>
        </p:spPr>
        <p:txBody>
          <a:bodyPr wrap="square" anchor="ctr" lIns="0" rIns="0" tIns="0" bIns="0">
            <a:spAutoFit/>
          </a:bodyPr>
          <a:lstStyle/>
          <a:p>
            <a:pPr algn="l"/>
            <a:r>
              <a:rPr sz="1609" b="0">
                <a:solidFill>
                  <a:srgbClr val="33475B"/>
                </a:solidFill>
                <a:latin typeface="Aptos"/>
              </a:rPr>
              <a:t>Keystore y contraseñas</a:t>
            </a:r>
          </a:p>
        </p:txBody>
      </p:sp>
      <p:sp>
        <p:nvSpPr>
          <p:cNvPr id="33" name="Oval 32"/>
          <p:cNvSpPr/>
          <p:nvPr/>
        </p:nvSpPr>
        <p:spPr>
          <a:xfrm>
            <a:off x="8382000" y="4915204"/>
            <a:ext cx="91440" cy="9144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19744" y="4659172"/>
            <a:ext cx="2810256" cy="603504"/>
          </a:xfrm>
          <a:prstGeom prst="rect">
            <a:avLst/>
          </a:prstGeom>
          <a:noFill/>
        </p:spPr>
        <p:txBody>
          <a:bodyPr wrap="square" anchor="ctr" lIns="0" rIns="0" tIns="0" bIns="0">
            <a:spAutoFit/>
          </a:bodyPr>
          <a:lstStyle/>
          <a:p>
            <a:pPr algn="l"/>
            <a:r>
              <a:rPr sz="1609" b="0">
                <a:solidFill>
                  <a:srgbClr val="33475B"/>
                </a:solidFill>
                <a:latin typeface="Aptos"/>
              </a:rPr>
              <a:t>Certificados de firma</a:t>
            </a:r>
          </a:p>
        </p:txBody>
      </p:sp>
      <p:sp>
        <p:nvSpPr>
          <p:cNvPr id="35" name="Oval 34"/>
          <p:cNvSpPr/>
          <p:nvPr/>
        </p:nvSpPr>
        <p:spPr>
          <a:xfrm>
            <a:off x="8382000" y="5518708"/>
            <a:ext cx="91440" cy="9144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19744" y="5262676"/>
            <a:ext cx="2810256" cy="603504"/>
          </a:xfrm>
          <a:prstGeom prst="rect">
            <a:avLst/>
          </a:prstGeom>
          <a:noFill/>
        </p:spPr>
        <p:txBody>
          <a:bodyPr wrap="square" anchor="ctr" lIns="0" rIns="0" tIns="0" bIns="0">
            <a:spAutoFit/>
          </a:bodyPr>
          <a:lstStyle/>
          <a:p>
            <a:pPr algn="l"/>
            <a:r>
              <a:rPr sz="1609" b="0">
                <a:solidFill>
                  <a:srgbClr val="33475B"/>
                </a:solidFill>
                <a:latin typeface="Aptos"/>
              </a:rPr>
              <a:t>Nunca en el repositorio</a:t>
            </a:r>
          </a:p>
        </p:txBody>
      </p:sp>
      <p:sp>
        <p:nvSpPr>
          <p:cNvPr id="37" name="TextBox 36"/>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38" name="TextBox 37"/>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16 / 45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NATIVO, CALIDAD Y DESPLIEGUE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TLS cifra; el pinning autentica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081320"/>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971592"/>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081320"/>
          </a:xfrm>
          <a:prstGeom prst="rect">
            <a:avLst/>
          </a:prstGeom>
          <a:noFill/>
        </p:spPr>
        <p:txBody>
          <a:bodyPr wrap="square" anchor="ctr" lIns="0" rIns="0" tIns="0" bIns="0">
            <a:spAutoFit/>
          </a:bodyPr>
          <a:lstStyle/>
          <a:p>
            <a:pPr algn="l">
              <a:lnSpc>
                <a:spcPct val="125000"/>
              </a:lnSpc>
            </a:pPr>
            <a:r>
              <a:rPr sz="2186" b="1">
                <a:solidFill>
                  <a:srgbClr val="0E2841"/>
                </a:solidFill>
                <a:latin typeface="Aptos Display"/>
              </a:rPr>
              <a:t>Un pinning sin pin de respaldo ni expiración es una bomba: si el backend rota el certificado, toda instalación queda sin servicio.</a:t>
            </a:r>
          </a:p>
        </p:txBody>
      </p:sp>
      <p:sp>
        <p:nvSpPr>
          <p:cNvPr id="10" name="Rounded Rectangle 9"/>
          <p:cNvSpPr/>
          <p:nvPr/>
        </p:nvSpPr>
        <p:spPr>
          <a:xfrm>
            <a:off x="566928" y="2855256"/>
            <a:ext cx="11064240" cy="2326203"/>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41248" y="3074712"/>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3038136"/>
            <a:ext cx="7315200" cy="237744"/>
          </a:xfrm>
          <a:prstGeom prst="rect">
            <a:avLst/>
          </a:prstGeom>
          <a:noFill/>
        </p:spPr>
        <p:txBody>
          <a:bodyPr wrap="square" anchor="t" lIns="0" rIns="0" tIns="0" bIns="0">
            <a:spAutoFit/>
          </a:bodyPr>
          <a:lstStyle/>
          <a:p>
            <a:pPr algn="l"/>
            <a:r>
              <a:rPr sz="1142" b="1">
                <a:solidFill>
                  <a:srgbClr val="E97132"/>
                </a:solidFill>
                <a:latin typeface="Aptos"/>
              </a:rPr>
              <a:t>RES/XML/NETWORK_SECURITY_CONFIG.XML</a:t>
            </a:r>
          </a:p>
        </p:txBody>
      </p:sp>
      <p:sp>
        <p:nvSpPr>
          <p:cNvPr id="13" name="TextBox 12"/>
          <p:cNvSpPr txBox="1"/>
          <p:nvPr/>
        </p:nvSpPr>
        <p:spPr>
          <a:xfrm>
            <a:off x="877824" y="3422184"/>
            <a:ext cx="10515600" cy="1594683"/>
          </a:xfrm>
          <a:prstGeom prst="rect">
            <a:avLst/>
          </a:prstGeom>
          <a:noFill/>
        </p:spPr>
        <p:txBody>
          <a:bodyPr wrap="none" lIns="0" tIns="0">
            <a:spAutoFit/>
          </a:bodyPr>
          <a:lstStyle/>
          <a:p>
            <a:pPr>
              <a:lnSpc>
                <a:spcPct val="125000"/>
              </a:lnSpc>
            </a:pPr>
            <a:r>
              <a:rPr sz="1440">
                <a:solidFill>
                  <a:srgbClr val="E8E8E8"/>
                </a:solidFill>
                <a:latin typeface="Consolas"/>
              </a:rPr>
              <a:t>&lt;base-config cleartextTrafficPermitted="false" /&gt;</a:t>
            </a:r>
          </a:p>
          <a:p>
            <a:pPr>
              <a:lnSpc>
                <a:spcPct val="125000"/>
              </a:lnSpc>
            </a:pPr>
            <a:r>
              <a:rPr sz="1440">
                <a:solidFill>
                  <a:srgbClr val="E8E8E8"/>
                </a:solidFill>
                <a:latin typeface="Consolas"/>
              </a:rPr>
              <a:t>&lt;domain-config&gt;</a:t>
            </a:r>
          </a:p>
          <a:p>
            <a:pPr>
              <a:lnSpc>
                <a:spcPct val="125000"/>
              </a:lnSpc>
            </a:pPr>
            <a:r>
              <a:rPr sz="1440">
                <a:solidFill>
                  <a:srgbClr val="E8E8E8"/>
                </a:solidFill>
                <a:latin typeface="Consolas"/>
              </a:rPr>
              <a:t>  &lt;domain includeSubdomains="true"&gt;api.bitacora.example&lt;/domain&gt;</a:t>
            </a:r>
          </a:p>
          <a:p>
            <a:pPr>
              <a:lnSpc>
                <a:spcPct val="125000"/>
              </a:lnSpc>
            </a:pPr>
            <a:r>
              <a:rPr sz="1440">
                <a:solidFill>
                  <a:srgbClr val="E8E8E8"/>
                </a:solidFill>
                <a:latin typeface="Consolas"/>
              </a:rPr>
              <a:t>  &lt;pin-set expiration="2027-06-30"&gt;</a:t>
            </a:r>
          </a:p>
          <a:p>
            <a:pPr>
              <a:lnSpc>
                <a:spcPct val="125000"/>
              </a:lnSpc>
            </a:pPr>
            <a:r>
              <a:rPr sz="1440">
                <a:solidFill>
                  <a:srgbClr val="E8E8E8"/>
                </a:solidFill>
                <a:latin typeface="Consolas"/>
              </a:rPr>
              <a:t>    &lt;pin digest="SHA-256"&gt;PIN_PRINCIPAL_BASE64=&lt;/pin&gt;</a:t>
            </a:r>
          </a:p>
          <a:p>
            <a:pPr>
              <a:lnSpc>
                <a:spcPct val="125000"/>
              </a:lnSpc>
            </a:pPr>
            <a:r>
              <a:rPr sz="1440">
                <a:solidFill>
                  <a:srgbClr val="E8E8E8"/>
                </a:solidFill>
                <a:latin typeface="Consolas"/>
              </a:rPr>
              <a:t>    &lt;pin digest="SHA-256"&gt;PIN_DE_RESPALDO_BASE64=&lt;/pin&gt;</a:t>
            </a:r>
          </a:p>
          <a:p>
            <a:pPr>
              <a:lnSpc>
                <a:spcPct val="125000"/>
              </a:lnSpc>
            </a:pPr>
            <a:r>
              <a:rPr sz="1440">
                <a:solidFill>
                  <a:srgbClr val="E8E8E8"/>
                </a:solidFill>
                <a:latin typeface="Consolas"/>
              </a:rPr>
              <a:t>  &lt;/pin-set&gt;&lt;/domain-config&gt;</a:t>
            </a:r>
          </a:p>
        </p:txBody>
      </p:sp>
      <p:sp>
        <p:nvSpPr>
          <p:cNvPr id="14" name="Oval 13"/>
          <p:cNvSpPr/>
          <p:nvPr/>
        </p:nvSpPr>
        <p:spPr>
          <a:xfrm>
            <a:off x="585216" y="5568590"/>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5382628"/>
            <a:ext cx="10698480" cy="472509"/>
          </a:xfrm>
          <a:prstGeom prst="rect">
            <a:avLst/>
          </a:prstGeom>
          <a:noFill/>
        </p:spPr>
        <p:txBody>
          <a:bodyPr wrap="square" anchor="ctr" lIns="0" rIns="0" tIns="0" bIns="0">
            <a:spAutoFit/>
          </a:bodyPr>
          <a:lstStyle/>
          <a:p>
            <a:pPr algn="l"/>
            <a:r>
              <a:rPr sz="1961" b="1">
                <a:solidFill>
                  <a:srgbClr val="156082"/>
                </a:solidFill>
                <a:latin typeface="Consolas"/>
              </a:rPr>
              <a:t>CapacitorHttp</a:t>
            </a:r>
            <a:r>
              <a:rPr sz="2086" b="1">
                <a:solidFill>
                  <a:srgbClr val="0E2841"/>
                </a:solidFill>
                <a:latin typeface="Aptos"/>
              </a:rPr>
              <a:t> activo: fetch y XHR por pila nativa</a:t>
            </a:r>
          </a:p>
        </p:txBody>
      </p:sp>
      <p:sp>
        <p:nvSpPr>
          <p:cNvPr id="16" name="Oval 15"/>
          <p:cNvSpPr/>
          <p:nvPr/>
        </p:nvSpPr>
        <p:spPr>
          <a:xfrm>
            <a:off x="585216" y="6041100"/>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 y="5855138"/>
            <a:ext cx="10698480" cy="472509"/>
          </a:xfrm>
          <a:prstGeom prst="rect">
            <a:avLst/>
          </a:prstGeom>
          <a:noFill/>
        </p:spPr>
        <p:txBody>
          <a:bodyPr wrap="square" anchor="ctr" lIns="0" rIns="0" tIns="0" bIns="0">
            <a:spAutoFit/>
          </a:bodyPr>
          <a:lstStyle/>
          <a:p>
            <a:pPr algn="l"/>
            <a:r>
              <a:rPr sz="2086" b="1">
                <a:solidFill>
                  <a:srgbClr val="0E2841"/>
                </a:solidFill>
                <a:latin typeface="Aptos"/>
              </a:rPr>
              <a:t>Nunca </a:t>
            </a:r>
            <a:r>
              <a:rPr sz="1961" b="1">
                <a:solidFill>
                  <a:srgbClr val="156082"/>
                </a:solidFill>
                <a:latin typeface="Consolas"/>
              </a:rPr>
              <a:t>server.url</a:t>
            </a:r>
            <a:r>
              <a:rPr sz="2086" b="1">
                <a:solidFill>
                  <a:srgbClr val="0E2841"/>
                </a:solidFill>
                <a:latin typeface="Aptos"/>
              </a:rPr>
              <a:t> ni </a:t>
            </a:r>
            <a:r>
              <a:rPr sz="1961" b="1">
                <a:solidFill>
                  <a:srgbClr val="156082"/>
                </a:solidFill>
                <a:latin typeface="Consolas"/>
              </a:rPr>
              <a:t>cleartext</a:t>
            </a:r>
            <a:r>
              <a:rPr sz="2086" b="1">
                <a:solidFill>
                  <a:srgbClr val="0E2841"/>
                </a:solidFill>
                <a:latin typeface="Aptos"/>
              </a:rPr>
              <a:t> en release</a:t>
            </a:r>
          </a:p>
        </p:txBody>
      </p:sp>
      <p:sp>
        <p:nvSpPr>
          <p:cNvPr id="18" name="TextBox 1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19" name="TextBox 1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17 / 45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NATIVO, CALIDAD Y DESPLIEGUE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Ocho controles antes de cada release</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6"/>
        </p:xfrm>
        <a:graphic>
          <a:graphicData uri="http://schemas.openxmlformats.org/drawingml/2006/table">
            <a:tbl>
              <a:tblPr firstRow="1">
                <a:tableStyleId>{5C22544A-7EE6-4342-B048-85BDC9FD1C3A}</a:tableStyleId>
              </a:tblPr>
              <a:tblGrid>
                <a:gridCol w="5532120"/>
                <a:gridCol w="5532120"/>
              </a:tblGrid>
              <a:tr h="486054">
                <a:tc>
                  <a:txBody>
                    <a:bodyPr wrap="square"/>
                    <a:lstStyle/>
                    <a:p>
                      <a:r>
                        <a:rPr sz="1513" b="1">
                          <a:solidFill>
                            <a:srgbClr val="FFFFFF"/>
                          </a:solidFill>
                          <a:latin typeface="Aptos"/>
                        </a:rPr>
                        <a:t>Ámbito</a:t>
                      </a:r>
                    </a:p>
                  </a:txBody>
                  <a:tcPr anchor="ctr" marL="146304" marR="146304">
                    <a:solidFill>
                      <a:srgbClr val="156082"/>
                    </a:solidFill>
                  </a:tcPr>
                </a:tc>
                <a:tc>
                  <a:txBody>
                    <a:bodyPr wrap="square"/>
                    <a:lstStyle/>
                    <a:p>
                      <a:r>
                        <a:rPr sz="1513" b="1">
                          <a:solidFill>
                            <a:srgbClr val="FFFFFF"/>
                          </a:solidFill>
                          <a:latin typeface="Aptos"/>
                        </a:rPr>
                        <a:t>Control que se verifica</a:t>
                      </a:r>
                    </a:p>
                  </a:txBody>
                  <a:tcPr anchor="ctr" marL="146304" marR="146304">
                    <a:solidFill>
                      <a:srgbClr val="156082"/>
                    </a:solidFill>
                  </a:tcPr>
                </a:tc>
              </a:tr>
              <a:tr h="486054">
                <a:tc>
                  <a:txBody>
                    <a:bodyPr wrap="square"/>
                    <a:lstStyle/>
                    <a:p>
                      <a:r>
                        <a:rPr sz="1412" b="1">
                          <a:solidFill>
                            <a:srgbClr val="33475B"/>
                          </a:solidFill>
                          <a:latin typeface="Aptos"/>
                        </a:rPr>
                        <a:t>Tokens y secretos</a:t>
                      </a:r>
                    </a:p>
                  </a:txBody>
                  <a:tcPr anchor="ctr" marL="146304" marR="146304">
                    <a:solidFill>
                      <a:srgbClr val="FFFFFF"/>
                    </a:solidFill>
                  </a:tcPr>
                </a:tc>
                <a:tc>
                  <a:txBody>
                    <a:bodyPr wrap="square"/>
                    <a:lstStyle/>
                    <a:p>
                      <a:r>
                        <a:rPr sz="1412" b="0">
                          <a:solidFill>
                            <a:srgbClr val="33475B"/>
                          </a:solidFill>
                          <a:latin typeface="Aptos"/>
                        </a:rPr>
                        <a:t>Solo en Keychain / Keystore; nunca </a:t>
                      </a:r>
                      <a:r>
                        <a:rPr sz="1327" b="0">
                          <a:solidFill>
                            <a:srgbClr val="156082"/>
                          </a:solidFill>
                          <a:latin typeface="Consolas"/>
                        </a:rPr>
                        <a:t>Preferences</a:t>
                      </a:r>
                      <a:r>
                        <a:rPr sz="1412" b="0">
                          <a:solidFill>
                            <a:srgbClr val="33475B"/>
                          </a:solidFill>
                          <a:latin typeface="Aptos"/>
                        </a:rPr>
                        <a:t>, </a:t>
                      </a:r>
                      <a:r>
                        <a:rPr sz="1327" b="0">
                          <a:solidFill>
                            <a:srgbClr val="156082"/>
                          </a:solidFill>
                          <a:latin typeface="Consolas"/>
                        </a:rPr>
                        <a:t>localStorage</a:t>
                      </a:r>
                      <a:r>
                        <a:rPr sz="1412" b="0">
                          <a:solidFill>
                            <a:srgbClr val="33475B"/>
                          </a:solidFill>
                          <a:latin typeface="Aptos"/>
                        </a:rPr>
                        <a:t> ni SQLite sin cifrar</a:t>
                      </a:r>
                    </a:p>
                  </a:txBody>
                  <a:tcPr anchor="ctr" marL="146304" marR="146304">
                    <a:solidFill>
                      <a:srgbClr val="FFFFFF"/>
                    </a:solidFill>
                  </a:tcPr>
                </a:tc>
              </a:tr>
              <a:tr h="486054">
                <a:tc>
                  <a:txBody>
                    <a:bodyPr wrap="square"/>
                    <a:lstStyle/>
                    <a:p>
                      <a:r>
                        <a:rPr sz="1412" b="1">
                          <a:solidFill>
                            <a:srgbClr val="33475B"/>
                          </a:solidFill>
                          <a:latin typeface="Aptos"/>
                        </a:rPr>
                        <a:t>Datos locales</a:t>
                      </a:r>
                    </a:p>
                  </a:txBody>
                  <a:tcPr anchor="ctr" marL="146304" marR="146304">
                    <a:solidFill>
                      <a:srgbClr val="F4F7FA"/>
                    </a:solidFill>
                  </a:tcPr>
                </a:tc>
                <a:tc>
                  <a:txBody>
                    <a:bodyPr wrap="square"/>
                    <a:lstStyle/>
                    <a:p>
                      <a:r>
                        <a:rPr sz="1412" b="0">
                          <a:solidFill>
                            <a:srgbClr val="33475B"/>
                          </a:solidFill>
                          <a:latin typeface="Aptos"/>
                        </a:rPr>
                        <a:t>Cifrados, fotos en directorio privado, borrados al cerrar sesión, sin PII innecesaria</a:t>
                      </a:r>
                    </a:p>
                  </a:txBody>
                  <a:tcPr anchor="ctr" marL="146304" marR="146304">
                    <a:solidFill>
                      <a:srgbClr val="F4F7FA"/>
                    </a:solidFill>
                  </a:tcPr>
                </a:tc>
              </a:tr>
              <a:tr h="486054">
                <a:tc>
                  <a:txBody>
                    <a:bodyPr wrap="square"/>
                    <a:lstStyle/>
                    <a:p>
                      <a:r>
                        <a:rPr sz="1412" b="1">
                          <a:solidFill>
                            <a:srgbClr val="33475B"/>
                          </a:solidFill>
                          <a:latin typeface="Aptos"/>
                        </a:rPr>
                        <a:t>Transporte</a:t>
                      </a:r>
                    </a:p>
                  </a:txBody>
                  <a:tcPr anchor="ctr" marL="146304" marR="146304">
                    <a:solidFill>
                      <a:srgbClr val="FFFFFF"/>
                    </a:solidFill>
                  </a:tcPr>
                </a:tc>
                <a:tc>
                  <a:txBody>
                    <a:bodyPr wrap="square"/>
                    <a:lstStyle/>
                    <a:p>
                      <a:r>
                        <a:rPr sz="1412" b="0">
                          <a:solidFill>
                            <a:srgbClr val="33475B"/>
                          </a:solidFill>
                          <a:latin typeface="Aptos"/>
                        </a:rPr>
                        <a:t>Todo por TLS; sin </a:t>
                      </a:r>
                      <a:r>
                        <a:rPr sz="1327" b="0">
                          <a:solidFill>
                            <a:srgbClr val="156082"/>
                          </a:solidFill>
                          <a:latin typeface="Consolas"/>
                        </a:rPr>
                        <a:t>cleartext</a:t>
                      </a:r>
                      <a:r>
                        <a:rPr sz="1412" b="0">
                          <a:solidFill>
                            <a:srgbClr val="33475B"/>
                          </a:solidFill>
                          <a:latin typeface="Aptos"/>
                        </a:rPr>
                        <a:t> ni </a:t>
                      </a:r>
                      <a:r>
                        <a:rPr sz="1327" b="0">
                          <a:solidFill>
                            <a:srgbClr val="156082"/>
                          </a:solidFill>
                          <a:latin typeface="Consolas"/>
                        </a:rPr>
                        <a:t>server.url</a:t>
                      </a:r>
                      <a:r>
                        <a:rPr sz="1412" b="0">
                          <a:solidFill>
                            <a:srgbClr val="33475B"/>
                          </a:solidFill>
                          <a:latin typeface="Aptos"/>
                        </a:rPr>
                        <a:t> en el build de release</a:t>
                      </a:r>
                    </a:p>
                  </a:txBody>
                  <a:tcPr anchor="ctr" marL="146304" marR="146304">
                    <a:solidFill>
                      <a:srgbClr val="FFFFFF"/>
                    </a:solidFill>
                  </a:tcPr>
                </a:tc>
              </a:tr>
              <a:tr h="486054">
                <a:tc>
                  <a:txBody>
                    <a:bodyPr wrap="square"/>
                    <a:lstStyle/>
                    <a:p>
                      <a:r>
                        <a:rPr sz="1412" b="1">
                          <a:solidFill>
                            <a:srgbClr val="33475B"/>
                          </a:solidFill>
                          <a:latin typeface="Aptos"/>
                        </a:rPr>
                        <a:t>Pinning</a:t>
                      </a:r>
                    </a:p>
                  </a:txBody>
                  <a:tcPr anchor="ctr" marL="146304" marR="146304">
                    <a:solidFill>
                      <a:srgbClr val="F4F7FA"/>
                    </a:solidFill>
                  </a:tcPr>
                </a:tc>
                <a:tc>
                  <a:txBody>
                    <a:bodyPr wrap="square"/>
                    <a:lstStyle/>
                    <a:p>
                      <a:r>
                        <a:rPr sz="1412" b="0">
                          <a:solidFill>
                            <a:srgbClr val="33475B"/>
                          </a:solidFill>
                          <a:latin typeface="Aptos"/>
                        </a:rPr>
                        <a:t>En autenticación (y pagos, si los hay), con pin de respaldo</a:t>
                      </a:r>
                    </a:p>
                  </a:txBody>
                  <a:tcPr anchor="ctr" marL="146304" marR="146304">
                    <a:solidFill>
                      <a:srgbClr val="F4F7FA"/>
                    </a:solidFill>
                  </a:tcPr>
                </a:tc>
              </a:tr>
              <a:tr h="486054">
                <a:tc>
                  <a:txBody>
                    <a:bodyPr wrap="square"/>
                    <a:lstStyle/>
                    <a:p>
                      <a:r>
                        <a:rPr sz="1412" b="1">
                          <a:solidFill>
                            <a:srgbClr val="33475B"/>
                          </a:solidFill>
                          <a:latin typeface="Aptos"/>
                        </a:rPr>
                        <a:t>Permisos</a:t>
                      </a:r>
                    </a:p>
                  </a:txBody>
                  <a:tcPr anchor="ctr" marL="146304" marR="146304">
                    <a:solidFill>
                      <a:srgbClr val="FFFFFF"/>
                    </a:solidFill>
                  </a:tcPr>
                </a:tc>
                <a:tc>
                  <a:txBody>
                    <a:bodyPr wrap="square"/>
                    <a:lstStyle/>
                    <a:p>
                      <a:r>
                        <a:rPr sz="1412" b="0">
                          <a:solidFill>
                            <a:srgbClr val="33475B"/>
                          </a:solidFill>
                          <a:latin typeface="Aptos"/>
                        </a:rPr>
                        <a:t>Mínimos, pedidos just-in-time; ninguno declarado sin uso</a:t>
                      </a:r>
                    </a:p>
                  </a:txBody>
                  <a:tcPr anchor="ctr" marL="146304" marR="146304">
                    <a:solidFill>
                      <a:srgbClr val="FFFFFF"/>
                    </a:solidFill>
                  </a:tcPr>
                </a:tc>
              </a:tr>
              <a:tr h="486054">
                <a:tc>
                  <a:txBody>
                    <a:bodyPr wrap="square"/>
                    <a:lstStyle/>
                    <a:p>
                      <a:r>
                        <a:rPr sz="1412" b="1">
                          <a:solidFill>
                            <a:srgbClr val="33475B"/>
                          </a:solidFill>
                          <a:latin typeface="Aptos"/>
                        </a:rPr>
                        <a:t>Build</a:t>
                      </a:r>
                    </a:p>
                  </a:txBody>
                  <a:tcPr anchor="ctr" marL="146304" marR="146304">
                    <a:solidFill>
                      <a:srgbClr val="F4F7FA"/>
                    </a:solidFill>
                  </a:tcPr>
                </a:tc>
                <a:tc>
                  <a:txBody>
                    <a:bodyPr wrap="square"/>
                    <a:lstStyle/>
                    <a:p>
                      <a:r>
                        <a:rPr sz="1412" b="0">
                          <a:solidFill>
                            <a:srgbClr val="33475B"/>
                          </a:solidFill>
                          <a:latin typeface="Aptos"/>
                        </a:rPr>
                        <a:t>R8 y </a:t>
                      </a:r>
                      <a:r>
                        <a:rPr sz="1327" b="0">
                          <a:solidFill>
                            <a:srgbClr val="156082"/>
                          </a:solidFill>
                          <a:latin typeface="Consolas"/>
                        </a:rPr>
                        <a:t>ng build</a:t>
                      </a:r>
                      <a:r>
                        <a:rPr sz="1412" b="0">
                          <a:solidFill>
                            <a:srgbClr val="33475B"/>
                          </a:solidFill>
                          <a:latin typeface="Aptos"/>
                        </a:rPr>
                        <a:t> de producción; sin logs de depuración ni banderas de debug</a:t>
                      </a:r>
                    </a:p>
                  </a:txBody>
                  <a:tcPr anchor="ctr" marL="146304" marR="146304">
                    <a:solidFill>
                      <a:srgbClr val="F4F7FA"/>
                    </a:solidFill>
                  </a:tcPr>
                </a:tc>
              </a:tr>
              <a:tr h="486054">
                <a:tc>
                  <a:txBody>
                    <a:bodyPr wrap="square"/>
                    <a:lstStyle/>
                    <a:p>
                      <a:r>
                        <a:rPr sz="1412" b="1">
                          <a:solidFill>
                            <a:srgbClr val="33475B"/>
                          </a:solidFill>
                          <a:latin typeface="Aptos"/>
                        </a:rPr>
                        <a:t>Bundle y repositorio</a:t>
                      </a:r>
                    </a:p>
                  </a:txBody>
                  <a:tcPr anchor="ctr" marL="146304" marR="146304">
                    <a:solidFill>
                      <a:srgbClr val="FFFFFF"/>
                    </a:solidFill>
                  </a:tcPr>
                </a:tc>
                <a:tc>
                  <a:txBody>
                    <a:bodyPr wrap="square"/>
                    <a:lstStyle/>
                    <a:p>
                      <a:r>
                        <a:rPr sz="1412" b="0">
                          <a:solidFill>
                            <a:srgbClr val="33475B"/>
                          </a:solidFill>
                          <a:latin typeface="Aptos"/>
                        </a:rPr>
                        <a:t>Ninguna llave ni credencial</a:t>
                      </a:r>
                    </a:p>
                  </a:txBody>
                  <a:tcPr anchor="ctr" marL="146304" marR="146304">
                    <a:solidFill>
                      <a:srgbClr val="FFFFFF"/>
                    </a:solidFill>
                  </a:tcPr>
                </a:tc>
              </a:tr>
              <a:tr h="486054">
                <a:tc>
                  <a:txBody>
                    <a:bodyPr wrap="square"/>
                    <a:lstStyle/>
                    <a:p>
                      <a:r>
                        <a:rPr sz="1412" b="1">
                          <a:solidFill>
                            <a:srgbClr val="33475B"/>
                          </a:solidFill>
                          <a:latin typeface="Aptos"/>
                        </a:rPr>
                        <a:t>Dependencias</a:t>
                      </a:r>
                    </a:p>
                  </a:txBody>
                  <a:tcPr anchor="ctr" marL="146304" marR="146304">
                    <a:solidFill>
                      <a:srgbClr val="F4F7FA"/>
                    </a:solidFill>
                  </a:tcPr>
                </a:tc>
                <a:tc>
                  <a:txBody>
                    <a:bodyPr wrap="square"/>
                    <a:lstStyle/>
                    <a:p>
                      <a:r>
                        <a:rPr sz="1327" b="0">
                          <a:solidFill>
                            <a:srgbClr val="156082"/>
                          </a:solidFill>
                          <a:latin typeface="Consolas"/>
                        </a:rPr>
                        <a:t>npm audit</a:t>
                      </a:r>
                      <a:r>
                        <a:rPr sz="1412" b="0">
                          <a:solidFill>
                            <a:srgbClr val="33475B"/>
                          </a:solidFill>
                          <a:latin typeface="Aptos"/>
                        </a:rPr>
                        <a:t> ejecutado y SDK de terceros revisados por los datos que recolectan</a:t>
                      </a:r>
                    </a:p>
                  </a:txBody>
                  <a:tcPr anchor="ctr" marL="146304" marR="146304">
                    <a:solidFill>
                      <a:srgbClr val="F4F7FA"/>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18 / 45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¿Dónde se guarda el token de acceso?</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En </a:t>
            </a:r>
            <a:r>
              <a:rPr sz="1974" b="0">
                <a:solidFill>
                  <a:srgbClr val="156082"/>
                </a:solidFill>
                <a:latin typeface="Consolas"/>
              </a:rPr>
              <a:t>@capacitor/preferences</a:t>
            </a:r>
            <a:r>
              <a:rPr sz="2100" b="0">
                <a:solidFill>
                  <a:srgbClr val="0E2841"/>
                </a:solidFill>
                <a:latin typeface="Aptos"/>
              </a:rPr>
              <a:t>, que persiste aunque se cierre la app</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En </a:t>
            </a:r>
            <a:r>
              <a:rPr sz="1974" b="0">
                <a:solidFill>
                  <a:srgbClr val="156082"/>
                </a:solidFill>
                <a:latin typeface="Consolas"/>
              </a:rPr>
              <a:t>localStorage</a:t>
            </a:r>
            <a:r>
              <a:rPr sz="2100" b="0">
                <a:solidFill>
                  <a:srgbClr val="0E2841"/>
                </a:solidFill>
                <a:latin typeface="Aptos"/>
              </a:rPr>
              <a:t>, cifrado con una clave guardada en </a:t>
            </a:r>
            <a:r>
              <a:rPr sz="1974" b="0">
                <a:solidFill>
                  <a:srgbClr val="156082"/>
                </a:solidFill>
                <a:latin typeface="Consolas"/>
              </a:rPr>
              <a:t>environment.ts</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En almacenamiento seguro respaldado por Keychain o por Keystore</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En SQLite, junto con la caché offline de las visitas del técnico</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19 / 45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548640"/>
            <a:ext cx="9052560" cy="822960"/>
          </a:xfrm>
          <a:prstGeom prst="rect">
            <a:avLst/>
          </a:prstGeom>
          <a:noFill/>
        </p:spPr>
        <p:txBody>
          <a:bodyPr wrap="square" anchor="t" lIns="0" rIns="0" tIns="0" bIns="0">
            <a:spAutoFit/>
          </a:bodyPr>
          <a:lstStyle/>
          <a:p>
            <a:pPr algn="l"/>
            <a:r>
              <a:rPr sz="2200" b="1">
                <a:solidFill>
                  <a:srgbClr val="0E2841"/>
                </a:solidFill>
                <a:latin typeface="Aptos Display"/>
              </a:rPr>
              <a:t>El equipo quiere pinning para la API de autenticación. ¿Qué es correcto en una app Ionic + Capacitor?</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Se implementa en un interceptor de </a:t>
            </a:r>
            <a:r>
              <a:rPr sz="1974" b="0">
                <a:solidFill>
                  <a:srgbClr val="156082"/>
                </a:solidFill>
                <a:latin typeface="Consolas"/>
              </a:rPr>
              <a:t>HttpClient</a:t>
            </a:r>
            <a:r>
              <a:rPr sz="2100" b="0">
                <a:solidFill>
                  <a:srgbClr val="0E2841"/>
                </a:solidFill>
                <a:latin typeface="Aptos"/>
              </a:rPr>
              <a:t> dentro de Angular</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Se activa con </a:t>
            </a:r>
            <a:r>
              <a:rPr sz="1974" b="0">
                <a:solidFill>
                  <a:srgbClr val="156082"/>
                </a:solidFill>
                <a:latin typeface="Consolas"/>
              </a:rPr>
              <a:t>cleartext: false</a:t>
            </a:r>
            <a:r>
              <a:rPr sz="2100" b="0">
                <a:solidFill>
                  <a:srgbClr val="0E2841"/>
                </a:solidFill>
                <a:latin typeface="Aptos"/>
              </a:rPr>
              <a:t> en el archivo </a:t>
            </a:r>
            <a:r>
              <a:rPr sz="1974" b="0">
                <a:solidFill>
                  <a:srgbClr val="156082"/>
                </a:solidFill>
                <a:latin typeface="Consolas"/>
              </a:rPr>
              <a:t>capacitor.config.ts</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Se configura en la capa nativa e incluye al menos un pin de respaldo</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Es redundante, porque TLS ya valida el certificado del servidor</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20 / 45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04</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Rendimiento con presupuestos</a:t>
            </a:r>
          </a:p>
        </p:txBody>
      </p:sp>
      <p:sp>
        <p:nvSpPr>
          <p:cNvPr id="5" name="TextBox 4"/>
          <p:cNvSpPr txBox="1"/>
          <p:nvPr/>
        </p:nvSpPr>
        <p:spPr>
          <a:xfrm>
            <a:off x="1828800" y="4617720"/>
            <a:ext cx="8503920" cy="731520"/>
          </a:xfrm>
          <a:prstGeom prst="rect">
            <a:avLst/>
          </a:prstGeom>
          <a:noFill/>
        </p:spPr>
        <p:txBody>
          <a:bodyPr wrap="square" anchor="t" lIns="0" rIns="0" tIns="0" bIns="0">
            <a:spAutoFit/>
          </a:bodyPr>
          <a:lstStyle/>
          <a:p>
            <a:pPr algn="ctr"/>
            <a:r>
              <a:rPr sz="1600" b="0">
                <a:solidFill>
                  <a:srgbClr val="E8E8E8"/>
                </a:solidFill>
                <a:latin typeface="Aptos"/>
              </a:rPr>
              <a:t>Encuentro 3 · un número, una forma de medirlo y un bloqueo</a:t>
            </a:r>
          </a:p>
        </p:txBody>
      </p:sp>
      <p:pic>
        <p:nvPicPr>
          <p:cNvPr id="6" name="Picture 5"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NATIVO, CALIDAD Y DESPLIEGUE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Un presupuesto superado es un defecto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13385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024128"/>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133856"/>
          </a:xfrm>
          <a:prstGeom prst="rect">
            <a:avLst/>
          </a:prstGeom>
          <a:noFill/>
        </p:spPr>
        <p:txBody>
          <a:bodyPr wrap="square" anchor="ctr" lIns="0" rIns="0" tIns="0" bIns="0">
            <a:spAutoFit/>
          </a:bodyPr>
          <a:lstStyle/>
          <a:p>
            <a:pPr algn="l">
              <a:lnSpc>
                <a:spcPct val="125000"/>
              </a:lnSpc>
            </a:pPr>
            <a:r>
              <a:rPr sz="2220" b="1">
                <a:solidFill>
                  <a:srgbClr val="0E2841"/>
                </a:solidFill>
                <a:latin typeface="Aptos Display"/>
              </a:rPr>
              <a:t>Medir antes de optimizar: </a:t>
            </a:r>
            <a:r>
              <a:rPr sz="2087" b="1">
                <a:solidFill>
                  <a:srgbClr val="156082"/>
                </a:solidFill>
                <a:latin typeface="Consolas"/>
              </a:rPr>
              <a:t>chrome://inspect</a:t>
            </a:r>
            <a:r>
              <a:rPr sz="2220" b="1">
                <a:solidFill>
                  <a:srgbClr val="0E2841"/>
                </a:solidFill>
                <a:latin typeface="Aptos Display"/>
              </a:rPr>
              <a:t> o Safari, en un equipo real de gama media. El emulador miente a tu favor.</a:t>
            </a:r>
          </a:p>
        </p:txBody>
      </p:sp>
      <p:graphicFrame>
        <p:nvGraphicFramePr>
          <p:cNvPr id="10" name="Table 9"/>
          <p:cNvGraphicFramePr>
            <a:graphicFrameLocks noGrp="1"/>
          </p:cNvGraphicFramePr>
          <p:nvPr/>
        </p:nvGraphicFramePr>
        <p:xfrm>
          <a:off x="566928" y="2907791"/>
          <a:ext cx="11064240" cy="3419850"/>
        </p:xfrm>
        <a:graphic>
          <a:graphicData uri="http://schemas.openxmlformats.org/drawingml/2006/table">
            <a:tbl>
              <a:tblPr firstRow="1">
                <a:tableStyleId>{5C22544A-7EE6-4342-B048-85BDC9FD1C3A}</a:tableStyleId>
              </a:tblPr>
              <a:tblGrid>
                <a:gridCol w="2766060"/>
                <a:gridCol w="2766060"/>
                <a:gridCol w="2766060"/>
                <a:gridCol w="2766060"/>
              </a:tblGrid>
              <a:tr h="488550">
                <a:tc>
                  <a:txBody>
                    <a:bodyPr wrap="square"/>
                    <a:lstStyle/>
                    <a:p>
                      <a:r>
                        <a:rPr sz="1513" b="1">
                          <a:solidFill>
                            <a:srgbClr val="FFFFFF"/>
                          </a:solidFill>
                          <a:latin typeface="Aptos"/>
                        </a:rPr>
                        <a:t>Métrica</a:t>
                      </a:r>
                    </a:p>
                  </a:txBody>
                  <a:tcPr anchor="ctr" marL="146304" marR="146304">
                    <a:solidFill>
                      <a:srgbClr val="156082"/>
                    </a:solidFill>
                  </a:tcPr>
                </a:tc>
                <a:tc>
                  <a:txBody>
                    <a:bodyPr wrap="square"/>
                    <a:lstStyle/>
                    <a:p>
                      <a:r>
                        <a:rPr sz="1513" b="1">
                          <a:solidFill>
                            <a:srgbClr val="FFFFFF"/>
                          </a:solidFill>
                          <a:latin typeface="Aptos"/>
                        </a:rPr>
                        <a:t>Presupuesto</a:t>
                      </a:r>
                    </a:p>
                  </a:txBody>
                  <a:tcPr anchor="ctr" marL="146304" marR="146304">
                    <a:solidFill>
                      <a:srgbClr val="156082"/>
                    </a:solidFill>
                  </a:tcPr>
                </a:tc>
                <a:tc>
                  <a:txBody>
                    <a:bodyPr wrap="square"/>
                    <a:lstStyle/>
                    <a:p>
                      <a:r>
                        <a:rPr sz="1513" b="1">
                          <a:solidFill>
                            <a:srgbClr val="FFFFFF"/>
                          </a:solidFill>
                          <a:latin typeface="Aptos"/>
                        </a:rPr>
                        <a:t>Cómo se mide</a:t>
                      </a:r>
                    </a:p>
                  </a:txBody>
                  <a:tcPr anchor="ctr" marL="146304" marR="146304">
                    <a:solidFill>
                      <a:srgbClr val="156082"/>
                    </a:solidFill>
                  </a:tcPr>
                </a:tc>
                <a:tc>
                  <a:txBody>
                    <a:bodyPr wrap="square"/>
                    <a:lstStyle/>
                    <a:p>
                      <a:r>
                        <a:rPr sz="1513" b="1">
                          <a:solidFill>
                            <a:srgbClr val="FFFFFF"/>
                          </a:solidFill>
                          <a:latin typeface="Aptos"/>
                        </a:rPr>
                        <a:t>Qué suele romperlo</a:t>
                      </a:r>
                    </a:p>
                  </a:txBody>
                  <a:tcPr anchor="ctr" marL="146304" marR="146304">
                    <a:solidFill>
                      <a:srgbClr val="156082"/>
                    </a:solidFill>
                  </a:tcPr>
                </a:tc>
              </a:tr>
              <a:tr h="488550">
                <a:tc>
                  <a:txBody>
                    <a:bodyPr wrap="square"/>
                    <a:lstStyle/>
                    <a:p>
                      <a:r>
                        <a:rPr sz="1413" b="1">
                          <a:solidFill>
                            <a:srgbClr val="33475B"/>
                          </a:solidFill>
                          <a:latin typeface="Aptos"/>
                        </a:rPr>
                        <a:t>Arranque en frío</a:t>
                      </a:r>
                    </a:p>
                  </a:txBody>
                  <a:tcPr anchor="ctr" marL="146304" marR="146304">
                    <a:solidFill>
                      <a:srgbClr val="FFFFFF"/>
                    </a:solidFill>
                  </a:tcPr>
                </a:tc>
                <a:tc>
                  <a:txBody>
                    <a:bodyPr wrap="square"/>
                    <a:lstStyle/>
                    <a:p>
                      <a:r>
                        <a:rPr sz="1413" b="0">
                          <a:solidFill>
                            <a:srgbClr val="33475B"/>
                          </a:solidFill>
                          <a:latin typeface="Aptos"/>
                        </a:rPr>
                        <a:t>≤ 2 s al primer frame útil</a:t>
                      </a:r>
                    </a:p>
                  </a:txBody>
                  <a:tcPr anchor="ctr" marL="146304" marR="146304">
                    <a:solidFill>
                      <a:srgbClr val="FFFFFF"/>
                    </a:solidFill>
                  </a:tcPr>
                </a:tc>
                <a:tc>
                  <a:txBody>
                    <a:bodyPr wrap="square"/>
                    <a:lstStyle/>
                    <a:p>
                      <a:r>
                        <a:rPr sz="1328" b="0">
                          <a:solidFill>
                            <a:srgbClr val="156082"/>
                          </a:solidFill>
                          <a:latin typeface="Consolas"/>
                        </a:rPr>
                        <a:t>am start -W</a:t>
                      </a:r>
                      <a:r>
                        <a:rPr sz="1413" b="0">
                          <a:solidFill>
                            <a:srgbClr val="33475B"/>
                          </a:solidFill>
                          <a:latin typeface="Aptos"/>
                        </a:rPr>
                        <a:t> + </a:t>
                      </a:r>
                      <a:r>
                        <a:rPr sz="1328" b="0">
                          <a:solidFill>
                            <a:srgbClr val="156082"/>
                          </a:solidFill>
                          <a:latin typeface="Consolas"/>
                        </a:rPr>
                        <a:t>performance.mark</a:t>
                      </a:r>
                    </a:p>
                  </a:txBody>
                  <a:tcPr anchor="ctr" marL="146304" marR="146304">
                    <a:solidFill>
                      <a:srgbClr val="FFFFFF"/>
                    </a:solidFill>
                  </a:tcPr>
                </a:tc>
                <a:tc>
                  <a:txBody>
                    <a:bodyPr wrap="square"/>
                    <a:lstStyle/>
                    <a:p>
                      <a:r>
                        <a:rPr sz="1413" b="0">
                          <a:solidFill>
                            <a:srgbClr val="33475B"/>
                          </a:solidFill>
                          <a:latin typeface="Aptos"/>
                        </a:rPr>
                        <a:t>Bundle grande, trabajo síncrono</a:t>
                      </a:r>
                    </a:p>
                  </a:txBody>
                  <a:tcPr anchor="ctr" marL="146304" marR="146304">
                    <a:solidFill>
                      <a:srgbClr val="FFFFFF"/>
                    </a:solidFill>
                  </a:tcPr>
                </a:tc>
              </a:tr>
              <a:tr h="488550">
                <a:tc>
                  <a:txBody>
                    <a:bodyPr wrap="square"/>
                    <a:lstStyle/>
                    <a:p>
                      <a:r>
                        <a:rPr sz="1413" b="1">
                          <a:solidFill>
                            <a:srgbClr val="33475B"/>
                          </a:solidFill>
                          <a:latin typeface="Aptos"/>
                        </a:rPr>
                        <a:t>Fluidez</a:t>
                      </a:r>
                    </a:p>
                  </a:txBody>
                  <a:tcPr anchor="ctr" marL="146304" marR="146304">
                    <a:solidFill>
                      <a:srgbClr val="F4F7FA"/>
                    </a:solidFill>
                  </a:tcPr>
                </a:tc>
                <a:tc>
                  <a:txBody>
                    <a:bodyPr wrap="square"/>
                    <a:lstStyle/>
                    <a:p>
                      <a:r>
                        <a:rPr sz="1413" b="0">
                          <a:solidFill>
                            <a:srgbClr val="33475B"/>
                          </a:solidFill>
                          <a:latin typeface="Aptos"/>
                        </a:rPr>
                        <a:t>60 fps (≤ 16,7 ms por frame)</a:t>
                      </a:r>
                    </a:p>
                  </a:txBody>
                  <a:tcPr anchor="ctr" marL="146304" marR="146304">
                    <a:solidFill>
                      <a:srgbClr val="F4F7FA"/>
                    </a:solidFill>
                  </a:tcPr>
                </a:tc>
                <a:tc>
                  <a:txBody>
                    <a:bodyPr wrap="square"/>
                    <a:lstStyle/>
                    <a:p>
                      <a:r>
                        <a:rPr sz="1413" b="0">
                          <a:solidFill>
                            <a:srgbClr val="33475B"/>
                          </a:solidFill>
                          <a:latin typeface="Aptos"/>
                        </a:rPr>
                        <a:t>DevTools remoto, Profiler, Instruments</a:t>
                      </a:r>
                    </a:p>
                  </a:txBody>
                  <a:tcPr anchor="ctr" marL="146304" marR="146304">
                    <a:solidFill>
                      <a:srgbClr val="F4F7FA"/>
                    </a:solidFill>
                  </a:tcPr>
                </a:tc>
                <a:tc>
                  <a:txBody>
                    <a:bodyPr wrap="square"/>
                    <a:lstStyle/>
                    <a:p>
                      <a:r>
                        <a:rPr sz="1413" b="0">
                          <a:solidFill>
                            <a:srgbClr val="33475B"/>
                          </a:solidFill>
                          <a:latin typeface="Aptos"/>
                        </a:rPr>
                        <a:t>Listas sin virtualizar</a:t>
                      </a:r>
                    </a:p>
                  </a:txBody>
                  <a:tcPr anchor="ctr" marL="146304" marR="146304">
                    <a:solidFill>
                      <a:srgbClr val="F4F7FA"/>
                    </a:solidFill>
                  </a:tcPr>
                </a:tc>
              </a:tr>
              <a:tr h="488550">
                <a:tc>
                  <a:txBody>
                    <a:bodyPr wrap="square"/>
                    <a:lstStyle/>
                    <a:p>
                      <a:r>
                        <a:rPr sz="1413" b="1">
                          <a:solidFill>
                            <a:srgbClr val="33475B"/>
                          </a:solidFill>
                          <a:latin typeface="Aptos"/>
                        </a:rPr>
                        <a:t>Bundle inicial</a:t>
                      </a:r>
                    </a:p>
                  </a:txBody>
                  <a:tcPr anchor="ctr" marL="146304" marR="146304">
                    <a:solidFill>
                      <a:srgbClr val="FFFFFF"/>
                    </a:solidFill>
                  </a:tcPr>
                </a:tc>
                <a:tc>
                  <a:txBody>
                    <a:bodyPr wrap="square"/>
                    <a:lstStyle/>
                    <a:p>
                      <a:r>
                        <a:rPr sz="1413" b="0">
                          <a:solidFill>
                            <a:srgbClr val="33475B"/>
                          </a:solidFill>
                          <a:latin typeface="Aptos"/>
                        </a:rPr>
                        <a:t>Umbrales en </a:t>
                      </a:r>
                      <a:r>
                        <a:rPr sz="1328" b="0">
                          <a:solidFill>
                            <a:srgbClr val="156082"/>
                          </a:solidFill>
                          <a:latin typeface="Consolas"/>
                        </a:rPr>
                        <a:t>angular.json</a:t>
                      </a:r>
                    </a:p>
                  </a:txBody>
                  <a:tcPr anchor="ctr" marL="146304" marR="146304">
                    <a:solidFill>
                      <a:srgbClr val="FFFFFF"/>
                    </a:solidFill>
                  </a:tcPr>
                </a:tc>
                <a:tc>
                  <a:txBody>
                    <a:bodyPr wrap="square"/>
                    <a:lstStyle/>
                    <a:p>
                      <a:r>
                        <a:rPr sz="1328" b="0">
                          <a:solidFill>
                            <a:srgbClr val="156082"/>
                          </a:solidFill>
                          <a:latin typeface="Consolas"/>
                        </a:rPr>
                        <a:t>ng build</a:t>
                      </a:r>
                      <a:r>
                        <a:rPr sz="1413" b="0">
                          <a:solidFill>
                            <a:srgbClr val="33475B"/>
                          </a:solidFill>
                          <a:latin typeface="Aptos"/>
                        </a:rPr>
                        <a:t> falla al excederlo</a:t>
                      </a:r>
                    </a:p>
                  </a:txBody>
                  <a:tcPr anchor="ctr" marL="146304" marR="146304">
                    <a:solidFill>
                      <a:srgbClr val="FFFFFF"/>
                    </a:solidFill>
                  </a:tcPr>
                </a:tc>
                <a:tc>
                  <a:txBody>
                    <a:bodyPr wrap="square"/>
                    <a:lstStyle/>
                    <a:p>
                      <a:r>
                        <a:rPr sz="1413" b="0">
                          <a:solidFill>
                            <a:srgbClr val="33475B"/>
                          </a:solidFill>
                          <a:latin typeface="Aptos"/>
                        </a:rPr>
                        <a:t>Rutas sin lazy loading</a:t>
                      </a:r>
                    </a:p>
                  </a:txBody>
                  <a:tcPr anchor="ctr" marL="146304" marR="146304">
                    <a:solidFill>
                      <a:srgbClr val="FFFFFF"/>
                    </a:solidFill>
                  </a:tcPr>
                </a:tc>
              </a:tr>
              <a:tr h="488550">
                <a:tc>
                  <a:txBody>
                    <a:bodyPr wrap="square"/>
                    <a:lstStyle/>
                    <a:p>
                      <a:r>
                        <a:rPr sz="1413" b="1">
                          <a:solidFill>
                            <a:srgbClr val="33475B"/>
                          </a:solidFill>
                          <a:latin typeface="Aptos"/>
                        </a:rPr>
                        <a:t>Tamaño instalado</a:t>
                      </a:r>
                    </a:p>
                  </a:txBody>
                  <a:tcPr anchor="ctr" marL="146304" marR="146304">
                    <a:solidFill>
                      <a:srgbClr val="F4F7FA"/>
                    </a:solidFill>
                  </a:tcPr>
                </a:tc>
                <a:tc>
                  <a:txBody>
                    <a:bodyPr wrap="square"/>
                    <a:lstStyle/>
                    <a:p>
                      <a:r>
                        <a:rPr sz="1413" b="0">
                          <a:solidFill>
                            <a:srgbClr val="33475B"/>
                          </a:solidFill>
                          <a:latin typeface="Aptos"/>
                        </a:rPr>
                        <a:t>Registrado; aumento justificado</a:t>
                      </a:r>
                    </a:p>
                  </a:txBody>
                  <a:tcPr anchor="ctr" marL="146304" marR="146304">
                    <a:solidFill>
                      <a:srgbClr val="F4F7FA"/>
                    </a:solidFill>
                  </a:tcPr>
                </a:tc>
                <a:tc>
                  <a:txBody>
                    <a:bodyPr wrap="square"/>
                    <a:lstStyle/>
                    <a:p>
                      <a:r>
                        <a:rPr sz="1413" b="0">
                          <a:solidFill>
                            <a:srgbClr val="33475B"/>
                          </a:solidFill>
                          <a:latin typeface="Aptos"/>
                        </a:rPr>
                        <a:t>Tamaño del AAB/APK por release</a:t>
                      </a:r>
                    </a:p>
                  </a:txBody>
                  <a:tcPr anchor="ctr" marL="146304" marR="146304">
                    <a:solidFill>
                      <a:srgbClr val="F4F7FA"/>
                    </a:solidFill>
                  </a:tcPr>
                </a:tc>
                <a:tc>
                  <a:txBody>
                    <a:bodyPr wrap="square"/>
                    <a:lstStyle/>
                    <a:p>
                      <a:r>
                        <a:rPr sz="1413" b="0">
                          <a:solidFill>
                            <a:srgbClr val="33475B"/>
                          </a:solidFill>
                          <a:latin typeface="Aptos"/>
                        </a:rPr>
                        <a:t>Assets y SDK pesados</a:t>
                      </a:r>
                    </a:p>
                  </a:txBody>
                  <a:tcPr anchor="ctr" marL="146304" marR="146304">
                    <a:solidFill>
                      <a:srgbClr val="F4F7FA"/>
                    </a:solidFill>
                  </a:tcPr>
                </a:tc>
              </a:tr>
              <a:tr h="488550">
                <a:tc>
                  <a:txBody>
                    <a:bodyPr wrap="square"/>
                    <a:lstStyle/>
                    <a:p>
                      <a:r>
                        <a:rPr sz="1413" b="1">
                          <a:solidFill>
                            <a:srgbClr val="33475B"/>
                          </a:solidFill>
                          <a:latin typeface="Aptos"/>
                        </a:rPr>
                        <a:t>Memoria</a:t>
                      </a:r>
                    </a:p>
                  </a:txBody>
                  <a:tcPr anchor="ctr" marL="146304" marR="146304">
                    <a:solidFill>
                      <a:srgbClr val="FFFFFF"/>
                    </a:solidFill>
                  </a:tcPr>
                </a:tc>
                <a:tc>
                  <a:txBody>
                    <a:bodyPr wrap="square"/>
                    <a:lstStyle/>
                    <a:p>
                      <a:r>
                        <a:rPr sz="1413" b="0">
                          <a:solidFill>
                            <a:srgbClr val="33475B"/>
                          </a:solidFill>
                          <a:latin typeface="Aptos"/>
                        </a:rPr>
                        <a:t>Sin fugas tras 20 navegaciones</a:t>
                      </a:r>
                    </a:p>
                  </a:txBody>
                  <a:tcPr anchor="ctr" marL="146304" marR="146304">
                    <a:solidFill>
                      <a:srgbClr val="FFFFFF"/>
                    </a:solidFill>
                  </a:tcPr>
                </a:tc>
                <a:tc>
                  <a:txBody>
                    <a:bodyPr wrap="square"/>
                    <a:lstStyle/>
                    <a:p>
                      <a:r>
                        <a:rPr sz="1413" b="0">
                          <a:solidFill>
                            <a:srgbClr val="33475B"/>
                          </a:solidFill>
                          <a:latin typeface="Aptos"/>
                        </a:rPr>
                        <a:t>Heap snapshots, Profiler</a:t>
                      </a:r>
                    </a:p>
                  </a:txBody>
                  <a:tcPr anchor="ctr" marL="146304" marR="146304">
                    <a:solidFill>
                      <a:srgbClr val="FFFFFF"/>
                    </a:solidFill>
                  </a:tcPr>
                </a:tc>
                <a:tc>
                  <a:txBody>
                    <a:bodyPr wrap="square"/>
                    <a:lstStyle/>
                    <a:p>
                      <a:r>
                        <a:rPr sz="1413" b="0">
                          <a:solidFill>
                            <a:srgbClr val="33475B"/>
                          </a:solidFill>
                          <a:latin typeface="Aptos"/>
                        </a:rPr>
                        <a:t>Suscripciones, base64</a:t>
                      </a:r>
                    </a:p>
                  </a:txBody>
                  <a:tcPr anchor="ctr" marL="146304" marR="146304">
                    <a:solidFill>
                      <a:srgbClr val="FFFFFF"/>
                    </a:solidFill>
                  </a:tcPr>
                </a:tc>
              </a:tr>
              <a:tr h="488550">
                <a:tc>
                  <a:txBody>
                    <a:bodyPr wrap="square"/>
                    <a:lstStyle/>
                    <a:p>
                      <a:r>
                        <a:rPr sz="1413" b="1">
                          <a:solidFill>
                            <a:srgbClr val="33475B"/>
                          </a:solidFill>
                          <a:latin typeface="Aptos"/>
                        </a:rPr>
                        <a:t>Red en listas</a:t>
                      </a:r>
                    </a:p>
                  </a:txBody>
                  <a:tcPr anchor="ctr" marL="146304" marR="146304">
                    <a:solidFill>
                      <a:srgbClr val="F4F7FA"/>
                    </a:solidFill>
                  </a:tcPr>
                </a:tc>
                <a:tc>
                  <a:txBody>
                    <a:bodyPr wrap="square"/>
                    <a:lstStyle/>
                    <a:p>
                      <a:r>
                        <a:rPr sz="1413" b="0">
                          <a:solidFill>
                            <a:srgbClr val="33475B"/>
                          </a:solidFill>
                          <a:latin typeface="Aptos"/>
                        </a:rPr>
                        <a:t>Paginada, ≈ 20 ítems</a:t>
                      </a:r>
                    </a:p>
                  </a:txBody>
                  <a:tcPr anchor="ctr" marL="146304" marR="146304">
                    <a:solidFill>
                      <a:srgbClr val="F4F7FA"/>
                    </a:solidFill>
                  </a:tcPr>
                </a:tc>
                <a:tc>
                  <a:txBody>
                    <a:bodyPr wrap="square"/>
                    <a:lstStyle/>
                    <a:p>
                      <a:r>
                        <a:rPr sz="1413" b="0">
                          <a:solidFill>
                            <a:srgbClr val="33475B"/>
                          </a:solidFill>
                          <a:latin typeface="Aptos"/>
                        </a:rPr>
                        <a:t>Panel Network</a:t>
                      </a:r>
                    </a:p>
                  </a:txBody>
                  <a:tcPr anchor="ctr" marL="146304" marR="146304">
                    <a:solidFill>
                      <a:srgbClr val="F4F7FA"/>
                    </a:solidFill>
                  </a:tcPr>
                </a:tc>
                <a:tc>
                  <a:txBody>
                    <a:bodyPr wrap="square"/>
                    <a:lstStyle/>
                    <a:p>
                      <a:r>
                        <a:rPr sz="1413" b="0">
                          <a:solidFill>
                            <a:srgbClr val="33475B"/>
                          </a:solidFill>
                          <a:latin typeface="Aptos"/>
                        </a:rPr>
                        <a:t>Traer la colección completa</a:t>
                      </a:r>
                    </a:p>
                  </a:txBody>
                  <a:tcPr anchor="ctr" marL="146304" marR="146304">
                    <a:solidFill>
                      <a:srgbClr val="F4F7FA"/>
                    </a:solidFill>
                  </a:tcPr>
                </a:tc>
              </a:tr>
            </a:tbl>
          </a:graphicData>
        </a:graphic>
      </p:graphicFrame>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21 / 45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NATIVO, CALIDAD Y DESPLIEGUE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Cada síntoma tiene su técnica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34660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236878"/>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346606"/>
          </a:xfrm>
          <a:prstGeom prst="rect">
            <a:avLst/>
          </a:prstGeom>
          <a:noFill/>
        </p:spPr>
        <p:txBody>
          <a:bodyPr wrap="square" anchor="ctr" lIns="0" rIns="0" tIns="0" bIns="0">
            <a:spAutoFit/>
          </a:bodyPr>
          <a:lstStyle/>
          <a:p>
            <a:pPr algn="l">
              <a:lnSpc>
                <a:spcPct val="125000"/>
              </a:lnSpc>
            </a:pPr>
            <a:r>
              <a:rPr sz="2235" b="1">
                <a:solidFill>
                  <a:srgbClr val="156082"/>
                </a:solidFill>
                <a:latin typeface="Consolas"/>
              </a:rPr>
              <a:t>ion-virtual-scroll</a:t>
            </a:r>
            <a:r>
              <a:rPr sz="2378" b="1">
                <a:solidFill>
                  <a:srgbClr val="0E2841"/>
                </a:solidFill>
                <a:latin typeface="Aptos Display"/>
              </a:rPr>
              <a:t> se retiró en Ionic 7: hoy se usa el virtual scroll del CDK de Angular.</a:t>
            </a:r>
          </a:p>
        </p:txBody>
      </p:sp>
      <p:sp>
        <p:nvSpPr>
          <p:cNvPr id="10" name="Rounded Rectangle 9"/>
          <p:cNvSpPr/>
          <p:nvPr/>
        </p:nvSpPr>
        <p:spPr>
          <a:xfrm>
            <a:off x="566928" y="3120542"/>
            <a:ext cx="3468624" cy="3207105"/>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 Same Side Corner Rectangle 10"/>
          <p:cNvSpPr/>
          <p:nvPr/>
        </p:nvSpPr>
        <p:spPr>
          <a:xfrm>
            <a:off x="566928" y="3120542"/>
            <a:ext cx="3468624" cy="566928"/>
          </a:xfrm>
          <a:prstGeom prst="round2SameRect">
            <a:avLst>
              <a:gd name="adj1" fmla="val 14000"/>
              <a:gd name="adj2" fmla="val 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3120542"/>
            <a:ext cx="3102864" cy="566928"/>
          </a:xfrm>
          <a:prstGeom prst="rect">
            <a:avLst/>
          </a:prstGeom>
          <a:noFill/>
        </p:spPr>
        <p:txBody>
          <a:bodyPr wrap="square" anchor="ctr" lIns="0" rIns="0" tIns="0" bIns="0">
            <a:spAutoFit/>
          </a:bodyPr>
          <a:lstStyle/>
          <a:p>
            <a:pPr algn="l"/>
            <a:r>
              <a:rPr sz="1837" b="1">
                <a:solidFill>
                  <a:srgbClr val="FFFFFF"/>
                </a:solidFill>
                <a:latin typeface="Aptos Display"/>
              </a:rPr>
              <a:t>Lista o arranque lentos</a:t>
            </a:r>
          </a:p>
        </p:txBody>
      </p:sp>
      <p:sp>
        <p:nvSpPr>
          <p:cNvPr id="13" name="Oval 12"/>
          <p:cNvSpPr/>
          <p:nvPr/>
        </p:nvSpPr>
        <p:spPr>
          <a:xfrm>
            <a:off x="786384" y="4129735"/>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3873703"/>
            <a:ext cx="2810256" cy="603504"/>
          </a:xfrm>
          <a:prstGeom prst="rect">
            <a:avLst/>
          </a:prstGeom>
          <a:noFill/>
        </p:spPr>
        <p:txBody>
          <a:bodyPr wrap="square" anchor="ctr" lIns="0" rIns="0" tIns="0" bIns="0">
            <a:spAutoFit/>
          </a:bodyPr>
          <a:lstStyle/>
          <a:p>
            <a:pPr algn="l"/>
            <a:r>
              <a:rPr sz="1513" b="0">
                <a:solidFill>
                  <a:srgbClr val="33475B"/>
                </a:solidFill>
                <a:latin typeface="Aptos"/>
              </a:rPr>
              <a:t>Virtual scroll del CDK</a:t>
            </a:r>
          </a:p>
        </p:txBody>
      </p:sp>
      <p:sp>
        <p:nvSpPr>
          <p:cNvPr id="15" name="Oval 14"/>
          <p:cNvSpPr/>
          <p:nvPr/>
        </p:nvSpPr>
        <p:spPr>
          <a:xfrm>
            <a:off x="786384" y="4733239"/>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4477207"/>
            <a:ext cx="2810256" cy="603504"/>
          </a:xfrm>
          <a:prstGeom prst="rect">
            <a:avLst/>
          </a:prstGeom>
          <a:noFill/>
        </p:spPr>
        <p:txBody>
          <a:bodyPr wrap="square" anchor="ctr" lIns="0" rIns="0" tIns="0" bIns="0">
            <a:spAutoFit/>
          </a:bodyPr>
          <a:lstStyle/>
          <a:p>
            <a:pPr algn="l"/>
            <a:r>
              <a:rPr sz="1513" b="0">
                <a:solidFill>
                  <a:srgbClr val="33475B"/>
                </a:solidFill>
                <a:latin typeface="Aptos"/>
              </a:rPr>
              <a:t>Lazy loading y @defer (on viewport)</a:t>
            </a:r>
          </a:p>
        </p:txBody>
      </p:sp>
      <p:sp>
        <p:nvSpPr>
          <p:cNvPr id="17" name="Oval 16"/>
          <p:cNvSpPr/>
          <p:nvPr/>
        </p:nvSpPr>
        <p:spPr>
          <a:xfrm>
            <a:off x="786384" y="5336743"/>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5080711"/>
            <a:ext cx="2810256" cy="603504"/>
          </a:xfrm>
          <a:prstGeom prst="rect">
            <a:avLst/>
          </a:prstGeom>
          <a:noFill/>
        </p:spPr>
        <p:txBody>
          <a:bodyPr wrap="square" anchor="ctr" lIns="0" rIns="0" tIns="0" bIns="0">
            <a:spAutoFit/>
          </a:bodyPr>
          <a:lstStyle/>
          <a:p>
            <a:pPr algn="l"/>
            <a:r>
              <a:rPr sz="1513" b="0">
                <a:solidFill>
                  <a:srgbClr val="33475B"/>
                </a:solidFill>
                <a:latin typeface="Aptos"/>
              </a:rPr>
              <a:t>Imágenes WebP con loading lazy</a:t>
            </a:r>
          </a:p>
        </p:txBody>
      </p:sp>
      <p:sp>
        <p:nvSpPr>
          <p:cNvPr id="19" name="Oval 18"/>
          <p:cNvSpPr/>
          <p:nvPr/>
        </p:nvSpPr>
        <p:spPr>
          <a:xfrm>
            <a:off x="786384" y="5940247"/>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4128" y="5684215"/>
            <a:ext cx="2810256" cy="603504"/>
          </a:xfrm>
          <a:prstGeom prst="rect">
            <a:avLst/>
          </a:prstGeom>
          <a:noFill/>
        </p:spPr>
        <p:txBody>
          <a:bodyPr wrap="square" anchor="ctr" lIns="0" rIns="0" tIns="0" bIns="0">
            <a:spAutoFit/>
          </a:bodyPr>
          <a:lstStyle/>
          <a:p>
            <a:pPr algn="l"/>
            <a:r>
              <a:rPr sz="1513" b="0">
                <a:solidFill>
                  <a:srgbClr val="33475B"/>
                </a:solidFill>
                <a:latin typeface="Aptos"/>
              </a:rPr>
              <a:t>budgets en angular.json</a:t>
            </a:r>
          </a:p>
        </p:txBody>
      </p:sp>
      <p:sp>
        <p:nvSpPr>
          <p:cNvPr id="21" name="Rounded Rectangle 20"/>
          <p:cNvSpPr/>
          <p:nvPr/>
        </p:nvSpPr>
        <p:spPr>
          <a:xfrm>
            <a:off x="4364736" y="3120542"/>
            <a:ext cx="3468624" cy="3207105"/>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 Same Side Corner Rectangle 21"/>
          <p:cNvSpPr/>
          <p:nvPr/>
        </p:nvSpPr>
        <p:spPr>
          <a:xfrm>
            <a:off x="4364736" y="3120542"/>
            <a:ext cx="3468624" cy="566928"/>
          </a:xfrm>
          <a:prstGeom prst="round2SameRect">
            <a:avLst>
              <a:gd name="adj1" fmla="val 14000"/>
              <a:gd name="adj2" fmla="val 0"/>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47616" y="3120542"/>
            <a:ext cx="3102864" cy="566928"/>
          </a:xfrm>
          <a:prstGeom prst="rect">
            <a:avLst/>
          </a:prstGeom>
          <a:noFill/>
        </p:spPr>
        <p:txBody>
          <a:bodyPr wrap="square" anchor="ctr" lIns="0" rIns="0" tIns="0" bIns="0">
            <a:spAutoFit/>
          </a:bodyPr>
          <a:lstStyle/>
          <a:p>
            <a:pPr algn="l"/>
            <a:r>
              <a:rPr sz="1837" b="1">
                <a:solidFill>
                  <a:srgbClr val="FFFFFF"/>
                </a:solidFill>
                <a:latin typeface="Aptos Display"/>
              </a:rPr>
              <a:t>Repintados de más</a:t>
            </a:r>
          </a:p>
        </p:txBody>
      </p:sp>
      <p:sp>
        <p:nvSpPr>
          <p:cNvPr id="24" name="Oval 23"/>
          <p:cNvSpPr/>
          <p:nvPr/>
        </p:nvSpPr>
        <p:spPr>
          <a:xfrm>
            <a:off x="4584192" y="4431487"/>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21936" y="4175455"/>
            <a:ext cx="2810256" cy="603504"/>
          </a:xfrm>
          <a:prstGeom prst="rect">
            <a:avLst/>
          </a:prstGeom>
          <a:noFill/>
        </p:spPr>
        <p:txBody>
          <a:bodyPr wrap="square" anchor="ctr" lIns="0" rIns="0" tIns="0" bIns="0">
            <a:spAutoFit/>
          </a:bodyPr>
          <a:lstStyle/>
          <a:p>
            <a:pPr algn="l"/>
            <a:r>
              <a:rPr sz="1513" b="0">
                <a:solidFill>
                  <a:srgbClr val="33475B"/>
                </a:solidFill>
                <a:latin typeface="Aptos"/>
              </a:rPr>
              <a:t>OnPush + signals</a:t>
            </a:r>
          </a:p>
        </p:txBody>
      </p:sp>
      <p:sp>
        <p:nvSpPr>
          <p:cNvPr id="26" name="Oval 25"/>
          <p:cNvSpPr/>
          <p:nvPr/>
        </p:nvSpPr>
        <p:spPr>
          <a:xfrm>
            <a:off x="4584192" y="5034991"/>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21936" y="4778959"/>
            <a:ext cx="2810256" cy="603504"/>
          </a:xfrm>
          <a:prstGeom prst="rect">
            <a:avLst/>
          </a:prstGeom>
          <a:noFill/>
        </p:spPr>
        <p:txBody>
          <a:bodyPr wrap="square" anchor="ctr" lIns="0" rIns="0" tIns="0" bIns="0">
            <a:spAutoFit/>
          </a:bodyPr>
          <a:lstStyle/>
          <a:p>
            <a:pPr algn="l"/>
            <a:r>
              <a:rPr sz="1513" b="0">
                <a:solidFill>
                  <a:srgbClr val="33475B"/>
                </a:solidFill>
                <a:latin typeface="Aptos"/>
              </a:rPr>
              <a:t>Proyectos zoneless (Angular 21+)</a:t>
            </a:r>
          </a:p>
        </p:txBody>
      </p:sp>
      <p:sp>
        <p:nvSpPr>
          <p:cNvPr id="28" name="Oval 27"/>
          <p:cNvSpPr/>
          <p:nvPr/>
        </p:nvSpPr>
        <p:spPr>
          <a:xfrm>
            <a:off x="4584192" y="5638495"/>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21936" y="5382463"/>
            <a:ext cx="2810256" cy="603504"/>
          </a:xfrm>
          <a:prstGeom prst="rect">
            <a:avLst/>
          </a:prstGeom>
          <a:noFill/>
        </p:spPr>
        <p:txBody>
          <a:bodyPr wrap="square" anchor="ctr" lIns="0" rIns="0" tIns="0" bIns="0">
            <a:spAutoFit/>
          </a:bodyPr>
          <a:lstStyle/>
          <a:p>
            <a:pPr algn="l"/>
            <a:r>
              <a:rPr sz="1513" b="0">
                <a:solidFill>
                  <a:srgbClr val="33475B"/>
                </a:solidFill>
                <a:latin typeface="Aptos"/>
              </a:rPr>
              <a:t>track en cada @for, DOM poco profundo</a:t>
            </a:r>
          </a:p>
        </p:txBody>
      </p:sp>
      <p:sp>
        <p:nvSpPr>
          <p:cNvPr id="30" name="Rounded Rectangle 29"/>
          <p:cNvSpPr/>
          <p:nvPr/>
        </p:nvSpPr>
        <p:spPr>
          <a:xfrm>
            <a:off x="8162544" y="3120542"/>
            <a:ext cx="3468624" cy="3207105"/>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 Same Side Corner Rectangle 30"/>
          <p:cNvSpPr/>
          <p:nvPr/>
        </p:nvSpPr>
        <p:spPr>
          <a:xfrm>
            <a:off x="8162544" y="3120542"/>
            <a:ext cx="3468624" cy="566928"/>
          </a:xfrm>
          <a:prstGeom prst="round2SameRect">
            <a:avLst>
              <a:gd name="adj1" fmla="val 14000"/>
              <a:gd name="adj2" fmla="val 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45424" y="3120542"/>
            <a:ext cx="3102864" cy="566928"/>
          </a:xfrm>
          <a:prstGeom prst="rect">
            <a:avLst/>
          </a:prstGeom>
          <a:noFill/>
        </p:spPr>
        <p:txBody>
          <a:bodyPr wrap="square" anchor="ctr" lIns="0" rIns="0" tIns="0" bIns="0">
            <a:spAutoFit/>
          </a:bodyPr>
          <a:lstStyle/>
          <a:p>
            <a:pPr algn="l"/>
            <a:r>
              <a:rPr sz="1837" b="1">
                <a:solidFill>
                  <a:srgbClr val="FFFFFF"/>
                </a:solidFill>
                <a:latin typeface="Aptos Display"/>
              </a:rPr>
              <a:t>Animación o memoria</a:t>
            </a:r>
          </a:p>
        </p:txBody>
      </p:sp>
      <p:sp>
        <p:nvSpPr>
          <p:cNvPr id="33" name="Oval 32"/>
          <p:cNvSpPr/>
          <p:nvPr/>
        </p:nvSpPr>
        <p:spPr>
          <a:xfrm>
            <a:off x="8382000" y="4431487"/>
            <a:ext cx="91440" cy="9144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19744" y="4175455"/>
            <a:ext cx="2810256" cy="603504"/>
          </a:xfrm>
          <a:prstGeom prst="rect">
            <a:avLst/>
          </a:prstGeom>
          <a:noFill/>
        </p:spPr>
        <p:txBody>
          <a:bodyPr wrap="square" anchor="ctr" lIns="0" rIns="0" tIns="0" bIns="0">
            <a:spAutoFit/>
          </a:bodyPr>
          <a:lstStyle/>
          <a:p>
            <a:pPr algn="l"/>
            <a:r>
              <a:rPr sz="1513" b="0">
                <a:solidFill>
                  <a:srgbClr val="33475B"/>
                </a:solidFill>
                <a:latin typeface="Aptos"/>
              </a:rPr>
              <a:t>Anima solo transform y opacity</a:t>
            </a:r>
          </a:p>
        </p:txBody>
      </p:sp>
      <p:sp>
        <p:nvSpPr>
          <p:cNvPr id="35" name="Oval 34"/>
          <p:cNvSpPr/>
          <p:nvPr/>
        </p:nvSpPr>
        <p:spPr>
          <a:xfrm>
            <a:off x="8382000" y="5034991"/>
            <a:ext cx="91440" cy="9144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19744" y="4778959"/>
            <a:ext cx="2810256" cy="603504"/>
          </a:xfrm>
          <a:prstGeom prst="rect">
            <a:avLst/>
          </a:prstGeom>
          <a:noFill/>
        </p:spPr>
        <p:txBody>
          <a:bodyPr wrap="square" anchor="ctr" lIns="0" rIns="0" tIns="0" bIns="0">
            <a:spAutoFit/>
          </a:bodyPr>
          <a:lstStyle/>
          <a:p>
            <a:pPr algn="l"/>
            <a:r>
              <a:rPr sz="1513" b="0">
                <a:solidFill>
                  <a:srgbClr val="33475B"/>
                </a:solidFill>
                <a:latin typeface="Aptos"/>
              </a:rPr>
              <a:t>Fotos por URI, nunca en base64</a:t>
            </a:r>
          </a:p>
        </p:txBody>
      </p:sp>
      <p:sp>
        <p:nvSpPr>
          <p:cNvPr id="37" name="Oval 36"/>
          <p:cNvSpPr/>
          <p:nvPr/>
        </p:nvSpPr>
        <p:spPr>
          <a:xfrm>
            <a:off x="8382000" y="5638495"/>
            <a:ext cx="91440" cy="9144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19744" y="5382463"/>
            <a:ext cx="2810256" cy="603504"/>
          </a:xfrm>
          <a:prstGeom prst="rect">
            <a:avLst/>
          </a:prstGeom>
          <a:noFill/>
        </p:spPr>
        <p:txBody>
          <a:bodyPr wrap="square" anchor="ctr" lIns="0" rIns="0" tIns="0" bIns="0">
            <a:spAutoFit/>
          </a:bodyPr>
          <a:lstStyle/>
          <a:p>
            <a:pPr algn="l"/>
            <a:r>
              <a:rPr sz="1513" b="0">
                <a:solidFill>
                  <a:srgbClr val="33475B"/>
                </a:solidFill>
                <a:latin typeface="Aptos"/>
              </a:rPr>
              <a:t>Trabajo pesado en un Web Worker</a:t>
            </a:r>
          </a:p>
        </p:txBody>
      </p:sp>
      <p:sp>
        <p:nvSpPr>
          <p:cNvPr id="39" name="TextBox 3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40" name="TextBox 3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22 / 45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NATIVO, CALIDAD Y DESPLIEGUE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2.000 visitas, 15 filas en el DOM</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2916936"/>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 y="1792224"/>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1755648"/>
            <a:ext cx="7315200" cy="237744"/>
          </a:xfrm>
          <a:prstGeom prst="rect">
            <a:avLst/>
          </a:prstGeom>
          <a:noFill/>
        </p:spPr>
        <p:txBody>
          <a:bodyPr wrap="square" anchor="t" lIns="0" rIns="0" tIns="0" bIns="0">
            <a:spAutoFit/>
          </a:bodyPr>
          <a:lstStyle/>
          <a:p>
            <a:pPr algn="l"/>
            <a:r>
              <a:rPr sz="1266" b="1">
                <a:solidFill>
                  <a:srgbClr val="E97132"/>
                </a:solidFill>
                <a:latin typeface="Aptos"/>
              </a:rPr>
              <a:t>VISITAS.PAGE.HTML · EXIGE FILAS DE ALTO FIJO</a:t>
            </a:r>
          </a:p>
        </p:txBody>
      </p:sp>
      <p:sp>
        <p:nvSpPr>
          <p:cNvPr id="10" name="TextBox 9"/>
          <p:cNvSpPr txBox="1"/>
          <p:nvPr/>
        </p:nvSpPr>
        <p:spPr>
          <a:xfrm>
            <a:off x="877824" y="2139696"/>
            <a:ext cx="10515600" cy="2185416"/>
          </a:xfrm>
          <a:prstGeom prst="rect">
            <a:avLst/>
          </a:prstGeom>
          <a:noFill/>
        </p:spPr>
        <p:txBody>
          <a:bodyPr wrap="none" lIns="0" tIns="0">
            <a:spAutoFit/>
          </a:bodyPr>
          <a:lstStyle/>
          <a:p>
            <a:pPr>
              <a:lnSpc>
                <a:spcPct val="125000"/>
              </a:lnSpc>
            </a:pPr>
            <a:r>
              <a:rPr sz="1597">
                <a:solidFill>
                  <a:srgbClr val="E8E8E8"/>
                </a:solidFill>
                <a:latin typeface="Consolas"/>
              </a:rPr>
              <a:t>&lt;ion-content [scrollY]="false"&gt;&lt;cdk-virtual-scroll-viewport itemSize="72"</a:t>
            </a:r>
          </a:p>
          <a:p>
            <a:pPr>
              <a:lnSpc>
                <a:spcPct val="125000"/>
              </a:lnSpc>
            </a:pPr>
            <a:r>
              <a:rPr sz="1597">
                <a:solidFill>
                  <a:srgbClr val="E8E8E8"/>
                </a:solidFill>
                <a:latin typeface="Consolas"/>
              </a:rPr>
              <a:t>    minBufferPx="900" maxBufferPx="1350" class="ion-content-scroll-host"&gt;</a:t>
            </a:r>
          </a:p>
          <a:p>
            <a:pPr>
              <a:lnSpc>
                <a:spcPct val="125000"/>
              </a:lnSpc>
            </a:pPr>
            <a:r>
              <a:rPr sz="1597">
                <a:solidFill>
                  <a:srgbClr val="E8E8E8"/>
                </a:solidFill>
                <a:latin typeface="Consolas"/>
              </a:rPr>
              <a:t>  &lt;ion-item *cdkVirtualFor="let v of visitas(); trackBy: porId"</a:t>
            </a:r>
          </a:p>
          <a:p>
            <a:pPr>
              <a:lnSpc>
                <a:spcPct val="125000"/>
              </a:lnSpc>
            </a:pPr>
            <a:r>
              <a:rPr sz="1597">
                <a:solidFill>
                  <a:srgbClr val="E8E8E8"/>
                </a:solidFill>
                <a:latin typeface="Consolas"/>
              </a:rPr>
              <a:t>            [routerLink]="[v.id]"&gt;</a:t>
            </a:r>
          </a:p>
          <a:p>
            <a:pPr>
              <a:lnSpc>
                <a:spcPct val="125000"/>
              </a:lnSpc>
            </a:pPr>
            <a:r>
              <a:rPr sz="1597">
                <a:solidFill>
                  <a:srgbClr val="E8E8E8"/>
                </a:solidFill>
                <a:latin typeface="Consolas"/>
              </a:rPr>
              <a:t>    &lt;ion-label&gt;{{ v.cliente }} · {{ v.fecha | date: 'short' }}&lt;/ion-label&gt;</a:t>
            </a:r>
          </a:p>
          <a:p>
            <a:pPr>
              <a:lnSpc>
                <a:spcPct val="125000"/>
              </a:lnSpc>
            </a:pPr>
            <a:r>
              <a:rPr sz="1597">
                <a:solidFill>
                  <a:srgbClr val="E8E8E8"/>
                </a:solidFill>
                <a:latin typeface="Consolas"/>
              </a:rPr>
              <a:t>  &lt;/ion-item&gt;</a:t>
            </a:r>
          </a:p>
          <a:p>
            <a:pPr>
              <a:lnSpc>
                <a:spcPct val="125000"/>
              </a:lnSpc>
            </a:pPr>
            <a:r>
              <a:rPr sz="1597">
                <a:solidFill>
                  <a:srgbClr val="E8E8E8"/>
                </a:solidFill>
                <a:latin typeface="Consolas"/>
              </a:rPr>
              <a:t>&lt;/cdk-virtual-scroll-viewport&gt;&lt;/ion-content&gt;</a:t>
            </a:r>
          </a:p>
        </p:txBody>
      </p:sp>
      <p:sp>
        <p:nvSpPr>
          <p:cNvPr id="11" name="Rounded Rectangle 10"/>
          <p:cNvSpPr/>
          <p:nvPr/>
        </p:nvSpPr>
        <p:spPr>
          <a:xfrm>
            <a:off x="566928" y="4690872"/>
            <a:ext cx="11064240" cy="1636776"/>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1248" y="4910328"/>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552" y="4873752"/>
            <a:ext cx="7315200" cy="237744"/>
          </a:xfrm>
          <a:prstGeom prst="rect">
            <a:avLst/>
          </a:prstGeom>
          <a:noFill/>
        </p:spPr>
        <p:txBody>
          <a:bodyPr wrap="square" anchor="t" lIns="0" rIns="0" tIns="0" bIns="0">
            <a:spAutoFit/>
          </a:bodyPr>
          <a:lstStyle/>
          <a:p>
            <a:pPr algn="l"/>
            <a:r>
              <a:rPr sz="1266" b="1">
                <a:solidFill>
                  <a:srgbClr val="E97132"/>
                </a:solidFill>
                <a:latin typeface="Aptos"/>
              </a:rPr>
              <a:t>ANGULAR.JSON · EL BUILD FALLA Y NO LLEGA A LA TIENDA</a:t>
            </a:r>
          </a:p>
        </p:txBody>
      </p:sp>
      <p:sp>
        <p:nvSpPr>
          <p:cNvPr id="14" name="TextBox 13"/>
          <p:cNvSpPr txBox="1"/>
          <p:nvPr/>
        </p:nvSpPr>
        <p:spPr>
          <a:xfrm>
            <a:off x="877824" y="5257800"/>
            <a:ext cx="10515600" cy="905256"/>
          </a:xfrm>
          <a:prstGeom prst="rect">
            <a:avLst/>
          </a:prstGeom>
          <a:noFill/>
        </p:spPr>
        <p:txBody>
          <a:bodyPr wrap="none" lIns="0" tIns="0">
            <a:spAutoFit/>
          </a:bodyPr>
          <a:lstStyle/>
          <a:p>
            <a:pPr>
              <a:lnSpc>
                <a:spcPct val="125000"/>
              </a:lnSpc>
            </a:pPr>
            <a:r>
              <a:rPr sz="1597">
                <a:solidFill>
                  <a:srgbClr val="E8E8E8"/>
                </a:solidFill>
                <a:latin typeface="Consolas"/>
              </a:rPr>
              <a:t>"budgets": [{ "type": "initial",</a:t>
            </a:r>
          </a:p>
          <a:p>
            <a:pPr>
              <a:lnSpc>
                <a:spcPct val="125000"/>
              </a:lnSpc>
            </a:pPr>
            <a:r>
              <a:rPr sz="1597">
                <a:solidFill>
                  <a:srgbClr val="E8E8E8"/>
                </a:solidFill>
                <a:latin typeface="Consolas"/>
              </a:rPr>
              <a:t>              "maximumWarning": "1mb", "maximumError": "1.5mb" }]</a:t>
            </a:r>
          </a:p>
        </p:txBody>
      </p:sp>
      <p:sp>
        <p:nvSpPr>
          <p:cNvPr id="15" name="TextBox 14"/>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16" name="TextBox 15"/>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23 / 45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05</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Estrategia de pruebas</a:t>
            </a:r>
          </a:p>
        </p:txBody>
      </p:sp>
      <p:sp>
        <p:nvSpPr>
          <p:cNvPr id="5" name="TextBox 4"/>
          <p:cNvSpPr txBox="1"/>
          <p:nvPr/>
        </p:nvSpPr>
        <p:spPr>
          <a:xfrm>
            <a:off x="1828800" y="4617720"/>
            <a:ext cx="8503920" cy="731520"/>
          </a:xfrm>
          <a:prstGeom prst="rect">
            <a:avLst/>
          </a:prstGeom>
          <a:noFill/>
        </p:spPr>
        <p:txBody>
          <a:bodyPr wrap="square" anchor="t" lIns="0" rIns="0" tIns="0" bIns="0">
            <a:spAutoFit/>
          </a:bodyPr>
          <a:lstStyle/>
          <a:p>
            <a:pPr algn="ctr"/>
            <a:r>
              <a:rPr sz="1600" b="0">
                <a:solidFill>
                  <a:srgbClr val="E8E8E8"/>
                </a:solidFill>
                <a:latin typeface="Aptos"/>
              </a:rPr>
              <a:t>Encuentro 4 · viernes 30 de octubre</a:t>
            </a:r>
          </a:p>
        </p:txBody>
      </p:sp>
      <p:pic>
        <p:nvPicPr>
          <p:cNvPr id="6" name="Picture 5"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NATIVO, CALIDAD Y DESPLIEGUE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70 % unitarias, 20 % UI, 10 % E2E</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496099"/>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386371"/>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496099"/>
          </a:xfrm>
          <a:prstGeom prst="rect">
            <a:avLst/>
          </a:prstGeom>
          <a:noFill/>
        </p:spPr>
        <p:txBody>
          <a:bodyPr wrap="square" anchor="ctr" lIns="0" rIns="0" tIns="0" bIns="0">
            <a:spAutoFit/>
          </a:bodyPr>
          <a:lstStyle/>
          <a:p>
            <a:pPr algn="l">
              <a:lnSpc>
                <a:spcPct val="125000"/>
              </a:lnSpc>
            </a:pPr>
            <a:r>
              <a:rPr sz="2322" b="1">
                <a:solidFill>
                  <a:srgbClr val="156082"/>
                </a:solidFill>
                <a:latin typeface="Consolas"/>
              </a:rPr>
              <a:t>testing-strategy.md</a:t>
            </a:r>
            <a:r>
              <a:rPr sz="2471" b="1">
                <a:solidFill>
                  <a:srgbClr val="0E2841"/>
                </a:solidFill>
                <a:latin typeface="Aptos Display"/>
              </a:rPr>
              <a:t> fija qué se prueba en cada nivel, cuánto de cada nivel y cómo se nombran las pruebas.</a:t>
            </a:r>
          </a:p>
        </p:txBody>
      </p:sp>
      <p:sp>
        <p:nvSpPr>
          <p:cNvPr id="10" name="Rounded Rectangle 9"/>
          <p:cNvSpPr/>
          <p:nvPr/>
        </p:nvSpPr>
        <p:spPr>
          <a:xfrm>
            <a:off x="566928" y="3270035"/>
            <a:ext cx="11064240" cy="835747"/>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3343187"/>
            <a:ext cx="63500" cy="689443"/>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3270035"/>
            <a:ext cx="11064240" cy="835747"/>
          </a:xfrm>
          <a:prstGeom prst="rect">
            <a:avLst/>
          </a:prstGeom>
          <a:noFill/>
        </p:spPr>
        <p:txBody>
          <a:bodyPr wrap="square" anchor="ctr" lIns="0" rIns="0" tIns="0" bIns="0">
            <a:spAutoFit/>
          </a:bodyPr>
          <a:lstStyle/>
          <a:p>
            <a:pPr algn="ctr"/>
            <a:r>
              <a:rPr sz="1853" b="1">
                <a:solidFill>
                  <a:srgbClr val="0E2841"/>
                </a:solidFill>
                <a:latin typeface="Aptos Display"/>
              </a:rPr>
              <a:t>Unitarias · ~70 %  ·  casos de uso, ViewModels y mappers; sin UI, sin red, sin plugins</a:t>
            </a:r>
          </a:p>
        </p:txBody>
      </p:sp>
      <p:sp>
        <p:nvSpPr>
          <p:cNvPr id="13" name="Rounded Rectangle 12"/>
          <p:cNvSpPr/>
          <p:nvPr/>
        </p:nvSpPr>
        <p:spPr>
          <a:xfrm>
            <a:off x="1069848" y="4289239"/>
            <a:ext cx="10058400" cy="835747"/>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69848" y="4362391"/>
            <a:ext cx="63500" cy="689443"/>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9848" y="4289239"/>
            <a:ext cx="10058400" cy="835747"/>
          </a:xfrm>
          <a:prstGeom prst="rect">
            <a:avLst/>
          </a:prstGeom>
          <a:noFill/>
        </p:spPr>
        <p:txBody>
          <a:bodyPr wrap="square" anchor="ctr" lIns="0" rIns="0" tIns="0" bIns="0">
            <a:spAutoFit/>
          </a:bodyPr>
          <a:lstStyle/>
          <a:p>
            <a:pPr algn="ctr"/>
            <a:r>
              <a:rPr sz="1853" b="1">
                <a:solidFill>
                  <a:srgbClr val="0E2841"/>
                </a:solidFill>
                <a:latin typeface="Aptos Display"/>
              </a:rPr>
              <a:t>Componente · ~20 %  ·  una pantalla aislada con TestBed</a:t>
            </a:r>
          </a:p>
        </p:txBody>
      </p:sp>
      <p:sp>
        <p:nvSpPr>
          <p:cNvPr id="16" name="Rounded Rectangle 15"/>
          <p:cNvSpPr/>
          <p:nvPr/>
        </p:nvSpPr>
        <p:spPr>
          <a:xfrm>
            <a:off x="1572768" y="5308443"/>
            <a:ext cx="9052560" cy="835747"/>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572768" y="5381595"/>
            <a:ext cx="63500" cy="689443"/>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72768" y="5308443"/>
            <a:ext cx="9052560" cy="835747"/>
          </a:xfrm>
          <a:prstGeom prst="rect">
            <a:avLst/>
          </a:prstGeom>
          <a:noFill/>
        </p:spPr>
        <p:txBody>
          <a:bodyPr wrap="square" anchor="ctr" lIns="0" rIns="0" tIns="0" bIns="0">
            <a:spAutoFit/>
          </a:bodyPr>
          <a:lstStyle/>
          <a:p>
            <a:pPr algn="ctr"/>
            <a:r>
              <a:rPr sz="1853" b="1">
                <a:solidFill>
                  <a:srgbClr val="0E2841"/>
                </a:solidFill>
                <a:latin typeface="Aptos Display"/>
              </a:rPr>
              <a:t>E2E · ~10 %  ·  flujo completo en dispositivo; nocturno y pre-release</a:t>
            </a:r>
          </a:p>
        </p:txBody>
      </p:sp>
      <p:sp>
        <p:nvSpPr>
          <p:cNvPr id="19" name="TextBox 1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20" name="TextBox 1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24 / 45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NATIVO, CALIDAD Y DESPLIEGUE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Cada capa se prueba con su doble</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292351"/>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182623"/>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292351"/>
          </a:xfrm>
          <a:prstGeom prst="rect">
            <a:avLst/>
          </a:prstGeom>
          <a:noFill/>
        </p:spPr>
        <p:txBody>
          <a:bodyPr wrap="square" anchor="ctr" lIns="0" rIns="0" tIns="0" bIns="0">
            <a:spAutoFit/>
          </a:bodyPr>
          <a:lstStyle/>
          <a:p>
            <a:pPr algn="l">
              <a:lnSpc>
                <a:spcPct val="125000"/>
              </a:lnSpc>
            </a:pPr>
            <a:r>
              <a:rPr sz="2302" b="1">
                <a:solidFill>
                  <a:srgbClr val="0E2841"/>
                </a:solidFill>
                <a:latin typeface="Aptos Display"/>
              </a:rPr>
              <a:t>Mínimo antes de H3: el flujo de permisos concedido, negado una vez y negado definitivo, probado en Android.</a:t>
            </a:r>
          </a:p>
        </p:txBody>
      </p:sp>
      <p:graphicFrame>
        <p:nvGraphicFramePr>
          <p:cNvPr id="10" name="Table 9"/>
          <p:cNvGraphicFramePr>
            <a:graphicFrameLocks noGrp="1"/>
          </p:cNvGraphicFramePr>
          <p:nvPr/>
        </p:nvGraphicFramePr>
        <p:xfrm>
          <a:off x="566928" y="3066288"/>
          <a:ext cx="11064240" cy="3261360"/>
        </p:xfrm>
        <a:graphic>
          <a:graphicData uri="http://schemas.openxmlformats.org/drawingml/2006/table">
            <a:tbl>
              <a:tblPr firstRow="1">
                <a:tableStyleId>{5C22544A-7EE6-4342-B048-85BDC9FD1C3A}</a:tableStyleId>
              </a:tblPr>
              <a:tblGrid>
                <a:gridCol w="2766060"/>
                <a:gridCol w="2766060"/>
                <a:gridCol w="2766060"/>
                <a:gridCol w="2766060"/>
              </a:tblGrid>
              <a:tr h="543560">
                <a:tc>
                  <a:txBody>
                    <a:bodyPr wrap="square"/>
                    <a:lstStyle/>
                    <a:p>
                      <a:r>
                        <a:rPr sz="1569" b="1">
                          <a:solidFill>
                            <a:srgbClr val="FFFFFF"/>
                          </a:solidFill>
                          <a:latin typeface="Aptos"/>
                        </a:rPr>
                        <a:t>Capa</a:t>
                      </a:r>
                    </a:p>
                  </a:txBody>
                  <a:tcPr anchor="ctr" marL="146304" marR="146304">
                    <a:solidFill>
                      <a:srgbClr val="156082"/>
                    </a:solidFill>
                  </a:tcPr>
                </a:tc>
                <a:tc>
                  <a:txBody>
                    <a:bodyPr wrap="square"/>
                    <a:lstStyle/>
                    <a:p>
                      <a:r>
                        <a:rPr sz="1569" b="1">
                          <a:solidFill>
                            <a:srgbClr val="FFFFFF"/>
                          </a:solidFill>
                          <a:latin typeface="Aptos"/>
                        </a:rPr>
                        <a:t>Qué se prueba</a:t>
                      </a:r>
                    </a:p>
                  </a:txBody>
                  <a:tcPr anchor="ctr" marL="146304" marR="146304">
                    <a:solidFill>
                      <a:srgbClr val="156082"/>
                    </a:solidFill>
                  </a:tcPr>
                </a:tc>
                <a:tc>
                  <a:txBody>
                    <a:bodyPr wrap="square"/>
                    <a:lstStyle/>
                    <a:p>
                      <a:r>
                        <a:rPr sz="1569" b="1">
                          <a:solidFill>
                            <a:srgbClr val="FFFFFF"/>
                          </a:solidFill>
                          <a:latin typeface="Aptos"/>
                        </a:rPr>
                        <a:t>Con qué dobles</a:t>
                      </a:r>
                    </a:p>
                  </a:txBody>
                  <a:tcPr anchor="ctr" marL="146304" marR="146304">
                    <a:solidFill>
                      <a:srgbClr val="156082"/>
                    </a:solidFill>
                  </a:tcPr>
                </a:tc>
                <a:tc>
                  <a:txBody>
                    <a:bodyPr wrap="square"/>
                    <a:lstStyle/>
                    <a:p>
                      <a:r>
                        <a:rPr sz="1569" b="1">
                          <a:solidFill>
                            <a:srgbClr val="FFFFFF"/>
                          </a:solidFill>
                          <a:latin typeface="Aptos"/>
                        </a:rPr>
                        <a:t>Ejemplo en Bitácora</a:t>
                      </a:r>
                    </a:p>
                  </a:txBody>
                  <a:tcPr anchor="ctr" marL="146304" marR="146304">
                    <a:solidFill>
                      <a:srgbClr val="156082"/>
                    </a:solidFill>
                  </a:tcPr>
                </a:tc>
              </a:tr>
              <a:tr h="543560">
                <a:tc>
                  <a:txBody>
                    <a:bodyPr wrap="square"/>
                    <a:lstStyle/>
                    <a:p>
                      <a:r>
                        <a:rPr sz="1465" b="1">
                          <a:solidFill>
                            <a:srgbClr val="33475B"/>
                          </a:solidFill>
                          <a:latin typeface="Aptos"/>
                        </a:rPr>
                        <a:t>Dominio</a:t>
                      </a:r>
                    </a:p>
                  </a:txBody>
                  <a:tcPr anchor="ctr" marL="146304" marR="146304">
                    <a:solidFill>
                      <a:srgbClr val="FFFFFF"/>
                    </a:solidFill>
                  </a:tcPr>
                </a:tc>
                <a:tc>
                  <a:txBody>
                    <a:bodyPr wrap="square"/>
                    <a:lstStyle/>
                    <a:p>
                      <a:r>
                        <a:rPr sz="1465" b="0">
                          <a:solidFill>
                            <a:srgbClr val="33475B"/>
                          </a:solidFill>
                          <a:latin typeface="Aptos"/>
                        </a:rPr>
                        <a:t>Reglas y orquestación</a:t>
                      </a:r>
                    </a:p>
                  </a:txBody>
                  <a:tcPr anchor="ctr" marL="146304" marR="146304">
                    <a:solidFill>
                      <a:srgbClr val="FFFFFF"/>
                    </a:solidFill>
                  </a:tcPr>
                </a:tc>
                <a:tc>
                  <a:txBody>
                    <a:bodyPr wrap="square"/>
                    <a:lstStyle/>
                    <a:p>
                      <a:r>
                        <a:rPr sz="1465" b="0">
                          <a:solidFill>
                            <a:srgbClr val="33475B"/>
                          </a:solidFill>
                          <a:latin typeface="Aptos"/>
                        </a:rPr>
                        <a:t>Fakes de los puertos</a:t>
                      </a:r>
                    </a:p>
                  </a:txBody>
                  <a:tcPr anchor="ctr" marL="146304" marR="146304">
                    <a:solidFill>
                      <a:srgbClr val="FFFFFF"/>
                    </a:solidFill>
                  </a:tcPr>
                </a:tc>
                <a:tc>
                  <a:txBody>
                    <a:bodyPr wrap="square"/>
                    <a:lstStyle/>
                    <a:p>
                      <a:r>
                        <a:rPr sz="1465" b="0">
                          <a:solidFill>
                            <a:srgbClr val="33475B"/>
                          </a:solidFill>
                          <a:latin typeface="Aptos"/>
                        </a:rPr>
                        <a:t>Foto obligatoria, ubicación opcional</a:t>
                      </a:r>
                    </a:p>
                  </a:txBody>
                  <a:tcPr anchor="ctr" marL="146304" marR="146304">
                    <a:solidFill>
                      <a:srgbClr val="FFFFFF"/>
                    </a:solidFill>
                  </a:tcPr>
                </a:tc>
              </a:tr>
              <a:tr h="543560">
                <a:tc>
                  <a:txBody>
                    <a:bodyPr wrap="square"/>
                    <a:lstStyle/>
                    <a:p>
                      <a:r>
                        <a:rPr sz="1465" b="1">
                          <a:solidFill>
                            <a:srgbClr val="33475B"/>
                          </a:solidFill>
                          <a:latin typeface="Aptos"/>
                        </a:rPr>
                        <a:t>Presentación</a:t>
                      </a:r>
                    </a:p>
                  </a:txBody>
                  <a:tcPr anchor="ctr" marL="146304" marR="146304">
                    <a:solidFill>
                      <a:srgbClr val="F4F7FA"/>
                    </a:solidFill>
                  </a:tcPr>
                </a:tc>
                <a:tc>
                  <a:txBody>
                    <a:bodyPr wrap="square"/>
                    <a:lstStyle/>
                    <a:p>
                      <a:r>
                        <a:rPr sz="1465" b="0">
                          <a:solidFill>
                            <a:srgbClr val="33475B"/>
                          </a:solidFill>
                          <a:latin typeface="Aptos"/>
                        </a:rPr>
                        <a:t>Transiciones del ViewModel</a:t>
                      </a:r>
                    </a:p>
                  </a:txBody>
                  <a:tcPr anchor="ctr" marL="146304" marR="146304">
                    <a:solidFill>
                      <a:srgbClr val="F4F7FA"/>
                    </a:solidFill>
                  </a:tcPr>
                </a:tc>
                <a:tc>
                  <a:txBody>
                    <a:bodyPr wrap="square"/>
                    <a:lstStyle/>
                    <a:p>
                      <a:r>
                        <a:rPr sz="1465" b="0">
                          <a:solidFill>
                            <a:srgbClr val="33475B"/>
                          </a:solidFill>
                          <a:latin typeface="Aptos"/>
                        </a:rPr>
                        <a:t>Caso de uso falso</a:t>
                      </a:r>
                    </a:p>
                  </a:txBody>
                  <a:tcPr anchor="ctr" marL="146304" marR="146304">
                    <a:solidFill>
                      <a:srgbClr val="F4F7FA"/>
                    </a:solidFill>
                  </a:tcPr>
                </a:tc>
                <a:tc>
                  <a:txBody>
                    <a:bodyPr wrap="square"/>
                    <a:lstStyle/>
                    <a:p>
                      <a:r>
                        <a:rPr sz="1377" b="0">
                          <a:solidFill>
                            <a:srgbClr val="156082"/>
                          </a:solidFill>
                          <a:latin typeface="Consolas"/>
                        </a:rPr>
                        <a:t>justificar</a:t>
                      </a:r>
                      <a:r>
                        <a:rPr sz="1465" b="0">
                          <a:solidFill>
                            <a:srgbClr val="33475B"/>
                          </a:solidFill>
                          <a:latin typeface="Aptos"/>
                        </a:rPr>
                        <a:t> antes del diálogo</a:t>
                      </a:r>
                    </a:p>
                  </a:txBody>
                  <a:tcPr anchor="ctr" marL="146304" marR="146304">
                    <a:solidFill>
                      <a:srgbClr val="F4F7FA"/>
                    </a:solidFill>
                  </a:tcPr>
                </a:tc>
              </a:tr>
              <a:tr h="543560">
                <a:tc>
                  <a:txBody>
                    <a:bodyPr wrap="square"/>
                    <a:lstStyle/>
                    <a:p>
                      <a:r>
                        <a:rPr sz="1465" b="1">
                          <a:solidFill>
                            <a:srgbClr val="33475B"/>
                          </a:solidFill>
                          <a:latin typeface="Aptos"/>
                        </a:rPr>
                        <a:t>Datos</a:t>
                      </a:r>
                    </a:p>
                  </a:txBody>
                  <a:tcPr anchor="ctr" marL="146304" marR="146304">
                    <a:solidFill>
                      <a:srgbClr val="FFFFFF"/>
                    </a:solidFill>
                  </a:tcPr>
                </a:tc>
                <a:tc>
                  <a:txBody>
                    <a:bodyPr wrap="square"/>
                    <a:lstStyle/>
                    <a:p>
                      <a:r>
                        <a:rPr sz="1465" b="0">
                          <a:solidFill>
                            <a:srgbClr val="33475B"/>
                          </a:solidFill>
                          <a:latin typeface="Aptos"/>
                        </a:rPr>
                        <a:t>Mappers DTO ↔ entidad</a:t>
                      </a:r>
                    </a:p>
                  </a:txBody>
                  <a:tcPr anchor="ctr" marL="146304" marR="146304">
                    <a:solidFill>
                      <a:srgbClr val="FFFFFF"/>
                    </a:solidFill>
                  </a:tcPr>
                </a:tc>
                <a:tc>
                  <a:txBody>
                    <a:bodyPr wrap="square"/>
                    <a:lstStyle/>
                    <a:p>
                      <a:r>
                        <a:rPr sz="1465" b="0">
                          <a:solidFill>
                            <a:srgbClr val="33475B"/>
                          </a:solidFill>
                          <a:latin typeface="Aptos"/>
                        </a:rPr>
                        <a:t>Fuente remota falsa</a:t>
                      </a:r>
                    </a:p>
                  </a:txBody>
                  <a:tcPr anchor="ctr" marL="146304" marR="146304">
                    <a:solidFill>
                      <a:srgbClr val="FFFFFF"/>
                    </a:solidFill>
                  </a:tcPr>
                </a:tc>
                <a:tc>
                  <a:txBody>
                    <a:bodyPr wrap="square"/>
                    <a:lstStyle/>
                    <a:p>
                      <a:r>
                        <a:rPr sz="1465" b="0">
                          <a:solidFill>
                            <a:srgbClr val="33475B"/>
                          </a:solidFill>
                          <a:latin typeface="Aptos"/>
                        </a:rPr>
                        <a:t>Fecha ISO del API a </a:t>
                      </a:r>
                      <a:r>
                        <a:rPr sz="1377" b="0">
                          <a:solidFill>
                            <a:srgbClr val="156082"/>
                          </a:solidFill>
                          <a:latin typeface="Consolas"/>
                        </a:rPr>
                        <a:t>Date</a:t>
                      </a:r>
                    </a:p>
                  </a:txBody>
                  <a:tcPr anchor="ctr" marL="146304" marR="146304">
                    <a:solidFill>
                      <a:srgbClr val="FFFFFF"/>
                    </a:solidFill>
                  </a:tcPr>
                </a:tc>
              </a:tr>
              <a:tr h="543560">
                <a:tc>
                  <a:txBody>
                    <a:bodyPr wrap="square"/>
                    <a:lstStyle/>
                    <a:p>
                      <a:r>
                        <a:rPr sz="1465" b="1">
                          <a:solidFill>
                            <a:srgbClr val="33475B"/>
                          </a:solidFill>
                          <a:latin typeface="Aptos"/>
                        </a:rPr>
                        <a:t>Adaptadores</a:t>
                      </a:r>
                    </a:p>
                  </a:txBody>
                  <a:tcPr anchor="ctr" marL="146304" marR="146304">
                    <a:solidFill>
                      <a:srgbClr val="F4F7FA"/>
                    </a:solidFill>
                  </a:tcPr>
                </a:tc>
                <a:tc>
                  <a:txBody>
                    <a:bodyPr wrap="square"/>
                    <a:lstStyle/>
                    <a:p>
                      <a:r>
                        <a:rPr sz="1465" b="0">
                          <a:solidFill>
                            <a:srgbClr val="33475B"/>
                          </a:solidFill>
                          <a:latin typeface="Aptos"/>
                        </a:rPr>
                        <a:t>Traducción de estados</a:t>
                      </a:r>
                    </a:p>
                  </a:txBody>
                  <a:tcPr anchor="ctr" marL="146304" marR="146304">
                    <a:solidFill>
                      <a:srgbClr val="F4F7FA"/>
                    </a:solidFill>
                  </a:tcPr>
                </a:tc>
                <a:tc>
                  <a:txBody>
                    <a:bodyPr wrap="square"/>
                    <a:lstStyle/>
                    <a:p>
                      <a:r>
                        <a:rPr sz="1465" b="0">
                          <a:solidFill>
                            <a:srgbClr val="33475B"/>
                          </a:solidFill>
                          <a:latin typeface="Aptos"/>
                        </a:rPr>
                        <a:t>Caso manual en dispositivo</a:t>
                      </a:r>
                    </a:p>
                  </a:txBody>
                  <a:tcPr anchor="ctr" marL="146304" marR="146304">
                    <a:solidFill>
                      <a:srgbClr val="F4F7FA"/>
                    </a:solidFill>
                  </a:tcPr>
                </a:tc>
                <a:tc>
                  <a:txBody>
                    <a:bodyPr wrap="square"/>
                    <a:lstStyle/>
                    <a:p>
                      <a:r>
                        <a:rPr sz="1377" b="0">
                          <a:solidFill>
                            <a:srgbClr val="156082"/>
                          </a:solidFill>
                          <a:latin typeface="Consolas"/>
                        </a:rPr>
                        <a:t>prompt-with-rationale</a:t>
                      </a:r>
                      <a:r>
                        <a:rPr sz="1465" b="0">
                          <a:solidFill>
                            <a:srgbClr val="33475B"/>
                          </a:solidFill>
                          <a:latin typeface="Aptos"/>
                        </a:rPr>
                        <a:t> a </a:t>
                      </a:r>
                      <a:r>
                        <a:rPr sz="1377" b="0">
                          <a:solidFill>
                            <a:srgbClr val="156082"/>
                          </a:solidFill>
                          <a:latin typeface="Consolas"/>
                        </a:rPr>
                        <a:t>preguntable</a:t>
                      </a:r>
                    </a:p>
                  </a:txBody>
                  <a:tcPr anchor="ctr" marL="146304" marR="146304">
                    <a:solidFill>
                      <a:srgbClr val="F4F7FA"/>
                    </a:solidFill>
                  </a:tcPr>
                </a:tc>
              </a:tr>
              <a:tr h="543560">
                <a:tc>
                  <a:txBody>
                    <a:bodyPr wrap="square"/>
                    <a:lstStyle/>
                    <a:p>
                      <a:r>
                        <a:rPr sz="1465" b="1">
                          <a:solidFill>
                            <a:srgbClr val="33475B"/>
                          </a:solidFill>
                          <a:latin typeface="Aptos"/>
                        </a:rPr>
                        <a:t>Flujo completo</a:t>
                      </a:r>
                    </a:p>
                  </a:txBody>
                  <a:tcPr anchor="ctr" marL="146304" marR="146304">
                    <a:solidFill>
                      <a:srgbClr val="FFFFFF"/>
                    </a:solidFill>
                  </a:tcPr>
                </a:tc>
                <a:tc>
                  <a:txBody>
                    <a:bodyPr wrap="square"/>
                    <a:lstStyle/>
                    <a:p>
                      <a:r>
                        <a:rPr sz="1465" b="0">
                          <a:solidFill>
                            <a:srgbClr val="33475B"/>
                          </a:solidFill>
                          <a:latin typeface="Aptos"/>
                        </a:rPr>
                        <a:t>Visita con foto y ubicación</a:t>
                      </a:r>
                    </a:p>
                  </a:txBody>
                  <a:tcPr anchor="ctr" marL="146304" marR="146304">
                    <a:solidFill>
                      <a:srgbClr val="FFFFFF"/>
                    </a:solidFill>
                  </a:tcPr>
                </a:tc>
                <a:tc>
                  <a:txBody>
                    <a:bodyPr wrap="square"/>
                    <a:lstStyle/>
                    <a:p>
                      <a:r>
                        <a:rPr sz="1465" b="0">
                          <a:solidFill>
                            <a:srgbClr val="33475B"/>
                          </a:solidFill>
                          <a:latin typeface="Aptos"/>
                        </a:rPr>
                        <a:t>Ninguno</a:t>
                      </a:r>
                    </a:p>
                  </a:txBody>
                  <a:tcPr anchor="ctr" marL="146304" marR="146304">
                    <a:solidFill>
                      <a:srgbClr val="FFFFFF"/>
                    </a:solidFill>
                  </a:tcPr>
                </a:tc>
                <a:tc>
                  <a:txBody>
                    <a:bodyPr wrap="square"/>
                    <a:lstStyle/>
                    <a:p>
                      <a:r>
                        <a:rPr sz="1465" b="0">
                          <a:solidFill>
                            <a:srgbClr val="33475B"/>
                          </a:solidFill>
                          <a:latin typeface="Aptos"/>
                        </a:rPr>
                        <a:t>Firebase Test Lab o Appium</a:t>
                      </a:r>
                    </a:p>
                  </a:txBody>
                  <a:tcPr anchor="ctr" marL="146304" marR="146304">
                    <a:solidFill>
                      <a:srgbClr val="FFFFFF"/>
                    </a:solidFill>
                  </a:tcPr>
                </a:tc>
              </a:tr>
            </a:tbl>
          </a:graphicData>
        </a:graphic>
      </p:graphicFrame>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25 / 45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NATIVO, CALIDAD Y DESPLIEGUE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Pruebas portables entre Karma y Vitest</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450848"/>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34112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450848"/>
          </a:xfrm>
          <a:prstGeom prst="rect">
            <a:avLst/>
          </a:prstGeom>
          <a:noFill/>
        </p:spPr>
        <p:txBody>
          <a:bodyPr wrap="square" anchor="ctr" lIns="0" rIns="0" tIns="0" bIns="0">
            <a:spAutoFit/>
          </a:bodyPr>
          <a:lstStyle/>
          <a:p>
            <a:pPr algn="l">
              <a:lnSpc>
                <a:spcPct val="125000"/>
              </a:lnSpc>
            </a:pPr>
            <a:r>
              <a:rPr sz="2407" b="1">
                <a:solidFill>
                  <a:srgbClr val="0E2841"/>
                </a:solidFill>
                <a:latin typeface="Aptos Display"/>
              </a:rPr>
              <a:t>Solo el subconjunto común y fakes propios; los rechazos con </a:t>
            </a:r>
            <a:r>
              <a:rPr sz="2262" b="1">
                <a:solidFill>
                  <a:srgbClr val="156082"/>
                </a:solidFill>
                <a:latin typeface="Consolas"/>
              </a:rPr>
              <a:t>try/catch</a:t>
            </a:r>
            <a:r>
              <a:rPr sz="2407" b="1">
                <a:solidFill>
                  <a:srgbClr val="0E2841"/>
                </a:solidFill>
                <a:latin typeface="Aptos Display"/>
              </a:rPr>
              <a:t>. Migrar de Karma a Vitest no obliga a reescribir.</a:t>
            </a:r>
          </a:p>
        </p:txBody>
      </p:sp>
      <p:graphicFrame>
        <p:nvGraphicFramePr>
          <p:cNvPr id="10" name="Table 9"/>
          <p:cNvGraphicFramePr>
            <a:graphicFrameLocks noGrp="1"/>
          </p:cNvGraphicFramePr>
          <p:nvPr/>
        </p:nvGraphicFramePr>
        <p:xfrm>
          <a:off x="566928" y="3224783"/>
          <a:ext cx="11064240" cy="3102860"/>
        </p:xfrm>
        <a:graphic>
          <a:graphicData uri="http://schemas.openxmlformats.org/drawingml/2006/table">
            <a:tbl>
              <a:tblPr firstRow="1">
                <a:tableStyleId>{5C22544A-7EE6-4342-B048-85BDC9FD1C3A}</a:tableStyleId>
              </a:tblPr>
              <a:tblGrid>
                <a:gridCol w="3688080"/>
                <a:gridCol w="3688080"/>
                <a:gridCol w="3688080"/>
              </a:tblGrid>
              <a:tr h="620572">
                <a:tc>
                  <a:txBody>
                    <a:bodyPr wrap="square"/>
                    <a:lstStyle/>
                    <a:p>
                      <a:r>
                        <a:rPr sz="1641" b="1">
                          <a:solidFill>
                            <a:srgbClr val="FFFFFF"/>
                          </a:solidFill>
                          <a:latin typeface="Aptos"/>
                        </a:rPr>
                        <a:t>Aspecto</a:t>
                      </a:r>
                    </a:p>
                  </a:txBody>
                  <a:tcPr anchor="ctr" marL="146304" marR="146304">
                    <a:solidFill>
                      <a:srgbClr val="156082"/>
                    </a:solidFill>
                  </a:tcPr>
                </a:tc>
                <a:tc>
                  <a:txBody>
                    <a:bodyPr wrap="square"/>
                    <a:lstStyle/>
                    <a:p>
                      <a:r>
                        <a:rPr sz="1641" b="1">
                          <a:solidFill>
                            <a:srgbClr val="FFFFFF"/>
                          </a:solidFill>
                          <a:latin typeface="Aptos"/>
                        </a:rPr>
                        <a:t>Jasmine + Karma</a:t>
                      </a:r>
                    </a:p>
                  </a:txBody>
                  <a:tcPr anchor="ctr" marL="146304" marR="146304">
                    <a:solidFill>
                      <a:srgbClr val="156082"/>
                    </a:solidFill>
                  </a:tcPr>
                </a:tc>
                <a:tc>
                  <a:txBody>
                    <a:bodyPr wrap="square"/>
                    <a:lstStyle/>
                    <a:p>
                      <a:r>
                        <a:rPr sz="1641" b="1">
                          <a:solidFill>
                            <a:srgbClr val="FFFFFF"/>
                          </a:solidFill>
                          <a:latin typeface="Aptos"/>
                        </a:rPr>
                        <a:t>Vitest</a:t>
                      </a:r>
                    </a:p>
                  </a:txBody>
                  <a:tcPr anchor="ctr" marL="146304" marR="146304">
                    <a:solidFill>
                      <a:srgbClr val="156082"/>
                    </a:solidFill>
                  </a:tcPr>
                </a:tc>
              </a:tr>
              <a:tr h="620572">
                <a:tc>
                  <a:txBody>
                    <a:bodyPr wrap="square"/>
                    <a:lstStyle/>
                    <a:p>
                      <a:r>
                        <a:rPr sz="1531" b="1">
                          <a:solidFill>
                            <a:srgbClr val="33475B"/>
                          </a:solidFill>
                          <a:latin typeface="Aptos"/>
                        </a:rPr>
                        <a:t>Qué es</a:t>
                      </a:r>
                    </a:p>
                  </a:txBody>
                  <a:tcPr anchor="ctr" marL="146304" marR="146304">
                    <a:solidFill>
                      <a:srgbClr val="FFFFFF"/>
                    </a:solidFill>
                  </a:tcPr>
                </a:tc>
                <a:tc>
                  <a:txBody>
                    <a:bodyPr wrap="square"/>
                    <a:lstStyle/>
                    <a:p>
                      <a:r>
                        <a:rPr sz="1531" b="0">
                          <a:solidFill>
                            <a:srgbClr val="33475B"/>
                          </a:solidFill>
                          <a:latin typeface="Aptos"/>
                        </a:rPr>
                        <a:t>Jasmine afirma; Karma ejecuta en un navegador real</a:t>
                      </a:r>
                    </a:p>
                  </a:txBody>
                  <a:tcPr anchor="ctr" marL="146304" marR="146304">
                    <a:solidFill>
                      <a:srgbClr val="FFFFFF"/>
                    </a:solidFill>
                  </a:tcPr>
                </a:tc>
                <a:tc>
                  <a:txBody>
                    <a:bodyPr wrap="square"/>
                    <a:lstStyle/>
                    <a:p>
                      <a:r>
                        <a:rPr sz="1531" b="0">
                          <a:solidFill>
                            <a:srgbClr val="33475B"/>
                          </a:solidFill>
                          <a:latin typeface="Aptos"/>
                        </a:rPr>
                        <a:t>Runner y aserciones en uno; DOM simulado o navegador</a:t>
                      </a:r>
                    </a:p>
                  </a:txBody>
                  <a:tcPr anchor="ctr" marL="146304" marR="146304">
                    <a:solidFill>
                      <a:srgbClr val="FFFFFF"/>
                    </a:solidFill>
                  </a:tcPr>
                </a:tc>
              </a:tr>
              <a:tr h="620572">
                <a:tc>
                  <a:txBody>
                    <a:bodyPr wrap="square"/>
                    <a:lstStyle/>
                    <a:p>
                      <a:r>
                        <a:rPr sz="1531" b="1">
                          <a:solidFill>
                            <a:srgbClr val="33475B"/>
                          </a:solidFill>
                          <a:latin typeface="Aptos"/>
                        </a:rPr>
                        <a:t>En Angular</a:t>
                      </a:r>
                    </a:p>
                  </a:txBody>
                  <a:tcPr anchor="ctr" marL="146304" marR="146304">
                    <a:solidFill>
                      <a:srgbClr val="F4F7FA"/>
                    </a:solidFill>
                  </a:tcPr>
                </a:tc>
                <a:tc>
                  <a:txBody>
                    <a:bodyPr wrap="square"/>
                    <a:lstStyle/>
                    <a:p>
                      <a:r>
                        <a:rPr sz="1531" b="0">
                          <a:solidFill>
                            <a:srgbClr val="33475B"/>
                          </a:solidFill>
                          <a:latin typeface="Aptos"/>
                        </a:rPr>
                        <a:t>El clásico, el que pide el aula; Karma deprecado desde 2023</a:t>
                      </a:r>
                    </a:p>
                  </a:txBody>
                  <a:tcPr anchor="ctr" marL="146304" marR="146304">
                    <a:solidFill>
                      <a:srgbClr val="F4F7FA"/>
                    </a:solidFill>
                  </a:tcPr>
                </a:tc>
                <a:tc>
                  <a:txBody>
                    <a:bodyPr wrap="square"/>
                    <a:lstStyle/>
                    <a:p>
                      <a:r>
                        <a:rPr sz="1531" b="0">
                          <a:solidFill>
                            <a:srgbClr val="33475B"/>
                          </a:solidFill>
                          <a:latin typeface="Aptos"/>
                        </a:rPr>
                        <a:t>Predeterminado en proyectos nuevos desde Angular 21</a:t>
                      </a:r>
                    </a:p>
                  </a:txBody>
                  <a:tcPr anchor="ctr" marL="146304" marR="146304">
                    <a:solidFill>
                      <a:srgbClr val="F4F7FA"/>
                    </a:solidFill>
                  </a:tcPr>
                </a:tc>
              </a:tr>
              <a:tr h="620572">
                <a:tc>
                  <a:txBody>
                    <a:bodyPr wrap="square"/>
                    <a:lstStyle/>
                    <a:p>
                      <a:r>
                        <a:rPr sz="1531" b="1">
                          <a:solidFill>
                            <a:srgbClr val="33475B"/>
                          </a:solidFill>
                          <a:latin typeface="Aptos"/>
                        </a:rPr>
                        <a:t>Propio del runner</a:t>
                      </a:r>
                    </a:p>
                  </a:txBody>
                  <a:tcPr anchor="ctr" marL="146304" marR="146304">
                    <a:solidFill>
                      <a:srgbClr val="FFFFFF"/>
                    </a:solidFill>
                  </a:tcPr>
                </a:tc>
                <a:tc>
                  <a:txBody>
                    <a:bodyPr wrap="square"/>
                    <a:lstStyle/>
                    <a:p>
                      <a:r>
                        <a:rPr sz="1439" b="0">
                          <a:solidFill>
                            <a:srgbClr val="156082"/>
                          </a:solidFill>
                          <a:latin typeface="Consolas"/>
                        </a:rPr>
                        <a:t>jasmine.createSpyObj</a:t>
                      </a:r>
                      <a:r>
                        <a:rPr sz="1531" b="0">
                          <a:solidFill>
                            <a:srgbClr val="33475B"/>
                          </a:solidFill>
                          <a:latin typeface="Aptos"/>
                        </a:rPr>
                        <a:t>, </a:t>
                      </a:r>
                      <a:r>
                        <a:rPr sz="1439" b="0">
                          <a:solidFill>
                            <a:srgbClr val="156082"/>
                          </a:solidFill>
                          <a:latin typeface="Consolas"/>
                        </a:rPr>
                        <a:t>spyOn</a:t>
                      </a:r>
                      <a:r>
                        <a:rPr sz="1531" b="0">
                          <a:solidFill>
                            <a:srgbClr val="33475B"/>
                          </a:solidFill>
                          <a:latin typeface="Aptos"/>
                        </a:rPr>
                        <a:t>, </a:t>
                      </a:r>
                      <a:r>
                        <a:rPr sz="1439" b="0">
                          <a:solidFill>
                            <a:srgbClr val="156082"/>
                          </a:solidFill>
                          <a:latin typeface="Consolas"/>
                        </a:rPr>
                        <a:t>expectAsync</a:t>
                      </a:r>
                    </a:p>
                  </a:txBody>
                  <a:tcPr anchor="ctr" marL="146304" marR="146304">
                    <a:solidFill>
                      <a:srgbClr val="FFFFFF"/>
                    </a:solidFill>
                  </a:tcPr>
                </a:tc>
                <a:tc>
                  <a:txBody>
                    <a:bodyPr wrap="square"/>
                    <a:lstStyle/>
                    <a:p>
                      <a:r>
                        <a:rPr sz="1439" b="0">
                          <a:solidFill>
                            <a:srgbClr val="156082"/>
                          </a:solidFill>
                          <a:latin typeface="Consolas"/>
                        </a:rPr>
                        <a:t>vi.fn</a:t>
                      </a:r>
                      <a:r>
                        <a:rPr sz="1531" b="0">
                          <a:solidFill>
                            <a:srgbClr val="33475B"/>
                          </a:solidFill>
                          <a:latin typeface="Aptos"/>
                        </a:rPr>
                        <a:t>, </a:t>
                      </a:r>
                      <a:r>
                        <a:rPr sz="1439" b="0">
                          <a:solidFill>
                            <a:srgbClr val="156082"/>
                          </a:solidFill>
                          <a:latin typeface="Consolas"/>
                        </a:rPr>
                        <a:t>vi.spyOn</a:t>
                      </a:r>
                      <a:r>
                        <a:rPr sz="1531" b="0">
                          <a:solidFill>
                            <a:srgbClr val="33475B"/>
                          </a:solidFill>
                          <a:latin typeface="Aptos"/>
                        </a:rPr>
                        <a:t>, </a:t>
                      </a:r>
                      <a:r>
                        <a:rPr sz="1439" b="0">
                          <a:solidFill>
                            <a:srgbClr val="156082"/>
                          </a:solidFill>
                          <a:latin typeface="Consolas"/>
                        </a:rPr>
                        <a:t>expect(...).rejects</a:t>
                      </a:r>
                    </a:p>
                  </a:txBody>
                  <a:tcPr anchor="ctr" marL="146304" marR="146304">
                    <a:solidFill>
                      <a:srgbClr val="FFFFFF"/>
                    </a:solidFill>
                  </a:tcPr>
                </a:tc>
              </a:tr>
              <a:tr h="620572">
                <a:tc>
                  <a:txBody>
                    <a:bodyPr wrap="square"/>
                    <a:lstStyle/>
                    <a:p>
                      <a:r>
                        <a:rPr sz="1531" b="1">
                          <a:solidFill>
                            <a:srgbClr val="33475B"/>
                          </a:solidFill>
                          <a:latin typeface="Aptos"/>
                        </a:rPr>
                        <a:t>Común a ambos</a:t>
                      </a:r>
                    </a:p>
                  </a:txBody>
                  <a:tcPr anchor="ctr" marL="146304" marR="146304">
                    <a:solidFill>
                      <a:srgbClr val="F4F7FA"/>
                    </a:solidFill>
                  </a:tcPr>
                </a:tc>
                <a:tc>
                  <a:txBody>
                    <a:bodyPr wrap="square"/>
                    <a:lstStyle/>
                    <a:p>
                      <a:r>
                        <a:rPr sz="1439" b="0">
                          <a:solidFill>
                            <a:srgbClr val="156082"/>
                          </a:solidFill>
                          <a:latin typeface="Consolas"/>
                        </a:rPr>
                        <a:t>describe</a:t>
                      </a:r>
                      <a:r>
                        <a:rPr sz="1531" b="0">
                          <a:solidFill>
                            <a:srgbClr val="33475B"/>
                          </a:solidFill>
                          <a:latin typeface="Aptos"/>
                        </a:rPr>
                        <a:t>, </a:t>
                      </a:r>
                      <a:r>
                        <a:rPr sz="1439" b="0">
                          <a:solidFill>
                            <a:srgbClr val="156082"/>
                          </a:solidFill>
                          <a:latin typeface="Consolas"/>
                        </a:rPr>
                        <a:t>it</a:t>
                      </a:r>
                      <a:r>
                        <a:rPr sz="1531" b="0">
                          <a:solidFill>
                            <a:srgbClr val="33475B"/>
                          </a:solidFill>
                          <a:latin typeface="Aptos"/>
                        </a:rPr>
                        <a:t>, </a:t>
                      </a:r>
                      <a:r>
                        <a:rPr sz="1439" b="0">
                          <a:solidFill>
                            <a:srgbClr val="156082"/>
                          </a:solidFill>
                          <a:latin typeface="Consolas"/>
                        </a:rPr>
                        <a:t>beforeEach</a:t>
                      </a:r>
                      <a:r>
                        <a:rPr sz="1531" b="0">
                          <a:solidFill>
                            <a:srgbClr val="33475B"/>
                          </a:solidFill>
                          <a:latin typeface="Aptos"/>
                        </a:rPr>
                        <a:t>, </a:t>
                      </a:r>
                      <a:r>
                        <a:rPr sz="1439" b="0">
                          <a:solidFill>
                            <a:srgbClr val="156082"/>
                          </a:solidFill>
                          <a:latin typeface="Consolas"/>
                        </a:rPr>
                        <a:t>expect</a:t>
                      </a:r>
                      <a:r>
                        <a:rPr sz="1531" b="0">
                          <a:solidFill>
                            <a:srgbClr val="33475B"/>
                          </a:solidFill>
                          <a:latin typeface="Aptos"/>
                        </a:rPr>
                        <a:t>, </a:t>
                      </a:r>
                      <a:r>
                        <a:rPr sz="1439" b="0">
                          <a:solidFill>
                            <a:srgbClr val="156082"/>
                          </a:solidFill>
                          <a:latin typeface="Consolas"/>
                        </a:rPr>
                        <a:t>toBe</a:t>
                      </a:r>
                      <a:r>
                        <a:rPr sz="1531" b="0">
                          <a:solidFill>
                            <a:srgbClr val="33475B"/>
                          </a:solidFill>
                          <a:latin typeface="Aptos"/>
                        </a:rPr>
                        <a:t>, </a:t>
                      </a:r>
                      <a:r>
                        <a:rPr sz="1439" b="0">
                          <a:solidFill>
                            <a:srgbClr val="156082"/>
                          </a:solidFill>
                          <a:latin typeface="Consolas"/>
                        </a:rPr>
                        <a:t>toEqual</a:t>
                      </a:r>
                      <a:r>
                        <a:rPr sz="1531" b="0">
                          <a:solidFill>
                            <a:srgbClr val="33475B"/>
                          </a:solidFill>
                          <a:latin typeface="Aptos"/>
                        </a:rPr>
                        <a:t>, </a:t>
                      </a:r>
                      <a:r>
                        <a:rPr sz="1439" b="0">
                          <a:solidFill>
                            <a:srgbClr val="156082"/>
                          </a:solidFill>
                          <a:latin typeface="Consolas"/>
                        </a:rPr>
                        <a:t>toBeNull</a:t>
                      </a:r>
                      <a:r>
                        <a:rPr sz="1531" b="0">
                          <a:solidFill>
                            <a:srgbClr val="33475B"/>
                          </a:solidFill>
                          <a:latin typeface="Aptos"/>
                        </a:rPr>
                        <a:t>, </a:t>
                      </a:r>
                      <a:r>
                        <a:rPr sz="1439" b="0">
                          <a:solidFill>
                            <a:srgbClr val="156082"/>
                          </a:solidFill>
                          <a:latin typeface="Consolas"/>
                        </a:rPr>
                        <a:t>TestBed</a:t>
                      </a:r>
                    </a:p>
                  </a:txBody>
                  <a:tcPr anchor="ctr" marL="146304" marR="146304">
                    <a:solidFill>
                      <a:srgbClr val="F4F7FA"/>
                    </a:solidFill>
                  </a:tcPr>
                </a:tc>
                <a:tc>
                  <a:txBody>
                    <a:bodyPr wrap="square"/>
                    <a:lstStyle/>
                    <a:p>
                      <a:r>
                        <a:rPr sz="1531" b="0">
                          <a:solidFill>
                            <a:srgbClr val="33475B"/>
                          </a:solidFill>
                          <a:latin typeface="Aptos"/>
                        </a:rPr>
                        <a:t>El mismo subconjunto</a:t>
                      </a:r>
                    </a:p>
                  </a:txBody>
                  <a:tcPr anchor="ctr" marL="146304" marR="146304">
                    <a:solidFill>
                      <a:srgbClr val="F4F7FA"/>
                    </a:solidFill>
                  </a:tcPr>
                </a:tc>
              </a:tr>
            </a:tbl>
          </a:graphicData>
        </a:graphic>
      </p:graphicFrame>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26 / 45</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NATIVO, CALIDAD Y DESPLIEGUE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Un fake es una clase de seis líneas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820673"/>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710945"/>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820673"/>
          </a:xfrm>
          <a:prstGeom prst="rect">
            <a:avLst/>
          </a:prstGeom>
          <a:noFill/>
        </p:spPr>
        <p:txBody>
          <a:bodyPr wrap="square" anchor="ctr" lIns="0" rIns="0" tIns="0" bIns="0">
            <a:spAutoFit/>
          </a:bodyPr>
          <a:lstStyle/>
          <a:p>
            <a:pPr algn="l">
              <a:lnSpc>
                <a:spcPct val="125000"/>
              </a:lnSpc>
            </a:pPr>
            <a:r>
              <a:rPr sz="2227" b="1">
                <a:solidFill>
                  <a:srgbClr val="0E2841"/>
                </a:solidFill>
                <a:latin typeface="Aptos Display"/>
              </a:rPr>
              <a:t>Un fake implementa el puerto en versión simple: no es un stub ni un mock.</a:t>
            </a:r>
          </a:p>
        </p:txBody>
      </p:sp>
      <p:sp>
        <p:nvSpPr>
          <p:cNvPr id="10" name="Rounded Rectangle 9"/>
          <p:cNvSpPr/>
          <p:nvPr/>
        </p:nvSpPr>
        <p:spPr>
          <a:xfrm>
            <a:off x="566928" y="2594610"/>
            <a:ext cx="11064240" cy="2149983"/>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41248" y="2814066"/>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2777490"/>
            <a:ext cx="7315200" cy="237744"/>
          </a:xfrm>
          <a:prstGeom prst="rect">
            <a:avLst/>
          </a:prstGeom>
          <a:noFill/>
        </p:spPr>
        <p:txBody>
          <a:bodyPr wrap="square" anchor="t" lIns="0" rIns="0" tIns="0" bIns="0">
            <a:spAutoFit/>
          </a:bodyPr>
          <a:lstStyle/>
          <a:p>
            <a:pPr algn="l"/>
            <a:r>
              <a:rPr sz="1164" b="1">
                <a:solidFill>
                  <a:srgbClr val="E97132"/>
                </a:solidFill>
                <a:latin typeface="Aptos"/>
              </a:rPr>
              <a:t>TESTING/FAKES.TS · FAKECAMARA</a:t>
            </a:r>
          </a:p>
        </p:txBody>
      </p:sp>
      <p:sp>
        <p:nvSpPr>
          <p:cNvPr id="13" name="TextBox 12"/>
          <p:cNvSpPr txBox="1"/>
          <p:nvPr/>
        </p:nvSpPr>
        <p:spPr>
          <a:xfrm>
            <a:off x="877824" y="3161538"/>
            <a:ext cx="10515600" cy="1418463"/>
          </a:xfrm>
          <a:prstGeom prst="rect">
            <a:avLst/>
          </a:prstGeom>
          <a:noFill/>
        </p:spPr>
        <p:txBody>
          <a:bodyPr wrap="none" lIns="0" tIns="0">
            <a:spAutoFit/>
          </a:bodyPr>
          <a:lstStyle/>
          <a:p>
            <a:pPr>
              <a:lnSpc>
                <a:spcPct val="125000"/>
              </a:lnSpc>
            </a:pPr>
            <a:r>
              <a:rPr sz="1468">
                <a:solidFill>
                  <a:srgbClr val="E8E8E8"/>
                </a:solidFill>
                <a:latin typeface="Consolas"/>
              </a:rPr>
              <a:t>export class FakeCamara implements Camara {</a:t>
            </a:r>
          </a:p>
          <a:p>
            <a:pPr>
              <a:lnSpc>
                <a:spcPct val="125000"/>
              </a:lnSpc>
            </a:pPr>
            <a:r>
              <a:rPr sz="1468">
                <a:solidFill>
                  <a:srgbClr val="E8E8E8"/>
                </a:solidFill>
                <a:latin typeface="Consolas"/>
              </a:rPr>
              <a:t>  constructor(private readonly r: Foto | Error,</a:t>
            </a:r>
          </a:p>
          <a:p>
            <a:pPr>
              <a:lnSpc>
                <a:spcPct val="125000"/>
              </a:lnSpc>
            </a:pPr>
            <a:r>
              <a:rPr sz="1468">
                <a:solidFill>
                  <a:srgbClr val="E8E8E8"/>
                </a:solidFill>
                <a:latin typeface="Consolas"/>
              </a:rPr>
              <a:t>              private readonly estado: EstadoPermiso = 'concedido') {}</a:t>
            </a:r>
          </a:p>
          <a:p>
            <a:pPr>
              <a:lnSpc>
                <a:spcPct val="125000"/>
              </a:lnSpc>
            </a:pPr>
            <a:r>
              <a:rPr sz="1468">
                <a:solidFill>
                  <a:srgbClr val="E8E8E8"/>
                </a:solidFill>
                <a:latin typeface="Consolas"/>
              </a:rPr>
              <a:t>  async permiso(): Promise&lt;EstadoPermiso&gt; { return this.estado; }</a:t>
            </a:r>
          </a:p>
          <a:p>
            <a:pPr>
              <a:lnSpc>
                <a:spcPct val="125000"/>
              </a:lnSpc>
            </a:pPr>
            <a:r>
              <a:rPr sz="1468">
                <a:solidFill>
                  <a:srgbClr val="E8E8E8"/>
                </a:solidFill>
                <a:latin typeface="Consolas"/>
              </a:rPr>
              <a:t>  async tomarFoto() { if (this.r instanceof Error) throw this.r; return this.r; }</a:t>
            </a:r>
          </a:p>
          <a:p>
            <a:pPr>
              <a:lnSpc>
                <a:spcPct val="125000"/>
              </a:lnSpc>
            </a:pPr>
            <a:r>
              <a:rPr sz="1468">
                <a:solidFill>
                  <a:srgbClr val="E8E8E8"/>
                </a:solidFill>
                <a:latin typeface="Consolas"/>
              </a:rPr>
              <a:t>}</a:t>
            </a:r>
          </a:p>
        </p:txBody>
      </p:sp>
      <p:sp>
        <p:nvSpPr>
          <p:cNvPr id="14" name="Rounded Rectangle 13"/>
          <p:cNvSpPr/>
          <p:nvPr/>
        </p:nvSpPr>
        <p:spPr>
          <a:xfrm>
            <a:off x="566928" y="4945761"/>
            <a:ext cx="11064240" cy="1381886"/>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41248" y="5165217"/>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7552" y="5128641"/>
            <a:ext cx="7315200" cy="237744"/>
          </a:xfrm>
          <a:prstGeom prst="rect">
            <a:avLst/>
          </a:prstGeom>
          <a:noFill/>
        </p:spPr>
        <p:txBody>
          <a:bodyPr wrap="square" anchor="t" lIns="0" rIns="0" tIns="0" bIns="0">
            <a:spAutoFit/>
          </a:bodyPr>
          <a:lstStyle/>
          <a:p>
            <a:pPr algn="l"/>
            <a:r>
              <a:rPr sz="1164" b="1">
                <a:solidFill>
                  <a:srgbClr val="E97132"/>
                </a:solidFill>
                <a:latin typeface="Aptos"/>
              </a:rPr>
              <a:t>TESTING/FAKES.TS · ERRORDE, SIN EXPECTASYNC NI REJECTS</a:t>
            </a:r>
          </a:p>
        </p:txBody>
      </p:sp>
      <p:sp>
        <p:nvSpPr>
          <p:cNvPr id="17" name="TextBox 16"/>
          <p:cNvSpPr txBox="1"/>
          <p:nvPr/>
        </p:nvSpPr>
        <p:spPr>
          <a:xfrm>
            <a:off x="877824" y="5512689"/>
            <a:ext cx="10515600" cy="650366"/>
          </a:xfrm>
          <a:prstGeom prst="rect">
            <a:avLst/>
          </a:prstGeom>
          <a:noFill/>
        </p:spPr>
        <p:txBody>
          <a:bodyPr wrap="none" lIns="0" tIns="0">
            <a:spAutoFit/>
          </a:bodyPr>
          <a:lstStyle/>
          <a:p>
            <a:pPr>
              <a:lnSpc>
                <a:spcPct val="125000"/>
              </a:lnSpc>
            </a:pPr>
            <a:r>
              <a:rPr sz="1468">
                <a:solidFill>
                  <a:srgbClr val="E8E8E8"/>
                </a:solidFill>
                <a:latin typeface="Consolas"/>
              </a:rPr>
              <a:t>export async function errorDe(p: Promise&lt;unknown&gt;): Promise&lt;unknown&gt; {</a:t>
            </a:r>
          </a:p>
          <a:p>
            <a:pPr>
              <a:lnSpc>
                <a:spcPct val="125000"/>
              </a:lnSpc>
            </a:pPr>
            <a:r>
              <a:rPr sz="1468">
                <a:solidFill>
                  <a:srgbClr val="E8E8E8"/>
                </a:solidFill>
                <a:latin typeface="Consolas"/>
              </a:rPr>
              <a:t>  try { await p; return undefined; } catch (e) { return e; }</a:t>
            </a:r>
          </a:p>
          <a:p>
            <a:pPr>
              <a:lnSpc>
                <a:spcPct val="125000"/>
              </a:lnSpc>
            </a:pPr>
            <a:r>
              <a:rPr sz="1468">
                <a:solidFill>
                  <a:srgbClr val="E8E8E8"/>
                </a:solidFill>
                <a:latin typeface="Consolas"/>
              </a:rPr>
              <a:t>}</a:t>
            </a:r>
          </a:p>
        </p:txBody>
      </p:sp>
      <p:sp>
        <p:nvSpPr>
          <p:cNvPr id="18" name="TextBox 1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19" name="TextBox 1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27 / 45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NATIVO, CALIDAD Y DESPLIEGUE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Cada prueba nombra la regla que cuida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2532888" cy="238887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1828800"/>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084832"/>
            <a:ext cx="2130552" cy="1675638"/>
          </a:xfrm>
          <a:prstGeom prst="rect">
            <a:avLst/>
          </a:prstGeom>
          <a:noFill/>
        </p:spPr>
        <p:txBody>
          <a:bodyPr wrap="square" anchor="t" lIns="0" rIns="0" tIns="0" bIns="0">
            <a:spAutoFit/>
          </a:bodyPr>
          <a:lstStyle/>
          <a:p>
            <a:pPr algn="l"/>
            <a:r>
              <a:rPr sz="1824" b="1">
                <a:solidFill>
                  <a:srgbClr val="0E2841"/>
                </a:solidFill>
                <a:latin typeface="Aptos Display"/>
              </a:rPr>
              <a:t>Nombre</a:t>
            </a:r>
          </a:p>
          <a:p>
            <a:pPr algn="l">
              <a:lnSpc>
                <a:spcPct val="120000"/>
              </a:lnSpc>
              <a:spcBef>
                <a:spcPts val="700"/>
              </a:spcBef>
            </a:pPr>
            <a:r>
              <a:rPr sz="1395" b="0">
                <a:solidFill>
                  <a:srgbClr val="33475B"/>
                </a:solidFill>
                <a:latin typeface="Aptos"/>
              </a:rPr>
              <a:t>unidad, condición y resultado: si falla, se lee qué regla se rompió</a:t>
            </a:r>
          </a:p>
        </p:txBody>
      </p:sp>
      <p:sp>
        <p:nvSpPr>
          <p:cNvPr id="10" name="Rounded Rectangle 9"/>
          <p:cNvSpPr/>
          <p:nvPr/>
        </p:nvSpPr>
        <p:spPr>
          <a:xfrm>
            <a:off x="3410712" y="1572768"/>
            <a:ext cx="2532888" cy="238887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11880" y="1828800"/>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2084832"/>
            <a:ext cx="2130552" cy="1675638"/>
          </a:xfrm>
          <a:prstGeom prst="rect">
            <a:avLst/>
          </a:prstGeom>
          <a:noFill/>
        </p:spPr>
        <p:txBody>
          <a:bodyPr wrap="square" anchor="t" lIns="0" rIns="0" tIns="0" bIns="0">
            <a:spAutoFit/>
          </a:bodyPr>
          <a:lstStyle/>
          <a:p>
            <a:pPr algn="l"/>
            <a:r>
              <a:rPr sz="1824" b="1">
                <a:solidFill>
                  <a:srgbClr val="0E2841"/>
                </a:solidFill>
                <a:latin typeface="Aptos Display"/>
              </a:rPr>
              <a:t>Arrange, Act, Assert</a:t>
            </a:r>
          </a:p>
          <a:p>
            <a:pPr algn="l">
              <a:lnSpc>
                <a:spcPct val="120000"/>
              </a:lnSpc>
              <a:spcBef>
                <a:spcPts val="700"/>
              </a:spcBef>
            </a:pPr>
            <a:r>
              <a:rPr sz="1395" b="0">
                <a:solidFill>
                  <a:srgbClr val="33475B"/>
                </a:solidFill>
                <a:latin typeface="Aptos"/>
              </a:rPr>
              <a:t>una afirmación lógica; sin red ni esperas de reloj</a:t>
            </a:r>
          </a:p>
        </p:txBody>
      </p:sp>
      <p:sp>
        <p:nvSpPr>
          <p:cNvPr id="13" name="Rounded Rectangle 12"/>
          <p:cNvSpPr/>
          <p:nvPr/>
        </p:nvSpPr>
        <p:spPr>
          <a:xfrm>
            <a:off x="6254496" y="1572768"/>
            <a:ext cx="2532888" cy="238887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55664" y="1828800"/>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084832"/>
            <a:ext cx="2130552" cy="1675638"/>
          </a:xfrm>
          <a:prstGeom prst="rect">
            <a:avLst/>
          </a:prstGeom>
          <a:noFill/>
        </p:spPr>
        <p:txBody>
          <a:bodyPr wrap="square" anchor="t" lIns="0" rIns="0" tIns="0" bIns="0">
            <a:spAutoFit/>
          </a:bodyPr>
          <a:lstStyle/>
          <a:p>
            <a:pPr algn="l"/>
            <a:r>
              <a:rPr sz="1824" b="1">
                <a:solidFill>
                  <a:srgbClr val="0E2841"/>
                </a:solidFill>
                <a:latin typeface="Aptos Display"/>
              </a:rPr>
              <a:t>Cobertura</a:t>
            </a:r>
          </a:p>
          <a:p>
            <a:pPr algn="l">
              <a:lnSpc>
                <a:spcPct val="120000"/>
              </a:lnSpc>
              <a:spcBef>
                <a:spcPts val="700"/>
              </a:spcBef>
            </a:pPr>
            <a:r>
              <a:rPr sz="1395" b="0">
                <a:solidFill>
                  <a:srgbClr val="33475B"/>
                </a:solidFill>
                <a:latin typeface="Aptos"/>
              </a:rPr>
              <a:t>piso de 80 % en domain/ y ViewModels, no un promedio global</a:t>
            </a:r>
          </a:p>
        </p:txBody>
      </p:sp>
      <p:sp>
        <p:nvSpPr>
          <p:cNvPr id="16" name="Rounded Rectangle 15"/>
          <p:cNvSpPr/>
          <p:nvPr/>
        </p:nvSpPr>
        <p:spPr>
          <a:xfrm>
            <a:off x="9098280" y="1572768"/>
            <a:ext cx="2532888" cy="238887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299448" y="1828800"/>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99448" y="2084832"/>
            <a:ext cx="2130552" cy="1675638"/>
          </a:xfrm>
          <a:prstGeom prst="rect">
            <a:avLst/>
          </a:prstGeom>
          <a:noFill/>
        </p:spPr>
        <p:txBody>
          <a:bodyPr wrap="square" anchor="t" lIns="0" rIns="0" tIns="0" bIns="0">
            <a:spAutoFit/>
          </a:bodyPr>
          <a:lstStyle/>
          <a:p>
            <a:pPr algn="l"/>
            <a:r>
              <a:rPr sz="1824" b="1">
                <a:solidFill>
                  <a:srgbClr val="0E2841"/>
                </a:solidFill>
                <a:latin typeface="Aptos Display"/>
              </a:rPr>
              <a:t>CI en cada PR</a:t>
            </a:r>
          </a:p>
          <a:p>
            <a:pPr algn="l">
              <a:lnSpc>
                <a:spcPct val="120000"/>
              </a:lnSpc>
              <a:spcBef>
                <a:spcPts val="700"/>
              </a:spcBef>
            </a:pPr>
            <a:r>
              <a:rPr sz="1395" b="0">
                <a:solidFill>
                  <a:srgbClr val="33475B"/>
                </a:solidFill>
                <a:latin typeface="Aptos"/>
              </a:rPr>
              <a:t>unitarias y de UI con un solo comando, npm run test:ci</a:t>
            </a:r>
          </a:p>
        </p:txBody>
      </p:sp>
      <p:sp>
        <p:nvSpPr>
          <p:cNvPr id="19" name="Rounded Rectangle 18"/>
          <p:cNvSpPr/>
          <p:nvPr/>
        </p:nvSpPr>
        <p:spPr>
          <a:xfrm>
            <a:off x="566928" y="4162806"/>
            <a:ext cx="11064240" cy="2164842"/>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41248" y="4382262"/>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7552" y="4345686"/>
            <a:ext cx="7315200" cy="237744"/>
          </a:xfrm>
          <a:prstGeom prst="rect">
            <a:avLst/>
          </a:prstGeom>
          <a:noFill/>
        </p:spPr>
        <p:txBody>
          <a:bodyPr wrap="square" anchor="t" lIns="0" rIns="0" tIns="0" bIns="0">
            <a:spAutoFit/>
          </a:bodyPr>
          <a:lstStyle/>
          <a:p>
            <a:pPr algn="l"/>
            <a:r>
              <a:rPr sz="1234" b="1">
                <a:solidFill>
                  <a:srgbClr val="E97132"/>
                </a:solidFill>
                <a:latin typeface="Aptos"/>
              </a:rPr>
              <a:t>CAPTURAR-EVIDENCIA.SPEC.TS</a:t>
            </a:r>
          </a:p>
        </p:txBody>
      </p:sp>
      <p:sp>
        <p:nvSpPr>
          <p:cNvPr id="22" name="TextBox 21"/>
          <p:cNvSpPr txBox="1"/>
          <p:nvPr/>
        </p:nvSpPr>
        <p:spPr>
          <a:xfrm>
            <a:off x="877824" y="4729734"/>
            <a:ext cx="10515600" cy="1433322"/>
          </a:xfrm>
          <a:prstGeom prst="rect">
            <a:avLst/>
          </a:prstGeom>
          <a:noFill/>
        </p:spPr>
        <p:txBody>
          <a:bodyPr wrap="none" lIns="0" tIns="0">
            <a:spAutoFit/>
          </a:bodyPr>
          <a:lstStyle/>
          <a:p>
            <a:pPr>
              <a:lnSpc>
                <a:spcPct val="125000"/>
              </a:lnSpc>
            </a:pPr>
            <a:r>
              <a:rPr sz="1556">
                <a:solidFill>
                  <a:srgbClr val="E8E8E8"/>
                </a:solidFill>
                <a:latin typeface="Consolas"/>
              </a:rPr>
              <a:t>it('capturarEvidencia_sinPermisoDeCamara_noPideUbicacion', async () =&gt; {</a:t>
            </a:r>
          </a:p>
          <a:p>
            <a:pPr>
              <a:lnSpc>
                <a:spcPct val="125000"/>
              </a:lnSpc>
            </a:pPr>
            <a:r>
              <a:rPr sz="1556">
                <a:solidFill>
                  <a:srgbClr val="E8E8E8"/>
                </a:solidFill>
                <a:latin typeface="Consolas"/>
              </a:rPr>
              <a:t>  const ubicacion = new FakeUbicacion(NEIVA);</a:t>
            </a:r>
          </a:p>
          <a:p>
            <a:pPr>
              <a:lnSpc>
                <a:spcPct val="125000"/>
              </a:lnSpc>
            </a:pPr>
            <a:r>
              <a:rPr sz="1556">
                <a:solidFill>
                  <a:srgbClr val="E8E8E8"/>
                </a:solidFill>
                <a:latin typeface="Consolas"/>
              </a:rPr>
              <a:t>  await errorDe(new CapturarEvidencia(sinCamara(), ubicacion, reloj).ejecutar());</a:t>
            </a:r>
          </a:p>
          <a:p>
            <a:pPr>
              <a:lnSpc>
                <a:spcPct val="125000"/>
              </a:lnSpc>
            </a:pPr>
            <a:r>
              <a:rPr sz="1556">
                <a:solidFill>
                  <a:srgbClr val="E8E8E8"/>
                </a:solidFill>
                <a:latin typeface="Consolas"/>
              </a:rPr>
              <a:t>  expect(ubicacion.llamadas).toBe(0);</a:t>
            </a:r>
          </a:p>
          <a:p>
            <a:pPr>
              <a:lnSpc>
                <a:spcPct val="125000"/>
              </a:lnSpc>
            </a:pPr>
            <a:r>
              <a:rPr sz="1556">
                <a:solidFill>
                  <a:srgbClr val="E8E8E8"/>
                </a:solidFill>
                <a:latin typeface="Consolas"/>
              </a:rPr>
              <a:t>});</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28 / 45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NATIVO, CALIDAD Y DESPLIEGUE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El ViewModel se prueba por su estado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2937052"/>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 y="1792224"/>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1755648"/>
            <a:ext cx="7315200" cy="237744"/>
          </a:xfrm>
          <a:prstGeom prst="rect">
            <a:avLst/>
          </a:prstGeom>
          <a:noFill/>
        </p:spPr>
        <p:txBody>
          <a:bodyPr wrap="square" anchor="t" lIns="0" rIns="0" tIns="0" bIns="0">
            <a:spAutoFit/>
          </a:bodyPr>
          <a:lstStyle/>
          <a:p>
            <a:pPr algn="l"/>
            <a:r>
              <a:rPr sz="1322" b="1">
                <a:solidFill>
                  <a:srgbClr val="E97132"/>
                </a:solidFill>
                <a:latin typeface="Aptos"/>
              </a:rPr>
              <a:t>REGISTRO-VISITA.VIEWMODEL.SPEC.TS</a:t>
            </a:r>
          </a:p>
        </p:txBody>
      </p:sp>
      <p:sp>
        <p:nvSpPr>
          <p:cNvPr id="10" name="TextBox 9"/>
          <p:cNvSpPr txBox="1"/>
          <p:nvPr/>
        </p:nvSpPr>
        <p:spPr>
          <a:xfrm>
            <a:off x="877824" y="2139696"/>
            <a:ext cx="10515600" cy="2205532"/>
          </a:xfrm>
          <a:prstGeom prst="rect">
            <a:avLst/>
          </a:prstGeom>
          <a:noFill/>
        </p:spPr>
        <p:txBody>
          <a:bodyPr wrap="none" lIns="0" tIns="0">
            <a:spAutoFit/>
          </a:bodyPr>
          <a:lstStyle/>
          <a:p>
            <a:pPr>
              <a:lnSpc>
                <a:spcPct val="125000"/>
              </a:lnSpc>
            </a:pPr>
            <a:r>
              <a:rPr sz="1667">
                <a:solidFill>
                  <a:srgbClr val="E8E8E8"/>
                </a:solidFill>
                <a:latin typeface="Consolas"/>
              </a:rPr>
              <a:t>TestBed.configureTestingModule({ providers: [RegistroVisitaViewModel,</a:t>
            </a:r>
          </a:p>
          <a:p>
            <a:pPr>
              <a:lnSpc>
                <a:spcPct val="125000"/>
              </a:lnSpc>
            </a:pPr>
            <a:r>
              <a:rPr sz="1667">
                <a:solidFill>
                  <a:srgbClr val="E8E8E8"/>
                </a:solidFill>
                <a:latin typeface="Consolas"/>
              </a:rPr>
              <a:t>  { provide: CAMARA, useValue: new FakeCamara(FOTO, 'preguntable') },</a:t>
            </a:r>
          </a:p>
          <a:p>
            <a:pPr>
              <a:lnSpc>
                <a:spcPct val="125000"/>
              </a:lnSpc>
            </a:pPr>
            <a:r>
              <a:rPr sz="1667">
                <a:solidFill>
                  <a:srgbClr val="E8E8E8"/>
                </a:solidFill>
                <a:latin typeface="Consolas"/>
              </a:rPr>
              <a:t>  { provide: CapturarEvidencia, useValue: casoFalso }] });</a:t>
            </a:r>
          </a:p>
          <a:p>
            <a:pPr>
              <a:lnSpc>
                <a:spcPct val="125000"/>
              </a:lnSpc>
            </a:pPr>
            <a:r>
              <a:rPr sz="1667">
                <a:solidFill>
                  <a:srgbClr val="E8E8E8"/>
                </a:solidFill>
                <a:latin typeface="Consolas"/>
              </a:rPr>
              <a:t>const vm = TestBed.inject(RegistroVisitaViewModel);</a:t>
            </a:r>
          </a:p>
          <a:p>
            <a:pPr>
              <a:lnSpc>
                <a:spcPct val="125000"/>
              </a:lnSpc>
            </a:pPr>
            <a:r>
              <a:rPr sz="1667">
                <a:solidFill>
                  <a:srgbClr val="E8E8E8"/>
                </a:solidFill>
                <a:latin typeface="Consolas"/>
              </a:rPr>
              <a:t>await vm.agregarEvidencia();</a:t>
            </a:r>
          </a:p>
          <a:p>
            <a:pPr>
              <a:lnSpc>
                <a:spcPct val="125000"/>
              </a:lnSpc>
            </a:pPr>
            <a:r>
              <a:rPr sz="1667">
                <a:solidFill>
                  <a:srgbClr val="E8E8E8"/>
                </a:solidFill>
                <a:latin typeface="Consolas"/>
              </a:rPr>
              <a:t>expect(vm.estado()).toEqual({ tipo: 'justificar', recurso: 'camara' });</a:t>
            </a:r>
          </a:p>
        </p:txBody>
      </p:sp>
      <p:sp>
        <p:nvSpPr>
          <p:cNvPr id="11" name="Oval 10"/>
          <p:cNvSpPr/>
          <p:nvPr/>
        </p:nvSpPr>
        <p:spPr>
          <a:xfrm>
            <a:off x="585216" y="5064860"/>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4710988"/>
            <a:ext cx="10698480" cy="808329"/>
          </a:xfrm>
          <a:prstGeom prst="rect">
            <a:avLst/>
          </a:prstGeom>
          <a:noFill/>
        </p:spPr>
        <p:txBody>
          <a:bodyPr wrap="square" anchor="ctr" lIns="0" rIns="0" tIns="0" bIns="0">
            <a:spAutoFit/>
          </a:bodyPr>
          <a:lstStyle/>
          <a:p>
            <a:pPr algn="l"/>
            <a:r>
              <a:rPr sz="2415" b="1">
                <a:solidFill>
                  <a:srgbClr val="0E2841"/>
                </a:solidFill>
                <a:latin typeface="Aptos"/>
              </a:rPr>
              <a:t>Prueba: </a:t>
            </a:r>
            <a:r>
              <a:rPr sz="2270" b="1">
                <a:solidFill>
                  <a:srgbClr val="156082"/>
                </a:solidFill>
                <a:latin typeface="Consolas"/>
              </a:rPr>
              <a:t>agregarEvidencia_conPermisoPreguntable_muestraJustificacion</a:t>
            </a:r>
          </a:p>
        </p:txBody>
      </p:sp>
      <p:sp>
        <p:nvSpPr>
          <p:cNvPr id="13" name="Oval 12"/>
          <p:cNvSpPr/>
          <p:nvPr/>
        </p:nvSpPr>
        <p:spPr>
          <a:xfrm>
            <a:off x="585216" y="5873190"/>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5519318"/>
            <a:ext cx="10698480" cy="808329"/>
          </a:xfrm>
          <a:prstGeom prst="rect">
            <a:avLst/>
          </a:prstGeom>
          <a:noFill/>
        </p:spPr>
        <p:txBody>
          <a:bodyPr wrap="square" anchor="ctr" lIns="0" rIns="0" tIns="0" bIns="0">
            <a:spAutoFit/>
          </a:bodyPr>
          <a:lstStyle/>
          <a:p>
            <a:pPr algn="l"/>
            <a:r>
              <a:rPr sz="2415" b="1">
                <a:solidFill>
                  <a:srgbClr val="0E2841"/>
                </a:solidFill>
                <a:latin typeface="Aptos"/>
              </a:rPr>
              <a:t>Se afirma </a:t>
            </a:r>
            <a:r>
              <a:rPr sz="2270" b="1">
                <a:solidFill>
                  <a:srgbClr val="156082"/>
                </a:solidFill>
                <a:latin typeface="Consolas"/>
              </a:rPr>
              <a:t>vm.estado()</a:t>
            </a:r>
            <a:r>
              <a:rPr sz="2415" b="1">
                <a:solidFill>
                  <a:srgbClr val="0E2841"/>
                </a:solidFill>
                <a:latin typeface="Aptos"/>
              </a:rPr>
              <a:t>; </a:t>
            </a:r>
            <a:r>
              <a:rPr sz="2270" b="1">
                <a:solidFill>
                  <a:srgbClr val="156082"/>
                </a:solidFill>
                <a:latin typeface="Consolas"/>
              </a:rPr>
              <a:t>TestBed</a:t>
            </a:r>
            <a:r>
              <a:rPr sz="2415" b="1">
                <a:solidFill>
                  <a:srgbClr val="0E2841"/>
                </a:solidFill>
                <a:latin typeface="Aptos"/>
              </a:rPr>
              <a:t> sirve en ambos runners</a:t>
            </a:r>
          </a:p>
        </p:txBody>
      </p:sp>
      <p:sp>
        <p:nvSpPr>
          <p:cNvPr id="15" name="TextBox 14"/>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16" name="TextBox 15"/>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29 / 45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548640"/>
            <a:ext cx="9052560" cy="822960"/>
          </a:xfrm>
          <a:prstGeom prst="rect">
            <a:avLst/>
          </a:prstGeom>
          <a:noFill/>
        </p:spPr>
        <p:txBody>
          <a:bodyPr wrap="square" anchor="t" lIns="0" rIns="0" tIns="0" bIns="0">
            <a:spAutoFit/>
          </a:bodyPr>
          <a:lstStyle/>
          <a:p>
            <a:pPr algn="l"/>
            <a:r>
              <a:rPr sz="2200" b="1">
                <a:solidFill>
                  <a:srgbClr val="0E2841"/>
                </a:solidFill>
                <a:latin typeface="Aptos Display"/>
              </a:rPr>
              <a:t>¿Por qué el marco prefiere fakes de los puertos a simular el plugin con utilidades del runner?</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Prueban el comportamiento sin hardware y no dependen de Jasmine ni de Vitest</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Porque Jasmine no tiene ninguna forma de simular paquetes instalados de npm</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Porque los fakes aumentan la cobertura de los adaptadores de la capa de datos</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Porque así las pruebas unitarias pueden ejecutarse en un dispositivo real</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30 / 45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548640"/>
            <a:ext cx="9052560" cy="822960"/>
          </a:xfrm>
          <a:prstGeom prst="rect">
            <a:avLst/>
          </a:prstGeom>
          <a:noFill/>
        </p:spPr>
        <p:txBody>
          <a:bodyPr wrap="square" anchor="t" lIns="0" rIns="0" tIns="0" bIns="0">
            <a:spAutoFit/>
          </a:bodyPr>
          <a:lstStyle/>
          <a:p>
            <a:pPr algn="l"/>
            <a:r>
              <a:rPr sz="2200" b="1">
                <a:solidFill>
                  <a:srgbClr val="0E2841"/>
                </a:solidFill>
                <a:latin typeface="Aptos Display"/>
              </a:rPr>
              <a:t>Cobertura: 92 % global, pero 55 % en </a:t>
            </a:r>
            <a:r>
              <a:rPr sz="2068" b="1">
                <a:solidFill>
                  <a:srgbClr val="156082"/>
                </a:solidFill>
                <a:latin typeface="Consolas"/>
              </a:rPr>
              <a:t>domain/</a:t>
            </a:r>
            <a:r>
              <a:rPr sz="2200" b="1">
                <a:solidFill>
                  <a:srgbClr val="0E2841"/>
                </a:solidFill>
                <a:latin typeface="Aptos Display"/>
              </a:rPr>
              <a:t> y en los ViewModels. Según el marco, ¿qué se concluye?</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Cumple, porque el promedio global del proyecto supera el 80 %</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No cumple: el piso del 80 % se exige en dominio y en ViewModels</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Cumple si las pruebas E2E recorren los flujos que no están cubiertos</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No aplica: la cobertura no es un criterio de calidad dentro del marco</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31 / 45</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06</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Release: del código a la tienda</a:t>
            </a:r>
          </a:p>
        </p:txBody>
      </p:sp>
      <p:sp>
        <p:nvSpPr>
          <p:cNvPr id="5" name="TextBox 4"/>
          <p:cNvSpPr txBox="1"/>
          <p:nvPr/>
        </p:nvSpPr>
        <p:spPr>
          <a:xfrm>
            <a:off x="1828800" y="4617720"/>
            <a:ext cx="8503920" cy="731520"/>
          </a:xfrm>
          <a:prstGeom prst="rect">
            <a:avLst/>
          </a:prstGeom>
          <a:noFill/>
        </p:spPr>
        <p:txBody>
          <a:bodyPr wrap="square" anchor="t" lIns="0" rIns="0" tIns="0" bIns="0">
            <a:spAutoFit/>
          </a:bodyPr>
          <a:lstStyle/>
          <a:p>
            <a:pPr algn="ctr"/>
            <a:r>
              <a:rPr sz="1600" b="0">
                <a:solidFill>
                  <a:srgbClr val="E8E8E8"/>
                </a:solidFill>
                <a:latin typeface="Aptos"/>
              </a:rPr>
              <a:t>Encuentro 4 · una cadena de identidades y números</a:t>
            </a:r>
          </a:p>
        </p:txBody>
      </p:sp>
      <p:pic>
        <p:nvPicPr>
          <p:cNvPr id="6" name="Picture 5"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NATIVO, CALIDAD Y DESPLIEGUE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Íconos, splash y números de versión</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2385277"/>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 y="1792224"/>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1755648"/>
            <a:ext cx="7315200" cy="237744"/>
          </a:xfrm>
          <a:prstGeom prst="rect">
            <a:avLst/>
          </a:prstGeom>
          <a:noFill/>
        </p:spPr>
        <p:txBody>
          <a:bodyPr wrap="square" anchor="t" lIns="0" rIns="0" tIns="0" bIns="0">
            <a:spAutoFit/>
          </a:bodyPr>
          <a:lstStyle/>
          <a:p>
            <a:pPr algn="l"/>
            <a:r>
              <a:rPr sz="1287" b="1">
                <a:solidFill>
                  <a:srgbClr val="E97132"/>
                </a:solidFill>
                <a:latin typeface="Aptos"/>
              </a:rPr>
              <a:t>@CAPACITOR/ASSETS, REEMPLAZO DE CORDOVA-RES</a:t>
            </a:r>
          </a:p>
        </p:txBody>
      </p:sp>
      <p:sp>
        <p:nvSpPr>
          <p:cNvPr id="10" name="TextBox 9"/>
          <p:cNvSpPr txBox="1"/>
          <p:nvPr/>
        </p:nvSpPr>
        <p:spPr>
          <a:xfrm>
            <a:off x="877824" y="2139696"/>
            <a:ext cx="10515600" cy="1653757"/>
          </a:xfrm>
          <a:prstGeom prst="rect">
            <a:avLst/>
          </a:prstGeom>
          <a:noFill/>
        </p:spPr>
        <p:txBody>
          <a:bodyPr wrap="none" lIns="0" tIns="0">
            <a:spAutoFit/>
          </a:bodyPr>
          <a:lstStyle/>
          <a:p>
            <a:pPr>
              <a:lnSpc>
                <a:spcPct val="125000"/>
              </a:lnSpc>
            </a:pPr>
            <a:r>
              <a:rPr sz="1623">
                <a:solidFill>
                  <a:srgbClr val="E8E8E8"/>
                </a:solidFill>
                <a:latin typeface="Consolas"/>
              </a:rPr>
              <a:t>npm i -D @capacitor/assets</a:t>
            </a:r>
          </a:p>
          <a:p>
            <a:pPr>
              <a:lnSpc>
                <a:spcPct val="125000"/>
              </a:lnSpc>
            </a:pPr>
            <a:r>
              <a:rPr sz="1623">
                <a:solidFill>
                  <a:srgbClr val="E8E8E8"/>
                </a:solidFill>
                <a:latin typeface="Consolas"/>
              </a:rPr>
              <a:t># assets/icon-only.png: 1024 × 1024, sin transparencia</a:t>
            </a:r>
          </a:p>
          <a:p>
            <a:pPr>
              <a:lnSpc>
                <a:spcPct val="125000"/>
              </a:lnSpc>
            </a:pPr>
            <a:r>
              <a:rPr sz="1623">
                <a:solidFill>
                  <a:srgbClr val="E8E8E8"/>
                </a:solidFill>
                <a:latin typeface="Consolas"/>
              </a:rPr>
              <a:t># assets/icon-foreground.png + icon-background.png: ícono adaptativo</a:t>
            </a:r>
          </a:p>
          <a:p>
            <a:pPr>
              <a:lnSpc>
                <a:spcPct val="125000"/>
              </a:lnSpc>
            </a:pPr>
            <a:r>
              <a:rPr sz="1623">
                <a:solidFill>
                  <a:srgbClr val="E8E8E8"/>
                </a:solidFill>
                <a:latin typeface="Consolas"/>
              </a:rPr>
              <a:t># assets/splash.png y splash-dark.png: 2732 × 2732, logo centrado</a:t>
            </a:r>
          </a:p>
          <a:p>
            <a:pPr>
              <a:lnSpc>
                <a:spcPct val="125000"/>
              </a:lnSpc>
            </a:pPr>
            <a:r>
              <a:rPr sz="1623">
                <a:solidFill>
                  <a:srgbClr val="E8E8E8"/>
                </a:solidFill>
                <a:latin typeface="Consolas"/>
              </a:rPr>
              <a:t>npx capacitor-assets generate</a:t>
            </a:r>
          </a:p>
        </p:txBody>
      </p:sp>
      <p:graphicFrame>
        <p:nvGraphicFramePr>
          <p:cNvPr id="11" name="Table 10"/>
          <p:cNvGraphicFramePr>
            <a:graphicFrameLocks noGrp="1"/>
          </p:cNvGraphicFramePr>
          <p:nvPr/>
        </p:nvGraphicFramePr>
        <p:xfrm>
          <a:off x="566928" y="4159213"/>
          <a:ext cx="11064240" cy="2168433"/>
        </p:xfrm>
        <a:graphic>
          <a:graphicData uri="http://schemas.openxmlformats.org/drawingml/2006/table">
            <a:tbl>
              <a:tblPr firstRow="1">
                <a:tableStyleId>{5C22544A-7EE6-4342-B048-85BDC9FD1C3A}</a:tableStyleId>
              </a:tblPr>
              <a:tblGrid>
                <a:gridCol w="3688080"/>
                <a:gridCol w="3688080"/>
                <a:gridCol w="3688080"/>
              </a:tblGrid>
              <a:tr h="722811">
                <a:tc>
                  <a:txBody>
                    <a:bodyPr wrap="square"/>
                    <a:lstStyle/>
                    <a:p>
                      <a:r>
                        <a:rPr sz="1679" b="1">
                          <a:solidFill>
                            <a:srgbClr val="FFFFFF"/>
                          </a:solidFill>
                          <a:latin typeface="Aptos"/>
                        </a:rPr>
                        <a:t>Número</a:t>
                      </a:r>
                    </a:p>
                  </a:txBody>
                  <a:tcPr anchor="ctr" marL="146304" marR="146304">
                    <a:solidFill>
                      <a:srgbClr val="156082"/>
                    </a:solidFill>
                  </a:tcPr>
                </a:tc>
                <a:tc>
                  <a:txBody>
                    <a:bodyPr wrap="square"/>
                    <a:lstStyle/>
                    <a:p>
                      <a:r>
                        <a:rPr sz="1679" b="1">
                          <a:solidFill>
                            <a:srgbClr val="FFFFFF"/>
                          </a:solidFill>
                          <a:latin typeface="Aptos"/>
                        </a:rPr>
                        <a:t>Android · iOS</a:t>
                      </a:r>
                    </a:p>
                  </a:txBody>
                  <a:tcPr anchor="ctr" marL="146304" marR="146304">
                    <a:solidFill>
                      <a:srgbClr val="156082"/>
                    </a:solidFill>
                  </a:tcPr>
                </a:tc>
                <a:tc>
                  <a:txBody>
                    <a:bodyPr wrap="square"/>
                    <a:lstStyle/>
                    <a:p>
                      <a:r>
                        <a:rPr sz="1679" b="1">
                          <a:solidFill>
                            <a:srgbClr val="FFFFFF"/>
                          </a:solidFill>
                          <a:latin typeface="Aptos"/>
                        </a:rPr>
                        <a:t>Regla</a:t>
                      </a:r>
                    </a:p>
                  </a:txBody>
                  <a:tcPr anchor="ctr" marL="146304" marR="146304">
                    <a:solidFill>
                      <a:srgbClr val="156082"/>
                    </a:solidFill>
                  </a:tcPr>
                </a:tc>
              </a:tr>
              <a:tr h="722811">
                <a:tc>
                  <a:txBody>
                    <a:bodyPr wrap="square"/>
                    <a:lstStyle/>
                    <a:p>
                      <a:r>
                        <a:rPr sz="1567" b="1">
                          <a:solidFill>
                            <a:srgbClr val="33475B"/>
                          </a:solidFill>
                          <a:latin typeface="Aptos"/>
                        </a:rPr>
                        <a:t>Versión visible</a:t>
                      </a:r>
                    </a:p>
                  </a:txBody>
                  <a:tcPr anchor="ctr" marL="146304" marR="146304">
                    <a:solidFill>
                      <a:srgbClr val="FFFFFF"/>
                    </a:solidFill>
                  </a:tcPr>
                </a:tc>
                <a:tc>
                  <a:txBody>
                    <a:bodyPr wrap="square"/>
                    <a:lstStyle/>
                    <a:p>
                      <a:r>
                        <a:rPr sz="1473" b="0">
                          <a:solidFill>
                            <a:srgbClr val="156082"/>
                          </a:solidFill>
                          <a:latin typeface="Consolas"/>
                        </a:rPr>
                        <a:t>versionName "1.4.0"</a:t>
                      </a:r>
                      <a:r>
                        <a:rPr sz="1567" b="0">
                          <a:solidFill>
                            <a:srgbClr val="33475B"/>
                          </a:solidFill>
                          <a:latin typeface="Aptos"/>
                        </a:rPr>
                        <a:t> · </a:t>
                      </a:r>
                      <a:r>
                        <a:rPr sz="1473" b="0">
                          <a:solidFill>
                            <a:srgbClr val="156082"/>
                          </a:solidFill>
                          <a:latin typeface="Consolas"/>
                        </a:rPr>
                        <a:t>CFBundleShortVersionString</a:t>
                      </a:r>
                    </a:p>
                  </a:txBody>
                  <a:tcPr anchor="ctr" marL="146304" marR="146304">
                    <a:solidFill>
                      <a:srgbClr val="FFFFFF"/>
                    </a:solidFill>
                  </a:tcPr>
                </a:tc>
                <a:tc>
                  <a:txBody>
                    <a:bodyPr wrap="square"/>
                    <a:lstStyle/>
                    <a:p>
                      <a:r>
                        <a:rPr sz="1567" b="0">
                          <a:solidFill>
                            <a:srgbClr val="33475B"/>
                          </a:solidFill>
                          <a:latin typeface="Aptos"/>
                        </a:rPr>
                        <a:t>SemVer: MAJOR rompe, MINOR agrega, PATCH corrige</a:t>
                      </a:r>
                    </a:p>
                  </a:txBody>
                  <a:tcPr anchor="ctr" marL="146304" marR="146304">
                    <a:solidFill>
                      <a:srgbClr val="FFFFFF"/>
                    </a:solidFill>
                  </a:tcPr>
                </a:tc>
              </a:tr>
              <a:tr h="722811">
                <a:tc>
                  <a:txBody>
                    <a:bodyPr wrap="square"/>
                    <a:lstStyle/>
                    <a:p>
                      <a:r>
                        <a:rPr sz="1567" b="1">
                          <a:solidFill>
                            <a:srgbClr val="33475B"/>
                          </a:solidFill>
                          <a:latin typeface="Aptos"/>
                        </a:rPr>
                        <a:t>Número de build</a:t>
                      </a:r>
                    </a:p>
                  </a:txBody>
                  <a:tcPr anchor="ctr" marL="146304" marR="146304">
                    <a:solidFill>
                      <a:srgbClr val="F4F7FA"/>
                    </a:solidFill>
                  </a:tcPr>
                </a:tc>
                <a:tc>
                  <a:txBody>
                    <a:bodyPr wrap="square"/>
                    <a:lstStyle/>
                    <a:p>
                      <a:r>
                        <a:rPr sz="1473" b="0">
                          <a:solidFill>
                            <a:srgbClr val="156082"/>
                          </a:solidFill>
                          <a:latin typeface="Consolas"/>
                        </a:rPr>
                        <a:t>versionCode 14</a:t>
                      </a:r>
                      <a:r>
                        <a:rPr sz="1567" b="0">
                          <a:solidFill>
                            <a:srgbClr val="33475B"/>
                          </a:solidFill>
                          <a:latin typeface="Aptos"/>
                        </a:rPr>
                        <a:t> · </a:t>
                      </a:r>
                      <a:r>
                        <a:rPr sz="1473" b="0">
                          <a:solidFill>
                            <a:srgbClr val="156082"/>
                          </a:solidFill>
                          <a:latin typeface="Consolas"/>
                        </a:rPr>
                        <a:t>CFBundleVersion</a:t>
                      </a:r>
                    </a:p>
                  </a:txBody>
                  <a:tcPr anchor="ctr" marL="146304" marR="146304">
                    <a:solidFill>
                      <a:srgbClr val="F4F7FA"/>
                    </a:solidFill>
                  </a:tcPr>
                </a:tc>
                <a:tc>
                  <a:txBody>
                    <a:bodyPr wrap="square"/>
                    <a:lstStyle/>
                    <a:p>
                      <a:r>
                        <a:rPr sz="1567" b="0">
                          <a:solidFill>
                            <a:srgbClr val="33475B"/>
                          </a:solidFill>
                          <a:latin typeface="Aptos"/>
                        </a:rPr>
                        <a:t>Sube en </a:t>
                      </a:r>
                      <a:r>
                        <a:rPr sz="1567" b="1">
                          <a:solidFill>
                            <a:srgbClr val="33475B"/>
                          </a:solidFill>
                          <a:latin typeface="Aptos"/>
                        </a:rPr>
                        <a:t>cada</a:t>
                      </a:r>
                      <a:r>
                        <a:rPr sz="1567" b="0">
                          <a:solidFill>
                            <a:srgbClr val="33475B"/>
                          </a:solidFill>
                          <a:latin typeface="Aptos"/>
                        </a:rPr>
                        <a:t> subida y </a:t>
                      </a:r>
                      <a:r>
                        <a:rPr sz="1567" b="1">
                          <a:solidFill>
                            <a:srgbClr val="33475B"/>
                          </a:solidFill>
                          <a:latin typeface="Aptos"/>
                        </a:rPr>
                        <a:t>nunca</a:t>
                      </a:r>
                      <a:r>
                        <a:rPr sz="1567" b="0">
                          <a:solidFill>
                            <a:srgbClr val="33475B"/>
                          </a:solidFill>
                          <a:latin typeface="Aptos"/>
                        </a:rPr>
                        <a:t> se reutiliza</a:t>
                      </a:r>
                    </a:p>
                  </a:txBody>
                  <a:tcPr anchor="ctr" marL="146304" marR="146304">
                    <a:solidFill>
                      <a:srgbClr val="F4F7FA"/>
                    </a:solidFill>
                  </a:tcPr>
                </a:tc>
              </a:tr>
            </a:tbl>
          </a:graphicData>
        </a:graphic>
      </p:graphicFrame>
      <p:sp>
        <p:nvSpPr>
          <p:cNvPr id="12" name="TextBox 11"/>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13" name="TextBox 12"/>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32 / 45</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NATIVO, CALIDAD Y DESPLIEGUE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Dos claves: la de subida y la de app</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714500"/>
            <a:ext cx="3432048" cy="1291336"/>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714500"/>
            <a:ext cx="3432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050247"/>
            <a:ext cx="3139440" cy="878109"/>
          </a:xfrm>
          <a:prstGeom prst="rect">
            <a:avLst/>
          </a:prstGeom>
          <a:noFill/>
        </p:spPr>
        <p:txBody>
          <a:bodyPr wrap="square" anchor="t" lIns="0" rIns="0" tIns="0" bIns="0">
            <a:spAutoFit/>
          </a:bodyPr>
          <a:lstStyle/>
          <a:p>
            <a:pPr algn="ctr"/>
            <a:r>
              <a:rPr sz="1580" b="1">
                <a:solidFill>
                  <a:srgbClr val="0E2841"/>
                </a:solidFill>
                <a:latin typeface="Aptos Display"/>
              </a:rPr>
              <a:t>Equipo (CI)</a:t>
            </a:r>
          </a:p>
          <a:p>
            <a:pPr algn="ctr">
              <a:lnSpc>
                <a:spcPct val="120000"/>
              </a:lnSpc>
              <a:spcBef>
                <a:spcPts val="700"/>
              </a:spcBef>
            </a:pPr>
            <a:r>
              <a:rPr sz="1223" b="0">
                <a:solidFill>
                  <a:srgbClr val="7A8B9E"/>
                </a:solidFill>
                <a:latin typeface="Aptos"/>
              </a:rPr>
              <a:t>firma el AAB con la clave de subida</a:t>
            </a:r>
          </a:p>
        </p:txBody>
      </p:sp>
      <p:sp>
        <p:nvSpPr>
          <p:cNvPr id="10" name="Chevron 9"/>
          <p:cNvSpPr/>
          <p:nvPr/>
        </p:nvSpPr>
        <p:spPr>
          <a:xfrm>
            <a:off x="4090416" y="2127727"/>
            <a:ext cx="201168" cy="464880"/>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83024" y="1714500"/>
            <a:ext cx="3432048" cy="1291336"/>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3024" y="1714500"/>
            <a:ext cx="3432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9328" y="2050247"/>
            <a:ext cx="3139440" cy="878109"/>
          </a:xfrm>
          <a:prstGeom prst="rect">
            <a:avLst/>
          </a:prstGeom>
          <a:noFill/>
        </p:spPr>
        <p:txBody>
          <a:bodyPr wrap="square" anchor="t" lIns="0" rIns="0" tIns="0" bIns="0">
            <a:spAutoFit/>
          </a:bodyPr>
          <a:lstStyle/>
          <a:p>
            <a:pPr algn="ctr"/>
            <a:r>
              <a:rPr sz="1580" b="1">
                <a:solidFill>
                  <a:srgbClr val="0E2841"/>
                </a:solidFill>
                <a:latin typeface="Aptos Display"/>
              </a:rPr>
              <a:t>Google Play</a:t>
            </a:r>
          </a:p>
          <a:p>
            <a:pPr algn="ctr">
              <a:lnSpc>
                <a:spcPct val="120000"/>
              </a:lnSpc>
              <a:spcBef>
                <a:spcPts val="700"/>
              </a:spcBef>
            </a:pPr>
            <a:r>
              <a:rPr sz="1223" b="0">
                <a:solidFill>
                  <a:srgbClr val="7A8B9E"/>
                </a:solidFill>
                <a:latin typeface="Aptos"/>
              </a:rPr>
              <a:t>verifica la subida y firma los APK con la clave de app</a:t>
            </a:r>
          </a:p>
        </p:txBody>
      </p:sp>
      <p:sp>
        <p:nvSpPr>
          <p:cNvPr id="14" name="Chevron 13"/>
          <p:cNvSpPr/>
          <p:nvPr/>
        </p:nvSpPr>
        <p:spPr>
          <a:xfrm>
            <a:off x="7906512" y="2127727"/>
            <a:ext cx="201168" cy="464880"/>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99120" y="1714500"/>
            <a:ext cx="3432048" cy="1291336"/>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99120" y="1714500"/>
            <a:ext cx="3432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45424" y="2050247"/>
            <a:ext cx="3139440" cy="878109"/>
          </a:xfrm>
          <a:prstGeom prst="rect">
            <a:avLst/>
          </a:prstGeom>
          <a:noFill/>
        </p:spPr>
        <p:txBody>
          <a:bodyPr wrap="square" anchor="t" lIns="0" rIns="0" tIns="0" bIns="0">
            <a:spAutoFit/>
          </a:bodyPr>
          <a:lstStyle/>
          <a:p>
            <a:pPr algn="ctr"/>
            <a:r>
              <a:rPr sz="1580" b="1">
                <a:solidFill>
                  <a:srgbClr val="0E2841"/>
                </a:solidFill>
                <a:latin typeface="Aptos Display"/>
              </a:rPr>
              <a:t>Dispositivo</a:t>
            </a:r>
          </a:p>
          <a:p>
            <a:pPr algn="ctr">
              <a:lnSpc>
                <a:spcPct val="120000"/>
              </a:lnSpc>
              <a:spcBef>
                <a:spcPts val="700"/>
              </a:spcBef>
            </a:pPr>
            <a:r>
              <a:rPr sz="1223" b="0">
                <a:solidFill>
                  <a:srgbClr val="7A8B9E"/>
                </a:solidFill>
                <a:latin typeface="Aptos"/>
              </a:rPr>
              <a:t>verifica la firma de la app antes de instalar</a:t>
            </a:r>
          </a:p>
        </p:txBody>
      </p:sp>
      <p:graphicFrame>
        <p:nvGraphicFramePr>
          <p:cNvPr id="18" name="Table 17"/>
          <p:cNvGraphicFramePr>
            <a:graphicFrameLocks noGrp="1"/>
          </p:cNvGraphicFramePr>
          <p:nvPr/>
        </p:nvGraphicFramePr>
        <p:xfrm>
          <a:off x="566928" y="3348736"/>
          <a:ext cx="11064240" cy="2978910"/>
        </p:xfrm>
        <a:graphic>
          <a:graphicData uri="http://schemas.openxmlformats.org/drawingml/2006/table">
            <a:tbl>
              <a:tblPr firstRow="1">
                <a:tableStyleId>{5C22544A-7EE6-4342-B048-85BDC9FD1C3A}</a:tableStyleId>
              </a:tblPr>
              <a:tblGrid>
                <a:gridCol w="3688080"/>
                <a:gridCol w="3688080"/>
                <a:gridCol w="3688080"/>
              </a:tblGrid>
              <a:tr h="496485">
                <a:tc>
                  <a:txBody>
                    <a:bodyPr wrap="square"/>
                    <a:lstStyle/>
                    <a:p>
                      <a:r>
                        <a:rPr sz="1529" b="1">
                          <a:solidFill>
                            <a:srgbClr val="FFFFFF"/>
                          </a:solidFill>
                          <a:latin typeface="Aptos"/>
                        </a:rPr>
                        <a:t>Aspecto</a:t>
                      </a:r>
                    </a:p>
                  </a:txBody>
                  <a:tcPr anchor="ctr" marL="146304" marR="146304">
                    <a:solidFill>
                      <a:srgbClr val="156082"/>
                    </a:solidFill>
                  </a:tcPr>
                </a:tc>
                <a:tc>
                  <a:txBody>
                    <a:bodyPr wrap="square"/>
                    <a:lstStyle/>
                    <a:p>
                      <a:r>
                        <a:rPr sz="1529" b="1">
                          <a:solidFill>
                            <a:srgbClr val="FFFFFF"/>
                          </a:solidFill>
                          <a:latin typeface="Aptos"/>
                        </a:rPr>
                        <a:t>Android</a:t>
                      </a:r>
                    </a:p>
                  </a:txBody>
                  <a:tcPr anchor="ctr" marL="146304" marR="146304">
                    <a:solidFill>
                      <a:srgbClr val="156082"/>
                    </a:solidFill>
                  </a:tcPr>
                </a:tc>
                <a:tc>
                  <a:txBody>
                    <a:bodyPr wrap="square"/>
                    <a:lstStyle/>
                    <a:p>
                      <a:r>
                        <a:rPr sz="1529" b="1">
                          <a:solidFill>
                            <a:srgbClr val="FFFFFF"/>
                          </a:solidFill>
                          <a:latin typeface="Aptos"/>
                        </a:rPr>
                        <a:t>iOS</a:t>
                      </a:r>
                    </a:p>
                  </a:txBody>
                  <a:tcPr anchor="ctr" marL="146304" marR="146304">
                    <a:solidFill>
                      <a:srgbClr val="156082"/>
                    </a:solidFill>
                  </a:tcPr>
                </a:tc>
              </a:tr>
              <a:tr h="496485">
                <a:tc>
                  <a:txBody>
                    <a:bodyPr wrap="square"/>
                    <a:lstStyle/>
                    <a:p>
                      <a:r>
                        <a:rPr sz="1427" b="1">
                          <a:solidFill>
                            <a:srgbClr val="33475B"/>
                          </a:solidFill>
                          <a:latin typeface="Aptos"/>
                        </a:rPr>
                        <a:t>Identidad</a:t>
                      </a:r>
                    </a:p>
                  </a:txBody>
                  <a:tcPr anchor="ctr" marL="146304" marR="146304">
                    <a:solidFill>
                      <a:srgbClr val="FFFFFF"/>
                    </a:solidFill>
                  </a:tcPr>
                </a:tc>
                <a:tc>
                  <a:txBody>
                    <a:bodyPr wrap="square"/>
                    <a:lstStyle/>
                    <a:p>
                      <a:r>
                        <a:rPr sz="1427" b="0">
                          <a:solidFill>
                            <a:srgbClr val="33475B"/>
                          </a:solidFill>
                          <a:latin typeface="Aptos"/>
                        </a:rPr>
                        <a:t>Keystore (</a:t>
                      </a:r>
                      <a:r>
                        <a:rPr sz="1342" b="0">
                          <a:solidFill>
                            <a:srgbClr val="156082"/>
                          </a:solidFill>
                          <a:latin typeface="Consolas"/>
                        </a:rPr>
                        <a:t>.jks</a:t>
                      </a:r>
                      <a:r>
                        <a:rPr sz="1427" b="0">
                          <a:solidFill>
                            <a:srgbClr val="33475B"/>
                          </a:solidFill>
                          <a:latin typeface="Aptos"/>
                        </a:rPr>
                        <a:t>) con clave privada y alias</a:t>
                      </a:r>
                    </a:p>
                  </a:txBody>
                  <a:tcPr anchor="ctr" marL="146304" marR="146304">
                    <a:solidFill>
                      <a:srgbClr val="FFFFFF"/>
                    </a:solidFill>
                  </a:tcPr>
                </a:tc>
                <a:tc>
                  <a:txBody>
                    <a:bodyPr wrap="square"/>
                    <a:lstStyle/>
                    <a:p>
                      <a:r>
                        <a:rPr sz="1427" b="0">
                          <a:solidFill>
                            <a:srgbClr val="33475B"/>
                          </a:solidFill>
                          <a:latin typeface="Aptos"/>
                        </a:rPr>
                        <a:t>Certificado de distribución + perfil</a:t>
                      </a:r>
                    </a:p>
                  </a:txBody>
                  <a:tcPr anchor="ctr" marL="146304" marR="146304">
                    <a:solidFill>
                      <a:srgbClr val="FFFFFF"/>
                    </a:solidFill>
                  </a:tcPr>
                </a:tc>
              </a:tr>
              <a:tr h="496485">
                <a:tc>
                  <a:txBody>
                    <a:bodyPr wrap="square"/>
                    <a:lstStyle/>
                    <a:p>
                      <a:r>
                        <a:rPr sz="1427" b="1">
                          <a:solidFill>
                            <a:srgbClr val="33475B"/>
                          </a:solidFill>
                          <a:latin typeface="Aptos"/>
                        </a:rPr>
                        <a:t>Clave final</a:t>
                      </a:r>
                    </a:p>
                  </a:txBody>
                  <a:tcPr anchor="ctr" marL="146304" marR="146304">
                    <a:solidFill>
                      <a:srgbClr val="F4F7FA"/>
                    </a:solidFill>
                  </a:tcPr>
                </a:tc>
                <a:tc>
                  <a:txBody>
                    <a:bodyPr wrap="square"/>
                    <a:lstStyle/>
                    <a:p>
                      <a:r>
                        <a:rPr sz="1427" b="0">
                          <a:solidFill>
                            <a:srgbClr val="33475B"/>
                          </a:solidFill>
                          <a:latin typeface="Aptos"/>
                        </a:rPr>
                        <a:t>La custodia Google (Play App Signing)</a:t>
                      </a:r>
                    </a:p>
                  </a:txBody>
                  <a:tcPr anchor="ctr" marL="146304" marR="146304">
                    <a:solidFill>
                      <a:srgbClr val="F4F7FA"/>
                    </a:solidFill>
                  </a:tcPr>
                </a:tc>
                <a:tc>
                  <a:txBody>
                    <a:bodyPr wrap="square"/>
                    <a:lstStyle/>
                    <a:p>
                      <a:r>
                        <a:rPr sz="1427" b="0">
                          <a:solidFill>
                            <a:srgbClr val="33475B"/>
                          </a:solidFill>
                          <a:latin typeface="Aptos"/>
                        </a:rPr>
                        <a:t>La custodia el equipo; Apple emite certificados</a:t>
                      </a:r>
                    </a:p>
                  </a:txBody>
                  <a:tcPr anchor="ctr" marL="146304" marR="146304">
                    <a:solidFill>
                      <a:srgbClr val="F4F7FA"/>
                    </a:solidFill>
                  </a:tcPr>
                </a:tc>
              </a:tr>
              <a:tr h="496485">
                <a:tc>
                  <a:txBody>
                    <a:bodyPr wrap="square"/>
                    <a:lstStyle/>
                    <a:p>
                      <a:r>
                        <a:rPr sz="1427" b="1">
                          <a:solidFill>
                            <a:srgbClr val="33475B"/>
                          </a:solidFill>
                          <a:latin typeface="Aptos"/>
                        </a:rPr>
                        <a:t>Si se pierde</a:t>
                      </a:r>
                    </a:p>
                  </a:txBody>
                  <a:tcPr anchor="ctr" marL="146304" marR="146304">
                    <a:solidFill>
                      <a:srgbClr val="FFFFFF"/>
                    </a:solidFill>
                  </a:tcPr>
                </a:tc>
                <a:tc>
                  <a:txBody>
                    <a:bodyPr wrap="square"/>
                    <a:lstStyle/>
                    <a:p>
                      <a:r>
                        <a:rPr sz="1427" b="0">
                          <a:solidFill>
                            <a:srgbClr val="33475B"/>
                          </a:solidFill>
                          <a:latin typeface="Aptos"/>
                        </a:rPr>
                        <a:t>La de subida se restablece con soporte de Play</a:t>
                      </a:r>
                    </a:p>
                  </a:txBody>
                  <a:tcPr anchor="ctr" marL="146304" marR="146304">
                    <a:solidFill>
                      <a:srgbClr val="FFFFFF"/>
                    </a:solidFill>
                  </a:tcPr>
                </a:tc>
                <a:tc>
                  <a:txBody>
                    <a:bodyPr wrap="square"/>
                    <a:lstStyle/>
                    <a:p>
                      <a:r>
                        <a:rPr sz="1427" b="0">
                          <a:solidFill>
                            <a:srgbClr val="33475B"/>
                          </a:solidFill>
                          <a:latin typeface="Aptos"/>
                        </a:rPr>
                        <a:t>Se revoca y se emite otro certificado</a:t>
                      </a:r>
                    </a:p>
                  </a:txBody>
                  <a:tcPr anchor="ctr" marL="146304" marR="146304">
                    <a:solidFill>
                      <a:srgbClr val="FFFFFF"/>
                    </a:solidFill>
                  </a:tcPr>
                </a:tc>
              </a:tr>
              <a:tr h="496485">
                <a:tc>
                  <a:txBody>
                    <a:bodyPr wrap="square"/>
                    <a:lstStyle/>
                    <a:p>
                      <a:r>
                        <a:rPr sz="1427" b="1">
                          <a:solidFill>
                            <a:srgbClr val="33475B"/>
                          </a:solidFill>
                          <a:latin typeface="Aptos"/>
                        </a:rPr>
                        <a:t>Dónde vive</a:t>
                      </a:r>
                    </a:p>
                  </a:txBody>
                  <a:tcPr anchor="ctr" marL="146304" marR="146304">
                    <a:solidFill>
                      <a:srgbClr val="F4F7FA"/>
                    </a:solidFill>
                  </a:tcPr>
                </a:tc>
                <a:tc>
                  <a:txBody>
                    <a:bodyPr wrap="square"/>
                    <a:lstStyle/>
                    <a:p>
                      <a:r>
                        <a:rPr sz="1427" b="0">
                          <a:solidFill>
                            <a:srgbClr val="33475B"/>
                          </a:solidFill>
                          <a:latin typeface="Aptos"/>
                        </a:rPr>
                        <a:t>Secretos del CI + bóveda; nunca en el repo</a:t>
                      </a:r>
                    </a:p>
                  </a:txBody>
                  <a:tcPr anchor="ctr" marL="146304" marR="146304">
                    <a:solidFill>
                      <a:srgbClr val="F4F7FA"/>
                    </a:solidFill>
                  </a:tcPr>
                </a:tc>
                <a:tc>
                  <a:txBody>
                    <a:bodyPr wrap="square"/>
                    <a:lstStyle/>
                    <a:p>
                      <a:r>
                        <a:rPr sz="1427" b="0">
                          <a:solidFill>
                            <a:srgbClr val="33475B"/>
                          </a:solidFill>
                          <a:latin typeface="Aptos"/>
                        </a:rPr>
                        <a:t>Igual; </a:t>
                      </a:r>
                      <a:r>
                        <a:rPr sz="1342" b="0">
                          <a:solidFill>
                            <a:srgbClr val="156082"/>
                          </a:solidFill>
                          <a:latin typeface="Consolas"/>
                        </a:rPr>
                        <a:t>fastlane match</a:t>
                      </a:r>
                      <a:r>
                        <a:rPr sz="1427" b="0">
                          <a:solidFill>
                            <a:srgbClr val="33475B"/>
                          </a:solidFill>
                          <a:latin typeface="Aptos"/>
                        </a:rPr>
                        <a:t> los guarda cifrados</a:t>
                      </a:r>
                    </a:p>
                  </a:txBody>
                  <a:tcPr anchor="ctr" marL="146304" marR="146304">
                    <a:solidFill>
                      <a:srgbClr val="F4F7FA"/>
                    </a:solidFill>
                  </a:tcPr>
                </a:tc>
              </a:tr>
              <a:tr h="496485">
                <a:tc>
                  <a:txBody>
                    <a:bodyPr wrap="square"/>
                    <a:lstStyle/>
                    <a:p>
                      <a:r>
                        <a:rPr sz="1427" b="1">
                          <a:solidFill>
                            <a:srgbClr val="33475B"/>
                          </a:solidFill>
                          <a:latin typeface="Aptos"/>
                        </a:rPr>
                        <a:t>Requisito</a:t>
                      </a:r>
                    </a:p>
                  </a:txBody>
                  <a:tcPr anchor="ctr" marL="146304" marR="146304">
                    <a:solidFill>
                      <a:srgbClr val="FFFFFF"/>
                    </a:solidFill>
                  </a:tcPr>
                </a:tc>
                <a:tc>
                  <a:txBody>
                    <a:bodyPr wrap="square"/>
                    <a:lstStyle/>
                    <a:p>
                      <a:r>
                        <a:rPr sz="1427" b="0">
                          <a:solidFill>
                            <a:srgbClr val="33475B"/>
                          </a:solidFill>
                          <a:latin typeface="Aptos"/>
                        </a:rPr>
                        <a:t>Play Console (pago único)</a:t>
                      </a:r>
                    </a:p>
                  </a:txBody>
                  <a:tcPr anchor="ctr" marL="146304" marR="146304">
                    <a:solidFill>
                      <a:srgbClr val="FFFFFF"/>
                    </a:solidFill>
                  </a:tcPr>
                </a:tc>
                <a:tc>
                  <a:txBody>
                    <a:bodyPr wrap="square"/>
                    <a:lstStyle/>
                    <a:p>
                      <a:r>
                        <a:rPr sz="1427" b="0">
                          <a:solidFill>
                            <a:srgbClr val="33475B"/>
                          </a:solidFill>
                          <a:latin typeface="Aptos"/>
                        </a:rPr>
                        <a:t>Apple Developer (USD 99/año) y macOS</a:t>
                      </a:r>
                    </a:p>
                  </a:txBody>
                  <a:tcPr anchor="ctr" marL="146304" marR="146304">
                    <a:solidFill>
                      <a:srgbClr val="FFFFFF"/>
                    </a:solidFill>
                  </a:tcPr>
                </a:tc>
              </a:tr>
            </a:tbl>
          </a:graphicData>
        </a:graphic>
      </p:graphicFrame>
      <p:sp>
        <p:nvSpPr>
          <p:cNvPr id="19" name="TextBox 1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20" name="TextBox 1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33 / 45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NATIVO, CALIDAD Y DESPLIEGUE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AAB para Play, APK para probar</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609344"/>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499616"/>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609344"/>
          </a:xfrm>
          <a:prstGeom prst="rect">
            <a:avLst/>
          </a:prstGeom>
          <a:noFill/>
        </p:spPr>
        <p:txBody>
          <a:bodyPr wrap="square" anchor="ctr" lIns="0" rIns="0" tIns="0" bIns="0">
            <a:spAutoFit/>
          </a:bodyPr>
          <a:lstStyle/>
          <a:p>
            <a:pPr algn="l">
              <a:lnSpc>
                <a:spcPct val="125000"/>
              </a:lnSpc>
            </a:pPr>
            <a:r>
              <a:rPr sz="2529" b="1">
                <a:solidFill>
                  <a:srgbClr val="0E2841"/>
                </a:solidFill>
                <a:latin typeface="Aptos Display"/>
              </a:rPr>
              <a:t>Sin Apple Developer ni macOS, la A3 admite el IPA documentado o simulado: simular es explicar el proceso, no fabricar capturas.</a:t>
            </a:r>
          </a:p>
        </p:txBody>
      </p:sp>
      <p:graphicFrame>
        <p:nvGraphicFramePr>
          <p:cNvPr id="10" name="Table 9"/>
          <p:cNvGraphicFramePr>
            <a:graphicFrameLocks noGrp="1"/>
          </p:cNvGraphicFramePr>
          <p:nvPr/>
        </p:nvGraphicFramePr>
        <p:xfrm>
          <a:off x="566928" y="3383280"/>
          <a:ext cx="11064240" cy="2944368"/>
        </p:xfrm>
        <a:graphic>
          <a:graphicData uri="http://schemas.openxmlformats.org/drawingml/2006/table">
            <a:tbl>
              <a:tblPr firstRow="1">
                <a:tableStyleId>{5C22544A-7EE6-4342-B048-85BDC9FD1C3A}</a:tableStyleId>
              </a:tblPr>
              <a:tblGrid>
                <a:gridCol w="2766060"/>
                <a:gridCol w="2766060"/>
                <a:gridCol w="2766060"/>
                <a:gridCol w="2766060"/>
              </a:tblGrid>
              <a:tr h="736092">
                <a:tc>
                  <a:txBody>
                    <a:bodyPr wrap="square"/>
                    <a:lstStyle/>
                    <a:p>
                      <a:r>
                        <a:rPr sz="1725" b="1">
                          <a:solidFill>
                            <a:srgbClr val="FFFFFF"/>
                          </a:solidFill>
                          <a:latin typeface="Aptos"/>
                        </a:rPr>
                        <a:t>Formato</a:t>
                      </a:r>
                    </a:p>
                  </a:txBody>
                  <a:tcPr anchor="ctr" marL="146304" marR="146304">
                    <a:solidFill>
                      <a:srgbClr val="156082"/>
                    </a:solidFill>
                  </a:tcPr>
                </a:tc>
                <a:tc>
                  <a:txBody>
                    <a:bodyPr wrap="square"/>
                    <a:lstStyle/>
                    <a:p>
                      <a:r>
                        <a:rPr sz="1725" b="1">
                          <a:solidFill>
                            <a:srgbClr val="FFFFFF"/>
                          </a:solidFill>
                          <a:latin typeface="Aptos"/>
                        </a:rPr>
                        <a:t>Qué es</a:t>
                      </a:r>
                    </a:p>
                  </a:txBody>
                  <a:tcPr anchor="ctr" marL="146304" marR="146304">
                    <a:solidFill>
                      <a:srgbClr val="156082"/>
                    </a:solidFill>
                  </a:tcPr>
                </a:tc>
                <a:tc>
                  <a:txBody>
                    <a:bodyPr wrap="square"/>
                    <a:lstStyle/>
                    <a:p>
                      <a:r>
                        <a:rPr sz="1725" b="1">
                          <a:solidFill>
                            <a:srgbClr val="FFFFFF"/>
                          </a:solidFill>
                          <a:latin typeface="Aptos"/>
                        </a:rPr>
                        <a:t>Para qué</a:t>
                      </a:r>
                    </a:p>
                  </a:txBody>
                  <a:tcPr anchor="ctr" marL="146304" marR="146304">
                    <a:solidFill>
                      <a:srgbClr val="156082"/>
                    </a:solidFill>
                  </a:tcPr>
                </a:tc>
                <a:tc>
                  <a:txBody>
                    <a:bodyPr wrap="square"/>
                    <a:lstStyle/>
                    <a:p>
                      <a:r>
                        <a:rPr sz="1725" b="1">
                          <a:solidFill>
                            <a:srgbClr val="FFFFFF"/>
                          </a:solidFill>
                          <a:latin typeface="Aptos"/>
                        </a:rPr>
                        <a:t>¿Se instala directo?</a:t>
                      </a:r>
                    </a:p>
                  </a:txBody>
                  <a:tcPr anchor="ctr" marL="146304" marR="146304">
                    <a:solidFill>
                      <a:srgbClr val="156082"/>
                    </a:solidFill>
                  </a:tcPr>
                </a:tc>
              </a:tr>
              <a:tr h="736092">
                <a:tc>
                  <a:txBody>
                    <a:bodyPr wrap="square"/>
                    <a:lstStyle/>
                    <a:p>
                      <a:r>
                        <a:rPr sz="1609" b="1">
                          <a:solidFill>
                            <a:srgbClr val="33475B"/>
                          </a:solidFill>
                          <a:latin typeface="Aptos"/>
                        </a:rPr>
                        <a:t>AAB</a:t>
                      </a:r>
                    </a:p>
                  </a:txBody>
                  <a:tcPr anchor="ctr" marL="146304" marR="146304">
                    <a:solidFill>
                      <a:srgbClr val="FFFFFF"/>
                    </a:solidFill>
                  </a:tcPr>
                </a:tc>
                <a:tc>
                  <a:txBody>
                    <a:bodyPr wrap="square"/>
                    <a:lstStyle/>
                    <a:p>
                      <a:r>
                        <a:rPr sz="1609" b="0">
                          <a:solidFill>
                            <a:srgbClr val="33475B"/>
                          </a:solidFill>
                          <a:latin typeface="Aptos"/>
                        </a:rPr>
                        <a:t>Paquete de publicación; Play genera los APK</a:t>
                      </a:r>
                    </a:p>
                  </a:txBody>
                  <a:tcPr anchor="ctr" marL="146304" marR="146304">
                    <a:solidFill>
                      <a:srgbClr val="FFFFFF"/>
                    </a:solidFill>
                  </a:tcPr>
                </a:tc>
                <a:tc>
                  <a:txBody>
                    <a:bodyPr wrap="square"/>
                    <a:lstStyle/>
                    <a:p>
                      <a:r>
                        <a:rPr sz="1609" b="0">
                          <a:solidFill>
                            <a:srgbClr val="33475B"/>
                          </a:solidFill>
                          <a:latin typeface="Aptos"/>
                        </a:rPr>
                        <a:t>Google Play; obligatorio en apps nuevas desde 2021</a:t>
                      </a:r>
                    </a:p>
                  </a:txBody>
                  <a:tcPr anchor="ctr" marL="146304" marR="146304">
                    <a:solidFill>
                      <a:srgbClr val="FFFFFF"/>
                    </a:solidFill>
                  </a:tcPr>
                </a:tc>
                <a:tc>
                  <a:txBody>
                    <a:bodyPr wrap="square"/>
                    <a:lstStyle/>
                    <a:p>
                      <a:r>
                        <a:rPr sz="1609" b="0">
                          <a:solidFill>
                            <a:srgbClr val="33475B"/>
                          </a:solidFill>
                          <a:latin typeface="Aptos"/>
                        </a:rPr>
                        <a:t>No</a:t>
                      </a:r>
                    </a:p>
                  </a:txBody>
                  <a:tcPr anchor="ctr" marL="146304" marR="146304">
                    <a:solidFill>
                      <a:srgbClr val="FFFFFF"/>
                    </a:solidFill>
                  </a:tcPr>
                </a:tc>
              </a:tr>
              <a:tr h="736092">
                <a:tc>
                  <a:txBody>
                    <a:bodyPr wrap="square"/>
                    <a:lstStyle/>
                    <a:p>
                      <a:r>
                        <a:rPr sz="1609" b="1">
                          <a:solidFill>
                            <a:srgbClr val="33475B"/>
                          </a:solidFill>
                          <a:latin typeface="Aptos"/>
                        </a:rPr>
                        <a:t>APK</a:t>
                      </a:r>
                    </a:p>
                  </a:txBody>
                  <a:tcPr anchor="ctr" marL="146304" marR="146304">
                    <a:solidFill>
                      <a:srgbClr val="F4F7FA"/>
                    </a:solidFill>
                  </a:tcPr>
                </a:tc>
                <a:tc>
                  <a:txBody>
                    <a:bodyPr wrap="square"/>
                    <a:lstStyle/>
                    <a:p>
                      <a:r>
                        <a:rPr sz="1609" b="0">
                          <a:solidFill>
                            <a:srgbClr val="33475B"/>
                          </a:solidFill>
                          <a:latin typeface="Aptos"/>
                        </a:rPr>
                        <a:t>Paquete instalable</a:t>
                      </a:r>
                    </a:p>
                  </a:txBody>
                  <a:tcPr anchor="ctr" marL="146304" marR="146304">
                    <a:solidFill>
                      <a:srgbClr val="F4F7FA"/>
                    </a:solidFill>
                  </a:tcPr>
                </a:tc>
                <a:tc>
                  <a:txBody>
                    <a:bodyPr wrap="square"/>
                    <a:lstStyle/>
                    <a:p>
                      <a:r>
                        <a:rPr sz="1609" b="0">
                          <a:solidFill>
                            <a:srgbClr val="33475B"/>
                          </a:solidFill>
                          <a:latin typeface="Aptos"/>
                        </a:rPr>
                        <a:t>Pruebas internas, evidencia de H3, fuera de Play</a:t>
                      </a:r>
                    </a:p>
                  </a:txBody>
                  <a:tcPr anchor="ctr" marL="146304" marR="146304">
                    <a:solidFill>
                      <a:srgbClr val="F4F7FA"/>
                    </a:solidFill>
                  </a:tcPr>
                </a:tc>
                <a:tc>
                  <a:txBody>
                    <a:bodyPr wrap="square"/>
                    <a:lstStyle/>
                    <a:p>
                      <a:r>
                        <a:rPr sz="1609" b="0">
                          <a:solidFill>
                            <a:srgbClr val="33475B"/>
                          </a:solidFill>
                          <a:latin typeface="Aptos"/>
                        </a:rPr>
                        <a:t>Sí, con </a:t>
                      </a:r>
                      <a:r>
                        <a:rPr sz="1513" b="0">
                          <a:solidFill>
                            <a:srgbClr val="156082"/>
                          </a:solidFill>
                          <a:latin typeface="Consolas"/>
                        </a:rPr>
                        <a:t>adb install</a:t>
                      </a:r>
                    </a:p>
                  </a:txBody>
                  <a:tcPr anchor="ctr" marL="146304" marR="146304">
                    <a:solidFill>
                      <a:srgbClr val="F4F7FA"/>
                    </a:solidFill>
                  </a:tcPr>
                </a:tc>
              </a:tr>
              <a:tr h="736092">
                <a:tc>
                  <a:txBody>
                    <a:bodyPr wrap="square"/>
                    <a:lstStyle/>
                    <a:p>
                      <a:r>
                        <a:rPr sz="1609" b="1">
                          <a:solidFill>
                            <a:srgbClr val="33475B"/>
                          </a:solidFill>
                          <a:latin typeface="Aptos"/>
                        </a:rPr>
                        <a:t>IPA</a:t>
                      </a:r>
                    </a:p>
                  </a:txBody>
                  <a:tcPr anchor="ctr" marL="146304" marR="146304">
                    <a:solidFill>
                      <a:srgbClr val="FFFFFF"/>
                    </a:solidFill>
                  </a:tcPr>
                </a:tc>
                <a:tc>
                  <a:txBody>
                    <a:bodyPr wrap="square"/>
                    <a:lstStyle/>
                    <a:p>
                      <a:r>
                        <a:rPr sz="1609" b="0">
                          <a:solidFill>
                            <a:srgbClr val="33475B"/>
                          </a:solidFill>
                          <a:latin typeface="Aptos"/>
                        </a:rPr>
                        <a:t>Paquete firmado de iOS</a:t>
                      </a:r>
                    </a:p>
                  </a:txBody>
                  <a:tcPr anchor="ctr" marL="146304" marR="146304">
                    <a:solidFill>
                      <a:srgbClr val="FFFFFF"/>
                    </a:solidFill>
                  </a:tcPr>
                </a:tc>
                <a:tc>
                  <a:txBody>
                    <a:bodyPr wrap="square"/>
                    <a:lstStyle/>
                    <a:p>
                      <a:r>
                        <a:rPr sz="1609" b="0">
                          <a:solidFill>
                            <a:srgbClr val="33475B"/>
                          </a:solidFill>
                          <a:latin typeface="Aptos"/>
                        </a:rPr>
                        <a:t>App Store Connect, TestFlight o Ad Hoc</a:t>
                      </a:r>
                    </a:p>
                  </a:txBody>
                  <a:tcPr anchor="ctr" marL="146304" marR="146304">
                    <a:solidFill>
                      <a:srgbClr val="FFFFFF"/>
                    </a:solidFill>
                  </a:tcPr>
                </a:tc>
                <a:tc>
                  <a:txBody>
                    <a:bodyPr wrap="square"/>
                    <a:lstStyle/>
                    <a:p>
                      <a:r>
                        <a:rPr sz="1609" b="0">
                          <a:solidFill>
                            <a:srgbClr val="33475B"/>
                          </a:solidFill>
                          <a:latin typeface="Aptos"/>
                        </a:rPr>
                        <a:t>Solo en equipos del perfil</a:t>
                      </a:r>
                    </a:p>
                  </a:txBody>
                  <a:tcPr anchor="ctr" marL="146304" marR="146304">
                    <a:solidFill>
                      <a:srgbClr val="FFFFFF"/>
                    </a:solidFill>
                  </a:tcPr>
                </a:tc>
              </a:tr>
            </a:tbl>
          </a:graphicData>
        </a:graphic>
      </p:graphicFrame>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34 / 45</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NATIVO, CALIDAD Y DESPLIEGUE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La firma lee secretos, no archivos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2404872"/>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41248" y="1792224"/>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1755648"/>
            <a:ext cx="7315200" cy="237744"/>
          </a:xfrm>
          <a:prstGeom prst="rect">
            <a:avLst/>
          </a:prstGeom>
          <a:noFill/>
        </p:spPr>
        <p:txBody>
          <a:bodyPr wrap="square" anchor="t" lIns="0" rIns="0" tIns="0" bIns="0">
            <a:spAutoFit/>
          </a:bodyPr>
          <a:lstStyle/>
          <a:p>
            <a:pPr algn="l"/>
            <a:r>
              <a:rPr sz="1159" b="1">
                <a:solidFill>
                  <a:srgbClr val="E97132"/>
                </a:solidFill>
                <a:latin typeface="Aptos"/>
              </a:rPr>
              <a:t>ANDROID/APP/BUILD.GRADLE · RELEASE</a:t>
            </a:r>
          </a:p>
        </p:txBody>
      </p:sp>
      <p:sp>
        <p:nvSpPr>
          <p:cNvPr id="10" name="TextBox 9"/>
          <p:cNvSpPr txBox="1"/>
          <p:nvPr/>
        </p:nvSpPr>
        <p:spPr>
          <a:xfrm>
            <a:off x="877824" y="2139696"/>
            <a:ext cx="10515600" cy="1673352"/>
          </a:xfrm>
          <a:prstGeom prst="rect">
            <a:avLst/>
          </a:prstGeom>
          <a:noFill/>
        </p:spPr>
        <p:txBody>
          <a:bodyPr wrap="none" lIns="0" tIns="0">
            <a:spAutoFit/>
          </a:bodyPr>
          <a:lstStyle/>
          <a:p>
            <a:pPr>
              <a:lnSpc>
                <a:spcPct val="125000"/>
              </a:lnSpc>
            </a:pPr>
            <a:r>
              <a:rPr sz="1462">
                <a:solidFill>
                  <a:srgbClr val="E8E8E8"/>
                </a:solidFill>
                <a:latin typeface="Consolas"/>
              </a:rPr>
              <a:t>signingConfigs { release {             // credenciales desde los secretos del CI</a:t>
            </a:r>
          </a:p>
          <a:p>
            <a:pPr>
              <a:lnSpc>
                <a:spcPct val="125000"/>
              </a:lnSpc>
            </a:pPr>
            <a:r>
              <a:rPr sz="1462">
                <a:solidFill>
                  <a:srgbClr val="E8E8E8"/>
                </a:solidFill>
                <a:latin typeface="Consolas"/>
              </a:rPr>
              <a:t>    storeFile file(System.getenv("BITACORA_KEYSTORE") ?: "sin-keystore.jks")</a:t>
            </a:r>
          </a:p>
          <a:p>
            <a:pPr>
              <a:lnSpc>
                <a:spcPct val="125000"/>
              </a:lnSpc>
            </a:pPr>
            <a:r>
              <a:rPr sz="1462">
                <a:solidFill>
                  <a:srgbClr val="E8E8E8"/>
                </a:solidFill>
                <a:latin typeface="Consolas"/>
              </a:rPr>
              <a:t>    storePassword System.getenv("BITACORA_KEYSTORE_PASSWORD")</a:t>
            </a:r>
          </a:p>
          <a:p>
            <a:pPr>
              <a:lnSpc>
                <a:spcPct val="125000"/>
              </a:lnSpc>
            </a:pPr>
            <a:r>
              <a:rPr sz="1462">
                <a:solidFill>
                  <a:srgbClr val="E8E8E8"/>
                </a:solidFill>
                <a:latin typeface="Consolas"/>
              </a:rPr>
              <a:t>    keyAlias System.getenv("BITACORA_KEY_ALIAS")</a:t>
            </a:r>
          </a:p>
          <a:p>
            <a:pPr>
              <a:lnSpc>
                <a:spcPct val="125000"/>
              </a:lnSpc>
            </a:pPr>
            <a:r>
              <a:rPr sz="1462">
                <a:solidFill>
                  <a:srgbClr val="E8E8E8"/>
                </a:solidFill>
                <a:latin typeface="Consolas"/>
              </a:rPr>
              <a:t>    keyPassword System.getenv("BITACORA_KEY_PASSWORD") } }</a:t>
            </a:r>
          </a:p>
          <a:p>
            <a:pPr>
              <a:lnSpc>
                <a:spcPct val="125000"/>
              </a:lnSpc>
            </a:pPr>
            <a:r>
              <a:rPr sz="1462">
                <a:solidFill>
                  <a:srgbClr val="E8E8E8"/>
                </a:solidFill>
                <a:latin typeface="Consolas"/>
              </a:rPr>
              <a:t>buildTypes { release { signingConfig signingConfigs.release</a:t>
            </a:r>
          </a:p>
          <a:p>
            <a:pPr>
              <a:lnSpc>
                <a:spcPct val="125000"/>
              </a:lnSpc>
            </a:pPr>
            <a:r>
              <a:rPr sz="1462">
                <a:solidFill>
                  <a:srgbClr val="E8E8E8"/>
                </a:solidFill>
                <a:latin typeface="Consolas"/>
              </a:rPr>
              <a:t>    minifyEnabled true } }             // R8: verifica en dispositivo al activarlo</a:t>
            </a:r>
          </a:p>
        </p:txBody>
      </p:sp>
      <p:sp>
        <p:nvSpPr>
          <p:cNvPr id="11" name="Rounded Rectangle 10"/>
          <p:cNvSpPr/>
          <p:nvPr/>
        </p:nvSpPr>
        <p:spPr>
          <a:xfrm>
            <a:off x="566928" y="4178808"/>
            <a:ext cx="11064240" cy="2148840"/>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1248" y="4398264"/>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7552" y="4361688"/>
            <a:ext cx="7315200" cy="237744"/>
          </a:xfrm>
          <a:prstGeom prst="rect">
            <a:avLst/>
          </a:prstGeom>
          <a:noFill/>
        </p:spPr>
        <p:txBody>
          <a:bodyPr wrap="square" anchor="t" lIns="0" rIns="0" tIns="0" bIns="0">
            <a:spAutoFit/>
          </a:bodyPr>
          <a:lstStyle/>
          <a:p>
            <a:pPr algn="l"/>
            <a:r>
              <a:rPr sz="1159" b="1">
                <a:solidFill>
                  <a:srgbClr val="E97132"/>
                </a:solidFill>
                <a:latin typeface="Aptos"/>
              </a:rPr>
              <a:t>KEYSTORE UNA SOLA VEZ, FUERA DEL REPO; LUEGO BINARIOS</a:t>
            </a:r>
          </a:p>
        </p:txBody>
      </p:sp>
      <p:sp>
        <p:nvSpPr>
          <p:cNvPr id="14" name="TextBox 13"/>
          <p:cNvSpPr txBox="1"/>
          <p:nvPr/>
        </p:nvSpPr>
        <p:spPr>
          <a:xfrm>
            <a:off x="877824" y="4745736"/>
            <a:ext cx="10515600" cy="1417320"/>
          </a:xfrm>
          <a:prstGeom prst="rect">
            <a:avLst/>
          </a:prstGeom>
          <a:noFill/>
        </p:spPr>
        <p:txBody>
          <a:bodyPr wrap="none" lIns="0" tIns="0">
            <a:spAutoFit/>
          </a:bodyPr>
          <a:lstStyle/>
          <a:p>
            <a:pPr>
              <a:lnSpc>
                <a:spcPct val="125000"/>
              </a:lnSpc>
            </a:pPr>
            <a:r>
              <a:rPr sz="1462">
                <a:solidFill>
                  <a:srgbClr val="E8E8E8"/>
                </a:solidFill>
                <a:latin typeface="Consolas"/>
              </a:rPr>
              <a:t>keytool -genkeypair -v -keystore bitacora-upload.jks -alias upload \</a:t>
            </a:r>
          </a:p>
          <a:p>
            <a:pPr>
              <a:lnSpc>
                <a:spcPct val="125000"/>
              </a:lnSpc>
            </a:pPr>
            <a:r>
              <a:rPr sz="1462">
                <a:solidFill>
                  <a:srgbClr val="E8E8E8"/>
                </a:solidFill>
                <a:latin typeface="Consolas"/>
              </a:rPr>
              <a:t>  -keyalg RSA -keysize 2048 -validity 10000     # copia en la bóveda</a:t>
            </a:r>
          </a:p>
          <a:p>
            <a:pPr>
              <a:lnSpc>
                <a:spcPct val="125000"/>
              </a:lnSpc>
            </a:pPr>
            <a:r>
              <a:rPr sz="1462">
                <a:solidFill>
                  <a:srgbClr val="E8E8E8"/>
                </a:solidFill>
                <a:latin typeface="Consolas"/>
              </a:rPr>
              <a:t>npm run build &amp;&amp; npx cap sync android           # web optimizada a www/ y al nativo</a:t>
            </a:r>
          </a:p>
          <a:p>
            <a:pPr>
              <a:lnSpc>
                <a:spcPct val="125000"/>
              </a:lnSpc>
            </a:pPr>
            <a:r>
              <a:rPr sz="1462">
                <a:solidFill>
                  <a:srgbClr val="E8E8E8"/>
                </a:solidFill>
                <a:latin typeface="Consolas"/>
              </a:rPr>
              <a:t>cd android &amp;&amp; ./gradlew bundleRelease           # app-release.aab</a:t>
            </a:r>
          </a:p>
          <a:p>
            <a:pPr>
              <a:lnSpc>
                <a:spcPct val="125000"/>
              </a:lnSpc>
            </a:pPr>
            <a:r>
              <a:rPr sz="1462">
                <a:solidFill>
                  <a:srgbClr val="E8E8E8"/>
                </a:solidFill>
                <a:latin typeface="Consolas"/>
              </a:rPr>
              <a:t>./gradlew assembleRelease                       # app-release.apk</a:t>
            </a:r>
          </a:p>
          <a:p>
            <a:pPr>
              <a:lnSpc>
                <a:spcPct val="125000"/>
              </a:lnSpc>
            </a:pPr>
            <a:r>
              <a:rPr sz="1462">
                <a:solidFill>
                  <a:srgbClr val="E8E8E8"/>
                </a:solidFill>
                <a:latin typeface="Consolas"/>
              </a:rPr>
              <a:t># iOS (macOS): npx cap sync ios &amp;&amp; npx cap open ios; Product › Archive › Distribute App</a:t>
            </a:r>
          </a:p>
        </p:txBody>
      </p:sp>
      <p:sp>
        <p:nvSpPr>
          <p:cNvPr id="15" name="TextBox 14"/>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16" name="TextBox 15"/>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35 / 45</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NATIVO, CALIDAD Y DESPLIEGUE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En móvil, revertir es avanzar</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744218"/>
            <a:ext cx="1524000" cy="156210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744218"/>
            <a:ext cx="1524000"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1744218"/>
            <a:ext cx="1267968" cy="1562100"/>
          </a:xfrm>
          <a:prstGeom prst="rect">
            <a:avLst/>
          </a:prstGeom>
          <a:noFill/>
        </p:spPr>
        <p:txBody>
          <a:bodyPr wrap="square" anchor="ctr" lIns="0" rIns="0" tIns="0" bIns="0">
            <a:spAutoFit/>
          </a:bodyPr>
          <a:lstStyle/>
          <a:p>
            <a:pPr algn="ctr"/>
            <a:r>
              <a:rPr sz="1739" b="1">
                <a:solidFill>
                  <a:srgbClr val="0E2841"/>
                </a:solidFill>
                <a:latin typeface="Aptos Display"/>
              </a:rPr>
              <a:t>Pista interna</a:t>
            </a:r>
          </a:p>
        </p:txBody>
      </p:sp>
      <p:sp>
        <p:nvSpPr>
          <p:cNvPr id="10" name="Chevron 9"/>
          <p:cNvSpPr/>
          <p:nvPr/>
        </p:nvSpPr>
        <p:spPr>
          <a:xfrm>
            <a:off x="2182368" y="2244090"/>
            <a:ext cx="201168" cy="562356"/>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474976" y="1744218"/>
            <a:ext cx="1524000" cy="156210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74976" y="1744218"/>
            <a:ext cx="15240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02992" y="1744218"/>
            <a:ext cx="1267968" cy="1562100"/>
          </a:xfrm>
          <a:prstGeom prst="rect">
            <a:avLst/>
          </a:prstGeom>
          <a:noFill/>
        </p:spPr>
        <p:txBody>
          <a:bodyPr wrap="square" anchor="ctr" lIns="0" rIns="0" tIns="0" bIns="0">
            <a:spAutoFit/>
          </a:bodyPr>
          <a:lstStyle/>
          <a:p>
            <a:pPr algn="ctr"/>
            <a:r>
              <a:rPr sz="1739" b="1">
                <a:solidFill>
                  <a:srgbClr val="0E2841"/>
                </a:solidFill>
                <a:latin typeface="Aptos Display"/>
              </a:rPr>
              <a:t>Prueba cerrada</a:t>
            </a:r>
          </a:p>
        </p:txBody>
      </p:sp>
      <p:sp>
        <p:nvSpPr>
          <p:cNvPr id="14" name="Chevron 13"/>
          <p:cNvSpPr/>
          <p:nvPr/>
        </p:nvSpPr>
        <p:spPr>
          <a:xfrm>
            <a:off x="4090416" y="2244090"/>
            <a:ext cx="201168" cy="562356"/>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383024" y="1744218"/>
            <a:ext cx="1524000" cy="156210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83024" y="1744218"/>
            <a:ext cx="15240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11040" y="1744218"/>
            <a:ext cx="1267968" cy="1562100"/>
          </a:xfrm>
          <a:prstGeom prst="rect">
            <a:avLst/>
          </a:prstGeom>
          <a:noFill/>
        </p:spPr>
        <p:txBody>
          <a:bodyPr wrap="square" anchor="ctr" lIns="0" rIns="0" tIns="0" bIns="0">
            <a:spAutoFit/>
          </a:bodyPr>
          <a:lstStyle/>
          <a:p>
            <a:pPr algn="ctr"/>
            <a:r>
              <a:rPr sz="1739" b="1">
                <a:solidFill>
                  <a:srgbClr val="0E2841"/>
                </a:solidFill>
                <a:latin typeface="Aptos Display"/>
              </a:rPr>
              <a:t>5 %</a:t>
            </a:r>
          </a:p>
        </p:txBody>
      </p:sp>
      <p:sp>
        <p:nvSpPr>
          <p:cNvPr id="18" name="Chevron 17"/>
          <p:cNvSpPr/>
          <p:nvPr/>
        </p:nvSpPr>
        <p:spPr>
          <a:xfrm>
            <a:off x="5998464" y="2244090"/>
            <a:ext cx="201168" cy="562356"/>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91072" y="1744218"/>
            <a:ext cx="1524000" cy="156210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91072" y="1744218"/>
            <a:ext cx="1524000"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19088" y="1744218"/>
            <a:ext cx="1267968" cy="1562100"/>
          </a:xfrm>
          <a:prstGeom prst="rect">
            <a:avLst/>
          </a:prstGeom>
          <a:noFill/>
        </p:spPr>
        <p:txBody>
          <a:bodyPr wrap="square" anchor="ctr" lIns="0" rIns="0" tIns="0" bIns="0">
            <a:spAutoFit/>
          </a:bodyPr>
          <a:lstStyle/>
          <a:p>
            <a:pPr algn="ctr"/>
            <a:r>
              <a:rPr sz="1739" b="1">
                <a:solidFill>
                  <a:srgbClr val="0E2841"/>
                </a:solidFill>
                <a:latin typeface="Aptos Display"/>
              </a:rPr>
              <a:t>20 %</a:t>
            </a:r>
          </a:p>
        </p:txBody>
      </p:sp>
      <p:sp>
        <p:nvSpPr>
          <p:cNvPr id="22" name="Chevron 21"/>
          <p:cNvSpPr/>
          <p:nvPr/>
        </p:nvSpPr>
        <p:spPr>
          <a:xfrm>
            <a:off x="7906512" y="2244090"/>
            <a:ext cx="201168" cy="562356"/>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199120" y="1744218"/>
            <a:ext cx="1524000" cy="156210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199120" y="1744218"/>
            <a:ext cx="15240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27136" y="1744218"/>
            <a:ext cx="1267968" cy="1562100"/>
          </a:xfrm>
          <a:prstGeom prst="rect">
            <a:avLst/>
          </a:prstGeom>
          <a:noFill/>
        </p:spPr>
        <p:txBody>
          <a:bodyPr wrap="square" anchor="ctr" lIns="0" rIns="0" tIns="0" bIns="0">
            <a:spAutoFit/>
          </a:bodyPr>
          <a:lstStyle/>
          <a:p>
            <a:pPr algn="ctr"/>
            <a:r>
              <a:rPr sz="1739" b="1">
                <a:solidFill>
                  <a:srgbClr val="0E2841"/>
                </a:solidFill>
                <a:latin typeface="Aptos Display"/>
              </a:rPr>
              <a:t>50 %</a:t>
            </a:r>
          </a:p>
        </p:txBody>
      </p:sp>
      <p:sp>
        <p:nvSpPr>
          <p:cNvPr id="26" name="Chevron 25"/>
          <p:cNvSpPr/>
          <p:nvPr/>
        </p:nvSpPr>
        <p:spPr>
          <a:xfrm>
            <a:off x="9814560" y="2244090"/>
            <a:ext cx="201168" cy="562356"/>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0107168" y="1744218"/>
            <a:ext cx="1524000" cy="156210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0107168" y="1744218"/>
            <a:ext cx="15240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235184" y="1744218"/>
            <a:ext cx="1267968" cy="1562100"/>
          </a:xfrm>
          <a:prstGeom prst="rect">
            <a:avLst/>
          </a:prstGeom>
          <a:noFill/>
        </p:spPr>
        <p:txBody>
          <a:bodyPr wrap="square" anchor="ctr" lIns="0" rIns="0" tIns="0" bIns="0">
            <a:spAutoFit/>
          </a:bodyPr>
          <a:lstStyle/>
          <a:p>
            <a:pPr algn="ctr"/>
            <a:r>
              <a:rPr sz="1739" b="1">
                <a:solidFill>
                  <a:srgbClr val="0E2841"/>
                </a:solidFill>
                <a:latin typeface="Aptos Display"/>
              </a:rPr>
              <a:t>100 %</a:t>
            </a:r>
          </a:p>
        </p:txBody>
      </p:sp>
      <p:sp>
        <p:nvSpPr>
          <p:cNvPr id="30" name="Rounded Rectangle 29"/>
          <p:cNvSpPr/>
          <p:nvPr/>
        </p:nvSpPr>
        <p:spPr>
          <a:xfrm>
            <a:off x="566928" y="3678936"/>
            <a:ext cx="3468624" cy="2648712"/>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 Same Side Corner Rectangle 30"/>
          <p:cNvSpPr/>
          <p:nvPr/>
        </p:nvSpPr>
        <p:spPr>
          <a:xfrm>
            <a:off x="566928" y="3678936"/>
            <a:ext cx="3468624" cy="566928"/>
          </a:xfrm>
          <a:prstGeom prst="round2SameRect">
            <a:avLst>
              <a:gd name="adj1" fmla="val 14000"/>
              <a:gd name="adj2" fmla="val 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3678936"/>
            <a:ext cx="3102864" cy="566928"/>
          </a:xfrm>
          <a:prstGeom prst="rect">
            <a:avLst/>
          </a:prstGeom>
          <a:noFill/>
        </p:spPr>
        <p:txBody>
          <a:bodyPr wrap="square" anchor="ctr" lIns="0" rIns="0" tIns="0" bIns="0">
            <a:spAutoFit/>
          </a:bodyPr>
          <a:lstStyle/>
          <a:p>
            <a:pPr algn="l"/>
            <a:r>
              <a:rPr sz="1847" b="1">
                <a:solidFill>
                  <a:srgbClr val="FFFFFF"/>
                </a:solidFill>
                <a:latin typeface="Aptos Display"/>
              </a:rPr>
              <a:t>Detener y avanzar</a:t>
            </a:r>
          </a:p>
        </p:txBody>
      </p:sp>
      <p:sp>
        <p:nvSpPr>
          <p:cNvPr id="33" name="Oval 32"/>
          <p:cNvSpPr/>
          <p:nvPr/>
        </p:nvSpPr>
        <p:spPr>
          <a:xfrm>
            <a:off x="786384" y="4710684"/>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24128" y="4454652"/>
            <a:ext cx="2810256" cy="603504"/>
          </a:xfrm>
          <a:prstGeom prst="rect">
            <a:avLst/>
          </a:prstGeom>
          <a:noFill/>
        </p:spPr>
        <p:txBody>
          <a:bodyPr wrap="square" anchor="ctr" lIns="0" rIns="0" tIns="0" bIns="0">
            <a:spAutoFit/>
          </a:bodyPr>
          <a:lstStyle/>
          <a:p>
            <a:pPr algn="l"/>
            <a:r>
              <a:rPr sz="1521" b="0">
                <a:solidFill>
                  <a:srgbClr val="33475B"/>
                </a:solidFill>
                <a:latin typeface="Aptos"/>
              </a:rPr>
              <a:t>Disparador: crash-free &lt; 99,5 %, ANR o bug crítico</a:t>
            </a:r>
          </a:p>
        </p:txBody>
      </p:sp>
      <p:sp>
        <p:nvSpPr>
          <p:cNvPr id="35" name="Oval 34"/>
          <p:cNvSpPr/>
          <p:nvPr/>
        </p:nvSpPr>
        <p:spPr>
          <a:xfrm>
            <a:off x="786384" y="5314188"/>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4128" y="5058156"/>
            <a:ext cx="2810256" cy="603504"/>
          </a:xfrm>
          <a:prstGeom prst="rect">
            <a:avLst/>
          </a:prstGeom>
          <a:noFill/>
        </p:spPr>
        <p:txBody>
          <a:bodyPr wrap="square" anchor="ctr" lIns="0" rIns="0" tIns="0" bIns="0">
            <a:spAutoFit/>
          </a:bodyPr>
          <a:lstStyle/>
          <a:p>
            <a:pPr algn="l"/>
            <a:r>
              <a:rPr sz="1521" b="0">
                <a:solidFill>
                  <a:srgbClr val="33475B"/>
                </a:solidFill>
                <a:latin typeface="Aptos"/>
              </a:rPr>
              <a:t>Se detiene el despliegue</a:t>
            </a:r>
          </a:p>
        </p:txBody>
      </p:sp>
      <p:sp>
        <p:nvSpPr>
          <p:cNvPr id="37" name="Oval 36"/>
          <p:cNvSpPr/>
          <p:nvPr/>
        </p:nvSpPr>
        <p:spPr>
          <a:xfrm>
            <a:off x="786384" y="5917692"/>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4128" y="5661660"/>
            <a:ext cx="2810256" cy="603504"/>
          </a:xfrm>
          <a:prstGeom prst="rect">
            <a:avLst/>
          </a:prstGeom>
          <a:noFill/>
        </p:spPr>
        <p:txBody>
          <a:bodyPr wrap="square" anchor="ctr" lIns="0" rIns="0" tIns="0" bIns="0">
            <a:spAutoFit/>
          </a:bodyPr>
          <a:lstStyle/>
          <a:p>
            <a:pPr algn="l"/>
            <a:r>
              <a:rPr sz="1521" b="0">
                <a:solidFill>
                  <a:srgbClr val="33475B"/>
                </a:solidFill>
                <a:latin typeface="Aptos"/>
              </a:rPr>
              <a:t>Se avanza con un build de número mayor</a:t>
            </a:r>
          </a:p>
        </p:txBody>
      </p:sp>
      <p:sp>
        <p:nvSpPr>
          <p:cNvPr id="39" name="Rounded Rectangle 38"/>
          <p:cNvSpPr/>
          <p:nvPr/>
        </p:nvSpPr>
        <p:spPr>
          <a:xfrm>
            <a:off x="4364736" y="3678936"/>
            <a:ext cx="3468624" cy="2648712"/>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 Same Side Corner Rectangle 39"/>
          <p:cNvSpPr/>
          <p:nvPr/>
        </p:nvSpPr>
        <p:spPr>
          <a:xfrm>
            <a:off x="4364736" y="3678936"/>
            <a:ext cx="3468624" cy="566928"/>
          </a:xfrm>
          <a:prstGeom prst="round2SameRect">
            <a:avLst>
              <a:gd name="adj1" fmla="val 14000"/>
              <a:gd name="adj2" fmla="val 0"/>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47616" y="3678936"/>
            <a:ext cx="3102864" cy="566928"/>
          </a:xfrm>
          <a:prstGeom prst="rect">
            <a:avLst/>
          </a:prstGeom>
          <a:noFill/>
        </p:spPr>
        <p:txBody>
          <a:bodyPr wrap="square" anchor="ctr" lIns="0" rIns="0" tIns="0" bIns="0">
            <a:spAutoFit/>
          </a:bodyPr>
          <a:lstStyle/>
          <a:p>
            <a:pPr algn="l"/>
            <a:r>
              <a:rPr sz="1847" b="1">
                <a:solidFill>
                  <a:srgbClr val="FFFFFF"/>
                </a:solidFill>
                <a:latin typeface="Aptos Display"/>
              </a:rPr>
              <a:t>Bandera remota</a:t>
            </a:r>
          </a:p>
        </p:txBody>
      </p:sp>
      <p:sp>
        <p:nvSpPr>
          <p:cNvPr id="42" name="Oval 41"/>
          <p:cNvSpPr/>
          <p:nvPr/>
        </p:nvSpPr>
        <p:spPr>
          <a:xfrm>
            <a:off x="4584192" y="4995672"/>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821936" y="4739640"/>
            <a:ext cx="2810256" cy="603504"/>
          </a:xfrm>
          <a:prstGeom prst="rect">
            <a:avLst/>
          </a:prstGeom>
          <a:noFill/>
        </p:spPr>
        <p:txBody>
          <a:bodyPr wrap="square" anchor="ctr" lIns="0" rIns="0" tIns="0" bIns="0">
            <a:spAutoFit/>
          </a:bodyPr>
          <a:lstStyle/>
          <a:p>
            <a:pPr algn="l"/>
            <a:r>
              <a:rPr sz="1521" b="0">
                <a:solidFill>
                  <a:srgbClr val="33475B"/>
                </a:solidFill>
                <a:latin typeface="Aptos"/>
              </a:rPr>
              <a:t>El único rollback instantáneo</a:t>
            </a:r>
          </a:p>
        </p:txBody>
      </p:sp>
      <p:sp>
        <p:nvSpPr>
          <p:cNvPr id="44" name="Oval 43"/>
          <p:cNvSpPr/>
          <p:nvPr/>
        </p:nvSpPr>
        <p:spPr>
          <a:xfrm>
            <a:off x="4584192" y="5599176"/>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21936" y="5343144"/>
            <a:ext cx="2810256" cy="603504"/>
          </a:xfrm>
          <a:prstGeom prst="rect">
            <a:avLst/>
          </a:prstGeom>
          <a:noFill/>
        </p:spPr>
        <p:txBody>
          <a:bodyPr wrap="square" anchor="ctr" lIns="0" rIns="0" tIns="0" bIns="0">
            <a:spAutoFit/>
          </a:bodyPr>
          <a:lstStyle/>
          <a:p>
            <a:pPr algn="l"/>
            <a:r>
              <a:rPr sz="1521" b="0">
                <a:solidFill>
                  <a:srgbClr val="33475B"/>
                </a:solidFill>
                <a:latin typeface="Aptos"/>
              </a:rPr>
              <a:t>Se apaga sin pasar por la tienda</a:t>
            </a:r>
          </a:p>
        </p:txBody>
      </p:sp>
      <p:sp>
        <p:nvSpPr>
          <p:cNvPr id="46" name="Rounded Rectangle 45"/>
          <p:cNvSpPr/>
          <p:nvPr/>
        </p:nvSpPr>
        <p:spPr>
          <a:xfrm>
            <a:off x="8162544" y="3678936"/>
            <a:ext cx="3468624" cy="2648712"/>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 Same Side Corner Rectangle 46"/>
          <p:cNvSpPr/>
          <p:nvPr/>
        </p:nvSpPr>
        <p:spPr>
          <a:xfrm>
            <a:off x="8162544" y="3678936"/>
            <a:ext cx="3468624" cy="566928"/>
          </a:xfrm>
          <a:prstGeom prst="round2SameRect">
            <a:avLst>
              <a:gd name="adj1" fmla="val 14000"/>
              <a:gd name="adj2" fmla="val 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345424" y="3678936"/>
            <a:ext cx="3102864" cy="566928"/>
          </a:xfrm>
          <a:prstGeom prst="rect">
            <a:avLst/>
          </a:prstGeom>
          <a:noFill/>
        </p:spPr>
        <p:txBody>
          <a:bodyPr wrap="square" anchor="ctr" lIns="0" rIns="0" tIns="0" bIns="0">
            <a:spAutoFit/>
          </a:bodyPr>
          <a:lstStyle/>
          <a:p>
            <a:pPr algn="l"/>
            <a:r>
              <a:rPr sz="1847" b="1">
                <a:solidFill>
                  <a:srgbClr val="FFFFFF"/>
                </a:solidFill>
                <a:latin typeface="Aptos Display"/>
              </a:rPr>
              <a:t>Actualización forzada</a:t>
            </a:r>
          </a:p>
        </p:txBody>
      </p:sp>
      <p:sp>
        <p:nvSpPr>
          <p:cNvPr id="49" name="Oval 48"/>
          <p:cNvSpPr/>
          <p:nvPr/>
        </p:nvSpPr>
        <p:spPr>
          <a:xfrm>
            <a:off x="8382000" y="4710684"/>
            <a:ext cx="91440" cy="9144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619744" y="4454652"/>
            <a:ext cx="2810256" cy="603504"/>
          </a:xfrm>
          <a:prstGeom prst="rect">
            <a:avLst/>
          </a:prstGeom>
          <a:noFill/>
        </p:spPr>
        <p:txBody>
          <a:bodyPr wrap="square" anchor="ctr" lIns="0" rIns="0" tIns="0" bIns="0">
            <a:spAutoFit/>
          </a:bodyPr>
          <a:lstStyle/>
          <a:p>
            <a:pPr algn="l"/>
            <a:r>
              <a:rPr sz="1521" b="0">
                <a:solidFill>
                  <a:srgbClr val="33475B"/>
                </a:solidFill>
                <a:latin typeface="Aptos"/>
              </a:rPr>
              <a:t>Bandera remota versionMinimaSoportada</a:t>
            </a:r>
          </a:p>
        </p:txBody>
      </p:sp>
      <p:sp>
        <p:nvSpPr>
          <p:cNvPr id="51" name="Oval 50"/>
          <p:cNvSpPr/>
          <p:nvPr/>
        </p:nvSpPr>
        <p:spPr>
          <a:xfrm>
            <a:off x="8382000" y="5314188"/>
            <a:ext cx="91440" cy="9144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619744" y="5058156"/>
            <a:ext cx="2810256" cy="603504"/>
          </a:xfrm>
          <a:prstGeom prst="rect">
            <a:avLst/>
          </a:prstGeom>
          <a:noFill/>
        </p:spPr>
        <p:txBody>
          <a:bodyPr wrap="square" anchor="ctr" lIns="0" rIns="0" tIns="0" bIns="0">
            <a:spAutoFit/>
          </a:bodyPr>
          <a:lstStyle/>
          <a:p>
            <a:pPr algn="l"/>
            <a:r>
              <a:rPr sz="1521" b="0">
                <a:solidFill>
                  <a:srgbClr val="33475B"/>
                </a:solidFill>
                <a:latin typeface="Aptos"/>
              </a:rPr>
              <a:t>Bloquea con enlace a la tienda</a:t>
            </a:r>
          </a:p>
        </p:txBody>
      </p:sp>
      <p:sp>
        <p:nvSpPr>
          <p:cNvPr id="53" name="Oval 52"/>
          <p:cNvSpPr/>
          <p:nvPr/>
        </p:nvSpPr>
        <p:spPr>
          <a:xfrm>
            <a:off x="8382000" y="5917692"/>
            <a:ext cx="91440" cy="9144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619744" y="5661660"/>
            <a:ext cx="2810256" cy="603504"/>
          </a:xfrm>
          <a:prstGeom prst="rect">
            <a:avLst/>
          </a:prstGeom>
          <a:noFill/>
        </p:spPr>
        <p:txBody>
          <a:bodyPr wrap="square" anchor="ctr" lIns="0" rIns="0" tIns="0" bIns="0">
            <a:spAutoFit/>
          </a:bodyPr>
          <a:lstStyle/>
          <a:p>
            <a:pPr algn="l"/>
            <a:r>
              <a:rPr sz="1521" b="0">
                <a:solidFill>
                  <a:srgbClr val="33475B"/>
                </a:solidFill>
                <a:latin typeface="Aptos"/>
              </a:rPr>
              <a:t>Ante API incompatible o corrección crítica</a:t>
            </a:r>
          </a:p>
        </p:txBody>
      </p:sp>
      <p:sp>
        <p:nvSpPr>
          <p:cNvPr id="55" name="TextBox 54"/>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56" name="TextBox 55"/>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36 / 45</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548640"/>
            <a:ext cx="9052560" cy="822960"/>
          </a:xfrm>
          <a:prstGeom prst="rect">
            <a:avLst/>
          </a:prstGeom>
          <a:noFill/>
        </p:spPr>
        <p:txBody>
          <a:bodyPr wrap="square" anchor="t" lIns="0" rIns="0" tIns="0" bIns="0">
            <a:spAutoFit/>
          </a:bodyPr>
          <a:lstStyle/>
          <a:p>
            <a:pPr algn="l"/>
            <a:r>
              <a:rPr sz="2200" b="1">
                <a:solidFill>
                  <a:srgbClr val="0E2841"/>
                </a:solidFill>
                <a:latin typeface="Aptos Display"/>
              </a:rPr>
              <a:t>Una pareja perdió la clave de subida de su app, que se publica con Play App Signing. ¿Qué ocurre?</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La app queda huérfana y debe publicarse con otro </a:t>
            </a:r>
            <a:r>
              <a:rPr sz="1974" b="0">
                <a:solidFill>
                  <a:srgbClr val="156082"/>
                </a:solidFill>
                <a:latin typeface="Consolas"/>
              </a:rPr>
              <a:t>applicationId</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Solicitan a Google restablecer la clave de subida y registran una nueva</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Generan otro keystore y suben el AAB conservando el mismo </a:t>
            </a:r>
            <a:r>
              <a:rPr sz="1974" b="0">
                <a:solidFill>
                  <a:srgbClr val="156082"/>
                </a:solidFill>
                <a:latin typeface="Consolas"/>
              </a:rPr>
              <a:t>versionCode</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Firman con la clave de depuración mientras recuperan la clave original</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37 / 45</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07</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CI/CD y observabilidad</a:t>
            </a:r>
          </a:p>
        </p:txBody>
      </p:sp>
      <p:sp>
        <p:nvSpPr>
          <p:cNvPr id="5" name="TextBox 4"/>
          <p:cNvSpPr txBox="1"/>
          <p:nvPr/>
        </p:nvSpPr>
        <p:spPr>
          <a:xfrm>
            <a:off x="1828800" y="4617720"/>
            <a:ext cx="8503920" cy="731520"/>
          </a:xfrm>
          <a:prstGeom prst="rect">
            <a:avLst/>
          </a:prstGeom>
          <a:noFill/>
        </p:spPr>
        <p:txBody>
          <a:bodyPr wrap="square" anchor="t" lIns="0" rIns="0" tIns="0" bIns="0">
            <a:spAutoFit/>
          </a:bodyPr>
          <a:lstStyle/>
          <a:p>
            <a:pPr algn="ctr"/>
            <a:r>
              <a:rPr sz="1600" b="0">
                <a:solidFill>
                  <a:srgbClr val="E8E8E8"/>
                </a:solidFill>
                <a:latin typeface="Aptos"/>
              </a:rPr>
              <a:t>Encuentro 4 · del pipeline a la app publicada</a:t>
            </a:r>
          </a:p>
        </p:txBody>
      </p:sp>
      <p:pic>
        <p:nvPicPr>
          <p:cNvPr id="6" name="Picture 5"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NATIVO, CALIDAD Y DESPLIEGUE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Ningún binario sale de un portátil</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951787"/>
            <a:ext cx="2478024" cy="116220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951787"/>
            <a:ext cx="2478024"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1951787"/>
            <a:ext cx="2221992" cy="1162202"/>
          </a:xfrm>
          <a:prstGeom prst="rect">
            <a:avLst/>
          </a:prstGeom>
          <a:noFill/>
        </p:spPr>
        <p:txBody>
          <a:bodyPr wrap="square" anchor="ctr" lIns="0" rIns="0" tIns="0" bIns="0">
            <a:spAutoFit/>
          </a:bodyPr>
          <a:lstStyle/>
          <a:p>
            <a:pPr algn="ctr"/>
            <a:r>
              <a:rPr sz="1600" b="1">
                <a:solidFill>
                  <a:srgbClr val="0E2841"/>
                </a:solidFill>
                <a:latin typeface="Aptos Display"/>
              </a:rPr>
              <a:t>PR</a:t>
            </a:r>
          </a:p>
        </p:txBody>
      </p:sp>
      <p:sp>
        <p:nvSpPr>
          <p:cNvPr id="10" name="Chevron 9"/>
          <p:cNvSpPr/>
          <p:nvPr/>
        </p:nvSpPr>
        <p:spPr>
          <a:xfrm>
            <a:off x="3136392" y="2323691"/>
            <a:ext cx="201168" cy="418392"/>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29000" y="1951787"/>
            <a:ext cx="2478024" cy="116220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29000" y="1951787"/>
            <a:ext cx="2478024"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57016" y="1951787"/>
            <a:ext cx="2221992" cy="1162202"/>
          </a:xfrm>
          <a:prstGeom prst="rect">
            <a:avLst/>
          </a:prstGeom>
          <a:noFill/>
        </p:spPr>
        <p:txBody>
          <a:bodyPr wrap="square" anchor="ctr" lIns="0" rIns="0" tIns="0" bIns="0">
            <a:spAutoFit/>
          </a:bodyPr>
          <a:lstStyle/>
          <a:p>
            <a:pPr algn="ctr"/>
            <a:r>
              <a:rPr sz="1600" b="1">
                <a:solidFill>
                  <a:srgbClr val="0E2841"/>
                </a:solidFill>
                <a:latin typeface="Aptos Display"/>
              </a:rPr>
              <a:t>Lint y análisis</a:t>
            </a:r>
          </a:p>
        </p:txBody>
      </p:sp>
      <p:sp>
        <p:nvSpPr>
          <p:cNvPr id="14" name="Chevron 13"/>
          <p:cNvSpPr/>
          <p:nvPr/>
        </p:nvSpPr>
        <p:spPr>
          <a:xfrm>
            <a:off x="5998464" y="2323691"/>
            <a:ext cx="201168" cy="418392"/>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91072" y="1951787"/>
            <a:ext cx="2478024" cy="116220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91072" y="1951787"/>
            <a:ext cx="2478024"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9088" y="1951787"/>
            <a:ext cx="2221992" cy="1162202"/>
          </a:xfrm>
          <a:prstGeom prst="rect">
            <a:avLst/>
          </a:prstGeom>
          <a:noFill/>
        </p:spPr>
        <p:txBody>
          <a:bodyPr wrap="square" anchor="ctr" lIns="0" rIns="0" tIns="0" bIns="0">
            <a:spAutoFit/>
          </a:bodyPr>
          <a:lstStyle/>
          <a:p>
            <a:pPr algn="ctr"/>
            <a:r>
              <a:rPr sz="1600" b="1">
                <a:solidFill>
                  <a:srgbClr val="0E2841"/>
                </a:solidFill>
                <a:latin typeface="Aptos Display"/>
              </a:rPr>
              <a:t>Unitarias + UI</a:t>
            </a:r>
          </a:p>
        </p:txBody>
      </p:sp>
      <p:sp>
        <p:nvSpPr>
          <p:cNvPr id="18" name="Chevron 17"/>
          <p:cNvSpPr/>
          <p:nvPr/>
        </p:nvSpPr>
        <p:spPr>
          <a:xfrm>
            <a:off x="8860536" y="2323691"/>
            <a:ext cx="201168" cy="418392"/>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53144" y="1951787"/>
            <a:ext cx="2478024" cy="116220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53144" y="1951787"/>
            <a:ext cx="2478024"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81160" y="1951787"/>
            <a:ext cx="2221992" cy="1162202"/>
          </a:xfrm>
          <a:prstGeom prst="rect">
            <a:avLst/>
          </a:prstGeom>
          <a:noFill/>
        </p:spPr>
        <p:txBody>
          <a:bodyPr wrap="square" anchor="ctr" lIns="0" rIns="0" tIns="0" bIns="0">
            <a:spAutoFit/>
          </a:bodyPr>
          <a:lstStyle/>
          <a:p>
            <a:pPr algn="ctr"/>
            <a:r>
              <a:rPr sz="1600" b="1">
                <a:solidFill>
                  <a:srgbClr val="0E2841"/>
                </a:solidFill>
                <a:latin typeface="Aptos Display"/>
              </a:rPr>
              <a:t>Bloquea el merge</a:t>
            </a:r>
          </a:p>
        </p:txBody>
      </p:sp>
      <p:sp>
        <p:nvSpPr>
          <p:cNvPr id="22" name="Rounded Rectangle 21"/>
          <p:cNvSpPr/>
          <p:nvPr/>
        </p:nvSpPr>
        <p:spPr>
          <a:xfrm>
            <a:off x="566928" y="3369107"/>
            <a:ext cx="2478024" cy="116220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369107"/>
            <a:ext cx="2478024"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4944" y="3369107"/>
            <a:ext cx="2221992" cy="1162202"/>
          </a:xfrm>
          <a:prstGeom prst="rect">
            <a:avLst/>
          </a:prstGeom>
          <a:noFill/>
        </p:spPr>
        <p:txBody>
          <a:bodyPr wrap="square" anchor="ctr" lIns="0" rIns="0" tIns="0" bIns="0">
            <a:spAutoFit/>
          </a:bodyPr>
          <a:lstStyle/>
          <a:p>
            <a:pPr algn="ctr"/>
            <a:r>
              <a:rPr sz="1600" b="1">
                <a:solidFill>
                  <a:srgbClr val="0E2841"/>
                </a:solidFill>
                <a:latin typeface="Aptos Display"/>
              </a:rPr>
              <a:t>Merge a main</a:t>
            </a:r>
          </a:p>
        </p:txBody>
      </p:sp>
      <p:sp>
        <p:nvSpPr>
          <p:cNvPr id="25" name="Chevron 24"/>
          <p:cNvSpPr/>
          <p:nvPr/>
        </p:nvSpPr>
        <p:spPr>
          <a:xfrm>
            <a:off x="3136392" y="3741011"/>
            <a:ext cx="201168" cy="418392"/>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429000" y="3369107"/>
            <a:ext cx="2478024" cy="116220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429000" y="3369107"/>
            <a:ext cx="2478024"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57016" y="3369107"/>
            <a:ext cx="2221992" cy="1162202"/>
          </a:xfrm>
          <a:prstGeom prst="rect">
            <a:avLst/>
          </a:prstGeom>
          <a:noFill/>
        </p:spPr>
        <p:txBody>
          <a:bodyPr wrap="square" anchor="ctr" lIns="0" rIns="0" tIns="0" bIns="0">
            <a:spAutoFit/>
          </a:bodyPr>
          <a:lstStyle/>
          <a:p>
            <a:pPr algn="ctr"/>
            <a:r>
              <a:rPr sz="1600" b="1">
                <a:solidFill>
                  <a:srgbClr val="0E2841"/>
                </a:solidFill>
                <a:latin typeface="Aptos Display"/>
              </a:rPr>
              <a:t>Lint y pruebas</a:t>
            </a:r>
          </a:p>
        </p:txBody>
      </p:sp>
      <p:sp>
        <p:nvSpPr>
          <p:cNvPr id="29" name="Chevron 28"/>
          <p:cNvSpPr/>
          <p:nvPr/>
        </p:nvSpPr>
        <p:spPr>
          <a:xfrm>
            <a:off x="5998464" y="3741011"/>
            <a:ext cx="201168" cy="418392"/>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291072" y="3369107"/>
            <a:ext cx="2478024" cy="116220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91072" y="3369107"/>
            <a:ext cx="2478024"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19088" y="3369107"/>
            <a:ext cx="2221992" cy="1162202"/>
          </a:xfrm>
          <a:prstGeom prst="rect">
            <a:avLst/>
          </a:prstGeom>
          <a:noFill/>
        </p:spPr>
        <p:txBody>
          <a:bodyPr wrap="square" anchor="ctr" lIns="0" rIns="0" tIns="0" bIns="0">
            <a:spAutoFit/>
          </a:bodyPr>
          <a:lstStyle/>
          <a:p>
            <a:pPr algn="ctr"/>
            <a:r>
              <a:rPr sz="1600" b="1">
                <a:solidFill>
                  <a:srgbClr val="0E2841"/>
                </a:solidFill>
                <a:latin typeface="Aptos Display"/>
              </a:rPr>
              <a:t>Build firmado staging</a:t>
            </a:r>
          </a:p>
        </p:txBody>
      </p:sp>
      <p:sp>
        <p:nvSpPr>
          <p:cNvPr id="33" name="Chevron 32"/>
          <p:cNvSpPr/>
          <p:nvPr/>
        </p:nvSpPr>
        <p:spPr>
          <a:xfrm>
            <a:off x="8860536" y="3741011"/>
            <a:ext cx="201168" cy="418392"/>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153144" y="3369107"/>
            <a:ext cx="2478024" cy="116220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153144" y="3369107"/>
            <a:ext cx="2478024"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81160" y="3369107"/>
            <a:ext cx="2221992" cy="1162202"/>
          </a:xfrm>
          <a:prstGeom prst="rect">
            <a:avLst/>
          </a:prstGeom>
          <a:noFill/>
        </p:spPr>
        <p:txBody>
          <a:bodyPr wrap="square" anchor="ctr" lIns="0" rIns="0" tIns="0" bIns="0">
            <a:spAutoFit/>
          </a:bodyPr>
          <a:lstStyle/>
          <a:p>
            <a:pPr algn="ctr"/>
            <a:r>
              <a:rPr sz="1600" b="1">
                <a:solidFill>
                  <a:srgbClr val="0E2841"/>
                </a:solidFill>
                <a:latin typeface="Aptos Display"/>
              </a:rPr>
              <a:t>Testers internos</a:t>
            </a:r>
          </a:p>
        </p:txBody>
      </p:sp>
      <p:sp>
        <p:nvSpPr>
          <p:cNvPr id="37" name="Rounded Rectangle 36"/>
          <p:cNvSpPr/>
          <p:nvPr/>
        </p:nvSpPr>
        <p:spPr>
          <a:xfrm>
            <a:off x="566928" y="4786427"/>
            <a:ext cx="1905609" cy="116220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66928" y="4786427"/>
            <a:ext cx="1905609"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4944" y="4786427"/>
            <a:ext cx="1649577" cy="1162202"/>
          </a:xfrm>
          <a:prstGeom prst="rect">
            <a:avLst/>
          </a:prstGeom>
          <a:noFill/>
        </p:spPr>
        <p:txBody>
          <a:bodyPr wrap="square" anchor="ctr" lIns="0" rIns="0" tIns="0" bIns="0">
            <a:spAutoFit/>
          </a:bodyPr>
          <a:lstStyle/>
          <a:p>
            <a:pPr algn="ctr"/>
            <a:r>
              <a:rPr sz="1600" b="1">
                <a:solidFill>
                  <a:srgbClr val="0E2841"/>
                </a:solidFill>
                <a:latin typeface="Aptos Display"/>
              </a:rPr>
              <a:t>Tag vX.Y.Z</a:t>
            </a:r>
          </a:p>
        </p:txBody>
      </p:sp>
      <p:sp>
        <p:nvSpPr>
          <p:cNvPr id="40" name="Chevron 39"/>
          <p:cNvSpPr/>
          <p:nvPr/>
        </p:nvSpPr>
        <p:spPr>
          <a:xfrm>
            <a:off x="2563977" y="5158331"/>
            <a:ext cx="201168" cy="418392"/>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2856585" y="4786427"/>
            <a:ext cx="1905609" cy="116220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856585" y="4786427"/>
            <a:ext cx="1905609"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984601" y="4786427"/>
            <a:ext cx="1649577" cy="1162202"/>
          </a:xfrm>
          <a:prstGeom prst="rect">
            <a:avLst/>
          </a:prstGeom>
          <a:noFill/>
        </p:spPr>
        <p:txBody>
          <a:bodyPr wrap="square" anchor="ctr" lIns="0" rIns="0" tIns="0" bIns="0">
            <a:spAutoFit/>
          </a:bodyPr>
          <a:lstStyle/>
          <a:p>
            <a:pPr algn="ctr"/>
            <a:r>
              <a:rPr sz="1600" b="1">
                <a:solidFill>
                  <a:srgbClr val="0E2841"/>
                </a:solidFill>
                <a:latin typeface="Aptos Display"/>
              </a:rPr>
              <a:t>Lint y pruebas</a:t>
            </a:r>
          </a:p>
        </p:txBody>
      </p:sp>
      <p:sp>
        <p:nvSpPr>
          <p:cNvPr id="44" name="Chevron 43"/>
          <p:cNvSpPr/>
          <p:nvPr/>
        </p:nvSpPr>
        <p:spPr>
          <a:xfrm>
            <a:off x="4853634" y="5158331"/>
            <a:ext cx="201168" cy="418392"/>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5146242" y="4786427"/>
            <a:ext cx="1905609" cy="116220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146242" y="4786427"/>
            <a:ext cx="1905609"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274258" y="4786427"/>
            <a:ext cx="1649577" cy="1162202"/>
          </a:xfrm>
          <a:prstGeom prst="rect">
            <a:avLst/>
          </a:prstGeom>
          <a:noFill/>
        </p:spPr>
        <p:txBody>
          <a:bodyPr wrap="square" anchor="ctr" lIns="0" rIns="0" tIns="0" bIns="0">
            <a:spAutoFit/>
          </a:bodyPr>
          <a:lstStyle/>
          <a:p>
            <a:pPr algn="ctr"/>
            <a:r>
              <a:rPr sz="1600" b="1">
                <a:solidFill>
                  <a:srgbClr val="0E2841"/>
                </a:solidFill>
                <a:latin typeface="Aptos Display"/>
              </a:rPr>
              <a:t>AAB / IPA prod</a:t>
            </a:r>
          </a:p>
        </p:txBody>
      </p:sp>
      <p:sp>
        <p:nvSpPr>
          <p:cNvPr id="48" name="Chevron 47"/>
          <p:cNvSpPr/>
          <p:nvPr/>
        </p:nvSpPr>
        <p:spPr>
          <a:xfrm>
            <a:off x="7143291" y="5158331"/>
            <a:ext cx="201168" cy="418392"/>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7435899" y="4786427"/>
            <a:ext cx="1905609" cy="116220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435899" y="4786427"/>
            <a:ext cx="1905609"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563915" y="4786427"/>
            <a:ext cx="1649577" cy="1162202"/>
          </a:xfrm>
          <a:prstGeom prst="rect">
            <a:avLst/>
          </a:prstGeom>
          <a:noFill/>
        </p:spPr>
        <p:txBody>
          <a:bodyPr wrap="square" anchor="ctr" lIns="0" rIns="0" tIns="0" bIns="0">
            <a:spAutoFit/>
          </a:bodyPr>
          <a:lstStyle/>
          <a:p>
            <a:pPr algn="ctr"/>
            <a:r>
              <a:rPr sz="1600" b="1">
                <a:solidFill>
                  <a:srgbClr val="0E2841"/>
                </a:solidFill>
                <a:latin typeface="Aptos Display"/>
              </a:rPr>
              <a:t>Arranque y tamaño</a:t>
            </a:r>
          </a:p>
        </p:txBody>
      </p:sp>
      <p:sp>
        <p:nvSpPr>
          <p:cNvPr id="52" name="Chevron 51"/>
          <p:cNvSpPr/>
          <p:nvPr/>
        </p:nvSpPr>
        <p:spPr>
          <a:xfrm>
            <a:off x="9432948" y="5158331"/>
            <a:ext cx="201168" cy="418392"/>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9725556" y="4786427"/>
            <a:ext cx="1905609" cy="116220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725556" y="4786427"/>
            <a:ext cx="1905609"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853572" y="4786427"/>
            <a:ext cx="1649577" cy="1162202"/>
          </a:xfrm>
          <a:prstGeom prst="rect">
            <a:avLst/>
          </a:prstGeom>
          <a:noFill/>
        </p:spPr>
        <p:txBody>
          <a:bodyPr wrap="square" anchor="ctr" lIns="0" rIns="0" tIns="0" bIns="0">
            <a:spAutoFit/>
          </a:bodyPr>
          <a:lstStyle/>
          <a:p>
            <a:pPr algn="ctr"/>
            <a:r>
              <a:rPr sz="1600" b="1">
                <a:solidFill>
                  <a:srgbClr val="0E2841"/>
                </a:solidFill>
                <a:latin typeface="Aptos Display"/>
              </a:rPr>
              <a:t>Revisión de tienda</a:t>
            </a:r>
          </a:p>
        </p:txBody>
      </p:sp>
      <p:sp>
        <p:nvSpPr>
          <p:cNvPr id="56" name="TextBox 55"/>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57" name="TextBox 56"/>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38 / 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NATIVO, CALIDAD Y DESPLIEGUE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Tres flavors instalados a la vez</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609344"/>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499616"/>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609344"/>
          </a:xfrm>
          <a:prstGeom prst="rect">
            <a:avLst/>
          </a:prstGeom>
          <a:noFill/>
        </p:spPr>
        <p:txBody>
          <a:bodyPr wrap="square" anchor="ctr" lIns="0" rIns="0" tIns="0" bIns="0">
            <a:spAutoFit/>
          </a:bodyPr>
          <a:lstStyle/>
          <a:p>
            <a:pPr algn="l">
              <a:lnSpc>
                <a:spcPct val="125000"/>
              </a:lnSpc>
            </a:pPr>
            <a:r>
              <a:rPr sz="2529" b="1">
                <a:solidFill>
                  <a:srgbClr val="0E2841"/>
                </a:solidFill>
                <a:latin typeface="Aptos Display"/>
              </a:rPr>
              <a:t>Cada flavor compila su configuración de Angular (</a:t>
            </a:r>
            <a:r>
              <a:rPr sz="2378" b="1">
                <a:solidFill>
                  <a:srgbClr val="156082"/>
                </a:solidFill>
                <a:latin typeface="Consolas"/>
              </a:rPr>
              <a:t>ng build --configuration staging</a:t>
            </a:r>
            <a:r>
              <a:rPr sz="2529" b="1">
                <a:solidFill>
                  <a:srgbClr val="0E2841"/>
                </a:solidFill>
                <a:latin typeface="Aptos Display"/>
              </a:rPr>
              <a:t>) antes de </a:t>
            </a:r>
            <a:r>
              <a:rPr sz="2378" b="1">
                <a:solidFill>
                  <a:srgbClr val="156082"/>
                </a:solidFill>
                <a:latin typeface="Consolas"/>
              </a:rPr>
              <a:t>cap sync</a:t>
            </a:r>
            <a:r>
              <a:rPr sz="2529" b="1">
                <a:solidFill>
                  <a:srgbClr val="0E2841"/>
                </a:solidFill>
                <a:latin typeface="Aptos Display"/>
              </a:rPr>
              <a:t>.</a:t>
            </a:r>
          </a:p>
        </p:txBody>
      </p:sp>
      <p:graphicFrame>
        <p:nvGraphicFramePr>
          <p:cNvPr id="10" name="Table 9"/>
          <p:cNvGraphicFramePr>
            <a:graphicFrameLocks noGrp="1"/>
          </p:cNvGraphicFramePr>
          <p:nvPr/>
        </p:nvGraphicFramePr>
        <p:xfrm>
          <a:off x="566928" y="3383280"/>
          <a:ext cx="11064240" cy="2944368"/>
        </p:xfrm>
        <a:graphic>
          <a:graphicData uri="http://schemas.openxmlformats.org/drawingml/2006/table">
            <a:tbl>
              <a:tblPr firstRow="1">
                <a:tableStyleId>{5C22544A-7EE6-4342-B048-85BDC9FD1C3A}</a:tableStyleId>
              </a:tblPr>
              <a:tblGrid>
                <a:gridCol w="3688080"/>
                <a:gridCol w="3688080"/>
                <a:gridCol w="3688080"/>
              </a:tblGrid>
              <a:tr h="736092">
                <a:tc>
                  <a:txBody>
                    <a:bodyPr wrap="square"/>
                    <a:lstStyle/>
                    <a:p>
                      <a:r>
                        <a:rPr sz="1725" b="1">
                          <a:solidFill>
                            <a:srgbClr val="FFFFFF"/>
                          </a:solidFill>
                          <a:latin typeface="Aptos"/>
                        </a:rPr>
                        <a:t>Flavor</a:t>
                      </a:r>
                    </a:p>
                  </a:txBody>
                  <a:tcPr anchor="ctr" marL="146304" marR="146304">
                    <a:solidFill>
                      <a:srgbClr val="156082"/>
                    </a:solidFill>
                  </a:tcPr>
                </a:tc>
                <a:tc>
                  <a:txBody>
                    <a:bodyPr wrap="square"/>
                    <a:lstStyle/>
                    <a:p>
                      <a:r>
                        <a:rPr sz="1621" b="1">
                          <a:solidFill>
                            <a:srgbClr val="156082"/>
                          </a:solidFill>
                          <a:latin typeface="Consolas"/>
                        </a:rPr>
                        <a:t>applicationId</a:t>
                      </a:r>
                    </a:p>
                  </a:txBody>
                  <a:tcPr anchor="ctr" marL="146304" marR="146304">
                    <a:solidFill>
                      <a:srgbClr val="156082"/>
                    </a:solidFill>
                  </a:tcPr>
                </a:tc>
                <a:tc>
                  <a:txBody>
                    <a:bodyPr wrap="square"/>
                    <a:lstStyle/>
                    <a:p>
                      <a:r>
                        <a:rPr sz="1725" b="1">
                          <a:solidFill>
                            <a:srgbClr val="FFFFFF"/>
                          </a:solidFill>
                          <a:latin typeface="Aptos"/>
                        </a:rPr>
                        <a:t>Backend y distribución</a:t>
                      </a:r>
                    </a:p>
                  </a:txBody>
                  <a:tcPr anchor="ctr" marL="146304" marR="146304">
                    <a:solidFill>
                      <a:srgbClr val="156082"/>
                    </a:solidFill>
                  </a:tcPr>
                </a:tc>
              </a:tr>
              <a:tr h="736092">
                <a:tc>
                  <a:txBody>
                    <a:bodyPr wrap="square"/>
                    <a:lstStyle/>
                    <a:p>
                      <a:r>
                        <a:rPr sz="1513" b="1">
                          <a:solidFill>
                            <a:srgbClr val="156082"/>
                          </a:solidFill>
                          <a:latin typeface="Consolas"/>
                        </a:rPr>
                        <a:t>dev</a:t>
                      </a:r>
                    </a:p>
                  </a:txBody>
                  <a:tcPr anchor="ctr" marL="146304" marR="146304">
                    <a:solidFill>
                      <a:srgbClr val="FFFFFF"/>
                    </a:solidFill>
                  </a:tcPr>
                </a:tc>
                <a:tc>
                  <a:txBody>
                    <a:bodyPr wrap="square"/>
                    <a:lstStyle/>
                    <a:p>
                      <a:r>
                        <a:rPr sz="1513" b="0">
                          <a:solidFill>
                            <a:srgbClr val="156082"/>
                          </a:solidFill>
                          <a:latin typeface="Consolas"/>
                        </a:rPr>
                        <a:t>co.edu.corhuila.bitacora.dev</a:t>
                      </a:r>
                    </a:p>
                  </a:txBody>
                  <a:tcPr anchor="ctr" marL="146304" marR="146304">
                    <a:solidFill>
                      <a:srgbClr val="FFFFFF"/>
                    </a:solidFill>
                  </a:tcPr>
                </a:tc>
                <a:tc>
                  <a:txBody>
                    <a:bodyPr wrap="square"/>
                    <a:lstStyle/>
                    <a:p>
                      <a:r>
                        <a:rPr sz="1609" b="0">
                          <a:solidFill>
                            <a:srgbClr val="33475B"/>
                          </a:solidFill>
                          <a:latin typeface="Aptos"/>
                        </a:rPr>
                        <a:t>API de desarrollo o simulada; instalación de depuración</a:t>
                      </a:r>
                    </a:p>
                  </a:txBody>
                  <a:tcPr anchor="ctr" marL="146304" marR="146304">
                    <a:solidFill>
                      <a:srgbClr val="FFFFFF"/>
                    </a:solidFill>
                  </a:tcPr>
                </a:tc>
              </a:tr>
              <a:tr h="736092">
                <a:tc>
                  <a:txBody>
                    <a:bodyPr wrap="square"/>
                    <a:lstStyle/>
                    <a:p>
                      <a:r>
                        <a:rPr sz="1513" b="1">
                          <a:solidFill>
                            <a:srgbClr val="156082"/>
                          </a:solidFill>
                          <a:latin typeface="Consolas"/>
                        </a:rPr>
                        <a:t>staging</a:t>
                      </a:r>
                    </a:p>
                  </a:txBody>
                  <a:tcPr anchor="ctr" marL="146304" marR="146304">
                    <a:solidFill>
                      <a:srgbClr val="F4F7FA"/>
                    </a:solidFill>
                  </a:tcPr>
                </a:tc>
                <a:tc>
                  <a:txBody>
                    <a:bodyPr wrap="square"/>
                    <a:lstStyle/>
                    <a:p>
                      <a:r>
                        <a:rPr sz="1513" b="0">
                          <a:solidFill>
                            <a:srgbClr val="156082"/>
                          </a:solidFill>
                          <a:latin typeface="Consolas"/>
                        </a:rPr>
                        <a:t>co.edu.corhuila.bitacora.stg</a:t>
                      </a:r>
                    </a:p>
                  </a:txBody>
                  <a:tcPr anchor="ctr" marL="146304" marR="146304">
                    <a:solidFill>
                      <a:srgbClr val="F4F7FA"/>
                    </a:solidFill>
                  </a:tcPr>
                </a:tc>
                <a:tc>
                  <a:txBody>
                    <a:bodyPr wrap="square"/>
                    <a:lstStyle/>
                    <a:p>
                      <a:r>
                        <a:rPr sz="1609" b="0">
                          <a:solidFill>
                            <a:srgbClr val="33475B"/>
                          </a:solidFill>
                          <a:latin typeface="Aptos"/>
                        </a:rPr>
                        <a:t>API de pruebas; testers internos (App Distribution, TestFlight)</a:t>
                      </a:r>
                    </a:p>
                  </a:txBody>
                  <a:tcPr anchor="ctr" marL="146304" marR="146304">
                    <a:solidFill>
                      <a:srgbClr val="F4F7FA"/>
                    </a:solidFill>
                  </a:tcPr>
                </a:tc>
              </a:tr>
              <a:tr h="736092">
                <a:tc>
                  <a:txBody>
                    <a:bodyPr wrap="square"/>
                    <a:lstStyle/>
                    <a:p>
                      <a:r>
                        <a:rPr sz="1513" b="1">
                          <a:solidFill>
                            <a:srgbClr val="156082"/>
                          </a:solidFill>
                          <a:latin typeface="Consolas"/>
                        </a:rPr>
                        <a:t>prod</a:t>
                      </a:r>
                    </a:p>
                  </a:txBody>
                  <a:tcPr anchor="ctr" marL="146304" marR="146304">
                    <a:solidFill>
                      <a:srgbClr val="FFFFFF"/>
                    </a:solidFill>
                  </a:tcPr>
                </a:tc>
                <a:tc>
                  <a:txBody>
                    <a:bodyPr wrap="square"/>
                    <a:lstStyle/>
                    <a:p>
                      <a:r>
                        <a:rPr sz="1513" b="0">
                          <a:solidFill>
                            <a:srgbClr val="156082"/>
                          </a:solidFill>
                          <a:latin typeface="Consolas"/>
                        </a:rPr>
                        <a:t>co.edu.corhuila.bitacora</a:t>
                      </a:r>
                    </a:p>
                  </a:txBody>
                  <a:tcPr anchor="ctr" marL="146304" marR="146304">
                    <a:solidFill>
                      <a:srgbClr val="FFFFFF"/>
                    </a:solidFill>
                  </a:tcPr>
                </a:tc>
                <a:tc>
                  <a:txBody>
                    <a:bodyPr wrap="square"/>
                    <a:lstStyle/>
                    <a:p>
                      <a:r>
                        <a:rPr sz="1609" b="0">
                          <a:solidFill>
                            <a:srgbClr val="33475B"/>
                          </a:solidFill>
                          <a:latin typeface="Aptos"/>
                        </a:rPr>
                        <a:t>API de producción; tienda</a:t>
                      </a:r>
                    </a:p>
                  </a:txBody>
                  <a:tcPr anchor="ctr" marL="146304" marR="146304">
                    <a:solidFill>
                      <a:srgbClr val="FFFFFF"/>
                    </a:solidFill>
                  </a:tcPr>
                </a:tc>
              </a:tr>
            </a:tbl>
          </a:graphicData>
        </a:graphic>
      </p:graphicFrame>
      <p:sp>
        <p:nvSpPr>
          <p:cNvPr id="11" name="TextBox 1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12" name="TextBox 1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39 / 45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NATIVO, CALIDAD Y DESPLIEGUE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Qué resuelve cada herramienta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9"/>
        </p:xfrm>
        <a:graphic>
          <a:graphicData uri="http://schemas.openxmlformats.org/drawingml/2006/table">
            <a:tbl>
              <a:tblPr firstRow="1">
                <a:tableStyleId>{5C22544A-7EE6-4342-B048-85BDC9FD1C3A}</a:tableStyleId>
              </a:tblPr>
              <a:tblGrid>
                <a:gridCol w="3688080"/>
                <a:gridCol w="3688080"/>
                <a:gridCol w="3688080"/>
              </a:tblGrid>
              <a:tr h="624927">
                <a:tc>
                  <a:txBody>
                    <a:bodyPr wrap="square"/>
                    <a:lstStyle/>
                    <a:p>
                      <a:r>
                        <a:rPr sz="1688" b="1">
                          <a:solidFill>
                            <a:srgbClr val="FFFFFF"/>
                          </a:solidFill>
                          <a:latin typeface="Aptos"/>
                        </a:rPr>
                        <a:t>Herramienta</a:t>
                      </a:r>
                    </a:p>
                  </a:txBody>
                  <a:tcPr anchor="ctr" marL="146304" marR="146304">
                    <a:solidFill>
                      <a:srgbClr val="156082"/>
                    </a:solidFill>
                  </a:tcPr>
                </a:tc>
                <a:tc>
                  <a:txBody>
                    <a:bodyPr wrap="square"/>
                    <a:lstStyle/>
                    <a:p>
                      <a:r>
                        <a:rPr sz="1688" b="1">
                          <a:solidFill>
                            <a:srgbClr val="FFFFFF"/>
                          </a:solidFill>
                          <a:latin typeface="Aptos"/>
                        </a:rPr>
                        <a:t>Resuelve</a:t>
                      </a:r>
                    </a:p>
                  </a:txBody>
                  <a:tcPr anchor="ctr" marL="146304" marR="146304">
                    <a:solidFill>
                      <a:srgbClr val="156082"/>
                    </a:solidFill>
                  </a:tcPr>
                </a:tc>
                <a:tc>
                  <a:txBody>
                    <a:bodyPr wrap="square"/>
                    <a:lstStyle/>
                    <a:p>
                      <a:r>
                        <a:rPr sz="1688" b="1">
                          <a:solidFill>
                            <a:srgbClr val="FFFFFF"/>
                          </a:solidFill>
                          <a:latin typeface="Aptos"/>
                        </a:rPr>
                        <a:t>Encaje con Ionic + Capacitor</a:t>
                      </a:r>
                    </a:p>
                  </a:txBody>
                  <a:tcPr anchor="ctr" marL="146304" marR="146304">
                    <a:solidFill>
                      <a:srgbClr val="156082"/>
                    </a:solidFill>
                  </a:tcPr>
                </a:tc>
              </a:tr>
              <a:tr h="624927">
                <a:tc>
                  <a:txBody>
                    <a:bodyPr wrap="square"/>
                    <a:lstStyle/>
                    <a:p>
                      <a:r>
                        <a:rPr sz="1576" b="1">
                          <a:solidFill>
                            <a:srgbClr val="33475B"/>
                          </a:solidFill>
                          <a:latin typeface="Aptos"/>
                        </a:rPr>
                        <a:t>GitHub Actions u otro CI</a:t>
                      </a:r>
                    </a:p>
                  </a:txBody>
                  <a:tcPr anchor="ctr" marL="146304" marR="146304">
                    <a:solidFill>
                      <a:srgbClr val="FFFFFF"/>
                    </a:solidFill>
                  </a:tcPr>
                </a:tc>
                <a:tc>
                  <a:txBody>
                    <a:bodyPr wrap="square"/>
                    <a:lstStyle/>
                    <a:p>
                      <a:r>
                        <a:rPr sz="1576" b="0">
                          <a:solidFill>
                            <a:srgbClr val="33475B"/>
                          </a:solidFill>
                          <a:latin typeface="Aptos"/>
                        </a:rPr>
                        <a:t>Orquesta etapas y custodia secretos</a:t>
                      </a:r>
                    </a:p>
                  </a:txBody>
                  <a:tcPr anchor="ctr" marL="146304" marR="146304">
                    <a:solidFill>
                      <a:srgbClr val="FFFFFF"/>
                    </a:solidFill>
                  </a:tcPr>
                </a:tc>
                <a:tc>
                  <a:txBody>
                    <a:bodyPr wrap="square"/>
                    <a:lstStyle/>
                    <a:p>
                      <a:r>
                        <a:rPr sz="1576" b="0">
                          <a:solidFill>
                            <a:srgbClr val="33475B"/>
                          </a:solidFill>
                          <a:latin typeface="Aptos"/>
                        </a:rPr>
                        <a:t>Node, JDK y Gradle; iOS exige ejecutor macOS</a:t>
                      </a:r>
                    </a:p>
                  </a:txBody>
                  <a:tcPr anchor="ctr" marL="146304" marR="146304">
                    <a:solidFill>
                      <a:srgbClr val="FFFFFF"/>
                    </a:solidFill>
                  </a:tcPr>
                </a:tc>
              </a:tr>
              <a:tr h="624927">
                <a:tc>
                  <a:txBody>
                    <a:bodyPr wrap="square"/>
                    <a:lstStyle/>
                    <a:p>
                      <a:r>
                        <a:rPr sz="1576" b="1">
                          <a:solidFill>
                            <a:srgbClr val="33475B"/>
                          </a:solidFill>
                          <a:latin typeface="Aptos"/>
                        </a:rPr>
                        <a:t>Fastlane</a:t>
                      </a:r>
                    </a:p>
                  </a:txBody>
                  <a:tcPr anchor="ctr" marL="146304" marR="146304">
                    <a:solidFill>
                      <a:srgbClr val="F4F7FA"/>
                    </a:solidFill>
                  </a:tcPr>
                </a:tc>
                <a:tc>
                  <a:txBody>
                    <a:bodyPr wrap="square"/>
                    <a:lstStyle/>
                    <a:p>
                      <a:r>
                        <a:rPr sz="1576" b="0">
                          <a:solidFill>
                            <a:srgbClr val="33475B"/>
                          </a:solidFill>
                          <a:latin typeface="Aptos"/>
                        </a:rPr>
                        <a:t>Firma, compila y sube (</a:t>
                      </a:r>
                      <a:r>
                        <a:rPr sz="1481" b="0">
                          <a:solidFill>
                            <a:srgbClr val="156082"/>
                          </a:solidFill>
                          <a:latin typeface="Consolas"/>
                        </a:rPr>
                        <a:t>supply</a:t>
                      </a:r>
                      <a:r>
                        <a:rPr sz="1576" b="0">
                          <a:solidFill>
                            <a:srgbClr val="33475B"/>
                          </a:solidFill>
                          <a:latin typeface="Aptos"/>
                        </a:rPr>
                        <a:t>, </a:t>
                      </a:r>
                      <a:r>
                        <a:rPr sz="1481" b="0">
                          <a:solidFill>
                            <a:srgbClr val="156082"/>
                          </a:solidFill>
                          <a:latin typeface="Consolas"/>
                        </a:rPr>
                        <a:t>pilot</a:t>
                      </a:r>
                      <a:r>
                        <a:rPr sz="1576" b="0">
                          <a:solidFill>
                            <a:srgbClr val="33475B"/>
                          </a:solidFill>
                          <a:latin typeface="Aptos"/>
                        </a:rPr>
                        <a:t>, </a:t>
                      </a:r>
                      <a:r>
                        <a:rPr sz="1481" b="0">
                          <a:solidFill>
                            <a:srgbClr val="156082"/>
                          </a:solidFill>
                          <a:latin typeface="Consolas"/>
                        </a:rPr>
                        <a:t>match</a:t>
                      </a:r>
                      <a:r>
                        <a:rPr sz="1576" b="0">
                          <a:solidFill>
                            <a:srgbClr val="33475B"/>
                          </a:solidFill>
                          <a:latin typeface="Aptos"/>
                        </a:rPr>
                        <a:t>)</a:t>
                      </a:r>
                    </a:p>
                  </a:txBody>
                  <a:tcPr anchor="ctr" marL="146304" marR="146304">
                    <a:solidFill>
                      <a:srgbClr val="F4F7FA"/>
                    </a:solidFill>
                  </a:tcPr>
                </a:tc>
                <a:tc>
                  <a:txBody>
                    <a:bodyPr wrap="square"/>
                    <a:lstStyle/>
                    <a:p>
                      <a:r>
                        <a:rPr sz="1576" b="0">
                          <a:solidFill>
                            <a:srgbClr val="33475B"/>
                          </a:solidFill>
                          <a:latin typeface="Aptos"/>
                        </a:rPr>
                        <a:t>Trabaja sobre </a:t>
                      </a:r>
                      <a:r>
                        <a:rPr sz="1481" b="0">
                          <a:solidFill>
                            <a:srgbClr val="156082"/>
                          </a:solidFill>
                          <a:latin typeface="Consolas"/>
                        </a:rPr>
                        <a:t>android/</a:t>
                      </a:r>
                      <a:r>
                        <a:rPr sz="1576" b="0">
                          <a:solidFill>
                            <a:srgbClr val="33475B"/>
                          </a:solidFill>
                          <a:latin typeface="Aptos"/>
                        </a:rPr>
                        <a:t> e </a:t>
                      </a:r>
                      <a:r>
                        <a:rPr sz="1481" b="0">
                          <a:solidFill>
                            <a:srgbClr val="156082"/>
                          </a:solidFill>
                          <a:latin typeface="Consolas"/>
                        </a:rPr>
                        <a:t>ios/</a:t>
                      </a:r>
                    </a:p>
                  </a:txBody>
                  <a:tcPr anchor="ctr" marL="146304" marR="146304">
                    <a:solidFill>
                      <a:srgbClr val="F4F7FA"/>
                    </a:solidFill>
                  </a:tcPr>
                </a:tc>
              </a:tr>
              <a:tr h="624927">
                <a:tc>
                  <a:txBody>
                    <a:bodyPr wrap="square"/>
                    <a:lstStyle/>
                    <a:p>
                      <a:r>
                        <a:rPr sz="1576" b="1">
                          <a:solidFill>
                            <a:srgbClr val="33475B"/>
                          </a:solidFill>
                          <a:latin typeface="Aptos"/>
                        </a:rPr>
                        <a:t>AppFlow (Ionic)</a:t>
                      </a:r>
                    </a:p>
                  </a:txBody>
                  <a:tcPr anchor="ctr" marL="146304" marR="146304">
                    <a:solidFill>
                      <a:srgbClr val="FFFFFF"/>
                    </a:solidFill>
                  </a:tcPr>
                </a:tc>
                <a:tc>
                  <a:txBody>
                    <a:bodyPr wrap="square"/>
                    <a:lstStyle/>
                    <a:p>
                      <a:r>
                        <a:rPr sz="1576" b="0">
                          <a:solidFill>
                            <a:srgbClr val="33475B"/>
                          </a:solidFill>
                          <a:latin typeface="Aptos"/>
                        </a:rPr>
                        <a:t>Builds en la nube, live updates, envío a tiendas</a:t>
                      </a:r>
                    </a:p>
                  </a:txBody>
                  <a:tcPr anchor="ctr" marL="146304" marR="146304">
                    <a:solidFill>
                      <a:srgbClr val="FFFFFF"/>
                    </a:solidFill>
                  </a:tcPr>
                </a:tc>
                <a:tc>
                  <a:txBody>
                    <a:bodyPr wrap="square"/>
                    <a:lstStyle/>
                    <a:p>
                      <a:r>
                        <a:rPr sz="1576" b="0">
                          <a:solidFill>
                            <a:srgbClr val="33475B"/>
                          </a:solidFill>
                          <a:latin typeface="Aptos"/>
                        </a:rPr>
                        <a:t>Ionic anunció en 2025 su retiro comercial: verificar</a:t>
                      </a:r>
                    </a:p>
                  </a:txBody>
                  <a:tcPr anchor="ctr" marL="146304" marR="146304">
                    <a:solidFill>
                      <a:srgbClr val="FFFFFF"/>
                    </a:solidFill>
                  </a:tcPr>
                </a:tc>
              </a:tr>
              <a:tr h="624927">
                <a:tc>
                  <a:txBody>
                    <a:bodyPr wrap="square"/>
                    <a:lstStyle/>
                    <a:p>
                      <a:r>
                        <a:rPr sz="1576" b="1">
                          <a:solidFill>
                            <a:srgbClr val="33475B"/>
                          </a:solidFill>
                          <a:latin typeface="Aptos"/>
                        </a:rPr>
                        <a:t>EAS Build (Expo)</a:t>
                      </a:r>
                    </a:p>
                  </a:txBody>
                  <a:tcPr anchor="ctr" marL="146304" marR="146304">
                    <a:solidFill>
                      <a:srgbClr val="F4F7FA"/>
                    </a:solidFill>
                  </a:tcPr>
                </a:tc>
                <a:tc>
                  <a:txBody>
                    <a:bodyPr wrap="square"/>
                    <a:lstStyle/>
                    <a:p>
                      <a:r>
                        <a:rPr sz="1576" b="0">
                          <a:solidFill>
                            <a:srgbClr val="33475B"/>
                          </a:solidFill>
                          <a:latin typeface="Aptos"/>
                        </a:rPr>
                        <a:t>Builds en la nube para Expo / React Native</a:t>
                      </a:r>
                    </a:p>
                  </a:txBody>
                  <a:tcPr anchor="ctr" marL="146304" marR="146304">
                    <a:solidFill>
                      <a:srgbClr val="F4F7FA"/>
                    </a:solidFill>
                  </a:tcPr>
                </a:tc>
                <a:tc>
                  <a:txBody>
                    <a:bodyPr wrap="square"/>
                    <a:lstStyle/>
                    <a:p>
                      <a:r>
                        <a:rPr sz="1576" b="1">
                          <a:solidFill>
                            <a:srgbClr val="33475B"/>
                          </a:solidFill>
                          <a:latin typeface="Aptos"/>
                        </a:rPr>
                        <a:t>No aplica</a:t>
                      </a:r>
                      <a:r>
                        <a:rPr sz="1576" b="0">
                          <a:solidFill>
                            <a:srgbClr val="33475B"/>
                          </a:solidFill>
                          <a:latin typeface="Aptos"/>
                        </a:rPr>
                        <a:t> a Ionic + Capacitor</a:t>
                      </a:r>
                    </a:p>
                  </a:txBody>
                  <a:tcPr anchor="ctr" marL="146304" marR="146304">
                    <a:solidFill>
                      <a:srgbClr val="F4F7FA"/>
                    </a:solidFill>
                  </a:tcPr>
                </a:tc>
              </a:tr>
              <a:tr h="624927">
                <a:tc>
                  <a:txBody>
                    <a:bodyPr wrap="square"/>
                    <a:lstStyle/>
                    <a:p>
                      <a:r>
                        <a:rPr sz="1576" b="1">
                          <a:solidFill>
                            <a:srgbClr val="33475B"/>
                          </a:solidFill>
                          <a:latin typeface="Aptos"/>
                        </a:rPr>
                        <a:t>Firebase App Distribution</a:t>
                      </a:r>
                    </a:p>
                  </a:txBody>
                  <a:tcPr anchor="ctr" marL="146304" marR="146304">
                    <a:solidFill>
                      <a:srgbClr val="FFFFFF"/>
                    </a:solidFill>
                  </a:tcPr>
                </a:tc>
                <a:tc>
                  <a:txBody>
                    <a:bodyPr wrap="square"/>
                    <a:lstStyle/>
                    <a:p>
                      <a:r>
                        <a:rPr sz="1576" b="0">
                          <a:solidFill>
                            <a:srgbClr val="33475B"/>
                          </a:solidFill>
                          <a:latin typeface="Aptos"/>
                        </a:rPr>
                        <a:t>Entrega builds a testers internos</a:t>
                      </a:r>
                    </a:p>
                  </a:txBody>
                  <a:tcPr anchor="ctr" marL="146304" marR="146304">
                    <a:solidFill>
                      <a:srgbClr val="FFFFFF"/>
                    </a:solidFill>
                  </a:tcPr>
                </a:tc>
                <a:tc>
                  <a:txBody>
                    <a:bodyPr wrap="square"/>
                    <a:lstStyle/>
                    <a:p>
                      <a:r>
                        <a:rPr sz="1576" b="0">
                          <a:solidFill>
                            <a:srgbClr val="33475B"/>
                          </a:solidFill>
                          <a:latin typeface="Aptos"/>
                        </a:rPr>
                        <a:t>Recibe APK, AAB o IPA desde el CI</a:t>
                      </a:r>
                    </a:p>
                  </a:txBody>
                  <a:tcPr anchor="ctr" marL="146304" marR="146304">
                    <a:solidFill>
                      <a:srgbClr val="FFFFFF"/>
                    </a:solidFill>
                  </a:tcPr>
                </a:tc>
              </a:tr>
              <a:tr h="624927">
                <a:tc>
                  <a:txBody>
                    <a:bodyPr wrap="square"/>
                    <a:lstStyle/>
                    <a:p>
                      <a:r>
                        <a:rPr sz="1576" b="1">
                          <a:solidFill>
                            <a:srgbClr val="33475B"/>
                          </a:solidFill>
                          <a:latin typeface="Aptos"/>
                        </a:rPr>
                        <a:t>Firebase Test Lab</a:t>
                      </a:r>
                    </a:p>
                  </a:txBody>
                  <a:tcPr anchor="ctr" marL="146304" marR="146304">
                    <a:solidFill>
                      <a:srgbClr val="F4F7FA"/>
                    </a:solidFill>
                  </a:tcPr>
                </a:tc>
                <a:tc>
                  <a:txBody>
                    <a:bodyPr wrap="square"/>
                    <a:lstStyle/>
                    <a:p>
                      <a:r>
                        <a:rPr sz="1576" b="0">
                          <a:solidFill>
                            <a:srgbClr val="33475B"/>
                          </a:solidFill>
                          <a:latin typeface="Aptos"/>
                        </a:rPr>
                        <a:t>Pruebas en dispositivos reales</a:t>
                      </a:r>
                    </a:p>
                  </a:txBody>
                  <a:tcPr anchor="ctr" marL="146304" marR="146304">
                    <a:solidFill>
                      <a:srgbClr val="F4F7FA"/>
                    </a:solidFill>
                  </a:tcPr>
                </a:tc>
                <a:tc>
                  <a:txBody>
                    <a:bodyPr wrap="square"/>
                    <a:lstStyle/>
                    <a:p>
                      <a:r>
                        <a:rPr sz="1576" b="0">
                          <a:solidFill>
                            <a:srgbClr val="33475B"/>
                          </a:solidFill>
                          <a:latin typeface="Aptos"/>
                        </a:rPr>
                        <a:t>Matriz Android con Robo; iOS con XCTest</a:t>
                      </a:r>
                    </a:p>
                  </a:txBody>
                  <a:tcPr anchor="ctr" marL="146304" marR="146304">
                    <a:solidFill>
                      <a:srgbClr val="F4F7FA"/>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40 / 45</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NATIVO, CALIDAD Y DESPLIEGUE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Una híbrida falla en dos capas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5367528" cy="2041801"/>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 Same Side Corner Rectangle 7"/>
          <p:cNvSpPr/>
          <p:nvPr/>
        </p:nvSpPr>
        <p:spPr>
          <a:xfrm>
            <a:off x="566928" y="1572768"/>
            <a:ext cx="5367528" cy="566928"/>
          </a:xfrm>
          <a:prstGeom prst="round2SameRect">
            <a:avLst>
              <a:gd name="adj1" fmla="val 14000"/>
              <a:gd name="adj2" fmla="val 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572768"/>
            <a:ext cx="5001768" cy="566928"/>
          </a:xfrm>
          <a:prstGeom prst="rect">
            <a:avLst/>
          </a:prstGeom>
          <a:noFill/>
        </p:spPr>
        <p:txBody>
          <a:bodyPr wrap="square" anchor="ctr" lIns="0" rIns="0" tIns="0" bIns="0">
            <a:spAutoFit/>
          </a:bodyPr>
          <a:lstStyle/>
          <a:p>
            <a:pPr algn="l"/>
            <a:r>
              <a:rPr sz="1760" b="1">
                <a:solidFill>
                  <a:srgbClr val="FFFFFF"/>
                </a:solidFill>
                <a:latin typeface="Aptos Display"/>
              </a:rPr>
              <a:t>Fallo nativo</a:t>
            </a:r>
          </a:p>
        </p:txBody>
      </p:sp>
      <p:sp>
        <p:nvSpPr>
          <p:cNvPr id="10" name="Oval 9"/>
          <p:cNvSpPr/>
          <p:nvPr/>
        </p:nvSpPr>
        <p:spPr>
          <a:xfrm>
            <a:off x="786384" y="2602812"/>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2346780"/>
            <a:ext cx="4709160" cy="603504"/>
          </a:xfrm>
          <a:prstGeom prst="rect">
            <a:avLst/>
          </a:prstGeom>
          <a:noFill/>
        </p:spPr>
        <p:txBody>
          <a:bodyPr wrap="square" anchor="ctr" lIns="0" rIns="0" tIns="0" bIns="0">
            <a:spAutoFit/>
          </a:bodyPr>
          <a:lstStyle/>
          <a:p>
            <a:pPr algn="l"/>
            <a:r>
              <a:rPr sz="1450" b="0">
                <a:solidFill>
                  <a:srgbClr val="33475B"/>
                </a:solidFill>
                <a:latin typeface="Aptos"/>
              </a:rPr>
              <a:t>Cierra la app</a:t>
            </a:r>
          </a:p>
        </p:txBody>
      </p:sp>
      <p:sp>
        <p:nvSpPr>
          <p:cNvPr id="12" name="Oval 11"/>
          <p:cNvSpPr/>
          <p:nvPr/>
        </p:nvSpPr>
        <p:spPr>
          <a:xfrm>
            <a:off x="786384" y="3206316"/>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2950284"/>
            <a:ext cx="4709160" cy="603504"/>
          </a:xfrm>
          <a:prstGeom prst="rect">
            <a:avLst/>
          </a:prstGeom>
          <a:noFill/>
        </p:spPr>
        <p:txBody>
          <a:bodyPr wrap="square" anchor="ctr" lIns="0" rIns="0" tIns="0" bIns="0">
            <a:spAutoFit/>
          </a:bodyPr>
          <a:lstStyle/>
          <a:p>
            <a:pPr algn="l"/>
            <a:r>
              <a:rPr sz="1450" b="0">
                <a:solidFill>
                  <a:srgbClr val="33475B"/>
                </a:solidFill>
                <a:latin typeface="Aptos"/>
              </a:rPr>
              <a:t>Lo ve cualquier reportador de crashes</a:t>
            </a:r>
          </a:p>
        </p:txBody>
      </p:sp>
      <p:sp>
        <p:nvSpPr>
          <p:cNvPr id="14" name="Rounded Rectangle 13"/>
          <p:cNvSpPr/>
          <p:nvPr/>
        </p:nvSpPr>
        <p:spPr>
          <a:xfrm>
            <a:off x="6263640" y="1572768"/>
            <a:ext cx="5367528" cy="2041801"/>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 Same Side Corner Rectangle 14"/>
          <p:cNvSpPr/>
          <p:nvPr/>
        </p:nvSpPr>
        <p:spPr>
          <a:xfrm>
            <a:off x="6263640" y="1572768"/>
            <a:ext cx="5367528" cy="566928"/>
          </a:xfrm>
          <a:prstGeom prst="round2SameRect">
            <a:avLst>
              <a:gd name="adj1" fmla="val 14000"/>
              <a:gd name="adj2" fmla="val 0"/>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1572768"/>
            <a:ext cx="5001768" cy="566928"/>
          </a:xfrm>
          <a:prstGeom prst="rect">
            <a:avLst/>
          </a:prstGeom>
          <a:noFill/>
        </p:spPr>
        <p:txBody>
          <a:bodyPr wrap="square" anchor="ctr" lIns="0" rIns="0" tIns="0" bIns="0">
            <a:spAutoFit/>
          </a:bodyPr>
          <a:lstStyle/>
          <a:p>
            <a:pPr algn="l"/>
            <a:r>
              <a:rPr sz="1760" b="1">
                <a:solidFill>
                  <a:srgbClr val="FFFFFF"/>
                </a:solidFill>
                <a:latin typeface="Aptos Display"/>
              </a:rPr>
              <a:t>Error de JavaScript</a:t>
            </a:r>
          </a:p>
        </p:txBody>
      </p:sp>
      <p:sp>
        <p:nvSpPr>
          <p:cNvPr id="17" name="Oval 16"/>
          <p:cNvSpPr/>
          <p:nvPr/>
        </p:nvSpPr>
        <p:spPr>
          <a:xfrm>
            <a:off x="6483096" y="2602812"/>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20840" y="2346780"/>
            <a:ext cx="4709160" cy="603504"/>
          </a:xfrm>
          <a:prstGeom prst="rect">
            <a:avLst/>
          </a:prstGeom>
          <a:noFill/>
        </p:spPr>
        <p:txBody>
          <a:bodyPr wrap="square" anchor="ctr" lIns="0" rIns="0" tIns="0" bIns="0">
            <a:spAutoFit/>
          </a:bodyPr>
          <a:lstStyle/>
          <a:p>
            <a:pPr algn="l"/>
            <a:r>
              <a:rPr sz="1450" b="0">
                <a:solidFill>
                  <a:srgbClr val="33475B"/>
                </a:solidFill>
                <a:latin typeface="Aptos"/>
              </a:rPr>
              <a:t>La app sigue abierta con la pantalla muerta</a:t>
            </a:r>
          </a:p>
        </p:txBody>
      </p:sp>
      <p:sp>
        <p:nvSpPr>
          <p:cNvPr id="19" name="Oval 18"/>
          <p:cNvSpPr/>
          <p:nvPr/>
        </p:nvSpPr>
        <p:spPr>
          <a:xfrm>
            <a:off x="6483096" y="3206316"/>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20840" y="2950284"/>
            <a:ext cx="4709160" cy="603504"/>
          </a:xfrm>
          <a:prstGeom prst="rect">
            <a:avLst/>
          </a:prstGeom>
          <a:noFill/>
        </p:spPr>
        <p:txBody>
          <a:bodyPr wrap="square" anchor="ctr" lIns="0" rIns="0" tIns="0" bIns="0">
            <a:spAutoFit/>
          </a:bodyPr>
          <a:lstStyle/>
          <a:p>
            <a:pPr algn="l"/>
            <a:r>
              <a:rPr sz="1450" b="0">
                <a:solidFill>
                  <a:srgbClr val="33475B"/>
                </a:solidFill>
                <a:latin typeface="Aptos"/>
              </a:rPr>
              <a:t>Nadie se entera si no lo reportas</a:t>
            </a:r>
          </a:p>
        </p:txBody>
      </p:sp>
      <p:sp>
        <p:nvSpPr>
          <p:cNvPr id="21" name="Rounded Rectangle 20"/>
          <p:cNvSpPr/>
          <p:nvPr/>
        </p:nvSpPr>
        <p:spPr>
          <a:xfrm>
            <a:off x="566928" y="3815737"/>
            <a:ext cx="11064240" cy="2511910"/>
          </a:xfrm>
          <a:prstGeom prst="roundRect">
            <a:avLst>
              <a:gd name="adj" fmla="val 5000"/>
            </a:avLst>
          </a:prstGeom>
          <a:solidFill>
            <a:srgbClr val="0E2841"/>
          </a:solidFill>
          <a:ln>
            <a:noFill/>
          </a:ln>
          <a:effectLst>
            <a:outerShdw blurRad="203200" dist="50800" dir="5400000" rotWithShape="0">
              <a:srgbClr val="0E2841">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41248" y="4035193"/>
            <a:ext cx="38100" cy="18288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7552" y="3998617"/>
            <a:ext cx="7315200" cy="237744"/>
          </a:xfrm>
          <a:prstGeom prst="rect">
            <a:avLst/>
          </a:prstGeom>
          <a:noFill/>
        </p:spPr>
        <p:txBody>
          <a:bodyPr wrap="square" anchor="t" lIns="0" rIns="0" tIns="0" bIns="0">
            <a:spAutoFit/>
          </a:bodyPr>
          <a:lstStyle/>
          <a:p>
            <a:pPr algn="l"/>
            <a:r>
              <a:rPr sz="1191" b="1">
                <a:solidFill>
                  <a:srgbClr val="E97132"/>
                </a:solidFill>
                <a:latin typeface="Aptos"/>
              </a:rPr>
              <a:t>REPORTE-ERRORES.HANDLER.TS</a:t>
            </a:r>
          </a:p>
        </p:txBody>
      </p:sp>
      <p:sp>
        <p:nvSpPr>
          <p:cNvPr id="24" name="TextBox 23"/>
          <p:cNvSpPr txBox="1"/>
          <p:nvPr/>
        </p:nvSpPr>
        <p:spPr>
          <a:xfrm>
            <a:off x="877824" y="4382665"/>
            <a:ext cx="10515600" cy="1780390"/>
          </a:xfrm>
          <a:prstGeom prst="rect">
            <a:avLst/>
          </a:prstGeom>
          <a:noFill/>
        </p:spPr>
        <p:txBody>
          <a:bodyPr wrap="none" lIns="0" tIns="0">
            <a:spAutoFit/>
          </a:bodyPr>
          <a:lstStyle/>
          <a:p>
            <a:pPr>
              <a:lnSpc>
                <a:spcPct val="125000"/>
              </a:lnSpc>
            </a:pPr>
            <a:r>
              <a:rPr sz="1501">
                <a:solidFill>
                  <a:srgbClr val="E8E8E8"/>
                </a:solidFill>
                <a:latin typeface="Consolas"/>
              </a:rPr>
              <a:t>@Injectable()</a:t>
            </a:r>
          </a:p>
          <a:p>
            <a:pPr>
              <a:lnSpc>
                <a:spcPct val="125000"/>
              </a:lnSpc>
            </a:pPr>
            <a:r>
              <a:rPr sz="1501">
                <a:solidFill>
                  <a:srgbClr val="E8E8E8"/>
                </a:solidFill>
                <a:latin typeface="Consolas"/>
              </a:rPr>
              <a:t>export class ReporteErroresHandler implements ErrorHandler {</a:t>
            </a:r>
          </a:p>
          <a:p>
            <a:pPr>
              <a:lnSpc>
                <a:spcPct val="125000"/>
              </a:lnSpc>
            </a:pPr>
            <a:r>
              <a:rPr sz="1501">
                <a:solidFill>
                  <a:srgbClr val="E8E8E8"/>
                </a:solidFill>
                <a:latin typeface="Consolas"/>
              </a:rPr>
              <a:t>  private readonly reportador = inject(REPORTADOR_FALLOS);   // puerto, no SDK</a:t>
            </a:r>
          </a:p>
          <a:p>
            <a:pPr>
              <a:lnSpc>
                <a:spcPct val="125000"/>
              </a:lnSpc>
            </a:pPr>
            <a:r>
              <a:rPr sz="1501">
                <a:solidFill>
                  <a:srgbClr val="E8E8E8"/>
                </a:solidFill>
                <a:latin typeface="Consolas"/>
              </a:rPr>
              <a:t>  handleError(error: unknown): void {</a:t>
            </a:r>
          </a:p>
          <a:p>
            <a:pPr>
              <a:lnSpc>
                <a:spcPct val="125000"/>
              </a:lnSpc>
            </a:pPr>
            <a:r>
              <a:rPr sz="1501">
                <a:solidFill>
                  <a:srgbClr val="E8E8E8"/>
                </a:solidFill>
                <a:latin typeface="Consolas"/>
              </a:rPr>
              <a:t>    this.reportador.registrar(error, { ruta: location.pathname });   // sin PII</a:t>
            </a:r>
          </a:p>
          <a:p>
            <a:pPr>
              <a:lnSpc>
                <a:spcPct val="125000"/>
              </a:lnSpc>
            </a:pPr>
            <a:r>
              <a:rPr sz="1501">
                <a:solidFill>
                  <a:srgbClr val="E8E8E8"/>
                </a:solidFill>
                <a:latin typeface="Consolas"/>
              </a:rPr>
              <a:t>  }</a:t>
            </a:r>
          </a:p>
          <a:p>
            <a:pPr>
              <a:lnSpc>
                <a:spcPct val="125000"/>
              </a:lnSpc>
            </a:pPr>
            <a:r>
              <a:rPr sz="1501">
                <a:solidFill>
                  <a:srgbClr val="E8E8E8"/>
                </a:solidFill>
                <a:latin typeface="Consolas"/>
              </a:rPr>
              <a:t>}   // app.config.ts: { provide: ErrorHandler, useClass: ReporteErroresHandler }</a:t>
            </a:r>
          </a:p>
        </p:txBody>
      </p:sp>
      <p:sp>
        <p:nvSpPr>
          <p:cNvPr id="25" name="TextBox 24"/>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26" name="TextBox 25"/>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41 / 45</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NATIVO, CALIDAD Y DESPLIEGUE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Lo que se vigila tras publicar</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55578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446058"/>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555786"/>
          </a:xfrm>
          <a:prstGeom prst="rect">
            <a:avLst/>
          </a:prstGeom>
          <a:noFill/>
        </p:spPr>
        <p:txBody>
          <a:bodyPr wrap="square" anchor="ctr" lIns="0" rIns="0" tIns="0" bIns="0">
            <a:spAutoFit/>
          </a:bodyPr>
          <a:lstStyle/>
          <a:p>
            <a:pPr algn="l">
              <a:lnSpc>
                <a:spcPct val="125000"/>
              </a:lnSpc>
            </a:pPr>
            <a:r>
              <a:rPr sz="2416" b="1">
                <a:solidFill>
                  <a:srgbClr val="156082"/>
                </a:solidFill>
                <a:latin typeface="Consolas"/>
              </a:rPr>
              <a:t>permiso_respondido</a:t>
            </a:r>
            <a:r>
              <a:rPr sz="2570" b="1">
                <a:solidFill>
                  <a:srgbClr val="0E2841"/>
                </a:solidFill>
                <a:latin typeface="Aptos Display"/>
              </a:rPr>
              <a:t> responde con datos: si tras tu justificación la mayoría niega, el problema es el momento o el texto.</a:t>
            </a:r>
          </a:p>
        </p:txBody>
      </p:sp>
      <p:sp>
        <p:nvSpPr>
          <p:cNvPr id="10" name="Rounded Rectangle 9"/>
          <p:cNvSpPr/>
          <p:nvPr/>
        </p:nvSpPr>
        <p:spPr>
          <a:xfrm>
            <a:off x="566928" y="3329722"/>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68096" y="3585754"/>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3841786"/>
            <a:ext cx="2130552" cy="2284693"/>
          </a:xfrm>
          <a:prstGeom prst="rect">
            <a:avLst/>
          </a:prstGeom>
          <a:noFill/>
        </p:spPr>
        <p:txBody>
          <a:bodyPr wrap="square" anchor="t" lIns="0" rIns="0" tIns="0" bIns="0">
            <a:spAutoFit/>
          </a:bodyPr>
          <a:lstStyle/>
          <a:p>
            <a:pPr algn="l"/>
            <a:r>
              <a:rPr sz="1986" b="1">
                <a:solidFill>
                  <a:srgbClr val="0E2841"/>
                </a:solidFill>
                <a:latin typeface="Aptos Display"/>
              </a:rPr>
              <a:t>Crash-free ≥ 99,5 %</a:t>
            </a:r>
          </a:p>
          <a:p>
            <a:pPr algn="l">
              <a:lnSpc>
                <a:spcPct val="120000"/>
              </a:lnSpc>
              <a:spcBef>
                <a:spcPts val="700"/>
              </a:spcBef>
            </a:pPr>
            <a:r>
              <a:rPr sz="1518" b="0">
                <a:solidFill>
                  <a:srgbClr val="33475B"/>
                </a:solidFill>
                <a:latin typeface="Aptos"/>
              </a:rPr>
              <a:t>en sesiones y usuarios; caer por debajo dispara el rollback</a:t>
            </a:r>
          </a:p>
        </p:txBody>
      </p:sp>
      <p:sp>
        <p:nvSpPr>
          <p:cNvPr id="13" name="Rounded Rectangle 12"/>
          <p:cNvSpPr/>
          <p:nvPr/>
        </p:nvSpPr>
        <p:spPr>
          <a:xfrm>
            <a:off x="3410712" y="3329722"/>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11880" y="3585754"/>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11880" y="3841786"/>
            <a:ext cx="2130552" cy="2284693"/>
          </a:xfrm>
          <a:prstGeom prst="rect">
            <a:avLst/>
          </a:prstGeom>
          <a:noFill/>
        </p:spPr>
        <p:txBody>
          <a:bodyPr wrap="square" anchor="t" lIns="0" rIns="0" tIns="0" bIns="0">
            <a:spAutoFit/>
          </a:bodyPr>
          <a:lstStyle/>
          <a:p>
            <a:pPr algn="l"/>
            <a:r>
              <a:rPr sz="1986" b="1">
                <a:solidFill>
                  <a:srgbClr val="0E2841"/>
                </a:solidFill>
                <a:latin typeface="Aptos Display"/>
              </a:rPr>
              <a:t>Trazas legibles</a:t>
            </a:r>
          </a:p>
          <a:p>
            <a:pPr algn="l">
              <a:lnSpc>
                <a:spcPct val="120000"/>
              </a:lnSpc>
              <a:spcBef>
                <a:spcPts val="700"/>
              </a:spcBef>
            </a:pPr>
            <a:r>
              <a:rPr sz="1518" b="0">
                <a:solidFill>
                  <a:srgbClr val="33475B"/>
                </a:solidFill>
                <a:latin typeface="Aptos"/>
              </a:rPr>
              <a:t>mapping.txt de R8, dSYM de iOS y source maps ocultos de Angular</a:t>
            </a:r>
          </a:p>
        </p:txBody>
      </p:sp>
      <p:sp>
        <p:nvSpPr>
          <p:cNvPr id="16" name="Rounded Rectangle 15"/>
          <p:cNvSpPr/>
          <p:nvPr/>
        </p:nvSpPr>
        <p:spPr>
          <a:xfrm>
            <a:off x="6254496" y="3329722"/>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55664" y="3585754"/>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5664" y="3841786"/>
            <a:ext cx="2130552" cy="2284693"/>
          </a:xfrm>
          <a:prstGeom prst="rect">
            <a:avLst/>
          </a:prstGeom>
          <a:noFill/>
        </p:spPr>
        <p:txBody>
          <a:bodyPr wrap="square" anchor="t" lIns="0" rIns="0" tIns="0" bIns="0">
            <a:spAutoFit/>
          </a:bodyPr>
          <a:lstStyle/>
          <a:p>
            <a:pPr algn="l"/>
            <a:r>
              <a:rPr sz="1986" b="1">
                <a:solidFill>
                  <a:srgbClr val="0E2841"/>
                </a:solidFill>
                <a:latin typeface="Aptos Display"/>
              </a:rPr>
              <a:t>Analítica sin PII</a:t>
            </a:r>
          </a:p>
          <a:p>
            <a:pPr algn="l">
              <a:lnSpc>
                <a:spcPct val="120000"/>
              </a:lnSpc>
              <a:spcBef>
                <a:spcPts val="700"/>
              </a:spcBef>
            </a:pPr>
            <a:r>
              <a:rPr sz="1518" b="0">
                <a:solidFill>
                  <a:srgbClr val="33475B"/>
                </a:solidFill>
                <a:latin typeface="Aptos"/>
              </a:rPr>
              <a:t>eventos definidos: </a:t>
            </a:r>
            <a:r>
              <a:rPr sz="1427" b="0">
                <a:solidFill>
                  <a:srgbClr val="156082"/>
                </a:solidFill>
                <a:latin typeface="Consolas"/>
              </a:rPr>
              <a:t>visita_registrada</a:t>
            </a:r>
            <a:r>
              <a:rPr sz="1518" b="0">
                <a:solidFill>
                  <a:srgbClr val="33475B"/>
                </a:solidFill>
                <a:latin typeface="Aptos"/>
              </a:rPr>
              <a:t>, </a:t>
            </a:r>
            <a:r>
              <a:rPr sz="1427" b="0">
                <a:solidFill>
                  <a:srgbClr val="156082"/>
                </a:solidFill>
                <a:latin typeface="Consolas"/>
              </a:rPr>
              <a:t>permiso_respondido</a:t>
            </a:r>
          </a:p>
        </p:txBody>
      </p:sp>
      <p:sp>
        <p:nvSpPr>
          <p:cNvPr id="19" name="Rounded Rectangle 18"/>
          <p:cNvSpPr/>
          <p:nvPr/>
        </p:nvSpPr>
        <p:spPr>
          <a:xfrm>
            <a:off x="9098280" y="3329722"/>
            <a:ext cx="2532888"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299448" y="3585754"/>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99448" y="3841786"/>
            <a:ext cx="2130552" cy="2284693"/>
          </a:xfrm>
          <a:prstGeom prst="rect">
            <a:avLst/>
          </a:prstGeom>
          <a:noFill/>
        </p:spPr>
        <p:txBody>
          <a:bodyPr wrap="square" anchor="t" lIns="0" rIns="0" tIns="0" bIns="0">
            <a:spAutoFit/>
          </a:bodyPr>
          <a:lstStyle/>
          <a:p>
            <a:pPr algn="l"/>
            <a:r>
              <a:rPr sz="1986" b="1">
                <a:solidFill>
                  <a:srgbClr val="0E2841"/>
                </a:solidFill>
                <a:latin typeface="Aptos Display"/>
              </a:rPr>
              <a:t>Banderas remotas</a:t>
            </a:r>
          </a:p>
          <a:p>
            <a:pPr algn="l">
              <a:lnSpc>
                <a:spcPct val="120000"/>
              </a:lnSpc>
              <a:spcBef>
                <a:spcPts val="700"/>
              </a:spcBef>
            </a:pPr>
            <a:r>
              <a:rPr sz="1518" b="0">
                <a:solidFill>
                  <a:srgbClr val="33475B"/>
                </a:solidFill>
                <a:latin typeface="Aptos"/>
              </a:rPr>
              <a:t>función riesgosa apagada por defecto, con dueño y fecha de retiro</a:t>
            </a:r>
          </a:p>
        </p:txBody>
      </p:sp>
      <p:sp>
        <p:nvSpPr>
          <p:cNvPr id="22" name="TextBox 21"/>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23" name="TextBox 22"/>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42 / 45</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548640"/>
            <a:ext cx="9052560" cy="822960"/>
          </a:xfrm>
          <a:prstGeom prst="rect">
            <a:avLst/>
          </a:prstGeom>
          <a:noFill/>
        </p:spPr>
        <p:txBody>
          <a:bodyPr wrap="square" anchor="t" lIns="0" rIns="0" tIns="0" bIns="0">
            <a:spAutoFit/>
          </a:bodyPr>
          <a:lstStyle/>
          <a:p>
            <a:pPr algn="l"/>
            <a:r>
              <a:rPr sz="2200" b="1">
                <a:solidFill>
                  <a:srgbClr val="0E2841"/>
                </a:solidFill>
                <a:latin typeface="Aptos Display"/>
              </a:rPr>
              <a:t>La 1.4.0 va en el 20 % del despliegue escalonado y las sesiones sin crash caen a 98,7 %. ¿Qué se hace?</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Volver a publicar el AAB de la 1.3.2 con su </a:t>
            </a:r>
            <a:r>
              <a:rPr sz="1974" b="0">
                <a:solidFill>
                  <a:srgbClr val="156082"/>
                </a:solidFill>
                <a:latin typeface="Consolas"/>
              </a:rPr>
              <a:t>versionCode</a:t>
            </a:r>
            <a:r>
              <a:rPr sz="2100" b="0">
                <a:solidFill>
                  <a:srgbClr val="0E2841"/>
                </a:solidFill>
                <a:latin typeface="Aptos"/>
              </a:rPr>
              <a:t> original</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Esperar a llegar al 100 % para tener datos suficientes antes de actuar</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Detener el despliegue y publicar una corrección con un build mayor</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Pedir a los usuarios afectados que desinstalen y reinstalen la app</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43 / 45</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08</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Errores comunes y cierre</a:t>
            </a:r>
          </a:p>
        </p:txBody>
      </p:sp>
      <p:sp>
        <p:nvSpPr>
          <p:cNvPr id="5" name="TextBox 4"/>
          <p:cNvSpPr txBox="1"/>
          <p:nvPr/>
        </p:nvSpPr>
        <p:spPr>
          <a:xfrm>
            <a:off x="1828800" y="4617720"/>
            <a:ext cx="8503920" cy="731520"/>
          </a:xfrm>
          <a:prstGeom prst="rect">
            <a:avLst/>
          </a:prstGeom>
          <a:noFill/>
        </p:spPr>
        <p:txBody>
          <a:bodyPr wrap="square" anchor="t" lIns="0" rIns="0" tIns="0" bIns="0">
            <a:spAutoFit/>
          </a:bodyPr>
          <a:lstStyle/>
          <a:p>
            <a:pPr algn="ctr"/>
            <a:r>
              <a:rPr sz="1600" b="0">
                <a:solidFill>
                  <a:srgbClr val="E8E8E8"/>
                </a:solidFill>
                <a:latin typeface="Aptos"/>
              </a:rPr>
              <a:t>Lo que se lleva a H3 y al Documento ABP</a:t>
            </a:r>
          </a:p>
        </p:txBody>
      </p:sp>
      <p:pic>
        <p:nvPicPr>
          <p:cNvPr id="6" name="Picture 5"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NATIVO, CALIDAD Y DESPLIEGUE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Diez errores que el marco ya prevé</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572768"/>
          <a:ext cx="11064240" cy="4754871"/>
        </p:xfrm>
        <a:graphic>
          <a:graphicData uri="http://schemas.openxmlformats.org/drawingml/2006/table">
            <a:tbl>
              <a:tblPr firstRow="1">
                <a:tableStyleId>{5C22544A-7EE6-4342-B048-85BDC9FD1C3A}</a:tableStyleId>
              </a:tblPr>
              <a:tblGrid>
                <a:gridCol w="5532120"/>
                <a:gridCol w="5532120"/>
              </a:tblGrid>
              <a:tr h="432261">
                <a:tc>
                  <a:txBody>
                    <a:bodyPr wrap="square"/>
                    <a:lstStyle/>
                    <a:p>
                      <a:r>
                        <a:rPr sz="1363" b="1">
                          <a:solidFill>
                            <a:srgbClr val="FFFFFF"/>
                          </a:solidFill>
                          <a:latin typeface="Aptos"/>
                        </a:rPr>
                        <a:t>Error</a:t>
                      </a:r>
                    </a:p>
                  </a:txBody>
                  <a:tcPr anchor="ctr" marL="146304" marR="146304">
                    <a:solidFill>
                      <a:srgbClr val="156082"/>
                    </a:solidFill>
                  </a:tcPr>
                </a:tc>
                <a:tc>
                  <a:txBody>
                    <a:bodyPr wrap="square"/>
                    <a:lstStyle/>
                    <a:p>
                      <a:r>
                        <a:rPr sz="1363" b="1">
                          <a:solidFill>
                            <a:srgbClr val="FFFFFF"/>
                          </a:solidFill>
                          <a:latin typeface="Aptos"/>
                        </a:rPr>
                        <a:t>Lo que provoca</a:t>
                      </a:r>
                    </a:p>
                  </a:txBody>
                  <a:tcPr anchor="ctr" marL="146304" marR="146304">
                    <a:solidFill>
                      <a:srgbClr val="156082"/>
                    </a:solidFill>
                  </a:tcPr>
                </a:tc>
              </a:tr>
              <a:tr h="432261">
                <a:tc>
                  <a:txBody>
                    <a:bodyPr wrap="square"/>
                    <a:lstStyle/>
                    <a:p>
                      <a:r>
                        <a:rPr sz="1272" b="1">
                          <a:solidFill>
                            <a:srgbClr val="33475B"/>
                          </a:solidFill>
                          <a:latin typeface="Aptos"/>
                        </a:rPr>
                        <a:t>Importar </a:t>
                      </a:r>
                      <a:r>
                        <a:rPr sz="1196" b="1">
                          <a:solidFill>
                            <a:srgbClr val="156082"/>
                          </a:solidFill>
                          <a:latin typeface="Consolas"/>
                        </a:rPr>
                        <a:t>@capacitor/*</a:t>
                      </a:r>
                      <a:r>
                        <a:rPr sz="1272" b="1">
                          <a:solidFill>
                            <a:srgbClr val="33475B"/>
                          </a:solidFill>
                          <a:latin typeface="Aptos"/>
                        </a:rPr>
                        <a:t> en dominio o componente</a:t>
                      </a:r>
                    </a:p>
                  </a:txBody>
                  <a:tcPr anchor="ctr" marL="146304" marR="146304">
                    <a:solidFill>
                      <a:srgbClr val="FFFFFF"/>
                    </a:solidFill>
                  </a:tcPr>
                </a:tc>
                <a:tc>
                  <a:txBody>
                    <a:bodyPr wrap="square"/>
                    <a:lstStyle/>
                    <a:p>
                      <a:r>
                        <a:rPr sz="1272" b="0">
                          <a:solidFill>
                            <a:srgbClr val="33475B"/>
                          </a:solidFill>
                          <a:latin typeface="Aptos"/>
                        </a:rPr>
                        <a:t>Pruebas que necesitan teléfono; cambios en cascada</a:t>
                      </a:r>
                    </a:p>
                  </a:txBody>
                  <a:tcPr anchor="ctr" marL="146304" marR="146304">
                    <a:solidFill>
                      <a:srgbClr val="FFFFFF"/>
                    </a:solidFill>
                  </a:tcPr>
                </a:tc>
              </a:tr>
              <a:tr h="432261">
                <a:tc>
                  <a:txBody>
                    <a:bodyPr wrap="square"/>
                    <a:lstStyle/>
                    <a:p>
                      <a:r>
                        <a:rPr sz="1272" b="1">
                          <a:solidFill>
                            <a:srgbClr val="33475B"/>
                          </a:solidFill>
                          <a:latin typeface="Aptos"/>
                        </a:rPr>
                        <a:t>Pedir todos los permisos al arrancar</a:t>
                      </a:r>
                    </a:p>
                  </a:txBody>
                  <a:tcPr anchor="ctr" marL="146304" marR="146304">
                    <a:solidFill>
                      <a:srgbClr val="F4F7FA"/>
                    </a:solidFill>
                  </a:tcPr>
                </a:tc>
                <a:tc>
                  <a:txBody>
                    <a:bodyPr wrap="square"/>
                    <a:lstStyle/>
                    <a:p>
                      <a:r>
                        <a:rPr sz="1272" b="0">
                          <a:solidFill>
                            <a:srgbClr val="33475B"/>
                          </a:solidFill>
                          <a:latin typeface="Aptos"/>
                        </a:rPr>
                        <a:t>Negativas por reflejo y observaciones de la tienda</a:t>
                      </a:r>
                    </a:p>
                  </a:txBody>
                  <a:tcPr anchor="ctr" marL="146304" marR="146304">
                    <a:solidFill>
                      <a:srgbClr val="F4F7FA"/>
                    </a:solidFill>
                  </a:tcPr>
                </a:tc>
              </a:tr>
              <a:tr h="432261">
                <a:tc>
                  <a:txBody>
                    <a:bodyPr wrap="square"/>
                    <a:lstStyle/>
                    <a:p>
                      <a:r>
                        <a:rPr sz="1272" b="1">
                          <a:solidFill>
                            <a:srgbClr val="33475B"/>
                          </a:solidFill>
                          <a:latin typeface="Aptos"/>
                        </a:rPr>
                        <a:t>Bucle de diálogos tras negativa definitiva</a:t>
                      </a:r>
                    </a:p>
                  </a:txBody>
                  <a:tcPr anchor="ctr" marL="146304" marR="146304">
                    <a:solidFill>
                      <a:srgbClr val="FFFFFF"/>
                    </a:solidFill>
                  </a:tcPr>
                </a:tc>
                <a:tc>
                  <a:txBody>
                    <a:bodyPr wrap="square"/>
                    <a:lstStyle/>
                    <a:p>
                      <a:r>
                        <a:rPr sz="1272" b="0">
                          <a:solidFill>
                            <a:srgbClr val="33475B"/>
                          </a:solidFill>
                          <a:latin typeface="Aptos"/>
                        </a:rPr>
                        <a:t>El sistema ya no pregunta: la app parece rota</a:t>
                      </a:r>
                    </a:p>
                  </a:txBody>
                  <a:tcPr anchor="ctr" marL="146304" marR="146304">
                    <a:solidFill>
                      <a:srgbClr val="FFFFFF"/>
                    </a:solidFill>
                  </a:tcPr>
                </a:tc>
              </a:tr>
              <a:tr h="432261">
                <a:tc>
                  <a:txBody>
                    <a:bodyPr wrap="square"/>
                    <a:lstStyle/>
                    <a:p>
                      <a:r>
                        <a:rPr sz="1272" b="1">
                          <a:solidFill>
                            <a:srgbClr val="33475B"/>
                          </a:solidFill>
                          <a:latin typeface="Aptos"/>
                        </a:rPr>
                        <a:t>Token en </a:t>
                      </a:r>
                      <a:r>
                        <a:rPr sz="1196" b="1">
                          <a:solidFill>
                            <a:srgbClr val="156082"/>
                          </a:solidFill>
                          <a:latin typeface="Consolas"/>
                        </a:rPr>
                        <a:t>Preferences</a:t>
                      </a:r>
                      <a:r>
                        <a:rPr sz="1272" b="1">
                          <a:solidFill>
                            <a:srgbClr val="33475B"/>
                          </a:solidFill>
                          <a:latin typeface="Aptos"/>
                        </a:rPr>
                        <a:t> o </a:t>
                      </a:r>
                      <a:r>
                        <a:rPr sz="1196" b="1">
                          <a:solidFill>
                            <a:srgbClr val="156082"/>
                          </a:solidFill>
                          <a:latin typeface="Consolas"/>
                        </a:rPr>
                        <a:t>localStorage</a:t>
                      </a:r>
                    </a:p>
                  </a:txBody>
                  <a:tcPr anchor="ctr" marL="146304" marR="146304">
                    <a:solidFill>
                      <a:srgbClr val="F4F7FA"/>
                    </a:solidFill>
                  </a:tcPr>
                </a:tc>
                <a:tc>
                  <a:txBody>
                    <a:bodyPr wrap="square"/>
                    <a:lstStyle/>
                    <a:p>
                      <a:r>
                        <a:rPr sz="1272" b="0">
                          <a:solidFill>
                            <a:srgbClr val="33475B"/>
                          </a:solidFill>
                          <a:latin typeface="Aptos"/>
                        </a:rPr>
                        <a:t>Texto plano en el equipo</a:t>
                      </a:r>
                    </a:p>
                  </a:txBody>
                  <a:tcPr anchor="ctr" marL="146304" marR="146304">
                    <a:solidFill>
                      <a:srgbClr val="F4F7FA"/>
                    </a:solidFill>
                  </a:tcPr>
                </a:tc>
              </a:tr>
              <a:tr h="432261">
                <a:tc>
                  <a:txBody>
                    <a:bodyPr wrap="square"/>
                    <a:lstStyle/>
                    <a:p>
                      <a:r>
                        <a:rPr sz="1272" b="1">
                          <a:solidFill>
                            <a:srgbClr val="33475B"/>
                          </a:solidFill>
                          <a:latin typeface="Aptos"/>
                        </a:rPr>
                        <a:t>Secreto en </a:t>
                      </a:r>
                      <a:r>
                        <a:rPr sz="1196" b="1">
                          <a:solidFill>
                            <a:srgbClr val="156082"/>
                          </a:solidFill>
                          <a:latin typeface="Consolas"/>
                        </a:rPr>
                        <a:t>environment.prod.ts</a:t>
                      </a:r>
                    </a:p>
                  </a:txBody>
                  <a:tcPr anchor="ctr" marL="146304" marR="146304">
                    <a:solidFill>
                      <a:srgbClr val="FFFFFF"/>
                    </a:solidFill>
                  </a:tcPr>
                </a:tc>
                <a:tc>
                  <a:txBody>
                    <a:bodyPr wrap="square"/>
                    <a:lstStyle/>
                    <a:p>
                      <a:r>
                        <a:rPr sz="1272" b="0">
                          <a:solidFill>
                            <a:srgbClr val="33475B"/>
                          </a:solidFill>
                          <a:latin typeface="Aptos"/>
                        </a:rPr>
                        <a:t>Se extrae del APK en segundos</a:t>
                      </a:r>
                    </a:p>
                  </a:txBody>
                  <a:tcPr anchor="ctr" marL="146304" marR="146304">
                    <a:solidFill>
                      <a:srgbClr val="FFFFFF"/>
                    </a:solidFill>
                  </a:tcPr>
                </a:tc>
              </a:tr>
              <a:tr h="432261">
                <a:tc>
                  <a:txBody>
                    <a:bodyPr wrap="square"/>
                    <a:lstStyle/>
                    <a:p>
                      <a:r>
                        <a:rPr sz="1272" b="1">
                          <a:solidFill>
                            <a:srgbClr val="33475B"/>
                          </a:solidFill>
                          <a:latin typeface="Aptos"/>
                        </a:rPr>
                        <a:t>Fotos en base64 dentro del estado</a:t>
                      </a:r>
                    </a:p>
                  </a:txBody>
                  <a:tcPr anchor="ctr" marL="146304" marR="146304">
                    <a:solidFill>
                      <a:srgbClr val="F4F7FA"/>
                    </a:solidFill>
                  </a:tcPr>
                </a:tc>
                <a:tc>
                  <a:txBody>
                    <a:bodyPr wrap="square"/>
                    <a:lstStyle/>
                    <a:p>
                      <a:r>
                        <a:rPr sz="1272" b="0">
                          <a:solidFill>
                            <a:srgbClr val="33475B"/>
                          </a:solidFill>
                          <a:latin typeface="Aptos"/>
                        </a:rPr>
                        <a:t>Memoria disparada y scroll a saltos</a:t>
                      </a:r>
                    </a:p>
                  </a:txBody>
                  <a:tcPr anchor="ctr" marL="146304" marR="146304">
                    <a:solidFill>
                      <a:srgbClr val="F4F7FA"/>
                    </a:solidFill>
                  </a:tcPr>
                </a:tc>
              </a:tr>
              <a:tr h="432261">
                <a:tc>
                  <a:txBody>
                    <a:bodyPr wrap="square"/>
                    <a:lstStyle/>
                    <a:p>
                      <a:r>
                        <a:rPr sz="1272" b="1">
                          <a:solidFill>
                            <a:srgbClr val="33475B"/>
                          </a:solidFill>
                          <a:latin typeface="Aptos"/>
                        </a:rPr>
                        <a:t>Simular el plugin con utilidades del runner</a:t>
                      </a:r>
                    </a:p>
                  </a:txBody>
                  <a:tcPr anchor="ctr" marL="146304" marR="146304">
                    <a:solidFill>
                      <a:srgbClr val="FFFFFF"/>
                    </a:solidFill>
                  </a:tcPr>
                </a:tc>
                <a:tc>
                  <a:txBody>
                    <a:bodyPr wrap="square"/>
                    <a:lstStyle/>
                    <a:p>
                      <a:r>
                        <a:rPr sz="1272" b="0">
                          <a:solidFill>
                            <a:srgbClr val="33475B"/>
                          </a:solidFill>
                          <a:latin typeface="Aptos"/>
                        </a:rPr>
                        <a:t>Pruebas atadas a Jasmine o Vitest</a:t>
                      </a:r>
                    </a:p>
                  </a:txBody>
                  <a:tcPr anchor="ctr" marL="146304" marR="146304">
                    <a:solidFill>
                      <a:srgbClr val="FFFFFF"/>
                    </a:solidFill>
                  </a:tcPr>
                </a:tc>
              </a:tr>
              <a:tr h="432261">
                <a:tc>
                  <a:txBody>
                    <a:bodyPr wrap="square"/>
                    <a:lstStyle/>
                    <a:p>
                      <a:r>
                        <a:rPr sz="1272" b="1">
                          <a:solidFill>
                            <a:srgbClr val="33475B"/>
                          </a:solidFill>
                          <a:latin typeface="Aptos"/>
                        </a:rPr>
                        <a:t>Perseguir 100 % de cobertura global</a:t>
                      </a:r>
                    </a:p>
                  </a:txBody>
                  <a:tcPr anchor="ctr" marL="146304" marR="146304">
                    <a:solidFill>
                      <a:srgbClr val="F4F7FA"/>
                    </a:solidFill>
                  </a:tcPr>
                </a:tc>
                <a:tc>
                  <a:txBody>
                    <a:bodyPr wrap="square"/>
                    <a:lstStyle/>
                    <a:p>
                      <a:r>
                        <a:rPr sz="1272" b="0">
                          <a:solidFill>
                            <a:srgbClr val="33475B"/>
                          </a:solidFill>
                          <a:latin typeface="Aptos"/>
                        </a:rPr>
                        <a:t>Lo exigible es 80 % en dominio y ViewModels</a:t>
                      </a:r>
                    </a:p>
                  </a:txBody>
                  <a:tcPr anchor="ctr" marL="146304" marR="146304">
                    <a:solidFill>
                      <a:srgbClr val="F4F7FA"/>
                    </a:solidFill>
                  </a:tcPr>
                </a:tc>
              </a:tr>
              <a:tr h="432261">
                <a:tc>
                  <a:txBody>
                    <a:bodyPr wrap="square"/>
                    <a:lstStyle/>
                    <a:p>
                      <a:r>
                        <a:rPr sz="1196" b="1">
                          <a:solidFill>
                            <a:srgbClr val="156082"/>
                          </a:solidFill>
                          <a:latin typeface="Consolas"/>
                        </a:rPr>
                        <a:t>server.url</a:t>
                      </a:r>
                      <a:r>
                        <a:rPr sz="1272" b="1">
                          <a:solidFill>
                            <a:srgbClr val="33475B"/>
                          </a:solidFill>
                          <a:latin typeface="Aptos"/>
                        </a:rPr>
                        <a:t> o </a:t>
                      </a:r>
                      <a:r>
                        <a:rPr sz="1196" b="1">
                          <a:solidFill>
                            <a:srgbClr val="156082"/>
                          </a:solidFill>
                          <a:latin typeface="Consolas"/>
                        </a:rPr>
                        <a:t>cleartext</a:t>
                      </a:r>
                      <a:r>
                        <a:rPr sz="1272" b="1">
                          <a:solidFill>
                            <a:srgbClr val="33475B"/>
                          </a:solidFill>
                          <a:latin typeface="Aptos"/>
                        </a:rPr>
                        <a:t> en el release</a:t>
                      </a:r>
                    </a:p>
                  </a:txBody>
                  <a:tcPr anchor="ctr" marL="146304" marR="146304">
                    <a:solidFill>
                      <a:srgbClr val="FFFFFF"/>
                    </a:solidFill>
                  </a:tcPr>
                </a:tc>
                <a:tc>
                  <a:txBody>
                    <a:bodyPr wrap="square"/>
                    <a:lstStyle/>
                    <a:p>
                      <a:r>
                        <a:rPr sz="1272" b="0">
                          <a:solidFill>
                            <a:srgbClr val="33475B"/>
                          </a:solidFill>
                          <a:latin typeface="Aptos"/>
                        </a:rPr>
                        <a:t>La app apunta al portátil o acepta HTTP plano</a:t>
                      </a:r>
                    </a:p>
                  </a:txBody>
                  <a:tcPr anchor="ctr" marL="146304" marR="146304">
                    <a:solidFill>
                      <a:srgbClr val="FFFFFF"/>
                    </a:solidFill>
                  </a:tcPr>
                </a:tc>
              </a:tr>
              <a:tr h="432261">
                <a:tc>
                  <a:txBody>
                    <a:bodyPr wrap="square"/>
                    <a:lstStyle/>
                    <a:p>
                      <a:r>
                        <a:rPr sz="1272" b="1">
                          <a:solidFill>
                            <a:srgbClr val="33475B"/>
                          </a:solidFill>
                          <a:latin typeface="Aptos"/>
                        </a:rPr>
                        <a:t>Keystore en el repo, build repetido</a:t>
                      </a:r>
                    </a:p>
                  </a:txBody>
                  <a:tcPr anchor="ctr" marL="146304" marR="146304">
                    <a:solidFill>
                      <a:srgbClr val="F4F7FA"/>
                    </a:solidFill>
                  </a:tcPr>
                </a:tc>
                <a:tc>
                  <a:txBody>
                    <a:bodyPr wrap="square"/>
                    <a:lstStyle/>
                    <a:p>
                      <a:r>
                        <a:rPr sz="1272" b="0">
                          <a:solidFill>
                            <a:srgbClr val="33475B"/>
                          </a:solidFill>
                          <a:latin typeface="Aptos"/>
                        </a:rPr>
                        <a:t>Identidad expuesta y subida rechazada</a:t>
                      </a:r>
                    </a:p>
                  </a:txBody>
                  <a:tcPr anchor="ctr" marL="146304" marR="146304">
                    <a:solidFill>
                      <a:srgbClr val="F4F7FA"/>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44 / 45</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3 · NATIVO, CALIDAD Y DESPLIEGUE · POSGRADO</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Tres ideas para llevarte</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55578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446058"/>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555786"/>
          </a:xfrm>
          <a:prstGeom prst="rect">
            <a:avLst/>
          </a:prstGeom>
          <a:noFill/>
        </p:spPr>
        <p:txBody>
          <a:bodyPr wrap="square" anchor="ctr" lIns="0" rIns="0" tIns="0" bIns="0">
            <a:spAutoFit/>
          </a:bodyPr>
          <a:lstStyle/>
          <a:p>
            <a:pPr algn="l">
              <a:lnSpc>
                <a:spcPct val="125000"/>
              </a:lnSpc>
            </a:pPr>
            <a:r>
              <a:rPr sz="2570" b="1">
                <a:solidFill>
                  <a:srgbClr val="0E2841"/>
                </a:solidFill>
                <a:latin typeface="Aptos Display"/>
              </a:rPr>
              <a:t>H3 (dom 1-nov): app desplegada + memoria con 04 Calidad y 05 Release. Documento ABP (dom 8-nov): marco 00–05 con evidencia.</a:t>
            </a:r>
          </a:p>
        </p:txBody>
      </p:sp>
      <p:sp>
        <p:nvSpPr>
          <p:cNvPr id="10" name="Rounded Rectangle 9"/>
          <p:cNvSpPr/>
          <p:nvPr/>
        </p:nvSpPr>
        <p:spPr>
          <a:xfrm>
            <a:off x="566928" y="3329722"/>
            <a:ext cx="3480816"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68096" y="3585754"/>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3841786"/>
            <a:ext cx="3078480" cy="2284693"/>
          </a:xfrm>
          <a:prstGeom prst="rect">
            <a:avLst/>
          </a:prstGeom>
          <a:noFill/>
        </p:spPr>
        <p:txBody>
          <a:bodyPr wrap="square" anchor="t" lIns="0" rIns="0" tIns="0" bIns="0">
            <a:spAutoFit/>
          </a:bodyPr>
          <a:lstStyle/>
          <a:p>
            <a:pPr algn="l"/>
            <a:r>
              <a:rPr sz="1986" b="1">
                <a:solidFill>
                  <a:srgbClr val="0E2841"/>
                </a:solidFill>
                <a:latin typeface="Aptos Display"/>
              </a:rPr>
              <a:t>Los plugins entran por puertos</a:t>
            </a:r>
          </a:p>
          <a:p>
            <a:pPr algn="l">
              <a:lnSpc>
                <a:spcPct val="120000"/>
              </a:lnSpc>
              <a:spcBef>
                <a:spcPts val="700"/>
              </a:spcBef>
            </a:pPr>
            <a:r>
              <a:rPr sz="1518" b="0">
                <a:solidFill>
                  <a:srgbClr val="33475B"/>
                </a:solidFill>
                <a:latin typeface="Aptos"/>
              </a:rPr>
              <a:t>el dominio no conoce Capacitor y se prueba sin teléfono</a:t>
            </a:r>
          </a:p>
        </p:txBody>
      </p:sp>
      <p:sp>
        <p:nvSpPr>
          <p:cNvPr id="13" name="Rounded Rectangle 12"/>
          <p:cNvSpPr/>
          <p:nvPr/>
        </p:nvSpPr>
        <p:spPr>
          <a:xfrm>
            <a:off x="4358640" y="3329722"/>
            <a:ext cx="3480816"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59808" y="3585754"/>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59808" y="3841786"/>
            <a:ext cx="3078480" cy="2284693"/>
          </a:xfrm>
          <a:prstGeom prst="rect">
            <a:avLst/>
          </a:prstGeom>
          <a:noFill/>
        </p:spPr>
        <p:txBody>
          <a:bodyPr wrap="square" anchor="t" lIns="0" rIns="0" tIns="0" bIns="0">
            <a:spAutoFit/>
          </a:bodyPr>
          <a:lstStyle/>
          <a:p>
            <a:pPr algn="l"/>
            <a:r>
              <a:rPr sz="1986" b="1">
                <a:solidFill>
                  <a:srgbClr val="0E2841"/>
                </a:solidFill>
                <a:latin typeface="Aptos Display"/>
              </a:rPr>
              <a:t>El binario es público</a:t>
            </a:r>
          </a:p>
          <a:p>
            <a:pPr algn="l">
              <a:lnSpc>
                <a:spcPct val="120000"/>
              </a:lnSpc>
              <a:spcBef>
                <a:spcPts val="700"/>
              </a:spcBef>
            </a:pPr>
            <a:r>
              <a:rPr sz="1518" b="0">
                <a:solidFill>
                  <a:srgbClr val="33475B"/>
                </a:solidFill>
                <a:latin typeface="Aptos"/>
              </a:rPr>
              <a:t>permisos a tiempo, secretos fuera, tokens en Keychain / Keystore</a:t>
            </a:r>
          </a:p>
        </p:txBody>
      </p:sp>
      <p:sp>
        <p:nvSpPr>
          <p:cNvPr id="16" name="Rounded Rectangle 15"/>
          <p:cNvSpPr/>
          <p:nvPr/>
        </p:nvSpPr>
        <p:spPr>
          <a:xfrm>
            <a:off x="8150352" y="3329722"/>
            <a:ext cx="3480816"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51520" y="3585754"/>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51520" y="3841786"/>
            <a:ext cx="3078480" cy="2284693"/>
          </a:xfrm>
          <a:prstGeom prst="rect">
            <a:avLst/>
          </a:prstGeom>
          <a:noFill/>
        </p:spPr>
        <p:txBody>
          <a:bodyPr wrap="square" anchor="t" lIns="0" rIns="0" tIns="0" bIns="0">
            <a:spAutoFit/>
          </a:bodyPr>
          <a:lstStyle/>
          <a:p>
            <a:pPr algn="l"/>
            <a:r>
              <a:rPr sz="1986" b="1">
                <a:solidFill>
                  <a:srgbClr val="0E2841"/>
                </a:solidFill>
                <a:latin typeface="Aptos Display"/>
              </a:rPr>
              <a:t>La calidad tiene números</a:t>
            </a:r>
          </a:p>
          <a:p>
            <a:pPr algn="l">
              <a:lnSpc>
                <a:spcPct val="120000"/>
              </a:lnSpc>
              <a:spcBef>
                <a:spcPts val="700"/>
              </a:spcBef>
            </a:pPr>
            <a:r>
              <a:rPr sz="1518" b="0">
                <a:solidFill>
                  <a:srgbClr val="33475B"/>
                </a:solidFill>
                <a:latin typeface="Aptos"/>
              </a:rPr>
              <a:t>presupuestos, 80 % en dominio y crash-free ≥ 99,5 %</a:t>
            </a:r>
          </a:p>
        </p:txBody>
      </p:sp>
      <p:sp>
        <p:nvSpPr>
          <p:cNvPr id="19" name="TextBox 1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Ingeniería para el Desarrollo Móvil [G1-2026B]  ·  Unidad 3</a:t>
            </a:r>
          </a:p>
        </p:txBody>
      </p:sp>
      <p:sp>
        <p:nvSpPr>
          <p:cNvPr id="20" name="TextBox 1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45 / 45</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Institucional-con-advertencia-Vigilado-Mineducacion-Blanco.png"/>
          <p:cNvPicPr>
            <a:picLocks noChangeAspect="1"/>
          </p:cNvPicPr>
          <p:nvPr/>
        </p:nvPicPr>
        <p:blipFill>
          <a:blip r:embed="rId2"/>
          <a:stretch>
            <a:fillRect/>
          </a:stretch>
        </p:blipFill>
        <p:spPr>
          <a:xfrm>
            <a:off x="5144780" y="914400"/>
            <a:ext cx="1902439" cy="1737360"/>
          </a:xfrm>
          <a:prstGeom prst="rect">
            <a:avLst/>
          </a:prstGeom>
        </p:spPr>
      </p:pic>
      <p:sp>
        <p:nvSpPr>
          <p:cNvPr id="4" name="TextBox 3"/>
          <p:cNvSpPr txBox="1"/>
          <p:nvPr/>
        </p:nvSpPr>
        <p:spPr>
          <a:xfrm>
            <a:off x="457200" y="3200400"/>
            <a:ext cx="11274552" cy="1097280"/>
          </a:xfrm>
          <a:prstGeom prst="rect">
            <a:avLst/>
          </a:prstGeom>
          <a:noFill/>
        </p:spPr>
        <p:txBody>
          <a:bodyPr wrap="square" anchor="t" lIns="0" rIns="0" tIns="0" bIns="0">
            <a:spAutoFit/>
          </a:bodyPr>
          <a:lstStyle/>
          <a:p>
            <a:pPr algn="ctr"/>
            <a:r>
              <a:rPr sz="5400" b="1">
                <a:solidFill>
                  <a:srgbClr val="FFFFFF"/>
                </a:solidFill>
                <a:latin typeface="Aptos Display"/>
              </a:rPr>
              <a:t>¿Preguntas?</a:t>
            </a:r>
          </a:p>
        </p:txBody>
      </p:sp>
      <p:sp>
        <p:nvSpPr>
          <p:cNvPr id="5" name="TextBox 4"/>
          <p:cNvSpPr txBox="1"/>
          <p:nvPr/>
        </p:nvSpPr>
        <p:spPr>
          <a:xfrm>
            <a:off x="457200" y="4709160"/>
            <a:ext cx="11274552" cy="457200"/>
          </a:xfrm>
          <a:prstGeom prst="rect">
            <a:avLst/>
          </a:prstGeom>
          <a:noFill/>
        </p:spPr>
        <p:txBody>
          <a:bodyPr wrap="square" anchor="t" lIns="0" rIns="0" tIns="0" bIns="0">
            <a:spAutoFit/>
          </a:bodyPr>
          <a:lstStyle/>
          <a:p>
            <a:pPr algn="ctr"/>
            <a:r>
              <a:rPr sz="1400" b="0">
                <a:solidFill>
                  <a:srgbClr val="E8E8E8"/>
                </a:solidFill>
                <a:latin typeface="Aptos"/>
              </a:rPr>
              <a:t>Jesús Ariel González Bonilla  ·  ariel5253@hotmail.com</a:t>
            </a: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c7b9d0d2-0928-4bc7-b1e7-d815d07dd502" xsi:nil="true"/>
    <lcf76f155ced4ddcb4097134ff3c332f xmlns="3b21ab7c-7e7a-493b-a43f-a219844d5b04">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76AC4B3079F3F14986B23BC4E8B1044F" ma:contentTypeVersion="16" ma:contentTypeDescription="Crear nuevo documento." ma:contentTypeScope="" ma:versionID="04f898694b3caf94c38805e82f5c0fb9">
  <xsd:schema xmlns:xsd="http://www.w3.org/2001/XMLSchema" xmlns:xs="http://www.w3.org/2001/XMLSchema" xmlns:p="http://schemas.microsoft.com/office/2006/metadata/properties" xmlns:ns2="3b21ab7c-7e7a-493b-a43f-a219844d5b04" xmlns:ns3="c7b9d0d2-0928-4bc7-b1e7-d815d07dd502" targetNamespace="http://schemas.microsoft.com/office/2006/metadata/properties" ma:root="true" ma:fieldsID="1d46ddd55854086af038f8f8e7145c9b" ns2:_="" ns3:_="">
    <xsd:import namespace="3b21ab7c-7e7a-493b-a43f-a219844d5b04"/>
    <xsd:import namespace="c7b9d0d2-0928-4bc7-b1e7-d815d07dd50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21ab7c-7e7a-493b-a43f-a219844d5b0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c63f703e-4260-42db-90e1-1bf1f8b4f728"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7b9d0d2-0928-4bc7-b1e7-d815d07dd502" elementFormDefault="qualified">
    <xsd:import namespace="http://schemas.microsoft.com/office/2006/documentManagement/types"/>
    <xsd:import namespace="http://schemas.microsoft.com/office/infopath/2007/PartnerControls"/>
    <xsd:element name="SharedWithUsers" ma:index="10"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talles de uso compartido" ma:internalName="SharedWithDetails" ma:readOnly="true">
      <xsd:simpleType>
        <xsd:restriction base="dms:Note">
          <xsd:maxLength value="255"/>
        </xsd:restriction>
      </xsd:simpleType>
    </xsd:element>
    <xsd:element name="TaxCatchAll" ma:index="14" nillable="true" ma:displayName="Taxonomy Catch All Column" ma:hidden="true" ma:list="{22966853-71d8-4c3c-a2a1-eb1a25e46692}" ma:internalName="TaxCatchAll" ma:showField="CatchAllData" ma:web="c7b9d0d2-0928-4bc7-b1e7-d815d07dd50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A55C560-F379-4979-BDAB-85ADD41BF196}">
  <ds:schemaRefs>
    <ds:schemaRef ds:uri="http://schemas.microsoft.com/office/2006/metadata/properties"/>
    <ds:schemaRef ds:uri="http://schemas.microsoft.com/office/infopath/2007/PartnerControls"/>
    <ds:schemaRef ds:uri="c7b9d0d2-0928-4bc7-b1e7-d815d07dd502"/>
    <ds:schemaRef ds:uri="3b21ab7c-7e7a-493b-a43f-a219844d5b04"/>
  </ds:schemaRefs>
</ds:datastoreItem>
</file>

<file path=customXml/itemProps2.xml><?xml version="1.0" encoding="utf-8"?>
<ds:datastoreItem xmlns:ds="http://schemas.openxmlformats.org/officeDocument/2006/customXml" ds:itemID="{5203D28F-282C-474C-8EAC-7F31992D2966}">
  <ds:schemaRefs>
    <ds:schemaRef ds:uri="http://schemas.microsoft.com/sharepoint/v3/contenttype/forms"/>
  </ds:schemaRefs>
</ds:datastoreItem>
</file>

<file path=customXml/itemProps3.xml><?xml version="1.0" encoding="utf-8"?>
<ds:datastoreItem xmlns:ds="http://schemas.openxmlformats.org/officeDocument/2006/customXml" ds:itemID="{10F9C096-F130-4ECE-8018-26CD4E103B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b21ab7c-7e7a-493b-a43f-a219844d5b04"/>
    <ds:schemaRef ds:uri="c7b9d0d2-0928-4bc7-b1e7-d815d07dd50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14</TotalTime>
  <Words>0</Words>
  <Application>Microsoft Office PowerPoint</Application>
  <PresentationFormat>Panorámica</PresentationFormat>
  <Paragraphs>0</Paragraphs>
  <Slides>3</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vt:i4>
      </vt:variant>
    </vt:vector>
  </HeadingPairs>
  <TitlesOfParts>
    <vt:vector size="7" baseType="lpstr">
      <vt:lpstr>Aptos</vt:lpstr>
      <vt:lpstr>Aptos Display</vt:lpstr>
      <vt:lpstr>Arial</vt:lpstr>
      <vt:lpstr>Tema de Office</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acomunicaciones</dc:creator>
  <cp:lastModifiedBy>Oficina de Comunicaciones</cp:lastModifiedBy>
  <cp:revision>6</cp:revision>
  <dcterms:created xsi:type="dcterms:W3CDTF">2026-01-26T14:49:45Z</dcterms:created>
  <dcterms:modified xsi:type="dcterms:W3CDTF">2026-02-13T20:05:23Z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0x01010076AC4B3079F3F14986B23BC4E8B1044F</vt:lpwstr>
  </property>
</Properties>
</file>
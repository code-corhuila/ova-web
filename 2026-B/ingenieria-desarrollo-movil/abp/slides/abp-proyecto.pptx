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4"/>
  </p:sldMasterIdLst>
  <p:sldIdLst>
    <p:sldId id="256" r:id="rId7"/>
    <p:sldId id="257" r:id="rId6"/>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4658"/>
  </p:normalViewPr>
  <p:slideViewPr>
    <p:cSldViewPr snapToGrid="0">
      <p:cViewPr varScale="1">
        <p:scale>
          <a:sx n="106" d="100"/>
          <a:sy n="106"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(encuentro 1). Lanzar la pregunta y esperar respuestas: casi todos trabajan y tienen el caso a mano. Anotar los síntomas que nombren —«frágil», «nadie la toca», «cada pantalla es un mundo»— porque son exactamente lo que el marco de gobierno móvil del curso previene. Idea que se instala desde el minuto uno: que la app funcione y que esté bien gobernada son dos preguntas distintas, y este proyecto califica la segunda.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Leer en voz de capacidad. Este deck es material de apoyo del proyecto completo: quien falte al encuentro puede estudiarlo con él y con la guía del proyecto ABP. Recorrido en vivo. Encuentro 1 (vie 9-oct, después de la Unidad 1; unos 25 minutos para el lanzamiento): secciones 01 a 05, deteniéndose en los slides marcados EN VIVO; las tablas marcadas CONSULTA se señalan y quedan para estudiar; la sección 06 se salta y se cierra con «Tres ideas para llevarse». Encuentro 5 (vie 6-nov): sección 06 completa, volviendo a la rúbrica de la sección 05.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La pregunta motriz completa de la guía: «¿Qué aplicación móvil híbrida, construida con Ionic + Angular + Capacitor y gobernada por una arquitectura explícita, resuelve un problema real de su trabajo o su entorno y está lista para publicarse?». Desarmarla en sus cuatro piezas: cada tarjeta es una condición que se verifica al final. Insistir en «lista para publicarse»: no basta que corra en el computador de la pareja; el proyecto termina en un artefacto firmado.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Por qué ABP: el módulo se organiza alrededor de un problema real cuya solución es un producto. Lo que se evalúa al final no es lo que recuerdan, sino lo que construyeron y cómo lo justifican. Hay un solo proyecto por pareja y las tres actividades del aula son sus hitos: lo que deciden en A1 lo defienden en A2 y lo entregan funcionando en A3; el Documento ABP cuenta ese recorrido completo, con la evidencia y con lo que cambió en el camino. Pregunta para el grupo: ¿qué cambia en su forma de trabajar si saben desde hoy que van a defender cada decisión?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Una app pequeña con dos features bien gobernadas vale más que una grande en la que cada pantalla resolvió el estado, la red y los permisos a su manera. Señalar la última fila: la documentación escrita al final «para cumplir» se nota en el historial del repositorio y no suma. Lo que sí suma es la evolución razonada, que se vuelve la tabla de trazabilidad del Documento ABP.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Bitácora de Campo es la app de referencia de los manuales paso a paso de las tres unidades: un técnico registra visitas con formulario, foto y ubicación. Sirve para aprender el patrón, no para entregarlo. Si el problema de la pareja también usa cámara y ubicación, el dominio, los casos de uso y la estrategia sin conexión deben ser propios: una Bitácora de Campo con otro nombre no cumple la condición de problema propio.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Una decisión en un ADR que el código respeta. Se califica la arquitectura gobernada y verificable; la cantidad de pantallas no suma y un diagrama que no coincide con el código resta. EN VIVO. Votación rápida en el chat de Meet antes de revelar. Si alguien elige más pantallas, volver al slide «Dos features gobernadas valen más».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SDD es Software Design Documentation: la documentación de diseño precede y guía la implementación. En el modo tradicional se escribe el código y la documentación llega «si algún día ocurre»; en SDD se diseña por escrito, se construye y se actualiza el documento. Tres principios: diseño antes del código (un documento revisado es requisito para empezar una feature), documentación viva (un documento desactualizado es un error escrito en prosa) y trazabilidad (cada pantalla tiene una historia, cada historia sus criterios de aceptación y cada criterio su prueba). La prueba práctica de que se aplicó: en el historial, el commit docs(...) del documento aparece antes que el feat(...) del código que describe.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la columna del hito; el resto es CONSULTA. El marco de gobierno móvil del curso es un manual con plantillas que dice qué decidir en una app móvil, en qué orden y dónde dejarlo escrito. Las secciones se diligencian en orden porque cada una depende de la anterior, y ese orden coincide con los hitos. Preguntas completas: 00, ¿cómo planea, estima y cierra el trabajo la pareja, qué es «listo» y «hecho», cómo se nombran ramas, commits y versiones y qué reglas de seguridad no se negocian?; 01, ¿dónde va el código de una feature, qué capa depende de cuál, qué único patrón de estado se usa, cómo se navega y dónde quedó registrada cada decisión?; 02, ¿cómo se nombra el código y se manejan errores y asincronía, de dónde salen colores, espaciados y tipografía, cómo se garantiza la accesibilidad y cómo se centralizan los textos?; 03, ¿cómo se hacen y reintentan las peticiones, dónde viven los tokens y cómo se refrescan, qué se guarda en el dispositivo y qué pasa sin conexión?; 04, ¿qué se prueba, en qué nivel y cuánto, qué presupuestos de rendimiento hay y qué se revisa en seguridad antes de publicar?; 05, ¿cómo un commit se vuelve un artefacto firmado, dónde vive la llave de firma, cómo se escalona y se revierte un despliegue y cómo se observa la app en producción? El marco es neutral frente al stack; en este curso cada decisión concreta se toma para Ionic + Angular + Capacitor y se registra en un ADR. Opciones habituales: estado con un servicio o ViewModel con BehaviorSubject de RxJS, Signals de Angular o NgRx; navegación con Angular Router, tabla central, rutas diferidas (loadComponent) y guards funcionales (CanActivateFn); red con HttpClient e interceptores funcionales; tokens en un plugin de almacenamiento seguro (Keychain en iOS, Keystore en Android); persistencia con Capacitor Preferences para valores pequeños y SQLite para consultas y volumen; pruebas con Jasmine/Karma o Vitest, con dobles de prueba propios.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corto. Las plantillas del marco, en español y adaptadas a este stack, están en la página «Plantillas del proyecto» del aula, con un .zip de 13 archivos: ESTRUCTURA.md y 12 plantillas. Primer día: descomprimir, crear docs/ en la raíz del repositorio con las seis secciones y copiar los tres acuerdos (definición de listo, definición de hecho y convenciones git) a 00-gobierno para adaptarlos entre los dos. Cada plantilla queda con el prefijo _plantilla- y se copia cada vez que se documenta una decisión, una feature, una pantalla, un endpoint, una entidad, un caso de prueba o un release. Al diligenciar: borrar los bloques «Instrucción», no dejar corchetes y registrar el documento en el README de su sección. Una plantilla llenada con frases que servirían para cualquier app no cuenta como diligenciada.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El commit docs(...) aparece antes del feat(...). El historial del repositorio es la evidencia: el diseño se escribió antes que el código que gobierna. EN VIVO. Si eligen la carpeta creada el día de la entrega, es justo lo contrario de SDD: documentación escrita «para cumplir».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Reglas de la pareja: en H1, H3 y H4 los dos suben el mismo PDF con los dos nombres en la portada; si uno no lo sube, no tiene entrega. La Actividad 2 es individual: analizan el mismo proyecto, pero cada uno escribe y publica su propio análisis. Si el número de estudiantes es impar se admite un único trío, que agrega un tercer plugin nativo a los mínimos. Roles del marco: el dueño del producto prioriza el backlog y acepta las historias; el líder técnico cuida los ADR, la regla de dependencias y la definición de hecho; nadie queda fuera del código. En la socialización el tutor puede preguntarle a cualquiera de los dos por cualquier parte del proyecto. Si la pareja se disuelve o alguien se retira, avisar de inmediato al tutor: él define cómo continúa cada uno.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Es la primera fecha y llega en una semana. El H0 no tiene nota, pero sin él la clínica de la Actividad 1 del encuentro 2 (vie 16-oct) no tiene sobre qué trabajar: lleguen con el H0 escrito. El backend puede ser una API propia, una pública o una simulada, siempre que tenga inicio de sesión y al menos un recurso que se consulte y se modifique. Los dos plugins se declaran junto con el permiso que pide cada uno.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El problema es libre, pero debe ser real y caber en cuatro semanas. Ejemplo ilustrativo, no para copiar: préstamo de equipos de un laboratorio, con lectura de código QR por cámara al entregar, recordatorios de devolución por notificaciones y consulta sin conexión de los préstamos activos. Las dos capacidades nativas existen por una razón del dominio, no como adorno; la vibración no sirve porque no pide permiso. Lo que no quepa en dos o tres features va al backlog como Could o Won't. Ejercicio: que dos o tres estudiantes digan su idea en una frase y el grupo la pase por las cinco filas.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en vivo, solo leer los cuatro mínimos. Detalle de la evidencia: (1) package.json con las versiones y la app corriendo en emulador o dispositivo Android; (2) árbol real de src/app/ por feature, con domain/ sin importaciones de Angular, HttpClient ni Capacitor, y ninguna página que importe de data/; (3) ADR del patrón de estado más dos, con alternativas y consecuencias, registrados en decisiones/README.md; (4) un único app.routes.ts, guard funcional en las rutas protegidas y la tabla de navegacion.md igual al código.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en vivo, detenerse en el 7. Detalle: (5) interceptores registrados en un solo lugar, prueba del refresh con un único reintento, tokens fuera de localStorage y de Preferences; (6) tabla de estrategia por feature y demo en modo avión con los últimos datos y el aviso de «sin conexión»; (7) interfaz del puerto sin Capacitor, un adaptador que es el único que importa el plugin, permiso pedido al tocar la acción con explicación previa y manejo de la negativa; (8) reporte de pruebas unitarias de casos de uso y state holders en verde, artefacto firmado y verificado y checklist de la v1.0.0 diligenciado.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presentation habla con domain; data implementa las interfaces de domain; domain no conoce a nadie. Un state holder es el objeto que guarda el estado de una pantalla y lo expone como un único objeto inmutable (un ViewModel o un servicio de estado): la página solo lo pinta y le envía las acciones del usuario. Los plugins nativos siguen la misma regla: el dominio declara un puerto (por ejemplo CapturaFoto) y un adaptador de Capacitor lo implementa; es el único archivo que importa el plugin. Consejo que sube la nota: imponer la regla con ESLint (no-restricted-imports) para que una importación prohibida falle en el lint; si la verifica la máquina, no depende de la buena voluntad y es una evidencia fuerte del mínimo 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No: ya lo exige el mínimo 5 y no pide permiso. Los dos plugins del mínimo 7 deben acceder a una capacidad del dispositivo que pida permiso al usuario; el trío agrega un tercero con las mismas reglas. EN VIVO. Es la confusión más frecuente al planear el H0: preguntar a quién se le había ocurrido contarlo.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Las tres actividades del aula valen 20 % cada una y se califican con sus propios enunciados; el Documento ABP, en la tarea «Entrega final del módulo (ABP) [40%]», vale el 40 %. En las tareas la fecha límite coincide con el cierre: después de las 11:59 p. m. Moodle no recibe archivos. Recomendación: subir el día anterior y abrir el PDF descargado para confirmar que no está dañado.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Las clínicas revisan avances reales: lleguen con el repositorio y el borrador del hito abiertos. El encuentro 2 trabaja sobre el H0 y los borradores de 00 y 01; el 3, sobre el análisis del foro y las secciones 02 y 03; el 4, sobre la app corriendo, las pruebas en verde y el primer artefacto firmado. Enlace de todos los encuentros: meet.google.com/pzh-kxer-pnx.</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Los enunciados de las actividades no cambian: se escribieron para cualquier proyecto híbrido. Esta tabla dice en qué sección del marco cae cada cosa que piden, para que el documento de A1 sea a la vez un avance del proyecto; respeten el formato y la extensión del enunciado. El enunciado pide portada, índice, introducción, desarrollo técnico, conclusiones y bibliografía; el desarrollo técnico se organiza como 00 Gobierno y luego 01 Arquitectura. Detalles: el ADR del stack va en estado Propuesto, con React y Vue como alternativas evaluadas; el diagrama es C4 de contexto y de contenedores más el de capas de una feature; la estructura base sale de ionic start; cada pantalla tiene una ficha con sus cinco estados junto a las capturas del prototipo; el backlog tiene al menos 10 historias con criterios Dado/Cuando/Entonces y prioridad MoSCoW; el entorno incluye herramientas, repositorio, ramas y la primera prueba que corre. Apoyo: OVA, práctica opcional, manual y presentación de la Unidad 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El enunciado de A2 describe un foro; el tutor lo crea en la Unidad 2 y la entrega se completa en la tarea. Pasos: (1) publicar el análisis en el foro de la Actividad 2, entre 300 y 500 palabras, con al menos dos citas APA 7 y enlaces a documentación oficial; (2) responder de forma argumentada a dos compañeros de otras parejas, mínimo 150 palabras cada respuesta; (3) copiar el enlace permanente de cada respuesta; (4) armar un PDF con la publicación principal completa y los dos enlaces y subirlo a la tarea de la Actividad 2. Publiquen a más tardar el jueves 22 de octubre: así la clínica del viernes 23 trabaja sobre publicaciones reales. Aunque la nota es individual, las decisiones son de la pareja: al cierre del H2 el repositorio tiene el ADR del stack aceptado y las secciones 02 y 03 diligenciadas.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corto. El enunciado pide la aplicación funcional (repositorio con acceso compartido, compilados y evidencia de ejecución) y una memoria técnica en PDF: la memoria es la presentación de las secciones 04 y 05. La subida a tiendas puede ser simulada, documentando pista de pruebas internas, metadatos e ícono; el IPA de iOS se simula si no hay cuenta. El H3 cierra con el checklist de release de la v1.0.0 diligenciado en el repositorio. De las herramientas que menciona el enunciado, elijan las que puedan evidenciar y descarten las demás con razón: EAS Build, por ejemplo, pertenece al ecosistema Expo de React Native. Guarden el keystore en dos lugares seguros.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El Documento ABP es el marco de gobierno móvil 00–05 diligenciado para el proyecto de la pareja, más la evidencia del producto, la trazabilidad de los hitos y la reflexión de cada integrante. Integra y actualiza lo entregado en H1, H2 y H3 para describir la app tal como quedó construida, no como se planeó. Apartados y páginas: introducción 1; 00 Gobierno 1–2; 01 Arquitectura 3–4; 02 Código y UI 1; 03 API y datos 2–3; 04 Calidad 1–2; 05 Release 1–2; evidencia del producto (tabla de mínimo y evidencia) 1; trazabilidad 1–2; reflexión y aporte 1. El video, de 5 a 7 minutos y narrado por los dos, muestra el flujo principal, un plugin pidiendo su permiso y la feature sin conexión. Si el repositorio es privado, se comparte el acceso con el tutor. Las páginas no cuentan portada, índice ni bibliografía.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Es el ejemplo de la guía: una fila por cambio relevante. La trazabilidad muestra que el proyecto aprendió y usa la retroalimentación recibida en las clínicas, en el foro y en los casos de prueba. Sin la columna «razón» la fila no vale. Junto con la evidencia, este criterio vale 15 puntos.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en el encuentro 1 y de nuevo en el 5. Las Actividades 1, 2 y 3 se califican con sus propios enunciados; esta es la rúbrica del Documento ABP, con niveles alto, medio y bajo por criterio (detalle en la guía). La pregunta que guía toda la rúbrica: ¿puede el lector verificar lo que el documento afirma? Si puede clonar el repositorio, ejecutar la app y encontrar cada decisión en el código, el documento está en el nivel alto. Nivel alto por criterio: Gobierno y SDD (9–10), DoR, DoD, convenciones git y seguridad adaptadas y aplicadas, historial con el diseño antes del código, retrospectivas y aporte de cada uno con evidencia; Arquitectura (22–25), estructura por feature con tres capas y regla de dependencias respetada en todo el código, un único patrón de estado en ADR, rutas centrales con guard, al menos 3 ADR con alternativas y costos, C4 coherente con el repositorio; Código/UI y API/datos (17–20), cliente HTTP único con interceptores de token, timeout y errores, refresh transparente con un solo reintento, tokens en almacenamiento seguro, DTO y mappers, estrategia sin conexión por feature con caché demostrada, tokens de diseño y estados de UI completos; Calidad (13–15), pruebas unitarias en verde de casos de uso y state holders con sus transiciones, presupuestos de rendimiento medidos, checklist de seguridad con permisos just-in-time; Release (9–10), AAB/APK firmado y verificable, keystore fuera del repositorio, SemVer y versionCode, checklist de release, CI con lint y pruebas, plan de observabilidad; Trazabilidad y evidencia (13–15), tabla antes, después y razón para H1, H2 y H3 que usa la retroalimentación, cada mínimo enlazado a su evidencia, video de 5 a 7 minutos narrado por ambos; Forma APA (5), extensión, fuente, interlineado, márgenes y APA 7 correctos. Lo que baja un criterio a nivel medio o bajo: una página que llama a HttpClient, ADR sin alternativas reales, interceptor sin refresh o sin timeout, estrategia sin conexión documentada pero no aplicada, valores visuales quemados, tokens en localStorage o Preferences, pruebas que no corren, artefacto de depuración o keystore en el repositorio.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Pierde en su criterio y en trazabilidad y evidencia. Todo lo que el documento afirma debe estar en el repositorio; lo que no coincide con el código pierde en su criterio y en el de trazabilidad y evidencia. EN VIVO o de repaso. Conecta con la regla de oro del documento: todo lo que afirma debe estar en el repositorio.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(encuentro 5, vie 6-nov, 6:00 a 7:00 p. m. por Meet). Agenda: al inicio, reglas y, si no caben todas las parejas en la hora, sorteo del orden; luego demos de 3 minutos más 2 de preguntas por pareja; los últimos minutos, cierre del módulo. Todas las parejas llegan listas aunque no salgan sorteadas. Lo que surja en las preguntas puede entrar a la tabla de trazabilidad, porque el documento vence el domingo 8 de noviembre.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El cronómetro es estricto. Primer medio minuto: el problema y el usuario, en una frase cada uno. Minuto y medio: el flujo principal en emulador o dispositivo, con inicio de sesión, un plugin pidiendo su permiso y la feature en modo avión. Último minuto: una decisión de arquitectura y su ADR, qué alternativa descartaron y qué les costó. Tener a mano el video del Documento ABP por si la demo falla.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Proyectar mientras pasan las demos: cada momento muestra evidencia de un criterio de la rúbrica del Documento ABP. Las preguntas pueden ir a cualquiera de los dos integrantes; que las ensayen antes. La pregunta de la siguiente versión alimenta la reflexión del documento.</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en el encuentro 5; CONSULTA en el 1. Checklist completo de la guía: portada con los dos nombres y el mismo PDF subido por ambos; los ocho mínimos verificables (1 Ionic 8 o superior con la app en Android; 2 capas sin importaciones prohibidas; 3 un patrón de estado y tres ADR aceptados; 4 rutas centrales con guard, iguales en navegacion.md y app.routes.ts; 5 cliente HTTP con interceptores de token, timeout y errores, refresh y almacenamiento seguro; 6 estrategia sin conexión y caché demostrada en modo avión; 7 dos plugins detrás de un puerto con permisos en el momento de uso, tres si son trío; 8 pruebas en verde, artefacto firmado y checklist de release); docs/ con el marco 00–05 sin bloques de instrucciones ni corchetes; README que permite clonar, instalar, ejecutar y probar; enlaces al artefacto y al video que abren sin pedir permiso; video de 5 a 7 minutos narrado por los dos; trazabilidad de H1, H2 y H3 con su razón; reflexión con deuda técnica, siguiente versión y aporte de cada uno; 12 a 18 páginas útiles, Arial o Times 12, interlineado 1,5, márgenes de 2,5 cm y APA 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cierre de ambos encuentros. Encuentro 1: el siguiente paso es el H0 en el foro «Preguntas y respuestas» antes del viernes 16 de octubre, y llegar al encuentro 2 con el borrador de 00 y 01 y el árbol del repositorio; apoyo en la guía del proyecto y en la página de plantillas. Encuentro 5: el Documento ABP vence el domingo 8 de noviembre a las 11:59 p. m.; incorporen a la trazabilidad lo que surgió en las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C6517A-6E51-D8FF-5518-33DCF1BB8315}"/>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BA5F916A-7D6A-E8AF-439A-8D6840C6F0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C846680D-0A49-4B54-F51B-03AA27F6B2CE}"/>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5396F560-F0B8-AB29-82CA-A2DDE7D3568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5D50BE2-EBBD-61B9-3E6C-B4C2BA988EBE}"/>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4168766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8836D1-D4F9-8F5A-DCDD-25408D7D36D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551DC57-A21A-5278-EC55-4C245B3FC0B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02E49EC-4920-0E2F-9C8B-0B674CB07209}"/>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F31254A-3742-246E-D797-82A0482FE25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2D15C84-0D5E-FBD8-F4A6-A48214F7CB87}"/>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553980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5FBBEC-EF89-8C3C-71B9-577DC2668AB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6B7EF770-ACB6-2BA3-E667-9EBABFB4AE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DAD28F8-48D0-258C-AD9D-D166F7F2D745}"/>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68163DA-7927-EC0F-B832-B0D9CEF2421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7D2D961-09A6-F702-5A58-9A2E9D96BDE2}"/>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714478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EAE57A-7BC8-A4F0-8EC3-29FA071B4D3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66DB23D6-B010-B5CB-011A-B03D0B3E9DF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180C2A42-464D-5E30-A614-F5201EA4318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6B7E369D-DA34-3508-5F83-FE255ACE6A7E}"/>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5FAF6228-C474-55C2-F2A3-A80C9ECB9BE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E2CA109-4F43-98C5-5BA6-85F5B496EC33}"/>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215908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ADADB-6CDF-BDB1-1300-FAEA2D84BEEF}"/>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07B4924-BB64-D547-A28B-666362350C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07D8AA5-BF4A-D02D-E702-0FBE685A508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6BC7471-CDF8-0C0F-6D28-4001FC2838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33769A5-222B-5317-4503-6E9D363E28B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A17FE0D7-3EEC-E3E6-7C86-CF7C18AB6C98}"/>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8" name="Marcador de pie de página 7">
            <a:extLst>
              <a:ext uri="{FF2B5EF4-FFF2-40B4-BE49-F238E27FC236}">
                <a16:creationId xmlns:a16="http://schemas.microsoft.com/office/drawing/2014/main" id="{C8EFF3E5-4BD9-D039-6F0A-0A92B04A1CBC}"/>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8DF0DEE6-C861-6117-2772-892873D92EAD}"/>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448347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91AA1F-2C39-64AF-4C6F-BF1C44530D3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F0E135E8-59EC-9B87-4141-B4E0DEA152F1}"/>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4" name="Marcador de pie de página 3">
            <a:extLst>
              <a:ext uri="{FF2B5EF4-FFF2-40B4-BE49-F238E27FC236}">
                <a16:creationId xmlns:a16="http://schemas.microsoft.com/office/drawing/2014/main" id="{22565AFD-1683-D460-140D-9F48CBCBAB0B}"/>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3E711735-1F41-F218-7243-AC89EA548BC9}"/>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261154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188DA81-50FE-72AF-6F22-3D317B92F3BC}"/>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3" name="Marcador de pie de página 2">
            <a:extLst>
              <a:ext uri="{FF2B5EF4-FFF2-40B4-BE49-F238E27FC236}">
                <a16:creationId xmlns:a16="http://schemas.microsoft.com/office/drawing/2014/main" id="{4DADFFC1-222F-FA4F-F745-4AECF65CE08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AFB47231-DA7E-E86D-0ECA-3CD935CB1700}"/>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469125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6A5293-4CAF-8D46-B44D-99EAF11FD55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AA782D5-A60C-369C-7F2E-20DC36F50E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53C7E45F-8F4D-4A4A-AD2B-580AA0500F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E49A9D3-41A6-5F05-3785-C76553A3237C}"/>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F339118E-A5D9-04A8-223B-C952BE301095}"/>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0AFCCC82-59BC-CBA8-F9A5-1C4603AD8128}"/>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328771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0C677B-1ABC-81D6-857F-7E1F6785CB1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B8FFF9DA-1F76-6604-0F69-D17DFFA8AD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94FD3A44-53F9-E2AD-4B37-3C2CD8A25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EA3A846-4373-5BFE-DCED-CDECAACAAD8F}"/>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C0137096-4AD9-8D1E-B119-EDDF0F3EA803}"/>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7ADAE5B-0E78-C71A-B918-853E86CE07AC}"/>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464844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A2BA9E-020E-BCD8-9EA9-9BDFB1673E5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D2EE6B7-CD7D-EA57-7B4D-87C2F63C8D6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16BA0735-0CBD-5147-C06C-3B03006C1423}"/>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CCAF2C5-C162-2021-6EDC-A716463031D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6AD3F66-F4A3-A221-BA4A-2F327442751D}"/>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161594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64F149B-9E13-3157-0B62-971D8EB526C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F87BBD2-5343-3A5D-564E-2D534BC7D0F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CB2F397-0E8A-92C8-93C4-9018446E3819}"/>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216F7EEE-EA06-5E8F-8174-D1B755A7BBE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D7410F1-59DC-8093-6A75-33AE1285CCFE}"/>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70393169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1D6B204-4AEE-9E74-8DF2-926D69EDA9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8E631246-8F97-5699-6653-D3A77D7644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73B2563-9278-5DCC-E5B5-CCE80A0280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74AD3EE7-759B-C8A2-7A15-CC1FFB8018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99BE85B8-1FF9-DDC6-E068-D7EEA7240D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08E7FD-F6A8-D246-986A-AA7D283E6007}" type="slidenum">
              <a:rPr lang="es-CO" smtClean="0"/>
              <a:t>‹Nº›</a:t>
            </a:fld>
            <a:endParaRPr lang="es-CO"/>
          </a:p>
        </p:txBody>
      </p:sp>
    </p:spTree>
    <p:extLst>
      <p:ext uri="{BB962C8B-B14F-4D97-AF65-F5344CB8AC3E}">
        <p14:creationId xmlns:p14="http://schemas.microsoft.com/office/powerpoint/2010/main" val="196690471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20440"/>
            <a:ext cx="11734800" cy="25146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Institucional-con-advertencia-Vigilado-Mineducacion-Blanco.png"/>
          <p:cNvPicPr>
            <a:picLocks noChangeAspect="1"/>
          </p:cNvPicPr>
          <p:nvPr/>
        </p:nvPicPr>
        <p:blipFill>
          <a:blip r:embed="rId2"/>
          <a:stretch>
            <a:fillRect/>
          </a:stretch>
        </p:blipFill>
        <p:spPr>
          <a:xfrm>
            <a:off x="4844395" y="548640"/>
            <a:ext cx="2503210" cy="2286000"/>
          </a:xfrm>
          <a:prstGeom prst="rect">
            <a:avLst/>
          </a:prstGeom>
        </p:spPr>
      </p:pic>
      <p:sp>
        <p:nvSpPr>
          <p:cNvPr id="5" name="Rectangle 4"/>
          <p:cNvSpPr/>
          <p:nvPr/>
        </p:nvSpPr>
        <p:spPr>
          <a:xfrm>
            <a:off x="457200" y="3429000"/>
            <a:ext cx="11734800" cy="762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703320"/>
            <a:ext cx="10881360" cy="1280160"/>
          </a:xfrm>
          <a:prstGeom prst="rect">
            <a:avLst/>
          </a:prstGeom>
          <a:noFill/>
        </p:spPr>
        <p:txBody>
          <a:bodyPr wrap="square" anchor="t" lIns="0" rIns="0" tIns="0" bIns="0">
            <a:spAutoFit/>
          </a:bodyPr>
          <a:lstStyle/>
          <a:p>
            <a:pPr algn="ctr"/>
            <a:r>
              <a:rPr sz="3800" b="1">
                <a:solidFill>
                  <a:srgbClr val="FFFFFF"/>
                </a:solidFill>
                <a:latin typeface="Aptos Display"/>
              </a:rPr>
              <a:t>Proyecto ABP: una app gobernada por su arquitectura</a:t>
            </a:r>
          </a:p>
        </p:txBody>
      </p:sp>
      <p:sp>
        <p:nvSpPr>
          <p:cNvPr id="7" name="TextBox 6"/>
          <p:cNvSpPr txBox="1"/>
          <p:nvPr/>
        </p:nvSpPr>
        <p:spPr>
          <a:xfrm>
            <a:off x="640080" y="5029200"/>
            <a:ext cx="10881360" cy="457200"/>
          </a:xfrm>
          <a:prstGeom prst="rect">
            <a:avLst/>
          </a:prstGeom>
          <a:noFill/>
        </p:spPr>
        <p:txBody>
          <a:bodyPr wrap="square" anchor="t" lIns="0" rIns="0" tIns="0" bIns="0">
            <a:spAutoFit/>
          </a:bodyPr>
          <a:lstStyle/>
          <a:p>
            <a:pPr algn="ctr"/>
            <a:r>
              <a:rPr sz="1500" b="0">
                <a:solidFill>
                  <a:srgbClr val="E8E8E8"/>
                </a:solidFill>
                <a:latin typeface="Aptos"/>
              </a:rPr>
              <a:t>Ingeniería para el Desarrollo Móvil  ·  Jesús Ariel González Bonilla  ·  2026-B  ·  Proyecto ABP</a:t>
            </a:r>
          </a:p>
        </p:txBody>
      </p:sp>
      <p:sp>
        <p:nvSpPr>
          <p:cNvPr id="8" name="TextBox 7"/>
          <p:cNvSpPr txBox="1"/>
          <p:nvPr/>
        </p:nvSpPr>
        <p:spPr>
          <a:xfrm>
            <a:off x="1371600" y="5532120"/>
            <a:ext cx="9418320" cy="457200"/>
          </a:xfrm>
          <a:prstGeom prst="rect">
            <a:avLst/>
          </a:prstGeom>
          <a:noFill/>
        </p:spPr>
        <p:txBody>
          <a:bodyPr wrap="square" anchor="t" lIns="0" rIns="0" tIns="0" bIns="0">
            <a:spAutoFit/>
          </a:bodyPr>
          <a:lstStyle/>
          <a:p>
            <a:pPr algn="ctr"/>
            <a:r>
              <a:rPr sz="1300" b="0">
                <a:solidFill>
                  <a:srgbClr val="E8E8E8"/>
                </a:solidFill>
                <a:latin typeface="Aptos"/>
              </a:rPr>
              <a:t>Lanzamiento (encuentro 1, vie 9-oct) y socialización (encuentro 5, vie 6-nov)</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ABP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Toda app funciona hasta que se toca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610360"/>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50063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610360"/>
          </a:xfrm>
          <a:prstGeom prst="rect">
            <a:avLst/>
          </a:prstGeom>
          <a:noFill/>
        </p:spPr>
        <p:txBody>
          <a:bodyPr wrap="square" anchor="ctr" lIns="0" rIns="0" tIns="0" bIns="0">
            <a:spAutoFit/>
          </a:bodyPr>
          <a:lstStyle/>
          <a:p>
            <a:pPr algn="l">
              <a:lnSpc>
                <a:spcPct val="125000"/>
              </a:lnSpc>
            </a:pPr>
            <a:r>
              <a:rPr sz="2661" b="1">
                <a:solidFill>
                  <a:srgbClr val="0E2841"/>
                </a:solidFill>
                <a:latin typeface="Aptos Display"/>
              </a:rPr>
              <a:t>¿Qué app de su trabajo funciona… pero nadie se atreve a cambiar?</a:t>
            </a:r>
          </a:p>
        </p:txBody>
      </p:sp>
      <p:sp>
        <p:nvSpPr>
          <p:cNvPr id="10" name="Oval 9"/>
          <p:cNvSpPr/>
          <p:nvPr/>
        </p:nvSpPr>
        <p:spPr>
          <a:xfrm>
            <a:off x="585216" y="3701923"/>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3384296"/>
            <a:ext cx="10698480" cy="735838"/>
          </a:xfrm>
          <a:prstGeom prst="rect">
            <a:avLst/>
          </a:prstGeom>
          <a:noFill/>
        </p:spPr>
        <p:txBody>
          <a:bodyPr wrap="square" anchor="ctr" lIns="0" rIns="0" tIns="0" bIns="0">
            <a:spAutoFit/>
          </a:bodyPr>
          <a:lstStyle/>
          <a:p>
            <a:pPr algn="l"/>
            <a:r>
              <a:rPr sz="2540" b="1">
                <a:solidFill>
                  <a:srgbClr val="0E2841"/>
                </a:solidFill>
                <a:latin typeface="Aptos"/>
              </a:rPr>
              <a:t>Cada pantalla resuelve la red a su manera</a:t>
            </a:r>
          </a:p>
        </p:txBody>
      </p:sp>
      <p:sp>
        <p:nvSpPr>
          <p:cNvPr id="12" name="Oval 11"/>
          <p:cNvSpPr/>
          <p:nvPr/>
        </p:nvSpPr>
        <p:spPr>
          <a:xfrm>
            <a:off x="585216" y="4437761"/>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4120134"/>
            <a:ext cx="10698480" cy="735838"/>
          </a:xfrm>
          <a:prstGeom prst="rect">
            <a:avLst/>
          </a:prstGeom>
          <a:noFill/>
        </p:spPr>
        <p:txBody>
          <a:bodyPr wrap="square" anchor="ctr" lIns="0" rIns="0" tIns="0" bIns="0">
            <a:spAutoFit/>
          </a:bodyPr>
          <a:lstStyle/>
          <a:p>
            <a:pPr algn="l"/>
            <a:r>
              <a:rPr sz="2540" b="1">
                <a:solidFill>
                  <a:srgbClr val="0E2841"/>
                </a:solidFill>
                <a:latin typeface="Aptos"/>
              </a:rPr>
              <a:t>El token quedó en </a:t>
            </a:r>
            <a:r>
              <a:rPr sz="2388" b="1">
                <a:solidFill>
                  <a:srgbClr val="156082"/>
                </a:solidFill>
                <a:latin typeface="Consolas"/>
              </a:rPr>
              <a:t>localStorage</a:t>
            </a:r>
          </a:p>
        </p:txBody>
      </p:sp>
      <p:sp>
        <p:nvSpPr>
          <p:cNvPr id="14" name="Oval 13"/>
          <p:cNvSpPr/>
          <p:nvPr/>
        </p:nvSpPr>
        <p:spPr>
          <a:xfrm>
            <a:off x="585216" y="5173599"/>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4855972"/>
            <a:ext cx="10698480" cy="735838"/>
          </a:xfrm>
          <a:prstGeom prst="rect">
            <a:avLst/>
          </a:prstGeom>
          <a:noFill/>
        </p:spPr>
        <p:txBody>
          <a:bodyPr wrap="square" anchor="ctr" lIns="0" rIns="0" tIns="0" bIns="0">
            <a:spAutoFit/>
          </a:bodyPr>
          <a:lstStyle/>
          <a:p>
            <a:pPr algn="l"/>
            <a:r>
              <a:rPr sz="2540" b="1">
                <a:solidFill>
                  <a:srgbClr val="0E2841"/>
                </a:solidFill>
                <a:latin typeface="Aptos"/>
              </a:rPr>
              <a:t>Sin señal, la pantalla queda en blanco</a:t>
            </a:r>
          </a:p>
        </p:txBody>
      </p:sp>
      <p:sp>
        <p:nvSpPr>
          <p:cNvPr id="16" name="Oval 15"/>
          <p:cNvSpPr/>
          <p:nvPr/>
        </p:nvSpPr>
        <p:spPr>
          <a:xfrm>
            <a:off x="585216" y="5909437"/>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5591810"/>
            <a:ext cx="10698480" cy="735838"/>
          </a:xfrm>
          <a:prstGeom prst="rect">
            <a:avLst/>
          </a:prstGeom>
          <a:noFill/>
        </p:spPr>
        <p:txBody>
          <a:bodyPr wrap="square" anchor="ctr" lIns="0" rIns="0" tIns="0" bIns="0">
            <a:spAutoFit/>
          </a:bodyPr>
          <a:lstStyle/>
          <a:p>
            <a:pPr algn="l"/>
            <a:r>
              <a:rPr sz="2540" b="1">
                <a:solidFill>
                  <a:srgbClr val="0E2841"/>
                </a:solidFill>
                <a:latin typeface="Aptos"/>
              </a:rPr>
              <a:t>Nadie sabe por qué se decidió así</a:t>
            </a:r>
          </a:p>
        </p:txBody>
      </p:sp>
      <p:sp>
        <p:nvSpPr>
          <p:cNvPr id="18" name="TextBox 1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19" name="TextBox 1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 / 32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ABP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Lo que vas a poder hacer al terminar</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Oval 6"/>
          <p:cNvSpPr/>
          <p:nvPr/>
        </p:nvSpPr>
        <p:spPr>
          <a:xfrm>
            <a:off x="585216" y="2188158"/>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810511"/>
            <a:ext cx="10698480" cy="855878"/>
          </a:xfrm>
          <a:prstGeom prst="rect">
            <a:avLst/>
          </a:prstGeom>
          <a:noFill/>
        </p:spPr>
        <p:txBody>
          <a:bodyPr wrap="square" anchor="ctr" lIns="0" rIns="0" tIns="0" bIns="0">
            <a:spAutoFit/>
          </a:bodyPr>
          <a:lstStyle/>
          <a:p>
            <a:pPr algn="l"/>
            <a:r>
              <a:rPr sz="2772" b="1">
                <a:solidFill>
                  <a:srgbClr val="0E2841"/>
                </a:solidFill>
                <a:latin typeface="Aptos"/>
              </a:rPr>
              <a:t>Formular un problema real con los ocho mínimos</a:t>
            </a:r>
          </a:p>
        </p:txBody>
      </p:sp>
      <p:sp>
        <p:nvSpPr>
          <p:cNvPr id="9" name="Oval 8"/>
          <p:cNvSpPr/>
          <p:nvPr/>
        </p:nvSpPr>
        <p:spPr>
          <a:xfrm>
            <a:off x="585216" y="3044037"/>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666390"/>
            <a:ext cx="10698480" cy="855878"/>
          </a:xfrm>
          <a:prstGeom prst="rect">
            <a:avLst/>
          </a:prstGeom>
          <a:noFill/>
        </p:spPr>
        <p:txBody>
          <a:bodyPr wrap="square" anchor="ctr" lIns="0" rIns="0" tIns="0" bIns="0">
            <a:spAutoFit/>
          </a:bodyPr>
          <a:lstStyle/>
          <a:p>
            <a:pPr algn="l"/>
            <a:r>
              <a:rPr sz="2772" b="1">
                <a:solidFill>
                  <a:srgbClr val="0E2841"/>
                </a:solidFill>
                <a:latin typeface="Aptos"/>
              </a:rPr>
              <a:t>Diligenciar el marco 00–05 con método SDD</a:t>
            </a:r>
          </a:p>
        </p:txBody>
      </p:sp>
      <p:sp>
        <p:nvSpPr>
          <p:cNvPr id="11" name="Oval 10"/>
          <p:cNvSpPr/>
          <p:nvPr/>
        </p:nvSpPr>
        <p:spPr>
          <a:xfrm>
            <a:off x="585216" y="3899915"/>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3522268"/>
            <a:ext cx="10698480" cy="855878"/>
          </a:xfrm>
          <a:prstGeom prst="rect">
            <a:avLst/>
          </a:prstGeom>
          <a:noFill/>
        </p:spPr>
        <p:txBody>
          <a:bodyPr wrap="square" anchor="ctr" lIns="0" rIns="0" tIns="0" bIns="0">
            <a:spAutoFit/>
          </a:bodyPr>
          <a:lstStyle/>
          <a:p>
            <a:pPr algn="l"/>
            <a:r>
              <a:rPr sz="2772" b="1">
                <a:solidFill>
                  <a:srgbClr val="0E2841"/>
                </a:solidFill>
                <a:latin typeface="Aptos"/>
              </a:rPr>
              <a:t>Leer cada actividad como un hito fechado</a:t>
            </a:r>
          </a:p>
        </p:txBody>
      </p:sp>
      <p:sp>
        <p:nvSpPr>
          <p:cNvPr id="13" name="Oval 12"/>
          <p:cNvSpPr/>
          <p:nvPr/>
        </p:nvSpPr>
        <p:spPr>
          <a:xfrm>
            <a:off x="585216" y="4755794"/>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4378147"/>
            <a:ext cx="10698480" cy="855878"/>
          </a:xfrm>
          <a:prstGeom prst="rect">
            <a:avLst/>
          </a:prstGeom>
          <a:noFill/>
        </p:spPr>
        <p:txBody>
          <a:bodyPr wrap="square" anchor="ctr" lIns="0" rIns="0" tIns="0" bIns="0">
            <a:spAutoFit/>
          </a:bodyPr>
          <a:lstStyle/>
          <a:p>
            <a:pPr algn="l"/>
            <a:r>
              <a:rPr sz="2772" b="1">
                <a:solidFill>
                  <a:srgbClr val="0E2841"/>
                </a:solidFill>
                <a:latin typeface="Aptos"/>
              </a:rPr>
              <a:t>Entregar el Documento ABP con evidencia verificable</a:t>
            </a:r>
          </a:p>
        </p:txBody>
      </p:sp>
      <p:sp>
        <p:nvSpPr>
          <p:cNvPr id="15" name="Oval 14"/>
          <p:cNvSpPr/>
          <p:nvPr/>
        </p:nvSpPr>
        <p:spPr>
          <a:xfrm>
            <a:off x="585216" y="5611672"/>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5234025"/>
            <a:ext cx="10698480" cy="855878"/>
          </a:xfrm>
          <a:prstGeom prst="rect">
            <a:avLst/>
          </a:prstGeom>
          <a:noFill/>
        </p:spPr>
        <p:txBody>
          <a:bodyPr wrap="square" anchor="ctr" lIns="0" rIns="0" tIns="0" bIns="0">
            <a:spAutoFit/>
          </a:bodyPr>
          <a:lstStyle/>
          <a:p>
            <a:pPr algn="l"/>
            <a:r>
              <a:rPr sz="2772" b="1">
                <a:solidFill>
                  <a:srgbClr val="0E2841"/>
                </a:solidFill>
                <a:latin typeface="Aptos"/>
              </a:rPr>
              <a:t>Defender la app en tres minutos de demo</a:t>
            </a:r>
          </a:p>
        </p:txBody>
      </p:sp>
      <p:sp>
        <p:nvSpPr>
          <p:cNvPr id="17" name="TextBox 16"/>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18" name="TextBox 17"/>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 / 32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01</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Qué es el proyecto ABP</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Lanzamiento · encuentro 1 · viernes 9 de octubre</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ABP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Todo el módulo responde una pregunta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55578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44605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555786"/>
          </a:xfrm>
          <a:prstGeom prst="rect">
            <a:avLst/>
          </a:prstGeom>
          <a:noFill/>
        </p:spPr>
        <p:txBody>
          <a:bodyPr wrap="square" anchor="ctr" lIns="0" rIns="0" tIns="0" bIns="0">
            <a:spAutoFit/>
          </a:bodyPr>
          <a:lstStyle/>
          <a:p>
            <a:pPr algn="l">
              <a:lnSpc>
                <a:spcPct val="125000"/>
              </a:lnSpc>
            </a:pPr>
            <a:r>
              <a:rPr sz="2570" b="1">
                <a:solidFill>
                  <a:srgbClr val="0E2841"/>
                </a:solidFill>
                <a:latin typeface="Aptos Display"/>
              </a:rPr>
              <a:t>¿Qué app móvil híbrida, gobernada por una arquitectura explícita, resuelve un problema real de su entorno y está lista para publicarse?</a:t>
            </a:r>
          </a:p>
        </p:txBody>
      </p:sp>
      <p:sp>
        <p:nvSpPr>
          <p:cNvPr id="10" name="Rounded Rectangle 9"/>
          <p:cNvSpPr/>
          <p:nvPr/>
        </p:nvSpPr>
        <p:spPr>
          <a:xfrm>
            <a:off x="566928" y="3329722"/>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8096" y="3585754"/>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3841786"/>
            <a:ext cx="2130552" cy="2284693"/>
          </a:xfrm>
          <a:prstGeom prst="rect">
            <a:avLst/>
          </a:prstGeom>
          <a:noFill/>
        </p:spPr>
        <p:txBody>
          <a:bodyPr wrap="square" anchor="t" lIns="0" rIns="0" tIns="0" bIns="0">
            <a:spAutoFit/>
          </a:bodyPr>
          <a:lstStyle/>
          <a:p>
            <a:pPr algn="l"/>
            <a:r>
              <a:rPr sz="1986" b="1">
                <a:solidFill>
                  <a:srgbClr val="0E2841"/>
                </a:solidFill>
                <a:latin typeface="Aptos Display"/>
              </a:rPr>
              <a:t>App híbrida</a:t>
            </a:r>
          </a:p>
          <a:p>
            <a:pPr algn="l">
              <a:lnSpc>
                <a:spcPct val="120000"/>
              </a:lnSpc>
              <a:spcBef>
                <a:spcPts val="700"/>
              </a:spcBef>
            </a:pPr>
            <a:r>
              <a:rPr sz="1518" b="0">
                <a:solidFill>
                  <a:srgbClr val="33475B"/>
                </a:solidFill>
                <a:latin typeface="Aptos"/>
              </a:rPr>
              <a:t>Ionic + Angular + Capacitor</a:t>
            </a:r>
          </a:p>
        </p:txBody>
      </p:sp>
      <p:sp>
        <p:nvSpPr>
          <p:cNvPr id="13" name="Rounded Rectangle 12"/>
          <p:cNvSpPr/>
          <p:nvPr/>
        </p:nvSpPr>
        <p:spPr>
          <a:xfrm>
            <a:off x="3410712" y="3329722"/>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11880" y="3585754"/>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11880" y="3841786"/>
            <a:ext cx="2130552" cy="2284693"/>
          </a:xfrm>
          <a:prstGeom prst="rect">
            <a:avLst/>
          </a:prstGeom>
          <a:noFill/>
        </p:spPr>
        <p:txBody>
          <a:bodyPr wrap="square" anchor="t" lIns="0" rIns="0" tIns="0" bIns="0">
            <a:spAutoFit/>
          </a:bodyPr>
          <a:lstStyle/>
          <a:p>
            <a:pPr algn="l"/>
            <a:r>
              <a:rPr sz="1986" b="1">
                <a:solidFill>
                  <a:srgbClr val="0E2841"/>
                </a:solidFill>
                <a:latin typeface="Aptos Display"/>
              </a:rPr>
              <a:t>Arquitectura explícita</a:t>
            </a:r>
          </a:p>
          <a:p>
            <a:pPr algn="l">
              <a:lnSpc>
                <a:spcPct val="120000"/>
              </a:lnSpc>
              <a:spcBef>
                <a:spcPts val="700"/>
              </a:spcBef>
            </a:pPr>
            <a:r>
              <a:rPr sz="1518" b="0">
                <a:solidFill>
                  <a:srgbClr val="33475B"/>
                </a:solidFill>
                <a:latin typeface="Aptos"/>
              </a:rPr>
              <a:t>Decisiones escritas, registradas y respetadas</a:t>
            </a:r>
          </a:p>
        </p:txBody>
      </p:sp>
      <p:sp>
        <p:nvSpPr>
          <p:cNvPr id="16" name="Rounded Rectangle 15"/>
          <p:cNvSpPr/>
          <p:nvPr/>
        </p:nvSpPr>
        <p:spPr>
          <a:xfrm>
            <a:off x="6254496" y="3329722"/>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55664" y="3585754"/>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3841786"/>
            <a:ext cx="2130552" cy="2284693"/>
          </a:xfrm>
          <a:prstGeom prst="rect">
            <a:avLst/>
          </a:prstGeom>
          <a:noFill/>
        </p:spPr>
        <p:txBody>
          <a:bodyPr wrap="square" anchor="t" lIns="0" rIns="0" tIns="0" bIns="0">
            <a:spAutoFit/>
          </a:bodyPr>
          <a:lstStyle/>
          <a:p>
            <a:pPr algn="l"/>
            <a:r>
              <a:rPr sz="1986" b="1">
                <a:solidFill>
                  <a:srgbClr val="0E2841"/>
                </a:solidFill>
                <a:latin typeface="Aptos Display"/>
              </a:rPr>
              <a:t>Problema real</a:t>
            </a:r>
          </a:p>
          <a:p>
            <a:pPr algn="l">
              <a:lnSpc>
                <a:spcPct val="120000"/>
              </a:lnSpc>
              <a:spcBef>
                <a:spcPts val="700"/>
              </a:spcBef>
            </a:pPr>
            <a:r>
              <a:rPr sz="1518" b="0">
                <a:solidFill>
                  <a:srgbClr val="33475B"/>
                </a:solidFill>
                <a:latin typeface="Aptos"/>
              </a:rPr>
              <a:t>De su trabajo o su entorno, con un usuario</a:t>
            </a:r>
          </a:p>
        </p:txBody>
      </p:sp>
      <p:sp>
        <p:nvSpPr>
          <p:cNvPr id="19" name="Rounded Rectangle 18"/>
          <p:cNvSpPr/>
          <p:nvPr/>
        </p:nvSpPr>
        <p:spPr>
          <a:xfrm>
            <a:off x="9098280" y="3329722"/>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299448" y="3585754"/>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3841786"/>
            <a:ext cx="2130552" cy="2284693"/>
          </a:xfrm>
          <a:prstGeom prst="rect">
            <a:avLst/>
          </a:prstGeom>
          <a:noFill/>
        </p:spPr>
        <p:txBody>
          <a:bodyPr wrap="square" anchor="t" lIns="0" rIns="0" tIns="0" bIns="0">
            <a:spAutoFit/>
          </a:bodyPr>
          <a:lstStyle/>
          <a:p>
            <a:pPr algn="l"/>
            <a:r>
              <a:rPr sz="1986" b="1">
                <a:solidFill>
                  <a:srgbClr val="0E2841"/>
                </a:solidFill>
                <a:latin typeface="Aptos Display"/>
              </a:rPr>
              <a:t>Lista para publicarse</a:t>
            </a:r>
          </a:p>
          <a:p>
            <a:pPr algn="l">
              <a:lnSpc>
                <a:spcPct val="120000"/>
              </a:lnSpc>
              <a:spcBef>
                <a:spcPts val="700"/>
              </a:spcBef>
            </a:pPr>
            <a:r>
              <a:rPr sz="1518" b="0">
                <a:solidFill>
                  <a:srgbClr val="33475B"/>
                </a:solidFill>
                <a:latin typeface="Aptos"/>
              </a:rPr>
              <a:t>AAB o APK firmado y verificado</a:t>
            </a:r>
          </a:p>
        </p:txBody>
      </p:sp>
      <p:sp>
        <p:nvSpPr>
          <p:cNvPr id="22" name="TextBox 2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23" name="TextBox 2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 / 32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ABP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Decides, defiendes, entregas, cuentas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621753"/>
            <a:ext cx="2532888"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8096" y="1457161"/>
            <a:ext cx="475488" cy="47548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457161"/>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1</a:t>
            </a:r>
          </a:p>
        </p:txBody>
      </p:sp>
      <p:sp>
        <p:nvSpPr>
          <p:cNvPr id="10" name="TextBox 9"/>
          <p:cNvSpPr txBox="1"/>
          <p:nvPr/>
        </p:nvSpPr>
        <p:spPr>
          <a:xfrm>
            <a:off x="768096" y="2097241"/>
            <a:ext cx="2130552" cy="2176272"/>
          </a:xfrm>
          <a:prstGeom prst="rect">
            <a:avLst/>
          </a:prstGeom>
          <a:noFill/>
        </p:spPr>
        <p:txBody>
          <a:bodyPr wrap="square" anchor="t" lIns="0" rIns="0" tIns="0" bIns="0">
            <a:spAutoFit/>
          </a:bodyPr>
          <a:lstStyle/>
          <a:p>
            <a:pPr algn="l"/>
            <a:r>
              <a:rPr sz="1980" b="1">
                <a:solidFill>
                  <a:srgbClr val="0E2841"/>
                </a:solidFill>
                <a:latin typeface="Aptos Display"/>
              </a:rPr>
              <a:t>A1 · Decides</a:t>
            </a:r>
          </a:p>
          <a:p>
            <a:pPr algn="l">
              <a:lnSpc>
                <a:spcPct val="120000"/>
              </a:lnSpc>
              <a:spcBef>
                <a:spcPts val="700"/>
              </a:spcBef>
            </a:pPr>
            <a:r>
              <a:rPr sz="1560" b="0">
                <a:solidFill>
                  <a:srgbClr val="33475B"/>
                </a:solidFill>
                <a:latin typeface="Aptos"/>
              </a:rPr>
              <a:t>Gobierno y arquitectura, por escrito</a:t>
            </a:r>
          </a:p>
        </p:txBody>
      </p:sp>
      <p:sp>
        <p:nvSpPr>
          <p:cNvPr id="11" name="Rounded Rectangle 10"/>
          <p:cNvSpPr/>
          <p:nvPr/>
        </p:nvSpPr>
        <p:spPr>
          <a:xfrm>
            <a:off x="3410712" y="1621753"/>
            <a:ext cx="2532888"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611880" y="1457161"/>
            <a:ext cx="475488" cy="475488"/>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11880" y="1457161"/>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2</a:t>
            </a:r>
          </a:p>
        </p:txBody>
      </p:sp>
      <p:sp>
        <p:nvSpPr>
          <p:cNvPr id="14" name="TextBox 13"/>
          <p:cNvSpPr txBox="1"/>
          <p:nvPr/>
        </p:nvSpPr>
        <p:spPr>
          <a:xfrm>
            <a:off x="3611880" y="2097241"/>
            <a:ext cx="2130552" cy="2176272"/>
          </a:xfrm>
          <a:prstGeom prst="rect">
            <a:avLst/>
          </a:prstGeom>
          <a:noFill/>
        </p:spPr>
        <p:txBody>
          <a:bodyPr wrap="square" anchor="t" lIns="0" rIns="0" tIns="0" bIns="0">
            <a:spAutoFit/>
          </a:bodyPr>
          <a:lstStyle/>
          <a:p>
            <a:pPr algn="l"/>
            <a:r>
              <a:rPr sz="1980" b="1">
                <a:solidFill>
                  <a:srgbClr val="0E2841"/>
                </a:solidFill>
                <a:latin typeface="Aptos Display"/>
              </a:rPr>
              <a:t>A2 · Defiendes</a:t>
            </a:r>
          </a:p>
          <a:p>
            <a:pPr algn="l">
              <a:lnSpc>
                <a:spcPct val="120000"/>
              </a:lnSpc>
              <a:spcBef>
                <a:spcPts val="700"/>
              </a:spcBef>
            </a:pPr>
            <a:r>
              <a:rPr sz="1560" b="0">
                <a:solidFill>
                  <a:srgbClr val="33475B"/>
                </a:solidFill>
                <a:latin typeface="Aptos"/>
              </a:rPr>
              <a:t>El stack, la red y los datos, en el foro</a:t>
            </a:r>
          </a:p>
        </p:txBody>
      </p:sp>
      <p:sp>
        <p:nvSpPr>
          <p:cNvPr id="15" name="Rounded Rectangle 14"/>
          <p:cNvSpPr/>
          <p:nvPr/>
        </p:nvSpPr>
        <p:spPr>
          <a:xfrm>
            <a:off x="6254496" y="1621753"/>
            <a:ext cx="2532888"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55664" y="1457161"/>
            <a:ext cx="475488" cy="475488"/>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5664" y="1457161"/>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3</a:t>
            </a:r>
          </a:p>
        </p:txBody>
      </p:sp>
      <p:sp>
        <p:nvSpPr>
          <p:cNvPr id="18" name="TextBox 17"/>
          <p:cNvSpPr txBox="1"/>
          <p:nvPr/>
        </p:nvSpPr>
        <p:spPr>
          <a:xfrm>
            <a:off x="6455664" y="2097241"/>
            <a:ext cx="2130552" cy="2176272"/>
          </a:xfrm>
          <a:prstGeom prst="rect">
            <a:avLst/>
          </a:prstGeom>
          <a:noFill/>
        </p:spPr>
        <p:txBody>
          <a:bodyPr wrap="square" anchor="t" lIns="0" rIns="0" tIns="0" bIns="0">
            <a:spAutoFit/>
          </a:bodyPr>
          <a:lstStyle/>
          <a:p>
            <a:pPr algn="l"/>
            <a:r>
              <a:rPr sz="1980" b="1">
                <a:solidFill>
                  <a:srgbClr val="0E2841"/>
                </a:solidFill>
                <a:latin typeface="Aptos Display"/>
              </a:rPr>
              <a:t>A3 · Entregas</a:t>
            </a:r>
          </a:p>
          <a:p>
            <a:pPr algn="l">
              <a:lnSpc>
                <a:spcPct val="120000"/>
              </a:lnSpc>
              <a:spcBef>
                <a:spcPts val="700"/>
              </a:spcBef>
            </a:pPr>
            <a:r>
              <a:rPr sz="1560" b="0">
                <a:solidFill>
                  <a:srgbClr val="33475B"/>
                </a:solidFill>
                <a:latin typeface="Aptos"/>
              </a:rPr>
              <a:t>La app firmada y su memoria técnica</a:t>
            </a:r>
          </a:p>
        </p:txBody>
      </p:sp>
      <p:sp>
        <p:nvSpPr>
          <p:cNvPr id="19" name="Rounded Rectangle 18"/>
          <p:cNvSpPr/>
          <p:nvPr/>
        </p:nvSpPr>
        <p:spPr>
          <a:xfrm>
            <a:off x="9098280" y="1621753"/>
            <a:ext cx="2532888"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299448" y="1457161"/>
            <a:ext cx="475488" cy="47548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1457161"/>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4</a:t>
            </a:r>
          </a:p>
        </p:txBody>
      </p:sp>
      <p:sp>
        <p:nvSpPr>
          <p:cNvPr id="22" name="TextBox 21"/>
          <p:cNvSpPr txBox="1"/>
          <p:nvPr/>
        </p:nvSpPr>
        <p:spPr>
          <a:xfrm>
            <a:off x="9299448" y="2097241"/>
            <a:ext cx="2130552" cy="2176272"/>
          </a:xfrm>
          <a:prstGeom prst="rect">
            <a:avLst/>
          </a:prstGeom>
          <a:noFill/>
        </p:spPr>
        <p:txBody>
          <a:bodyPr wrap="square" anchor="t" lIns="0" rIns="0" tIns="0" bIns="0">
            <a:spAutoFit/>
          </a:bodyPr>
          <a:lstStyle/>
          <a:p>
            <a:pPr algn="l"/>
            <a:r>
              <a:rPr sz="1980" b="1">
                <a:solidFill>
                  <a:srgbClr val="0E2841"/>
                </a:solidFill>
                <a:latin typeface="Aptos Display"/>
              </a:rPr>
              <a:t>ABP · Cuentas</a:t>
            </a:r>
          </a:p>
          <a:p>
            <a:pPr algn="l">
              <a:lnSpc>
                <a:spcPct val="120000"/>
              </a:lnSpc>
              <a:spcBef>
                <a:spcPts val="700"/>
              </a:spcBef>
            </a:pPr>
            <a:r>
              <a:rPr sz="1560" b="0">
                <a:solidFill>
                  <a:srgbClr val="33475B"/>
                </a:solidFill>
                <a:latin typeface="Aptos"/>
              </a:rPr>
              <a:t>El recorrido completo, con su evidencia</a:t>
            </a:r>
          </a:p>
        </p:txBody>
      </p:sp>
      <p:sp>
        <p:nvSpPr>
          <p:cNvPr id="23" name="Rounded Rectangle 22"/>
          <p:cNvSpPr/>
          <p:nvPr/>
        </p:nvSpPr>
        <p:spPr>
          <a:xfrm>
            <a:off x="566928" y="4706547"/>
            <a:ext cx="11064240" cy="1621100"/>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761411"/>
            <a:ext cx="63500" cy="151137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706547"/>
            <a:ext cx="10378440" cy="1621100"/>
          </a:xfrm>
          <a:prstGeom prst="rect">
            <a:avLst/>
          </a:prstGeom>
          <a:noFill/>
        </p:spPr>
        <p:txBody>
          <a:bodyPr wrap="square" anchor="ctr" lIns="0" rIns="0" tIns="0" bIns="0">
            <a:spAutoFit/>
          </a:bodyPr>
          <a:lstStyle/>
          <a:p>
            <a:pPr algn="l">
              <a:lnSpc>
                <a:spcPct val="125000"/>
              </a:lnSpc>
            </a:pPr>
            <a:r>
              <a:rPr sz="2640" b="1">
                <a:solidFill>
                  <a:srgbClr val="0E2841"/>
                </a:solidFill>
                <a:latin typeface="Aptos Display"/>
              </a:rPr>
              <a:t>En ABP no se estudia primero y se aplica después: cada tema de la unidad se usa esa misma semana para decidir algo del proyecto.</a:t>
            </a:r>
          </a:p>
        </p:txBody>
      </p:sp>
      <p:sp>
        <p:nvSpPr>
          <p:cNvPr id="26" name="TextBox 25"/>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27" name="TextBox 26"/>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 / 32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ABP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Dos features gobernadas valen más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11861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00888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118616"/>
          </a:xfrm>
          <a:prstGeom prst="rect">
            <a:avLst/>
          </a:prstGeom>
          <a:noFill/>
        </p:spPr>
        <p:txBody>
          <a:bodyPr wrap="square" anchor="ctr" lIns="0" rIns="0" tIns="0" bIns="0">
            <a:spAutoFit/>
          </a:bodyPr>
          <a:lstStyle/>
          <a:p>
            <a:pPr algn="l">
              <a:lnSpc>
                <a:spcPct val="125000"/>
              </a:lnSpc>
            </a:pPr>
            <a:r>
              <a:rPr sz="2458" b="1">
                <a:solidFill>
                  <a:srgbClr val="0E2841"/>
                </a:solidFill>
                <a:latin typeface="Aptos Display"/>
              </a:rPr>
              <a:t>El curso es de arquitectura móvil, no de funcionalidades.</a:t>
            </a:r>
          </a:p>
        </p:txBody>
      </p:sp>
      <p:sp>
        <p:nvSpPr>
          <p:cNvPr id="10" name="Rounded Rectangle 9"/>
          <p:cNvSpPr/>
          <p:nvPr/>
        </p:nvSpPr>
        <p:spPr>
          <a:xfrm>
            <a:off x="566928" y="2892552"/>
            <a:ext cx="5367528" cy="343509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 Same Side Corner Rectangle 10"/>
          <p:cNvSpPr/>
          <p:nvPr/>
        </p:nvSpPr>
        <p:spPr>
          <a:xfrm>
            <a:off x="566928" y="2892552"/>
            <a:ext cx="5367528" cy="566928"/>
          </a:xfrm>
          <a:prstGeom prst="round2SameRect">
            <a:avLst>
              <a:gd name="adj1" fmla="val 14000"/>
              <a:gd name="adj2" fmla="val 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892552"/>
            <a:ext cx="5001768" cy="566928"/>
          </a:xfrm>
          <a:prstGeom prst="rect">
            <a:avLst/>
          </a:prstGeom>
          <a:noFill/>
        </p:spPr>
        <p:txBody>
          <a:bodyPr wrap="square" anchor="ctr" lIns="0" rIns="0" tIns="0" bIns="0">
            <a:spAutoFit/>
          </a:bodyPr>
          <a:lstStyle/>
          <a:p>
            <a:pPr algn="l"/>
            <a:r>
              <a:rPr sz="1899" b="1">
                <a:solidFill>
                  <a:srgbClr val="FFFFFF"/>
                </a:solidFill>
                <a:latin typeface="Aptos Display"/>
              </a:rPr>
              <a:t>Sí cuenta</a:t>
            </a:r>
          </a:p>
        </p:txBody>
      </p:sp>
      <p:sp>
        <p:nvSpPr>
          <p:cNvPr id="13" name="Oval 12"/>
          <p:cNvSpPr/>
          <p:nvPr/>
        </p:nvSpPr>
        <p:spPr>
          <a:xfrm>
            <a:off x="786384" y="4015739"/>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3759707"/>
            <a:ext cx="4709160" cy="603504"/>
          </a:xfrm>
          <a:prstGeom prst="rect">
            <a:avLst/>
          </a:prstGeom>
          <a:noFill/>
        </p:spPr>
        <p:txBody>
          <a:bodyPr wrap="square" anchor="ctr" lIns="0" rIns="0" tIns="0" bIns="0">
            <a:spAutoFit/>
          </a:bodyPr>
          <a:lstStyle/>
          <a:p>
            <a:pPr algn="l"/>
            <a:r>
              <a:rPr sz="1564" b="0">
                <a:solidFill>
                  <a:srgbClr val="33475B"/>
                </a:solidFill>
                <a:latin typeface="Aptos"/>
              </a:rPr>
              <a:t>Decisiones en ADR, respetadas en el código</a:t>
            </a:r>
          </a:p>
        </p:txBody>
      </p:sp>
      <p:sp>
        <p:nvSpPr>
          <p:cNvPr id="15" name="Oval 14"/>
          <p:cNvSpPr/>
          <p:nvPr/>
        </p:nvSpPr>
        <p:spPr>
          <a:xfrm>
            <a:off x="786384" y="4619244"/>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363212"/>
            <a:ext cx="4709160" cy="603504"/>
          </a:xfrm>
          <a:prstGeom prst="rect">
            <a:avLst/>
          </a:prstGeom>
          <a:noFill/>
        </p:spPr>
        <p:txBody>
          <a:bodyPr wrap="square" anchor="ctr" lIns="0" rIns="0" tIns="0" bIns="0">
            <a:spAutoFit/>
          </a:bodyPr>
          <a:lstStyle/>
          <a:p>
            <a:pPr algn="l"/>
            <a:r>
              <a:rPr sz="1564" b="0">
                <a:solidFill>
                  <a:srgbClr val="33475B"/>
                </a:solidFill>
                <a:latin typeface="Aptos"/>
              </a:rPr>
              <a:t>Evidencia verificable: repo, artefacto, video</a:t>
            </a:r>
          </a:p>
        </p:txBody>
      </p:sp>
      <p:sp>
        <p:nvSpPr>
          <p:cNvPr id="17" name="Oval 16"/>
          <p:cNvSpPr/>
          <p:nvPr/>
        </p:nvSpPr>
        <p:spPr>
          <a:xfrm>
            <a:off x="786384" y="5222748"/>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4966716"/>
            <a:ext cx="4709160" cy="603504"/>
          </a:xfrm>
          <a:prstGeom prst="rect">
            <a:avLst/>
          </a:prstGeom>
          <a:noFill/>
        </p:spPr>
        <p:txBody>
          <a:bodyPr wrap="square" anchor="ctr" lIns="0" rIns="0" tIns="0" bIns="0">
            <a:spAutoFit/>
          </a:bodyPr>
          <a:lstStyle/>
          <a:p>
            <a:pPr algn="l"/>
            <a:r>
              <a:rPr sz="1564" b="0">
                <a:solidFill>
                  <a:srgbClr val="33475B"/>
                </a:solidFill>
                <a:latin typeface="Aptos"/>
              </a:rPr>
              <a:t>Documento coherente con el repositorio</a:t>
            </a:r>
          </a:p>
        </p:txBody>
      </p:sp>
      <p:sp>
        <p:nvSpPr>
          <p:cNvPr id="19" name="Oval 18"/>
          <p:cNvSpPr/>
          <p:nvPr/>
        </p:nvSpPr>
        <p:spPr>
          <a:xfrm>
            <a:off x="786384" y="5826252"/>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5570220"/>
            <a:ext cx="4709160" cy="603504"/>
          </a:xfrm>
          <a:prstGeom prst="rect">
            <a:avLst/>
          </a:prstGeom>
          <a:noFill/>
        </p:spPr>
        <p:txBody>
          <a:bodyPr wrap="square" anchor="ctr" lIns="0" rIns="0" tIns="0" bIns="0">
            <a:spAutoFit/>
          </a:bodyPr>
          <a:lstStyle/>
          <a:p>
            <a:pPr algn="l"/>
            <a:r>
              <a:rPr sz="1564" b="0">
                <a:solidFill>
                  <a:srgbClr val="33475B"/>
                </a:solidFill>
                <a:latin typeface="Aptos"/>
              </a:rPr>
              <a:t>Evolución razonada: antes, después, razón</a:t>
            </a:r>
          </a:p>
        </p:txBody>
      </p:sp>
      <p:sp>
        <p:nvSpPr>
          <p:cNvPr id="21" name="Rounded Rectangle 20"/>
          <p:cNvSpPr/>
          <p:nvPr/>
        </p:nvSpPr>
        <p:spPr>
          <a:xfrm>
            <a:off x="6263640" y="2892552"/>
            <a:ext cx="5367528" cy="343509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 Same Side Corner Rectangle 21"/>
          <p:cNvSpPr/>
          <p:nvPr/>
        </p:nvSpPr>
        <p:spPr>
          <a:xfrm>
            <a:off x="6263640" y="2892552"/>
            <a:ext cx="5367528" cy="566928"/>
          </a:xfrm>
          <a:prstGeom prst="round2SameRect">
            <a:avLst>
              <a:gd name="adj1" fmla="val 14000"/>
              <a:gd name="adj2" fmla="val 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2892552"/>
            <a:ext cx="5001768" cy="566928"/>
          </a:xfrm>
          <a:prstGeom prst="rect">
            <a:avLst/>
          </a:prstGeom>
          <a:noFill/>
        </p:spPr>
        <p:txBody>
          <a:bodyPr wrap="square" anchor="ctr" lIns="0" rIns="0" tIns="0" bIns="0">
            <a:spAutoFit/>
          </a:bodyPr>
          <a:lstStyle/>
          <a:p>
            <a:pPr algn="l"/>
            <a:r>
              <a:rPr sz="1899" b="1">
                <a:solidFill>
                  <a:srgbClr val="FFFFFF"/>
                </a:solidFill>
                <a:latin typeface="Aptos Display"/>
              </a:rPr>
              <a:t>No suma</a:t>
            </a:r>
          </a:p>
        </p:txBody>
      </p:sp>
      <p:sp>
        <p:nvSpPr>
          <p:cNvPr id="24" name="Oval 23"/>
          <p:cNvSpPr/>
          <p:nvPr/>
        </p:nvSpPr>
        <p:spPr>
          <a:xfrm>
            <a:off x="6483096" y="4015739"/>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20840" y="3759707"/>
            <a:ext cx="4709160" cy="603504"/>
          </a:xfrm>
          <a:prstGeom prst="rect">
            <a:avLst/>
          </a:prstGeom>
          <a:noFill/>
        </p:spPr>
        <p:txBody>
          <a:bodyPr wrap="square" anchor="ctr" lIns="0" rIns="0" tIns="0" bIns="0">
            <a:spAutoFit/>
          </a:bodyPr>
          <a:lstStyle/>
          <a:p>
            <a:pPr algn="l"/>
            <a:r>
              <a:rPr sz="1564" b="0">
                <a:solidFill>
                  <a:srgbClr val="33475B"/>
                </a:solidFill>
                <a:latin typeface="Aptos"/>
              </a:rPr>
              <a:t>Cantidad de pantallas o de features</a:t>
            </a:r>
          </a:p>
        </p:txBody>
      </p:sp>
      <p:sp>
        <p:nvSpPr>
          <p:cNvPr id="26" name="Oval 25"/>
          <p:cNvSpPr/>
          <p:nvPr/>
        </p:nvSpPr>
        <p:spPr>
          <a:xfrm>
            <a:off x="6483096" y="4619244"/>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20840" y="4363212"/>
            <a:ext cx="4709160" cy="603504"/>
          </a:xfrm>
          <a:prstGeom prst="rect">
            <a:avLst/>
          </a:prstGeom>
          <a:noFill/>
        </p:spPr>
        <p:txBody>
          <a:bodyPr wrap="square" anchor="ctr" lIns="0" rIns="0" tIns="0" bIns="0">
            <a:spAutoFit/>
          </a:bodyPr>
          <a:lstStyle/>
          <a:p>
            <a:pPr algn="l"/>
            <a:r>
              <a:rPr sz="1564" b="0">
                <a:solidFill>
                  <a:srgbClr val="33475B"/>
                </a:solidFill>
                <a:latin typeface="Aptos"/>
              </a:rPr>
              <a:t>Afirmaciones sin evidencia</a:t>
            </a:r>
          </a:p>
        </p:txBody>
      </p:sp>
      <p:sp>
        <p:nvSpPr>
          <p:cNvPr id="28" name="Oval 27"/>
          <p:cNvSpPr/>
          <p:nvPr/>
        </p:nvSpPr>
        <p:spPr>
          <a:xfrm>
            <a:off x="6483096" y="5222748"/>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20840" y="4966716"/>
            <a:ext cx="4709160" cy="603504"/>
          </a:xfrm>
          <a:prstGeom prst="rect">
            <a:avLst/>
          </a:prstGeom>
          <a:noFill/>
        </p:spPr>
        <p:txBody>
          <a:bodyPr wrap="square" anchor="ctr" lIns="0" rIns="0" tIns="0" bIns="0">
            <a:spAutoFit/>
          </a:bodyPr>
          <a:lstStyle/>
          <a:p>
            <a:pPr algn="l"/>
            <a:r>
              <a:rPr sz="1564" b="0">
                <a:solidFill>
                  <a:srgbClr val="33475B"/>
                </a:solidFill>
                <a:latin typeface="Aptos"/>
              </a:rPr>
              <a:t>Diagramas que no coinciden con el código</a:t>
            </a:r>
          </a:p>
        </p:txBody>
      </p:sp>
      <p:sp>
        <p:nvSpPr>
          <p:cNvPr id="30" name="Oval 29"/>
          <p:cNvSpPr/>
          <p:nvPr/>
        </p:nvSpPr>
        <p:spPr>
          <a:xfrm>
            <a:off x="6483096" y="5826252"/>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0840" y="5570220"/>
            <a:ext cx="4709160" cy="603504"/>
          </a:xfrm>
          <a:prstGeom prst="rect">
            <a:avLst/>
          </a:prstGeom>
          <a:noFill/>
        </p:spPr>
        <p:txBody>
          <a:bodyPr wrap="square" anchor="ctr" lIns="0" rIns="0" tIns="0" bIns="0">
            <a:spAutoFit/>
          </a:bodyPr>
          <a:lstStyle/>
          <a:p>
            <a:pPr algn="l"/>
            <a:r>
              <a:rPr sz="1564" b="0">
                <a:solidFill>
                  <a:srgbClr val="33475B"/>
                </a:solidFill>
                <a:latin typeface="Aptos"/>
              </a:rPr>
              <a:t>Documentación escrita al final «para cumplir»</a:t>
            </a:r>
          </a:p>
        </p:txBody>
      </p:sp>
      <p:sp>
        <p:nvSpPr>
          <p:cNvPr id="32" name="TextBox 3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33" name="TextBox 3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5 / 32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ABP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La app de los manuales no es elegible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82880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Qué es</a:t>
            </a:r>
          </a:p>
          <a:p>
            <a:pPr algn="l">
              <a:lnSpc>
                <a:spcPct val="120000"/>
              </a:lnSpc>
              <a:spcBef>
                <a:spcPts val="700"/>
              </a:spcBef>
            </a:pPr>
            <a:r>
              <a:rPr sz="1518" b="0">
                <a:solidFill>
                  <a:srgbClr val="33475B"/>
                </a:solidFill>
                <a:latin typeface="Aptos"/>
              </a:rPr>
              <a:t>Bitácora de Campo: visitas técnicas con formulario, foto y ubicación</a:t>
            </a:r>
          </a:p>
        </p:txBody>
      </p:sp>
      <p:sp>
        <p:nvSpPr>
          <p:cNvPr id="10" name="Rounded Rectangle 9"/>
          <p:cNvSpPr/>
          <p:nvPr/>
        </p:nvSpPr>
        <p:spPr>
          <a:xfrm>
            <a:off x="3410712"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11880" y="1828800"/>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Para qué sirve</a:t>
            </a:r>
          </a:p>
          <a:p>
            <a:pPr algn="l">
              <a:lnSpc>
                <a:spcPct val="120000"/>
              </a:lnSpc>
              <a:spcBef>
                <a:spcPts val="700"/>
              </a:spcBef>
            </a:pPr>
            <a:r>
              <a:rPr sz="1518" b="0">
                <a:solidFill>
                  <a:srgbClr val="33475B"/>
                </a:solidFill>
                <a:latin typeface="Aptos"/>
              </a:rPr>
              <a:t>Ejemplo trabajado de los manuales U1 a U3</a:t>
            </a:r>
          </a:p>
        </p:txBody>
      </p:sp>
      <p:sp>
        <p:nvSpPr>
          <p:cNvPr id="13" name="Rounded Rectangle 12"/>
          <p:cNvSpPr/>
          <p:nvPr/>
        </p:nvSpPr>
        <p:spPr>
          <a:xfrm>
            <a:off x="6254496"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55664" y="1828800"/>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Qué no es</a:t>
            </a:r>
          </a:p>
          <a:p>
            <a:pPr algn="l">
              <a:lnSpc>
                <a:spcPct val="120000"/>
              </a:lnSpc>
              <a:spcBef>
                <a:spcPts val="700"/>
              </a:spcBef>
            </a:pPr>
            <a:r>
              <a:rPr sz="1518" b="0">
                <a:solidFill>
                  <a:srgbClr val="33475B"/>
                </a:solidFill>
                <a:latin typeface="Aptos"/>
              </a:rPr>
              <a:t>Un proyecto que pueda elegir la pareja</a:t>
            </a:r>
          </a:p>
        </p:txBody>
      </p:sp>
      <p:sp>
        <p:nvSpPr>
          <p:cNvPr id="16" name="Rounded Rectangle 15"/>
          <p:cNvSpPr/>
          <p:nvPr/>
        </p:nvSpPr>
        <p:spPr>
          <a:xfrm>
            <a:off x="9098280"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99448" y="182880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9448"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La trampa</a:t>
            </a:r>
          </a:p>
          <a:p>
            <a:pPr algn="l">
              <a:lnSpc>
                <a:spcPct val="120000"/>
              </a:lnSpc>
              <a:spcBef>
                <a:spcPts val="700"/>
              </a:spcBef>
            </a:pPr>
            <a:r>
              <a:rPr sz="1518" b="0">
                <a:solidFill>
                  <a:srgbClr val="33475B"/>
                </a:solidFill>
                <a:latin typeface="Aptos"/>
              </a:rPr>
              <a:t>Cámara y ubicación con otro nombre tampoco cumple</a:t>
            </a:r>
          </a:p>
        </p:txBody>
      </p:sp>
      <p:sp>
        <p:nvSpPr>
          <p:cNvPr id="19" name="Rounded Rectangle 18"/>
          <p:cNvSpPr/>
          <p:nvPr/>
        </p:nvSpPr>
        <p:spPr>
          <a:xfrm>
            <a:off x="566928" y="4771861"/>
            <a:ext cx="11064240" cy="155578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4826725"/>
            <a:ext cx="63500" cy="144605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771861"/>
            <a:ext cx="10378440" cy="1555786"/>
          </a:xfrm>
          <a:prstGeom prst="rect">
            <a:avLst/>
          </a:prstGeom>
          <a:noFill/>
        </p:spPr>
        <p:txBody>
          <a:bodyPr wrap="square" anchor="ctr" lIns="0" rIns="0" tIns="0" bIns="0">
            <a:spAutoFit/>
          </a:bodyPr>
          <a:lstStyle/>
          <a:p>
            <a:pPr algn="l">
              <a:lnSpc>
                <a:spcPct val="125000"/>
              </a:lnSpc>
            </a:pPr>
            <a:r>
              <a:rPr sz="2570" b="1">
                <a:solidFill>
                  <a:srgbClr val="0E2841"/>
                </a:solidFill>
                <a:latin typeface="Aptos Display"/>
              </a:rPr>
              <a:t>Su pareja resuelve su propio problema: su dominio, sus casos de uso y su estrategia sin conexión.</a:t>
            </a:r>
          </a:p>
        </p:txBody>
      </p:sp>
      <p:sp>
        <p:nvSpPr>
          <p:cNvPr id="22" name="TextBox 2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23" name="TextBox 2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6 / 32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¿Qué suma puntos en el proyecto ABP?</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Agregar más pantallas y features de las previstas</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Un diagrama vistoso que se dibuja al final</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Una decisión en un ADR que el código respeta</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Documentar todo en la última semana</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7 / 32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02</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El marco de gobierno y SDD</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Lanzamiento · seis secciones, primero la decisión escrita</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ABP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SDD: primero se escribe la decisión</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759168"/>
            <a:ext cx="3432048" cy="169831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759168"/>
            <a:ext cx="3432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200729"/>
            <a:ext cx="3139440" cy="1154855"/>
          </a:xfrm>
          <a:prstGeom prst="rect">
            <a:avLst/>
          </a:prstGeom>
          <a:noFill/>
        </p:spPr>
        <p:txBody>
          <a:bodyPr wrap="square" anchor="t" lIns="0" rIns="0" tIns="0" bIns="0">
            <a:spAutoFit/>
          </a:bodyPr>
          <a:lstStyle/>
          <a:p>
            <a:pPr algn="ctr"/>
            <a:r>
              <a:rPr sz="1737" b="1">
                <a:solidFill>
                  <a:srgbClr val="0E2841"/>
                </a:solidFill>
                <a:latin typeface="Aptos Display"/>
              </a:rPr>
              <a:t>Diseño escrito</a:t>
            </a:r>
          </a:p>
          <a:p>
            <a:pPr algn="ctr">
              <a:lnSpc>
                <a:spcPct val="120000"/>
              </a:lnSpc>
              <a:spcBef>
                <a:spcPts val="700"/>
              </a:spcBef>
            </a:pPr>
            <a:r>
              <a:rPr sz="1345" b="0">
                <a:solidFill>
                  <a:srgbClr val="7A8B9E"/>
                </a:solidFill>
                <a:latin typeface="Aptos"/>
              </a:rPr>
              <a:t>Se revisa antes de codificar</a:t>
            </a:r>
          </a:p>
        </p:txBody>
      </p:sp>
      <p:sp>
        <p:nvSpPr>
          <p:cNvPr id="10" name="Chevron 9"/>
          <p:cNvSpPr/>
          <p:nvPr/>
        </p:nvSpPr>
        <p:spPr>
          <a:xfrm>
            <a:off x="4090416" y="2302628"/>
            <a:ext cx="201168" cy="611393"/>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83024" y="1759168"/>
            <a:ext cx="3432048" cy="169831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3024" y="1759168"/>
            <a:ext cx="3432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9328" y="2200729"/>
            <a:ext cx="3139440" cy="1154855"/>
          </a:xfrm>
          <a:prstGeom prst="rect">
            <a:avLst/>
          </a:prstGeom>
          <a:noFill/>
        </p:spPr>
        <p:txBody>
          <a:bodyPr wrap="square" anchor="t" lIns="0" rIns="0" tIns="0" bIns="0">
            <a:spAutoFit/>
          </a:bodyPr>
          <a:lstStyle/>
          <a:p>
            <a:pPr algn="ctr"/>
            <a:r>
              <a:rPr sz="1737" b="1">
                <a:solidFill>
                  <a:srgbClr val="0E2841"/>
                </a:solidFill>
                <a:latin typeface="Aptos Display"/>
              </a:rPr>
              <a:t>Código</a:t>
            </a:r>
          </a:p>
          <a:p>
            <a:pPr algn="ctr">
              <a:lnSpc>
                <a:spcPct val="120000"/>
              </a:lnSpc>
              <a:spcBef>
                <a:spcPts val="700"/>
              </a:spcBef>
            </a:pPr>
            <a:r>
              <a:rPr sz="1345" b="0">
                <a:solidFill>
                  <a:srgbClr val="7A8B9E"/>
                </a:solidFill>
                <a:latin typeface="Aptos"/>
              </a:rPr>
              <a:t>Respeta lo decidido</a:t>
            </a:r>
          </a:p>
        </p:txBody>
      </p:sp>
      <p:sp>
        <p:nvSpPr>
          <p:cNvPr id="14" name="Chevron 13"/>
          <p:cNvSpPr/>
          <p:nvPr/>
        </p:nvSpPr>
        <p:spPr>
          <a:xfrm>
            <a:off x="7906512" y="2302628"/>
            <a:ext cx="201168" cy="611393"/>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99120" y="1759168"/>
            <a:ext cx="3432048" cy="169831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99120" y="1759168"/>
            <a:ext cx="3432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45424" y="2200729"/>
            <a:ext cx="3139440" cy="1154855"/>
          </a:xfrm>
          <a:prstGeom prst="rect">
            <a:avLst/>
          </a:prstGeom>
          <a:noFill/>
        </p:spPr>
        <p:txBody>
          <a:bodyPr wrap="square" anchor="t" lIns="0" rIns="0" tIns="0" bIns="0">
            <a:spAutoFit/>
          </a:bodyPr>
          <a:lstStyle/>
          <a:p>
            <a:pPr algn="ctr"/>
            <a:r>
              <a:rPr sz="1737" b="1">
                <a:solidFill>
                  <a:srgbClr val="0E2841"/>
                </a:solidFill>
                <a:latin typeface="Aptos Display"/>
              </a:rPr>
              <a:t>Documento vivo</a:t>
            </a:r>
          </a:p>
          <a:p>
            <a:pPr algn="ctr">
              <a:lnSpc>
                <a:spcPct val="120000"/>
              </a:lnSpc>
              <a:spcBef>
                <a:spcPts val="700"/>
              </a:spcBef>
            </a:pPr>
            <a:r>
              <a:rPr sz="1345" b="0">
                <a:solidFill>
                  <a:srgbClr val="7A8B9E"/>
                </a:solidFill>
                <a:latin typeface="Aptos"/>
              </a:rPr>
              <a:t>Se actualiza con cada cambio</a:t>
            </a:r>
          </a:p>
        </p:txBody>
      </p:sp>
      <p:sp>
        <p:nvSpPr>
          <p:cNvPr id="18" name="Rounded Rectangle 17"/>
          <p:cNvSpPr/>
          <p:nvPr/>
        </p:nvSpPr>
        <p:spPr>
          <a:xfrm>
            <a:off x="566928" y="3845052"/>
            <a:ext cx="3480816" cy="2482596"/>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8096" y="4101084"/>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357116"/>
            <a:ext cx="3078480" cy="1769364"/>
          </a:xfrm>
          <a:prstGeom prst="rect">
            <a:avLst/>
          </a:prstGeom>
          <a:noFill/>
        </p:spPr>
        <p:txBody>
          <a:bodyPr wrap="square" anchor="t" lIns="0" rIns="0" tIns="0" bIns="0">
            <a:spAutoFit/>
          </a:bodyPr>
          <a:lstStyle/>
          <a:p>
            <a:pPr algn="l"/>
            <a:r>
              <a:rPr sz="1905" b="1">
                <a:solidFill>
                  <a:srgbClr val="0E2841"/>
                </a:solidFill>
                <a:latin typeface="Aptos Display"/>
              </a:rPr>
              <a:t>Diseño antes del código</a:t>
            </a:r>
          </a:p>
          <a:p>
            <a:pPr algn="l">
              <a:lnSpc>
                <a:spcPct val="120000"/>
              </a:lnSpc>
              <a:spcBef>
                <a:spcPts val="700"/>
              </a:spcBef>
            </a:pPr>
            <a:r>
              <a:rPr sz="1457" b="0">
                <a:solidFill>
                  <a:srgbClr val="33475B"/>
                </a:solidFill>
                <a:latin typeface="Aptos"/>
              </a:rPr>
              <a:t>Sin diseño revisado no empieza la feature</a:t>
            </a:r>
          </a:p>
        </p:txBody>
      </p:sp>
      <p:sp>
        <p:nvSpPr>
          <p:cNvPr id="21" name="Rounded Rectangle 20"/>
          <p:cNvSpPr/>
          <p:nvPr/>
        </p:nvSpPr>
        <p:spPr>
          <a:xfrm>
            <a:off x="4358640" y="3845052"/>
            <a:ext cx="3480816" cy="2482596"/>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59808" y="4101084"/>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59808" y="4357116"/>
            <a:ext cx="3078480" cy="1769364"/>
          </a:xfrm>
          <a:prstGeom prst="rect">
            <a:avLst/>
          </a:prstGeom>
          <a:noFill/>
        </p:spPr>
        <p:txBody>
          <a:bodyPr wrap="square" anchor="t" lIns="0" rIns="0" tIns="0" bIns="0">
            <a:spAutoFit/>
          </a:bodyPr>
          <a:lstStyle/>
          <a:p>
            <a:pPr algn="l"/>
            <a:r>
              <a:rPr sz="1905" b="1">
                <a:solidFill>
                  <a:srgbClr val="0E2841"/>
                </a:solidFill>
                <a:latin typeface="Aptos Display"/>
              </a:rPr>
              <a:t>Documentación viva</a:t>
            </a:r>
          </a:p>
          <a:p>
            <a:pPr algn="l">
              <a:lnSpc>
                <a:spcPct val="120000"/>
              </a:lnSpc>
              <a:spcBef>
                <a:spcPts val="700"/>
              </a:spcBef>
            </a:pPr>
            <a:r>
              <a:rPr sz="1457" b="0">
                <a:solidFill>
                  <a:srgbClr val="33475B"/>
                </a:solidFill>
                <a:latin typeface="Aptos"/>
              </a:rPr>
              <a:t>Desactualizada es un error escrito en prosa</a:t>
            </a:r>
          </a:p>
        </p:txBody>
      </p:sp>
      <p:sp>
        <p:nvSpPr>
          <p:cNvPr id="24" name="Rounded Rectangle 23"/>
          <p:cNvSpPr/>
          <p:nvPr/>
        </p:nvSpPr>
        <p:spPr>
          <a:xfrm>
            <a:off x="8150352" y="3845052"/>
            <a:ext cx="3480816" cy="2482596"/>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51520" y="4101084"/>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51520" y="4357116"/>
            <a:ext cx="3078480" cy="1769364"/>
          </a:xfrm>
          <a:prstGeom prst="rect">
            <a:avLst/>
          </a:prstGeom>
          <a:noFill/>
        </p:spPr>
        <p:txBody>
          <a:bodyPr wrap="square" anchor="t" lIns="0" rIns="0" tIns="0" bIns="0">
            <a:spAutoFit/>
          </a:bodyPr>
          <a:lstStyle/>
          <a:p>
            <a:pPr algn="l"/>
            <a:r>
              <a:rPr sz="1905" b="1">
                <a:solidFill>
                  <a:srgbClr val="0E2841"/>
                </a:solidFill>
                <a:latin typeface="Aptos Display"/>
              </a:rPr>
              <a:t>Trazabilidad</a:t>
            </a:r>
          </a:p>
          <a:p>
            <a:pPr algn="l">
              <a:lnSpc>
                <a:spcPct val="120000"/>
              </a:lnSpc>
              <a:spcBef>
                <a:spcPts val="700"/>
              </a:spcBef>
            </a:pPr>
            <a:r>
              <a:rPr sz="1457" b="0">
                <a:solidFill>
                  <a:srgbClr val="33475B"/>
                </a:solidFill>
                <a:latin typeface="Aptos"/>
              </a:rPr>
              <a:t>Pantalla, historia, criterio y prueba</a:t>
            </a:r>
          </a:p>
        </p:txBody>
      </p:sp>
      <p:sp>
        <p:nvSpPr>
          <p:cNvPr id="27" name="TextBox 26"/>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28" name="TextBox 27"/>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8 / 32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ABP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Seis secciones que se llenan en orden</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419850"/>
        </p:xfrm>
        <a:graphic>
          <a:graphicData uri="http://schemas.openxmlformats.org/drawingml/2006/table">
            <a:tbl>
              <a:tblPr firstRow="1">
                <a:tableStyleId>{5C22544A-7EE6-4342-B048-85BDC9FD1C3A}</a:tableStyleId>
              </a:tblPr>
              <a:tblGrid>
                <a:gridCol w="3688080"/>
                <a:gridCol w="3688080"/>
                <a:gridCol w="3688080"/>
              </a:tblGrid>
              <a:tr h="488550">
                <a:tc>
                  <a:txBody>
                    <a:bodyPr wrap="square"/>
                    <a:lstStyle/>
                    <a:p>
                      <a:r>
                        <a:rPr sz="1513" b="1">
                          <a:solidFill>
                            <a:srgbClr val="FFFFFF"/>
                          </a:solidFill>
                          <a:latin typeface="Aptos"/>
                        </a:rPr>
                        <a:t>Sección</a:t>
                      </a:r>
                    </a:p>
                  </a:txBody>
                  <a:tcPr anchor="ctr" marL="146304" marR="146304">
                    <a:solidFill>
                      <a:srgbClr val="156082"/>
                    </a:solidFill>
                  </a:tcPr>
                </a:tc>
                <a:tc>
                  <a:txBody>
                    <a:bodyPr wrap="square"/>
                    <a:lstStyle/>
                    <a:p>
                      <a:r>
                        <a:rPr sz="1513" b="1">
                          <a:solidFill>
                            <a:srgbClr val="FFFFFF"/>
                          </a:solidFill>
                          <a:latin typeface="Aptos"/>
                        </a:rPr>
                        <a:t>Qué debe responder</a:t>
                      </a:r>
                    </a:p>
                  </a:txBody>
                  <a:tcPr anchor="ctr" marL="146304" marR="146304">
                    <a:solidFill>
                      <a:srgbClr val="156082"/>
                    </a:solidFill>
                  </a:tcPr>
                </a:tc>
                <a:tc>
                  <a:txBody>
                    <a:bodyPr wrap="square"/>
                    <a:lstStyle/>
                    <a:p>
                      <a:r>
                        <a:rPr sz="1513" b="1">
                          <a:solidFill>
                            <a:srgbClr val="FFFFFF"/>
                          </a:solidFill>
                          <a:latin typeface="Aptos"/>
                        </a:rPr>
                        <a:t>Hito</a:t>
                      </a:r>
                    </a:p>
                  </a:txBody>
                  <a:tcPr anchor="ctr" marL="146304" marR="146304">
                    <a:solidFill>
                      <a:srgbClr val="156082"/>
                    </a:solidFill>
                  </a:tcPr>
                </a:tc>
              </a:tr>
              <a:tr h="488550">
                <a:tc>
                  <a:txBody>
                    <a:bodyPr wrap="square"/>
                    <a:lstStyle/>
                    <a:p>
                      <a:r>
                        <a:rPr sz="1413" b="1">
                          <a:solidFill>
                            <a:srgbClr val="33475B"/>
                          </a:solidFill>
                          <a:latin typeface="Aptos"/>
                        </a:rPr>
                        <a:t>00 Gobierno</a:t>
                      </a:r>
                    </a:p>
                  </a:txBody>
                  <a:tcPr anchor="ctr" marL="146304" marR="146304">
                    <a:solidFill>
                      <a:srgbClr val="FFFFFF"/>
                    </a:solidFill>
                  </a:tcPr>
                </a:tc>
                <a:tc>
                  <a:txBody>
                    <a:bodyPr wrap="square"/>
                    <a:lstStyle/>
                    <a:p>
                      <a:r>
                        <a:rPr sz="1413" b="0">
                          <a:solidFill>
                            <a:srgbClr val="33475B"/>
                          </a:solidFill>
                          <a:latin typeface="Aptos"/>
                        </a:rPr>
                        <a:t>Plan, listo y hecho, git, seguridad</a:t>
                      </a:r>
                    </a:p>
                  </a:txBody>
                  <a:tcPr anchor="ctr" marL="146304" marR="146304">
                    <a:solidFill>
                      <a:srgbClr val="FFFFFF"/>
                    </a:solidFill>
                  </a:tcPr>
                </a:tc>
                <a:tc>
                  <a:txBody>
                    <a:bodyPr wrap="square"/>
                    <a:lstStyle/>
                    <a:p>
                      <a:r>
                        <a:rPr sz="1413" b="0">
                          <a:solidFill>
                            <a:srgbClr val="33475B"/>
                          </a:solidFill>
                          <a:latin typeface="Aptos"/>
                        </a:rPr>
                        <a:t>H1</a:t>
                      </a:r>
                    </a:p>
                  </a:txBody>
                  <a:tcPr anchor="ctr" marL="146304" marR="146304">
                    <a:solidFill>
                      <a:srgbClr val="FFFFFF"/>
                    </a:solidFill>
                  </a:tcPr>
                </a:tc>
              </a:tr>
              <a:tr h="488550">
                <a:tc>
                  <a:txBody>
                    <a:bodyPr wrap="square"/>
                    <a:lstStyle/>
                    <a:p>
                      <a:r>
                        <a:rPr sz="1413" b="1">
                          <a:solidFill>
                            <a:srgbClr val="33475B"/>
                          </a:solidFill>
                          <a:latin typeface="Aptos"/>
                        </a:rPr>
                        <a:t>01 Arquitectura</a:t>
                      </a:r>
                    </a:p>
                  </a:txBody>
                  <a:tcPr anchor="ctr" marL="146304" marR="146304">
                    <a:solidFill>
                      <a:srgbClr val="F4F7FA"/>
                    </a:solidFill>
                  </a:tcPr>
                </a:tc>
                <a:tc>
                  <a:txBody>
                    <a:bodyPr wrap="square"/>
                    <a:lstStyle/>
                    <a:p>
                      <a:r>
                        <a:rPr sz="1413" b="0">
                          <a:solidFill>
                            <a:srgbClr val="33475B"/>
                          </a:solidFill>
                          <a:latin typeface="Aptos"/>
                        </a:rPr>
                        <a:t>Capas, estado, rutas y ADR</a:t>
                      </a:r>
                    </a:p>
                  </a:txBody>
                  <a:tcPr anchor="ctr" marL="146304" marR="146304">
                    <a:solidFill>
                      <a:srgbClr val="F4F7FA"/>
                    </a:solidFill>
                  </a:tcPr>
                </a:tc>
                <a:tc>
                  <a:txBody>
                    <a:bodyPr wrap="square"/>
                    <a:lstStyle/>
                    <a:p>
                      <a:r>
                        <a:rPr sz="1413" b="0">
                          <a:solidFill>
                            <a:srgbClr val="33475B"/>
                          </a:solidFill>
                          <a:latin typeface="Aptos"/>
                        </a:rPr>
                        <a:t>H1; stack en H2</a:t>
                      </a:r>
                    </a:p>
                  </a:txBody>
                  <a:tcPr anchor="ctr" marL="146304" marR="146304">
                    <a:solidFill>
                      <a:srgbClr val="F4F7FA"/>
                    </a:solidFill>
                  </a:tcPr>
                </a:tc>
              </a:tr>
              <a:tr h="488550">
                <a:tc>
                  <a:txBody>
                    <a:bodyPr wrap="square"/>
                    <a:lstStyle/>
                    <a:p>
                      <a:r>
                        <a:rPr sz="1413" b="1">
                          <a:solidFill>
                            <a:srgbClr val="33475B"/>
                          </a:solidFill>
                          <a:latin typeface="Aptos"/>
                        </a:rPr>
                        <a:t>02 Código y UI</a:t>
                      </a:r>
                    </a:p>
                  </a:txBody>
                  <a:tcPr anchor="ctr" marL="146304" marR="146304">
                    <a:solidFill>
                      <a:srgbClr val="FFFFFF"/>
                    </a:solidFill>
                  </a:tcPr>
                </a:tc>
                <a:tc>
                  <a:txBody>
                    <a:bodyPr wrap="square"/>
                    <a:lstStyle/>
                    <a:p>
                      <a:r>
                        <a:rPr sz="1413" b="0">
                          <a:solidFill>
                            <a:srgbClr val="33475B"/>
                          </a:solidFill>
                          <a:latin typeface="Aptos"/>
                        </a:rPr>
                        <a:t>Estándares, diseño y accesibilidad</a:t>
                      </a:r>
                    </a:p>
                  </a:txBody>
                  <a:tcPr anchor="ctr" marL="146304" marR="146304">
                    <a:solidFill>
                      <a:srgbClr val="FFFFFF"/>
                    </a:solidFill>
                  </a:tcPr>
                </a:tc>
                <a:tc>
                  <a:txBody>
                    <a:bodyPr wrap="square"/>
                    <a:lstStyle/>
                    <a:p>
                      <a:r>
                        <a:rPr sz="1413" b="0">
                          <a:solidFill>
                            <a:srgbClr val="33475B"/>
                          </a:solidFill>
                          <a:latin typeface="Aptos"/>
                        </a:rPr>
                        <a:t>H2</a:t>
                      </a:r>
                    </a:p>
                  </a:txBody>
                  <a:tcPr anchor="ctr" marL="146304" marR="146304">
                    <a:solidFill>
                      <a:srgbClr val="FFFFFF"/>
                    </a:solidFill>
                  </a:tcPr>
                </a:tc>
              </a:tr>
              <a:tr h="488550">
                <a:tc>
                  <a:txBody>
                    <a:bodyPr wrap="square"/>
                    <a:lstStyle/>
                    <a:p>
                      <a:r>
                        <a:rPr sz="1413" b="1">
                          <a:solidFill>
                            <a:srgbClr val="33475B"/>
                          </a:solidFill>
                          <a:latin typeface="Aptos"/>
                        </a:rPr>
                        <a:t>03 API y datos</a:t>
                      </a:r>
                    </a:p>
                  </a:txBody>
                  <a:tcPr anchor="ctr" marL="146304" marR="146304">
                    <a:solidFill>
                      <a:srgbClr val="F4F7FA"/>
                    </a:solidFill>
                  </a:tcPr>
                </a:tc>
                <a:tc>
                  <a:txBody>
                    <a:bodyPr wrap="square"/>
                    <a:lstStyle/>
                    <a:p>
                      <a:r>
                        <a:rPr sz="1413" b="0">
                          <a:solidFill>
                            <a:srgbClr val="33475B"/>
                          </a:solidFill>
                          <a:latin typeface="Aptos"/>
                        </a:rPr>
                        <a:t>Red, sesión, almacenamiento, offline</a:t>
                      </a:r>
                    </a:p>
                  </a:txBody>
                  <a:tcPr anchor="ctr" marL="146304" marR="146304">
                    <a:solidFill>
                      <a:srgbClr val="F4F7FA"/>
                    </a:solidFill>
                  </a:tcPr>
                </a:tc>
                <a:tc>
                  <a:txBody>
                    <a:bodyPr wrap="square"/>
                    <a:lstStyle/>
                    <a:p>
                      <a:r>
                        <a:rPr sz="1413" b="0">
                          <a:solidFill>
                            <a:srgbClr val="33475B"/>
                          </a:solidFill>
                          <a:latin typeface="Aptos"/>
                        </a:rPr>
                        <a:t>H2</a:t>
                      </a:r>
                    </a:p>
                  </a:txBody>
                  <a:tcPr anchor="ctr" marL="146304" marR="146304">
                    <a:solidFill>
                      <a:srgbClr val="F4F7FA"/>
                    </a:solidFill>
                  </a:tcPr>
                </a:tc>
              </a:tr>
              <a:tr h="488550">
                <a:tc>
                  <a:txBody>
                    <a:bodyPr wrap="square"/>
                    <a:lstStyle/>
                    <a:p>
                      <a:r>
                        <a:rPr sz="1413" b="1">
                          <a:solidFill>
                            <a:srgbClr val="33475B"/>
                          </a:solidFill>
                          <a:latin typeface="Aptos"/>
                        </a:rPr>
                        <a:t>04 Calidad</a:t>
                      </a:r>
                    </a:p>
                  </a:txBody>
                  <a:tcPr anchor="ctr" marL="146304" marR="146304">
                    <a:solidFill>
                      <a:srgbClr val="FFFFFF"/>
                    </a:solidFill>
                  </a:tcPr>
                </a:tc>
                <a:tc>
                  <a:txBody>
                    <a:bodyPr wrap="square"/>
                    <a:lstStyle/>
                    <a:p>
                      <a:r>
                        <a:rPr sz="1413" b="0">
                          <a:solidFill>
                            <a:srgbClr val="33475B"/>
                          </a:solidFill>
                          <a:latin typeface="Aptos"/>
                        </a:rPr>
                        <a:t>Pruebas, rendimiento, seguridad</a:t>
                      </a:r>
                    </a:p>
                  </a:txBody>
                  <a:tcPr anchor="ctr" marL="146304" marR="146304">
                    <a:solidFill>
                      <a:srgbClr val="FFFFFF"/>
                    </a:solidFill>
                  </a:tcPr>
                </a:tc>
                <a:tc>
                  <a:txBody>
                    <a:bodyPr wrap="square"/>
                    <a:lstStyle/>
                    <a:p>
                      <a:r>
                        <a:rPr sz="1413" b="0">
                          <a:solidFill>
                            <a:srgbClr val="33475B"/>
                          </a:solidFill>
                          <a:latin typeface="Aptos"/>
                        </a:rPr>
                        <a:t>H3</a:t>
                      </a:r>
                    </a:p>
                  </a:txBody>
                  <a:tcPr anchor="ctr" marL="146304" marR="146304">
                    <a:solidFill>
                      <a:srgbClr val="FFFFFF"/>
                    </a:solidFill>
                  </a:tcPr>
                </a:tc>
              </a:tr>
              <a:tr h="488550">
                <a:tc>
                  <a:txBody>
                    <a:bodyPr wrap="square"/>
                    <a:lstStyle/>
                    <a:p>
                      <a:r>
                        <a:rPr sz="1413" b="1">
                          <a:solidFill>
                            <a:srgbClr val="33475B"/>
                          </a:solidFill>
                          <a:latin typeface="Aptos"/>
                        </a:rPr>
                        <a:t>05 Release</a:t>
                      </a:r>
                    </a:p>
                  </a:txBody>
                  <a:tcPr anchor="ctr" marL="146304" marR="146304">
                    <a:solidFill>
                      <a:srgbClr val="F4F7FA"/>
                    </a:solidFill>
                  </a:tcPr>
                </a:tc>
                <a:tc>
                  <a:txBody>
                    <a:bodyPr wrap="square"/>
                    <a:lstStyle/>
                    <a:p>
                      <a:r>
                        <a:rPr sz="1413" b="0">
                          <a:solidFill>
                            <a:srgbClr val="33475B"/>
                          </a:solidFill>
                          <a:latin typeface="Aptos"/>
                        </a:rPr>
                        <a:t>Firma, despliegue, observabilidad</a:t>
                      </a:r>
                    </a:p>
                  </a:txBody>
                  <a:tcPr anchor="ctr" marL="146304" marR="146304">
                    <a:solidFill>
                      <a:srgbClr val="F4F7FA"/>
                    </a:solidFill>
                  </a:tcPr>
                </a:tc>
                <a:tc>
                  <a:txBody>
                    <a:bodyPr wrap="square"/>
                    <a:lstStyle/>
                    <a:p>
                      <a:r>
                        <a:rPr sz="1413" b="0">
                          <a:solidFill>
                            <a:srgbClr val="33475B"/>
                          </a:solidFill>
                          <a:latin typeface="Aptos"/>
                        </a:rPr>
                        <a:t>H3</a:t>
                      </a:r>
                    </a:p>
                  </a:txBody>
                  <a:tcPr anchor="ctr" marL="146304" marR="146304">
                    <a:solidFill>
                      <a:srgbClr val="F4F7FA"/>
                    </a:solidFill>
                  </a:tcPr>
                </a:tc>
              </a:tr>
            </a:tbl>
          </a:graphicData>
        </a:graphic>
      </p:graphicFrame>
      <p:sp>
        <p:nvSpPr>
          <p:cNvPr id="8" name="Rounded Rectangle 7"/>
          <p:cNvSpPr/>
          <p:nvPr/>
        </p:nvSpPr>
        <p:spPr>
          <a:xfrm>
            <a:off x="566928" y="5193792"/>
            <a:ext cx="11064240" cy="113385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248656"/>
            <a:ext cx="63500" cy="102412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193792"/>
            <a:ext cx="10378440" cy="1133856"/>
          </a:xfrm>
          <a:prstGeom prst="rect">
            <a:avLst/>
          </a:prstGeom>
          <a:noFill/>
        </p:spPr>
        <p:txBody>
          <a:bodyPr wrap="square" anchor="ctr" lIns="0" rIns="0" tIns="0" bIns="0">
            <a:spAutoFit/>
          </a:bodyPr>
          <a:lstStyle/>
          <a:p>
            <a:pPr algn="l">
              <a:lnSpc>
                <a:spcPct val="125000"/>
              </a:lnSpc>
            </a:pPr>
            <a:r>
              <a:rPr sz="2220" b="1">
                <a:solidFill>
                  <a:srgbClr val="0E2841"/>
                </a:solidFill>
                <a:latin typeface="Aptos Display"/>
              </a:rPr>
              <a:t>No se define la red (03) sin saber en qué capa vive (01), ni se firma un release (05) sin las pruebas que lo autorizan (04).</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9 / 32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ABP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La carpeta docs/ nace el primer día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3015691"/>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1755648"/>
            <a:ext cx="10515600" cy="2668219"/>
          </a:xfrm>
          <a:prstGeom prst="rect">
            <a:avLst/>
          </a:prstGeom>
          <a:noFill/>
        </p:spPr>
        <p:txBody>
          <a:bodyPr wrap="none" lIns="0" tIns="0">
            <a:spAutoFit/>
          </a:bodyPr>
          <a:lstStyle/>
          <a:p>
            <a:pPr>
              <a:lnSpc>
                <a:spcPct val="125000"/>
              </a:lnSpc>
            </a:pPr>
            <a:r>
              <a:rPr sz="1592">
                <a:solidFill>
                  <a:srgbClr val="E8E8E8"/>
                </a:solidFill>
                <a:latin typeface="Consolas"/>
              </a:rPr>
              <a:t>docs/</a:t>
            </a:r>
          </a:p>
          <a:p>
            <a:pPr>
              <a:lnSpc>
                <a:spcPct val="125000"/>
              </a:lnSpc>
            </a:pPr>
            <a:r>
              <a:rPr sz="1592">
                <a:solidFill>
                  <a:srgbClr val="E8E8E8"/>
                </a:solidFill>
                <a:latin typeface="Consolas"/>
              </a:rPr>
              <a:t>├── 00-gobierno/       acuerdos, backlog, retrospectivas</a:t>
            </a:r>
          </a:p>
          <a:p>
            <a:pPr>
              <a:lnSpc>
                <a:spcPct val="125000"/>
              </a:lnSpc>
            </a:pPr>
            <a:r>
              <a:rPr sz="1592">
                <a:solidFill>
                  <a:srgbClr val="E8E8E8"/>
                </a:solidFill>
                <a:latin typeface="Consolas"/>
              </a:rPr>
              <a:t>├── 01-arquitectura/   estructura, capas, rutas, features, ADR</a:t>
            </a:r>
          </a:p>
          <a:p>
            <a:pPr>
              <a:lnSpc>
                <a:spcPct val="125000"/>
              </a:lnSpc>
            </a:pPr>
            <a:r>
              <a:rPr sz="1592">
                <a:solidFill>
                  <a:srgbClr val="E8E8E8"/>
                </a:solidFill>
                <a:latin typeface="Consolas"/>
              </a:rPr>
              <a:t>├── 02-codigo-y-ui/    estándares, sistema de diseño, accesibilidad</a:t>
            </a:r>
          </a:p>
          <a:p>
            <a:pPr>
              <a:lnSpc>
                <a:spcPct val="125000"/>
              </a:lnSpc>
            </a:pPr>
            <a:r>
              <a:rPr sz="1592">
                <a:solidFill>
                  <a:srgbClr val="E8E8E8"/>
                </a:solidFill>
                <a:latin typeface="Consolas"/>
              </a:rPr>
              <a:t>├── 03-api-y-datos/    red, autenticación, persistencia, offline</a:t>
            </a:r>
          </a:p>
          <a:p>
            <a:pPr>
              <a:lnSpc>
                <a:spcPct val="125000"/>
              </a:lnSpc>
            </a:pPr>
            <a:r>
              <a:rPr sz="1592">
                <a:solidFill>
                  <a:srgbClr val="E8E8E8"/>
                </a:solidFill>
                <a:latin typeface="Consolas"/>
              </a:rPr>
              <a:t>├── 04-calidad/        pruebas, rendimiento, seguridad móvil</a:t>
            </a:r>
          </a:p>
          <a:p>
            <a:pPr>
              <a:lnSpc>
                <a:spcPct val="125000"/>
              </a:lnSpc>
            </a:pPr>
            <a:r>
              <a:rPr sz="1592">
                <a:solidFill>
                  <a:srgbClr val="E8E8E8"/>
                </a:solidFill>
                <a:latin typeface="Consolas"/>
              </a:rPr>
              <a:t>└── 05-release/        CI/CD, firma y tiendas, observabilidad</a:t>
            </a:r>
          </a:p>
        </p:txBody>
      </p:sp>
      <p:sp>
        <p:nvSpPr>
          <p:cNvPr id="9" name="Rounded Rectangle 8"/>
          <p:cNvSpPr/>
          <p:nvPr/>
        </p:nvSpPr>
        <p:spPr>
          <a:xfrm>
            <a:off x="566928" y="4789627"/>
            <a:ext cx="11064240" cy="1538020"/>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4844491"/>
            <a:ext cx="63500" cy="142829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789627"/>
            <a:ext cx="10378440" cy="1538020"/>
          </a:xfrm>
          <a:prstGeom prst="rect">
            <a:avLst/>
          </a:prstGeom>
          <a:noFill/>
        </p:spPr>
        <p:txBody>
          <a:bodyPr wrap="square" anchor="ctr" lIns="0" rIns="0" tIns="0" bIns="0">
            <a:spAutoFit/>
          </a:bodyPr>
          <a:lstStyle/>
          <a:p>
            <a:pPr algn="l">
              <a:lnSpc>
                <a:spcPct val="125000"/>
              </a:lnSpc>
            </a:pPr>
            <a:r>
              <a:rPr sz="2416" b="1">
                <a:solidFill>
                  <a:srgbClr val="0E2841"/>
                </a:solidFill>
                <a:latin typeface="Aptos Display"/>
              </a:rPr>
              <a:t>Una plantilla se copia, se diligencia y se registra; nunca se edita en su sitio. El commit docs(...) va antes del feat(...).</a:t>
            </a:r>
          </a:p>
        </p:txBody>
      </p:sp>
      <p:sp>
        <p:nvSpPr>
          <p:cNvPr id="12" name="TextBox 1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13" name="TextBox 1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10 / 32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¿Qué prueba que la pareja aplicó SDD?</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Un documento final con muchos diagramas</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El commit docs(...) aparece antes del feat(...)</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La carpeta docs/ creada el día de la entrega</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Un README que explica cómo ejecutar la app</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11 / 32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03</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Parejas, problema y ocho mínimos</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Lanzamiento · el H0 vence el viernes 16 de octubre</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ABP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Los dos programan, los dos documentan</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82880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H1, H3 y H4</a:t>
            </a:r>
          </a:p>
          <a:p>
            <a:pPr algn="l">
              <a:lnSpc>
                <a:spcPct val="120000"/>
              </a:lnSpc>
              <a:spcBef>
                <a:spcPts val="700"/>
              </a:spcBef>
            </a:pPr>
            <a:r>
              <a:rPr sz="1518" b="0">
                <a:solidFill>
                  <a:srgbClr val="33475B"/>
                </a:solidFill>
                <a:latin typeface="Aptos"/>
              </a:rPr>
              <a:t>El mismo PDF con los dos nombres; quien no sube, no entrega</a:t>
            </a:r>
          </a:p>
        </p:txBody>
      </p:sp>
      <p:sp>
        <p:nvSpPr>
          <p:cNvPr id="10" name="Rounded Rectangle 9"/>
          <p:cNvSpPr/>
          <p:nvPr/>
        </p:nvSpPr>
        <p:spPr>
          <a:xfrm>
            <a:off x="3410712"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11880" y="1828800"/>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H2</a:t>
            </a:r>
          </a:p>
          <a:p>
            <a:pPr algn="l">
              <a:lnSpc>
                <a:spcPct val="120000"/>
              </a:lnSpc>
              <a:spcBef>
                <a:spcPts val="700"/>
              </a:spcBef>
            </a:pPr>
            <a:r>
              <a:rPr sz="1518" b="0">
                <a:solidFill>
                  <a:srgbClr val="33475B"/>
                </a:solidFill>
                <a:latin typeface="Aptos"/>
              </a:rPr>
              <a:t>Individual: mismo proyecto, texto propio</a:t>
            </a:r>
          </a:p>
        </p:txBody>
      </p:sp>
      <p:sp>
        <p:nvSpPr>
          <p:cNvPr id="13" name="Rounded Rectangle 12"/>
          <p:cNvSpPr/>
          <p:nvPr/>
        </p:nvSpPr>
        <p:spPr>
          <a:xfrm>
            <a:off x="6254496"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55664" y="1828800"/>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Trío</a:t>
            </a:r>
          </a:p>
          <a:p>
            <a:pPr algn="l">
              <a:lnSpc>
                <a:spcPct val="120000"/>
              </a:lnSpc>
              <a:spcBef>
                <a:spcPts val="700"/>
              </a:spcBef>
            </a:pPr>
            <a:r>
              <a:rPr sz="1518" b="0">
                <a:solidFill>
                  <a:srgbClr val="33475B"/>
                </a:solidFill>
                <a:latin typeface="Aptos"/>
              </a:rPr>
              <a:t>Solo uno, si son impares, con un tercer plugin nativo</a:t>
            </a:r>
          </a:p>
        </p:txBody>
      </p:sp>
      <p:sp>
        <p:nvSpPr>
          <p:cNvPr id="16" name="Rounded Rectangle 15"/>
          <p:cNvSpPr/>
          <p:nvPr/>
        </p:nvSpPr>
        <p:spPr>
          <a:xfrm>
            <a:off x="9098280"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99448" y="182880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9448"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Repositorio</a:t>
            </a:r>
          </a:p>
          <a:p>
            <a:pPr algn="l">
              <a:lnSpc>
                <a:spcPct val="120000"/>
              </a:lnSpc>
              <a:spcBef>
                <a:spcPts val="700"/>
              </a:spcBef>
            </a:pPr>
            <a:r>
              <a:rPr sz="1518" b="0">
                <a:solidFill>
                  <a:srgbClr val="33475B"/>
                </a:solidFill>
                <a:latin typeface="Aptos"/>
              </a:rPr>
              <a:t>Commits de ambos y aporte declarado en el ABP</a:t>
            </a:r>
          </a:p>
        </p:txBody>
      </p:sp>
      <p:sp>
        <p:nvSpPr>
          <p:cNvPr id="19" name="Rounded Rectangle 18"/>
          <p:cNvSpPr/>
          <p:nvPr/>
        </p:nvSpPr>
        <p:spPr>
          <a:xfrm>
            <a:off x="566928" y="4771861"/>
            <a:ext cx="11064240" cy="155578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4826725"/>
            <a:ext cx="63500" cy="144605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771861"/>
            <a:ext cx="10378440" cy="1555786"/>
          </a:xfrm>
          <a:prstGeom prst="rect">
            <a:avLst/>
          </a:prstGeom>
          <a:noFill/>
        </p:spPr>
        <p:txBody>
          <a:bodyPr wrap="square" anchor="ctr" lIns="0" rIns="0" tIns="0" bIns="0">
            <a:spAutoFit/>
          </a:bodyPr>
          <a:lstStyle/>
          <a:p>
            <a:pPr algn="l">
              <a:lnSpc>
                <a:spcPct val="125000"/>
              </a:lnSpc>
            </a:pPr>
            <a:r>
              <a:rPr sz="2570" b="1">
                <a:solidFill>
                  <a:srgbClr val="0E2841"/>
                </a:solidFill>
                <a:latin typeface="Aptos Display"/>
              </a:rPr>
              <a:t>Uno es dueño del producto y otro líder técnico, pero los dos desarrollan, prueban y revisan el PR del otro.</a:t>
            </a:r>
          </a:p>
        </p:txBody>
      </p:sp>
      <p:sp>
        <p:nvSpPr>
          <p:cNvPr id="22" name="TextBox 2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23" name="TextBox 2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12 / 32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ABP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H0: el problema se publica el 16-oct</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Oval 6"/>
          <p:cNvSpPr/>
          <p:nvPr/>
        </p:nvSpPr>
        <p:spPr>
          <a:xfrm>
            <a:off x="585216" y="1820672"/>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572768"/>
            <a:ext cx="10698480" cy="596392"/>
          </a:xfrm>
          <a:prstGeom prst="rect">
            <a:avLst/>
          </a:prstGeom>
          <a:noFill/>
        </p:spPr>
        <p:txBody>
          <a:bodyPr wrap="square" anchor="ctr" lIns="0" rIns="0" tIns="0" bIns="0">
            <a:spAutoFit/>
          </a:bodyPr>
          <a:lstStyle/>
          <a:p>
            <a:pPr algn="l"/>
            <a:r>
              <a:rPr sz="2297" b="1">
                <a:solidFill>
                  <a:srgbClr val="0E2841"/>
                </a:solidFill>
                <a:latin typeface="Aptos"/>
              </a:rPr>
              <a:t>Integrantes y problema en dos frases</a:t>
            </a:r>
          </a:p>
        </p:txBody>
      </p:sp>
      <p:sp>
        <p:nvSpPr>
          <p:cNvPr id="9" name="Oval 8"/>
          <p:cNvSpPr/>
          <p:nvPr/>
        </p:nvSpPr>
        <p:spPr>
          <a:xfrm>
            <a:off x="585216" y="2417064"/>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169160"/>
            <a:ext cx="10698480" cy="596392"/>
          </a:xfrm>
          <a:prstGeom prst="rect">
            <a:avLst/>
          </a:prstGeom>
          <a:noFill/>
        </p:spPr>
        <p:txBody>
          <a:bodyPr wrap="square" anchor="ctr" lIns="0" rIns="0" tIns="0" bIns="0">
            <a:spAutoFit/>
          </a:bodyPr>
          <a:lstStyle/>
          <a:p>
            <a:pPr algn="l"/>
            <a:r>
              <a:rPr sz="2297" b="1">
                <a:solidFill>
                  <a:srgbClr val="0E2841"/>
                </a:solidFill>
                <a:latin typeface="Aptos"/>
              </a:rPr>
              <a:t>El usuario que sufre el problema</a:t>
            </a:r>
          </a:p>
        </p:txBody>
      </p:sp>
      <p:sp>
        <p:nvSpPr>
          <p:cNvPr id="11" name="Oval 10"/>
          <p:cNvSpPr/>
          <p:nvPr/>
        </p:nvSpPr>
        <p:spPr>
          <a:xfrm>
            <a:off x="585216" y="3013456"/>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2765552"/>
            <a:ext cx="10698480" cy="596392"/>
          </a:xfrm>
          <a:prstGeom prst="rect">
            <a:avLst/>
          </a:prstGeom>
          <a:noFill/>
        </p:spPr>
        <p:txBody>
          <a:bodyPr wrap="square" anchor="ctr" lIns="0" rIns="0" tIns="0" bIns="0">
            <a:spAutoFit/>
          </a:bodyPr>
          <a:lstStyle/>
          <a:p>
            <a:pPr algn="l"/>
            <a:r>
              <a:rPr sz="2297" b="1">
                <a:solidFill>
                  <a:srgbClr val="0E2841"/>
                </a:solidFill>
                <a:latin typeface="Aptos"/>
              </a:rPr>
              <a:t>Dos o tres features previstas</a:t>
            </a:r>
          </a:p>
        </p:txBody>
      </p:sp>
      <p:sp>
        <p:nvSpPr>
          <p:cNvPr id="13" name="Oval 12"/>
          <p:cNvSpPr/>
          <p:nvPr/>
        </p:nvSpPr>
        <p:spPr>
          <a:xfrm>
            <a:off x="585216" y="3609848"/>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3361944"/>
            <a:ext cx="10698480" cy="596392"/>
          </a:xfrm>
          <a:prstGeom prst="rect">
            <a:avLst/>
          </a:prstGeom>
          <a:noFill/>
        </p:spPr>
        <p:txBody>
          <a:bodyPr wrap="square" anchor="ctr" lIns="0" rIns="0" tIns="0" bIns="0">
            <a:spAutoFit/>
          </a:bodyPr>
          <a:lstStyle/>
          <a:p>
            <a:pPr algn="l"/>
            <a:r>
              <a:rPr sz="2297" b="1">
                <a:solidFill>
                  <a:srgbClr val="0E2841"/>
                </a:solidFill>
                <a:latin typeface="Aptos"/>
              </a:rPr>
              <a:t>Backend: propio, público o simulado</a:t>
            </a:r>
          </a:p>
        </p:txBody>
      </p:sp>
      <p:sp>
        <p:nvSpPr>
          <p:cNvPr id="15" name="Oval 14"/>
          <p:cNvSpPr/>
          <p:nvPr/>
        </p:nvSpPr>
        <p:spPr>
          <a:xfrm>
            <a:off x="585216" y="4206240"/>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3958336"/>
            <a:ext cx="10698480" cy="596392"/>
          </a:xfrm>
          <a:prstGeom prst="rect">
            <a:avLst/>
          </a:prstGeom>
          <a:noFill/>
        </p:spPr>
        <p:txBody>
          <a:bodyPr wrap="square" anchor="ctr" lIns="0" rIns="0" tIns="0" bIns="0">
            <a:spAutoFit/>
          </a:bodyPr>
          <a:lstStyle/>
          <a:p>
            <a:pPr algn="l"/>
            <a:r>
              <a:rPr sz="2297" b="1">
                <a:solidFill>
                  <a:srgbClr val="0E2841"/>
                </a:solidFill>
                <a:latin typeface="Aptos"/>
              </a:rPr>
              <a:t>Dos plugins y el permiso de cada uno</a:t>
            </a:r>
          </a:p>
        </p:txBody>
      </p:sp>
      <p:sp>
        <p:nvSpPr>
          <p:cNvPr id="17" name="Rounded Rectangle 16"/>
          <p:cNvSpPr/>
          <p:nvPr/>
        </p:nvSpPr>
        <p:spPr>
          <a:xfrm>
            <a:off x="566928" y="4755896"/>
            <a:ext cx="11064240" cy="157175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4810760"/>
            <a:ext cx="63500" cy="146202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755896"/>
            <a:ext cx="10378440" cy="1571752"/>
          </a:xfrm>
          <a:prstGeom prst="rect">
            <a:avLst/>
          </a:prstGeom>
          <a:noFill/>
        </p:spPr>
        <p:txBody>
          <a:bodyPr wrap="square" anchor="ctr" lIns="0" rIns="0" tIns="0" bIns="0">
            <a:spAutoFit/>
          </a:bodyPr>
          <a:lstStyle/>
          <a:p>
            <a:pPr algn="l">
              <a:lnSpc>
                <a:spcPct val="125000"/>
              </a:lnSpc>
            </a:pPr>
            <a:r>
              <a:rPr sz="2407" b="1">
                <a:solidFill>
                  <a:srgbClr val="0E2841"/>
                </a:solidFill>
                <a:latin typeface="Aptos Display"/>
              </a:rPr>
              <a:t>Foro «Preguntas y respuestas» de Inicio, asunto «H0 · nombres de la pareja», antes del viernes 16 de octubre a las 11:59 p. m.</a:t>
            </a:r>
          </a:p>
        </p:txBody>
      </p:sp>
      <p:sp>
        <p:nvSpPr>
          <p:cNvPr id="20" name="TextBox 19"/>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21" name="TextBox 20"/>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13 / 32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ABP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Cómo reconocer un buen problema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6"/>
        </p:xfrm>
        <a:graphic>
          <a:graphicData uri="http://schemas.openxmlformats.org/drawingml/2006/table">
            <a:tbl>
              <a:tblPr firstRow="1">
                <a:tableStyleId>{5C22544A-7EE6-4342-B048-85BDC9FD1C3A}</a:tableStyleId>
              </a:tblPr>
              <a:tblGrid>
                <a:gridCol w="3688080"/>
                <a:gridCol w="3688080"/>
                <a:gridCol w="3688080"/>
              </a:tblGrid>
              <a:tr h="729081">
                <a:tc>
                  <a:txBody>
                    <a:bodyPr wrap="square"/>
                    <a:lstStyle/>
                    <a:p>
                      <a:r>
                        <a:rPr sz="1725" b="1">
                          <a:solidFill>
                            <a:srgbClr val="FFFFFF"/>
                          </a:solidFill>
                          <a:latin typeface="Aptos"/>
                        </a:rPr>
                        <a:t>Condición</a:t>
                      </a:r>
                    </a:p>
                  </a:txBody>
                  <a:tcPr anchor="ctr" marL="146304" marR="146304">
                    <a:solidFill>
                      <a:srgbClr val="156082"/>
                    </a:solidFill>
                  </a:tcPr>
                </a:tc>
                <a:tc>
                  <a:txBody>
                    <a:bodyPr wrap="square"/>
                    <a:lstStyle/>
                    <a:p>
                      <a:r>
                        <a:rPr sz="1725" b="1">
                          <a:solidFill>
                            <a:srgbClr val="FFFFFF"/>
                          </a:solidFill>
                          <a:latin typeface="Aptos"/>
                        </a:rPr>
                        <a:t>Cumple</a:t>
                      </a:r>
                    </a:p>
                  </a:txBody>
                  <a:tcPr anchor="ctr" marL="146304" marR="146304">
                    <a:solidFill>
                      <a:srgbClr val="156082"/>
                    </a:solidFill>
                  </a:tcPr>
                </a:tc>
                <a:tc>
                  <a:txBody>
                    <a:bodyPr wrap="square"/>
                    <a:lstStyle/>
                    <a:p>
                      <a:r>
                        <a:rPr sz="1725" b="1">
                          <a:solidFill>
                            <a:srgbClr val="FFFFFF"/>
                          </a:solidFill>
                          <a:latin typeface="Aptos"/>
                        </a:rPr>
                        <a:t>No cumple</a:t>
                      </a:r>
                    </a:p>
                  </a:txBody>
                  <a:tcPr anchor="ctr" marL="146304" marR="146304">
                    <a:solidFill>
                      <a:srgbClr val="156082"/>
                    </a:solidFill>
                  </a:tcPr>
                </a:tc>
              </a:tr>
              <a:tr h="729081">
                <a:tc>
                  <a:txBody>
                    <a:bodyPr wrap="square"/>
                    <a:lstStyle/>
                    <a:p>
                      <a:r>
                        <a:rPr sz="1609" b="1">
                          <a:solidFill>
                            <a:srgbClr val="33475B"/>
                          </a:solidFill>
                          <a:latin typeface="Aptos"/>
                        </a:rPr>
                        <a:t>Real, con usuario</a:t>
                      </a:r>
                    </a:p>
                  </a:txBody>
                  <a:tcPr anchor="ctr" marL="146304" marR="146304">
                    <a:solidFill>
                      <a:srgbClr val="FFFFFF"/>
                    </a:solidFill>
                  </a:tcPr>
                </a:tc>
                <a:tc>
                  <a:txBody>
                    <a:bodyPr wrap="square"/>
                    <a:lstStyle/>
                    <a:p>
                      <a:r>
                        <a:rPr sz="1609" b="0">
                          <a:solidFill>
                            <a:srgbClr val="33475B"/>
                          </a:solidFill>
                          <a:latin typeface="Aptos"/>
                        </a:rPr>
                        <a:t>Un rol concreto de su trabajo</a:t>
                      </a:r>
                    </a:p>
                  </a:txBody>
                  <a:tcPr anchor="ctr" marL="146304" marR="146304">
                    <a:solidFill>
                      <a:srgbClr val="FFFFFF"/>
                    </a:solidFill>
                  </a:tcPr>
                </a:tc>
                <a:tc>
                  <a:txBody>
                    <a:bodyPr wrap="square"/>
                    <a:lstStyle/>
                    <a:p>
                      <a:r>
                        <a:rPr sz="1609" b="0">
                          <a:solidFill>
                            <a:srgbClr val="33475B"/>
                          </a:solidFill>
                          <a:latin typeface="Aptos"/>
                        </a:rPr>
                        <a:t>«Una app para todo el mundo»</a:t>
                      </a:r>
                    </a:p>
                  </a:txBody>
                  <a:tcPr anchor="ctr" marL="146304" marR="146304">
                    <a:solidFill>
                      <a:srgbClr val="FFFFFF"/>
                    </a:solidFill>
                  </a:tcPr>
                </a:tc>
              </a:tr>
              <a:tr h="729081">
                <a:tc>
                  <a:txBody>
                    <a:bodyPr wrap="square"/>
                    <a:lstStyle/>
                    <a:p>
                      <a:r>
                        <a:rPr sz="1609" b="1">
                          <a:solidFill>
                            <a:srgbClr val="33475B"/>
                          </a:solidFill>
                          <a:latin typeface="Aptos"/>
                        </a:rPr>
                        <a:t>Sesión y backend</a:t>
                      </a:r>
                    </a:p>
                  </a:txBody>
                  <a:tcPr anchor="ctr" marL="146304" marR="146304">
                    <a:solidFill>
                      <a:srgbClr val="F4F7FA"/>
                    </a:solidFill>
                  </a:tcPr>
                </a:tc>
                <a:tc>
                  <a:txBody>
                    <a:bodyPr wrap="square"/>
                    <a:lstStyle/>
                    <a:p>
                      <a:r>
                        <a:rPr sz="1609" b="0">
                          <a:solidFill>
                            <a:srgbClr val="33475B"/>
                          </a:solidFill>
                          <a:latin typeface="Aptos"/>
                        </a:rPr>
                        <a:t>Inicio de sesión y un recurso que se edita</a:t>
                      </a:r>
                    </a:p>
                  </a:txBody>
                  <a:tcPr anchor="ctr" marL="146304" marR="146304">
                    <a:solidFill>
                      <a:srgbClr val="F4F7FA"/>
                    </a:solidFill>
                  </a:tcPr>
                </a:tc>
                <a:tc>
                  <a:txBody>
                    <a:bodyPr wrap="square"/>
                    <a:lstStyle/>
                    <a:p>
                      <a:r>
                        <a:rPr sz="1609" b="0">
                          <a:solidFill>
                            <a:srgbClr val="33475B"/>
                          </a:solidFill>
                          <a:latin typeface="Aptos"/>
                        </a:rPr>
                        <a:t>Datos fijos dentro de la app</a:t>
                      </a:r>
                    </a:p>
                  </a:txBody>
                  <a:tcPr anchor="ctr" marL="146304" marR="146304">
                    <a:solidFill>
                      <a:srgbClr val="F4F7FA"/>
                    </a:solidFill>
                  </a:tcPr>
                </a:tc>
              </a:tr>
              <a:tr h="729081">
                <a:tc>
                  <a:txBody>
                    <a:bodyPr wrap="square"/>
                    <a:lstStyle/>
                    <a:p>
                      <a:r>
                        <a:rPr sz="1609" b="1">
                          <a:solidFill>
                            <a:srgbClr val="33475B"/>
                          </a:solidFill>
                          <a:latin typeface="Aptos"/>
                        </a:rPr>
                        <a:t>Dos permisos nativos</a:t>
                      </a:r>
                    </a:p>
                  </a:txBody>
                  <a:tcPr anchor="ctr" marL="146304" marR="146304">
                    <a:solidFill>
                      <a:srgbClr val="FFFFFF"/>
                    </a:solidFill>
                  </a:tcPr>
                </a:tc>
                <a:tc>
                  <a:txBody>
                    <a:bodyPr wrap="square"/>
                    <a:lstStyle/>
                    <a:p>
                      <a:r>
                        <a:rPr sz="1609" b="0">
                          <a:solidFill>
                            <a:srgbClr val="33475B"/>
                          </a:solidFill>
                          <a:latin typeface="Aptos"/>
                        </a:rPr>
                        <a:t>Cámara para el soporte de una entrega</a:t>
                      </a:r>
                    </a:p>
                  </a:txBody>
                  <a:tcPr anchor="ctr" marL="146304" marR="146304">
                    <a:solidFill>
                      <a:srgbClr val="FFFFFF"/>
                    </a:solidFill>
                  </a:tcPr>
                </a:tc>
                <a:tc>
                  <a:txBody>
                    <a:bodyPr wrap="square"/>
                    <a:lstStyle/>
                    <a:p>
                      <a:r>
                        <a:rPr sz="1609" b="0">
                          <a:solidFill>
                            <a:srgbClr val="33475B"/>
                          </a:solidFill>
                          <a:latin typeface="Aptos"/>
                        </a:rPr>
                        <a:t>Vibración «para que se vea móvil»</a:t>
                      </a:r>
                    </a:p>
                  </a:txBody>
                  <a:tcPr anchor="ctr" marL="146304" marR="146304">
                    <a:solidFill>
                      <a:srgbClr val="FFFFFF"/>
                    </a:solidFill>
                  </a:tcPr>
                </a:tc>
              </a:tr>
              <a:tr h="729081">
                <a:tc>
                  <a:txBody>
                    <a:bodyPr wrap="square"/>
                    <a:lstStyle/>
                    <a:p>
                      <a:r>
                        <a:rPr sz="1609" b="1">
                          <a:solidFill>
                            <a:srgbClr val="33475B"/>
                          </a:solidFill>
                          <a:latin typeface="Aptos"/>
                        </a:rPr>
                        <a:t>Útil sin conexión</a:t>
                      </a:r>
                    </a:p>
                  </a:txBody>
                  <a:tcPr anchor="ctr" marL="146304" marR="146304">
                    <a:solidFill>
                      <a:srgbClr val="F4F7FA"/>
                    </a:solidFill>
                  </a:tcPr>
                </a:tc>
                <a:tc>
                  <a:txBody>
                    <a:bodyPr wrap="square"/>
                    <a:lstStyle/>
                    <a:p>
                      <a:r>
                        <a:rPr sz="1609" b="0">
                          <a:solidFill>
                            <a:srgbClr val="33475B"/>
                          </a:solidFill>
                          <a:latin typeface="Aptos"/>
                        </a:rPr>
                        <a:t>Consultar lo último descargado</a:t>
                      </a:r>
                    </a:p>
                  </a:txBody>
                  <a:tcPr anchor="ctr" marL="146304" marR="146304">
                    <a:solidFill>
                      <a:srgbClr val="F4F7FA"/>
                    </a:solidFill>
                  </a:tcPr>
                </a:tc>
                <a:tc>
                  <a:txBody>
                    <a:bodyPr wrap="square"/>
                    <a:lstStyle/>
                    <a:p>
                      <a:r>
                        <a:rPr sz="1609" b="0">
                          <a:solidFill>
                            <a:srgbClr val="33475B"/>
                          </a:solidFill>
                          <a:latin typeface="Aptos"/>
                        </a:rPr>
                        <a:t>Todo exige red, siempre</a:t>
                      </a:r>
                    </a:p>
                  </a:txBody>
                  <a:tcPr anchor="ctr" marL="146304" marR="146304">
                    <a:solidFill>
                      <a:srgbClr val="F4F7FA"/>
                    </a:solidFill>
                  </a:tcPr>
                </a:tc>
              </a:tr>
              <a:tr h="729081">
                <a:tc>
                  <a:txBody>
                    <a:bodyPr wrap="square"/>
                    <a:lstStyle/>
                    <a:p>
                      <a:r>
                        <a:rPr sz="1609" b="1">
                          <a:solidFill>
                            <a:srgbClr val="33475B"/>
                          </a:solidFill>
                          <a:latin typeface="Aptos"/>
                        </a:rPr>
                        <a:t>Cabe en 4 semanas</a:t>
                      </a:r>
                    </a:p>
                  </a:txBody>
                  <a:tcPr anchor="ctr" marL="146304" marR="146304">
                    <a:solidFill>
                      <a:srgbClr val="FFFFFF"/>
                    </a:solidFill>
                  </a:tcPr>
                </a:tc>
                <a:tc>
                  <a:txBody>
                    <a:bodyPr wrap="square"/>
                    <a:lstStyle/>
                    <a:p>
                      <a:r>
                        <a:rPr sz="1609" b="0">
                          <a:solidFill>
                            <a:srgbClr val="33475B"/>
                          </a:solidFill>
                          <a:latin typeface="Aptos"/>
                        </a:rPr>
                        <a:t>2–3 features; el resto, </a:t>
                      </a:r>
                      <a:r>
                        <a:rPr sz="1609" b="0" i="1">
                          <a:solidFill>
                            <a:srgbClr val="33475B"/>
                          </a:solidFill>
                          <a:latin typeface="Aptos"/>
                        </a:rPr>
                        <a:t>Could</a:t>
                      </a:r>
                      <a:r>
                        <a:rPr sz="1609" b="0">
                          <a:solidFill>
                            <a:srgbClr val="33475B"/>
                          </a:solidFill>
                          <a:latin typeface="Aptos"/>
                        </a:rPr>
                        <a:t> o </a:t>
                      </a:r>
                      <a:r>
                        <a:rPr sz="1609" b="0" i="1">
                          <a:solidFill>
                            <a:srgbClr val="33475B"/>
                          </a:solidFill>
                          <a:latin typeface="Aptos"/>
                        </a:rPr>
                        <a:t>Won't</a:t>
                      </a:r>
                    </a:p>
                  </a:txBody>
                  <a:tcPr anchor="ctr" marL="146304" marR="146304">
                    <a:solidFill>
                      <a:srgbClr val="FFFFFF"/>
                    </a:solidFill>
                  </a:tcPr>
                </a:tc>
                <a:tc>
                  <a:txBody>
                    <a:bodyPr wrap="square"/>
                    <a:lstStyle/>
                    <a:p>
                      <a:r>
                        <a:rPr sz="1609" b="0">
                          <a:solidFill>
                            <a:srgbClr val="33475B"/>
                          </a:solidFill>
                          <a:latin typeface="Aptos"/>
                        </a:rPr>
                        <a:t>Diez historias «Must»</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14 / 32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ABP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Mínimos 1 a 4: la arquitectura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310125"/>
        </p:xfrm>
        <a:graphic>
          <a:graphicData uri="http://schemas.openxmlformats.org/drawingml/2006/table">
            <a:tbl>
              <a:tblPr firstRow="1">
                <a:tableStyleId>{5C22544A-7EE6-4342-B048-85BDC9FD1C3A}</a:tableStyleId>
              </a:tblPr>
              <a:tblGrid>
                <a:gridCol w="3688080"/>
                <a:gridCol w="3688080"/>
                <a:gridCol w="3688080"/>
              </a:tblGrid>
              <a:tr h="662025">
                <a:tc>
                  <a:txBody>
                    <a:bodyPr wrap="square"/>
                    <a:lstStyle/>
                    <a:p>
                      <a:r>
                        <a:rPr sz="1699" b="1">
                          <a:solidFill>
                            <a:srgbClr val="FFFFFF"/>
                          </a:solidFill>
                          <a:latin typeface="Aptos"/>
                        </a:rPr>
                        <a:t>#</a:t>
                      </a:r>
                    </a:p>
                  </a:txBody>
                  <a:tcPr anchor="ctr" marL="146304" marR="146304">
                    <a:solidFill>
                      <a:srgbClr val="156082"/>
                    </a:solidFill>
                  </a:tcPr>
                </a:tc>
                <a:tc>
                  <a:txBody>
                    <a:bodyPr wrap="square"/>
                    <a:lstStyle/>
                    <a:p>
                      <a:r>
                        <a:rPr sz="1699" b="1">
                          <a:solidFill>
                            <a:srgbClr val="FFFFFF"/>
                          </a:solidFill>
                          <a:latin typeface="Aptos"/>
                        </a:rPr>
                        <a:t>Mínimo</a:t>
                      </a:r>
                    </a:p>
                  </a:txBody>
                  <a:tcPr anchor="ctr" marL="146304" marR="146304">
                    <a:solidFill>
                      <a:srgbClr val="156082"/>
                    </a:solidFill>
                  </a:tcPr>
                </a:tc>
                <a:tc>
                  <a:txBody>
                    <a:bodyPr wrap="square"/>
                    <a:lstStyle/>
                    <a:p>
                      <a:r>
                        <a:rPr sz="1699" b="1">
                          <a:solidFill>
                            <a:srgbClr val="FFFFFF"/>
                          </a:solidFill>
                          <a:latin typeface="Aptos"/>
                        </a:rPr>
                        <a:t>Se evidencia con</a:t>
                      </a:r>
                    </a:p>
                  </a:txBody>
                  <a:tcPr anchor="ctr" marL="146304" marR="146304">
                    <a:solidFill>
                      <a:srgbClr val="156082"/>
                    </a:solidFill>
                  </a:tcPr>
                </a:tc>
              </a:tr>
              <a:tr h="662025">
                <a:tc>
                  <a:txBody>
                    <a:bodyPr wrap="square"/>
                    <a:lstStyle/>
                    <a:p>
                      <a:r>
                        <a:rPr sz="1586" b="1">
                          <a:solidFill>
                            <a:srgbClr val="33475B"/>
                          </a:solidFill>
                          <a:latin typeface="Aptos"/>
                        </a:rPr>
                        <a:t>1</a:t>
                      </a:r>
                    </a:p>
                  </a:txBody>
                  <a:tcPr anchor="ctr" marL="146304" marR="146304">
                    <a:solidFill>
                      <a:srgbClr val="FFFFFF"/>
                    </a:solidFill>
                  </a:tcPr>
                </a:tc>
                <a:tc>
                  <a:txBody>
                    <a:bodyPr wrap="square"/>
                    <a:lstStyle/>
                    <a:p>
                      <a:r>
                        <a:rPr sz="1586" b="0">
                          <a:solidFill>
                            <a:srgbClr val="33475B"/>
                          </a:solidFill>
                          <a:latin typeface="Aptos"/>
                        </a:rPr>
                        <a:t>Ionic 8 o superior + Angular + Capacitor</a:t>
                      </a:r>
                    </a:p>
                  </a:txBody>
                  <a:tcPr anchor="ctr" marL="146304" marR="146304">
                    <a:solidFill>
                      <a:srgbClr val="FFFFFF"/>
                    </a:solidFill>
                  </a:tcPr>
                </a:tc>
                <a:tc>
                  <a:txBody>
                    <a:bodyPr wrap="square"/>
                    <a:lstStyle/>
                    <a:p>
                      <a:r>
                        <a:rPr sz="1491" b="0">
                          <a:solidFill>
                            <a:srgbClr val="156082"/>
                          </a:solidFill>
                          <a:latin typeface="Consolas"/>
                        </a:rPr>
                        <a:t>package.json</a:t>
                      </a:r>
                      <a:r>
                        <a:rPr sz="1586" b="0">
                          <a:solidFill>
                            <a:srgbClr val="33475B"/>
                          </a:solidFill>
                          <a:latin typeface="Aptos"/>
                        </a:rPr>
                        <a:t> y la app corriendo en Android</a:t>
                      </a:r>
                    </a:p>
                  </a:txBody>
                  <a:tcPr anchor="ctr" marL="146304" marR="146304">
                    <a:solidFill>
                      <a:srgbClr val="FFFFFF"/>
                    </a:solidFill>
                  </a:tcPr>
                </a:tc>
              </a:tr>
              <a:tr h="662025">
                <a:tc>
                  <a:txBody>
                    <a:bodyPr wrap="square"/>
                    <a:lstStyle/>
                    <a:p>
                      <a:r>
                        <a:rPr sz="1586" b="1">
                          <a:solidFill>
                            <a:srgbClr val="33475B"/>
                          </a:solidFill>
                          <a:latin typeface="Aptos"/>
                        </a:rPr>
                        <a:t>2</a:t>
                      </a:r>
                    </a:p>
                  </a:txBody>
                  <a:tcPr anchor="ctr" marL="146304" marR="146304">
                    <a:solidFill>
                      <a:srgbClr val="F4F7FA"/>
                    </a:solidFill>
                  </a:tcPr>
                </a:tc>
                <a:tc>
                  <a:txBody>
                    <a:bodyPr wrap="square"/>
                    <a:lstStyle/>
                    <a:p>
                      <a:r>
                        <a:rPr sz="1586" b="0">
                          <a:solidFill>
                            <a:srgbClr val="33475B"/>
                          </a:solidFill>
                          <a:latin typeface="Aptos"/>
                        </a:rPr>
                        <a:t>Features con </a:t>
                      </a:r>
                      <a:r>
                        <a:rPr sz="1491" b="0">
                          <a:solidFill>
                            <a:srgbClr val="156082"/>
                          </a:solidFill>
                          <a:latin typeface="Consolas"/>
                        </a:rPr>
                        <a:t>presentation</a:t>
                      </a:r>
                      <a:r>
                        <a:rPr sz="1586" b="0">
                          <a:solidFill>
                            <a:srgbClr val="33475B"/>
                          </a:solidFill>
                          <a:latin typeface="Aptos"/>
                        </a:rPr>
                        <a:t>, </a:t>
                      </a:r>
                      <a:r>
                        <a:rPr sz="1491" b="0">
                          <a:solidFill>
                            <a:srgbClr val="156082"/>
                          </a:solidFill>
                          <a:latin typeface="Consolas"/>
                        </a:rPr>
                        <a:t>domain</a:t>
                      </a:r>
                      <a:r>
                        <a:rPr sz="1586" b="0">
                          <a:solidFill>
                            <a:srgbClr val="33475B"/>
                          </a:solidFill>
                          <a:latin typeface="Aptos"/>
                        </a:rPr>
                        <a:t> y </a:t>
                      </a:r>
                      <a:r>
                        <a:rPr sz="1491" b="0">
                          <a:solidFill>
                            <a:srgbClr val="156082"/>
                          </a:solidFill>
                          <a:latin typeface="Consolas"/>
                        </a:rPr>
                        <a:t>data</a:t>
                      </a:r>
                    </a:p>
                  </a:txBody>
                  <a:tcPr anchor="ctr" marL="146304" marR="146304">
                    <a:solidFill>
                      <a:srgbClr val="F4F7FA"/>
                    </a:solidFill>
                  </a:tcPr>
                </a:tc>
                <a:tc>
                  <a:txBody>
                    <a:bodyPr wrap="square"/>
                    <a:lstStyle/>
                    <a:p>
                      <a:r>
                        <a:rPr sz="1491" b="0">
                          <a:solidFill>
                            <a:srgbClr val="156082"/>
                          </a:solidFill>
                          <a:latin typeface="Consolas"/>
                        </a:rPr>
                        <a:t>domain/</a:t>
                      </a:r>
                      <a:r>
                        <a:rPr sz="1586" b="0">
                          <a:solidFill>
                            <a:srgbClr val="33475B"/>
                          </a:solidFill>
                          <a:latin typeface="Aptos"/>
                        </a:rPr>
                        <a:t> sin Angular, </a:t>
                      </a:r>
                      <a:r>
                        <a:rPr sz="1491" b="0">
                          <a:solidFill>
                            <a:srgbClr val="156082"/>
                          </a:solidFill>
                          <a:latin typeface="Consolas"/>
                        </a:rPr>
                        <a:t>HttpClient</a:t>
                      </a:r>
                      <a:r>
                        <a:rPr sz="1586" b="0">
                          <a:solidFill>
                            <a:srgbClr val="33475B"/>
                          </a:solidFill>
                          <a:latin typeface="Aptos"/>
                        </a:rPr>
                        <a:t> ni Capacitor</a:t>
                      </a:r>
                    </a:p>
                  </a:txBody>
                  <a:tcPr anchor="ctr" marL="146304" marR="146304">
                    <a:solidFill>
                      <a:srgbClr val="F4F7FA"/>
                    </a:solidFill>
                  </a:tcPr>
                </a:tc>
              </a:tr>
              <a:tr h="662025">
                <a:tc>
                  <a:txBody>
                    <a:bodyPr wrap="square"/>
                    <a:lstStyle/>
                    <a:p>
                      <a:r>
                        <a:rPr sz="1586" b="1">
                          <a:solidFill>
                            <a:srgbClr val="33475B"/>
                          </a:solidFill>
                          <a:latin typeface="Aptos"/>
                        </a:rPr>
                        <a:t>3</a:t>
                      </a:r>
                    </a:p>
                  </a:txBody>
                  <a:tcPr anchor="ctr" marL="146304" marR="146304">
                    <a:solidFill>
                      <a:srgbClr val="FFFFFF"/>
                    </a:solidFill>
                  </a:tcPr>
                </a:tc>
                <a:tc>
                  <a:txBody>
                    <a:bodyPr wrap="square"/>
                    <a:lstStyle/>
                    <a:p>
                      <a:r>
                        <a:rPr sz="1586" b="0">
                          <a:solidFill>
                            <a:srgbClr val="33475B"/>
                          </a:solidFill>
                          <a:latin typeface="Aptos"/>
                        </a:rPr>
                        <a:t>Un solo patrón de estado y al menos 3 ADR</a:t>
                      </a:r>
                    </a:p>
                  </a:txBody>
                  <a:tcPr anchor="ctr" marL="146304" marR="146304">
                    <a:solidFill>
                      <a:srgbClr val="FFFFFF"/>
                    </a:solidFill>
                  </a:tcPr>
                </a:tc>
                <a:tc>
                  <a:txBody>
                    <a:bodyPr wrap="square"/>
                    <a:lstStyle/>
                    <a:p>
                      <a:r>
                        <a:rPr sz="1586" b="0">
                          <a:solidFill>
                            <a:srgbClr val="33475B"/>
                          </a:solidFill>
                          <a:latin typeface="Aptos"/>
                        </a:rPr>
                        <a:t>ADR con alternativas, registrados en </a:t>
                      </a:r>
                      <a:r>
                        <a:rPr sz="1491" b="0">
                          <a:solidFill>
                            <a:srgbClr val="156082"/>
                          </a:solidFill>
                          <a:latin typeface="Consolas"/>
                        </a:rPr>
                        <a:t>decisiones/README.md</a:t>
                      </a:r>
                    </a:p>
                  </a:txBody>
                  <a:tcPr anchor="ctr" marL="146304" marR="146304">
                    <a:solidFill>
                      <a:srgbClr val="FFFFFF"/>
                    </a:solidFill>
                  </a:tcPr>
                </a:tc>
              </a:tr>
              <a:tr h="662025">
                <a:tc>
                  <a:txBody>
                    <a:bodyPr wrap="square"/>
                    <a:lstStyle/>
                    <a:p>
                      <a:r>
                        <a:rPr sz="1586" b="1">
                          <a:solidFill>
                            <a:srgbClr val="33475B"/>
                          </a:solidFill>
                          <a:latin typeface="Aptos"/>
                        </a:rPr>
                        <a:t>4</a:t>
                      </a:r>
                    </a:p>
                  </a:txBody>
                  <a:tcPr anchor="ctr" marL="146304" marR="146304">
                    <a:solidFill>
                      <a:srgbClr val="F4F7FA"/>
                    </a:solidFill>
                  </a:tcPr>
                </a:tc>
                <a:tc>
                  <a:txBody>
                    <a:bodyPr wrap="square"/>
                    <a:lstStyle/>
                    <a:p>
                      <a:r>
                        <a:rPr sz="1586" b="0">
                          <a:solidFill>
                            <a:srgbClr val="33475B"/>
                          </a:solidFill>
                          <a:latin typeface="Aptos"/>
                        </a:rPr>
                        <a:t>Tabla de rutas central con guard</a:t>
                      </a:r>
                    </a:p>
                  </a:txBody>
                  <a:tcPr anchor="ctr" marL="146304" marR="146304">
                    <a:solidFill>
                      <a:srgbClr val="F4F7FA"/>
                    </a:solidFill>
                  </a:tcPr>
                </a:tc>
                <a:tc>
                  <a:txBody>
                    <a:bodyPr wrap="square"/>
                    <a:lstStyle/>
                    <a:p>
                      <a:r>
                        <a:rPr sz="1586" b="0">
                          <a:solidFill>
                            <a:srgbClr val="33475B"/>
                          </a:solidFill>
                          <a:latin typeface="Aptos"/>
                        </a:rPr>
                        <a:t>Un </a:t>
                      </a:r>
                      <a:r>
                        <a:rPr sz="1491" b="0">
                          <a:solidFill>
                            <a:srgbClr val="156082"/>
                          </a:solidFill>
                          <a:latin typeface="Consolas"/>
                        </a:rPr>
                        <a:t>app.routes.ts</a:t>
                      </a:r>
                      <a:r>
                        <a:rPr sz="1586" b="0">
                          <a:solidFill>
                            <a:srgbClr val="33475B"/>
                          </a:solidFill>
                          <a:latin typeface="Aptos"/>
                        </a:rPr>
                        <a:t> igual a </a:t>
                      </a:r>
                      <a:r>
                        <a:rPr sz="1491" b="0">
                          <a:solidFill>
                            <a:srgbClr val="156082"/>
                          </a:solidFill>
                          <a:latin typeface="Consolas"/>
                        </a:rPr>
                        <a:t>navegacion.md</a:t>
                      </a:r>
                    </a:p>
                  </a:txBody>
                  <a:tcPr anchor="ctr" marL="146304" marR="146304">
                    <a:solidFill>
                      <a:srgbClr val="F4F7FA"/>
                    </a:solidFill>
                  </a:tcPr>
                </a:tc>
              </a:tr>
            </a:tbl>
          </a:graphicData>
        </a:graphic>
      </p:graphicFrame>
      <p:sp>
        <p:nvSpPr>
          <p:cNvPr id="8" name="Rounded Rectangle 7"/>
          <p:cNvSpPr/>
          <p:nvPr/>
        </p:nvSpPr>
        <p:spPr>
          <a:xfrm>
            <a:off x="566928" y="5084064"/>
            <a:ext cx="11064240" cy="1243584"/>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138928"/>
            <a:ext cx="63500" cy="1133855"/>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084064"/>
            <a:ext cx="10378440" cy="1243584"/>
          </a:xfrm>
          <a:prstGeom prst="rect">
            <a:avLst/>
          </a:prstGeom>
          <a:noFill/>
        </p:spPr>
        <p:txBody>
          <a:bodyPr wrap="square" anchor="ctr" lIns="0" rIns="0" tIns="0" bIns="0">
            <a:spAutoFit/>
          </a:bodyPr>
          <a:lstStyle/>
          <a:p>
            <a:pPr algn="l">
              <a:lnSpc>
                <a:spcPct val="125000"/>
              </a:lnSpc>
            </a:pPr>
            <a:r>
              <a:rPr sz="2492" b="1">
                <a:solidFill>
                  <a:srgbClr val="0E2841"/>
                </a:solidFill>
                <a:latin typeface="Aptos Display"/>
              </a:rPr>
              <a:t>Mínimo no es máximo, pero tampoco suman puntos las features de más.</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15 / 32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ABP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Mínimos 5 a 8: red, nativo y release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102860"/>
        </p:xfrm>
        <a:graphic>
          <a:graphicData uri="http://schemas.openxmlformats.org/drawingml/2006/table">
            <a:tbl>
              <a:tblPr firstRow="1">
                <a:tableStyleId>{5C22544A-7EE6-4342-B048-85BDC9FD1C3A}</a:tableStyleId>
              </a:tblPr>
              <a:tblGrid>
                <a:gridCol w="3688080"/>
                <a:gridCol w="3688080"/>
                <a:gridCol w="3688080"/>
              </a:tblGrid>
              <a:tr h="620572">
                <a:tc>
                  <a:txBody>
                    <a:bodyPr wrap="square"/>
                    <a:lstStyle/>
                    <a:p>
                      <a:r>
                        <a:rPr sz="1641" b="1">
                          <a:solidFill>
                            <a:srgbClr val="FFFFFF"/>
                          </a:solidFill>
                          <a:latin typeface="Aptos"/>
                        </a:rPr>
                        <a:t>#</a:t>
                      </a:r>
                    </a:p>
                  </a:txBody>
                  <a:tcPr anchor="ctr" marL="146304" marR="146304">
                    <a:solidFill>
                      <a:srgbClr val="156082"/>
                    </a:solidFill>
                  </a:tcPr>
                </a:tc>
                <a:tc>
                  <a:txBody>
                    <a:bodyPr wrap="square"/>
                    <a:lstStyle/>
                    <a:p>
                      <a:r>
                        <a:rPr sz="1641" b="1">
                          <a:solidFill>
                            <a:srgbClr val="FFFFFF"/>
                          </a:solidFill>
                          <a:latin typeface="Aptos"/>
                        </a:rPr>
                        <a:t>Mínimo</a:t>
                      </a:r>
                    </a:p>
                  </a:txBody>
                  <a:tcPr anchor="ctr" marL="146304" marR="146304">
                    <a:solidFill>
                      <a:srgbClr val="156082"/>
                    </a:solidFill>
                  </a:tcPr>
                </a:tc>
                <a:tc>
                  <a:txBody>
                    <a:bodyPr wrap="square"/>
                    <a:lstStyle/>
                    <a:p>
                      <a:r>
                        <a:rPr sz="1641" b="1">
                          <a:solidFill>
                            <a:srgbClr val="FFFFFF"/>
                          </a:solidFill>
                          <a:latin typeface="Aptos"/>
                        </a:rPr>
                        <a:t>Se evidencia con</a:t>
                      </a:r>
                    </a:p>
                  </a:txBody>
                  <a:tcPr anchor="ctr" marL="146304" marR="146304">
                    <a:solidFill>
                      <a:srgbClr val="156082"/>
                    </a:solidFill>
                  </a:tcPr>
                </a:tc>
              </a:tr>
              <a:tr h="620572">
                <a:tc>
                  <a:txBody>
                    <a:bodyPr wrap="square"/>
                    <a:lstStyle/>
                    <a:p>
                      <a:r>
                        <a:rPr sz="1531" b="1">
                          <a:solidFill>
                            <a:srgbClr val="33475B"/>
                          </a:solidFill>
                          <a:latin typeface="Aptos"/>
                        </a:rPr>
                        <a:t>5</a:t>
                      </a:r>
                    </a:p>
                  </a:txBody>
                  <a:tcPr anchor="ctr" marL="146304" marR="146304">
                    <a:solidFill>
                      <a:srgbClr val="FFFFFF"/>
                    </a:solidFill>
                  </a:tcPr>
                </a:tc>
                <a:tc>
                  <a:txBody>
                    <a:bodyPr wrap="square"/>
                    <a:lstStyle/>
                    <a:p>
                      <a:r>
                        <a:rPr sz="1531" b="0">
                          <a:solidFill>
                            <a:srgbClr val="33475B"/>
                          </a:solidFill>
                          <a:latin typeface="Aptos"/>
                        </a:rPr>
                        <a:t>Un cliente HTTP con interceptores y refresh</a:t>
                      </a:r>
                    </a:p>
                  </a:txBody>
                  <a:tcPr anchor="ctr" marL="146304" marR="146304">
                    <a:solidFill>
                      <a:srgbClr val="FFFFFF"/>
                    </a:solidFill>
                  </a:tcPr>
                </a:tc>
                <a:tc>
                  <a:txBody>
                    <a:bodyPr wrap="square"/>
                    <a:lstStyle/>
                    <a:p>
                      <a:r>
                        <a:rPr sz="1531" b="0">
                          <a:solidFill>
                            <a:srgbClr val="33475B"/>
                          </a:solidFill>
                          <a:latin typeface="Aptos"/>
                        </a:rPr>
                        <a:t>Token, timeout y errores; tokens en almacenamiento seguro</a:t>
                      </a:r>
                    </a:p>
                  </a:txBody>
                  <a:tcPr anchor="ctr" marL="146304" marR="146304">
                    <a:solidFill>
                      <a:srgbClr val="FFFFFF"/>
                    </a:solidFill>
                  </a:tcPr>
                </a:tc>
              </a:tr>
              <a:tr h="620572">
                <a:tc>
                  <a:txBody>
                    <a:bodyPr wrap="square"/>
                    <a:lstStyle/>
                    <a:p>
                      <a:r>
                        <a:rPr sz="1531" b="1">
                          <a:solidFill>
                            <a:srgbClr val="33475B"/>
                          </a:solidFill>
                          <a:latin typeface="Aptos"/>
                        </a:rPr>
                        <a:t>6</a:t>
                      </a:r>
                    </a:p>
                  </a:txBody>
                  <a:tcPr anchor="ctr" marL="146304" marR="146304">
                    <a:solidFill>
                      <a:srgbClr val="F4F7FA"/>
                    </a:solidFill>
                  </a:tcPr>
                </a:tc>
                <a:tc>
                  <a:txBody>
                    <a:bodyPr wrap="square"/>
                    <a:lstStyle/>
                    <a:p>
                      <a:r>
                        <a:rPr sz="1531" b="0">
                          <a:solidFill>
                            <a:srgbClr val="33475B"/>
                          </a:solidFill>
                          <a:latin typeface="Aptos"/>
                        </a:rPr>
                        <a:t>Estrategia sin conexión por feature</a:t>
                      </a:r>
                    </a:p>
                  </a:txBody>
                  <a:tcPr anchor="ctr" marL="146304" marR="146304">
                    <a:solidFill>
                      <a:srgbClr val="F4F7FA"/>
                    </a:solidFill>
                  </a:tcPr>
                </a:tc>
                <a:tc>
                  <a:txBody>
                    <a:bodyPr wrap="square"/>
                    <a:lstStyle/>
                    <a:p>
                      <a:r>
                        <a:rPr sz="1531" b="0">
                          <a:solidFill>
                            <a:srgbClr val="33475B"/>
                          </a:solidFill>
                          <a:latin typeface="Aptos"/>
                        </a:rPr>
                        <a:t>Caché de lectura en modo avión, con aviso</a:t>
                      </a:r>
                    </a:p>
                  </a:txBody>
                  <a:tcPr anchor="ctr" marL="146304" marR="146304">
                    <a:solidFill>
                      <a:srgbClr val="F4F7FA"/>
                    </a:solidFill>
                  </a:tcPr>
                </a:tc>
              </a:tr>
              <a:tr h="620572">
                <a:tc>
                  <a:txBody>
                    <a:bodyPr wrap="square"/>
                    <a:lstStyle/>
                    <a:p>
                      <a:r>
                        <a:rPr sz="1531" b="1">
                          <a:solidFill>
                            <a:srgbClr val="33475B"/>
                          </a:solidFill>
                          <a:latin typeface="Aptos"/>
                        </a:rPr>
                        <a:t>7</a:t>
                      </a:r>
                    </a:p>
                  </a:txBody>
                  <a:tcPr anchor="ctr" marL="146304" marR="146304">
                    <a:solidFill>
                      <a:srgbClr val="FFFFFF"/>
                    </a:solidFill>
                  </a:tcPr>
                </a:tc>
                <a:tc>
                  <a:txBody>
                    <a:bodyPr wrap="square"/>
                    <a:lstStyle/>
                    <a:p>
                      <a:r>
                        <a:rPr sz="1531" b="0">
                          <a:solidFill>
                            <a:srgbClr val="33475B"/>
                          </a:solidFill>
                          <a:latin typeface="Aptos"/>
                        </a:rPr>
                        <a:t>Dos plugins nativos detrás de un puerto</a:t>
                      </a:r>
                    </a:p>
                  </a:txBody>
                  <a:tcPr anchor="ctr" marL="146304" marR="146304">
                    <a:solidFill>
                      <a:srgbClr val="FFFFFF"/>
                    </a:solidFill>
                  </a:tcPr>
                </a:tc>
                <a:tc>
                  <a:txBody>
                    <a:bodyPr wrap="square"/>
                    <a:lstStyle/>
                    <a:p>
                      <a:r>
                        <a:rPr sz="1531" b="0">
                          <a:solidFill>
                            <a:srgbClr val="33475B"/>
                          </a:solidFill>
                          <a:latin typeface="Aptos"/>
                        </a:rPr>
                        <a:t>Permiso al tocar la acción y negativa manejada</a:t>
                      </a:r>
                    </a:p>
                  </a:txBody>
                  <a:tcPr anchor="ctr" marL="146304" marR="146304">
                    <a:solidFill>
                      <a:srgbClr val="FFFFFF"/>
                    </a:solidFill>
                  </a:tcPr>
                </a:tc>
              </a:tr>
              <a:tr h="620572">
                <a:tc>
                  <a:txBody>
                    <a:bodyPr wrap="square"/>
                    <a:lstStyle/>
                    <a:p>
                      <a:r>
                        <a:rPr sz="1531" b="1">
                          <a:solidFill>
                            <a:srgbClr val="33475B"/>
                          </a:solidFill>
                          <a:latin typeface="Aptos"/>
                        </a:rPr>
                        <a:t>8</a:t>
                      </a:r>
                    </a:p>
                  </a:txBody>
                  <a:tcPr anchor="ctr" marL="146304" marR="146304">
                    <a:solidFill>
                      <a:srgbClr val="F4F7FA"/>
                    </a:solidFill>
                  </a:tcPr>
                </a:tc>
                <a:tc>
                  <a:txBody>
                    <a:bodyPr wrap="square"/>
                    <a:lstStyle/>
                    <a:p>
                      <a:r>
                        <a:rPr sz="1531" b="0">
                          <a:solidFill>
                            <a:srgbClr val="33475B"/>
                          </a:solidFill>
                          <a:latin typeface="Aptos"/>
                        </a:rPr>
                        <a:t>Pruebas, AAB/APK firmado y checklist</a:t>
                      </a:r>
                    </a:p>
                  </a:txBody>
                  <a:tcPr anchor="ctr" marL="146304" marR="146304">
                    <a:solidFill>
                      <a:srgbClr val="F4F7FA"/>
                    </a:solidFill>
                  </a:tcPr>
                </a:tc>
                <a:tc>
                  <a:txBody>
                    <a:bodyPr wrap="square"/>
                    <a:lstStyle/>
                    <a:p>
                      <a:r>
                        <a:rPr sz="1531" b="0">
                          <a:solidFill>
                            <a:srgbClr val="33475B"/>
                          </a:solidFill>
                          <a:latin typeface="Aptos"/>
                        </a:rPr>
                        <a:t>Pruebas en verde y checklist de la </a:t>
                      </a:r>
                      <a:r>
                        <a:rPr sz="1439" b="0">
                          <a:solidFill>
                            <a:srgbClr val="156082"/>
                          </a:solidFill>
                          <a:latin typeface="Consolas"/>
                        </a:rPr>
                        <a:t>v1.0.0</a:t>
                      </a:r>
                    </a:p>
                  </a:txBody>
                  <a:tcPr anchor="ctr" marL="146304" marR="146304">
                    <a:solidFill>
                      <a:srgbClr val="F4F7FA"/>
                    </a:solidFill>
                  </a:tcPr>
                </a:tc>
              </a:tr>
            </a:tbl>
          </a:graphicData>
        </a:graphic>
      </p:graphicFrame>
      <p:sp>
        <p:nvSpPr>
          <p:cNvPr id="8" name="Rounded Rectangle 7"/>
          <p:cNvSpPr/>
          <p:nvPr/>
        </p:nvSpPr>
        <p:spPr>
          <a:xfrm>
            <a:off x="566928" y="4876800"/>
            <a:ext cx="11064240" cy="1450848"/>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4931664"/>
            <a:ext cx="63500" cy="134112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876800"/>
            <a:ext cx="10378440" cy="1450848"/>
          </a:xfrm>
          <a:prstGeom prst="rect">
            <a:avLst/>
          </a:prstGeom>
          <a:noFill/>
        </p:spPr>
        <p:txBody>
          <a:bodyPr wrap="square" anchor="ctr" lIns="0" rIns="0" tIns="0" bIns="0">
            <a:spAutoFit/>
          </a:bodyPr>
          <a:lstStyle/>
          <a:p>
            <a:pPr algn="l">
              <a:lnSpc>
                <a:spcPct val="125000"/>
              </a:lnSpc>
            </a:pPr>
            <a:r>
              <a:rPr sz="2407" b="1">
                <a:solidFill>
                  <a:srgbClr val="0E2841"/>
                </a:solidFill>
                <a:latin typeface="Aptos Display"/>
              </a:rPr>
              <a:t>Un mínimo que no se puede verificar en el repositorio, el artefacto o el video no está cumplido.</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16 / 32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ABP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Las dependencias apuntan al dominio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3029157"/>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1755648"/>
            <a:ext cx="10515600" cy="2681685"/>
          </a:xfrm>
          <a:prstGeom prst="rect">
            <a:avLst/>
          </a:prstGeom>
          <a:noFill/>
        </p:spPr>
        <p:txBody>
          <a:bodyPr wrap="none" lIns="0" tIns="0">
            <a:spAutoFit/>
          </a:bodyPr>
          <a:lstStyle/>
          <a:p>
            <a:pPr>
              <a:lnSpc>
                <a:spcPct val="125000"/>
              </a:lnSpc>
            </a:pPr>
            <a:r>
              <a:rPr sz="1616">
                <a:solidFill>
                  <a:srgbClr val="E8E8E8"/>
                </a:solidFill>
                <a:latin typeface="Consolas"/>
              </a:rPr>
              <a:t>presentation ─────►  domain  ◄───── data</a:t>
            </a:r>
          </a:p>
          <a:p>
            <a:pPr>
              <a:lnSpc>
                <a:spcPct val="125000"/>
              </a:lnSpc>
            </a:pPr>
            <a:r>
              <a:rPr sz="1616">
                <a:solidFill>
                  <a:srgbClr val="E8E8E8"/>
                </a:solidFill>
                <a:latin typeface="Consolas"/>
              </a:rPr>
              <a:t>páginas,             entidades,     DTO, mappers,</a:t>
            </a:r>
          </a:p>
          <a:p>
            <a:pPr>
              <a:lnSpc>
                <a:spcPct val="125000"/>
              </a:lnSpc>
            </a:pPr>
            <a:r>
              <a:rPr sz="1616">
                <a:solidFill>
                  <a:srgbClr val="E8E8E8"/>
                </a:solidFill>
                <a:latin typeface="Consolas"/>
              </a:rPr>
              <a:t>ViewModels           casos de uso,  repositorios HTTP,</a:t>
            </a:r>
          </a:p>
          <a:p>
            <a:pPr>
              <a:lnSpc>
                <a:spcPct val="125000"/>
              </a:lnSpc>
            </a:pPr>
            <a:r>
              <a:rPr sz="1616">
                <a:solidFill>
                  <a:srgbClr val="E8E8E8"/>
                </a:solidFill>
                <a:latin typeface="Consolas"/>
              </a:rPr>
              <a:t>(state holders)      interfaces     caché local</a:t>
            </a:r>
          </a:p>
          <a:p>
            <a:pPr>
              <a:lnSpc>
                <a:spcPct val="125000"/>
              </a:lnSpc>
            </a:pPr>
            <a:r>
              <a:rPr sz="1616">
                <a:solidFill>
                  <a:srgbClr val="E8E8E8"/>
                </a:solidFill>
                <a:latin typeface="Consolas"/>
              </a:rPr>
              <a:t> </a:t>
            </a:r>
          </a:p>
          <a:p>
            <a:pPr>
              <a:lnSpc>
                <a:spcPct val="125000"/>
              </a:lnSpc>
            </a:pPr>
            <a:r>
              <a:rPr sz="1616">
                <a:solidFill>
                  <a:srgbClr val="E8E8E8"/>
                </a:solidFill>
                <a:latin typeface="Consolas"/>
              </a:rPr>
              <a:t>puerto (interfaz pura)  ◄── implementa ──  adaptador Capacitor</a:t>
            </a:r>
          </a:p>
          <a:p>
            <a:pPr>
              <a:lnSpc>
                <a:spcPct val="125000"/>
              </a:lnSpc>
            </a:pPr>
            <a:r>
              <a:rPr sz="1616">
                <a:solidFill>
                  <a:srgbClr val="E8E8E8"/>
                </a:solidFill>
                <a:latin typeface="Consolas"/>
              </a:rPr>
              <a:t>p. ej. CapturaFoto                         único que importa el plugin</a:t>
            </a:r>
          </a:p>
        </p:txBody>
      </p:sp>
      <p:sp>
        <p:nvSpPr>
          <p:cNvPr id="9" name="Oval 8"/>
          <p:cNvSpPr/>
          <p:nvPr/>
        </p:nvSpPr>
        <p:spPr>
          <a:xfrm>
            <a:off x="585216" y="5133939"/>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4803093"/>
            <a:ext cx="10698480" cy="762277"/>
          </a:xfrm>
          <a:prstGeom prst="rect">
            <a:avLst/>
          </a:prstGeom>
          <a:noFill/>
        </p:spPr>
        <p:txBody>
          <a:bodyPr wrap="square" anchor="ctr" lIns="0" rIns="0" tIns="0" bIns="0">
            <a:spAutoFit/>
          </a:bodyPr>
          <a:lstStyle/>
          <a:p>
            <a:pPr algn="l"/>
            <a:r>
              <a:rPr sz="2341" b="1">
                <a:solidFill>
                  <a:srgbClr val="0E2841"/>
                </a:solidFill>
                <a:latin typeface="Aptos"/>
              </a:rPr>
              <a:t>Ninguna página importa de </a:t>
            </a:r>
            <a:r>
              <a:rPr sz="2201" b="1">
                <a:solidFill>
                  <a:srgbClr val="156082"/>
                </a:solidFill>
                <a:latin typeface="Consolas"/>
              </a:rPr>
              <a:t>data/</a:t>
            </a:r>
          </a:p>
        </p:txBody>
      </p:sp>
      <p:sp>
        <p:nvSpPr>
          <p:cNvPr id="11" name="Oval 10"/>
          <p:cNvSpPr/>
          <p:nvPr/>
        </p:nvSpPr>
        <p:spPr>
          <a:xfrm>
            <a:off x="585216" y="5896216"/>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5565370"/>
            <a:ext cx="10698480" cy="762277"/>
          </a:xfrm>
          <a:prstGeom prst="rect">
            <a:avLst/>
          </a:prstGeom>
          <a:noFill/>
        </p:spPr>
        <p:txBody>
          <a:bodyPr wrap="square" anchor="ctr" lIns="0" rIns="0" tIns="0" bIns="0">
            <a:spAutoFit/>
          </a:bodyPr>
          <a:lstStyle/>
          <a:p>
            <a:pPr algn="l"/>
            <a:r>
              <a:rPr sz="2341" b="1">
                <a:solidFill>
                  <a:srgbClr val="0E2841"/>
                </a:solidFill>
                <a:latin typeface="Aptos"/>
              </a:rPr>
              <a:t>Imponla con ESLint: </a:t>
            </a:r>
            <a:r>
              <a:rPr sz="2201" b="1">
                <a:solidFill>
                  <a:srgbClr val="156082"/>
                </a:solidFill>
                <a:latin typeface="Consolas"/>
              </a:rPr>
              <a:t>no-restricted-imports</a:t>
            </a:r>
          </a:p>
        </p:txBody>
      </p:sp>
      <p:sp>
        <p:nvSpPr>
          <p:cNvPr id="13" name="TextBox 1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14" name="TextBox 1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17 / 32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548640"/>
            <a:ext cx="9052560" cy="822960"/>
          </a:xfrm>
          <a:prstGeom prst="rect">
            <a:avLst/>
          </a:prstGeom>
          <a:noFill/>
        </p:spPr>
        <p:txBody>
          <a:bodyPr wrap="square" anchor="t" lIns="0" rIns="0" tIns="0" bIns="0">
            <a:spAutoFit/>
          </a:bodyPr>
          <a:lstStyle/>
          <a:p>
            <a:pPr algn="l"/>
            <a:r>
              <a:rPr sz="2200" b="1">
                <a:solidFill>
                  <a:srgbClr val="0E2841"/>
                </a:solidFill>
                <a:latin typeface="Aptos Display"/>
              </a:rPr>
              <a:t>El almacenamiento seguro de tokens, ¿cuenta como uno de los dos plugins nativos del mínimo 7?</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Sí: accede a Keychain y Keystore del dispositivo</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No: ya lo exige el mínimo 5 y no pide permiso</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Sí, siempre que se implemente detrás de un puerto</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Solo cuenta si la pareja es un trío</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18 / 32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04</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Hitos y actividades del aula</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Lanzamiento · cuatro entregas, una sola app</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ABP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Cinco hitos con fecha fija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261360"/>
        </p:xfrm>
        <a:graphic>
          <a:graphicData uri="http://schemas.openxmlformats.org/drawingml/2006/table">
            <a:tbl>
              <a:tblPr firstRow="1">
                <a:tableStyleId>{5C22544A-7EE6-4342-B048-85BDC9FD1C3A}</a:tableStyleId>
              </a:tblPr>
              <a:tblGrid>
                <a:gridCol w="2212848"/>
                <a:gridCol w="2212848"/>
                <a:gridCol w="2212848"/>
                <a:gridCol w="2212848"/>
                <a:gridCol w="2212848"/>
              </a:tblGrid>
              <a:tr h="543560">
                <a:tc>
                  <a:txBody>
                    <a:bodyPr wrap="square"/>
                    <a:lstStyle/>
                    <a:p>
                      <a:r>
                        <a:rPr sz="1569" b="1">
                          <a:solidFill>
                            <a:srgbClr val="FFFFFF"/>
                          </a:solidFill>
                          <a:latin typeface="Aptos"/>
                        </a:rPr>
                        <a:t>Hito</a:t>
                      </a:r>
                    </a:p>
                  </a:txBody>
                  <a:tcPr anchor="ctr" marL="146304" marR="146304">
                    <a:solidFill>
                      <a:srgbClr val="156082"/>
                    </a:solidFill>
                  </a:tcPr>
                </a:tc>
                <a:tc>
                  <a:txBody>
                    <a:bodyPr wrap="square"/>
                    <a:lstStyle/>
                    <a:p>
                      <a:r>
                        <a:rPr sz="1569" b="1">
                          <a:solidFill>
                            <a:srgbClr val="FFFFFF"/>
                          </a:solidFill>
                          <a:latin typeface="Aptos"/>
                        </a:rPr>
                        <a:t>Actividad</a:t>
                      </a:r>
                    </a:p>
                  </a:txBody>
                  <a:tcPr anchor="ctr" marL="146304" marR="146304">
                    <a:solidFill>
                      <a:srgbClr val="156082"/>
                    </a:solidFill>
                  </a:tcPr>
                </a:tc>
                <a:tc>
                  <a:txBody>
                    <a:bodyPr wrap="square"/>
                    <a:lstStyle/>
                    <a:p>
                      <a:r>
                        <a:rPr sz="1569" b="1">
                          <a:solidFill>
                            <a:srgbClr val="FFFFFF"/>
                          </a:solidFill>
                          <a:latin typeface="Aptos"/>
                        </a:rPr>
                        <a:t>Marco</a:t>
                      </a:r>
                    </a:p>
                  </a:txBody>
                  <a:tcPr anchor="ctr" marL="146304" marR="146304">
                    <a:solidFill>
                      <a:srgbClr val="156082"/>
                    </a:solidFill>
                  </a:tcPr>
                </a:tc>
                <a:tc>
                  <a:txBody>
                    <a:bodyPr wrap="square"/>
                    <a:lstStyle/>
                    <a:p>
                      <a:r>
                        <a:rPr sz="1569" b="1">
                          <a:solidFill>
                            <a:srgbClr val="FFFFFF"/>
                          </a:solidFill>
                          <a:latin typeface="Aptos"/>
                        </a:rPr>
                        <a:t>Quién</a:t>
                      </a:r>
                    </a:p>
                  </a:txBody>
                  <a:tcPr anchor="ctr" marL="146304" marR="146304">
                    <a:solidFill>
                      <a:srgbClr val="156082"/>
                    </a:solidFill>
                  </a:tcPr>
                </a:tc>
                <a:tc>
                  <a:txBody>
                    <a:bodyPr wrap="square"/>
                    <a:lstStyle/>
                    <a:p>
                      <a:r>
                        <a:rPr sz="1569" b="1">
                          <a:solidFill>
                            <a:srgbClr val="FFFFFF"/>
                          </a:solidFill>
                          <a:latin typeface="Aptos"/>
                        </a:rPr>
                        <a:t>Vence</a:t>
                      </a:r>
                    </a:p>
                  </a:txBody>
                  <a:tcPr anchor="ctr" marL="146304" marR="146304">
                    <a:solidFill>
                      <a:srgbClr val="156082"/>
                    </a:solidFill>
                  </a:tcPr>
                </a:tc>
              </a:tr>
              <a:tr h="543560">
                <a:tc>
                  <a:txBody>
                    <a:bodyPr wrap="square"/>
                    <a:lstStyle/>
                    <a:p>
                      <a:r>
                        <a:rPr sz="1465" b="1">
                          <a:solidFill>
                            <a:srgbClr val="33475B"/>
                          </a:solidFill>
                          <a:latin typeface="Aptos"/>
                        </a:rPr>
                        <a:t>H0</a:t>
                      </a:r>
                    </a:p>
                  </a:txBody>
                  <a:tcPr anchor="ctr" marL="146304" marR="146304">
                    <a:solidFill>
                      <a:srgbClr val="FFFFFF"/>
                    </a:solidFill>
                  </a:tcPr>
                </a:tc>
                <a:tc>
                  <a:txBody>
                    <a:bodyPr wrap="square"/>
                    <a:lstStyle/>
                    <a:p>
                      <a:r>
                        <a:rPr sz="1465" b="0">
                          <a:solidFill>
                            <a:srgbClr val="33475B"/>
                          </a:solidFill>
                          <a:latin typeface="Aptos"/>
                        </a:rPr>
                        <a:t>—</a:t>
                      </a:r>
                    </a:p>
                  </a:txBody>
                  <a:tcPr anchor="ctr" marL="146304" marR="146304">
                    <a:solidFill>
                      <a:srgbClr val="FFFFFF"/>
                    </a:solidFill>
                  </a:tcPr>
                </a:tc>
                <a:tc>
                  <a:txBody>
                    <a:bodyPr wrap="square"/>
                    <a:lstStyle/>
                    <a:p>
                      <a:r>
                        <a:rPr sz="1465" b="0">
                          <a:solidFill>
                            <a:srgbClr val="33475B"/>
                          </a:solidFill>
                          <a:latin typeface="Aptos"/>
                        </a:rPr>
                        <a:t>Pareja y problema</a:t>
                      </a:r>
                    </a:p>
                  </a:txBody>
                  <a:tcPr anchor="ctr" marL="146304" marR="146304">
                    <a:solidFill>
                      <a:srgbClr val="FFFFFF"/>
                    </a:solidFill>
                  </a:tcPr>
                </a:tc>
                <a:tc>
                  <a:txBody>
                    <a:bodyPr wrap="square"/>
                    <a:lstStyle/>
                    <a:p>
                      <a:r>
                        <a:rPr sz="1465" b="0">
                          <a:solidFill>
                            <a:srgbClr val="33475B"/>
                          </a:solidFill>
                          <a:latin typeface="Aptos"/>
                        </a:rPr>
                        <a:t>Pareja, en el foro</a:t>
                      </a:r>
                    </a:p>
                  </a:txBody>
                  <a:tcPr anchor="ctr" marL="146304" marR="146304">
                    <a:solidFill>
                      <a:srgbClr val="FFFFFF"/>
                    </a:solidFill>
                  </a:tcPr>
                </a:tc>
                <a:tc>
                  <a:txBody>
                    <a:bodyPr wrap="square"/>
                    <a:lstStyle/>
                    <a:p>
                      <a:r>
                        <a:rPr sz="1465" b="0">
                          <a:solidFill>
                            <a:srgbClr val="33475B"/>
                          </a:solidFill>
                          <a:latin typeface="Aptos"/>
                        </a:rPr>
                        <a:t>vie 16-oct</a:t>
                      </a:r>
                    </a:p>
                  </a:txBody>
                  <a:tcPr anchor="ctr" marL="146304" marR="146304">
                    <a:solidFill>
                      <a:srgbClr val="FFFFFF"/>
                    </a:solidFill>
                  </a:tcPr>
                </a:tc>
              </a:tr>
              <a:tr h="543560">
                <a:tc>
                  <a:txBody>
                    <a:bodyPr wrap="square"/>
                    <a:lstStyle/>
                    <a:p>
                      <a:r>
                        <a:rPr sz="1465" b="1">
                          <a:solidFill>
                            <a:srgbClr val="33475B"/>
                          </a:solidFill>
                          <a:latin typeface="Aptos"/>
                        </a:rPr>
                        <a:t>H1</a:t>
                      </a:r>
                    </a:p>
                  </a:txBody>
                  <a:tcPr anchor="ctr" marL="146304" marR="146304">
                    <a:solidFill>
                      <a:srgbClr val="F4F7FA"/>
                    </a:solidFill>
                  </a:tcPr>
                </a:tc>
                <a:tc>
                  <a:txBody>
                    <a:bodyPr wrap="square"/>
                    <a:lstStyle/>
                    <a:p>
                      <a:r>
                        <a:rPr sz="1465" b="0">
                          <a:solidFill>
                            <a:srgbClr val="33475B"/>
                          </a:solidFill>
                          <a:latin typeface="Aptos"/>
                        </a:rPr>
                        <a:t>A1 · 20 %</a:t>
                      </a:r>
                    </a:p>
                  </a:txBody>
                  <a:tcPr anchor="ctr" marL="146304" marR="146304">
                    <a:solidFill>
                      <a:srgbClr val="F4F7FA"/>
                    </a:solidFill>
                  </a:tcPr>
                </a:tc>
                <a:tc>
                  <a:txBody>
                    <a:bodyPr wrap="square"/>
                    <a:lstStyle/>
                    <a:p>
                      <a:r>
                        <a:rPr sz="1465" b="0">
                          <a:solidFill>
                            <a:srgbClr val="33475B"/>
                          </a:solidFill>
                          <a:latin typeface="Aptos"/>
                        </a:rPr>
                        <a:t>00 + 01</a:t>
                      </a:r>
                    </a:p>
                  </a:txBody>
                  <a:tcPr anchor="ctr" marL="146304" marR="146304">
                    <a:solidFill>
                      <a:srgbClr val="F4F7FA"/>
                    </a:solidFill>
                  </a:tcPr>
                </a:tc>
                <a:tc>
                  <a:txBody>
                    <a:bodyPr wrap="square"/>
                    <a:lstStyle/>
                    <a:p>
                      <a:r>
                        <a:rPr sz="1465" b="0">
                          <a:solidFill>
                            <a:srgbClr val="33475B"/>
                          </a:solidFill>
                          <a:latin typeface="Aptos"/>
                        </a:rPr>
                        <a:t>Pareja, mismo PDF</a:t>
                      </a:r>
                    </a:p>
                  </a:txBody>
                  <a:tcPr anchor="ctr" marL="146304" marR="146304">
                    <a:solidFill>
                      <a:srgbClr val="F4F7FA"/>
                    </a:solidFill>
                  </a:tcPr>
                </a:tc>
                <a:tc>
                  <a:txBody>
                    <a:bodyPr wrap="square"/>
                    <a:lstStyle/>
                    <a:p>
                      <a:r>
                        <a:rPr sz="1465" b="0">
                          <a:solidFill>
                            <a:srgbClr val="33475B"/>
                          </a:solidFill>
                          <a:latin typeface="Aptos"/>
                        </a:rPr>
                        <a:t>dom 18-oct</a:t>
                      </a:r>
                    </a:p>
                  </a:txBody>
                  <a:tcPr anchor="ctr" marL="146304" marR="146304">
                    <a:solidFill>
                      <a:srgbClr val="F4F7FA"/>
                    </a:solidFill>
                  </a:tcPr>
                </a:tc>
              </a:tr>
              <a:tr h="543560">
                <a:tc>
                  <a:txBody>
                    <a:bodyPr wrap="square"/>
                    <a:lstStyle/>
                    <a:p>
                      <a:r>
                        <a:rPr sz="1465" b="1">
                          <a:solidFill>
                            <a:srgbClr val="33475B"/>
                          </a:solidFill>
                          <a:latin typeface="Aptos"/>
                        </a:rPr>
                        <a:t>H2</a:t>
                      </a:r>
                    </a:p>
                  </a:txBody>
                  <a:tcPr anchor="ctr" marL="146304" marR="146304">
                    <a:solidFill>
                      <a:srgbClr val="FFFFFF"/>
                    </a:solidFill>
                  </a:tcPr>
                </a:tc>
                <a:tc>
                  <a:txBody>
                    <a:bodyPr wrap="square"/>
                    <a:lstStyle/>
                    <a:p>
                      <a:r>
                        <a:rPr sz="1465" b="0">
                          <a:solidFill>
                            <a:srgbClr val="33475B"/>
                          </a:solidFill>
                          <a:latin typeface="Aptos"/>
                        </a:rPr>
                        <a:t>A2 · 20 %</a:t>
                      </a:r>
                    </a:p>
                  </a:txBody>
                  <a:tcPr anchor="ctr" marL="146304" marR="146304">
                    <a:solidFill>
                      <a:srgbClr val="FFFFFF"/>
                    </a:solidFill>
                  </a:tcPr>
                </a:tc>
                <a:tc>
                  <a:txBody>
                    <a:bodyPr wrap="square"/>
                    <a:lstStyle/>
                    <a:p>
                      <a:r>
                        <a:rPr sz="1465" b="0">
                          <a:solidFill>
                            <a:srgbClr val="33475B"/>
                          </a:solidFill>
                          <a:latin typeface="Aptos"/>
                        </a:rPr>
                        <a:t>ADR del stack + 02 + 03</a:t>
                      </a:r>
                    </a:p>
                  </a:txBody>
                  <a:tcPr anchor="ctr" marL="146304" marR="146304">
                    <a:solidFill>
                      <a:srgbClr val="FFFFFF"/>
                    </a:solidFill>
                  </a:tcPr>
                </a:tc>
                <a:tc>
                  <a:txBody>
                    <a:bodyPr wrap="square"/>
                    <a:lstStyle/>
                    <a:p>
                      <a:r>
                        <a:rPr sz="1465" b="0">
                          <a:solidFill>
                            <a:srgbClr val="33475B"/>
                          </a:solidFill>
                          <a:latin typeface="Aptos"/>
                        </a:rPr>
                        <a:t>Individual</a:t>
                      </a:r>
                    </a:p>
                  </a:txBody>
                  <a:tcPr anchor="ctr" marL="146304" marR="146304">
                    <a:solidFill>
                      <a:srgbClr val="FFFFFF"/>
                    </a:solidFill>
                  </a:tcPr>
                </a:tc>
                <a:tc>
                  <a:txBody>
                    <a:bodyPr wrap="square"/>
                    <a:lstStyle/>
                    <a:p>
                      <a:r>
                        <a:rPr sz="1465" b="0">
                          <a:solidFill>
                            <a:srgbClr val="33475B"/>
                          </a:solidFill>
                          <a:latin typeface="Aptos"/>
                        </a:rPr>
                        <a:t>dom 25-oct</a:t>
                      </a:r>
                    </a:p>
                  </a:txBody>
                  <a:tcPr anchor="ctr" marL="146304" marR="146304">
                    <a:solidFill>
                      <a:srgbClr val="FFFFFF"/>
                    </a:solidFill>
                  </a:tcPr>
                </a:tc>
              </a:tr>
              <a:tr h="543560">
                <a:tc>
                  <a:txBody>
                    <a:bodyPr wrap="square"/>
                    <a:lstStyle/>
                    <a:p>
                      <a:r>
                        <a:rPr sz="1465" b="1">
                          <a:solidFill>
                            <a:srgbClr val="33475B"/>
                          </a:solidFill>
                          <a:latin typeface="Aptos"/>
                        </a:rPr>
                        <a:t>H3</a:t>
                      </a:r>
                    </a:p>
                  </a:txBody>
                  <a:tcPr anchor="ctr" marL="146304" marR="146304">
                    <a:solidFill>
                      <a:srgbClr val="F4F7FA"/>
                    </a:solidFill>
                  </a:tcPr>
                </a:tc>
                <a:tc>
                  <a:txBody>
                    <a:bodyPr wrap="square"/>
                    <a:lstStyle/>
                    <a:p>
                      <a:r>
                        <a:rPr sz="1465" b="0">
                          <a:solidFill>
                            <a:srgbClr val="33475B"/>
                          </a:solidFill>
                          <a:latin typeface="Aptos"/>
                        </a:rPr>
                        <a:t>A3 · 20 %</a:t>
                      </a:r>
                    </a:p>
                  </a:txBody>
                  <a:tcPr anchor="ctr" marL="146304" marR="146304">
                    <a:solidFill>
                      <a:srgbClr val="F4F7FA"/>
                    </a:solidFill>
                  </a:tcPr>
                </a:tc>
                <a:tc>
                  <a:txBody>
                    <a:bodyPr wrap="square"/>
                    <a:lstStyle/>
                    <a:p>
                      <a:r>
                        <a:rPr sz="1465" b="0">
                          <a:solidFill>
                            <a:srgbClr val="33475B"/>
                          </a:solidFill>
                          <a:latin typeface="Aptos"/>
                        </a:rPr>
                        <a:t>04 + 05</a:t>
                      </a:r>
                    </a:p>
                  </a:txBody>
                  <a:tcPr anchor="ctr" marL="146304" marR="146304">
                    <a:solidFill>
                      <a:srgbClr val="F4F7FA"/>
                    </a:solidFill>
                  </a:tcPr>
                </a:tc>
                <a:tc>
                  <a:txBody>
                    <a:bodyPr wrap="square"/>
                    <a:lstStyle/>
                    <a:p>
                      <a:r>
                        <a:rPr sz="1465" b="0">
                          <a:solidFill>
                            <a:srgbClr val="33475B"/>
                          </a:solidFill>
                          <a:latin typeface="Aptos"/>
                        </a:rPr>
                        <a:t>Pareja, mismo PDF</a:t>
                      </a:r>
                    </a:p>
                  </a:txBody>
                  <a:tcPr anchor="ctr" marL="146304" marR="146304">
                    <a:solidFill>
                      <a:srgbClr val="F4F7FA"/>
                    </a:solidFill>
                  </a:tcPr>
                </a:tc>
                <a:tc>
                  <a:txBody>
                    <a:bodyPr wrap="square"/>
                    <a:lstStyle/>
                    <a:p>
                      <a:r>
                        <a:rPr sz="1465" b="0">
                          <a:solidFill>
                            <a:srgbClr val="33475B"/>
                          </a:solidFill>
                          <a:latin typeface="Aptos"/>
                        </a:rPr>
                        <a:t>dom 1-nov</a:t>
                      </a:r>
                    </a:p>
                  </a:txBody>
                  <a:tcPr anchor="ctr" marL="146304" marR="146304">
                    <a:solidFill>
                      <a:srgbClr val="F4F7FA"/>
                    </a:solidFill>
                  </a:tcPr>
                </a:tc>
              </a:tr>
              <a:tr h="543560">
                <a:tc>
                  <a:txBody>
                    <a:bodyPr wrap="square"/>
                    <a:lstStyle/>
                    <a:p>
                      <a:r>
                        <a:rPr sz="1465" b="1">
                          <a:solidFill>
                            <a:srgbClr val="33475B"/>
                          </a:solidFill>
                          <a:latin typeface="Aptos"/>
                        </a:rPr>
                        <a:t>H4</a:t>
                      </a:r>
                    </a:p>
                  </a:txBody>
                  <a:tcPr anchor="ctr" marL="146304" marR="146304">
                    <a:solidFill>
                      <a:srgbClr val="FFFFFF"/>
                    </a:solidFill>
                  </a:tcPr>
                </a:tc>
                <a:tc>
                  <a:txBody>
                    <a:bodyPr wrap="square"/>
                    <a:lstStyle/>
                    <a:p>
                      <a:r>
                        <a:rPr sz="1465" b="0">
                          <a:solidFill>
                            <a:srgbClr val="33475B"/>
                          </a:solidFill>
                          <a:latin typeface="Aptos"/>
                        </a:rPr>
                        <a:t>ABP · 40 %</a:t>
                      </a:r>
                    </a:p>
                  </a:txBody>
                  <a:tcPr anchor="ctr" marL="146304" marR="146304">
                    <a:solidFill>
                      <a:srgbClr val="FFFFFF"/>
                    </a:solidFill>
                  </a:tcPr>
                </a:tc>
                <a:tc>
                  <a:txBody>
                    <a:bodyPr wrap="square"/>
                    <a:lstStyle/>
                    <a:p>
                      <a:r>
                        <a:rPr sz="1465" b="0">
                          <a:solidFill>
                            <a:srgbClr val="33475B"/>
                          </a:solidFill>
                          <a:latin typeface="Aptos"/>
                        </a:rPr>
                        <a:t>00 a 05 completo</a:t>
                      </a:r>
                    </a:p>
                  </a:txBody>
                  <a:tcPr anchor="ctr" marL="146304" marR="146304">
                    <a:solidFill>
                      <a:srgbClr val="FFFFFF"/>
                    </a:solidFill>
                  </a:tcPr>
                </a:tc>
                <a:tc>
                  <a:txBody>
                    <a:bodyPr wrap="square"/>
                    <a:lstStyle/>
                    <a:p>
                      <a:r>
                        <a:rPr sz="1465" b="0">
                          <a:solidFill>
                            <a:srgbClr val="33475B"/>
                          </a:solidFill>
                          <a:latin typeface="Aptos"/>
                        </a:rPr>
                        <a:t>Pareja, mismo PDF</a:t>
                      </a:r>
                    </a:p>
                  </a:txBody>
                  <a:tcPr anchor="ctr" marL="146304" marR="146304">
                    <a:solidFill>
                      <a:srgbClr val="FFFFFF"/>
                    </a:solidFill>
                  </a:tcPr>
                </a:tc>
                <a:tc>
                  <a:txBody>
                    <a:bodyPr wrap="square"/>
                    <a:lstStyle/>
                    <a:p>
                      <a:r>
                        <a:rPr sz="1465" b="0">
                          <a:solidFill>
                            <a:srgbClr val="33475B"/>
                          </a:solidFill>
                          <a:latin typeface="Aptos"/>
                        </a:rPr>
                        <a:t>dom 8-nov</a:t>
                      </a:r>
                    </a:p>
                  </a:txBody>
                  <a:tcPr anchor="ctr" marL="146304" marR="146304">
                    <a:solidFill>
                      <a:srgbClr val="FFFFFF"/>
                    </a:solidFill>
                  </a:tcPr>
                </a:tc>
              </a:tr>
            </a:tbl>
          </a:graphicData>
        </a:graphic>
      </p:graphicFrame>
      <p:sp>
        <p:nvSpPr>
          <p:cNvPr id="8" name="Rounded Rectangle 7"/>
          <p:cNvSpPr/>
          <p:nvPr/>
        </p:nvSpPr>
        <p:spPr>
          <a:xfrm>
            <a:off x="566928" y="5035296"/>
            <a:ext cx="11064240" cy="1292351"/>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090160"/>
            <a:ext cx="63500" cy="118262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035296"/>
            <a:ext cx="10378440" cy="1292351"/>
          </a:xfrm>
          <a:prstGeom prst="rect">
            <a:avLst/>
          </a:prstGeom>
          <a:noFill/>
        </p:spPr>
        <p:txBody>
          <a:bodyPr wrap="square" anchor="ctr" lIns="0" rIns="0" tIns="0" bIns="0">
            <a:spAutoFit/>
          </a:bodyPr>
          <a:lstStyle/>
          <a:p>
            <a:pPr algn="l">
              <a:lnSpc>
                <a:spcPct val="125000"/>
              </a:lnSpc>
            </a:pPr>
            <a:r>
              <a:rPr sz="2302" b="1">
                <a:solidFill>
                  <a:srgbClr val="0E2841"/>
                </a:solidFill>
                <a:latin typeface="Aptos Display"/>
              </a:rPr>
              <a:t>Todo vence a las 11:59 p. m., hora de Colombia; después Moodle no recibe archivos. Suban con margen y verifiquen que el PDF abre.</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19 / 32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ABP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Cinco encuentros, tres clínicas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261360"/>
        </p:xfrm>
        <a:graphic>
          <a:graphicData uri="http://schemas.openxmlformats.org/drawingml/2006/table">
            <a:tbl>
              <a:tblPr firstRow="1">
                <a:tableStyleId>{5C22544A-7EE6-4342-B048-85BDC9FD1C3A}</a:tableStyleId>
              </a:tblPr>
              <a:tblGrid>
                <a:gridCol w="2766060"/>
                <a:gridCol w="2766060"/>
                <a:gridCol w="2766060"/>
                <a:gridCol w="2766060"/>
              </a:tblGrid>
              <a:tr h="543560">
                <a:tc>
                  <a:txBody>
                    <a:bodyPr wrap="square"/>
                    <a:lstStyle/>
                    <a:p>
                      <a:r>
                        <a:rPr sz="1569" b="1">
                          <a:solidFill>
                            <a:srgbClr val="FFFFFF"/>
                          </a:solidFill>
                          <a:latin typeface="Aptos"/>
                        </a:rPr>
                        <a:t>#</a:t>
                      </a:r>
                    </a:p>
                  </a:txBody>
                  <a:tcPr anchor="ctr" marL="146304" marR="146304">
                    <a:solidFill>
                      <a:srgbClr val="156082"/>
                    </a:solidFill>
                  </a:tcPr>
                </a:tc>
                <a:tc>
                  <a:txBody>
                    <a:bodyPr wrap="square"/>
                    <a:lstStyle/>
                    <a:p>
                      <a:r>
                        <a:rPr sz="1569" b="1">
                          <a:solidFill>
                            <a:srgbClr val="FFFFFF"/>
                          </a:solidFill>
                          <a:latin typeface="Aptos"/>
                        </a:rPr>
                        <a:t>Fecha</a:t>
                      </a:r>
                    </a:p>
                  </a:txBody>
                  <a:tcPr anchor="ctr" marL="146304" marR="146304">
                    <a:solidFill>
                      <a:srgbClr val="156082"/>
                    </a:solidFill>
                  </a:tcPr>
                </a:tc>
                <a:tc>
                  <a:txBody>
                    <a:bodyPr wrap="square"/>
                    <a:lstStyle/>
                    <a:p>
                      <a:r>
                        <a:rPr sz="1569" b="1">
                          <a:solidFill>
                            <a:srgbClr val="FFFFFF"/>
                          </a:solidFill>
                          <a:latin typeface="Aptos"/>
                        </a:rPr>
                        <a:t>En vivo</a:t>
                      </a:r>
                    </a:p>
                  </a:txBody>
                  <a:tcPr anchor="ctr" marL="146304" marR="146304">
                    <a:solidFill>
                      <a:srgbClr val="156082"/>
                    </a:solidFill>
                  </a:tcPr>
                </a:tc>
                <a:tc>
                  <a:txBody>
                    <a:bodyPr wrap="square"/>
                    <a:lstStyle/>
                    <a:p>
                      <a:r>
                        <a:rPr sz="1569" b="1">
                          <a:solidFill>
                            <a:srgbClr val="FFFFFF"/>
                          </a:solidFill>
                          <a:latin typeface="Aptos"/>
                        </a:rPr>
                        <a:t>Llevar</a:t>
                      </a:r>
                    </a:p>
                  </a:txBody>
                  <a:tcPr anchor="ctr" marL="146304" marR="146304">
                    <a:solidFill>
                      <a:srgbClr val="156082"/>
                    </a:solidFill>
                  </a:tcPr>
                </a:tc>
              </a:tr>
              <a:tr h="543560">
                <a:tc>
                  <a:txBody>
                    <a:bodyPr wrap="square"/>
                    <a:lstStyle/>
                    <a:p>
                      <a:r>
                        <a:rPr sz="1465" b="1">
                          <a:solidFill>
                            <a:srgbClr val="33475B"/>
                          </a:solidFill>
                          <a:latin typeface="Aptos"/>
                        </a:rPr>
                        <a:t>1</a:t>
                      </a:r>
                    </a:p>
                  </a:txBody>
                  <a:tcPr anchor="ctr" marL="146304" marR="146304">
                    <a:solidFill>
                      <a:srgbClr val="FFFFFF"/>
                    </a:solidFill>
                  </a:tcPr>
                </a:tc>
                <a:tc>
                  <a:txBody>
                    <a:bodyPr wrap="square"/>
                    <a:lstStyle/>
                    <a:p>
                      <a:r>
                        <a:rPr sz="1465" b="0">
                          <a:solidFill>
                            <a:srgbClr val="33475B"/>
                          </a:solidFill>
                          <a:latin typeface="Aptos"/>
                        </a:rPr>
                        <a:t>vie 9-oct</a:t>
                      </a:r>
                    </a:p>
                  </a:txBody>
                  <a:tcPr anchor="ctr" marL="146304" marR="146304">
                    <a:solidFill>
                      <a:srgbClr val="FFFFFF"/>
                    </a:solidFill>
                  </a:tcPr>
                </a:tc>
                <a:tc>
                  <a:txBody>
                    <a:bodyPr wrap="square"/>
                    <a:lstStyle/>
                    <a:p>
                      <a:r>
                        <a:rPr sz="1465" b="0">
                          <a:solidFill>
                            <a:srgbClr val="33475B"/>
                          </a:solidFill>
                          <a:latin typeface="Aptos"/>
                        </a:rPr>
                        <a:t>Unidad 1 y lanzamiento ABP</a:t>
                      </a:r>
                    </a:p>
                  </a:txBody>
                  <a:tcPr anchor="ctr" marL="146304" marR="146304">
                    <a:solidFill>
                      <a:srgbClr val="FFFFFF"/>
                    </a:solidFill>
                  </a:tcPr>
                </a:tc>
                <a:tc>
                  <a:txBody>
                    <a:bodyPr wrap="square"/>
                    <a:lstStyle/>
                    <a:p>
                      <a:r>
                        <a:rPr sz="1465" b="0">
                          <a:solidFill>
                            <a:srgbClr val="33475B"/>
                          </a:solidFill>
                          <a:latin typeface="Aptos"/>
                        </a:rPr>
                        <a:t>Ideas de problema y posible pareja</a:t>
                      </a:r>
                    </a:p>
                  </a:txBody>
                  <a:tcPr anchor="ctr" marL="146304" marR="146304">
                    <a:solidFill>
                      <a:srgbClr val="FFFFFF"/>
                    </a:solidFill>
                  </a:tcPr>
                </a:tc>
              </a:tr>
              <a:tr h="543560">
                <a:tc>
                  <a:txBody>
                    <a:bodyPr wrap="square"/>
                    <a:lstStyle/>
                    <a:p>
                      <a:r>
                        <a:rPr sz="1465" b="1">
                          <a:solidFill>
                            <a:srgbClr val="33475B"/>
                          </a:solidFill>
                          <a:latin typeface="Aptos"/>
                        </a:rPr>
                        <a:t>2</a:t>
                      </a:r>
                    </a:p>
                  </a:txBody>
                  <a:tcPr anchor="ctr" marL="146304" marR="146304">
                    <a:solidFill>
                      <a:srgbClr val="F4F7FA"/>
                    </a:solidFill>
                  </a:tcPr>
                </a:tc>
                <a:tc>
                  <a:txBody>
                    <a:bodyPr wrap="square"/>
                    <a:lstStyle/>
                    <a:p>
                      <a:r>
                        <a:rPr sz="1465" b="0">
                          <a:solidFill>
                            <a:srgbClr val="33475B"/>
                          </a:solidFill>
                          <a:latin typeface="Aptos"/>
                        </a:rPr>
                        <a:t>vie 16-oct</a:t>
                      </a:r>
                    </a:p>
                  </a:txBody>
                  <a:tcPr anchor="ctr" marL="146304" marR="146304">
                    <a:solidFill>
                      <a:srgbClr val="F4F7FA"/>
                    </a:solidFill>
                  </a:tcPr>
                </a:tc>
                <a:tc>
                  <a:txBody>
                    <a:bodyPr wrap="square"/>
                    <a:lstStyle/>
                    <a:p>
                      <a:r>
                        <a:rPr sz="1465" b="0">
                          <a:solidFill>
                            <a:srgbClr val="33475B"/>
                          </a:solidFill>
                          <a:latin typeface="Aptos"/>
                        </a:rPr>
                        <a:t>Unidad 2 · clínica A1</a:t>
                      </a:r>
                    </a:p>
                  </a:txBody>
                  <a:tcPr anchor="ctr" marL="146304" marR="146304">
                    <a:solidFill>
                      <a:srgbClr val="F4F7FA"/>
                    </a:solidFill>
                  </a:tcPr>
                </a:tc>
                <a:tc>
                  <a:txBody>
                    <a:bodyPr wrap="square"/>
                    <a:lstStyle/>
                    <a:p>
                      <a:r>
                        <a:rPr sz="1465" b="0">
                          <a:solidFill>
                            <a:srgbClr val="33475B"/>
                          </a:solidFill>
                          <a:latin typeface="Aptos"/>
                        </a:rPr>
                        <a:t>H0 publicado, borrador de 00 y 01, árbol</a:t>
                      </a:r>
                    </a:p>
                  </a:txBody>
                  <a:tcPr anchor="ctr" marL="146304" marR="146304">
                    <a:solidFill>
                      <a:srgbClr val="F4F7FA"/>
                    </a:solidFill>
                  </a:tcPr>
                </a:tc>
              </a:tr>
              <a:tr h="543560">
                <a:tc>
                  <a:txBody>
                    <a:bodyPr wrap="square"/>
                    <a:lstStyle/>
                    <a:p>
                      <a:r>
                        <a:rPr sz="1465" b="1">
                          <a:solidFill>
                            <a:srgbClr val="33475B"/>
                          </a:solidFill>
                          <a:latin typeface="Aptos"/>
                        </a:rPr>
                        <a:t>3</a:t>
                      </a:r>
                    </a:p>
                  </a:txBody>
                  <a:tcPr anchor="ctr" marL="146304" marR="146304">
                    <a:solidFill>
                      <a:srgbClr val="FFFFFF"/>
                    </a:solidFill>
                  </a:tcPr>
                </a:tc>
                <a:tc>
                  <a:txBody>
                    <a:bodyPr wrap="square"/>
                    <a:lstStyle/>
                    <a:p>
                      <a:r>
                        <a:rPr sz="1465" b="0">
                          <a:solidFill>
                            <a:srgbClr val="33475B"/>
                          </a:solidFill>
                          <a:latin typeface="Aptos"/>
                        </a:rPr>
                        <a:t>vie 23-oct</a:t>
                      </a:r>
                    </a:p>
                  </a:txBody>
                  <a:tcPr anchor="ctr" marL="146304" marR="146304">
                    <a:solidFill>
                      <a:srgbClr val="FFFFFF"/>
                    </a:solidFill>
                  </a:tcPr>
                </a:tc>
                <a:tc>
                  <a:txBody>
                    <a:bodyPr wrap="square"/>
                    <a:lstStyle/>
                    <a:p>
                      <a:r>
                        <a:rPr sz="1465" b="0">
                          <a:solidFill>
                            <a:srgbClr val="33475B"/>
                          </a:solidFill>
                          <a:latin typeface="Aptos"/>
                        </a:rPr>
                        <a:t>Unidad 3, parte 1 · clínica A2</a:t>
                      </a:r>
                    </a:p>
                  </a:txBody>
                  <a:tcPr anchor="ctr" marL="146304" marR="146304">
                    <a:solidFill>
                      <a:srgbClr val="FFFFFF"/>
                    </a:solidFill>
                  </a:tcPr>
                </a:tc>
                <a:tc>
                  <a:txBody>
                    <a:bodyPr wrap="square"/>
                    <a:lstStyle/>
                    <a:p>
                      <a:r>
                        <a:rPr sz="1465" b="0">
                          <a:solidFill>
                            <a:srgbClr val="33475B"/>
                          </a:solidFill>
                          <a:latin typeface="Aptos"/>
                        </a:rPr>
                        <a:t>Análisis del foro; 02 y 03 en el repo</a:t>
                      </a:r>
                    </a:p>
                  </a:txBody>
                  <a:tcPr anchor="ctr" marL="146304" marR="146304">
                    <a:solidFill>
                      <a:srgbClr val="FFFFFF"/>
                    </a:solidFill>
                  </a:tcPr>
                </a:tc>
              </a:tr>
              <a:tr h="543560">
                <a:tc>
                  <a:txBody>
                    <a:bodyPr wrap="square"/>
                    <a:lstStyle/>
                    <a:p>
                      <a:r>
                        <a:rPr sz="1465" b="1">
                          <a:solidFill>
                            <a:srgbClr val="33475B"/>
                          </a:solidFill>
                          <a:latin typeface="Aptos"/>
                        </a:rPr>
                        <a:t>4</a:t>
                      </a:r>
                    </a:p>
                  </a:txBody>
                  <a:tcPr anchor="ctr" marL="146304" marR="146304">
                    <a:solidFill>
                      <a:srgbClr val="F4F7FA"/>
                    </a:solidFill>
                  </a:tcPr>
                </a:tc>
                <a:tc>
                  <a:txBody>
                    <a:bodyPr wrap="square"/>
                    <a:lstStyle/>
                    <a:p>
                      <a:r>
                        <a:rPr sz="1465" b="0">
                          <a:solidFill>
                            <a:srgbClr val="33475B"/>
                          </a:solidFill>
                          <a:latin typeface="Aptos"/>
                        </a:rPr>
                        <a:t>vie 30-oct</a:t>
                      </a:r>
                    </a:p>
                  </a:txBody>
                  <a:tcPr anchor="ctr" marL="146304" marR="146304">
                    <a:solidFill>
                      <a:srgbClr val="F4F7FA"/>
                    </a:solidFill>
                  </a:tcPr>
                </a:tc>
                <a:tc>
                  <a:txBody>
                    <a:bodyPr wrap="square"/>
                    <a:lstStyle/>
                    <a:p>
                      <a:r>
                        <a:rPr sz="1465" b="0">
                          <a:solidFill>
                            <a:srgbClr val="33475B"/>
                          </a:solidFill>
                          <a:latin typeface="Aptos"/>
                        </a:rPr>
                        <a:t>Unidad 3, parte 2 · clínica A3</a:t>
                      </a:r>
                    </a:p>
                  </a:txBody>
                  <a:tcPr anchor="ctr" marL="146304" marR="146304">
                    <a:solidFill>
                      <a:srgbClr val="F4F7FA"/>
                    </a:solidFill>
                  </a:tcPr>
                </a:tc>
                <a:tc>
                  <a:txBody>
                    <a:bodyPr wrap="square"/>
                    <a:lstStyle/>
                    <a:p>
                      <a:r>
                        <a:rPr sz="1465" b="0">
                          <a:solidFill>
                            <a:srgbClr val="33475B"/>
                          </a:solidFill>
                          <a:latin typeface="Aptos"/>
                        </a:rPr>
                        <a:t>App corriendo, pruebas, primer firmado</a:t>
                      </a:r>
                    </a:p>
                  </a:txBody>
                  <a:tcPr anchor="ctr" marL="146304" marR="146304">
                    <a:solidFill>
                      <a:srgbClr val="F4F7FA"/>
                    </a:solidFill>
                  </a:tcPr>
                </a:tc>
              </a:tr>
              <a:tr h="543560">
                <a:tc>
                  <a:txBody>
                    <a:bodyPr wrap="square"/>
                    <a:lstStyle/>
                    <a:p>
                      <a:r>
                        <a:rPr sz="1465" b="1">
                          <a:solidFill>
                            <a:srgbClr val="33475B"/>
                          </a:solidFill>
                          <a:latin typeface="Aptos"/>
                        </a:rPr>
                        <a:t>5</a:t>
                      </a:r>
                    </a:p>
                  </a:txBody>
                  <a:tcPr anchor="ctr" marL="146304" marR="146304">
                    <a:solidFill>
                      <a:srgbClr val="FFFFFF"/>
                    </a:solidFill>
                  </a:tcPr>
                </a:tc>
                <a:tc>
                  <a:txBody>
                    <a:bodyPr wrap="square"/>
                    <a:lstStyle/>
                    <a:p>
                      <a:r>
                        <a:rPr sz="1465" b="0">
                          <a:solidFill>
                            <a:srgbClr val="33475B"/>
                          </a:solidFill>
                          <a:latin typeface="Aptos"/>
                        </a:rPr>
                        <a:t>vie 6-nov</a:t>
                      </a:r>
                    </a:p>
                  </a:txBody>
                  <a:tcPr anchor="ctr" marL="146304" marR="146304">
                    <a:solidFill>
                      <a:srgbClr val="FFFFFF"/>
                    </a:solidFill>
                  </a:tcPr>
                </a:tc>
                <a:tc>
                  <a:txBody>
                    <a:bodyPr wrap="square"/>
                    <a:lstStyle/>
                    <a:p>
                      <a:r>
                        <a:rPr sz="1465" b="0">
                          <a:solidFill>
                            <a:srgbClr val="33475B"/>
                          </a:solidFill>
                          <a:latin typeface="Aptos"/>
                        </a:rPr>
                        <a:t>Socialización y cierre</a:t>
                      </a:r>
                    </a:p>
                  </a:txBody>
                  <a:tcPr anchor="ctr" marL="146304" marR="146304">
                    <a:solidFill>
                      <a:srgbClr val="FFFFFF"/>
                    </a:solidFill>
                  </a:tcPr>
                </a:tc>
                <a:tc>
                  <a:txBody>
                    <a:bodyPr wrap="square"/>
                    <a:lstStyle/>
                    <a:p>
                      <a:r>
                        <a:rPr sz="1465" b="0">
                          <a:solidFill>
                            <a:srgbClr val="33475B"/>
                          </a:solidFill>
                          <a:latin typeface="Aptos"/>
                        </a:rPr>
                        <a:t>Demo de 3 minutos lista</a:t>
                      </a:r>
                    </a:p>
                  </a:txBody>
                  <a:tcPr anchor="ctr" marL="146304" marR="146304">
                    <a:solidFill>
                      <a:srgbClr val="FFFFFF"/>
                    </a:solidFill>
                  </a:tcPr>
                </a:tc>
              </a:tr>
            </a:tbl>
          </a:graphicData>
        </a:graphic>
      </p:graphicFrame>
      <p:sp>
        <p:nvSpPr>
          <p:cNvPr id="8" name="Rounded Rectangle 7"/>
          <p:cNvSpPr/>
          <p:nvPr/>
        </p:nvSpPr>
        <p:spPr>
          <a:xfrm>
            <a:off x="566928" y="5035296"/>
            <a:ext cx="11064240" cy="1292351"/>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090160"/>
            <a:ext cx="63500" cy="118262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035296"/>
            <a:ext cx="10378440" cy="1292351"/>
          </a:xfrm>
          <a:prstGeom prst="rect">
            <a:avLst/>
          </a:prstGeom>
          <a:noFill/>
        </p:spPr>
        <p:txBody>
          <a:bodyPr wrap="square" anchor="ctr" lIns="0" rIns="0" tIns="0" bIns="0">
            <a:spAutoFit/>
          </a:bodyPr>
          <a:lstStyle/>
          <a:p>
            <a:pPr algn="l">
              <a:lnSpc>
                <a:spcPct val="125000"/>
              </a:lnSpc>
            </a:pPr>
            <a:r>
              <a:rPr sz="2302" b="1">
                <a:solidFill>
                  <a:srgbClr val="0E2841"/>
                </a:solidFill>
                <a:latin typeface="Aptos Display"/>
              </a:rPr>
              <a:t>Viernes de 6:00 a 7:00 p. m. por Google Meet: meet.google.com/pzh-kxer-pnx. Las clínicas revisan avances reales.</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20 / 32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ABP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A1: el desarrollo técnico es 00 y 01</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261360"/>
        </p:xfrm>
        <a:graphic>
          <a:graphicData uri="http://schemas.openxmlformats.org/drawingml/2006/table">
            <a:tbl>
              <a:tblPr firstRow="1">
                <a:tableStyleId>{5C22544A-7EE6-4342-B048-85BDC9FD1C3A}</a:tableStyleId>
              </a:tblPr>
              <a:tblGrid>
                <a:gridCol w="3688080"/>
                <a:gridCol w="3688080"/>
                <a:gridCol w="3688080"/>
              </a:tblGrid>
              <a:tr h="543560">
                <a:tc>
                  <a:txBody>
                    <a:bodyPr wrap="square"/>
                    <a:lstStyle/>
                    <a:p>
                      <a:r>
                        <a:rPr sz="1569" b="1">
                          <a:solidFill>
                            <a:srgbClr val="FFFFFF"/>
                          </a:solidFill>
                          <a:latin typeface="Aptos"/>
                        </a:rPr>
                        <a:t>Lo que pide el enunciado</a:t>
                      </a:r>
                    </a:p>
                  </a:txBody>
                  <a:tcPr anchor="ctr" marL="146304" marR="146304">
                    <a:solidFill>
                      <a:srgbClr val="156082"/>
                    </a:solidFill>
                  </a:tcPr>
                </a:tc>
                <a:tc>
                  <a:txBody>
                    <a:bodyPr wrap="square"/>
                    <a:lstStyle/>
                    <a:p>
                      <a:r>
                        <a:rPr sz="1569" b="1">
                          <a:solidFill>
                            <a:srgbClr val="FFFFFF"/>
                          </a:solidFill>
                          <a:latin typeface="Aptos"/>
                        </a:rPr>
                        <a:t>Va en</a:t>
                      </a:r>
                    </a:p>
                  </a:txBody>
                  <a:tcPr anchor="ctr" marL="146304" marR="146304">
                    <a:solidFill>
                      <a:srgbClr val="156082"/>
                    </a:solidFill>
                  </a:tcPr>
                </a:tc>
                <a:tc>
                  <a:txBody>
                    <a:bodyPr wrap="square"/>
                    <a:lstStyle/>
                    <a:p>
                      <a:r>
                        <a:rPr sz="1569" b="1">
                          <a:solidFill>
                            <a:srgbClr val="FFFFFF"/>
                          </a:solidFill>
                          <a:latin typeface="Aptos"/>
                        </a:rPr>
                        <a:t>Qué escribe la pareja</a:t>
                      </a:r>
                    </a:p>
                  </a:txBody>
                  <a:tcPr anchor="ctr" marL="146304" marR="146304">
                    <a:solidFill>
                      <a:srgbClr val="156082"/>
                    </a:solidFill>
                  </a:tcPr>
                </a:tc>
              </a:tr>
              <a:tr h="543560">
                <a:tc>
                  <a:txBody>
                    <a:bodyPr wrap="square"/>
                    <a:lstStyle/>
                    <a:p>
                      <a:r>
                        <a:rPr sz="1465" b="1">
                          <a:solidFill>
                            <a:srgbClr val="33475B"/>
                          </a:solidFill>
                          <a:latin typeface="Aptos"/>
                        </a:rPr>
                        <a:t>Descripción y alcance</a:t>
                      </a:r>
                    </a:p>
                  </a:txBody>
                  <a:tcPr anchor="ctr" marL="146304" marR="146304">
                    <a:solidFill>
                      <a:srgbClr val="FFFFFF"/>
                    </a:solidFill>
                  </a:tcPr>
                </a:tc>
                <a:tc>
                  <a:txBody>
                    <a:bodyPr wrap="square"/>
                    <a:lstStyle/>
                    <a:p>
                      <a:r>
                        <a:rPr sz="1465" b="0">
                          <a:solidFill>
                            <a:srgbClr val="33475B"/>
                          </a:solidFill>
                          <a:latin typeface="Aptos"/>
                        </a:rPr>
                        <a:t>Introducción y 00</a:t>
                      </a:r>
                    </a:p>
                  </a:txBody>
                  <a:tcPr anchor="ctr" marL="146304" marR="146304">
                    <a:solidFill>
                      <a:srgbClr val="FFFFFF"/>
                    </a:solidFill>
                  </a:tcPr>
                </a:tc>
                <a:tc>
                  <a:txBody>
                    <a:bodyPr wrap="square"/>
                    <a:lstStyle/>
                    <a:p>
                      <a:r>
                        <a:rPr sz="1465" b="0">
                          <a:solidFill>
                            <a:srgbClr val="33475B"/>
                          </a:solidFill>
                          <a:latin typeface="Aptos"/>
                        </a:rPr>
                        <a:t>Problema, usuario y qué queda fuera</a:t>
                      </a:r>
                    </a:p>
                  </a:txBody>
                  <a:tcPr anchor="ctr" marL="146304" marR="146304">
                    <a:solidFill>
                      <a:srgbClr val="FFFFFF"/>
                    </a:solidFill>
                  </a:tcPr>
                </a:tc>
              </a:tr>
              <a:tr h="543560">
                <a:tc>
                  <a:txBody>
                    <a:bodyPr wrap="square"/>
                    <a:lstStyle/>
                    <a:p>
                      <a:r>
                        <a:rPr sz="1465" b="1">
                          <a:solidFill>
                            <a:srgbClr val="33475B"/>
                          </a:solidFill>
                          <a:latin typeface="Aptos"/>
                        </a:rPr>
                        <a:t>Framework: Angular, React o Vue</a:t>
                      </a:r>
                    </a:p>
                  </a:txBody>
                  <a:tcPr anchor="ctr" marL="146304" marR="146304">
                    <a:solidFill>
                      <a:srgbClr val="F4F7FA"/>
                    </a:solidFill>
                  </a:tcPr>
                </a:tc>
                <a:tc>
                  <a:txBody>
                    <a:bodyPr wrap="square"/>
                    <a:lstStyle/>
                    <a:p>
                      <a:r>
                        <a:rPr sz="1465" b="0">
                          <a:solidFill>
                            <a:srgbClr val="33475B"/>
                          </a:solidFill>
                          <a:latin typeface="Aptos"/>
                        </a:rPr>
                        <a:t>01 · ADR del stack</a:t>
                      </a:r>
                    </a:p>
                  </a:txBody>
                  <a:tcPr anchor="ctr" marL="146304" marR="146304">
                    <a:solidFill>
                      <a:srgbClr val="F4F7FA"/>
                    </a:solidFill>
                  </a:tcPr>
                </a:tc>
                <a:tc>
                  <a:txBody>
                    <a:bodyPr wrap="square"/>
                    <a:lstStyle/>
                    <a:p>
                      <a:r>
                        <a:rPr sz="1465" b="0">
                          <a:solidFill>
                            <a:srgbClr val="33475B"/>
                          </a:solidFill>
                          <a:latin typeface="Aptos"/>
                        </a:rPr>
                        <a:t>Angular fijado; React y Vue como alternativas</a:t>
                      </a:r>
                    </a:p>
                  </a:txBody>
                  <a:tcPr anchor="ctr" marL="146304" marR="146304">
                    <a:solidFill>
                      <a:srgbClr val="F4F7FA"/>
                    </a:solidFill>
                  </a:tcPr>
                </a:tc>
              </a:tr>
              <a:tr h="543560">
                <a:tc>
                  <a:txBody>
                    <a:bodyPr wrap="square"/>
                    <a:lstStyle/>
                    <a:p>
                      <a:r>
                        <a:rPr sz="1465" b="1">
                          <a:solidFill>
                            <a:srgbClr val="33475B"/>
                          </a:solidFill>
                          <a:latin typeface="Aptos"/>
                        </a:rPr>
                        <a:t>Arquitectura y estructura base</a:t>
                      </a:r>
                    </a:p>
                  </a:txBody>
                  <a:tcPr anchor="ctr" marL="146304" marR="146304">
                    <a:solidFill>
                      <a:srgbClr val="FFFFFF"/>
                    </a:solidFill>
                  </a:tcPr>
                </a:tc>
                <a:tc>
                  <a:txBody>
                    <a:bodyPr wrap="square"/>
                    <a:lstStyle/>
                    <a:p>
                      <a:r>
                        <a:rPr sz="1465" b="0">
                          <a:solidFill>
                            <a:srgbClr val="33475B"/>
                          </a:solidFill>
                          <a:latin typeface="Aptos"/>
                        </a:rPr>
                        <a:t>01 Arquitectura</a:t>
                      </a:r>
                    </a:p>
                  </a:txBody>
                  <a:tcPr anchor="ctr" marL="146304" marR="146304">
                    <a:solidFill>
                      <a:srgbClr val="FFFFFF"/>
                    </a:solidFill>
                  </a:tcPr>
                </a:tc>
                <a:tc>
                  <a:txBody>
                    <a:bodyPr wrap="square"/>
                    <a:lstStyle/>
                    <a:p>
                      <a:r>
                        <a:rPr sz="1465" b="0">
                          <a:solidFill>
                            <a:srgbClr val="33475B"/>
                          </a:solidFill>
                          <a:latin typeface="Aptos"/>
                        </a:rPr>
                        <a:t>C4, capas y árbol real de </a:t>
                      </a:r>
                      <a:r>
                        <a:rPr sz="1377" b="0">
                          <a:solidFill>
                            <a:srgbClr val="156082"/>
                          </a:solidFill>
                          <a:latin typeface="Consolas"/>
                        </a:rPr>
                        <a:t>src/app/</a:t>
                      </a:r>
                    </a:p>
                  </a:txBody>
                  <a:tcPr anchor="ctr" marL="146304" marR="146304">
                    <a:solidFill>
                      <a:srgbClr val="FFFFFF"/>
                    </a:solidFill>
                  </a:tcPr>
                </a:tc>
              </a:tr>
              <a:tr h="543560">
                <a:tc>
                  <a:txBody>
                    <a:bodyPr wrap="square"/>
                    <a:lstStyle/>
                    <a:p>
                      <a:r>
                        <a:rPr sz="1465" b="1">
                          <a:solidFill>
                            <a:srgbClr val="33475B"/>
                          </a:solidFill>
                          <a:latin typeface="Aptos"/>
                        </a:rPr>
                        <a:t>Prototipo de interfaces</a:t>
                      </a:r>
                    </a:p>
                  </a:txBody>
                  <a:tcPr anchor="ctr" marL="146304" marR="146304">
                    <a:solidFill>
                      <a:srgbClr val="F4F7FA"/>
                    </a:solidFill>
                  </a:tcPr>
                </a:tc>
                <a:tc>
                  <a:txBody>
                    <a:bodyPr wrap="square"/>
                    <a:lstStyle/>
                    <a:p>
                      <a:r>
                        <a:rPr sz="1465" b="0">
                          <a:solidFill>
                            <a:srgbClr val="33475B"/>
                          </a:solidFill>
                          <a:latin typeface="Aptos"/>
                        </a:rPr>
                        <a:t>01 · fichas de pantalla</a:t>
                      </a:r>
                    </a:p>
                  </a:txBody>
                  <a:tcPr anchor="ctr" marL="146304" marR="146304">
                    <a:solidFill>
                      <a:srgbClr val="F4F7FA"/>
                    </a:solidFill>
                  </a:tcPr>
                </a:tc>
                <a:tc>
                  <a:txBody>
                    <a:bodyPr wrap="square"/>
                    <a:lstStyle/>
                    <a:p>
                      <a:r>
                        <a:rPr sz="1465" b="0">
                          <a:solidFill>
                            <a:srgbClr val="33475B"/>
                          </a:solidFill>
                          <a:latin typeface="Aptos"/>
                        </a:rPr>
                        <a:t>Una ficha por pantalla, con cinco estados</a:t>
                      </a:r>
                    </a:p>
                  </a:txBody>
                  <a:tcPr anchor="ctr" marL="146304" marR="146304">
                    <a:solidFill>
                      <a:srgbClr val="F4F7FA"/>
                    </a:solidFill>
                  </a:tcPr>
                </a:tc>
              </a:tr>
              <a:tr h="543560">
                <a:tc>
                  <a:txBody>
                    <a:bodyPr wrap="square"/>
                    <a:lstStyle/>
                    <a:p>
                      <a:r>
                        <a:rPr sz="1465" b="1">
                          <a:solidFill>
                            <a:srgbClr val="33475B"/>
                          </a:solidFill>
                          <a:latin typeface="Aptos"/>
                        </a:rPr>
                        <a:t>Backlog y entorno</a:t>
                      </a:r>
                    </a:p>
                  </a:txBody>
                  <a:tcPr anchor="ctr" marL="146304" marR="146304">
                    <a:solidFill>
                      <a:srgbClr val="FFFFFF"/>
                    </a:solidFill>
                  </a:tcPr>
                </a:tc>
                <a:tc>
                  <a:txBody>
                    <a:bodyPr wrap="square"/>
                    <a:lstStyle/>
                    <a:p>
                      <a:r>
                        <a:rPr sz="1465" b="0">
                          <a:solidFill>
                            <a:srgbClr val="33475B"/>
                          </a:solidFill>
                          <a:latin typeface="Aptos"/>
                        </a:rPr>
                        <a:t>00 · backlog, DoD y git</a:t>
                      </a:r>
                    </a:p>
                  </a:txBody>
                  <a:tcPr anchor="ctr" marL="146304" marR="146304">
                    <a:solidFill>
                      <a:srgbClr val="FFFFFF"/>
                    </a:solidFill>
                  </a:tcPr>
                </a:tc>
                <a:tc>
                  <a:txBody>
                    <a:bodyPr wrap="square"/>
                    <a:lstStyle/>
                    <a:p>
                      <a:r>
                        <a:rPr sz="1465" b="0">
                          <a:solidFill>
                            <a:srgbClr val="33475B"/>
                          </a:solidFill>
                          <a:latin typeface="Aptos"/>
                        </a:rPr>
                        <a:t>10+ historias Dado/Cuando/Entonces y MoSCoW</a:t>
                      </a:r>
                    </a:p>
                  </a:txBody>
                  <a:tcPr anchor="ctr" marL="146304" marR="146304">
                    <a:solidFill>
                      <a:srgbClr val="FFFFFF"/>
                    </a:solidFill>
                  </a:tcPr>
                </a:tc>
              </a:tr>
            </a:tbl>
          </a:graphicData>
        </a:graphic>
      </p:graphicFrame>
      <p:sp>
        <p:nvSpPr>
          <p:cNvPr id="8" name="Rounded Rectangle 7"/>
          <p:cNvSpPr/>
          <p:nvPr/>
        </p:nvSpPr>
        <p:spPr>
          <a:xfrm>
            <a:off x="566928" y="5035296"/>
            <a:ext cx="11064240" cy="1292351"/>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090160"/>
            <a:ext cx="63500" cy="118262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035296"/>
            <a:ext cx="10378440" cy="1292351"/>
          </a:xfrm>
          <a:prstGeom prst="rect">
            <a:avLst/>
          </a:prstGeom>
          <a:noFill/>
        </p:spPr>
        <p:txBody>
          <a:bodyPr wrap="square" anchor="ctr" lIns="0" rIns="0" tIns="0" bIns="0">
            <a:spAutoFit/>
          </a:bodyPr>
          <a:lstStyle/>
          <a:p>
            <a:pPr algn="l">
              <a:lnSpc>
                <a:spcPct val="125000"/>
              </a:lnSpc>
            </a:pPr>
            <a:r>
              <a:rPr sz="2302" b="1">
                <a:solidFill>
                  <a:srgbClr val="0E2841"/>
                </a:solidFill>
                <a:latin typeface="Aptos Display"/>
              </a:rPr>
              <a:t>Además, el repositorio queda con docs/ 00 y 01 y los dos primeros ADR: patrón de estado y navegación.</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21 / 32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ABP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A2: cada uno defiende con su texto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261360"/>
        </p:xfrm>
        <a:graphic>
          <a:graphicData uri="http://schemas.openxmlformats.org/drawingml/2006/table">
            <a:tbl>
              <a:tblPr firstRow="1">
                <a:tableStyleId>{5C22544A-7EE6-4342-B048-85BDC9FD1C3A}</a:tableStyleId>
              </a:tblPr>
              <a:tblGrid>
                <a:gridCol w="3688080"/>
                <a:gridCol w="3688080"/>
                <a:gridCol w="3688080"/>
              </a:tblGrid>
              <a:tr h="543560">
                <a:tc>
                  <a:txBody>
                    <a:bodyPr wrap="square"/>
                    <a:lstStyle/>
                    <a:p>
                      <a:r>
                        <a:rPr sz="1569" b="1">
                          <a:solidFill>
                            <a:srgbClr val="FFFFFF"/>
                          </a:solidFill>
                          <a:latin typeface="Aptos"/>
                        </a:rPr>
                        <a:t>Lo que pide el enunciado</a:t>
                      </a:r>
                    </a:p>
                  </a:txBody>
                  <a:tcPr anchor="ctr" marL="146304" marR="146304">
                    <a:solidFill>
                      <a:srgbClr val="156082"/>
                    </a:solidFill>
                  </a:tcPr>
                </a:tc>
                <a:tc>
                  <a:txBody>
                    <a:bodyPr wrap="square"/>
                    <a:lstStyle/>
                    <a:p>
                      <a:r>
                        <a:rPr sz="1569" b="1">
                          <a:solidFill>
                            <a:srgbClr val="FFFFFF"/>
                          </a:solidFill>
                          <a:latin typeface="Aptos"/>
                        </a:rPr>
                        <a:t>Sección del marco</a:t>
                      </a:r>
                    </a:p>
                  </a:txBody>
                  <a:tcPr anchor="ctr" marL="146304" marR="146304">
                    <a:solidFill>
                      <a:srgbClr val="156082"/>
                    </a:solidFill>
                  </a:tcPr>
                </a:tc>
                <a:tc>
                  <a:txBody>
                    <a:bodyPr wrap="square"/>
                    <a:lstStyle/>
                    <a:p>
                      <a:r>
                        <a:rPr sz="1569" b="1">
                          <a:solidFill>
                            <a:srgbClr val="FFFFFF"/>
                          </a:solidFill>
                          <a:latin typeface="Aptos"/>
                        </a:rPr>
                        <a:t>Qué defiendes</a:t>
                      </a:r>
                    </a:p>
                  </a:txBody>
                  <a:tcPr anchor="ctr" marL="146304" marR="146304">
                    <a:solidFill>
                      <a:srgbClr val="156082"/>
                    </a:solidFill>
                  </a:tcPr>
                </a:tc>
              </a:tr>
              <a:tr h="543560">
                <a:tc>
                  <a:txBody>
                    <a:bodyPr wrap="square"/>
                    <a:lstStyle/>
                    <a:p>
                      <a:r>
                        <a:rPr sz="1465" b="1">
                          <a:solidFill>
                            <a:srgbClr val="33475B"/>
                          </a:solidFill>
                          <a:latin typeface="Aptos"/>
                        </a:rPr>
                        <a:t>Justificación de la tecnología</a:t>
                      </a:r>
                    </a:p>
                  </a:txBody>
                  <a:tcPr anchor="ctr" marL="146304" marR="146304">
                    <a:solidFill>
                      <a:srgbClr val="FFFFFF"/>
                    </a:solidFill>
                  </a:tcPr>
                </a:tc>
                <a:tc>
                  <a:txBody>
                    <a:bodyPr wrap="square"/>
                    <a:lstStyle/>
                    <a:p>
                      <a:r>
                        <a:rPr sz="1465" b="0">
                          <a:solidFill>
                            <a:srgbClr val="33475B"/>
                          </a:solidFill>
                          <a:latin typeface="Aptos"/>
                        </a:rPr>
                        <a:t>01 · ADR del stack (Aceptado)</a:t>
                      </a:r>
                    </a:p>
                  </a:txBody>
                  <a:tcPr anchor="ctr" marL="146304" marR="146304">
                    <a:solidFill>
                      <a:srgbClr val="FFFFFF"/>
                    </a:solidFill>
                  </a:tcPr>
                </a:tc>
                <a:tc>
                  <a:txBody>
                    <a:bodyPr wrap="square"/>
                    <a:lstStyle/>
                    <a:p>
                      <a:r>
                        <a:rPr sz="1465" b="0">
                          <a:solidFill>
                            <a:srgbClr val="33475B"/>
                          </a:solidFill>
                          <a:latin typeface="Aptos"/>
                        </a:rPr>
                        <a:t>Angular y sus librerías complementarias</a:t>
                      </a:r>
                    </a:p>
                  </a:txBody>
                  <a:tcPr anchor="ctr" marL="146304" marR="146304">
                    <a:solidFill>
                      <a:srgbClr val="FFFFFF"/>
                    </a:solidFill>
                  </a:tcPr>
                </a:tc>
              </a:tr>
              <a:tr h="543560">
                <a:tc>
                  <a:txBody>
                    <a:bodyPr wrap="square"/>
                    <a:lstStyle/>
                    <a:p>
                      <a:r>
                        <a:rPr sz="1465" b="1">
                          <a:solidFill>
                            <a:srgbClr val="33475B"/>
                          </a:solidFill>
                          <a:latin typeface="Aptos"/>
                        </a:rPr>
                        <a:t>Carpetas, estado y enrutamiento</a:t>
                      </a:r>
                    </a:p>
                  </a:txBody>
                  <a:tcPr anchor="ctr" marL="146304" marR="146304">
                    <a:solidFill>
                      <a:srgbClr val="F4F7FA"/>
                    </a:solidFill>
                  </a:tcPr>
                </a:tc>
                <a:tc>
                  <a:txBody>
                    <a:bodyPr wrap="square"/>
                    <a:lstStyle/>
                    <a:p>
                      <a:r>
                        <a:rPr sz="1465" b="0">
                          <a:solidFill>
                            <a:srgbClr val="33475B"/>
                          </a:solidFill>
                          <a:latin typeface="Aptos"/>
                        </a:rPr>
                        <a:t>01 Arquitectura</a:t>
                      </a:r>
                    </a:p>
                  </a:txBody>
                  <a:tcPr anchor="ctr" marL="146304" marR="146304">
                    <a:solidFill>
                      <a:srgbClr val="F4F7FA"/>
                    </a:solidFill>
                  </a:tcPr>
                </a:tc>
                <a:tc>
                  <a:txBody>
                    <a:bodyPr wrap="square"/>
                    <a:lstStyle/>
                    <a:p>
                      <a:r>
                        <a:rPr sz="1465" b="0">
                          <a:solidFill>
                            <a:srgbClr val="33475B"/>
                          </a:solidFill>
                          <a:latin typeface="Aptos"/>
                        </a:rPr>
                        <a:t>Por feature, un solo estado, rutas con guard</a:t>
                      </a:r>
                    </a:p>
                  </a:txBody>
                  <a:tcPr anchor="ctr" marL="146304" marR="146304">
                    <a:solidFill>
                      <a:srgbClr val="F4F7FA"/>
                    </a:solidFill>
                  </a:tcPr>
                </a:tc>
              </a:tr>
              <a:tr h="543560">
                <a:tc>
                  <a:txBody>
                    <a:bodyPr wrap="square"/>
                    <a:lstStyle/>
                    <a:p>
                      <a:r>
                        <a:rPr sz="1465" b="1">
                          <a:solidFill>
                            <a:srgbClr val="33475B"/>
                          </a:solidFill>
                          <a:latin typeface="Aptos"/>
                        </a:rPr>
                        <a:t>Diseño de interfaces móviles</a:t>
                      </a:r>
                    </a:p>
                  </a:txBody>
                  <a:tcPr anchor="ctr" marL="146304" marR="146304">
                    <a:solidFill>
                      <a:srgbClr val="FFFFFF"/>
                    </a:solidFill>
                  </a:tcPr>
                </a:tc>
                <a:tc>
                  <a:txBody>
                    <a:bodyPr wrap="square"/>
                    <a:lstStyle/>
                    <a:p>
                      <a:r>
                        <a:rPr sz="1465" b="0">
                          <a:solidFill>
                            <a:srgbClr val="33475B"/>
                          </a:solidFill>
                          <a:latin typeface="Aptos"/>
                        </a:rPr>
                        <a:t>02 Código y UI</a:t>
                      </a:r>
                    </a:p>
                  </a:txBody>
                  <a:tcPr anchor="ctr" marL="146304" marR="146304">
                    <a:solidFill>
                      <a:srgbClr val="FFFFFF"/>
                    </a:solidFill>
                  </a:tcPr>
                </a:tc>
                <a:tc>
                  <a:txBody>
                    <a:bodyPr wrap="square"/>
                    <a:lstStyle/>
                    <a:p>
                      <a:r>
                        <a:rPr sz="1465" b="0">
                          <a:solidFill>
                            <a:srgbClr val="33475B"/>
                          </a:solidFill>
                          <a:latin typeface="Aptos"/>
                        </a:rPr>
                        <a:t>Tokens, modos </a:t>
                      </a:r>
                      <a:r>
                        <a:rPr sz="1377" b="0">
                          <a:solidFill>
                            <a:srgbClr val="156082"/>
                          </a:solidFill>
                          <a:latin typeface="Consolas"/>
                        </a:rPr>
                        <a:t>md</a:t>
                      </a:r>
                      <a:r>
                        <a:rPr sz="1465" b="0">
                          <a:solidFill>
                            <a:srgbClr val="33475B"/>
                          </a:solidFill>
                          <a:latin typeface="Aptos"/>
                        </a:rPr>
                        <a:t> e </a:t>
                      </a:r>
                      <a:r>
                        <a:rPr sz="1377" b="0">
                          <a:solidFill>
                            <a:srgbClr val="156082"/>
                          </a:solidFill>
                          <a:latin typeface="Consolas"/>
                        </a:rPr>
                        <a:t>ios</a:t>
                      </a:r>
                      <a:r>
                        <a:rPr sz="1465" b="0">
                          <a:solidFill>
                            <a:srgbClr val="33475B"/>
                          </a:solidFill>
                          <a:latin typeface="Aptos"/>
                        </a:rPr>
                        <a:t>, accesibilidad</a:t>
                      </a:r>
                    </a:p>
                  </a:txBody>
                  <a:tcPr anchor="ctr" marL="146304" marR="146304">
                    <a:solidFill>
                      <a:srgbClr val="FFFFFF"/>
                    </a:solidFill>
                  </a:tcPr>
                </a:tc>
              </a:tr>
              <a:tr h="543560">
                <a:tc>
                  <a:txBody>
                    <a:bodyPr wrap="square"/>
                    <a:lstStyle/>
                    <a:p>
                      <a:r>
                        <a:rPr sz="1465" b="1">
                          <a:solidFill>
                            <a:srgbClr val="33475B"/>
                          </a:solidFill>
                          <a:latin typeface="Aptos"/>
                        </a:rPr>
                        <a:t>APIs, tokens y almacenamiento</a:t>
                      </a:r>
                    </a:p>
                  </a:txBody>
                  <a:tcPr anchor="ctr" marL="146304" marR="146304">
                    <a:solidFill>
                      <a:srgbClr val="F4F7FA"/>
                    </a:solidFill>
                  </a:tcPr>
                </a:tc>
                <a:tc>
                  <a:txBody>
                    <a:bodyPr wrap="square"/>
                    <a:lstStyle/>
                    <a:p>
                      <a:r>
                        <a:rPr sz="1465" b="0">
                          <a:solidFill>
                            <a:srgbClr val="33475B"/>
                          </a:solidFill>
                          <a:latin typeface="Aptos"/>
                        </a:rPr>
                        <a:t>03 API y datos</a:t>
                      </a:r>
                    </a:p>
                  </a:txBody>
                  <a:tcPr anchor="ctr" marL="146304" marR="146304">
                    <a:solidFill>
                      <a:srgbClr val="F4F7FA"/>
                    </a:solidFill>
                  </a:tcPr>
                </a:tc>
                <a:tc>
                  <a:txBody>
                    <a:bodyPr wrap="square"/>
                    <a:lstStyle/>
                    <a:p>
                      <a:r>
                        <a:rPr sz="1465" b="0">
                          <a:solidFill>
                            <a:srgbClr val="33475B"/>
                          </a:solidFill>
                          <a:latin typeface="Aptos"/>
                        </a:rPr>
                        <a:t>Cliente único, refresh, sin conexión</a:t>
                      </a:r>
                    </a:p>
                  </a:txBody>
                  <a:tcPr anchor="ctr" marL="146304" marR="146304">
                    <a:solidFill>
                      <a:srgbClr val="F4F7FA"/>
                    </a:solidFill>
                  </a:tcPr>
                </a:tc>
              </a:tr>
              <a:tr h="543560">
                <a:tc>
                  <a:txBody>
                    <a:bodyPr wrap="square"/>
                    <a:lstStyle/>
                    <a:p>
                      <a:r>
                        <a:rPr sz="1465" b="1">
                          <a:solidFill>
                            <a:srgbClr val="33475B"/>
                          </a:solidFill>
                          <a:latin typeface="Aptos"/>
                        </a:rPr>
                        <a:t>Pruebas y despliegue previstos</a:t>
                      </a:r>
                    </a:p>
                  </a:txBody>
                  <a:tcPr anchor="ctr" marL="146304" marR="146304">
                    <a:solidFill>
                      <a:srgbClr val="FFFFFF"/>
                    </a:solidFill>
                  </a:tcPr>
                </a:tc>
                <a:tc>
                  <a:txBody>
                    <a:bodyPr wrap="square"/>
                    <a:lstStyle/>
                    <a:p>
                      <a:r>
                        <a:rPr sz="1465" b="0">
                          <a:solidFill>
                            <a:srgbClr val="33475B"/>
                          </a:solidFill>
                          <a:latin typeface="Aptos"/>
                        </a:rPr>
                        <a:t>04 y 05 (adelanto)</a:t>
                      </a:r>
                    </a:p>
                  </a:txBody>
                  <a:tcPr anchor="ctr" marL="146304" marR="146304">
                    <a:solidFill>
                      <a:srgbClr val="FFFFFF"/>
                    </a:solidFill>
                  </a:tcPr>
                </a:tc>
                <a:tc>
                  <a:txBody>
                    <a:bodyPr wrap="square"/>
                    <a:lstStyle/>
                    <a:p>
                      <a:r>
                        <a:rPr sz="1465" b="0">
                          <a:solidFill>
                            <a:srgbClr val="33475B"/>
                          </a:solidFill>
                          <a:latin typeface="Aptos"/>
                        </a:rPr>
                        <a:t>Niveles de prueba, firma y tiendas</a:t>
                      </a:r>
                    </a:p>
                  </a:txBody>
                  <a:tcPr anchor="ctr" marL="146304" marR="146304">
                    <a:solidFill>
                      <a:srgbClr val="FFFFFF"/>
                    </a:solidFill>
                  </a:tcPr>
                </a:tc>
              </a:tr>
            </a:tbl>
          </a:graphicData>
        </a:graphic>
      </p:graphicFrame>
      <p:sp>
        <p:nvSpPr>
          <p:cNvPr id="8" name="Rounded Rectangle 7"/>
          <p:cNvSpPr/>
          <p:nvPr/>
        </p:nvSpPr>
        <p:spPr>
          <a:xfrm>
            <a:off x="566928" y="5035296"/>
            <a:ext cx="11064240" cy="1292351"/>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090160"/>
            <a:ext cx="63500" cy="118262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035296"/>
            <a:ext cx="10378440" cy="1292351"/>
          </a:xfrm>
          <a:prstGeom prst="rect">
            <a:avLst/>
          </a:prstGeom>
          <a:noFill/>
        </p:spPr>
        <p:txBody>
          <a:bodyPr wrap="square" anchor="ctr" lIns="0" rIns="0" tIns="0" bIns="0">
            <a:spAutoFit/>
          </a:bodyPr>
          <a:lstStyle/>
          <a:p>
            <a:pPr algn="l">
              <a:lnSpc>
                <a:spcPct val="125000"/>
              </a:lnSpc>
            </a:pPr>
            <a:r>
              <a:rPr sz="2302" b="1">
                <a:solidFill>
                  <a:srgbClr val="0E2841"/>
                </a:solidFill>
                <a:latin typeface="Aptos Display"/>
              </a:rPr>
              <a:t>Foro: análisis de 300 a 500 palabras y dos respuestas de 150 o más; luego, un PDF con los enlaces permanentes, a la tarea.</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22 / 32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ABP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A3: la memoria técnica es 04 y 05</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261360"/>
        </p:xfrm>
        <a:graphic>
          <a:graphicData uri="http://schemas.openxmlformats.org/drawingml/2006/table">
            <a:tbl>
              <a:tblPr firstRow="1">
                <a:tableStyleId>{5C22544A-7EE6-4342-B048-85BDC9FD1C3A}</a:tableStyleId>
              </a:tblPr>
              <a:tblGrid>
                <a:gridCol w="3688080"/>
                <a:gridCol w="3688080"/>
                <a:gridCol w="3688080"/>
              </a:tblGrid>
              <a:tr h="543560">
                <a:tc>
                  <a:txBody>
                    <a:bodyPr wrap="square"/>
                    <a:lstStyle/>
                    <a:p>
                      <a:r>
                        <a:rPr sz="1569" b="1">
                          <a:solidFill>
                            <a:srgbClr val="FFFFFF"/>
                          </a:solidFill>
                          <a:latin typeface="Aptos"/>
                        </a:rPr>
                        <a:t>Lo que pide el enunciado</a:t>
                      </a:r>
                    </a:p>
                  </a:txBody>
                  <a:tcPr anchor="ctr" marL="146304" marR="146304">
                    <a:solidFill>
                      <a:srgbClr val="156082"/>
                    </a:solidFill>
                  </a:tcPr>
                </a:tc>
                <a:tc>
                  <a:txBody>
                    <a:bodyPr wrap="square"/>
                    <a:lstStyle/>
                    <a:p>
                      <a:r>
                        <a:rPr sz="1569" b="1">
                          <a:solidFill>
                            <a:srgbClr val="FFFFFF"/>
                          </a:solidFill>
                          <a:latin typeface="Aptos"/>
                        </a:rPr>
                        <a:t>Sección del marco</a:t>
                      </a:r>
                    </a:p>
                  </a:txBody>
                  <a:tcPr anchor="ctr" marL="146304" marR="146304">
                    <a:solidFill>
                      <a:srgbClr val="156082"/>
                    </a:solidFill>
                  </a:tcPr>
                </a:tc>
                <a:tc>
                  <a:txBody>
                    <a:bodyPr wrap="square"/>
                    <a:lstStyle/>
                    <a:p>
                      <a:r>
                        <a:rPr sz="1569" b="1">
                          <a:solidFill>
                            <a:srgbClr val="FFFFFF"/>
                          </a:solidFill>
                          <a:latin typeface="Aptos"/>
                        </a:rPr>
                        <a:t>Qué documenta la pareja</a:t>
                      </a:r>
                    </a:p>
                  </a:txBody>
                  <a:tcPr anchor="ctr" marL="146304" marR="146304">
                    <a:solidFill>
                      <a:srgbClr val="156082"/>
                    </a:solidFill>
                  </a:tcPr>
                </a:tc>
              </a:tr>
              <a:tr h="543560">
                <a:tc>
                  <a:txBody>
                    <a:bodyPr wrap="square"/>
                    <a:lstStyle/>
                    <a:p>
                      <a:r>
                        <a:rPr sz="1465" b="1">
                          <a:solidFill>
                            <a:srgbClr val="33475B"/>
                          </a:solidFill>
                          <a:latin typeface="Aptos"/>
                        </a:rPr>
                        <a:t>Preparar la distribución</a:t>
                      </a:r>
                    </a:p>
                  </a:txBody>
                  <a:tcPr anchor="ctr" marL="146304" marR="146304">
                    <a:solidFill>
                      <a:srgbClr val="FFFFFF"/>
                    </a:solidFill>
                  </a:tcPr>
                </a:tc>
                <a:tc>
                  <a:txBody>
                    <a:bodyPr wrap="square"/>
                    <a:lstStyle/>
                    <a:p>
                      <a:r>
                        <a:rPr sz="1465" b="0">
                          <a:solidFill>
                            <a:srgbClr val="33475B"/>
                          </a:solidFill>
                          <a:latin typeface="Aptos"/>
                        </a:rPr>
                        <a:t>05 · CI/CD</a:t>
                      </a:r>
                    </a:p>
                  </a:txBody>
                  <a:tcPr anchor="ctr" marL="146304" marR="146304">
                    <a:solidFill>
                      <a:srgbClr val="FFFFFF"/>
                    </a:solidFill>
                  </a:tcPr>
                </a:tc>
                <a:tc>
                  <a:txBody>
                    <a:bodyPr wrap="square"/>
                    <a:lstStyle/>
                    <a:p>
                      <a:r>
                        <a:rPr sz="1465" b="0">
                          <a:solidFill>
                            <a:srgbClr val="33475B"/>
                          </a:solidFill>
                          <a:latin typeface="Aptos"/>
                        </a:rPr>
                        <a:t>Entornos, </a:t>
                      </a:r>
                      <a:r>
                        <a:rPr sz="1377" b="0">
                          <a:solidFill>
                            <a:srgbClr val="156082"/>
                          </a:solidFill>
                          <a:latin typeface="Consolas"/>
                        </a:rPr>
                        <a:t>capacitor.config.ts</a:t>
                      </a:r>
                      <a:r>
                        <a:rPr sz="1465" b="0">
                          <a:solidFill>
                            <a:srgbClr val="33475B"/>
                          </a:solidFill>
                          <a:latin typeface="Aptos"/>
                        </a:rPr>
                        <a:t>, sin secretos</a:t>
                      </a:r>
                    </a:p>
                  </a:txBody>
                  <a:tcPr anchor="ctr" marL="146304" marR="146304">
                    <a:solidFill>
                      <a:srgbClr val="FFFFFF"/>
                    </a:solidFill>
                  </a:tcPr>
                </a:tc>
              </a:tr>
              <a:tr h="543560">
                <a:tc>
                  <a:txBody>
                    <a:bodyPr wrap="square"/>
                    <a:lstStyle/>
                    <a:p>
                      <a:r>
                        <a:rPr sz="1465" b="1">
                          <a:solidFill>
                            <a:srgbClr val="33475B"/>
                          </a:solidFill>
                          <a:latin typeface="Aptos"/>
                        </a:rPr>
                        <a:t>Generar APK/AAB e IPA</a:t>
                      </a:r>
                    </a:p>
                  </a:txBody>
                  <a:tcPr anchor="ctr" marL="146304" marR="146304">
                    <a:solidFill>
                      <a:srgbClr val="F4F7FA"/>
                    </a:solidFill>
                  </a:tcPr>
                </a:tc>
                <a:tc>
                  <a:txBody>
                    <a:bodyPr wrap="square"/>
                    <a:lstStyle/>
                    <a:p>
                      <a:r>
                        <a:rPr sz="1465" b="0">
                          <a:solidFill>
                            <a:srgbClr val="33475B"/>
                          </a:solidFill>
                          <a:latin typeface="Aptos"/>
                        </a:rPr>
                        <a:t>05 · firma y tiendas</a:t>
                      </a:r>
                    </a:p>
                  </a:txBody>
                  <a:tcPr anchor="ctr" marL="146304" marR="146304">
                    <a:solidFill>
                      <a:srgbClr val="F4F7FA"/>
                    </a:solidFill>
                  </a:tcPr>
                </a:tc>
                <a:tc>
                  <a:txBody>
                    <a:bodyPr wrap="square"/>
                    <a:lstStyle/>
                    <a:p>
                      <a:r>
                        <a:rPr sz="1465" b="0">
                          <a:solidFill>
                            <a:srgbClr val="33475B"/>
                          </a:solidFill>
                          <a:latin typeface="Aptos"/>
                        </a:rPr>
                        <a:t>Keystore fuera del repo, </a:t>
                      </a:r>
                      <a:r>
                        <a:rPr sz="1377" b="0">
                          <a:solidFill>
                            <a:srgbClr val="156082"/>
                          </a:solidFill>
                          <a:latin typeface="Consolas"/>
                        </a:rPr>
                        <a:t>versionCode</a:t>
                      </a:r>
                    </a:p>
                  </a:txBody>
                  <a:tcPr anchor="ctr" marL="146304" marR="146304">
                    <a:solidFill>
                      <a:srgbClr val="F4F7FA"/>
                    </a:solidFill>
                  </a:tcPr>
                </a:tc>
              </a:tr>
              <a:tr h="543560">
                <a:tc>
                  <a:txBody>
                    <a:bodyPr wrap="square"/>
                    <a:lstStyle/>
                    <a:p>
                      <a:r>
                        <a:rPr sz="1465" b="1">
                          <a:solidFill>
                            <a:srgbClr val="33475B"/>
                          </a:solidFill>
                          <a:latin typeface="Aptos"/>
                        </a:rPr>
                        <a:t>Infraestructura de despliegue</a:t>
                      </a:r>
                    </a:p>
                  </a:txBody>
                  <a:tcPr anchor="ctr" marL="146304" marR="146304">
                    <a:solidFill>
                      <a:srgbClr val="FFFFFF"/>
                    </a:solidFill>
                  </a:tcPr>
                </a:tc>
                <a:tc>
                  <a:txBody>
                    <a:bodyPr wrap="square"/>
                    <a:lstStyle/>
                    <a:p>
                      <a:r>
                        <a:rPr sz="1465" b="0">
                          <a:solidFill>
                            <a:srgbClr val="33475B"/>
                          </a:solidFill>
                          <a:latin typeface="Aptos"/>
                        </a:rPr>
                        <a:t>05 · CI/CD</a:t>
                      </a:r>
                    </a:p>
                  </a:txBody>
                  <a:tcPr anchor="ctr" marL="146304" marR="146304">
                    <a:solidFill>
                      <a:srgbClr val="FFFFFF"/>
                    </a:solidFill>
                  </a:tcPr>
                </a:tc>
                <a:tc>
                  <a:txBody>
                    <a:bodyPr wrap="square"/>
                    <a:lstStyle/>
                    <a:p>
                      <a:r>
                        <a:rPr sz="1465" b="0">
                          <a:solidFill>
                            <a:srgbClr val="33475B"/>
                          </a:solidFill>
                          <a:latin typeface="Aptos"/>
                        </a:rPr>
                        <a:t>Servicio en un ADR; lint y pruebas automáticas</a:t>
                      </a:r>
                    </a:p>
                  </a:txBody>
                  <a:tcPr anchor="ctr" marL="146304" marR="146304">
                    <a:solidFill>
                      <a:srgbClr val="FFFFFF"/>
                    </a:solidFill>
                  </a:tcPr>
                </a:tc>
              </a:tr>
              <a:tr h="543560">
                <a:tc>
                  <a:txBody>
                    <a:bodyPr wrap="square"/>
                    <a:lstStyle/>
                    <a:p>
                      <a:r>
                        <a:rPr sz="1465" b="1">
                          <a:solidFill>
                            <a:srgbClr val="33475B"/>
                          </a:solidFill>
                          <a:latin typeface="Aptos"/>
                        </a:rPr>
                        <a:t>Pruebas finales y seguridad</a:t>
                      </a:r>
                    </a:p>
                  </a:txBody>
                  <a:tcPr anchor="ctr" marL="146304" marR="146304">
                    <a:solidFill>
                      <a:srgbClr val="F4F7FA"/>
                    </a:solidFill>
                  </a:tcPr>
                </a:tc>
                <a:tc>
                  <a:txBody>
                    <a:bodyPr wrap="square"/>
                    <a:lstStyle/>
                    <a:p>
                      <a:r>
                        <a:rPr sz="1465" b="0">
                          <a:solidFill>
                            <a:srgbClr val="33475B"/>
                          </a:solidFill>
                          <a:latin typeface="Aptos"/>
                        </a:rPr>
                        <a:t>04 Calidad</a:t>
                      </a:r>
                    </a:p>
                  </a:txBody>
                  <a:tcPr anchor="ctr" marL="146304" marR="146304">
                    <a:solidFill>
                      <a:srgbClr val="F4F7FA"/>
                    </a:solidFill>
                  </a:tcPr>
                </a:tc>
                <a:tc>
                  <a:txBody>
                    <a:bodyPr wrap="square"/>
                    <a:lstStyle/>
                    <a:p>
                      <a:r>
                        <a:rPr sz="1465" b="0">
                          <a:solidFill>
                            <a:srgbClr val="33475B"/>
                          </a:solidFill>
                          <a:latin typeface="Aptos"/>
                        </a:rPr>
                        <a:t>Unitarias en verde, casos en dispositivo, checklist</a:t>
                      </a:r>
                    </a:p>
                  </a:txBody>
                  <a:tcPr anchor="ctr" marL="146304" marR="146304">
                    <a:solidFill>
                      <a:srgbClr val="F4F7FA"/>
                    </a:solidFill>
                  </a:tcPr>
                </a:tc>
              </a:tr>
              <a:tr h="543560">
                <a:tc>
                  <a:txBody>
                    <a:bodyPr wrap="square"/>
                    <a:lstStyle/>
                    <a:p>
                      <a:r>
                        <a:rPr sz="1465" b="1">
                          <a:solidFill>
                            <a:srgbClr val="33475B"/>
                          </a:solidFill>
                          <a:latin typeface="Aptos"/>
                        </a:rPr>
                        <a:t>Mantenimiento posterior</a:t>
                      </a:r>
                    </a:p>
                  </a:txBody>
                  <a:tcPr anchor="ctr" marL="146304" marR="146304">
                    <a:solidFill>
                      <a:srgbClr val="FFFFFF"/>
                    </a:solidFill>
                  </a:tcPr>
                </a:tc>
                <a:tc>
                  <a:txBody>
                    <a:bodyPr wrap="square"/>
                    <a:lstStyle/>
                    <a:p>
                      <a:r>
                        <a:rPr sz="1465" b="0">
                          <a:solidFill>
                            <a:srgbClr val="33475B"/>
                          </a:solidFill>
                          <a:latin typeface="Aptos"/>
                        </a:rPr>
                        <a:t>05 · observabilidad</a:t>
                      </a:r>
                    </a:p>
                  </a:txBody>
                  <a:tcPr anchor="ctr" marL="146304" marR="146304">
                    <a:solidFill>
                      <a:srgbClr val="FFFFFF"/>
                    </a:solidFill>
                  </a:tcPr>
                </a:tc>
                <a:tc>
                  <a:txBody>
                    <a:bodyPr wrap="square"/>
                    <a:lstStyle/>
                    <a:p>
                      <a:r>
                        <a:rPr sz="1465" b="0">
                          <a:solidFill>
                            <a:srgbClr val="33475B"/>
                          </a:solidFill>
                          <a:latin typeface="Aptos"/>
                        </a:rPr>
                        <a:t>Fallos, banderas, versión mínima, reversión</a:t>
                      </a:r>
                    </a:p>
                  </a:txBody>
                  <a:tcPr anchor="ctr" marL="146304" marR="146304">
                    <a:solidFill>
                      <a:srgbClr val="FFFFFF"/>
                    </a:solidFill>
                  </a:tcPr>
                </a:tc>
              </a:tr>
            </a:tbl>
          </a:graphicData>
        </a:graphic>
      </p:graphicFrame>
      <p:sp>
        <p:nvSpPr>
          <p:cNvPr id="8" name="Rounded Rectangle 7"/>
          <p:cNvSpPr/>
          <p:nvPr/>
        </p:nvSpPr>
        <p:spPr>
          <a:xfrm>
            <a:off x="566928" y="5035296"/>
            <a:ext cx="11064240" cy="1292351"/>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090160"/>
            <a:ext cx="63500" cy="118262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035296"/>
            <a:ext cx="10378440" cy="1292351"/>
          </a:xfrm>
          <a:prstGeom prst="rect">
            <a:avLst/>
          </a:prstGeom>
          <a:noFill/>
        </p:spPr>
        <p:txBody>
          <a:bodyPr wrap="square" anchor="ctr" lIns="0" rIns="0" tIns="0" bIns="0">
            <a:spAutoFit/>
          </a:bodyPr>
          <a:lstStyle/>
          <a:p>
            <a:pPr algn="l">
              <a:lnSpc>
                <a:spcPct val="125000"/>
              </a:lnSpc>
            </a:pPr>
            <a:r>
              <a:rPr sz="2302" b="1">
                <a:solidFill>
                  <a:srgbClr val="0E2841"/>
                </a:solidFill>
                <a:latin typeface="Aptos Display"/>
              </a:rPr>
              <a:t>El keystore y sus contraseñas nunca entran al repositorio: si se pierde, la app publicada no se puede volver a actualizar.</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23 / 32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05</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El Documento ABP y su rúbrica</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Lanzamiento · 40 % de la nota · domingo 8 de noviembre</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ABP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El ABP integra; no empieza de cero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82880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Marco 00–05</a:t>
            </a:r>
          </a:p>
          <a:p>
            <a:pPr algn="l">
              <a:lnSpc>
                <a:spcPct val="120000"/>
              </a:lnSpc>
              <a:spcBef>
                <a:spcPts val="700"/>
              </a:spcBef>
            </a:pPr>
            <a:r>
              <a:rPr sz="1518" b="0">
                <a:solidFill>
                  <a:srgbClr val="33475B"/>
                </a:solidFill>
                <a:latin typeface="Aptos"/>
              </a:rPr>
              <a:t>Diligenciado tal como quedó construido</a:t>
            </a:r>
          </a:p>
        </p:txBody>
      </p:sp>
      <p:sp>
        <p:nvSpPr>
          <p:cNvPr id="10" name="Rounded Rectangle 9"/>
          <p:cNvSpPr/>
          <p:nvPr/>
        </p:nvSpPr>
        <p:spPr>
          <a:xfrm>
            <a:off x="3410712"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11880" y="1828800"/>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Evidencia</a:t>
            </a:r>
          </a:p>
          <a:p>
            <a:pPr algn="l">
              <a:lnSpc>
                <a:spcPct val="120000"/>
              </a:lnSpc>
              <a:spcBef>
                <a:spcPts val="700"/>
              </a:spcBef>
            </a:pPr>
            <a:r>
              <a:rPr sz="1518" b="0">
                <a:solidFill>
                  <a:srgbClr val="33475B"/>
                </a:solidFill>
                <a:latin typeface="Aptos"/>
              </a:rPr>
              <a:t>Repositorio, AAB/APK firmado y video de 5 a 7 min</a:t>
            </a:r>
          </a:p>
        </p:txBody>
      </p:sp>
      <p:sp>
        <p:nvSpPr>
          <p:cNvPr id="13" name="Rounded Rectangle 12"/>
          <p:cNvSpPr/>
          <p:nvPr/>
        </p:nvSpPr>
        <p:spPr>
          <a:xfrm>
            <a:off x="6254496"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55664" y="1828800"/>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Trazabilidad</a:t>
            </a:r>
          </a:p>
          <a:p>
            <a:pPr algn="l">
              <a:lnSpc>
                <a:spcPct val="120000"/>
              </a:lnSpc>
              <a:spcBef>
                <a:spcPts val="700"/>
              </a:spcBef>
            </a:pPr>
            <a:r>
              <a:rPr sz="1518" b="0">
                <a:solidFill>
                  <a:srgbClr val="33475B"/>
                </a:solidFill>
                <a:latin typeface="Aptos"/>
              </a:rPr>
              <a:t>Antes, después y razón en H1, H2 y H3</a:t>
            </a:r>
          </a:p>
        </p:txBody>
      </p:sp>
      <p:sp>
        <p:nvSpPr>
          <p:cNvPr id="16" name="Rounded Rectangle 15"/>
          <p:cNvSpPr/>
          <p:nvPr/>
        </p:nvSpPr>
        <p:spPr>
          <a:xfrm>
            <a:off x="9098280"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99448" y="182880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9448"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Reflexión</a:t>
            </a:r>
          </a:p>
          <a:p>
            <a:pPr algn="l">
              <a:lnSpc>
                <a:spcPct val="120000"/>
              </a:lnSpc>
              <a:spcBef>
                <a:spcPts val="700"/>
              </a:spcBef>
            </a:pPr>
            <a:r>
              <a:rPr sz="1518" b="0">
                <a:solidFill>
                  <a:srgbClr val="33475B"/>
                </a:solidFill>
                <a:latin typeface="Aptos"/>
              </a:rPr>
              <a:t>Deuda técnica, siguiente versión y aporte de cada uno</a:t>
            </a:r>
          </a:p>
        </p:txBody>
      </p:sp>
      <p:sp>
        <p:nvSpPr>
          <p:cNvPr id="19" name="Rounded Rectangle 18"/>
          <p:cNvSpPr/>
          <p:nvPr/>
        </p:nvSpPr>
        <p:spPr>
          <a:xfrm>
            <a:off x="566928" y="4771861"/>
            <a:ext cx="11064240" cy="155578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4826725"/>
            <a:ext cx="63500" cy="144605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771861"/>
            <a:ext cx="10378440" cy="1555786"/>
          </a:xfrm>
          <a:prstGeom prst="rect">
            <a:avLst/>
          </a:prstGeom>
          <a:noFill/>
        </p:spPr>
        <p:txBody>
          <a:bodyPr wrap="square" anchor="ctr" lIns="0" rIns="0" tIns="0" bIns="0">
            <a:spAutoFit/>
          </a:bodyPr>
          <a:lstStyle/>
          <a:p>
            <a:pPr algn="l">
              <a:lnSpc>
                <a:spcPct val="125000"/>
              </a:lnSpc>
            </a:pPr>
            <a:r>
              <a:rPr sz="2570" b="1">
                <a:solidFill>
                  <a:srgbClr val="0E2841"/>
                </a:solidFill>
                <a:latin typeface="Aptos Display"/>
              </a:rPr>
              <a:t>PDF de 12 a 18 páginas útiles, Arial o Times 12, interlineado 1,5, márgenes de 2,5 cm y APA 7; los dos suben el mismo PDF.</a:t>
            </a:r>
          </a:p>
        </p:txBody>
      </p:sp>
      <p:sp>
        <p:nvSpPr>
          <p:cNvPr id="22" name="TextBox 2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23" name="TextBox 2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24 / 32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ABP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Trazabilidad: antes, después, razón</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8"/>
        </p:xfrm>
        <a:graphic>
          <a:graphicData uri="http://schemas.openxmlformats.org/drawingml/2006/table">
            <a:tbl>
              <a:tblPr firstRow="1">
                <a:tableStyleId>{5C22544A-7EE6-4342-B048-85BDC9FD1C3A}</a:tableStyleId>
              </a:tblPr>
              <a:tblGrid>
                <a:gridCol w="2766060"/>
                <a:gridCol w="2766060"/>
                <a:gridCol w="2766060"/>
                <a:gridCol w="2766060"/>
              </a:tblGrid>
              <a:tr h="1093622">
                <a:tc>
                  <a:txBody>
                    <a:bodyPr wrap="square"/>
                    <a:lstStyle/>
                    <a:p>
                      <a:r>
                        <a:rPr sz="1725" b="1">
                          <a:solidFill>
                            <a:srgbClr val="FFFFFF"/>
                          </a:solidFill>
                          <a:latin typeface="Aptos"/>
                        </a:rPr>
                        <a:t>Hito</a:t>
                      </a:r>
                    </a:p>
                  </a:txBody>
                  <a:tcPr anchor="ctr" marL="146304" marR="146304">
                    <a:solidFill>
                      <a:srgbClr val="156082"/>
                    </a:solidFill>
                  </a:tcPr>
                </a:tc>
                <a:tc>
                  <a:txBody>
                    <a:bodyPr wrap="square"/>
                    <a:lstStyle/>
                    <a:p>
                      <a:r>
                        <a:rPr sz="1725" b="1">
                          <a:solidFill>
                            <a:srgbClr val="FFFFFF"/>
                          </a:solidFill>
                          <a:latin typeface="Aptos"/>
                        </a:rPr>
                        <a:t>Antes</a:t>
                      </a:r>
                    </a:p>
                  </a:txBody>
                  <a:tcPr anchor="ctr" marL="146304" marR="146304">
                    <a:solidFill>
                      <a:srgbClr val="156082"/>
                    </a:solidFill>
                  </a:tcPr>
                </a:tc>
                <a:tc>
                  <a:txBody>
                    <a:bodyPr wrap="square"/>
                    <a:lstStyle/>
                    <a:p>
                      <a:r>
                        <a:rPr sz="1725" b="1">
                          <a:solidFill>
                            <a:srgbClr val="FFFFFF"/>
                          </a:solidFill>
                          <a:latin typeface="Aptos"/>
                        </a:rPr>
                        <a:t>Después</a:t>
                      </a:r>
                    </a:p>
                  </a:txBody>
                  <a:tcPr anchor="ctr" marL="146304" marR="146304">
                    <a:solidFill>
                      <a:srgbClr val="156082"/>
                    </a:solidFill>
                  </a:tcPr>
                </a:tc>
                <a:tc>
                  <a:txBody>
                    <a:bodyPr wrap="square"/>
                    <a:lstStyle/>
                    <a:p>
                      <a:r>
                        <a:rPr sz="1725" b="1">
                          <a:solidFill>
                            <a:srgbClr val="FFFFFF"/>
                          </a:solidFill>
                          <a:latin typeface="Aptos"/>
                        </a:rPr>
                        <a:t>Razón</a:t>
                      </a:r>
                    </a:p>
                  </a:txBody>
                  <a:tcPr anchor="ctr" marL="146304" marR="146304">
                    <a:solidFill>
                      <a:srgbClr val="156082"/>
                    </a:solidFill>
                  </a:tcPr>
                </a:tc>
              </a:tr>
              <a:tr h="1093622">
                <a:tc>
                  <a:txBody>
                    <a:bodyPr wrap="square"/>
                    <a:lstStyle/>
                    <a:p>
                      <a:r>
                        <a:rPr sz="1609" b="1">
                          <a:solidFill>
                            <a:srgbClr val="33475B"/>
                          </a:solidFill>
                          <a:latin typeface="Aptos"/>
                        </a:rPr>
                        <a:t>H1</a:t>
                      </a:r>
                    </a:p>
                  </a:txBody>
                  <a:tcPr anchor="ctr" marL="146304" marR="146304">
                    <a:solidFill>
                      <a:srgbClr val="FFFFFF"/>
                    </a:solidFill>
                  </a:tcPr>
                </a:tc>
                <a:tc>
                  <a:txBody>
                    <a:bodyPr wrap="square"/>
                    <a:lstStyle/>
                    <a:p>
                      <a:r>
                        <a:rPr sz="1609" b="0">
                          <a:solidFill>
                            <a:srgbClr val="33475B"/>
                          </a:solidFill>
                          <a:latin typeface="Aptos"/>
                        </a:rPr>
                        <a:t>Estado en variables sueltas de cada página</a:t>
                      </a:r>
                    </a:p>
                  </a:txBody>
                  <a:tcPr anchor="ctr" marL="146304" marR="146304">
                    <a:solidFill>
                      <a:srgbClr val="FFFFFF"/>
                    </a:solidFill>
                  </a:tcPr>
                </a:tc>
                <a:tc>
                  <a:txBody>
                    <a:bodyPr wrap="square"/>
                    <a:lstStyle/>
                    <a:p>
                      <a:r>
                        <a:rPr sz="1609" b="0">
                          <a:solidFill>
                            <a:srgbClr val="33475B"/>
                          </a:solidFill>
                          <a:latin typeface="Aptos"/>
                        </a:rPr>
                        <a:t>ViewModel con estado inmutable (ADR-001)</a:t>
                      </a:r>
                    </a:p>
                  </a:txBody>
                  <a:tcPr anchor="ctr" marL="146304" marR="146304">
                    <a:solidFill>
                      <a:srgbClr val="FFFFFF"/>
                    </a:solidFill>
                  </a:tcPr>
                </a:tc>
                <a:tc>
                  <a:txBody>
                    <a:bodyPr wrap="square"/>
                    <a:lstStyle/>
                    <a:p>
                      <a:r>
                        <a:rPr sz="1609" b="0">
                          <a:solidFill>
                            <a:srgbClr val="33475B"/>
                          </a:solidFill>
                          <a:latin typeface="Aptos"/>
                        </a:rPr>
                        <a:t>La clínica A1: no se podía probar sin renderizar</a:t>
                      </a:r>
                    </a:p>
                  </a:txBody>
                  <a:tcPr anchor="ctr" marL="146304" marR="146304">
                    <a:solidFill>
                      <a:srgbClr val="FFFFFF"/>
                    </a:solidFill>
                  </a:tcPr>
                </a:tc>
              </a:tr>
              <a:tr h="1093622">
                <a:tc>
                  <a:txBody>
                    <a:bodyPr wrap="square"/>
                    <a:lstStyle/>
                    <a:p>
                      <a:r>
                        <a:rPr sz="1609" b="1">
                          <a:solidFill>
                            <a:srgbClr val="33475B"/>
                          </a:solidFill>
                          <a:latin typeface="Aptos"/>
                        </a:rPr>
                        <a:t>H2</a:t>
                      </a:r>
                    </a:p>
                  </a:txBody>
                  <a:tcPr anchor="ctr" marL="146304" marR="146304">
                    <a:solidFill>
                      <a:srgbClr val="F4F7FA"/>
                    </a:solidFill>
                  </a:tcPr>
                </a:tc>
                <a:tc>
                  <a:txBody>
                    <a:bodyPr wrap="square"/>
                    <a:lstStyle/>
                    <a:p>
                      <a:r>
                        <a:rPr sz="1609" b="0">
                          <a:solidFill>
                            <a:srgbClr val="33475B"/>
                          </a:solidFill>
                          <a:latin typeface="Aptos"/>
                        </a:rPr>
                        <a:t>Token guardado en Preferences</a:t>
                      </a:r>
                    </a:p>
                  </a:txBody>
                  <a:tcPr anchor="ctr" marL="146304" marR="146304">
                    <a:solidFill>
                      <a:srgbClr val="F4F7FA"/>
                    </a:solidFill>
                  </a:tcPr>
                </a:tc>
                <a:tc>
                  <a:txBody>
                    <a:bodyPr wrap="square"/>
                    <a:lstStyle/>
                    <a:p>
                      <a:r>
                        <a:rPr sz="1609" b="0">
                          <a:solidFill>
                            <a:srgbClr val="33475B"/>
                          </a:solidFill>
                          <a:latin typeface="Aptos"/>
                        </a:rPr>
                        <a:t>Almacenamiento seguro y refresh en el interceptor</a:t>
                      </a:r>
                    </a:p>
                  </a:txBody>
                  <a:tcPr anchor="ctr" marL="146304" marR="146304">
                    <a:solidFill>
                      <a:srgbClr val="F4F7FA"/>
                    </a:solidFill>
                  </a:tcPr>
                </a:tc>
                <a:tc>
                  <a:txBody>
                    <a:bodyPr wrap="square"/>
                    <a:lstStyle/>
                    <a:p>
                      <a:r>
                        <a:rPr sz="1609" b="0">
                          <a:solidFill>
                            <a:srgbClr val="33475B"/>
                          </a:solidFill>
                          <a:latin typeface="Aptos"/>
                        </a:rPr>
                        <a:t>El foro señaló que Preferences es texto plano</a:t>
                      </a:r>
                    </a:p>
                  </a:txBody>
                  <a:tcPr anchor="ctr" marL="146304" marR="146304">
                    <a:solidFill>
                      <a:srgbClr val="F4F7FA"/>
                    </a:solidFill>
                  </a:tcPr>
                </a:tc>
              </a:tr>
              <a:tr h="1093622">
                <a:tc>
                  <a:txBody>
                    <a:bodyPr wrap="square"/>
                    <a:lstStyle/>
                    <a:p>
                      <a:r>
                        <a:rPr sz="1609" b="1">
                          <a:solidFill>
                            <a:srgbClr val="33475B"/>
                          </a:solidFill>
                          <a:latin typeface="Aptos"/>
                        </a:rPr>
                        <a:t>H3</a:t>
                      </a:r>
                    </a:p>
                  </a:txBody>
                  <a:tcPr anchor="ctr" marL="146304" marR="146304">
                    <a:solidFill>
                      <a:srgbClr val="FFFFFF"/>
                    </a:solidFill>
                  </a:tcPr>
                </a:tc>
                <a:tc>
                  <a:txBody>
                    <a:bodyPr wrap="square"/>
                    <a:lstStyle/>
                    <a:p>
                      <a:r>
                        <a:rPr sz="1609" b="0">
                          <a:solidFill>
                            <a:srgbClr val="33475B"/>
                          </a:solidFill>
                          <a:latin typeface="Aptos"/>
                        </a:rPr>
                        <a:t>Permiso de cámara al abrir la app</a:t>
                      </a:r>
                    </a:p>
                  </a:txBody>
                  <a:tcPr anchor="ctr" marL="146304" marR="146304">
                    <a:solidFill>
                      <a:srgbClr val="FFFFFF"/>
                    </a:solidFill>
                  </a:tcPr>
                </a:tc>
                <a:tc>
                  <a:txBody>
                    <a:bodyPr wrap="square"/>
                    <a:lstStyle/>
                    <a:p>
                      <a:r>
                        <a:rPr sz="1609" b="0">
                          <a:solidFill>
                            <a:srgbClr val="33475B"/>
                          </a:solidFill>
                          <a:latin typeface="Aptos"/>
                        </a:rPr>
                        <a:t>Permiso al tocar «Tomar foto», con explicación</a:t>
                      </a:r>
                    </a:p>
                  </a:txBody>
                  <a:tcPr anchor="ctr" marL="146304" marR="146304">
                    <a:solidFill>
                      <a:srgbClr val="FFFFFF"/>
                    </a:solidFill>
                  </a:tcPr>
                </a:tc>
                <a:tc>
                  <a:txBody>
                    <a:bodyPr wrap="square"/>
                    <a:lstStyle/>
                    <a:p>
                      <a:r>
                        <a:rPr sz="1609" b="0">
                          <a:solidFill>
                            <a:srgbClr val="33475B"/>
                          </a:solidFill>
                          <a:latin typeface="Aptos"/>
                        </a:rPr>
                        <a:t>Caso de prueba de permisos y regla de 00 Gobierno</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25 / 32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ABP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La rúbrica: 100 puntos, nota sobre 5</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781120"/>
        </p:xfrm>
        <a:graphic>
          <a:graphicData uri="http://schemas.openxmlformats.org/drawingml/2006/table">
            <a:tbl>
              <a:tblPr firstRow="1">
                <a:tableStyleId>{5C22544A-7EE6-4342-B048-85BDC9FD1C3A}</a:tableStyleId>
              </a:tblPr>
              <a:tblGrid>
                <a:gridCol w="3688080"/>
                <a:gridCol w="3688080"/>
                <a:gridCol w="3688080"/>
              </a:tblGrid>
              <a:tr h="472640">
                <a:tc>
                  <a:txBody>
                    <a:bodyPr wrap="square"/>
                    <a:lstStyle/>
                    <a:p>
                      <a:r>
                        <a:rPr sz="1491" b="1">
                          <a:solidFill>
                            <a:srgbClr val="FFFFFF"/>
                          </a:solidFill>
                          <a:latin typeface="Aptos"/>
                        </a:rPr>
                        <a:t>Criterio</a:t>
                      </a:r>
                    </a:p>
                  </a:txBody>
                  <a:tcPr anchor="ctr" marL="146304" marR="146304">
                    <a:solidFill>
                      <a:srgbClr val="156082"/>
                    </a:solidFill>
                  </a:tcPr>
                </a:tc>
                <a:tc>
                  <a:txBody>
                    <a:bodyPr wrap="square"/>
                    <a:lstStyle/>
                    <a:p>
                      <a:r>
                        <a:rPr sz="1491" b="1">
                          <a:solidFill>
                            <a:srgbClr val="FFFFFF"/>
                          </a:solidFill>
                          <a:latin typeface="Aptos"/>
                        </a:rPr>
                        <a:t>Puntos</a:t>
                      </a:r>
                    </a:p>
                  </a:txBody>
                  <a:tcPr anchor="ctr" marL="146304" marR="146304">
                    <a:solidFill>
                      <a:srgbClr val="156082"/>
                    </a:solidFill>
                  </a:tcPr>
                </a:tc>
                <a:tc>
                  <a:txBody>
                    <a:bodyPr wrap="square"/>
                    <a:lstStyle/>
                    <a:p>
                      <a:r>
                        <a:rPr sz="1491" b="1">
                          <a:solidFill>
                            <a:srgbClr val="FFFFFF"/>
                          </a:solidFill>
                          <a:latin typeface="Aptos"/>
                        </a:rPr>
                        <a:t>Qué exige el nivel alto</a:t>
                      </a:r>
                    </a:p>
                  </a:txBody>
                  <a:tcPr anchor="ctr" marL="146304" marR="146304">
                    <a:solidFill>
                      <a:srgbClr val="156082"/>
                    </a:solidFill>
                  </a:tcPr>
                </a:tc>
              </a:tr>
              <a:tr h="472640">
                <a:tc>
                  <a:txBody>
                    <a:bodyPr wrap="square"/>
                    <a:lstStyle/>
                    <a:p>
                      <a:r>
                        <a:rPr sz="1391" b="1">
                          <a:solidFill>
                            <a:srgbClr val="33475B"/>
                          </a:solidFill>
                          <a:latin typeface="Aptos"/>
                        </a:rPr>
                        <a:t>Gobierno y SDD</a:t>
                      </a:r>
                    </a:p>
                  </a:txBody>
                  <a:tcPr anchor="ctr" marL="146304" marR="146304">
                    <a:solidFill>
                      <a:srgbClr val="FFFFFF"/>
                    </a:solidFill>
                  </a:tcPr>
                </a:tc>
                <a:tc>
                  <a:txBody>
                    <a:bodyPr wrap="square"/>
                    <a:lstStyle/>
                    <a:p>
                      <a:r>
                        <a:rPr sz="1391" b="0">
                          <a:solidFill>
                            <a:srgbClr val="33475B"/>
                          </a:solidFill>
                          <a:latin typeface="Aptos"/>
                        </a:rPr>
                        <a:t>10</a:t>
                      </a:r>
                    </a:p>
                  </a:txBody>
                  <a:tcPr anchor="ctr" marL="146304" marR="146304">
                    <a:solidFill>
                      <a:srgbClr val="FFFFFF"/>
                    </a:solidFill>
                  </a:tcPr>
                </a:tc>
                <a:tc>
                  <a:txBody>
                    <a:bodyPr wrap="square"/>
                    <a:lstStyle/>
                    <a:p>
                      <a:r>
                        <a:rPr sz="1391" b="0">
                          <a:solidFill>
                            <a:srgbClr val="33475B"/>
                          </a:solidFill>
                          <a:latin typeface="Aptos"/>
                        </a:rPr>
                        <a:t>Acuerdos aplicados; SDD visible</a:t>
                      </a:r>
                    </a:p>
                  </a:txBody>
                  <a:tcPr anchor="ctr" marL="146304" marR="146304">
                    <a:solidFill>
                      <a:srgbClr val="FFFFFF"/>
                    </a:solidFill>
                  </a:tcPr>
                </a:tc>
              </a:tr>
              <a:tr h="472640">
                <a:tc>
                  <a:txBody>
                    <a:bodyPr wrap="square"/>
                    <a:lstStyle/>
                    <a:p>
                      <a:r>
                        <a:rPr sz="1391" b="1">
                          <a:solidFill>
                            <a:srgbClr val="33475B"/>
                          </a:solidFill>
                          <a:latin typeface="Aptos"/>
                        </a:rPr>
                        <a:t>Arquitectura</a:t>
                      </a:r>
                    </a:p>
                  </a:txBody>
                  <a:tcPr anchor="ctr" marL="146304" marR="146304">
                    <a:solidFill>
                      <a:srgbClr val="F4F7FA"/>
                    </a:solidFill>
                  </a:tcPr>
                </a:tc>
                <a:tc>
                  <a:txBody>
                    <a:bodyPr wrap="square"/>
                    <a:lstStyle/>
                    <a:p>
                      <a:r>
                        <a:rPr sz="1391" b="0">
                          <a:solidFill>
                            <a:srgbClr val="33475B"/>
                          </a:solidFill>
                          <a:latin typeface="Aptos"/>
                        </a:rPr>
                        <a:t>25</a:t>
                      </a:r>
                    </a:p>
                  </a:txBody>
                  <a:tcPr anchor="ctr" marL="146304" marR="146304">
                    <a:solidFill>
                      <a:srgbClr val="F4F7FA"/>
                    </a:solidFill>
                  </a:tcPr>
                </a:tc>
                <a:tc>
                  <a:txBody>
                    <a:bodyPr wrap="square"/>
                    <a:lstStyle/>
                    <a:p>
                      <a:r>
                        <a:rPr sz="1391" b="0">
                          <a:solidFill>
                            <a:srgbClr val="33475B"/>
                          </a:solidFill>
                          <a:latin typeface="Aptos"/>
                        </a:rPr>
                        <a:t>Capas limpias, rutas, 3+ ADR y C4</a:t>
                      </a:r>
                    </a:p>
                  </a:txBody>
                  <a:tcPr anchor="ctr" marL="146304" marR="146304">
                    <a:solidFill>
                      <a:srgbClr val="F4F7FA"/>
                    </a:solidFill>
                  </a:tcPr>
                </a:tc>
              </a:tr>
              <a:tr h="472640">
                <a:tc>
                  <a:txBody>
                    <a:bodyPr wrap="square"/>
                    <a:lstStyle/>
                    <a:p>
                      <a:r>
                        <a:rPr sz="1391" b="1">
                          <a:solidFill>
                            <a:srgbClr val="33475B"/>
                          </a:solidFill>
                          <a:latin typeface="Aptos"/>
                        </a:rPr>
                        <a:t>Código/UI y API/datos</a:t>
                      </a:r>
                    </a:p>
                  </a:txBody>
                  <a:tcPr anchor="ctr" marL="146304" marR="146304">
                    <a:solidFill>
                      <a:srgbClr val="FFFFFF"/>
                    </a:solidFill>
                  </a:tcPr>
                </a:tc>
                <a:tc>
                  <a:txBody>
                    <a:bodyPr wrap="square"/>
                    <a:lstStyle/>
                    <a:p>
                      <a:r>
                        <a:rPr sz="1391" b="0">
                          <a:solidFill>
                            <a:srgbClr val="33475B"/>
                          </a:solidFill>
                          <a:latin typeface="Aptos"/>
                        </a:rPr>
                        <a:t>20</a:t>
                      </a:r>
                    </a:p>
                  </a:txBody>
                  <a:tcPr anchor="ctr" marL="146304" marR="146304">
                    <a:solidFill>
                      <a:srgbClr val="FFFFFF"/>
                    </a:solidFill>
                  </a:tcPr>
                </a:tc>
                <a:tc>
                  <a:txBody>
                    <a:bodyPr wrap="square"/>
                    <a:lstStyle/>
                    <a:p>
                      <a:r>
                        <a:rPr sz="1391" b="0">
                          <a:solidFill>
                            <a:srgbClr val="33475B"/>
                          </a:solidFill>
                          <a:latin typeface="Aptos"/>
                        </a:rPr>
                        <a:t>Red única, refresh, offline real</a:t>
                      </a:r>
                    </a:p>
                  </a:txBody>
                  <a:tcPr anchor="ctr" marL="146304" marR="146304">
                    <a:solidFill>
                      <a:srgbClr val="FFFFFF"/>
                    </a:solidFill>
                  </a:tcPr>
                </a:tc>
              </a:tr>
              <a:tr h="472640">
                <a:tc>
                  <a:txBody>
                    <a:bodyPr wrap="square"/>
                    <a:lstStyle/>
                    <a:p>
                      <a:r>
                        <a:rPr sz="1391" b="1">
                          <a:solidFill>
                            <a:srgbClr val="33475B"/>
                          </a:solidFill>
                          <a:latin typeface="Aptos"/>
                        </a:rPr>
                        <a:t>Calidad</a:t>
                      </a:r>
                    </a:p>
                  </a:txBody>
                  <a:tcPr anchor="ctr" marL="146304" marR="146304">
                    <a:solidFill>
                      <a:srgbClr val="F4F7FA"/>
                    </a:solidFill>
                  </a:tcPr>
                </a:tc>
                <a:tc>
                  <a:txBody>
                    <a:bodyPr wrap="square"/>
                    <a:lstStyle/>
                    <a:p>
                      <a:r>
                        <a:rPr sz="1391" b="0">
                          <a:solidFill>
                            <a:srgbClr val="33475B"/>
                          </a:solidFill>
                          <a:latin typeface="Aptos"/>
                        </a:rPr>
                        <a:t>15</a:t>
                      </a:r>
                    </a:p>
                  </a:txBody>
                  <a:tcPr anchor="ctr" marL="146304" marR="146304">
                    <a:solidFill>
                      <a:srgbClr val="F4F7FA"/>
                    </a:solidFill>
                  </a:tcPr>
                </a:tc>
                <a:tc>
                  <a:txBody>
                    <a:bodyPr wrap="square"/>
                    <a:lstStyle/>
                    <a:p>
                      <a:r>
                        <a:rPr sz="1391" b="0">
                          <a:solidFill>
                            <a:srgbClr val="33475B"/>
                          </a:solidFill>
                          <a:latin typeface="Aptos"/>
                        </a:rPr>
                        <a:t>Casos de uso y </a:t>
                      </a:r>
                      <a:r>
                        <a:rPr sz="1391" b="0" i="1">
                          <a:solidFill>
                            <a:srgbClr val="33475B"/>
                          </a:solidFill>
                          <a:latin typeface="Aptos"/>
                        </a:rPr>
                        <a:t>state holders</a:t>
                      </a:r>
                      <a:r>
                        <a:rPr sz="1391" b="0">
                          <a:solidFill>
                            <a:srgbClr val="33475B"/>
                          </a:solidFill>
                          <a:latin typeface="Aptos"/>
                        </a:rPr>
                        <a:t> en verde</a:t>
                      </a:r>
                    </a:p>
                  </a:txBody>
                  <a:tcPr anchor="ctr" marL="146304" marR="146304">
                    <a:solidFill>
                      <a:srgbClr val="F4F7FA"/>
                    </a:solidFill>
                  </a:tcPr>
                </a:tc>
              </a:tr>
              <a:tr h="472640">
                <a:tc>
                  <a:txBody>
                    <a:bodyPr wrap="square"/>
                    <a:lstStyle/>
                    <a:p>
                      <a:r>
                        <a:rPr sz="1391" b="1">
                          <a:solidFill>
                            <a:srgbClr val="33475B"/>
                          </a:solidFill>
                          <a:latin typeface="Aptos"/>
                        </a:rPr>
                        <a:t>Release</a:t>
                      </a:r>
                    </a:p>
                  </a:txBody>
                  <a:tcPr anchor="ctr" marL="146304" marR="146304">
                    <a:solidFill>
                      <a:srgbClr val="FFFFFF"/>
                    </a:solidFill>
                  </a:tcPr>
                </a:tc>
                <a:tc>
                  <a:txBody>
                    <a:bodyPr wrap="square"/>
                    <a:lstStyle/>
                    <a:p>
                      <a:r>
                        <a:rPr sz="1391" b="0">
                          <a:solidFill>
                            <a:srgbClr val="33475B"/>
                          </a:solidFill>
                          <a:latin typeface="Aptos"/>
                        </a:rPr>
                        <a:t>10</a:t>
                      </a:r>
                    </a:p>
                  </a:txBody>
                  <a:tcPr anchor="ctr" marL="146304" marR="146304">
                    <a:solidFill>
                      <a:srgbClr val="FFFFFF"/>
                    </a:solidFill>
                  </a:tcPr>
                </a:tc>
                <a:tc>
                  <a:txBody>
                    <a:bodyPr wrap="square"/>
                    <a:lstStyle/>
                    <a:p>
                      <a:r>
                        <a:rPr sz="1391" b="0">
                          <a:solidFill>
                            <a:srgbClr val="33475B"/>
                          </a:solidFill>
                          <a:latin typeface="Aptos"/>
                        </a:rPr>
                        <a:t>Firmado, checklist, CI y observabilidad</a:t>
                      </a:r>
                    </a:p>
                  </a:txBody>
                  <a:tcPr anchor="ctr" marL="146304" marR="146304">
                    <a:solidFill>
                      <a:srgbClr val="FFFFFF"/>
                    </a:solidFill>
                  </a:tcPr>
                </a:tc>
              </a:tr>
              <a:tr h="472640">
                <a:tc>
                  <a:txBody>
                    <a:bodyPr wrap="square"/>
                    <a:lstStyle/>
                    <a:p>
                      <a:r>
                        <a:rPr sz="1391" b="1">
                          <a:solidFill>
                            <a:srgbClr val="33475B"/>
                          </a:solidFill>
                          <a:latin typeface="Aptos"/>
                        </a:rPr>
                        <a:t>Trazabilidad y evidencia</a:t>
                      </a:r>
                    </a:p>
                  </a:txBody>
                  <a:tcPr anchor="ctr" marL="146304" marR="146304">
                    <a:solidFill>
                      <a:srgbClr val="F4F7FA"/>
                    </a:solidFill>
                  </a:tcPr>
                </a:tc>
                <a:tc>
                  <a:txBody>
                    <a:bodyPr wrap="square"/>
                    <a:lstStyle/>
                    <a:p>
                      <a:r>
                        <a:rPr sz="1391" b="0">
                          <a:solidFill>
                            <a:srgbClr val="33475B"/>
                          </a:solidFill>
                          <a:latin typeface="Aptos"/>
                        </a:rPr>
                        <a:t>15</a:t>
                      </a:r>
                    </a:p>
                  </a:txBody>
                  <a:tcPr anchor="ctr" marL="146304" marR="146304">
                    <a:solidFill>
                      <a:srgbClr val="F4F7FA"/>
                    </a:solidFill>
                  </a:tcPr>
                </a:tc>
                <a:tc>
                  <a:txBody>
                    <a:bodyPr wrap="square"/>
                    <a:lstStyle/>
                    <a:p>
                      <a:r>
                        <a:rPr sz="1391" b="0">
                          <a:solidFill>
                            <a:srgbClr val="33475B"/>
                          </a:solidFill>
                          <a:latin typeface="Aptos"/>
                        </a:rPr>
                        <a:t>H1–H3 con razón; video de 5–7 min</a:t>
                      </a:r>
                    </a:p>
                  </a:txBody>
                  <a:tcPr anchor="ctr" marL="146304" marR="146304">
                    <a:solidFill>
                      <a:srgbClr val="F4F7FA"/>
                    </a:solidFill>
                  </a:tcPr>
                </a:tc>
              </a:tr>
              <a:tr h="472640">
                <a:tc>
                  <a:txBody>
                    <a:bodyPr wrap="square"/>
                    <a:lstStyle/>
                    <a:p>
                      <a:r>
                        <a:rPr sz="1391" b="1">
                          <a:solidFill>
                            <a:srgbClr val="33475B"/>
                          </a:solidFill>
                          <a:latin typeface="Aptos"/>
                        </a:rPr>
                        <a:t>Forma APA</a:t>
                      </a:r>
                    </a:p>
                  </a:txBody>
                  <a:tcPr anchor="ctr" marL="146304" marR="146304">
                    <a:solidFill>
                      <a:srgbClr val="FFFFFF"/>
                    </a:solidFill>
                  </a:tcPr>
                </a:tc>
                <a:tc>
                  <a:txBody>
                    <a:bodyPr wrap="square"/>
                    <a:lstStyle/>
                    <a:p>
                      <a:r>
                        <a:rPr sz="1391" b="0">
                          <a:solidFill>
                            <a:srgbClr val="33475B"/>
                          </a:solidFill>
                          <a:latin typeface="Aptos"/>
                        </a:rPr>
                        <a:t>5</a:t>
                      </a:r>
                    </a:p>
                  </a:txBody>
                  <a:tcPr anchor="ctr" marL="146304" marR="146304">
                    <a:solidFill>
                      <a:srgbClr val="FFFFFF"/>
                    </a:solidFill>
                  </a:tcPr>
                </a:tc>
                <a:tc>
                  <a:txBody>
                    <a:bodyPr wrap="square"/>
                    <a:lstStyle/>
                    <a:p>
                      <a:r>
                        <a:rPr sz="1391" b="0">
                          <a:solidFill>
                            <a:srgbClr val="33475B"/>
                          </a:solidFill>
                          <a:latin typeface="Aptos"/>
                        </a:rPr>
                        <a:t>Extensión, formato y APA 7 correctos</a:t>
                      </a:r>
                    </a:p>
                  </a:txBody>
                  <a:tcPr anchor="ctr" marL="146304" marR="146304">
                    <a:solidFill>
                      <a:srgbClr val="FFFFFF"/>
                    </a:solidFill>
                  </a:tcPr>
                </a:tc>
              </a:tr>
            </a:tbl>
          </a:graphicData>
        </a:graphic>
      </p:graphicFrame>
      <p:sp>
        <p:nvSpPr>
          <p:cNvPr id="8" name="Rounded Rectangle 7"/>
          <p:cNvSpPr/>
          <p:nvPr/>
        </p:nvSpPr>
        <p:spPr>
          <a:xfrm>
            <a:off x="566928" y="5555062"/>
            <a:ext cx="11064240" cy="772585"/>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609926"/>
            <a:ext cx="63500" cy="662857"/>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555062"/>
            <a:ext cx="10378440" cy="772585"/>
          </a:xfrm>
          <a:prstGeom prst="rect">
            <a:avLst/>
          </a:prstGeom>
          <a:noFill/>
        </p:spPr>
        <p:txBody>
          <a:bodyPr wrap="square" anchor="ctr" lIns="0" rIns="0" tIns="0" bIns="0">
            <a:spAutoFit/>
          </a:bodyPr>
          <a:lstStyle/>
          <a:p>
            <a:pPr algn="l">
              <a:lnSpc>
                <a:spcPct val="125000"/>
              </a:lnSpc>
            </a:pPr>
            <a:r>
              <a:rPr sz="2186" b="1">
                <a:solidFill>
                  <a:srgbClr val="0E2841"/>
                </a:solidFill>
                <a:latin typeface="Aptos Display"/>
              </a:rPr>
              <a:t>Nota = puntos / 20: por ejemplo, 78 puntos equivalen a 3,9.</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26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548640"/>
            <a:ext cx="9052560" cy="822960"/>
          </a:xfrm>
          <a:prstGeom prst="rect">
            <a:avLst/>
          </a:prstGeom>
          <a:noFill/>
        </p:spPr>
        <p:txBody>
          <a:bodyPr wrap="square" anchor="t" lIns="0" rIns="0" tIns="0" bIns="0">
            <a:spAutoFit/>
          </a:bodyPr>
          <a:lstStyle/>
          <a:p>
            <a:pPr algn="l"/>
            <a:r>
              <a:rPr sz="2200" b="1">
                <a:solidFill>
                  <a:srgbClr val="0E2841"/>
                </a:solidFill>
                <a:latin typeface="Aptos Display"/>
              </a:rPr>
              <a:t>El documento afirma que los tokens están en almacenamiento seguro, pero el código los guarda en Preferences. ¿Qué ocurre?</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Nada, si el documento lo explica con claridad</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Solo pierde puntos en el criterio de Forma APA</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Pierde en su criterio y en trazabilidad y evidencia</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Se corrige en la socialización sin afectar la nota</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27 / 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06</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Socialización del proyecto</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Encuentro 5 · viernes 6 de noviembre · 6:00 a 7:00 p. m.</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ABP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Encuentro 5: cinco minutos por pareja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27886"/>
            <a:ext cx="2478024"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827886"/>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432231"/>
            <a:ext cx="2185416" cy="1580595"/>
          </a:xfrm>
          <a:prstGeom prst="rect">
            <a:avLst/>
          </a:prstGeom>
          <a:noFill/>
        </p:spPr>
        <p:txBody>
          <a:bodyPr wrap="square" anchor="t" lIns="0" rIns="0" tIns="0" bIns="0">
            <a:spAutoFit/>
          </a:bodyPr>
          <a:lstStyle/>
          <a:p>
            <a:pPr algn="ctr"/>
            <a:r>
              <a:rPr sz="1859" b="1">
                <a:solidFill>
                  <a:srgbClr val="0E2841"/>
                </a:solidFill>
                <a:latin typeface="Aptos Display"/>
              </a:rPr>
              <a:t>Sorteo</a:t>
            </a:r>
          </a:p>
          <a:p>
            <a:pPr algn="ctr">
              <a:lnSpc>
                <a:spcPct val="120000"/>
              </a:lnSpc>
              <a:spcBef>
                <a:spcPts val="700"/>
              </a:spcBef>
            </a:pPr>
            <a:r>
              <a:rPr sz="1439" b="0">
                <a:solidFill>
                  <a:srgbClr val="7A8B9E"/>
                </a:solidFill>
                <a:latin typeface="Aptos"/>
              </a:rPr>
              <a:t>El orden, si no caben todas</a:t>
            </a:r>
          </a:p>
        </p:txBody>
      </p:sp>
      <p:sp>
        <p:nvSpPr>
          <p:cNvPr id="10" name="Chevron 9"/>
          <p:cNvSpPr/>
          <p:nvPr/>
        </p:nvSpPr>
        <p:spPr>
          <a:xfrm>
            <a:off x="3136392" y="2571695"/>
            <a:ext cx="201168" cy="83678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29000" y="1827886"/>
            <a:ext cx="2478024"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29000" y="1827886"/>
            <a:ext cx="2478024"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75304" y="2432231"/>
            <a:ext cx="2185416" cy="1580595"/>
          </a:xfrm>
          <a:prstGeom prst="rect">
            <a:avLst/>
          </a:prstGeom>
          <a:noFill/>
        </p:spPr>
        <p:txBody>
          <a:bodyPr wrap="square" anchor="t" lIns="0" rIns="0" tIns="0" bIns="0">
            <a:spAutoFit/>
          </a:bodyPr>
          <a:lstStyle/>
          <a:p>
            <a:pPr algn="ctr"/>
            <a:r>
              <a:rPr sz="1859" b="1">
                <a:solidFill>
                  <a:srgbClr val="0E2841"/>
                </a:solidFill>
                <a:latin typeface="Aptos Display"/>
              </a:rPr>
              <a:t>Demo</a:t>
            </a:r>
          </a:p>
          <a:p>
            <a:pPr algn="ctr">
              <a:lnSpc>
                <a:spcPct val="120000"/>
              </a:lnSpc>
              <a:spcBef>
                <a:spcPts val="700"/>
              </a:spcBef>
            </a:pPr>
            <a:r>
              <a:rPr sz="1439" b="0">
                <a:solidFill>
                  <a:srgbClr val="7A8B9E"/>
                </a:solidFill>
                <a:latin typeface="Aptos"/>
              </a:rPr>
              <a:t>3 minutos en emulador o dispositivo</a:t>
            </a:r>
          </a:p>
        </p:txBody>
      </p:sp>
      <p:sp>
        <p:nvSpPr>
          <p:cNvPr id="14" name="Chevron 13"/>
          <p:cNvSpPr/>
          <p:nvPr/>
        </p:nvSpPr>
        <p:spPr>
          <a:xfrm>
            <a:off x="5998464" y="2571695"/>
            <a:ext cx="201168" cy="83678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91072" y="1827886"/>
            <a:ext cx="2478024"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91072" y="1827886"/>
            <a:ext cx="2478024"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7376" y="2432231"/>
            <a:ext cx="2185416" cy="1580595"/>
          </a:xfrm>
          <a:prstGeom prst="rect">
            <a:avLst/>
          </a:prstGeom>
          <a:noFill/>
        </p:spPr>
        <p:txBody>
          <a:bodyPr wrap="square" anchor="t" lIns="0" rIns="0" tIns="0" bIns="0">
            <a:spAutoFit/>
          </a:bodyPr>
          <a:lstStyle/>
          <a:p>
            <a:pPr algn="ctr"/>
            <a:r>
              <a:rPr sz="1859" b="1">
                <a:solidFill>
                  <a:srgbClr val="0E2841"/>
                </a:solidFill>
                <a:latin typeface="Aptos Display"/>
              </a:rPr>
              <a:t>Preguntas</a:t>
            </a:r>
          </a:p>
          <a:p>
            <a:pPr algn="ctr">
              <a:lnSpc>
                <a:spcPct val="120000"/>
              </a:lnSpc>
              <a:spcBef>
                <a:spcPts val="700"/>
              </a:spcBef>
            </a:pPr>
            <a:r>
              <a:rPr sz="1439" b="0">
                <a:solidFill>
                  <a:srgbClr val="7A8B9E"/>
                </a:solidFill>
                <a:latin typeface="Aptos"/>
              </a:rPr>
              <a:t>2 minutos, a cualquiera de los dos</a:t>
            </a:r>
          </a:p>
        </p:txBody>
      </p:sp>
      <p:sp>
        <p:nvSpPr>
          <p:cNvPr id="18" name="Chevron 17"/>
          <p:cNvSpPr/>
          <p:nvPr/>
        </p:nvSpPr>
        <p:spPr>
          <a:xfrm>
            <a:off x="8860536" y="2571695"/>
            <a:ext cx="201168" cy="83678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53144" y="1827886"/>
            <a:ext cx="2478024"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53144" y="1827886"/>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2432231"/>
            <a:ext cx="2185416" cy="1580595"/>
          </a:xfrm>
          <a:prstGeom prst="rect">
            <a:avLst/>
          </a:prstGeom>
          <a:noFill/>
        </p:spPr>
        <p:txBody>
          <a:bodyPr wrap="square" anchor="t" lIns="0" rIns="0" tIns="0" bIns="0">
            <a:spAutoFit/>
          </a:bodyPr>
          <a:lstStyle/>
          <a:p>
            <a:pPr algn="ctr"/>
            <a:r>
              <a:rPr sz="1859" b="1">
                <a:solidFill>
                  <a:srgbClr val="0E2841"/>
                </a:solidFill>
                <a:latin typeface="Aptos Display"/>
              </a:rPr>
              <a:t>Ajustes</a:t>
            </a:r>
          </a:p>
          <a:p>
            <a:pPr algn="ctr">
              <a:lnSpc>
                <a:spcPct val="120000"/>
              </a:lnSpc>
              <a:spcBef>
                <a:spcPts val="700"/>
              </a:spcBef>
            </a:pPr>
            <a:r>
              <a:rPr sz="1439" b="0">
                <a:solidFill>
                  <a:srgbClr val="7A8B9E"/>
                </a:solidFill>
                <a:latin typeface="Aptos"/>
              </a:rPr>
              <a:t>Lo que surja va a la trazabilidad</a:t>
            </a:r>
          </a:p>
        </p:txBody>
      </p:sp>
      <p:sp>
        <p:nvSpPr>
          <p:cNvPr id="22" name="Rounded Rectangle 21"/>
          <p:cNvSpPr/>
          <p:nvPr/>
        </p:nvSpPr>
        <p:spPr>
          <a:xfrm>
            <a:off x="566928" y="4608576"/>
            <a:ext cx="11064240" cy="171907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4663440"/>
            <a:ext cx="63500" cy="160934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4608576"/>
            <a:ext cx="10378440" cy="1719072"/>
          </a:xfrm>
          <a:prstGeom prst="rect">
            <a:avLst/>
          </a:prstGeom>
          <a:noFill/>
        </p:spPr>
        <p:txBody>
          <a:bodyPr wrap="square" anchor="ctr" lIns="0" rIns="0" tIns="0" bIns="0">
            <a:spAutoFit/>
          </a:bodyPr>
          <a:lstStyle/>
          <a:p>
            <a:pPr algn="l">
              <a:lnSpc>
                <a:spcPct val="125000"/>
              </a:lnSpc>
            </a:pPr>
            <a:r>
              <a:rPr sz="2640" b="1">
                <a:solidFill>
                  <a:srgbClr val="0E2841"/>
                </a:solidFill>
                <a:latin typeface="Aptos Display"/>
              </a:rPr>
              <a:t>La socialización no tiene nota aparte: se califica el Documento ABP, que vence dos días después.</a:t>
            </a:r>
          </a:p>
        </p:txBody>
      </p:sp>
      <p:sp>
        <p:nvSpPr>
          <p:cNvPr id="25" name="TextBox 2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26" name="TextBox 2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28 / 32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ABP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La demo en tres tiempos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621753"/>
            <a:ext cx="3480816"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8096" y="1457161"/>
            <a:ext cx="475488" cy="47548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457161"/>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1</a:t>
            </a:r>
          </a:p>
        </p:txBody>
      </p:sp>
      <p:sp>
        <p:nvSpPr>
          <p:cNvPr id="10" name="TextBox 9"/>
          <p:cNvSpPr txBox="1"/>
          <p:nvPr/>
        </p:nvSpPr>
        <p:spPr>
          <a:xfrm>
            <a:off x="768096" y="2097241"/>
            <a:ext cx="3078480" cy="2176272"/>
          </a:xfrm>
          <a:prstGeom prst="rect">
            <a:avLst/>
          </a:prstGeom>
          <a:noFill/>
        </p:spPr>
        <p:txBody>
          <a:bodyPr wrap="square" anchor="t" lIns="0" rIns="0" tIns="0" bIns="0">
            <a:spAutoFit/>
          </a:bodyPr>
          <a:lstStyle/>
          <a:p>
            <a:pPr algn="l"/>
            <a:r>
              <a:rPr sz="1980" b="1">
                <a:solidFill>
                  <a:srgbClr val="0E2841"/>
                </a:solidFill>
                <a:latin typeface="Aptos Display"/>
              </a:rPr>
              <a:t>0:00 a 0:30 · Problema</a:t>
            </a:r>
          </a:p>
          <a:p>
            <a:pPr algn="l">
              <a:lnSpc>
                <a:spcPct val="120000"/>
              </a:lnSpc>
              <a:spcBef>
                <a:spcPts val="700"/>
              </a:spcBef>
            </a:pPr>
            <a:r>
              <a:rPr sz="1560" b="0">
                <a:solidFill>
                  <a:srgbClr val="33475B"/>
                </a:solidFill>
                <a:latin typeface="Aptos"/>
              </a:rPr>
              <a:t>El problema y el usuario, una frase cada uno</a:t>
            </a:r>
          </a:p>
        </p:txBody>
      </p:sp>
      <p:sp>
        <p:nvSpPr>
          <p:cNvPr id="11" name="Rounded Rectangle 10"/>
          <p:cNvSpPr/>
          <p:nvPr/>
        </p:nvSpPr>
        <p:spPr>
          <a:xfrm>
            <a:off x="4358640" y="1621753"/>
            <a:ext cx="3480816"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59808" y="1457161"/>
            <a:ext cx="475488" cy="475488"/>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9808" y="1457161"/>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2</a:t>
            </a:r>
          </a:p>
        </p:txBody>
      </p:sp>
      <p:sp>
        <p:nvSpPr>
          <p:cNvPr id="14" name="TextBox 13"/>
          <p:cNvSpPr txBox="1"/>
          <p:nvPr/>
        </p:nvSpPr>
        <p:spPr>
          <a:xfrm>
            <a:off x="4559808" y="2097241"/>
            <a:ext cx="3078480" cy="2176272"/>
          </a:xfrm>
          <a:prstGeom prst="rect">
            <a:avLst/>
          </a:prstGeom>
          <a:noFill/>
        </p:spPr>
        <p:txBody>
          <a:bodyPr wrap="square" anchor="t" lIns="0" rIns="0" tIns="0" bIns="0">
            <a:spAutoFit/>
          </a:bodyPr>
          <a:lstStyle/>
          <a:p>
            <a:pPr algn="l"/>
            <a:r>
              <a:rPr sz="1980" b="1">
                <a:solidFill>
                  <a:srgbClr val="0E2841"/>
                </a:solidFill>
                <a:latin typeface="Aptos Display"/>
              </a:rPr>
              <a:t>0:30 a 2:00 · Flujo</a:t>
            </a:r>
          </a:p>
          <a:p>
            <a:pPr algn="l">
              <a:lnSpc>
                <a:spcPct val="120000"/>
              </a:lnSpc>
              <a:spcBef>
                <a:spcPts val="700"/>
              </a:spcBef>
            </a:pPr>
            <a:r>
              <a:rPr sz="1560" b="0">
                <a:solidFill>
                  <a:srgbClr val="33475B"/>
                </a:solidFill>
                <a:latin typeface="Aptos"/>
              </a:rPr>
              <a:t>Inicio de sesión, un permiso nativo y modo avión</a:t>
            </a:r>
          </a:p>
        </p:txBody>
      </p:sp>
      <p:sp>
        <p:nvSpPr>
          <p:cNvPr id="15" name="Rounded Rectangle 14"/>
          <p:cNvSpPr/>
          <p:nvPr/>
        </p:nvSpPr>
        <p:spPr>
          <a:xfrm>
            <a:off x="8150352" y="1621753"/>
            <a:ext cx="3480816"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51520" y="1457161"/>
            <a:ext cx="475488" cy="475488"/>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51520" y="1457161"/>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3</a:t>
            </a:r>
          </a:p>
        </p:txBody>
      </p:sp>
      <p:sp>
        <p:nvSpPr>
          <p:cNvPr id="18" name="TextBox 17"/>
          <p:cNvSpPr txBox="1"/>
          <p:nvPr/>
        </p:nvSpPr>
        <p:spPr>
          <a:xfrm>
            <a:off x="8351520" y="2097241"/>
            <a:ext cx="3078480" cy="2176272"/>
          </a:xfrm>
          <a:prstGeom prst="rect">
            <a:avLst/>
          </a:prstGeom>
          <a:noFill/>
        </p:spPr>
        <p:txBody>
          <a:bodyPr wrap="square" anchor="t" lIns="0" rIns="0" tIns="0" bIns="0">
            <a:spAutoFit/>
          </a:bodyPr>
          <a:lstStyle/>
          <a:p>
            <a:pPr algn="l"/>
            <a:r>
              <a:rPr sz="1980" b="1">
                <a:solidFill>
                  <a:srgbClr val="0E2841"/>
                </a:solidFill>
                <a:latin typeface="Aptos Display"/>
              </a:rPr>
              <a:t>2:00 a 3:00 · Decisión</a:t>
            </a:r>
          </a:p>
          <a:p>
            <a:pPr algn="l">
              <a:lnSpc>
                <a:spcPct val="120000"/>
              </a:lnSpc>
              <a:spcBef>
                <a:spcPts val="700"/>
              </a:spcBef>
            </a:pPr>
            <a:r>
              <a:rPr sz="1560" b="0">
                <a:solidFill>
                  <a:srgbClr val="33475B"/>
                </a:solidFill>
                <a:latin typeface="Aptos"/>
              </a:rPr>
              <a:t>Un ADR: qué descartaron y qué les costó</a:t>
            </a:r>
          </a:p>
        </p:txBody>
      </p:sp>
      <p:sp>
        <p:nvSpPr>
          <p:cNvPr id="19" name="Rounded Rectangle 18"/>
          <p:cNvSpPr/>
          <p:nvPr/>
        </p:nvSpPr>
        <p:spPr>
          <a:xfrm>
            <a:off x="566928" y="4706547"/>
            <a:ext cx="11064240" cy="1621100"/>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4761411"/>
            <a:ext cx="63500" cy="151137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706547"/>
            <a:ext cx="10378440" cy="1621100"/>
          </a:xfrm>
          <a:prstGeom prst="rect">
            <a:avLst/>
          </a:prstGeom>
          <a:noFill/>
        </p:spPr>
        <p:txBody>
          <a:bodyPr wrap="square" anchor="ctr" lIns="0" rIns="0" tIns="0" bIns="0">
            <a:spAutoFit/>
          </a:bodyPr>
          <a:lstStyle/>
          <a:p>
            <a:pPr algn="l">
              <a:lnSpc>
                <a:spcPct val="125000"/>
              </a:lnSpc>
            </a:pPr>
            <a:r>
              <a:rPr sz="2640" b="1">
                <a:solidFill>
                  <a:srgbClr val="0E2841"/>
                </a:solidFill>
                <a:latin typeface="Aptos Display"/>
              </a:rPr>
              <a:t>Si la demo en vivo falla, muestren el fragmento del video y sigan. Compartan el emulador antes de su turno.</a:t>
            </a:r>
          </a:p>
        </p:txBody>
      </p:sp>
      <p:sp>
        <p:nvSpPr>
          <p:cNvPr id="22" name="TextBox 2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23" name="TextBox 2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29 / 32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ABP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Cada minuto de demo toca un criterio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261360"/>
        </p:xfrm>
        <a:graphic>
          <a:graphicData uri="http://schemas.openxmlformats.org/drawingml/2006/table">
            <a:tbl>
              <a:tblPr firstRow="1">
                <a:tableStyleId>{5C22544A-7EE6-4342-B048-85BDC9FD1C3A}</a:tableStyleId>
              </a:tblPr>
              <a:tblGrid>
                <a:gridCol w="3688080"/>
                <a:gridCol w="3688080"/>
                <a:gridCol w="3688080"/>
              </a:tblGrid>
              <a:tr h="543560">
                <a:tc>
                  <a:txBody>
                    <a:bodyPr wrap="square"/>
                    <a:lstStyle/>
                    <a:p>
                      <a:r>
                        <a:rPr sz="1569" b="1">
                          <a:solidFill>
                            <a:srgbClr val="FFFFFF"/>
                          </a:solidFill>
                          <a:latin typeface="Aptos"/>
                        </a:rPr>
                        <a:t>Momento</a:t>
                      </a:r>
                    </a:p>
                  </a:txBody>
                  <a:tcPr anchor="ctr" marL="146304" marR="146304">
                    <a:solidFill>
                      <a:srgbClr val="156082"/>
                    </a:solidFill>
                  </a:tcPr>
                </a:tc>
                <a:tc>
                  <a:txBody>
                    <a:bodyPr wrap="square"/>
                    <a:lstStyle/>
                    <a:p>
                      <a:r>
                        <a:rPr sz="1569" b="1">
                          <a:solidFill>
                            <a:srgbClr val="FFFFFF"/>
                          </a:solidFill>
                          <a:latin typeface="Aptos"/>
                        </a:rPr>
                        <a:t>Lo que se observa</a:t>
                      </a:r>
                    </a:p>
                  </a:txBody>
                  <a:tcPr anchor="ctr" marL="146304" marR="146304">
                    <a:solidFill>
                      <a:srgbClr val="156082"/>
                    </a:solidFill>
                  </a:tcPr>
                </a:tc>
                <a:tc>
                  <a:txBody>
                    <a:bodyPr wrap="square"/>
                    <a:lstStyle/>
                    <a:p>
                      <a:r>
                        <a:rPr sz="1569" b="1">
                          <a:solidFill>
                            <a:srgbClr val="FFFFFF"/>
                          </a:solidFill>
                          <a:latin typeface="Aptos"/>
                        </a:rPr>
                        <a:t>Criterio de la rúbrica</a:t>
                      </a:r>
                    </a:p>
                  </a:txBody>
                  <a:tcPr anchor="ctr" marL="146304" marR="146304">
                    <a:solidFill>
                      <a:srgbClr val="156082"/>
                    </a:solidFill>
                  </a:tcPr>
                </a:tc>
              </a:tr>
              <a:tr h="543560">
                <a:tc>
                  <a:txBody>
                    <a:bodyPr wrap="square"/>
                    <a:lstStyle/>
                    <a:p>
                      <a:r>
                        <a:rPr sz="1465" b="1">
                          <a:solidFill>
                            <a:srgbClr val="33475B"/>
                          </a:solidFill>
                          <a:latin typeface="Aptos"/>
                        </a:rPr>
                        <a:t>Inicio de sesión</a:t>
                      </a:r>
                    </a:p>
                  </a:txBody>
                  <a:tcPr anchor="ctr" marL="146304" marR="146304">
                    <a:solidFill>
                      <a:srgbClr val="FFFFFF"/>
                    </a:solidFill>
                  </a:tcPr>
                </a:tc>
                <a:tc>
                  <a:txBody>
                    <a:bodyPr wrap="square"/>
                    <a:lstStyle/>
                    <a:p>
                      <a:r>
                        <a:rPr sz="1465" b="0">
                          <a:solidFill>
                            <a:srgbClr val="33475B"/>
                          </a:solidFill>
                          <a:latin typeface="Aptos"/>
                        </a:rPr>
                        <a:t>Interceptor, refresh y almacenamiento seguro</a:t>
                      </a:r>
                    </a:p>
                  </a:txBody>
                  <a:tcPr anchor="ctr" marL="146304" marR="146304">
                    <a:solidFill>
                      <a:srgbClr val="FFFFFF"/>
                    </a:solidFill>
                  </a:tcPr>
                </a:tc>
                <a:tc>
                  <a:txBody>
                    <a:bodyPr wrap="square"/>
                    <a:lstStyle/>
                    <a:p>
                      <a:r>
                        <a:rPr sz="1465" b="0">
                          <a:solidFill>
                            <a:srgbClr val="33475B"/>
                          </a:solidFill>
                          <a:latin typeface="Aptos"/>
                        </a:rPr>
                        <a:t>Código/UI y API/datos (20)</a:t>
                      </a:r>
                    </a:p>
                  </a:txBody>
                  <a:tcPr anchor="ctr" marL="146304" marR="146304">
                    <a:solidFill>
                      <a:srgbClr val="FFFFFF"/>
                    </a:solidFill>
                  </a:tcPr>
                </a:tc>
              </a:tr>
              <a:tr h="543560">
                <a:tc>
                  <a:txBody>
                    <a:bodyPr wrap="square"/>
                    <a:lstStyle/>
                    <a:p>
                      <a:r>
                        <a:rPr sz="1465" b="1">
                          <a:solidFill>
                            <a:srgbClr val="33475B"/>
                          </a:solidFill>
                          <a:latin typeface="Aptos"/>
                        </a:rPr>
                        <a:t>Plugin con permiso</a:t>
                      </a:r>
                    </a:p>
                  </a:txBody>
                  <a:tcPr anchor="ctr" marL="146304" marR="146304">
                    <a:solidFill>
                      <a:srgbClr val="F4F7FA"/>
                    </a:solidFill>
                  </a:tcPr>
                </a:tc>
                <a:tc>
                  <a:txBody>
                    <a:bodyPr wrap="square"/>
                    <a:lstStyle/>
                    <a:p>
                      <a:r>
                        <a:rPr sz="1465" b="0">
                          <a:solidFill>
                            <a:srgbClr val="33475B"/>
                          </a:solidFill>
                          <a:latin typeface="Aptos"/>
                        </a:rPr>
                        <a:t>Puerto, adaptador y permiso </a:t>
                      </a:r>
                      <a:r>
                        <a:rPr sz="1465" b="0" i="1">
                          <a:solidFill>
                            <a:srgbClr val="33475B"/>
                          </a:solidFill>
                          <a:latin typeface="Aptos"/>
                        </a:rPr>
                        <a:t>just-in-time</a:t>
                      </a:r>
                    </a:p>
                  </a:txBody>
                  <a:tcPr anchor="ctr" marL="146304" marR="146304">
                    <a:solidFill>
                      <a:srgbClr val="F4F7FA"/>
                    </a:solidFill>
                  </a:tcPr>
                </a:tc>
                <a:tc>
                  <a:txBody>
                    <a:bodyPr wrap="square"/>
                    <a:lstStyle/>
                    <a:p>
                      <a:r>
                        <a:rPr sz="1465" b="0">
                          <a:solidFill>
                            <a:srgbClr val="33475B"/>
                          </a:solidFill>
                          <a:latin typeface="Aptos"/>
                        </a:rPr>
                        <a:t>Arquitectura (25) y Calidad (15)</a:t>
                      </a:r>
                    </a:p>
                  </a:txBody>
                  <a:tcPr anchor="ctr" marL="146304" marR="146304">
                    <a:solidFill>
                      <a:srgbClr val="F4F7FA"/>
                    </a:solidFill>
                  </a:tcPr>
                </a:tc>
              </a:tr>
              <a:tr h="543560">
                <a:tc>
                  <a:txBody>
                    <a:bodyPr wrap="square"/>
                    <a:lstStyle/>
                    <a:p>
                      <a:r>
                        <a:rPr sz="1465" b="1">
                          <a:solidFill>
                            <a:srgbClr val="33475B"/>
                          </a:solidFill>
                          <a:latin typeface="Aptos"/>
                        </a:rPr>
                        <a:t>Modo avión</a:t>
                      </a:r>
                    </a:p>
                  </a:txBody>
                  <a:tcPr anchor="ctr" marL="146304" marR="146304">
                    <a:solidFill>
                      <a:srgbClr val="FFFFFF"/>
                    </a:solidFill>
                  </a:tcPr>
                </a:tc>
                <a:tc>
                  <a:txBody>
                    <a:bodyPr wrap="square"/>
                    <a:lstStyle/>
                    <a:p>
                      <a:r>
                        <a:rPr sz="1465" b="0">
                          <a:solidFill>
                            <a:srgbClr val="33475B"/>
                          </a:solidFill>
                          <a:latin typeface="Aptos"/>
                        </a:rPr>
                        <a:t>Caché de lectura y aviso «sin conexión»</a:t>
                      </a:r>
                    </a:p>
                  </a:txBody>
                  <a:tcPr anchor="ctr" marL="146304" marR="146304">
                    <a:solidFill>
                      <a:srgbClr val="FFFFFF"/>
                    </a:solidFill>
                  </a:tcPr>
                </a:tc>
                <a:tc>
                  <a:txBody>
                    <a:bodyPr wrap="square"/>
                    <a:lstStyle/>
                    <a:p>
                      <a:r>
                        <a:rPr sz="1465" b="0">
                          <a:solidFill>
                            <a:srgbClr val="33475B"/>
                          </a:solidFill>
                          <a:latin typeface="Aptos"/>
                        </a:rPr>
                        <a:t>Código/UI y API/datos (20)</a:t>
                      </a:r>
                    </a:p>
                  </a:txBody>
                  <a:tcPr anchor="ctr" marL="146304" marR="146304">
                    <a:solidFill>
                      <a:srgbClr val="FFFFFF"/>
                    </a:solidFill>
                  </a:tcPr>
                </a:tc>
              </a:tr>
              <a:tr h="543560">
                <a:tc>
                  <a:txBody>
                    <a:bodyPr wrap="square"/>
                    <a:lstStyle/>
                    <a:p>
                      <a:r>
                        <a:rPr sz="1465" b="1">
                          <a:solidFill>
                            <a:srgbClr val="33475B"/>
                          </a:solidFill>
                          <a:latin typeface="Aptos"/>
                        </a:rPr>
                        <a:t>ADR mostrado</a:t>
                      </a:r>
                    </a:p>
                  </a:txBody>
                  <a:tcPr anchor="ctr" marL="146304" marR="146304">
                    <a:solidFill>
                      <a:srgbClr val="F4F7FA"/>
                    </a:solidFill>
                  </a:tcPr>
                </a:tc>
                <a:tc>
                  <a:txBody>
                    <a:bodyPr wrap="square"/>
                    <a:lstStyle/>
                    <a:p>
                      <a:r>
                        <a:rPr sz="1465" b="0">
                          <a:solidFill>
                            <a:srgbClr val="33475B"/>
                          </a:solidFill>
                          <a:latin typeface="Aptos"/>
                        </a:rPr>
                        <a:t>Alternativa descartada y su costo</a:t>
                      </a:r>
                    </a:p>
                  </a:txBody>
                  <a:tcPr anchor="ctr" marL="146304" marR="146304">
                    <a:solidFill>
                      <a:srgbClr val="F4F7FA"/>
                    </a:solidFill>
                  </a:tcPr>
                </a:tc>
                <a:tc>
                  <a:txBody>
                    <a:bodyPr wrap="square"/>
                    <a:lstStyle/>
                    <a:p>
                      <a:r>
                        <a:rPr sz="1465" b="0">
                          <a:solidFill>
                            <a:srgbClr val="33475B"/>
                          </a:solidFill>
                          <a:latin typeface="Aptos"/>
                        </a:rPr>
                        <a:t>Arquitectura (25)</a:t>
                      </a:r>
                    </a:p>
                  </a:txBody>
                  <a:tcPr anchor="ctr" marL="146304" marR="146304">
                    <a:solidFill>
                      <a:srgbClr val="F4F7FA"/>
                    </a:solidFill>
                  </a:tcPr>
                </a:tc>
              </a:tr>
              <a:tr h="543560">
                <a:tc>
                  <a:txBody>
                    <a:bodyPr wrap="square"/>
                    <a:lstStyle/>
                    <a:p>
                      <a:r>
                        <a:rPr sz="1465" b="1">
                          <a:solidFill>
                            <a:srgbClr val="33475B"/>
                          </a:solidFill>
                          <a:latin typeface="Aptos"/>
                        </a:rPr>
                        <a:t>Preguntas</a:t>
                      </a:r>
                    </a:p>
                  </a:txBody>
                  <a:tcPr anchor="ctr" marL="146304" marR="146304">
                    <a:solidFill>
                      <a:srgbClr val="FFFFFF"/>
                    </a:solidFill>
                  </a:tcPr>
                </a:tc>
                <a:tc>
                  <a:txBody>
                    <a:bodyPr wrap="square"/>
                    <a:lstStyle/>
                    <a:p>
                      <a:r>
                        <a:rPr sz="1465" b="0">
                          <a:solidFill>
                            <a:srgbClr val="33475B"/>
                          </a:solidFill>
                          <a:latin typeface="Aptos"/>
                        </a:rPr>
                        <a:t>Respuestas de los dos integrantes</a:t>
                      </a:r>
                    </a:p>
                  </a:txBody>
                  <a:tcPr anchor="ctr" marL="146304" marR="146304">
                    <a:solidFill>
                      <a:srgbClr val="FFFFFF"/>
                    </a:solidFill>
                  </a:tcPr>
                </a:tc>
                <a:tc>
                  <a:txBody>
                    <a:bodyPr wrap="square"/>
                    <a:lstStyle/>
                    <a:p>
                      <a:r>
                        <a:rPr sz="1465" b="0">
                          <a:solidFill>
                            <a:srgbClr val="33475B"/>
                          </a:solidFill>
                          <a:latin typeface="Aptos"/>
                        </a:rPr>
                        <a:t>Gobierno y SDD (10), Trazabilidad (15)</a:t>
                      </a:r>
                    </a:p>
                  </a:txBody>
                  <a:tcPr anchor="ctr" marL="146304" marR="146304">
                    <a:solidFill>
                      <a:srgbClr val="FFFFFF"/>
                    </a:solidFill>
                  </a:tcPr>
                </a:tc>
              </a:tr>
            </a:tbl>
          </a:graphicData>
        </a:graphic>
      </p:graphicFrame>
      <p:sp>
        <p:nvSpPr>
          <p:cNvPr id="8" name="Rounded Rectangle 7"/>
          <p:cNvSpPr/>
          <p:nvPr/>
        </p:nvSpPr>
        <p:spPr>
          <a:xfrm>
            <a:off x="566928" y="5035296"/>
            <a:ext cx="11064240" cy="1292351"/>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090160"/>
            <a:ext cx="63500" cy="118262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035296"/>
            <a:ext cx="10378440" cy="1292351"/>
          </a:xfrm>
          <a:prstGeom prst="rect">
            <a:avLst/>
          </a:prstGeom>
          <a:noFill/>
        </p:spPr>
        <p:txBody>
          <a:bodyPr wrap="square" anchor="ctr" lIns="0" rIns="0" tIns="0" bIns="0">
            <a:spAutoFit/>
          </a:bodyPr>
          <a:lstStyle/>
          <a:p>
            <a:pPr algn="l">
              <a:lnSpc>
                <a:spcPct val="125000"/>
              </a:lnSpc>
            </a:pPr>
            <a:r>
              <a:rPr sz="2302" b="1">
                <a:solidFill>
                  <a:srgbClr val="0E2841"/>
                </a:solidFill>
                <a:latin typeface="Aptos Display"/>
              </a:rPr>
              <a:t>Preguntas típicas: ¿dónde se garantiza la regla de dependencias?, ¿y si falla el refresh?, ¿y si niegan el permiso?, ¿qué cambiarían?</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30 / 32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ABP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Checklist antes de subir el PDF</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82880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Los 8 mínimos</a:t>
            </a:r>
          </a:p>
          <a:p>
            <a:pPr algn="l">
              <a:lnSpc>
                <a:spcPct val="120000"/>
              </a:lnSpc>
              <a:spcBef>
                <a:spcPts val="700"/>
              </a:spcBef>
            </a:pPr>
            <a:r>
              <a:rPr sz="1518" b="0">
                <a:solidFill>
                  <a:srgbClr val="33475B"/>
                </a:solidFill>
                <a:latin typeface="Aptos"/>
              </a:rPr>
              <a:t>Cada uno con su evidencia verificable</a:t>
            </a:r>
          </a:p>
        </p:txBody>
      </p:sp>
      <p:sp>
        <p:nvSpPr>
          <p:cNvPr id="10" name="Rounded Rectangle 9"/>
          <p:cNvSpPr/>
          <p:nvPr/>
        </p:nvSpPr>
        <p:spPr>
          <a:xfrm>
            <a:off x="3410712"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11880" y="1828800"/>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Repositorio</a:t>
            </a:r>
          </a:p>
          <a:p>
            <a:pPr algn="l">
              <a:lnSpc>
                <a:spcPct val="120000"/>
              </a:lnSpc>
              <a:spcBef>
                <a:spcPts val="700"/>
              </a:spcBef>
            </a:pPr>
            <a:r>
              <a:rPr sz="1518" b="0">
                <a:solidFill>
                  <a:srgbClr val="33475B"/>
                </a:solidFill>
                <a:latin typeface="Aptos"/>
              </a:rPr>
              <a:t>docs/ 00–05 sin corchetes; README que ejecuta y prueba</a:t>
            </a:r>
          </a:p>
        </p:txBody>
      </p:sp>
      <p:sp>
        <p:nvSpPr>
          <p:cNvPr id="13" name="Rounded Rectangle 12"/>
          <p:cNvSpPr/>
          <p:nvPr/>
        </p:nvSpPr>
        <p:spPr>
          <a:xfrm>
            <a:off x="6254496"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55664" y="1828800"/>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Evidencia</a:t>
            </a:r>
          </a:p>
          <a:p>
            <a:pPr algn="l">
              <a:lnSpc>
                <a:spcPct val="120000"/>
              </a:lnSpc>
              <a:spcBef>
                <a:spcPts val="700"/>
              </a:spcBef>
            </a:pPr>
            <a:r>
              <a:rPr sz="1518" b="0">
                <a:solidFill>
                  <a:srgbClr val="33475B"/>
                </a:solidFill>
                <a:latin typeface="Aptos"/>
              </a:rPr>
              <a:t>Acceso del tutor; video de 5 a 7 min narrado por ambos</a:t>
            </a:r>
          </a:p>
        </p:txBody>
      </p:sp>
      <p:sp>
        <p:nvSpPr>
          <p:cNvPr id="16" name="Rounded Rectangle 15"/>
          <p:cNvSpPr/>
          <p:nvPr/>
        </p:nvSpPr>
        <p:spPr>
          <a:xfrm>
            <a:off x="9098280"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99448" y="182880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9448"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PDF</a:t>
            </a:r>
          </a:p>
          <a:p>
            <a:pPr algn="l">
              <a:lnSpc>
                <a:spcPct val="120000"/>
              </a:lnSpc>
              <a:spcBef>
                <a:spcPts val="700"/>
              </a:spcBef>
            </a:pPr>
            <a:r>
              <a:rPr sz="1518" b="0">
                <a:solidFill>
                  <a:srgbClr val="33475B"/>
                </a:solidFill>
                <a:latin typeface="Aptos"/>
              </a:rPr>
              <a:t>12 a 18 páginas, APA 7, mismo archivo y dos nombres</a:t>
            </a:r>
          </a:p>
        </p:txBody>
      </p:sp>
      <p:sp>
        <p:nvSpPr>
          <p:cNvPr id="19" name="Rounded Rectangle 18"/>
          <p:cNvSpPr/>
          <p:nvPr/>
        </p:nvSpPr>
        <p:spPr>
          <a:xfrm>
            <a:off x="566928" y="4771861"/>
            <a:ext cx="11064240" cy="155578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4826725"/>
            <a:ext cx="63500" cy="144605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771861"/>
            <a:ext cx="10378440" cy="1555786"/>
          </a:xfrm>
          <a:prstGeom prst="rect">
            <a:avLst/>
          </a:prstGeom>
          <a:noFill/>
        </p:spPr>
        <p:txBody>
          <a:bodyPr wrap="square" anchor="ctr" lIns="0" rIns="0" tIns="0" bIns="0">
            <a:spAutoFit/>
          </a:bodyPr>
          <a:lstStyle/>
          <a:p>
            <a:pPr algn="l">
              <a:lnSpc>
                <a:spcPct val="125000"/>
              </a:lnSpc>
            </a:pPr>
            <a:r>
              <a:rPr sz="2570" b="1">
                <a:solidFill>
                  <a:srgbClr val="0E2841"/>
                </a:solidFill>
                <a:latin typeface="Aptos Display"/>
              </a:rPr>
              <a:t>Se sube a «Entrega final del módulo (ABP) [40%]» antes del domingo 8 de noviembre a las 11:59 p. m.</a:t>
            </a:r>
          </a:p>
        </p:txBody>
      </p:sp>
      <p:sp>
        <p:nvSpPr>
          <p:cNvPr id="22" name="TextBox 2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23" name="TextBox 2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31 / 32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PROYECTO ABP · POSGRADO ·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Tres ideas para llevarse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048256"/>
            <a:ext cx="3480816"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560320"/>
            <a:ext cx="3078480" cy="2395728"/>
          </a:xfrm>
          <a:prstGeom prst="rect">
            <a:avLst/>
          </a:prstGeom>
          <a:noFill/>
        </p:spPr>
        <p:txBody>
          <a:bodyPr wrap="square" anchor="t" lIns="0" rIns="0" tIns="0" bIns="0">
            <a:spAutoFit/>
          </a:bodyPr>
          <a:lstStyle/>
          <a:p>
            <a:pPr algn="l"/>
            <a:r>
              <a:rPr sz="2039" b="1">
                <a:solidFill>
                  <a:srgbClr val="0E2841"/>
                </a:solidFill>
                <a:latin typeface="Aptos Display"/>
              </a:rPr>
              <a:t>Gobernar pesa más</a:t>
            </a:r>
          </a:p>
          <a:p>
            <a:pPr algn="l">
              <a:lnSpc>
                <a:spcPct val="120000"/>
              </a:lnSpc>
              <a:spcBef>
                <a:spcPts val="700"/>
              </a:spcBef>
            </a:pPr>
            <a:r>
              <a:rPr sz="1560" b="0">
                <a:solidFill>
                  <a:srgbClr val="33475B"/>
                </a:solidFill>
                <a:latin typeface="Aptos"/>
              </a:rPr>
              <a:t>Dos features gobernadas valen más que diez sueltas</a:t>
            </a:r>
          </a:p>
        </p:txBody>
      </p:sp>
      <p:sp>
        <p:nvSpPr>
          <p:cNvPr id="10" name="Rounded Rectangle 9"/>
          <p:cNvSpPr/>
          <p:nvPr/>
        </p:nvSpPr>
        <p:spPr>
          <a:xfrm>
            <a:off x="4358640" y="2048256"/>
            <a:ext cx="3480816"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59808" y="2304288"/>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9808" y="2560320"/>
            <a:ext cx="3078480" cy="2395728"/>
          </a:xfrm>
          <a:prstGeom prst="rect">
            <a:avLst/>
          </a:prstGeom>
          <a:noFill/>
        </p:spPr>
        <p:txBody>
          <a:bodyPr wrap="square" anchor="t" lIns="0" rIns="0" tIns="0" bIns="0">
            <a:spAutoFit/>
          </a:bodyPr>
          <a:lstStyle/>
          <a:p>
            <a:pPr algn="l"/>
            <a:r>
              <a:rPr sz="2039" b="1">
                <a:solidFill>
                  <a:srgbClr val="0E2841"/>
                </a:solidFill>
                <a:latin typeface="Aptos Display"/>
              </a:rPr>
              <a:t>Primero se escribe</a:t>
            </a:r>
          </a:p>
          <a:p>
            <a:pPr algn="l">
              <a:lnSpc>
                <a:spcPct val="120000"/>
              </a:lnSpc>
              <a:spcBef>
                <a:spcPts val="700"/>
              </a:spcBef>
            </a:pPr>
            <a:r>
              <a:rPr sz="1560" b="0">
                <a:solidFill>
                  <a:srgbClr val="33475B"/>
                </a:solidFill>
                <a:latin typeface="Aptos"/>
              </a:rPr>
              <a:t>La decisión va al marco; después, el código</a:t>
            </a:r>
          </a:p>
        </p:txBody>
      </p:sp>
      <p:sp>
        <p:nvSpPr>
          <p:cNvPr id="13" name="Rounded Rectangle 12"/>
          <p:cNvSpPr/>
          <p:nvPr/>
        </p:nvSpPr>
        <p:spPr>
          <a:xfrm>
            <a:off x="8150352" y="2048256"/>
            <a:ext cx="3480816"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51520" y="2304288"/>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1520" y="2560320"/>
            <a:ext cx="3078480" cy="2395728"/>
          </a:xfrm>
          <a:prstGeom prst="rect">
            <a:avLst/>
          </a:prstGeom>
          <a:noFill/>
        </p:spPr>
        <p:txBody>
          <a:bodyPr wrap="square" anchor="t" lIns="0" rIns="0" tIns="0" bIns="0">
            <a:spAutoFit/>
          </a:bodyPr>
          <a:lstStyle/>
          <a:p>
            <a:pPr algn="l"/>
            <a:r>
              <a:rPr sz="2039" b="1">
                <a:solidFill>
                  <a:srgbClr val="0E2841"/>
                </a:solidFill>
                <a:latin typeface="Aptos Display"/>
              </a:rPr>
              <a:t>Todo se verifica</a:t>
            </a:r>
          </a:p>
          <a:p>
            <a:pPr algn="l">
              <a:lnSpc>
                <a:spcPct val="120000"/>
              </a:lnSpc>
              <a:spcBef>
                <a:spcPts val="700"/>
              </a:spcBef>
            </a:pPr>
            <a:r>
              <a:rPr sz="1560" b="0">
                <a:solidFill>
                  <a:srgbClr val="33475B"/>
                </a:solidFill>
                <a:latin typeface="Aptos"/>
              </a:rPr>
              <a:t>Lo que el documento afirma está en el repositorio</a:t>
            </a:r>
          </a:p>
        </p:txBody>
      </p:sp>
      <p:sp>
        <p:nvSpPr>
          <p:cNvPr id="16" name="TextBox 15"/>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Proyecto ABP</a:t>
            </a:r>
          </a:p>
        </p:txBody>
      </p:sp>
      <p:sp>
        <p:nvSpPr>
          <p:cNvPr id="17" name="TextBox 16"/>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32 / 32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Institucional-con-advertencia-Vigilado-Mineducacion-Blanco.png"/>
          <p:cNvPicPr>
            <a:picLocks noChangeAspect="1"/>
          </p:cNvPicPr>
          <p:nvPr/>
        </p:nvPicPr>
        <p:blipFill>
          <a:blip r:embed="rId2"/>
          <a:stretch>
            <a:fillRect/>
          </a:stretch>
        </p:blipFill>
        <p:spPr>
          <a:xfrm>
            <a:off x="5144780" y="914400"/>
            <a:ext cx="1902439" cy="1737360"/>
          </a:xfrm>
          <a:prstGeom prst="rect">
            <a:avLst/>
          </a:prstGeom>
        </p:spPr>
      </p:pic>
      <p:sp>
        <p:nvSpPr>
          <p:cNvPr id="4" name="TextBox 3"/>
          <p:cNvSpPr txBox="1"/>
          <p:nvPr/>
        </p:nvSpPr>
        <p:spPr>
          <a:xfrm>
            <a:off x="457200" y="3200400"/>
            <a:ext cx="11274552" cy="1097280"/>
          </a:xfrm>
          <a:prstGeom prst="rect">
            <a:avLst/>
          </a:prstGeom>
          <a:noFill/>
        </p:spPr>
        <p:txBody>
          <a:bodyPr wrap="square" anchor="t" lIns="0" rIns="0" tIns="0" bIns="0">
            <a:spAutoFit/>
          </a:bodyPr>
          <a:lstStyle/>
          <a:p>
            <a:pPr algn="ctr"/>
            <a:r>
              <a:rPr sz="5400" b="1">
                <a:solidFill>
                  <a:srgbClr val="FFFFFF"/>
                </a:solidFill>
                <a:latin typeface="Aptos Display"/>
              </a:rPr>
              <a:t>¿Preguntas?</a:t>
            </a:r>
          </a:p>
        </p:txBody>
      </p:sp>
      <p:sp>
        <p:nvSpPr>
          <p:cNvPr id="5" name="TextBox 4"/>
          <p:cNvSpPr txBox="1"/>
          <p:nvPr/>
        </p:nvSpPr>
        <p:spPr>
          <a:xfrm>
            <a:off x="457200" y="4709160"/>
            <a:ext cx="11274552" cy="457200"/>
          </a:xfrm>
          <a:prstGeom prst="rect">
            <a:avLst/>
          </a:prstGeom>
          <a:noFill/>
        </p:spPr>
        <p:txBody>
          <a:bodyPr wrap="square" anchor="t" lIns="0" rIns="0" tIns="0" bIns="0">
            <a:spAutoFit/>
          </a:bodyPr>
          <a:lstStyle/>
          <a:p>
            <a:pPr algn="ctr"/>
            <a:r>
              <a:rPr sz="1400" b="0">
                <a:solidFill>
                  <a:srgbClr val="E8E8E8"/>
                </a:solidFill>
                <a:latin typeface="Aptos"/>
              </a:rPr>
              <a:t>Jesús Ariel González Bonilla  ·  ariel5253@hotmail.com</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7b9d0d2-0928-4bc7-b1e7-d815d07dd502" xsi:nil="true"/>
    <lcf76f155ced4ddcb4097134ff3c332f xmlns="3b21ab7c-7e7a-493b-a43f-a219844d5b04">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76AC4B3079F3F14986B23BC4E8B1044F" ma:contentTypeVersion="16" ma:contentTypeDescription="Crear nuevo documento." ma:contentTypeScope="" ma:versionID="04f898694b3caf94c38805e82f5c0fb9">
  <xsd:schema xmlns:xsd="http://www.w3.org/2001/XMLSchema" xmlns:xs="http://www.w3.org/2001/XMLSchema" xmlns:p="http://schemas.microsoft.com/office/2006/metadata/properties" xmlns:ns2="3b21ab7c-7e7a-493b-a43f-a219844d5b04" xmlns:ns3="c7b9d0d2-0928-4bc7-b1e7-d815d07dd502" targetNamespace="http://schemas.microsoft.com/office/2006/metadata/properties" ma:root="true" ma:fieldsID="1d46ddd55854086af038f8f8e7145c9b" ns2:_="" ns3:_="">
    <xsd:import namespace="3b21ab7c-7e7a-493b-a43f-a219844d5b04"/>
    <xsd:import namespace="c7b9d0d2-0928-4bc7-b1e7-d815d07dd50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21ab7c-7e7a-493b-a43f-a219844d5b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c63f703e-4260-42db-90e1-1bf1f8b4f72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7b9d0d2-0928-4bc7-b1e7-d815d07dd502"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element name="TaxCatchAll" ma:index="14" nillable="true" ma:displayName="Taxonomy Catch All Column" ma:hidden="true" ma:list="{22966853-71d8-4c3c-a2a1-eb1a25e46692}" ma:internalName="TaxCatchAll" ma:showField="CatchAllData" ma:web="c7b9d0d2-0928-4bc7-b1e7-d815d07dd50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A55C560-F379-4979-BDAB-85ADD41BF196}">
  <ds:schemaRefs>
    <ds:schemaRef ds:uri="http://schemas.microsoft.com/office/2006/metadata/properties"/>
    <ds:schemaRef ds:uri="http://schemas.microsoft.com/office/infopath/2007/PartnerControls"/>
    <ds:schemaRef ds:uri="c7b9d0d2-0928-4bc7-b1e7-d815d07dd502"/>
    <ds:schemaRef ds:uri="3b21ab7c-7e7a-493b-a43f-a219844d5b04"/>
  </ds:schemaRefs>
</ds:datastoreItem>
</file>

<file path=customXml/itemProps2.xml><?xml version="1.0" encoding="utf-8"?>
<ds:datastoreItem xmlns:ds="http://schemas.openxmlformats.org/officeDocument/2006/customXml" ds:itemID="{5203D28F-282C-474C-8EAC-7F31992D2966}">
  <ds:schemaRefs>
    <ds:schemaRef ds:uri="http://schemas.microsoft.com/sharepoint/v3/contenttype/forms"/>
  </ds:schemaRefs>
</ds:datastoreItem>
</file>

<file path=customXml/itemProps3.xml><?xml version="1.0" encoding="utf-8"?>
<ds:datastoreItem xmlns:ds="http://schemas.openxmlformats.org/officeDocument/2006/customXml" ds:itemID="{10F9C096-F130-4ECE-8018-26CD4E103B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21ab7c-7e7a-493b-a43f-a219844d5b04"/>
    <ds:schemaRef ds:uri="c7b9d0d2-0928-4bc7-b1e7-d815d07dd50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14</TotalTime>
  <Words>0</Words>
  <Application>Microsoft Office PowerPoint</Application>
  <PresentationFormat>Panorámica</PresentationFormat>
  <Paragraphs>0</Paragraphs>
  <Slides>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vt:i4>
      </vt:variant>
    </vt:vector>
  </HeadingPairs>
  <TitlesOfParts>
    <vt:vector size="7" baseType="lpstr">
      <vt:lpstr>Aptos</vt:lpstr>
      <vt:lpstr>Aptos Display</vt:lpstr>
      <vt:lpstr>Arial</vt:lpstr>
      <vt:lpstr>Tema de Office</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acomunicaciones</dc:creator>
  <cp:lastModifiedBy>Oficina de Comunicaciones</cp:lastModifiedBy>
  <cp:revision>6</cp:revision>
  <dcterms:created xsi:type="dcterms:W3CDTF">2026-01-26T14:49:45Z</dcterms:created>
  <dcterms:modified xsi:type="dcterms:W3CDTF">2026-02-13T20:05:23Z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0x01010076AC4B3079F3F14986B23BC4E8B1044F</vt:lpwstr>
  </property>
</Properties>
</file>
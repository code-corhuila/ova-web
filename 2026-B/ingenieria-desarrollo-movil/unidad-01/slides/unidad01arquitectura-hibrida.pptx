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Abrir con la pregunta del título y esperar respuestas: en la Bitácora el técnico toma la foto de una visita; ¿qué archivo llama a la cámara?, ¿quién guarda la ruta?, ¿qué pasa si niega el permiso o si no hay señal? Casi todos dirán «en la página»: esa respuesta es justo la que la unidad desmonta. Presentar la app de referencia: es la misma en toda la OVA y en este deck; registra visitas técnicas, sus usuarios trabajan en zonas rurales con señal intermitente y por eso el modo sin conexión condiciona la arquitectura desde el primer día. Mensaje de encuadre: este no es un curso de componentes de Ionic, es un curso de arquitectura móvil; cada tema se mira preguntando qué decisión implica, en qué capa vive y cómo se deja por escrito. La columna vertebral es el marco de gobierno móvil del curso (seis secciones, de 00 Gobierno a 05 Release) y su método, SDD: el diseño precede al código.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Leer en voz de capacidad, no de contenido. Aclarar qué es este documento: material de apoyo de la unidad completa, no el guion de la hora; en el encuentro se recorre una parte y el resto queda para estudiar. Ruta de la unidad: el material institucional recorre cuatro bloques (1. desarrollo híbrido, Ionic, Capacitor, frameworks y beneficios; 2. anatomía del proyecto, organización modular, rutas, lazy loading y Clean Code; 3. herramientas: Ionic CLI, Capacitor, Android Studio y Xcode; 4. ejecución y depuración en simuladores y dispositivos) y aquí se estudian los mismos cuatro con la lente arquitectónica, más un agregado del curso: gobierno y método SDD. Recorrido sugerido en vivo (el encuentro también lanza el proyecto de aula con su propio deck): imprescindibles 1 a 4, 7 a 10, 15, 17, 22, 25, 35, 44 y 45, con las preguntas en vivo 8, 14 y 31; si sobra tiempo, 11, 13, 18, 19, 26, 28, 34, 40 y 43. Todo lo demás es de consulta: las notas de cada slide lo marcan.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breve: el lanzamiento del proyecto de aula tiene su propio deck; aquí solo la mención y el puente al H1. El proyecto se hace por parejas sobre un problema libre y debe cumplir ocho mínimos; ninguno es una funcionalidad: todos son decisiones de arquitectura verificables (el mínimo 2 incluye la regla de dependencias). El H1 (Actividad de aprendizaje 1, 20 %) vence el domingo 18 de octubre a las 11:59 p. m.: secciones 00 Gobierno y 01 Arquitectura del marco, más backlog priorizado y prototipo; la guía completa está en la Guía del proyecto de aula de la OVA. El H4 es la entrega final del proyecto de aula: cada pareja diligencia el Informe del proyecto de aula (FO-IV-159), el formato institucional «Informe de proyectos de aula», y adjunta un .zip de anexos con fotos o capturas, el documento técnico del marco 00–05 en PDF, el repositorio, el AAB/APK firmado y el video; vence el domingo 8 de noviembre y se socializa el viernes 6 de noviembre. La metodología de trabajo la elige cada pareja. Calendario: la Unidad 1 va del 5 al 11 de octubre; Encuentro 1 el viernes 9 de octubre de 6:00 a 7:00 p. m. por meet.google.com/pzh-kxer-pnx; la práctica opcional se trabaja del 9 al 11 de octubre; el Encuentro 2 (viernes 16 de octubre) incluye la clínica del H1.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material define el desarrollo híbrido como crear apps para iOS y Android con un solo conjunto de tecnologías web, ejecutadas en un contenedor nativo mediante un WebView; para razonar sobre arquitectura conviene precisarlo con esta definición operativa. Para la tienda y el sistema es una app nativa: se instala, se firma, pide permisos y tiene ciclo de vida; por eso el material la llama «híbrida nativa». Su interfaz no son componentes del sistema: es HTML y CSS que imitan Material Design (Android) y las Human Interface Guidelines (iOS). Todo lo que el WebView no ofrece cruza el puente hacia código nativo, organizado en plugins; esa frontera concentra los costos, los riesgos y buena parte de las decisiones de la unidad. Pregunta para lanzar: ¿una PWA es híbrida? No: no es un binario instalable desde la tienda.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basta recorrer la columna de la derecha. La primera columna es literal del material institucional; las otras dos la leen como intercambio: no existe el beneficio gratuito. La fila que más se olvida es la primera: «una sola base de código» no elimina `android/` ni `ios/`, que siguen siendo proyectos que se mantienen. La última fila es la tesis de la unidad: la modularidad que promete el framework solo existe si la arquitectura se decide; el framework no la impone solo.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Detalle de cada celda: nativo es Kotlin y Swift, una base por plataforma, todas las APIs desde el primer día, máximo rendimiento, dos especialidades y todo se hace dos veces. Híbrido es Ionic + Capacitor: una base web más proyectos nativos delgados, HTML y CSS en el WebView, APIs por plugins (lo que falta se escribe en Kotlin o Swift), suficiente para formularios y listas con techo en gráficos pesados, se distribuye en tiendas porque es un binario nativo, equipo web con TypeScript y Angular, React o Vue; su riesgo es el techo de rendimiento y la calidad de los plugins. Multiplataforma: Flutter dibuja con un motor gráfico propio y React Native con vistas nativas; una base en Dart o TypeScript, riesgo de depender del motor y su ecosistema. PWA: una base web que dibuja el navegador, solo las APIs del navegador (iOS restringe más), se instala desde una URL; su riesgo son las capacidades y la ausencia en tiendas.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Detalle: animaciones complejas a 60–120 fps sostenidos; visión por computador sobre el video, audio de baja latencia o sensores a alta frecuencia; Bluetooth continuo o rastreo permanente, que dependen de reglas finas de cada sistema; widgets, extensiones, integración con el reloj o el auto; APIs del sistema desde su lanzamiento, cuando aún no existe plugin y el equipo no sabe escribirlo. Aplicarlo a la Bitácora: formularios, listas, una foto, una coordenada, modo offline, dos plataformas y un equipo pequeño que domina TypeScript; nada supera el techo del WebView, así que el híbrido es defendible, y esa defensa se escribe en un ADR (sección del framework, slides 33 a 35). Elegirlo «porque es más barato», sin revisar qué lo descartaría, es una decisión por defecto.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Ningún requisito de la app exige algo que el WebView no pueda dar. La decisión se justifica por descarte: formularios, listas, foto y GPS están dentro de lo que el WebView y los plugins resuelven bien, y una sola base de código reduce el costo para un equipo pequeño. Si un requisito superara ese techo (3D, procesamiento de video en tiempo real), ningún ahorro lo compensaría. EN VIVO. Es una app de inspecciones. Votar antes de revelar. La opción A es la tentación clásica: el híbrido no se defiende por rendimiento, se defiende porque ningún requisito lo descarta. La D vuelve en la diapositiva de Capacitor frente a Cordova: los proyectos nativos existen y se versionan.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Recorrer de arriba abajo. Ionic es la capa de interfaz: Web Components que adoptan el estilo de cada plataforma (modo md en Android, ios en Apple) al ejecutar. Angular estructura la aplicación: rutas, inyección de dependencias y estado; ahí vive todo tu código, organizado como presentation, domain y data. El WebView del sistema (Android System WebView o WKWebView en iOS) sirve la carpeta www/ desde un origen local. La doble línea del diagrama de la OVA es el puente de Capacitor: una llamada JS se convierte en mensaje serializado, llega a un método nativo y vuelve como promesa; es asíncrono. Debajo, los plugins nativos en Kotlin o Java (Android) y Swift (iOS), como @capacitor/camera, y al fondo las APIs del sistema operativo con sus permisos. Analogía: el puente es una aduana; todo lo que cruza se declara, se empaqueta y tarda.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Capa de cada paso: 1 presentation; 2 domain (TypeScript puro); 3 data, la única capa que importa Capacitor; 4 el puente, asíncrono; 5 Kotlin o Swift; 6 el sistema operativo; 7 vuelve de nativo al puente; 8 sube de data a domain y a presentation. Consecuencias: el puente es asíncrono y serializa, cada llamada cuesta, no se invoca un plugin en un bucle y los datos pesados viajan como ruta de archivo, no como base64. El permiso lo concede el sistema, no el WebView: se declara en AndroidManifest.xml e Info.plist y se pide en el momento de uso (Unidad 3). La app se sirve desde un origen local (https://localhost en Android, capacitor://localhost en iOS): el backend debe admitirlo en su política CORS. El WebView cambia según el dispositivo: en Android se actualiza desde la tienda y en iOS viaja con el sistema; la versión mínima soportada es una decisión que se registra.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Un plugin de Capacitor es un paquete npm que expone una capacidad nativa mediante un contrato TypeScript y la implementa en cada plataforma. Para la arquitectura es infraestructura, igual que HttpClient: en la Bitácora ningún plugin se importa fuera de un adaptador; el dominio declara un puerto en su idioma (Camara, Ubicacion) y el adaptador lo implementa con Capacitor. La Unidad 3 desarrolla puertos, adaptadores y permisos. Enlace con el error que se provoca: si la página importa @capacitor/camera directamente, la prueba de esa página exige un teléfono.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Hay tres tipos de plugin: oficiales (@capacitor/camera, @capacitor/geolocation, @capacitor/network), comunitarios (su mantenimiento es un riesgo que se evalúa) y propios, que el material destaca y que se escriben en Kotlin/Java o Swift. El ejemplo es el que la Bitácora necesitaría para leer un medidor de campo con el SDK nativo de su fabricante: el contrato TypeScript define leer() y devuelve una promesa; la clase Kotlin se registra con el mismo nombre, valida el parámetro, llama al SDK y resuelve la promesa con valor y unidad. En iOS, una clase Swift (CAPPlugin) expone el mismo jsName «MedidorCampo». Señalar que el nombre registrado es el contrato entre los dos lados del puente.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solo la primera fila; el resto es de consulta. En Cordova los proyectos nativos se regeneran desde config.xml y lo editado a mano se pierde; en Capacitor son código fuente que se abre en Android Studio o Xcode. La configuración de Capacitor vive en capacitor.config.ts más AndroidManifest.xml e Info.plist. Cordova sigue mantenido, pero ya no es la ruta que recomienda Ionic; Capacitor admite buena parte de los plugins de Cordova. Cambios manuales típicos que deben quedar en el historial: permisos, íconos y firma. Borrar android/ e ios/ y recrearlos es un error de gobierno.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llamada cruza el puente serializada y la ejecuta el plugin nativo. Capacitor convierte la llamada en un mensaje asíncrono hacia la implementación nativa del plugin (Kotlin/Java o Swift), que pide el permiso al sistema, usa la API y resuelve la promesa en el WebView. Por eso cada llamada cuesta y los datos grandes conviene pasarlos como ruta de archivo. EN VIVO. Si eligen la C, aclarar que nada se traduce al compilar: el código nativo del plugin ya existe y el puente lo invoca en tiempo de ejecución.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SDD (Software Design Documentation) es el método del marco de gobierno móvil del curso. Tres principios: diseño antes del código (un documento de diseño revisado es el requisito para empezar una feature); documentación viva (se actualiza con cada cambio: un documento desactualizado es un defecto escrito en prosa); trazabilidad (cada pantalla tiene una historia, cada historia tiene criterios y cada criterio tiene una prueba). En el diagrama de la OVA el ciclo se cierra: cada cambio vuelve al diseño. Pregunta para lanzar: ¿cuántos han documentado un proyecto la noche antes de entregarlo? Eso es el orden tradicional.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las dos filas del H1. Preguntas completas: 00, ¿qué es una historia «lista» y «hecha», y qué reglas son innegociables?; 01, ¿dónde va el código de una feature nueva y qué capa depende de cuál?; 02, ¿de dónde salen colores y textos, y cómo se garantiza la accesibilidad?; 03, ¿dónde viven los tokens y qué pasa cuando no hay señal?; 04, ¿qué se prueba, en qué nivel y cómo se detecta una regresión?; 05, ¿cómo se convierte un commit en un build firmado y cómo se observa? Gobierno incluye reglas de seguridad; calidad incluye presupuestos de rendimiento. El H1 pide exactamente 00 y 01.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La definición de listo (DoR) se aplica antes de que una historia entre al sprint y evita programar algo que nadie terminó de pensar. La definición de hecho (DoD) se aplica antes de cerrar una historia y evita el «ya casi está» que nunca termina. Una historia que no cumple toda la definición de hecho no está hecha. En móvil, la casilla que más se salta es la de los estados sin conexión y de error: sin ellos, la primera visita al campo termina en una pantalla en blanco. Pregunta: ¿qué pantalla de su app de trabajo no tiene estado de error?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La historia completa: «Como técnico de campo, quiero registrar una visita aunque no tenga señal, para no perder la evidencia» (backlog.md, prioridad Must, 5 puntos). CA-1: dado que no hay conexión, cuando guardo una visita válida, entonces queda como «pendiente de sincronizar». CA-2: dado que negué el permiso de ubicación, cuando guardo, entonces se guarda sin coordenadas y con un aviso. La pantalla tiene su ficha en pantallas/registro-visita.md, y en el historial el commit docs(visitas) va ANTES que feat(visitas). Un criterio bien escrito se convierte casi literalmente en una prueba, y la prueba nombra la historia: si falla en CI, dice qué promesa al usuario se rompió. El repositorio en memoria es un fake del contrato del dominio: la prueba no necesita teléfono ni backend.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 diseño revisado, con historias y criterios de aceptación verificables. SDD invierte el orden tradicional: el diseño revisado es requisito para empezar. La documentación se mantiene viva y se traza: cada pantalla a una historia, cada historia a criterios verificables y cada criterio a una prueba. EN VIVO si hay tiempo; si no, queda de repaso. La A es la respuesta del orden tradicional y por eso vale la pena discutirla.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Rutas completas: src/main.ts, src/app/app.config.ts, src/app/app.routes.ts, src/app/app.component.ts, src/theme/variables.scss; package.json con package-lock.json. Dos piezas más sin decisiones propias: src/assets/ (imágenes, fuentes e íconos) e ionic.config.json (tipo de proyecto para Ionic CLI). main.ts es una sola línea: bootstrapApplication(AppComponent, appConfig).catch(err =&gt; console.error(err)). En capacitor.config.ts de la Bitácora: appId 'co.edu.corhuila.bitacora', que es la identidad en las tiendas y no cambia tras publicar; appName 'Bitácora de Campo'; webDir 'www', que debe coincidir con la salida del build de Angular (si no, pantalla en blanco: ver errores de entorno).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pero mencionarlo en vivo: el PDF institucional es la base temática, pero algunas APIs que menciona cambiaron. Con Ionic 9, Angular 22 y Capacitor 8 se escribe como en la columna derecha. Si un tutorial muestra NgModule o *ngFor, es anterior a esta versión: sirve para entender la idea, no para copiar. SPM es Swift Package Manager.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material recomienda organizar en pages/, components/, services/ y models/, y entre sus buenas prácticas pide agrupar archivos por dominio; las dos ideas chocan cuando la app crece: con carpetas por tipo, una funcionalidad queda repartida en cuatro sitios y nada impide que todo dependa de todo. El marco resuelve el choque así: pages/ pasa a features/&lt;feature&gt;/presentation/; components/ va a presentation/ si es de una feature o a shared/ si la usan varias y no tiene negocio; services/ con lógica de negocio pasa a domain/ como casos de uso; services/ que hablan con una API pasan a data/ como repositorios; services/ que guardan estado de pantalla pasan a presentation/ como ViewModel (Unidad 2); models/ e interfaces/ se separan en entidades (domain/) y DTO (data/): no son lo mismo. core/ contiene di/ (raíz de composición), network/ (HTTP e interceptores), auth/ (sesión y guard), storage/, nativo/ y theme/. Prueba rápida: si borras features/ajustes/ y se rompe algo más que la ruta que la carga, hay un import cruzado que no debía existir.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señalar el guard y el único cliente HTTP. RouteReuseStrategy con IonicRouteStrategy da la pila de páginas y provideIonicAngular() aplica el modo md o ios automáticamente. La navegación del material (pila de páginas al estilo nativo, rutas y lazy loading) queda en pocos archivos. Cada loadComponent produce un fragmento de JavaScript aparte: el arranque solo descarga la estructura y el resto llega cuando se necesita. ion-router-outlet con IonicRouteStrategy mantiene las páginas en pila y respeta el botón atrás de Android y el gesto de borde de iOS. La tabla de rutas tiene un espejo en navegacion.md (sección 01). La tabla completa de la OVA incluye además 'login', el detalle 'visitas/:id', la redirección de '' a 'visitas' y el comodín '**', que también redirige a 'visitas'; los imports de app.config.ts están en la OVA.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que deja a `shared/` sin lógica de negocio ni casos de uso. `shared/` contiene UI reutilizable sin negocio: recibe datos por `input()` y emite eventos por `output()`. Si inyecta un caso de uso de visitas, queda acoplado a esa feature y deja de ser compartible; la página de la feature consulta y le pasa los datos. CONSULTA, de repaso. La C es una trampa deliberada: NgModule ya no es la forma vigente (ver la tabla de lo vigente en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material pide separar la lógica de negocio de la interfaz y evitar lógica compleja en los archivos de interfaz; la sección 01 del marco convierte ese consejo en una regla verificable: tres capas por feature y una sola dirección de dependencias. Data también depende del dominio: implementa su contrato. Detalle de la tabla: presentation nunca contiene HttpClient, plugins ni DTO del backend; data implementa red, caché, plugins y mapeo, y nunca contiene componentes, rutas ni decisiones de UI. Analogía: el dominio es el contrato de arrendamiento; la casa (data) y los inquilinos (presentation) se adaptan a él, nunca al revés.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solo el contrato; el caso de uso, de consulta. Archivos: features/visitas/domain/, sin @angular/* ni @capacitor/*. Un caso de uso es una acción de negocio (ListarVisitas, RegistrarVisita): puro, delgado y probable sin infraestructura; aquí la regla de negocio es ordenar de la más reciente a la más antigua sin mutar el arreglo recibido. Una decisión que conviene dejar explícita: el dominio usa Observable de RxJS como tipo de asincronía, porque es una librería de flujos, no de infraestructura; lo que el dominio nunca importa es @angular/*, @ionic/*, @capacitor/* ni HttpClient. Usar Promise también es defendible: lo importante es decidirlo una vez y registrarlo.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señalar la línea del mapper. Archivos en features/visitas/data/. El DTO es el espejo del JSON del backend (cliente_nombre, fecha_iso, estados P, R y C, que el Record ESTADOS traduce a programada, realizada y cancelada) y nunca sale de esta carpeta; el mapper lo convierte en la entidad Visita, con los nombres y tipos del dominio. El adaptador implementa el contrato VisitasRepository con HttpClient. Ejemplo para provocar: si el backend renombra cliente_nombre, se tocan el DTO y el mapper, y ni el dominio ni la pantalla se enteran.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¿Tanta ceremonia para una lista? Se cobra durante el semestre: ListarVisitas se prueba con un repositorio en memoria, sin backend; en la Unidad 2 la Bitácora agrega caché offline cambiando una línea de la raíz de composición (useClass apunta a otra implementación); y si el backend renombra un campo, se tocan el DTO y el mapper, sin que el dominio ni la pantalla se enteren. La raíz de composición es el único lugar que conoce las implementaciones concretas; la ruta 'visitas' la carga con providers: visitasProviders.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basta la primera fila y el lint. Sexto error de la OVA: shared/tarjeta-visita inyecta ListarVisitas; rompe la regla de que shared/ no tiene lógica de negocio y se corrige con input() y output() (es la pregunta 24). Detalle: el import prohibido en domain/ es import { Geolocation } from '@capacitor/geolocation'; un caso de uso tampoco debe inyectar Router: devuelve un resultado o un error y la presentación decide; el import cruzado es features/visitas importando de features/auth/data. La regla que no se automatiza, se viola: este fragmento hace fallar el lint (el mensaje completo de la OVA dice «declara un contrato y deja que data/ lo implemente»), y con él el PR, cuando el dominio importa un framework; para las flechas entre capas y entre features, eslint-plugin-boundaries permite declarar las dependencias permitidas.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con mención en vivo porque lo pide el H1. La Actividad 1 pide un diagrama de arquitectura «tipo C4 o UML»; el modelo C4 propone niveles de zoom y para el H1 bastan tres. Nivel 1: el sistema, sus usuarios (técnico, supervisor) y los sistemas externos (API de visitas, servicio de mapas). Nivel 2: lo que se despliega y cómo se comunica (app móvil Ionic + Capacitor, API REST, base de datos). Nivel 3: las piezas internas de un contenedor: features y capas de la app, con la regla de dependencias. El flujo de la diapositiva es un ejemplo de nivel 1 con el verbo en cada relación. La práctica opcional de esta unidad pide el diagrama de contexto de tu app.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presentación depende de data y el DTO del backend llega a la vista. La presentación solo depende del dominio. El acceso HTTP va en un repositorio de la capa de datos y el mapper convierte el DTO en la entidad `Visita`; así un cambio de la API se contiene en un archivo y la pantalla se prueba con un repositorio falso. EN VIVO. Es el error más frecuente en los proyectos y el primero que se revisa en el H1. Pedir que nombren las dos correcciones: repositorio en data y mapper hacia la entidad.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Las interfaces se borran al compilar y no sirven como token de DI. La inyección de dependencias de Angular resuelve por un valor que exista en tiempo de ejecución. Una interfaz de TypeScript desaparece al compilar; una clase abstracta (o un `InjectionToken`) permanece, y sigue siendo TypeScript puro, sin importar Angular en el dominio. CONSULTA, de repaso. Refuerza el comentario del código del dominio.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la última fila. Ionic permite trabajar con Angular, React o Vue, y el material afirma que el éxito del proyecto depende en gran medida de esa elección. Por eso no se toma «por gusto»: cambiarla después equivale a reescribir toda la capa de presentación. Angular trae providers jerárquicos y router con guards; React deja a elección librerías como React Hook Form o el Context API; Vue usa v-model más librerías para formularios. El riesgo de React no es técnico sino de gobierno: si las librerías no se fijan por ADR, cada pareja arma un stack distinto.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Es la matriz de la Bitácora, con puntaje de 1 a 5 multiplicado por el peso. Criterios completos: estructura incluida (rutas, DI, formularios, HTTP); DI nativa para sustituir contratos por fakes; experiencia de la pareja; madurez de la integración con Ionic; curva de aprendizaje y tamaño del bundle. Provocar: si la pareja domina React y sube «experiencia» a peso 3, ¿cambia el ganador? Que hagan la cuenta: la discusión real es sobre los pesos, no sobre los totales. Y la experiencia de la pareja es un criterio legítimo, no un capricho.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 ADR (Architecture Decision Record) documenta una sola decisión con las partes de la plantilla del marco: encabezado (ID, fecha, estado y autores; aquí, la pareja del proyecto Bitácora de Campo, que es la fila azul), contexto con sus restricciones, decisión en una frase con su justificación, alternativas evaluadas con la razón del descarte, consecuencias positivas y negativas (al menos una) e impacto, y referencias. Contexto completo: formularios con reglas de negocio; debe probarse sin dispositivo; restricciones: pareja con experiencia en TypeScript y cinco semanas; hay que elegir antes de crear el proyecto porque cambiar después es reescribir la UI, y debe mantenerse por personas que rotan. Alternativa (a), React con @ionic/react: ecosistema enorme, descartada porque estado, rutas, formularios y DI se arman con librerías a elegir (más ADR, más riesgo de inconsistencia). Alternativa (b), Vue con @ionic/vue: curva amable, descartada porque provide/inject es más limitado para sustituir contratos en pruebas. Consecuencias: casos de uso y ViewModels probables con fakes inyectados; curva más alta en DI, RxJS y signals para quien llegue; las actualizaciones semestrales de Angular se planean en 05 Release. Un ADR aceptado no se borra: si la decisión cambia, se marca «Reemplazado por ADR-NNN» y se escribe uno nuevo. En la Bitácora los demás ADR son 001 estado, 002 persistencia, 003 navegación y 004 tokens. En tu proyecto el ADR del patrón de estado es obligatorio y se exigen al menos tres; el del framework es un candidato natural, junto con navegación, persistencia local o almacenamiento seguro de tokens. La plantilla en español está en las Plantillas del proyecto de la OVA.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Contexto, alternativas descartadas con su razón y costos asumidos. Un ADR captura el contexto y sus restricciones, una decisión en una frase, las alternativas evaluadas con la razón del descarte y las consecuencias positivas y negativas. Sin alternativas ni costos no hay decisión, solo preferencia. CONSULTA, de repaso; si sobra tiempo, lanzarla: es la que más se relaciona con la nota del H1.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Las buenas prácticas del material, leídas como gobierno: Git desde el primer minuto con un .gitignore adecuado, un README que permita ejecutar la app sin preguntar, dependencias revisadas con npm outdated y ninguna instalación global que el proyecto no declare. La versión de Node se fija en .nvmrc y en el campo engines de package.json. Pregunta: ¿quién ha recibido un proyecto que «en mi máquina sí corre»? Este slide es la vacuna.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el flujo. El último salto se hace con npx cap run, Android Studio o Xcode. El CLI genera por TIPO; tú decides DÓNDE, con la ruta de la feature y la capa: por eso el generate lleva features/visitas/presentation/. El live reload con -l --external exige que el PC y el teléfono estén en la misma red. El flujo explica el error más común de entorno: si cambias src/ y no corres build y sync, el teléfono sigue mostrando lo anterior o una pantalla en blanco.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Detalle de las filas combinadas: npx cap copy copia solo www/ a los proyectos nativos y basta para cambios de código web; npx cap sync hace copy y además actualiza las dependencias nativas, y va tras instalar o quitar un plugin. npx cap open android o ios abre Android Studio o Xcode para compilar, firmar o ver logs nativos; npx cap run android o ios compila e instala en emulador o dispositivo. ionic doctor check y npx cap doctor diagnostican el proyecto y Capacitor.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En el navegador, agregar ?ionic:mode=ios a la URL muestra el modo iOS. Emuladores: AVD Manager (Android) e iOS Simulator; validan además las versiones del sistema. El dispositivo físico es la referencia: valida también los permisos tal como los maneja cada fabricante. Depuración: chrome://inspect para Android, Web Inspector de Safari para iOS, Logcat y la consola de Xcode. El navegador no valida el origen ni el CORS de Capacitor: por eso una API que responde en ionic serve puede fallar en el teléfono. La validación inicial que propone el material (guías de cada plataforma, fluidez de navegación y formularios, estilos por sistema, consola limpia) es el embrión del checklist de release.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para tener a mano durante la práctica. Detalle: con pantalla en blanco, revisar también que webDir en capacitor.config.ts coincida con la salida del build; el mensaje completo es «plugin is not implemented on android»; Gradle también puede rechazar la versión de Java si el JDK no es el requerido; la depuración USB se activa en Opciones de desarrollador; con la API, localhost apunta al teléfono, el HTTP en claro está bloqueado o el CORS no admite el origen de Capacitor; en iOS el mensaje es «Signing requires a development team». Que se vea distinto en Android y en iOS es lo esperado: hay que revisar ambos modos.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`localhost` es el propio teléfono y el HTTP en claro está bloqueado. Dentro del dispositivo, `localhost` apunta al teléfono y no al PC; además Android e iOS bloquean por defecto el tráfico en claro. La corrección es una URL por entorno, HTTPS y un backend con CORS que admita el origen de Capacitor. CONSULTA, de repaso; si alguien ya chocó con este error en la práctica, lanzarla en el Encuentro 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si hay tiempo, como repaso rápido de toda la unidad. Correcciones completas: estructura por feature con capas, y lo común sube a core/ o shared/; un caso de uso en domain/, y la página pinta un estado y emite intenciones; puerto en el dominio y adaptador en data; DTO y mapper en data, y la vista solo conoce la entidad; ADR con contexto, alternativas descartadas y al menos una consecuencia negativa; versionar android/ e ios/, revisarlas en PR y documentar cada cambio manual; lo que toca permisos o plugins se verifica en emulador o dispositivo; con SDD el commit docs(...) va antes que el feat(...), y el historial lo demuestra. Pregunta: ¿cuál de los ocho ya cometieron en su trabajo?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el puente al H1. Detalle de la tabla: la descripción del proyecto va en docs/README.md y 00-gobierno/README.md; la estructura base, en estructura-del-proyecto.md y navegacion.md; el prototipo de interfaces son las fichas de pantallas/ y el backlog de al menos 10 historias priorizadas con MoSCoW va en 00-gobierno/backlog.md; el entorno de desarrollo y las pruebas iniciales, en el README.md raíz y la definición de hecho. Las plantillas en español están en las Plantillas del proyecto y el detalle del hito en la Guía del proyecto de aula, ambas en la OVA. El H1 vence el domingo 18 de octubre a las 11:59 p. 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Lo esencial cabe en una frase: el enfoque se elige por descarte de requisitos; el puente marca dónde están los costos; la estructura por feature y la regla de dependencias deciden dónde vive cada pieza; y el ADR convierte cada elección en un acuerdo verificable. Ruta de la semana: práctica opcional del 9 al 11 de octubre (incluye el diagrama de contexto C4 de tu app); Encuentro 2 el viernes 16 de octubre, misma hora y mismo enlace (meet.google.com/pzh-kxer-pnx), con la clínica del H1; el H1 vence el domingo 18 de octubre a las 11:59 p. m. Fuentes de la unidad (sección 11 de la OVA): Corporación Universitaria del Huila (2026), Unidad de aprendizaje 1: Arquitectura y desarrollo inicial de aplicaciones móviles con Ionic [PDF] y la Clase digital 1 en Moodle; documentación oficial de Angular, Apple Developer, Capacitor, Android Developers, Ionic, React y Vue.js; Sommerville (2011), Ingeniería de software; Aguilar (2020), Fundamentos de programación Plus; Pressman y Maxim (2021), Ingeniería de software Plus, en la biblioteca digital. Lecturas complementarias: Brown (2024), The C4 model for visualising software architecture; Nygard (2011), Documenting architecture decisions; Martin (2018), Arquitectura limpia; González Bonilla (2026), Marco de gobierno móvil del curso (secciones 00 y 01), disponible en las Plantillas del proyecto.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Arquitectura de una app móvil híbrida</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Ingeniería para el Desarrollo Móvil  ·  Jesús Ariel González Bonilla  ·  2026-B  ·  Unidad 1</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Ionic, Capacitor y Angular con el marco de gobierno móvil del curso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¿Quién decidió dónde va la foto?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Una app móvil no fracasa por la pantalla que le falta, sino por la estructura que nadie decidió.</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Bitácora de Campo</a:t>
            </a:r>
          </a:p>
          <a:p>
            <a:pPr algn="l">
              <a:lnSpc>
                <a:spcPct val="120000"/>
              </a:lnSpc>
              <a:spcBef>
                <a:spcPts val="700"/>
              </a:spcBef>
            </a:pPr>
            <a:r>
              <a:rPr sz="1518" b="0">
                <a:solidFill>
                  <a:srgbClr val="33475B"/>
                </a:solidFill>
                <a:latin typeface="Aptos"/>
              </a:rPr>
              <a:t>Registra visitas técnicas con formulario, foto y ubicación</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Sin señal</a:t>
            </a:r>
          </a:p>
          <a:p>
            <a:pPr algn="l">
              <a:lnSpc>
                <a:spcPct val="120000"/>
              </a:lnSpc>
              <a:spcBef>
                <a:spcPts val="700"/>
              </a:spcBef>
            </a:pPr>
            <a:r>
              <a:rPr sz="1518" b="0">
                <a:solidFill>
                  <a:srgbClr val="33475B"/>
                </a:solidFill>
                <a:latin typeface="Aptos"/>
              </a:rPr>
              <a:t>Zonas rurales: funcionar offline condiciona la arquitectura desde el día uno</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Tres features</a:t>
            </a:r>
          </a:p>
          <a:p>
            <a:pPr algn="l">
              <a:lnSpc>
                <a:spcPct val="120000"/>
              </a:lnSpc>
              <a:spcBef>
                <a:spcPts val="700"/>
              </a:spcBef>
            </a:pPr>
            <a:r>
              <a:rPr sz="1427" b="0">
                <a:solidFill>
                  <a:srgbClr val="156082"/>
                </a:solidFill>
                <a:latin typeface="Consolas"/>
              </a:rPr>
              <a:t>auth</a:t>
            </a:r>
            <a:r>
              <a:rPr sz="1518" b="0">
                <a:solidFill>
                  <a:srgbClr val="33475B"/>
                </a:solidFill>
                <a:latin typeface="Aptos"/>
              </a:rPr>
              <a:t>, </a:t>
            </a:r>
            <a:r>
              <a:rPr sz="1427" b="0">
                <a:solidFill>
                  <a:srgbClr val="156082"/>
                </a:solidFill>
                <a:latin typeface="Consolas"/>
              </a:rPr>
              <a:t>visitas</a:t>
            </a:r>
            <a:r>
              <a:rPr sz="1518" b="0">
                <a:solidFill>
                  <a:srgbClr val="33475B"/>
                </a:solidFill>
                <a:latin typeface="Aptos"/>
              </a:rPr>
              <a:t> y </a:t>
            </a:r>
            <a:r>
              <a:rPr sz="1427" b="0">
                <a:solidFill>
                  <a:srgbClr val="156082"/>
                </a:solidFill>
                <a:latin typeface="Consolas"/>
              </a:rPr>
              <a:t>ajustes</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Dos capacidades nativas</a:t>
            </a:r>
          </a:p>
          <a:p>
            <a:pPr algn="l">
              <a:lnSpc>
                <a:spcPct val="120000"/>
              </a:lnSpc>
              <a:spcBef>
                <a:spcPts val="700"/>
              </a:spcBef>
            </a:pPr>
            <a:r>
              <a:rPr sz="1518" b="0">
                <a:solidFill>
                  <a:srgbClr val="33475B"/>
                </a:solidFill>
                <a:latin typeface="Aptos"/>
              </a:rPr>
              <a:t>Cámara y geolocalización: justo lo que obliga a decidir</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Vas a poder</a:t>
                      </a:r>
                    </a:p>
                  </a:txBody>
                  <a:tcPr anchor="ctr" marL="146304" marR="146304">
                    <a:solidFill>
                      <a:srgbClr val="156082"/>
                    </a:solidFill>
                  </a:tcPr>
                </a:tc>
                <a:tc>
                  <a:txBody>
                    <a:bodyPr wrap="square"/>
                    <a:lstStyle/>
                    <a:p>
                      <a:r>
                        <a:rPr sz="1688" b="1">
                          <a:solidFill>
                            <a:srgbClr val="FFFFFF"/>
                          </a:solidFill>
                          <a:latin typeface="Aptos"/>
                        </a:rPr>
                        <a:t>Pregunta que responde</a:t>
                      </a:r>
                    </a:p>
                  </a:txBody>
                  <a:tcPr anchor="ctr" marL="146304" marR="146304">
                    <a:solidFill>
                      <a:srgbClr val="156082"/>
                    </a:solidFill>
                  </a:tcPr>
                </a:tc>
                <a:tc>
                  <a:txBody>
                    <a:bodyPr wrap="square"/>
                    <a:lstStyle/>
                    <a:p>
                      <a:r>
                        <a:rPr sz="1688" b="1">
                          <a:solidFill>
                            <a:srgbClr val="FFFFFF"/>
                          </a:solidFill>
                          <a:latin typeface="Aptos"/>
                        </a:rPr>
                        <a:t>Sección del marco</a:t>
                      </a:r>
                    </a:p>
                  </a:txBody>
                  <a:tcPr anchor="ctr" marL="146304" marR="146304">
                    <a:solidFill>
                      <a:srgbClr val="156082"/>
                    </a:solidFill>
                  </a:tcPr>
                </a:tc>
              </a:tr>
              <a:tr h="624927">
                <a:tc>
                  <a:txBody>
                    <a:bodyPr wrap="square"/>
                    <a:lstStyle/>
                    <a:p>
                      <a:r>
                        <a:rPr sz="1576" b="1">
                          <a:solidFill>
                            <a:srgbClr val="33475B"/>
                          </a:solidFill>
                          <a:latin typeface="Aptos"/>
                        </a:rPr>
                        <a:t>Elegir el enfoque con criterios explícitos</a:t>
                      </a:r>
                    </a:p>
                  </a:txBody>
                  <a:tcPr anchor="ctr" marL="146304" marR="146304">
                    <a:solidFill>
                      <a:srgbClr val="FFFFFF"/>
                    </a:solidFill>
                  </a:tcPr>
                </a:tc>
                <a:tc>
                  <a:txBody>
                    <a:bodyPr wrap="square"/>
                    <a:lstStyle/>
                    <a:p>
                      <a:r>
                        <a:rPr sz="1576" b="0">
                          <a:solidFill>
                            <a:srgbClr val="33475B"/>
                          </a:solidFill>
                          <a:latin typeface="Aptos"/>
                        </a:rPr>
                        <a:t>¿Qué compro y qué pago con el híbrido?</a:t>
                      </a:r>
                    </a:p>
                  </a:txBody>
                  <a:tcPr anchor="ctr" marL="146304" marR="146304">
                    <a:solidFill>
                      <a:srgbClr val="FFFFFF"/>
                    </a:solidFill>
                  </a:tcPr>
                </a:tc>
                <a:tc>
                  <a:txBody>
                    <a:bodyPr wrap="square"/>
                    <a:lstStyle/>
                    <a:p>
                      <a:r>
                        <a:rPr sz="1576" b="0">
                          <a:solidFill>
                            <a:srgbClr val="33475B"/>
                          </a:solidFill>
                          <a:latin typeface="Aptos"/>
                        </a:rPr>
                        <a:t>01 · decisiones (ADR)</a:t>
                      </a:r>
                    </a:p>
                  </a:txBody>
                  <a:tcPr anchor="ctr" marL="146304" marR="146304">
                    <a:solidFill>
                      <a:srgbClr val="FFFFFF"/>
                    </a:solidFill>
                  </a:tcPr>
                </a:tc>
              </a:tr>
              <a:tr h="624927">
                <a:tc>
                  <a:txBody>
                    <a:bodyPr wrap="square"/>
                    <a:lstStyle/>
                    <a:p>
                      <a:r>
                        <a:rPr sz="1576" b="1">
                          <a:solidFill>
                            <a:srgbClr val="33475B"/>
                          </a:solidFill>
                          <a:latin typeface="Aptos"/>
                        </a:rPr>
                        <a:t>Explicar UI, WebView, puente y plugin</a:t>
                      </a:r>
                    </a:p>
                  </a:txBody>
                  <a:tcPr anchor="ctr" marL="146304" marR="146304">
                    <a:solidFill>
                      <a:srgbClr val="F4F7FA"/>
                    </a:solidFill>
                  </a:tcPr>
                </a:tc>
                <a:tc>
                  <a:txBody>
                    <a:bodyPr wrap="square"/>
                    <a:lstStyle/>
                    <a:p>
                      <a:r>
                        <a:rPr sz="1576" b="0">
                          <a:solidFill>
                            <a:srgbClr val="33475B"/>
                          </a:solidFill>
                          <a:latin typeface="Aptos"/>
                        </a:rPr>
                        <a:t>¿Qué pasa entre TypeScript y el hardware?</a:t>
                      </a:r>
                    </a:p>
                  </a:txBody>
                  <a:tcPr anchor="ctr" marL="146304" marR="146304">
                    <a:solidFill>
                      <a:srgbClr val="F4F7FA"/>
                    </a:solidFill>
                  </a:tcPr>
                </a:tc>
                <a:tc>
                  <a:txBody>
                    <a:bodyPr wrap="square"/>
                    <a:lstStyle/>
                    <a:p>
                      <a:r>
                        <a:rPr sz="1576" b="0">
                          <a:solidFill>
                            <a:srgbClr val="33475B"/>
                          </a:solidFill>
                          <a:latin typeface="Aptos"/>
                        </a:rPr>
                        <a:t>01 · arquitectura</a:t>
                      </a:r>
                    </a:p>
                  </a:txBody>
                  <a:tcPr anchor="ctr" marL="146304" marR="146304">
                    <a:solidFill>
                      <a:srgbClr val="F4F7FA"/>
                    </a:solidFill>
                  </a:tcPr>
                </a:tc>
              </a:tr>
              <a:tr h="624927">
                <a:tc>
                  <a:txBody>
                    <a:bodyPr wrap="square"/>
                    <a:lstStyle/>
                    <a:p>
                      <a:r>
                        <a:rPr sz="1576" b="1">
                          <a:solidFill>
                            <a:srgbClr val="33475B"/>
                          </a:solidFill>
                          <a:latin typeface="Aptos"/>
                        </a:rPr>
                        <a:t>Diseñar antes de programar con SDD</a:t>
                      </a:r>
                    </a:p>
                  </a:txBody>
                  <a:tcPr anchor="ctr" marL="146304" marR="146304">
                    <a:solidFill>
                      <a:srgbClr val="FFFFFF"/>
                    </a:solidFill>
                  </a:tcPr>
                </a:tc>
                <a:tc>
                  <a:txBody>
                    <a:bodyPr wrap="square"/>
                    <a:lstStyle/>
                    <a:p>
                      <a:r>
                        <a:rPr sz="1576" b="0">
                          <a:solidFill>
                            <a:srgbClr val="33475B"/>
                          </a:solidFill>
                          <a:latin typeface="Aptos"/>
                        </a:rPr>
                        <a:t>¿Qué se decide antes de programar?</a:t>
                      </a:r>
                    </a:p>
                  </a:txBody>
                  <a:tcPr anchor="ctr" marL="146304" marR="146304">
                    <a:solidFill>
                      <a:srgbClr val="FFFFFF"/>
                    </a:solidFill>
                  </a:tcPr>
                </a:tc>
                <a:tc>
                  <a:txBody>
                    <a:bodyPr wrap="square"/>
                    <a:lstStyle/>
                    <a:p>
                      <a:r>
                        <a:rPr sz="1576" b="0">
                          <a:solidFill>
                            <a:srgbClr val="33475B"/>
                          </a:solidFill>
                          <a:latin typeface="Aptos"/>
                        </a:rPr>
                        <a:t>00 Gobierno</a:t>
                      </a:r>
                    </a:p>
                  </a:txBody>
                  <a:tcPr anchor="ctr" marL="146304" marR="146304">
                    <a:solidFill>
                      <a:srgbClr val="FFFFFF"/>
                    </a:solidFill>
                  </a:tcPr>
                </a:tc>
              </a:tr>
              <a:tr h="624927">
                <a:tc>
                  <a:txBody>
                    <a:bodyPr wrap="square"/>
                    <a:lstStyle/>
                    <a:p>
                      <a:r>
                        <a:rPr sz="1576" b="1">
                          <a:solidFill>
                            <a:srgbClr val="33475B"/>
                          </a:solidFill>
                          <a:latin typeface="Aptos"/>
                        </a:rPr>
                        <a:t>Estructurar por feature y por capas</a:t>
                      </a:r>
                    </a:p>
                  </a:txBody>
                  <a:tcPr anchor="ctr" marL="146304" marR="146304">
                    <a:solidFill>
                      <a:srgbClr val="F4F7FA"/>
                    </a:solidFill>
                  </a:tcPr>
                </a:tc>
                <a:tc>
                  <a:txBody>
                    <a:bodyPr wrap="square"/>
                    <a:lstStyle/>
                    <a:p>
                      <a:r>
                        <a:rPr sz="1576" b="0">
                          <a:solidFill>
                            <a:srgbClr val="33475B"/>
                          </a:solidFill>
                          <a:latin typeface="Aptos"/>
                        </a:rPr>
                        <a:t>¿Dónde vive cada pieza y quién depende de quién?</a:t>
                      </a:r>
                    </a:p>
                  </a:txBody>
                  <a:tcPr anchor="ctr" marL="146304" marR="146304">
                    <a:solidFill>
                      <a:srgbClr val="F4F7FA"/>
                    </a:solidFill>
                  </a:tcPr>
                </a:tc>
                <a:tc>
                  <a:txBody>
                    <a:bodyPr wrap="square"/>
                    <a:lstStyle/>
                    <a:p>
                      <a:r>
                        <a:rPr sz="1576" b="0">
                          <a:solidFill>
                            <a:srgbClr val="33475B"/>
                          </a:solidFill>
                          <a:latin typeface="Aptos"/>
                        </a:rPr>
                        <a:t>01 · estructura y capas</a:t>
                      </a:r>
                    </a:p>
                  </a:txBody>
                  <a:tcPr anchor="ctr" marL="146304" marR="146304">
                    <a:solidFill>
                      <a:srgbClr val="F4F7FA"/>
                    </a:solidFill>
                  </a:tcPr>
                </a:tc>
              </a:tr>
              <a:tr h="624927">
                <a:tc>
                  <a:txBody>
                    <a:bodyPr wrap="square"/>
                    <a:lstStyle/>
                    <a:p>
                      <a:r>
                        <a:rPr sz="1576" b="1">
                          <a:solidFill>
                            <a:srgbClr val="33475B"/>
                          </a:solidFill>
                          <a:latin typeface="Aptos"/>
                        </a:rPr>
                        <a:t>Registrar el framework en un ADR</a:t>
                      </a:r>
                    </a:p>
                  </a:txBody>
                  <a:tcPr anchor="ctr" marL="146304" marR="146304">
                    <a:solidFill>
                      <a:srgbClr val="FFFFFF"/>
                    </a:solidFill>
                  </a:tcPr>
                </a:tc>
                <a:tc>
                  <a:txBody>
                    <a:bodyPr wrap="square"/>
                    <a:lstStyle/>
                    <a:p>
                      <a:r>
                        <a:rPr sz="1576" b="0">
                          <a:solidFill>
                            <a:srgbClr val="33475B"/>
                          </a:solidFill>
                          <a:latin typeface="Aptos"/>
                        </a:rPr>
                        <a:t>¿Por qué Angular y no React o Vue?</a:t>
                      </a:r>
                    </a:p>
                  </a:txBody>
                  <a:tcPr anchor="ctr" marL="146304" marR="146304">
                    <a:solidFill>
                      <a:srgbClr val="FFFFFF"/>
                    </a:solidFill>
                  </a:tcPr>
                </a:tc>
                <a:tc>
                  <a:txBody>
                    <a:bodyPr wrap="square"/>
                    <a:lstStyle/>
                    <a:p>
                      <a:r>
                        <a:rPr sz="1576" b="0">
                          <a:solidFill>
                            <a:srgbClr val="33475B"/>
                          </a:solidFill>
                          <a:latin typeface="Aptos"/>
                        </a:rPr>
                        <a:t>01 · decisiones (ADR)</a:t>
                      </a:r>
                    </a:p>
                  </a:txBody>
                  <a:tcPr anchor="ctr" marL="146304" marR="146304">
                    <a:solidFill>
                      <a:srgbClr val="FFFFFF"/>
                    </a:solidFill>
                  </a:tcPr>
                </a:tc>
              </a:tr>
              <a:tr h="624927">
                <a:tc>
                  <a:txBody>
                    <a:bodyPr wrap="square"/>
                    <a:lstStyle/>
                    <a:p>
                      <a:r>
                        <a:rPr sz="1576" b="1">
                          <a:solidFill>
                            <a:srgbClr val="33475B"/>
                          </a:solidFill>
                          <a:latin typeface="Aptos"/>
                        </a:rPr>
                        <a:t>Configurar, ejecutar y depurar</a:t>
                      </a:r>
                    </a:p>
                  </a:txBody>
                  <a:tcPr anchor="ctr" marL="146304" marR="146304">
                    <a:solidFill>
                      <a:srgbClr val="F4F7FA"/>
                    </a:solidFill>
                  </a:tcPr>
                </a:tc>
                <a:tc>
                  <a:txBody>
                    <a:bodyPr wrap="square"/>
                    <a:lstStyle/>
                    <a:p>
                      <a:r>
                        <a:rPr sz="1576" b="0">
                          <a:solidFill>
                            <a:srgbClr val="33475B"/>
                          </a:solidFill>
                          <a:latin typeface="Aptos"/>
                        </a:rPr>
                        <a:t>¿Cómo se reproduce el entorno y qué valida cada uno?</a:t>
                      </a:r>
                    </a:p>
                  </a:txBody>
                  <a:tcPr anchor="ctr" marL="146304" marR="146304">
                    <a:solidFill>
                      <a:srgbClr val="F4F7FA"/>
                    </a:solidFill>
                  </a:tcPr>
                </a:tc>
                <a:tc>
                  <a:txBody>
                    <a:bodyPr wrap="square"/>
                    <a:lstStyle/>
                    <a:p>
                      <a:r>
                        <a:rPr sz="1576" b="0">
                          <a:solidFill>
                            <a:srgbClr val="33475B"/>
                          </a:solidFill>
                          <a:latin typeface="Aptos"/>
                        </a:rPr>
                        <a:t>00 · README y 04 · calidad</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Proyecto de aula: 8 mínimos, 4 hitos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276855"/>
        </p:xfrm>
        <a:graphic>
          <a:graphicData uri="http://schemas.openxmlformats.org/drawingml/2006/table">
            <a:tbl>
              <a:tblPr firstRow="1">
                <a:tableStyleId>{5C22544A-7EE6-4342-B048-85BDC9FD1C3A}</a:tableStyleId>
              </a:tblPr>
              <a:tblGrid>
                <a:gridCol w="5532120"/>
                <a:gridCol w="5532120"/>
              </a:tblGrid>
              <a:tr h="455371">
                <a:tc>
                  <a:txBody>
                    <a:bodyPr wrap="square"/>
                    <a:lstStyle/>
                    <a:p>
                      <a:r>
                        <a:rPr sz="1436" b="1">
                          <a:solidFill>
                            <a:srgbClr val="FFFFFF"/>
                          </a:solidFill>
                          <a:latin typeface="Aptos"/>
                        </a:rPr>
                        <a:t>Mínimos 1–4 · estructura y decisiones</a:t>
                      </a:r>
                    </a:p>
                  </a:txBody>
                  <a:tcPr anchor="ctr" marL="146304" marR="146304">
                    <a:solidFill>
                      <a:srgbClr val="156082"/>
                    </a:solidFill>
                  </a:tcPr>
                </a:tc>
                <a:tc>
                  <a:txBody>
                    <a:bodyPr wrap="square"/>
                    <a:lstStyle/>
                    <a:p>
                      <a:r>
                        <a:rPr sz="1436" b="1">
                          <a:solidFill>
                            <a:srgbClr val="FFFFFF"/>
                          </a:solidFill>
                          <a:latin typeface="Aptos"/>
                        </a:rPr>
                        <a:t>Mínimos 5–8 · datos, nativo y release</a:t>
                      </a:r>
                    </a:p>
                  </a:txBody>
                  <a:tcPr anchor="ctr" marL="146304" marR="146304">
                    <a:solidFill>
                      <a:srgbClr val="156082"/>
                    </a:solidFill>
                  </a:tcPr>
                </a:tc>
              </a:tr>
              <a:tr h="455371">
                <a:tc>
                  <a:txBody>
                    <a:bodyPr wrap="square"/>
                    <a:lstStyle/>
                    <a:p>
                      <a:r>
                        <a:rPr sz="1340" b="1">
                          <a:solidFill>
                            <a:srgbClr val="33475B"/>
                          </a:solidFill>
                          <a:latin typeface="Aptos"/>
                        </a:rPr>
                        <a:t>1 · Estructura por feature</a:t>
                      </a:r>
                    </a:p>
                  </a:txBody>
                  <a:tcPr anchor="ctr" marL="146304" marR="146304">
                    <a:solidFill>
                      <a:srgbClr val="FFFFFF"/>
                    </a:solidFill>
                  </a:tcPr>
                </a:tc>
                <a:tc>
                  <a:txBody>
                    <a:bodyPr wrap="square"/>
                    <a:lstStyle/>
                    <a:p>
                      <a:r>
                        <a:rPr sz="1340" b="0">
                          <a:solidFill>
                            <a:srgbClr val="33475B"/>
                          </a:solidFill>
                          <a:latin typeface="Aptos"/>
                        </a:rPr>
                        <a:t>5 · Cliente HTTP único con interceptores y refresh</a:t>
                      </a:r>
                    </a:p>
                  </a:txBody>
                  <a:tcPr anchor="ctr" marL="146304" marR="146304">
                    <a:solidFill>
                      <a:srgbClr val="FFFFFF"/>
                    </a:solidFill>
                  </a:tcPr>
                </a:tc>
              </a:tr>
              <a:tr h="455371">
                <a:tc>
                  <a:txBody>
                    <a:bodyPr wrap="square"/>
                    <a:lstStyle/>
                    <a:p>
                      <a:r>
                        <a:rPr sz="1340" b="1">
                          <a:solidFill>
                            <a:srgbClr val="33475B"/>
                          </a:solidFill>
                          <a:latin typeface="Aptos"/>
                        </a:rPr>
                        <a:t>2 · Capas presentation, domain y data</a:t>
                      </a:r>
                    </a:p>
                  </a:txBody>
                  <a:tcPr anchor="ctr" marL="146304" marR="146304">
                    <a:solidFill>
                      <a:srgbClr val="F4F7FA"/>
                    </a:solidFill>
                  </a:tcPr>
                </a:tc>
                <a:tc>
                  <a:txBody>
                    <a:bodyPr wrap="square"/>
                    <a:lstStyle/>
                    <a:p>
                      <a:r>
                        <a:rPr sz="1340" b="0">
                          <a:solidFill>
                            <a:srgbClr val="33475B"/>
                          </a:solidFill>
                          <a:latin typeface="Aptos"/>
                        </a:rPr>
                        <a:t>6 · Estrategia offline documentada</a:t>
                      </a:r>
                    </a:p>
                  </a:txBody>
                  <a:tcPr anchor="ctr" marL="146304" marR="146304">
                    <a:solidFill>
                      <a:srgbClr val="F4F7FA"/>
                    </a:solidFill>
                  </a:tcPr>
                </a:tc>
              </a:tr>
              <a:tr h="455371">
                <a:tc>
                  <a:txBody>
                    <a:bodyPr wrap="square"/>
                    <a:lstStyle/>
                    <a:p>
                      <a:r>
                        <a:rPr sz="1340" b="1">
                          <a:solidFill>
                            <a:srgbClr val="33475B"/>
                          </a:solidFill>
                          <a:latin typeface="Aptos"/>
                        </a:rPr>
                        <a:t>3 · Estado en ADR; al menos tres ADR</a:t>
                      </a:r>
                    </a:p>
                  </a:txBody>
                  <a:tcPr anchor="ctr" marL="146304" marR="146304">
                    <a:solidFill>
                      <a:srgbClr val="FFFFFF"/>
                    </a:solidFill>
                  </a:tcPr>
                </a:tc>
                <a:tc>
                  <a:txBody>
                    <a:bodyPr wrap="square"/>
                    <a:lstStyle/>
                    <a:p>
                      <a:r>
                        <a:rPr sz="1340" b="0">
                          <a:solidFill>
                            <a:srgbClr val="33475B"/>
                          </a:solidFill>
                          <a:latin typeface="Aptos"/>
                        </a:rPr>
                        <a:t>7 · Dos plugins como adaptadores, permisos just-in-time</a:t>
                      </a:r>
                    </a:p>
                  </a:txBody>
                  <a:tcPr anchor="ctr" marL="146304" marR="146304">
                    <a:solidFill>
                      <a:srgbClr val="FFFFFF"/>
                    </a:solidFill>
                  </a:tcPr>
                </a:tc>
              </a:tr>
              <a:tr h="455371">
                <a:tc>
                  <a:txBody>
                    <a:bodyPr wrap="square"/>
                    <a:lstStyle/>
                    <a:p>
                      <a:r>
                        <a:rPr sz="1340" b="1">
                          <a:solidFill>
                            <a:srgbClr val="33475B"/>
                          </a:solidFill>
                          <a:latin typeface="Aptos"/>
                        </a:rPr>
                        <a:t>4 · Tabla de rutas central con guard</a:t>
                      </a:r>
                    </a:p>
                  </a:txBody>
                  <a:tcPr anchor="ctr" marL="146304" marR="146304">
                    <a:solidFill>
                      <a:srgbClr val="F4F7FA"/>
                    </a:solidFill>
                  </a:tcPr>
                </a:tc>
                <a:tc>
                  <a:txBody>
                    <a:bodyPr wrap="square"/>
                    <a:lstStyle/>
                    <a:p>
                      <a:r>
                        <a:rPr sz="1340" b="0">
                          <a:solidFill>
                            <a:srgbClr val="33475B"/>
                          </a:solidFill>
                          <a:latin typeface="Aptos"/>
                        </a:rPr>
                        <a:t>8 · Pruebas, AAB firmado y checklist de release</a:t>
                      </a:r>
                    </a:p>
                  </a:txBody>
                  <a:tcPr anchor="ctr" marL="146304" marR="146304">
                    <a:solidFill>
                      <a:srgbClr val="F4F7FA"/>
                    </a:solidFill>
                  </a:tcPr>
                </a:tc>
              </a:tr>
            </a:tbl>
          </a:graphicData>
        </a:graphic>
      </p:graphicFrame>
      <p:graphicFrame>
        <p:nvGraphicFramePr>
          <p:cNvPr id="8" name="Table 7"/>
          <p:cNvGraphicFramePr>
            <a:graphicFrameLocks noGrp="1"/>
          </p:cNvGraphicFramePr>
          <p:nvPr/>
        </p:nvGraphicFramePr>
        <p:xfrm>
          <a:off x="566928" y="4050792"/>
          <a:ext cx="11064240" cy="2276855"/>
        </p:xfrm>
        <a:graphic>
          <a:graphicData uri="http://schemas.openxmlformats.org/drawingml/2006/table">
            <a:tbl>
              <a:tblPr firstRow="1">
                <a:tableStyleId>{5C22544A-7EE6-4342-B048-85BDC9FD1C3A}</a:tableStyleId>
              </a:tblPr>
              <a:tblGrid>
                <a:gridCol w="2766060"/>
                <a:gridCol w="2766060"/>
                <a:gridCol w="2766060"/>
                <a:gridCol w="2766060"/>
              </a:tblGrid>
              <a:tr h="455371">
                <a:tc>
                  <a:txBody>
                    <a:bodyPr wrap="square"/>
                    <a:lstStyle/>
                    <a:p>
                      <a:r>
                        <a:rPr sz="1436" b="1">
                          <a:solidFill>
                            <a:srgbClr val="FFFFFF"/>
                          </a:solidFill>
                          <a:latin typeface="Aptos"/>
                        </a:rPr>
                        <a:t>Hito</a:t>
                      </a:r>
                    </a:p>
                  </a:txBody>
                  <a:tcPr anchor="ctr" marL="146304" marR="146304">
                    <a:solidFill>
                      <a:srgbClr val="156082"/>
                    </a:solidFill>
                  </a:tcPr>
                </a:tc>
                <a:tc>
                  <a:txBody>
                    <a:bodyPr wrap="square"/>
                    <a:lstStyle/>
                    <a:p>
                      <a:r>
                        <a:rPr sz="1436" b="1">
                          <a:solidFill>
                            <a:srgbClr val="FFFFFF"/>
                          </a:solidFill>
                          <a:latin typeface="Aptos"/>
                        </a:rPr>
                        <a:t>Peso</a:t>
                      </a:r>
                    </a:p>
                  </a:txBody>
                  <a:tcPr anchor="ctr" marL="146304" marR="146304">
                    <a:solidFill>
                      <a:srgbClr val="156082"/>
                    </a:solidFill>
                  </a:tcPr>
                </a:tc>
                <a:tc>
                  <a:txBody>
                    <a:bodyPr wrap="square"/>
                    <a:lstStyle/>
                    <a:p>
                      <a:r>
                        <a:rPr sz="1436" b="1">
                          <a:solidFill>
                            <a:srgbClr val="FFFFFF"/>
                          </a:solidFill>
                          <a:latin typeface="Aptos"/>
                        </a:rPr>
                        <a:t>Vence</a:t>
                      </a:r>
                    </a:p>
                  </a:txBody>
                  <a:tcPr anchor="ctr" marL="146304" marR="146304">
                    <a:solidFill>
                      <a:srgbClr val="156082"/>
                    </a:solidFill>
                  </a:tcPr>
                </a:tc>
                <a:tc>
                  <a:txBody>
                    <a:bodyPr wrap="square"/>
                    <a:lstStyle/>
                    <a:p>
                      <a:r>
                        <a:rPr sz="1436" b="1">
                          <a:solidFill>
                            <a:srgbClr val="FFFFFF"/>
                          </a:solidFill>
                          <a:latin typeface="Aptos"/>
                        </a:rPr>
                        <a:t>Qué se entrega del marco</a:t>
                      </a:r>
                    </a:p>
                  </a:txBody>
                  <a:tcPr anchor="ctr" marL="146304" marR="146304">
                    <a:solidFill>
                      <a:srgbClr val="156082"/>
                    </a:solidFill>
                  </a:tcPr>
                </a:tc>
              </a:tr>
              <a:tr h="455371">
                <a:tc>
                  <a:txBody>
                    <a:bodyPr wrap="square"/>
                    <a:lstStyle/>
                    <a:p>
                      <a:r>
                        <a:rPr sz="1340" b="1">
                          <a:solidFill>
                            <a:srgbClr val="33475B"/>
                          </a:solidFill>
                          <a:latin typeface="Aptos"/>
                        </a:rPr>
                        <a:t>H1 · Actividad 1</a:t>
                      </a:r>
                    </a:p>
                  </a:txBody>
                  <a:tcPr anchor="ctr" marL="146304" marR="146304">
                    <a:solidFill>
                      <a:srgbClr val="FFFFFF"/>
                    </a:solidFill>
                  </a:tcPr>
                </a:tc>
                <a:tc>
                  <a:txBody>
                    <a:bodyPr wrap="square"/>
                    <a:lstStyle/>
                    <a:p>
                      <a:r>
                        <a:rPr sz="1340" b="0">
                          <a:solidFill>
                            <a:srgbClr val="33475B"/>
                          </a:solidFill>
                          <a:latin typeface="Aptos"/>
                        </a:rPr>
                        <a:t>20 %</a:t>
                      </a:r>
                    </a:p>
                  </a:txBody>
                  <a:tcPr anchor="ctr" marL="146304" marR="146304">
                    <a:solidFill>
                      <a:srgbClr val="FFFFFF"/>
                    </a:solidFill>
                  </a:tcPr>
                </a:tc>
                <a:tc>
                  <a:txBody>
                    <a:bodyPr wrap="square"/>
                    <a:lstStyle/>
                    <a:p>
                      <a:r>
                        <a:rPr sz="1340" b="0">
                          <a:solidFill>
                            <a:srgbClr val="33475B"/>
                          </a:solidFill>
                          <a:latin typeface="Aptos"/>
                        </a:rPr>
                        <a:t>dom 18-oct</a:t>
                      </a:r>
                    </a:p>
                  </a:txBody>
                  <a:tcPr anchor="ctr" marL="146304" marR="146304">
                    <a:solidFill>
                      <a:srgbClr val="FFFFFF"/>
                    </a:solidFill>
                  </a:tcPr>
                </a:tc>
                <a:tc>
                  <a:txBody>
                    <a:bodyPr wrap="square"/>
                    <a:lstStyle/>
                    <a:p>
                      <a:r>
                        <a:rPr sz="1340" b="0">
                          <a:solidFill>
                            <a:srgbClr val="33475B"/>
                          </a:solidFill>
                          <a:latin typeface="Aptos"/>
                        </a:rPr>
                        <a:t>00 + 01 + backlog y prototipo</a:t>
                      </a:r>
                    </a:p>
                  </a:txBody>
                  <a:tcPr anchor="ctr" marL="146304" marR="146304">
                    <a:solidFill>
                      <a:srgbClr val="FFFFFF"/>
                    </a:solidFill>
                  </a:tcPr>
                </a:tc>
              </a:tr>
              <a:tr h="455371">
                <a:tc>
                  <a:txBody>
                    <a:bodyPr wrap="square"/>
                    <a:lstStyle/>
                    <a:p>
                      <a:r>
                        <a:rPr sz="1340" b="1">
                          <a:solidFill>
                            <a:srgbClr val="33475B"/>
                          </a:solidFill>
                          <a:latin typeface="Aptos"/>
                        </a:rPr>
                        <a:t>H2 · Actividad 2</a:t>
                      </a:r>
                    </a:p>
                  </a:txBody>
                  <a:tcPr anchor="ctr" marL="146304" marR="146304">
                    <a:solidFill>
                      <a:srgbClr val="F4F7FA"/>
                    </a:solidFill>
                  </a:tcPr>
                </a:tc>
                <a:tc>
                  <a:txBody>
                    <a:bodyPr wrap="square"/>
                    <a:lstStyle/>
                    <a:p>
                      <a:r>
                        <a:rPr sz="1340" b="0">
                          <a:solidFill>
                            <a:srgbClr val="33475B"/>
                          </a:solidFill>
                          <a:latin typeface="Aptos"/>
                        </a:rPr>
                        <a:t>20 %</a:t>
                      </a:r>
                    </a:p>
                  </a:txBody>
                  <a:tcPr anchor="ctr" marL="146304" marR="146304">
                    <a:solidFill>
                      <a:srgbClr val="F4F7FA"/>
                    </a:solidFill>
                  </a:tcPr>
                </a:tc>
                <a:tc>
                  <a:txBody>
                    <a:bodyPr wrap="square"/>
                    <a:lstStyle/>
                    <a:p>
                      <a:r>
                        <a:rPr sz="1340" b="0">
                          <a:solidFill>
                            <a:srgbClr val="33475B"/>
                          </a:solidFill>
                          <a:latin typeface="Aptos"/>
                        </a:rPr>
                        <a:t>dom 25-oct</a:t>
                      </a:r>
                    </a:p>
                  </a:txBody>
                  <a:tcPr anchor="ctr" marL="146304" marR="146304">
                    <a:solidFill>
                      <a:srgbClr val="F4F7FA"/>
                    </a:solidFill>
                  </a:tcPr>
                </a:tc>
                <a:tc>
                  <a:txBody>
                    <a:bodyPr wrap="square"/>
                    <a:lstStyle/>
                    <a:p>
                      <a:r>
                        <a:rPr sz="1340" b="0">
                          <a:solidFill>
                            <a:srgbClr val="33475B"/>
                          </a:solidFill>
                          <a:latin typeface="Aptos"/>
                        </a:rPr>
                        <a:t>02 Código y UI + 03 API y datos</a:t>
                      </a:r>
                    </a:p>
                  </a:txBody>
                  <a:tcPr anchor="ctr" marL="146304" marR="146304">
                    <a:solidFill>
                      <a:srgbClr val="F4F7FA"/>
                    </a:solidFill>
                  </a:tcPr>
                </a:tc>
              </a:tr>
              <a:tr h="455371">
                <a:tc>
                  <a:txBody>
                    <a:bodyPr wrap="square"/>
                    <a:lstStyle/>
                    <a:p>
                      <a:r>
                        <a:rPr sz="1340" b="1">
                          <a:solidFill>
                            <a:srgbClr val="33475B"/>
                          </a:solidFill>
                          <a:latin typeface="Aptos"/>
                        </a:rPr>
                        <a:t>H3 · Actividad 3</a:t>
                      </a:r>
                    </a:p>
                  </a:txBody>
                  <a:tcPr anchor="ctr" marL="146304" marR="146304">
                    <a:solidFill>
                      <a:srgbClr val="FFFFFF"/>
                    </a:solidFill>
                  </a:tcPr>
                </a:tc>
                <a:tc>
                  <a:txBody>
                    <a:bodyPr wrap="square"/>
                    <a:lstStyle/>
                    <a:p>
                      <a:r>
                        <a:rPr sz="1340" b="0">
                          <a:solidFill>
                            <a:srgbClr val="33475B"/>
                          </a:solidFill>
                          <a:latin typeface="Aptos"/>
                        </a:rPr>
                        <a:t>20 %</a:t>
                      </a:r>
                    </a:p>
                  </a:txBody>
                  <a:tcPr anchor="ctr" marL="146304" marR="146304">
                    <a:solidFill>
                      <a:srgbClr val="FFFFFF"/>
                    </a:solidFill>
                  </a:tcPr>
                </a:tc>
                <a:tc>
                  <a:txBody>
                    <a:bodyPr wrap="square"/>
                    <a:lstStyle/>
                    <a:p>
                      <a:r>
                        <a:rPr sz="1340" b="0">
                          <a:solidFill>
                            <a:srgbClr val="33475B"/>
                          </a:solidFill>
                          <a:latin typeface="Aptos"/>
                        </a:rPr>
                        <a:t>dom 1-nov</a:t>
                      </a:r>
                    </a:p>
                  </a:txBody>
                  <a:tcPr anchor="ctr" marL="146304" marR="146304">
                    <a:solidFill>
                      <a:srgbClr val="FFFFFF"/>
                    </a:solidFill>
                  </a:tcPr>
                </a:tc>
                <a:tc>
                  <a:txBody>
                    <a:bodyPr wrap="square"/>
                    <a:lstStyle/>
                    <a:p>
                      <a:r>
                        <a:rPr sz="1340" b="0">
                          <a:solidFill>
                            <a:srgbClr val="33475B"/>
                          </a:solidFill>
                          <a:latin typeface="Aptos"/>
                        </a:rPr>
                        <a:t>04 Calidad + 05 Release</a:t>
                      </a:r>
                    </a:p>
                  </a:txBody>
                  <a:tcPr anchor="ctr" marL="146304" marR="146304">
                    <a:solidFill>
                      <a:srgbClr val="FFFFFF"/>
                    </a:solidFill>
                  </a:tcPr>
                </a:tc>
              </a:tr>
              <a:tr h="455371">
                <a:tc>
                  <a:txBody>
                    <a:bodyPr wrap="square"/>
                    <a:lstStyle/>
                    <a:p>
                      <a:r>
                        <a:rPr sz="1340" b="1">
                          <a:solidFill>
                            <a:srgbClr val="33475B"/>
                          </a:solidFill>
                          <a:latin typeface="Aptos"/>
                        </a:rPr>
                        <a:t>H4 · Informe FO-IV-159</a:t>
                      </a:r>
                    </a:p>
                  </a:txBody>
                  <a:tcPr anchor="ctr" marL="146304" marR="146304">
                    <a:solidFill>
                      <a:srgbClr val="F4F7FA"/>
                    </a:solidFill>
                  </a:tcPr>
                </a:tc>
                <a:tc>
                  <a:txBody>
                    <a:bodyPr wrap="square"/>
                    <a:lstStyle/>
                    <a:p>
                      <a:r>
                        <a:rPr sz="1340" b="0">
                          <a:solidFill>
                            <a:srgbClr val="33475B"/>
                          </a:solidFill>
                          <a:latin typeface="Aptos"/>
                        </a:rPr>
                        <a:t>40 %</a:t>
                      </a:r>
                    </a:p>
                  </a:txBody>
                  <a:tcPr anchor="ctr" marL="146304" marR="146304">
                    <a:solidFill>
                      <a:srgbClr val="F4F7FA"/>
                    </a:solidFill>
                  </a:tcPr>
                </a:tc>
                <a:tc>
                  <a:txBody>
                    <a:bodyPr wrap="square"/>
                    <a:lstStyle/>
                    <a:p>
                      <a:r>
                        <a:rPr sz="1340" b="0">
                          <a:solidFill>
                            <a:srgbClr val="33475B"/>
                          </a:solidFill>
                          <a:latin typeface="Aptos"/>
                        </a:rPr>
                        <a:t>dom 8-nov</a:t>
                      </a:r>
                    </a:p>
                  </a:txBody>
                  <a:tcPr anchor="ctr" marL="146304" marR="146304">
                    <a:solidFill>
                      <a:srgbClr val="F4F7FA"/>
                    </a:solidFill>
                  </a:tcPr>
                </a:tc>
                <a:tc>
                  <a:txBody>
                    <a:bodyPr wrap="square"/>
                    <a:lstStyle/>
                    <a:p>
                      <a:r>
                        <a:rPr sz="1340" b="0">
                          <a:solidFill>
                            <a:srgbClr val="33475B"/>
                          </a:solidFill>
                          <a:latin typeface="Aptos"/>
                        </a:rPr>
                        <a:t>Informe del proyecto de aula + .zip de anexos</a:t>
                      </a:r>
                    </a:p>
                  </a:txBody>
                  <a:tcPr anchor="ctr" marL="146304" marR="146304">
                    <a:solidFill>
                      <a:srgbClr val="F4F7FA"/>
                    </a:solidFill>
                  </a:tcPr>
                </a:tc>
              </a:tr>
            </a:tbl>
          </a:graphicData>
        </a:graphic>
      </p:graphicFrame>
      <p:sp>
        <p:nvSpPr>
          <p:cNvPr id="9" name="TextBox 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0" name="TextBox 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híbrido se elige por descarte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Qué compra y qué cuesta un binario nativo con la interfaz en un WebView</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app híbrida es una app nativa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7175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620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71752"/>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Binario nativo instalable (APK/AAB o IPA) con UI y lógica web ejecutadas en un WebView; el hardware se alcanza por un puente, en plugins.</a:t>
            </a:r>
          </a:p>
        </p:txBody>
      </p:sp>
      <p:sp>
        <p:nvSpPr>
          <p:cNvPr id="10" name="Oval 9"/>
          <p:cNvSpPr/>
          <p:nvPr/>
        </p:nvSpPr>
        <p:spPr>
          <a:xfrm>
            <a:off x="585216" y="359359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45688"/>
            <a:ext cx="10698480" cy="596392"/>
          </a:xfrm>
          <a:prstGeom prst="rect">
            <a:avLst/>
          </a:prstGeom>
          <a:noFill/>
        </p:spPr>
        <p:txBody>
          <a:bodyPr wrap="square" anchor="ctr" lIns="0" rIns="0" tIns="0" bIns="0">
            <a:spAutoFit/>
          </a:bodyPr>
          <a:lstStyle/>
          <a:p>
            <a:pPr algn="l"/>
            <a:r>
              <a:rPr sz="2297" b="1">
                <a:solidFill>
                  <a:srgbClr val="0E2841"/>
                </a:solidFill>
                <a:latin typeface="Aptos"/>
              </a:rPr>
              <a:t>Para tienda y sistema: es nativa</a:t>
            </a:r>
          </a:p>
        </p:txBody>
      </p:sp>
      <p:sp>
        <p:nvSpPr>
          <p:cNvPr id="12" name="Oval 11"/>
          <p:cNvSpPr/>
          <p:nvPr/>
        </p:nvSpPr>
        <p:spPr>
          <a:xfrm>
            <a:off x="585216" y="418998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942080"/>
            <a:ext cx="10698480" cy="596392"/>
          </a:xfrm>
          <a:prstGeom prst="rect">
            <a:avLst/>
          </a:prstGeom>
          <a:noFill/>
        </p:spPr>
        <p:txBody>
          <a:bodyPr wrap="square" anchor="ctr" lIns="0" rIns="0" tIns="0" bIns="0">
            <a:spAutoFit/>
          </a:bodyPr>
          <a:lstStyle/>
          <a:p>
            <a:pPr algn="l"/>
            <a:r>
              <a:rPr sz="2297" b="1">
                <a:solidFill>
                  <a:srgbClr val="0E2841"/>
                </a:solidFill>
                <a:latin typeface="Aptos"/>
              </a:rPr>
              <a:t>UI en HTML y CSS, no del sistema</a:t>
            </a:r>
          </a:p>
        </p:txBody>
      </p:sp>
      <p:sp>
        <p:nvSpPr>
          <p:cNvPr id="14" name="Oval 13"/>
          <p:cNvSpPr/>
          <p:nvPr/>
        </p:nvSpPr>
        <p:spPr>
          <a:xfrm>
            <a:off x="585216" y="478637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538472"/>
            <a:ext cx="10698480" cy="596392"/>
          </a:xfrm>
          <a:prstGeom prst="rect">
            <a:avLst/>
          </a:prstGeom>
          <a:noFill/>
        </p:spPr>
        <p:txBody>
          <a:bodyPr wrap="square" anchor="ctr" lIns="0" rIns="0" tIns="0" bIns="0">
            <a:spAutoFit/>
          </a:bodyPr>
          <a:lstStyle/>
          <a:p>
            <a:pPr algn="l"/>
            <a:r>
              <a:rPr sz="2297" b="1">
                <a:solidFill>
                  <a:srgbClr val="0E2841"/>
                </a:solidFill>
                <a:latin typeface="Aptos"/>
              </a:rPr>
              <a:t>Imita Material Design y las guías de iOS</a:t>
            </a:r>
          </a:p>
        </p:txBody>
      </p:sp>
      <p:sp>
        <p:nvSpPr>
          <p:cNvPr id="16" name="Oval 15"/>
          <p:cNvSpPr/>
          <p:nvPr/>
        </p:nvSpPr>
        <p:spPr>
          <a:xfrm>
            <a:off x="585216" y="538276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134864"/>
            <a:ext cx="10698480" cy="596392"/>
          </a:xfrm>
          <a:prstGeom prst="rect">
            <a:avLst/>
          </a:prstGeom>
          <a:noFill/>
        </p:spPr>
        <p:txBody>
          <a:bodyPr wrap="square" anchor="ctr" lIns="0" rIns="0" tIns="0" bIns="0">
            <a:spAutoFit/>
          </a:bodyPr>
          <a:lstStyle/>
          <a:p>
            <a:pPr algn="l"/>
            <a:r>
              <a:rPr sz="2297" b="1">
                <a:solidFill>
                  <a:srgbClr val="0E2841"/>
                </a:solidFill>
                <a:latin typeface="Aptos"/>
              </a:rPr>
              <a:t>Lo que falta al WebView cruza el puente</a:t>
            </a:r>
          </a:p>
        </p:txBody>
      </p:sp>
      <p:sp>
        <p:nvSpPr>
          <p:cNvPr id="18" name="Oval 17"/>
          <p:cNvSpPr/>
          <p:nvPr/>
        </p:nvSpPr>
        <p:spPr>
          <a:xfrm>
            <a:off x="585216" y="59791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731256"/>
            <a:ext cx="10698480" cy="596392"/>
          </a:xfrm>
          <a:prstGeom prst="rect">
            <a:avLst/>
          </a:prstGeom>
          <a:noFill/>
        </p:spPr>
        <p:txBody>
          <a:bodyPr wrap="square" anchor="ctr" lIns="0" rIns="0" tIns="0" bIns="0">
            <a:spAutoFit/>
          </a:bodyPr>
          <a:lstStyle/>
          <a:p>
            <a:pPr algn="l"/>
            <a:r>
              <a:rPr sz="2297" b="1">
                <a:solidFill>
                  <a:srgbClr val="0E2841"/>
                </a:solidFill>
                <a:latin typeface="Aptos"/>
              </a:rPr>
              <a:t>Esa frontera concentra costos y decisiones</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beneficio se paga con algo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Beneficio del material</a:t>
                      </a:r>
                    </a:p>
                  </a:txBody>
                  <a:tcPr anchor="ctr" marL="146304" marR="146304">
                    <a:solidFill>
                      <a:srgbClr val="156082"/>
                    </a:solidFill>
                  </a:tcPr>
                </a:tc>
                <a:tc>
                  <a:txBody>
                    <a:bodyPr wrap="square"/>
                    <a:lstStyle/>
                    <a:p>
                      <a:r>
                        <a:rPr sz="1688" b="1">
                          <a:solidFill>
                            <a:srgbClr val="FFFFFF"/>
                          </a:solidFill>
                          <a:latin typeface="Aptos"/>
                        </a:rPr>
                        <a:t>Lo que realmente compra</a:t>
                      </a:r>
                    </a:p>
                  </a:txBody>
                  <a:tcPr anchor="ctr" marL="146304" marR="146304">
                    <a:solidFill>
                      <a:srgbClr val="156082"/>
                    </a:solidFill>
                  </a:tcPr>
                </a:tc>
                <a:tc>
                  <a:txBody>
                    <a:bodyPr wrap="square"/>
                    <a:lstStyle/>
                    <a:p>
                      <a:r>
                        <a:rPr sz="1688" b="1">
                          <a:solidFill>
                            <a:srgbClr val="FFFFFF"/>
                          </a:solidFill>
                          <a:latin typeface="Aptos"/>
                        </a:rPr>
                        <a:t>Con qué se paga</a:t>
                      </a:r>
                    </a:p>
                  </a:txBody>
                  <a:tcPr anchor="ctr" marL="146304" marR="146304">
                    <a:solidFill>
                      <a:srgbClr val="156082"/>
                    </a:solidFill>
                  </a:tcPr>
                </a:tc>
              </a:tr>
              <a:tr h="624927">
                <a:tc>
                  <a:txBody>
                    <a:bodyPr wrap="square"/>
                    <a:lstStyle/>
                    <a:p>
                      <a:r>
                        <a:rPr sz="1576" b="1">
                          <a:solidFill>
                            <a:srgbClr val="33475B"/>
                          </a:solidFill>
                          <a:latin typeface="Aptos"/>
                        </a:rPr>
                        <a:t>Menos costo: una sola base de código</a:t>
                      </a:r>
                    </a:p>
                  </a:txBody>
                  <a:tcPr anchor="ctr" marL="146304" marR="146304">
                    <a:solidFill>
                      <a:srgbClr val="FFFFFF"/>
                    </a:solidFill>
                  </a:tcPr>
                </a:tc>
                <a:tc>
                  <a:txBody>
                    <a:bodyPr wrap="square"/>
                    <a:lstStyle/>
                    <a:p>
                      <a:r>
                        <a:rPr sz="1576" b="0">
                          <a:solidFill>
                            <a:srgbClr val="33475B"/>
                          </a:solidFill>
                          <a:latin typeface="Aptos"/>
                        </a:rPr>
                        <a:t>UI y negocio una vez, para dos plataformas</a:t>
                      </a:r>
                    </a:p>
                  </a:txBody>
                  <a:tcPr anchor="ctr" marL="146304" marR="146304">
                    <a:solidFill>
                      <a:srgbClr val="FFFFFF"/>
                    </a:solidFill>
                  </a:tcPr>
                </a:tc>
                <a:tc>
                  <a:txBody>
                    <a:bodyPr wrap="square"/>
                    <a:lstStyle/>
                    <a:p>
                      <a:r>
                        <a:rPr sz="1481" b="0">
                          <a:solidFill>
                            <a:srgbClr val="156082"/>
                          </a:solidFill>
                          <a:latin typeface="Consolas"/>
                        </a:rPr>
                        <a:t>android/</a:t>
                      </a:r>
                      <a:r>
                        <a:rPr sz="1576" b="0">
                          <a:solidFill>
                            <a:srgbClr val="33475B"/>
                          </a:solidFill>
                          <a:latin typeface="Aptos"/>
                        </a:rPr>
                        <a:t> e </a:t>
                      </a:r>
                      <a:r>
                        <a:rPr sz="1481" b="0">
                          <a:solidFill>
                            <a:srgbClr val="156082"/>
                          </a:solidFill>
                          <a:latin typeface="Consolas"/>
                        </a:rPr>
                        <a:t>ios/</a:t>
                      </a:r>
                      <a:r>
                        <a:rPr sz="1576" b="0">
                          <a:solidFill>
                            <a:srgbClr val="33475B"/>
                          </a:solidFill>
                          <a:latin typeface="Aptos"/>
                        </a:rPr>
                        <a:t> existen igual y se mantienen</a:t>
                      </a:r>
                    </a:p>
                  </a:txBody>
                  <a:tcPr anchor="ctr" marL="146304" marR="146304">
                    <a:solidFill>
                      <a:srgbClr val="FFFFFF"/>
                    </a:solidFill>
                  </a:tcPr>
                </a:tc>
              </a:tr>
              <a:tr h="624927">
                <a:tc>
                  <a:txBody>
                    <a:bodyPr wrap="square"/>
                    <a:lstStyle/>
                    <a:p>
                      <a:r>
                        <a:rPr sz="1576" b="1">
                          <a:solidFill>
                            <a:srgbClr val="33475B"/>
                          </a:solidFill>
                          <a:latin typeface="Aptos"/>
                        </a:rPr>
                        <a:t>Desarrollo acelerado con herramientas web</a:t>
                      </a:r>
                    </a:p>
                  </a:txBody>
                  <a:tcPr anchor="ctr" marL="146304" marR="146304">
                    <a:solidFill>
                      <a:srgbClr val="F4F7FA"/>
                    </a:solidFill>
                  </a:tcPr>
                </a:tc>
                <a:tc>
                  <a:txBody>
                    <a:bodyPr wrap="square"/>
                    <a:lstStyle/>
                    <a:p>
                      <a:r>
                        <a:rPr sz="1576" b="0">
                          <a:solidFill>
                            <a:srgbClr val="33475B"/>
                          </a:solidFill>
                          <a:latin typeface="Aptos"/>
                        </a:rPr>
                        <a:t>Un equipo web productivo desde el día uno</a:t>
                      </a:r>
                    </a:p>
                  </a:txBody>
                  <a:tcPr anchor="ctr" marL="146304" marR="146304">
                    <a:solidFill>
                      <a:srgbClr val="F4F7FA"/>
                    </a:solidFill>
                  </a:tcPr>
                </a:tc>
                <a:tc>
                  <a:txBody>
                    <a:bodyPr wrap="square"/>
                    <a:lstStyle/>
                    <a:p>
                      <a:r>
                        <a:rPr sz="1576" b="0">
                          <a:solidFill>
                            <a:srgbClr val="33475B"/>
                          </a:solidFill>
                          <a:latin typeface="Aptos"/>
                        </a:rPr>
                        <a:t>El WebView no es el navegador: probar en dispositivo</a:t>
                      </a:r>
                    </a:p>
                  </a:txBody>
                  <a:tcPr anchor="ctr" marL="146304" marR="146304">
                    <a:solidFill>
                      <a:srgbClr val="F4F7FA"/>
                    </a:solidFill>
                  </a:tcPr>
                </a:tc>
              </a:tr>
              <a:tr h="624927">
                <a:tc>
                  <a:txBody>
                    <a:bodyPr wrap="square"/>
                    <a:lstStyle/>
                    <a:p>
                      <a:r>
                        <a:rPr sz="1576" b="1">
                          <a:solidFill>
                            <a:srgbClr val="33475B"/>
                          </a:solidFill>
                          <a:latin typeface="Aptos"/>
                        </a:rPr>
                        <a:t>Alcance: Android e iOS</a:t>
                      </a:r>
                    </a:p>
                  </a:txBody>
                  <a:tcPr anchor="ctr" marL="146304" marR="146304">
                    <a:solidFill>
                      <a:srgbClr val="FFFFFF"/>
                    </a:solidFill>
                  </a:tcPr>
                </a:tc>
                <a:tc>
                  <a:txBody>
                    <a:bodyPr wrap="square"/>
                    <a:lstStyle/>
                    <a:p>
                      <a:r>
                        <a:rPr sz="1576" b="0">
                          <a:solidFill>
                            <a:srgbClr val="33475B"/>
                          </a:solidFill>
                          <a:latin typeface="Aptos"/>
                        </a:rPr>
                        <a:t>Paridad de funciones entre plataformas</a:t>
                      </a:r>
                    </a:p>
                  </a:txBody>
                  <a:tcPr anchor="ctr" marL="146304" marR="146304">
                    <a:solidFill>
                      <a:srgbClr val="FFFFFF"/>
                    </a:solidFill>
                  </a:tcPr>
                </a:tc>
                <a:tc>
                  <a:txBody>
                    <a:bodyPr wrap="square"/>
                    <a:lstStyle/>
                    <a:p>
                      <a:r>
                        <a:rPr sz="1576" b="0">
                          <a:solidFill>
                            <a:srgbClr val="33475B"/>
                          </a:solidFill>
                          <a:latin typeface="Aptos"/>
                        </a:rPr>
                        <a:t>Lo específico va en plugins o en código nativo</a:t>
                      </a:r>
                    </a:p>
                  </a:txBody>
                  <a:tcPr anchor="ctr" marL="146304" marR="146304">
                    <a:solidFill>
                      <a:srgbClr val="FFFFFF"/>
                    </a:solidFill>
                  </a:tcPr>
                </a:tc>
              </a:tr>
              <a:tr h="624927">
                <a:tc>
                  <a:txBody>
                    <a:bodyPr wrap="square"/>
                    <a:lstStyle/>
                    <a:p>
                      <a:r>
                        <a:rPr sz="1576" b="1">
                          <a:solidFill>
                            <a:srgbClr val="33475B"/>
                          </a:solidFill>
                          <a:latin typeface="Aptos"/>
                        </a:rPr>
                        <a:t>Actualizaciones unificadas</a:t>
                      </a:r>
                    </a:p>
                  </a:txBody>
                  <a:tcPr anchor="ctr" marL="146304" marR="146304">
                    <a:solidFill>
                      <a:srgbClr val="F4F7FA"/>
                    </a:solidFill>
                  </a:tcPr>
                </a:tc>
                <a:tc>
                  <a:txBody>
                    <a:bodyPr wrap="square"/>
                    <a:lstStyle/>
                    <a:p>
                      <a:r>
                        <a:rPr sz="1576" b="0">
                          <a:solidFill>
                            <a:srgbClr val="33475B"/>
                          </a:solidFill>
                          <a:latin typeface="Aptos"/>
                        </a:rPr>
                        <a:t>Un solo ciclo de versión</a:t>
                      </a:r>
                    </a:p>
                  </a:txBody>
                  <a:tcPr anchor="ctr" marL="146304" marR="146304">
                    <a:solidFill>
                      <a:srgbClr val="F4F7FA"/>
                    </a:solidFill>
                  </a:tcPr>
                </a:tc>
                <a:tc>
                  <a:txBody>
                    <a:bodyPr wrap="square"/>
                    <a:lstStyle/>
                    <a:p>
                      <a:r>
                        <a:rPr sz="1576" b="0">
                          <a:solidFill>
                            <a:srgbClr val="33475B"/>
                          </a:solidFill>
                          <a:latin typeface="Aptos"/>
                        </a:rPr>
                        <a:t>Cada tienda revisa con requisitos propios (05 Release)</a:t>
                      </a:r>
                    </a:p>
                  </a:txBody>
                  <a:tcPr anchor="ctr" marL="146304" marR="146304">
                    <a:solidFill>
                      <a:srgbClr val="F4F7FA"/>
                    </a:solidFill>
                  </a:tcPr>
                </a:tc>
              </a:tr>
              <a:tr h="624927">
                <a:tc>
                  <a:txBody>
                    <a:bodyPr wrap="square"/>
                    <a:lstStyle/>
                    <a:p>
                      <a:r>
                        <a:rPr sz="1576" b="1">
                          <a:solidFill>
                            <a:srgbClr val="33475B"/>
                          </a:solidFill>
                          <a:latin typeface="Aptos"/>
                        </a:rPr>
                        <a:t>Acceso nativo sin Swift ni Kotlin</a:t>
                      </a:r>
                    </a:p>
                  </a:txBody>
                  <a:tcPr anchor="ctr" marL="146304" marR="146304">
                    <a:solidFill>
                      <a:srgbClr val="FFFFFF"/>
                    </a:solidFill>
                  </a:tcPr>
                </a:tc>
                <a:tc>
                  <a:txBody>
                    <a:bodyPr wrap="square"/>
                    <a:lstStyle/>
                    <a:p>
                      <a:r>
                        <a:rPr sz="1576" b="0">
                          <a:solidFill>
                            <a:srgbClr val="33475B"/>
                          </a:solidFill>
                          <a:latin typeface="Aptos"/>
                        </a:rPr>
                        <a:t>Plugins oficiales y comunitarios</a:t>
                      </a:r>
                    </a:p>
                  </a:txBody>
                  <a:tcPr anchor="ctr" marL="146304" marR="146304">
                    <a:solidFill>
                      <a:srgbClr val="FFFFFF"/>
                    </a:solidFill>
                  </a:tcPr>
                </a:tc>
                <a:tc>
                  <a:txBody>
                    <a:bodyPr wrap="square"/>
                    <a:lstStyle/>
                    <a:p>
                      <a:r>
                        <a:rPr sz="1576" b="0">
                          <a:solidFill>
                            <a:srgbClr val="33475B"/>
                          </a:solidFill>
                          <a:latin typeface="Aptos"/>
                        </a:rPr>
                        <a:t>Depender de la calidad y el mantenimiento de cada plugin</a:t>
                      </a:r>
                    </a:p>
                  </a:txBody>
                  <a:tcPr anchor="ctr" marL="146304" marR="146304">
                    <a:solidFill>
                      <a:srgbClr val="FFFFFF"/>
                    </a:solidFill>
                  </a:tcPr>
                </a:tc>
              </a:tr>
              <a:tr h="624927">
                <a:tc>
                  <a:txBody>
                    <a:bodyPr wrap="square"/>
                    <a:lstStyle/>
                    <a:p>
                      <a:r>
                        <a:rPr sz="1576" b="1">
                          <a:solidFill>
                            <a:srgbClr val="33475B"/>
                          </a:solidFill>
                          <a:latin typeface="Aptos"/>
                        </a:rPr>
                        <a:t>Mantenimiento por modularidad</a:t>
                      </a:r>
                    </a:p>
                  </a:txBody>
                  <a:tcPr anchor="ctr" marL="146304" marR="146304">
                    <a:solidFill>
                      <a:srgbClr val="F4F7FA"/>
                    </a:solidFill>
                  </a:tcPr>
                </a:tc>
                <a:tc>
                  <a:txBody>
                    <a:bodyPr wrap="square"/>
                    <a:lstStyle/>
                    <a:p>
                      <a:r>
                        <a:rPr sz="1576" b="0">
                          <a:solidFill>
                            <a:srgbClr val="33475B"/>
                          </a:solidFill>
                          <a:latin typeface="Aptos"/>
                        </a:rPr>
                        <a:t>La estructura que ofrece el framework</a:t>
                      </a:r>
                    </a:p>
                  </a:txBody>
                  <a:tcPr anchor="ctr" marL="146304" marR="146304">
                    <a:solidFill>
                      <a:srgbClr val="F4F7FA"/>
                    </a:solidFill>
                  </a:tcPr>
                </a:tc>
                <a:tc>
                  <a:txBody>
                    <a:bodyPr wrap="square"/>
                    <a:lstStyle/>
                    <a:p>
                      <a:r>
                        <a:rPr sz="1576" b="0">
                          <a:solidFill>
                            <a:srgbClr val="33475B"/>
                          </a:solidFill>
                          <a:latin typeface="Aptos"/>
                        </a:rPr>
                        <a:t>Solo si la arquitectura se decide: no se impone sola</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Cuatro enfoques, ocho criterios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2212848"/>
                <a:gridCol w="2212848"/>
                <a:gridCol w="2212848"/>
                <a:gridCol w="2212848"/>
                <a:gridCol w="2212848"/>
              </a:tblGrid>
              <a:tr h="486054">
                <a:tc>
                  <a:txBody>
                    <a:bodyPr wrap="square"/>
                    <a:lstStyle/>
                    <a:p>
                      <a:r>
                        <a:rPr sz="1513" b="1">
                          <a:solidFill>
                            <a:srgbClr val="FFFFFF"/>
                          </a:solidFill>
                          <a:latin typeface="Aptos"/>
                        </a:rPr>
                        <a:t>Criterio</a:t>
                      </a:r>
                    </a:p>
                  </a:txBody>
                  <a:tcPr anchor="ctr" marL="146304" marR="146304">
                    <a:solidFill>
                      <a:srgbClr val="156082"/>
                    </a:solidFill>
                  </a:tcPr>
                </a:tc>
                <a:tc>
                  <a:txBody>
                    <a:bodyPr wrap="square"/>
                    <a:lstStyle/>
                    <a:p>
                      <a:r>
                        <a:rPr sz="1513" b="1">
                          <a:solidFill>
                            <a:srgbClr val="FFFFFF"/>
                          </a:solidFill>
                          <a:latin typeface="Aptos"/>
                        </a:rPr>
                        <a:t>Nativo</a:t>
                      </a:r>
                    </a:p>
                  </a:txBody>
                  <a:tcPr anchor="ctr" marL="146304" marR="146304">
                    <a:solidFill>
                      <a:srgbClr val="156082"/>
                    </a:solidFill>
                  </a:tcPr>
                </a:tc>
                <a:tc>
                  <a:txBody>
                    <a:bodyPr wrap="square"/>
                    <a:lstStyle/>
                    <a:p>
                      <a:r>
                        <a:rPr sz="1513" b="1">
                          <a:solidFill>
                            <a:srgbClr val="FFFFFF"/>
                          </a:solidFill>
                          <a:latin typeface="Aptos"/>
                        </a:rPr>
                        <a:t>Híbrido</a:t>
                      </a:r>
                    </a:p>
                  </a:txBody>
                  <a:tcPr anchor="ctr" marL="146304" marR="146304">
                    <a:solidFill>
                      <a:srgbClr val="156082"/>
                    </a:solidFill>
                  </a:tcPr>
                </a:tc>
                <a:tc>
                  <a:txBody>
                    <a:bodyPr wrap="square"/>
                    <a:lstStyle/>
                    <a:p>
                      <a:r>
                        <a:rPr sz="1513" b="1">
                          <a:solidFill>
                            <a:srgbClr val="FFFFFF"/>
                          </a:solidFill>
                          <a:latin typeface="Aptos"/>
                        </a:rPr>
                        <a:t>Multiplataforma</a:t>
                      </a:r>
                    </a:p>
                  </a:txBody>
                  <a:tcPr anchor="ctr" marL="146304" marR="146304">
                    <a:solidFill>
                      <a:srgbClr val="156082"/>
                    </a:solidFill>
                  </a:tcPr>
                </a:tc>
                <a:tc>
                  <a:txBody>
                    <a:bodyPr wrap="square"/>
                    <a:lstStyle/>
                    <a:p>
                      <a:r>
                        <a:rPr sz="1513" b="1">
                          <a:solidFill>
                            <a:srgbClr val="FFFFFF"/>
                          </a:solidFill>
                          <a:latin typeface="Aptos"/>
                        </a:rPr>
                        <a:t>PWA</a:t>
                      </a:r>
                    </a:p>
                  </a:txBody>
                  <a:tcPr anchor="ctr" marL="146304" marR="146304">
                    <a:solidFill>
                      <a:srgbClr val="156082"/>
                    </a:solidFill>
                  </a:tcPr>
                </a:tc>
              </a:tr>
              <a:tr h="486054">
                <a:tc>
                  <a:txBody>
                    <a:bodyPr wrap="square"/>
                    <a:lstStyle/>
                    <a:p>
                      <a:r>
                        <a:rPr sz="1412" b="1">
                          <a:solidFill>
                            <a:srgbClr val="33475B"/>
                          </a:solidFill>
                          <a:latin typeface="Aptos"/>
                        </a:rPr>
                        <a:t>Bases de código</a:t>
                      </a:r>
                    </a:p>
                  </a:txBody>
                  <a:tcPr anchor="ctr" marL="146304" marR="146304">
                    <a:solidFill>
                      <a:srgbClr val="FFFFFF"/>
                    </a:solidFill>
                  </a:tcPr>
                </a:tc>
                <a:tc>
                  <a:txBody>
                    <a:bodyPr wrap="square"/>
                    <a:lstStyle/>
                    <a:p>
                      <a:r>
                        <a:rPr sz="1412" b="0">
                          <a:solidFill>
                            <a:srgbClr val="33475B"/>
                          </a:solidFill>
                          <a:latin typeface="Aptos"/>
                        </a:rPr>
                        <a:t>Una por SO</a:t>
                      </a:r>
                    </a:p>
                  </a:txBody>
                  <a:tcPr anchor="ctr" marL="146304" marR="146304">
                    <a:solidFill>
                      <a:srgbClr val="FFFFFF"/>
                    </a:solidFill>
                  </a:tcPr>
                </a:tc>
                <a:tc>
                  <a:txBody>
                    <a:bodyPr wrap="square"/>
                    <a:lstStyle/>
                    <a:p>
                      <a:r>
                        <a:rPr sz="1412" b="0">
                          <a:solidFill>
                            <a:srgbClr val="33475B"/>
                          </a:solidFill>
                          <a:latin typeface="Aptos"/>
                        </a:rPr>
                        <a:t>Una web + nativos delgados</a:t>
                      </a:r>
                    </a:p>
                  </a:txBody>
                  <a:tcPr anchor="ctr" marL="146304" marR="146304">
                    <a:solidFill>
                      <a:srgbClr val="FFFFFF"/>
                    </a:solidFill>
                  </a:tcPr>
                </a:tc>
                <a:tc>
                  <a:txBody>
                    <a:bodyPr wrap="square"/>
                    <a:lstStyle/>
                    <a:p>
                      <a:r>
                        <a:rPr sz="1412" b="0">
                          <a:solidFill>
                            <a:srgbClr val="33475B"/>
                          </a:solidFill>
                          <a:latin typeface="Aptos"/>
                        </a:rPr>
                        <a:t>Una: Dart o TS</a:t>
                      </a:r>
                    </a:p>
                  </a:txBody>
                  <a:tcPr anchor="ctr" marL="146304" marR="146304">
                    <a:solidFill>
                      <a:srgbClr val="FFFFFF"/>
                    </a:solidFill>
                  </a:tcPr>
                </a:tc>
                <a:tc>
                  <a:txBody>
                    <a:bodyPr wrap="square"/>
                    <a:lstStyle/>
                    <a:p>
                      <a:r>
                        <a:rPr sz="1412" b="0">
                          <a:solidFill>
                            <a:srgbClr val="33475B"/>
                          </a:solidFill>
                          <a:latin typeface="Aptos"/>
                        </a:rPr>
                        <a:t>Una web</a:t>
                      </a:r>
                    </a:p>
                  </a:txBody>
                  <a:tcPr anchor="ctr" marL="146304" marR="146304">
                    <a:solidFill>
                      <a:srgbClr val="FFFFFF"/>
                    </a:solidFill>
                  </a:tcPr>
                </a:tc>
              </a:tr>
              <a:tr h="486054">
                <a:tc>
                  <a:txBody>
                    <a:bodyPr wrap="square"/>
                    <a:lstStyle/>
                    <a:p>
                      <a:r>
                        <a:rPr sz="1412" b="1">
                          <a:solidFill>
                            <a:srgbClr val="33475B"/>
                          </a:solidFill>
                          <a:latin typeface="Aptos"/>
                        </a:rPr>
                        <a:t>Dibuja la UI</a:t>
                      </a:r>
                    </a:p>
                  </a:txBody>
                  <a:tcPr anchor="ctr" marL="146304" marR="146304">
                    <a:solidFill>
                      <a:srgbClr val="F4F7FA"/>
                    </a:solidFill>
                  </a:tcPr>
                </a:tc>
                <a:tc>
                  <a:txBody>
                    <a:bodyPr wrap="square"/>
                    <a:lstStyle/>
                    <a:p>
                      <a:r>
                        <a:rPr sz="1412" b="0">
                          <a:solidFill>
                            <a:srgbClr val="33475B"/>
                          </a:solidFill>
                          <a:latin typeface="Aptos"/>
                        </a:rPr>
                        <a:t>El sistema</a:t>
                      </a:r>
                    </a:p>
                  </a:txBody>
                  <a:tcPr anchor="ctr" marL="146304" marR="146304">
                    <a:solidFill>
                      <a:srgbClr val="F4F7FA"/>
                    </a:solidFill>
                  </a:tcPr>
                </a:tc>
                <a:tc>
                  <a:txBody>
                    <a:bodyPr wrap="square"/>
                    <a:lstStyle/>
                    <a:p>
                      <a:r>
                        <a:rPr sz="1412" b="0">
                          <a:solidFill>
                            <a:srgbClr val="33475B"/>
                          </a:solidFill>
                          <a:latin typeface="Aptos"/>
                        </a:rPr>
                        <a:t>HTML y CSS en WebView</a:t>
                      </a:r>
                    </a:p>
                  </a:txBody>
                  <a:tcPr anchor="ctr" marL="146304" marR="146304">
                    <a:solidFill>
                      <a:srgbClr val="F4F7FA"/>
                    </a:solidFill>
                  </a:tcPr>
                </a:tc>
                <a:tc>
                  <a:txBody>
                    <a:bodyPr wrap="square"/>
                    <a:lstStyle/>
                    <a:p>
                      <a:r>
                        <a:rPr sz="1412" b="0">
                          <a:solidFill>
                            <a:srgbClr val="33475B"/>
                          </a:solidFill>
                          <a:latin typeface="Aptos"/>
                        </a:rPr>
                        <a:t>Motor propio o vistas nativas</a:t>
                      </a:r>
                    </a:p>
                  </a:txBody>
                  <a:tcPr anchor="ctr" marL="146304" marR="146304">
                    <a:solidFill>
                      <a:srgbClr val="F4F7FA"/>
                    </a:solidFill>
                  </a:tcPr>
                </a:tc>
                <a:tc>
                  <a:txBody>
                    <a:bodyPr wrap="square"/>
                    <a:lstStyle/>
                    <a:p>
                      <a:r>
                        <a:rPr sz="1412" b="0">
                          <a:solidFill>
                            <a:srgbClr val="33475B"/>
                          </a:solidFill>
                          <a:latin typeface="Aptos"/>
                        </a:rPr>
                        <a:t>El navegador</a:t>
                      </a:r>
                    </a:p>
                  </a:txBody>
                  <a:tcPr anchor="ctr" marL="146304" marR="146304">
                    <a:solidFill>
                      <a:srgbClr val="F4F7FA"/>
                    </a:solidFill>
                  </a:tcPr>
                </a:tc>
              </a:tr>
              <a:tr h="486054">
                <a:tc>
                  <a:txBody>
                    <a:bodyPr wrap="square"/>
                    <a:lstStyle/>
                    <a:p>
                      <a:r>
                        <a:rPr sz="1412" b="1">
                          <a:solidFill>
                            <a:srgbClr val="33475B"/>
                          </a:solidFill>
                          <a:latin typeface="Aptos"/>
                        </a:rPr>
                        <a:t>APIs del equipo</a:t>
                      </a:r>
                    </a:p>
                  </a:txBody>
                  <a:tcPr anchor="ctr" marL="146304" marR="146304">
                    <a:solidFill>
                      <a:srgbClr val="FFFFFF"/>
                    </a:solidFill>
                  </a:tcPr>
                </a:tc>
                <a:tc>
                  <a:txBody>
                    <a:bodyPr wrap="square"/>
                    <a:lstStyle/>
                    <a:p>
                      <a:r>
                        <a:rPr sz="1412" b="0">
                          <a:solidFill>
                            <a:srgbClr val="33475B"/>
                          </a:solidFill>
                          <a:latin typeface="Aptos"/>
                        </a:rPr>
                        <a:t>Todas, ya</a:t>
                      </a:r>
                    </a:p>
                  </a:txBody>
                  <a:tcPr anchor="ctr" marL="146304" marR="146304">
                    <a:solidFill>
                      <a:srgbClr val="FFFFFF"/>
                    </a:solidFill>
                  </a:tcPr>
                </a:tc>
                <a:tc>
                  <a:txBody>
                    <a:bodyPr wrap="square"/>
                    <a:lstStyle/>
                    <a:p>
                      <a:r>
                        <a:rPr sz="1412" b="0">
                          <a:solidFill>
                            <a:srgbClr val="33475B"/>
                          </a:solidFill>
                          <a:latin typeface="Aptos"/>
                        </a:rPr>
                        <a:t>Plugins o Kotlin y Swift</a:t>
                      </a:r>
                    </a:p>
                  </a:txBody>
                  <a:tcPr anchor="ctr" marL="146304" marR="146304">
                    <a:solidFill>
                      <a:srgbClr val="FFFFFF"/>
                    </a:solidFill>
                  </a:tcPr>
                </a:tc>
                <a:tc>
                  <a:txBody>
                    <a:bodyPr wrap="square"/>
                    <a:lstStyle/>
                    <a:p>
                      <a:r>
                        <a:rPr sz="1412" b="0">
                          <a:solidFill>
                            <a:srgbClr val="33475B"/>
                          </a:solidFill>
                          <a:latin typeface="Aptos"/>
                        </a:rPr>
                        <a:t>Plugins o módulos</a:t>
                      </a:r>
                    </a:p>
                  </a:txBody>
                  <a:tcPr anchor="ctr" marL="146304" marR="146304">
                    <a:solidFill>
                      <a:srgbClr val="FFFFFF"/>
                    </a:solidFill>
                  </a:tcPr>
                </a:tc>
                <a:tc>
                  <a:txBody>
                    <a:bodyPr wrap="square"/>
                    <a:lstStyle/>
                    <a:p>
                      <a:r>
                        <a:rPr sz="1412" b="0">
                          <a:solidFill>
                            <a:srgbClr val="33475B"/>
                          </a:solidFill>
                          <a:latin typeface="Aptos"/>
                        </a:rPr>
                        <a:t>Las del navegador</a:t>
                      </a:r>
                    </a:p>
                  </a:txBody>
                  <a:tcPr anchor="ctr" marL="146304" marR="146304">
                    <a:solidFill>
                      <a:srgbClr val="FFFFFF"/>
                    </a:solidFill>
                  </a:tcPr>
                </a:tc>
              </a:tr>
              <a:tr h="486054">
                <a:tc>
                  <a:txBody>
                    <a:bodyPr wrap="square"/>
                    <a:lstStyle/>
                    <a:p>
                      <a:r>
                        <a:rPr sz="1412" b="1">
                          <a:solidFill>
                            <a:srgbClr val="33475B"/>
                          </a:solidFill>
                          <a:latin typeface="Aptos"/>
                        </a:rPr>
                        <a:t>UI intensiva, 3D</a:t>
                      </a:r>
                    </a:p>
                  </a:txBody>
                  <a:tcPr anchor="ctr" marL="146304" marR="146304">
                    <a:solidFill>
                      <a:srgbClr val="F4F7FA"/>
                    </a:solidFill>
                  </a:tcPr>
                </a:tc>
                <a:tc>
                  <a:txBody>
                    <a:bodyPr wrap="square"/>
                    <a:lstStyle/>
                    <a:p>
                      <a:r>
                        <a:rPr sz="1412" b="0">
                          <a:solidFill>
                            <a:srgbClr val="33475B"/>
                          </a:solidFill>
                          <a:latin typeface="Aptos"/>
                        </a:rPr>
                        <a:t>Máximo</a:t>
                      </a:r>
                    </a:p>
                  </a:txBody>
                  <a:tcPr anchor="ctr" marL="146304" marR="146304">
                    <a:solidFill>
                      <a:srgbClr val="F4F7FA"/>
                    </a:solidFill>
                  </a:tcPr>
                </a:tc>
                <a:tc>
                  <a:txBody>
                    <a:bodyPr wrap="square"/>
                    <a:lstStyle/>
                    <a:p>
                      <a:r>
                        <a:rPr sz="1412" b="0">
                          <a:solidFill>
                            <a:srgbClr val="33475B"/>
                          </a:solidFill>
                          <a:latin typeface="Aptos"/>
                        </a:rPr>
                        <a:t>Techo en gráficos</a:t>
                      </a:r>
                    </a:p>
                  </a:txBody>
                  <a:tcPr anchor="ctr" marL="146304" marR="146304">
                    <a:solidFill>
                      <a:srgbClr val="F4F7FA"/>
                    </a:solidFill>
                  </a:tcPr>
                </a:tc>
                <a:tc>
                  <a:txBody>
                    <a:bodyPr wrap="square"/>
                    <a:lstStyle/>
                    <a:p>
                      <a:r>
                        <a:rPr sz="1412" b="0">
                          <a:solidFill>
                            <a:srgbClr val="33475B"/>
                          </a:solidFill>
                          <a:latin typeface="Aptos"/>
                        </a:rPr>
                        <a:t>Alto</a:t>
                      </a:r>
                    </a:p>
                  </a:txBody>
                  <a:tcPr anchor="ctr" marL="146304" marR="146304">
                    <a:solidFill>
                      <a:srgbClr val="F4F7FA"/>
                    </a:solidFill>
                  </a:tcPr>
                </a:tc>
                <a:tc>
                  <a:txBody>
                    <a:bodyPr wrap="square"/>
                    <a:lstStyle/>
                    <a:p>
                      <a:r>
                        <a:rPr sz="1412" b="0">
                          <a:solidFill>
                            <a:srgbClr val="33475B"/>
                          </a:solidFill>
                          <a:latin typeface="Aptos"/>
                        </a:rPr>
                        <a:t>El más limitado</a:t>
                      </a:r>
                    </a:p>
                  </a:txBody>
                  <a:tcPr anchor="ctr" marL="146304" marR="146304">
                    <a:solidFill>
                      <a:srgbClr val="F4F7FA"/>
                    </a:solidFill>
                  </a:tcPr>
                </a:tc>
              </a:tr>
              <a:tr h="486054">
                <a:tc>
                  <a:txBody>
                    <a:bodyPr wrap="square"/>
                    <a:lstStyle/>
                    <a:p>
                      <a:r>
                        <a:rPr sz="1412" b="1">
                          <a:solidFill>
                            <a:srgbClr val="33475B"/>
                          </a:solidFill>
                          <a:latin typeface="Aptos"/>
                        </a:rPr>
                        <a:t>Distribución</a:t>
                      </a:r>
                    </a:p>
                  </a:txBody>
                  <a:tcPr anchor="ctr" marL="146304" marR="146304">
                    <a:solidFill>
                      <a:srgbClr val="FFFFFF"/>
                    </a:solidFill>
                  </a:tcPr>
                </a:tc>
                <a:tc>
                  <a:txBody>
                    <a:bodyPr wrap="square"/>
                    <a:lstStyle/>
                    <a:p>
                      <a:r>
                        <a:rPr sz="1412" b="0">
                          <a:solidFill>
                            <a:srgbClr val="33475B"/>
                          </a:solidFill>
                          <a:latin typeface="Aptos"/>
                        </a:rPr>
                        <a:t>Tiendas</a:t>
                      </a:r>
                    </a:p>
                  </a:txBody>
                  <a:tcPr anchor="ctr" marL="146304" marR="146304">
                    <a:solidFill>
                      <a:srgbClr val="FFFFFF"/>
                    </a:solidFill>
                  </a:tcPr>
                </a:tc>
                <a:tc>
                  <a:txBody>
                    <a:bodyPr wrap="square"/>
                    <a:lstStyle/>
                    <a:p>
                      <a:r>
                        <a:rPr sz="1412" b="0">
                          <a:solidFill>
                            <a:srgbClr val="33475B"/>
                          </a:solidFill>
                          <a:latin typeface="Aptos"/>
                        </a:rPr>
                        <a:t>Tiendas</a:t>
                      </a:r>
                    </a:p>
                  </a:txBody>
                  <a:tcPr anchor="ctr" marL="146304" marR="146304">
                    <a:solidFill>
                      <a:srgbClr val="FFFFFF"/>
                    </a:solidFill>
                  </a:tcPr>
                </a:tc>
                <a:tc>
                  <a:txBody>
                    <a:bodyPr wrap="square"/>
                    <a:lstStyle/>
                    <a:p>
                      <a:r>
                        <a:rPr sz="1412" b="0">
                          <a:solidFill>
                            <a:srgbClr val="33475B"/>
                          </a:solidFill>
                          <a:latin typeface="Aptos"/>
                        </a:rPr>
                        <a:t>Tiendas</a:t>
                      </a:r>
                    </a:p>
                  </a:txBody>
                  <a:tcPr anchor="ctr" marL="146304" marR="146304">
                    <a:solidFill>
                      <a:srgbClr val="FFFFFF"/>
                    </a:solidFill>
                  </a:tcPr>
                </a:tc>
                <a:tc>
                  <a:txBody>
                    <a:bodyPr wrap="square"/>
                    <a:lstStyle/>
                    <a:p>
                      <a:r>
                        <a:rPr sz="1412" b="0">
                          <a:solidFill>
                            <a:srgbClr val="33475B"/>
                          </a:solidFill>
                          <a:latin typeface="Aptos"/>
                        </a:rPr>
                        <a:t>URL y navegador</a:t>
                      </a:r>
                    </a:p>
                  </a:txBody>
                  <a:tcPr anchor="ctr" marL="146304" marR="146304">
                    <a:solidFill>
                      <a:srgbClr val="FFFFFF"/>
                    </a:solidFill>
                  </a:tcPr>
                </a:tc>
              </a:tr>
              <a:tr h="486054">
                <a:tc>
                  <a:txBody>
                    <a:bodyPr wrap="square"/>
                    <a:lstStyle/>
                    <a:p>
                      <a:r>
                        <a:rPr sz="1412" b="1">
                          <a:solidFill>
                            <a:srgbClr val="33475B"/>
                          </a:solidFill>
                          <a:latin typeface="Aptos"/>
                        </a:rPr>
                        <a:t>Perfil del equipo</a:t>
                      </a:r>
                    </a:p>
                  </a:txBody>
                  <a:tcPr anchor="ctr" marL="146304" marR="146304">
                    <a:solidFill>
                      <a:srgbClr val="F4F7FA"/>
                    </a:solidFill>
                  </a:tcPr>
                </a:tc>
                <a:tc>
                  <a:txBody>
                    <a:bodyPr wrap="square"/>
                    <a:lstStyle/>
                    <a:p>
                      <a:r>
                        <a:rPr sz="1412" b="0">
                          <a:solidFill>
                            <a:srgbClr val="33475B"/>
                          </a:solidFill>
                          <a:latin typeface="Aptos"/>
                        </a:rPr>
                        <a:t>Dos perfiles</a:t>
                      </a:r>
                    </a:p>
                  </a:txBody>
                  <a:tcPr anchor="ctr" marL="146304" marR="146304">
                    <a:solidFill>
                      <a:srgbClr val="F4F7FA"/>
                    </a:solidFill>
                  </a:tcPr>
                </a:tc>
                <a:tc>
                  <a:txBody>
                    <a:bodyPr wrap="square"/>
                    <a:lstStyle/>
                    <a:p>
                      <a:r>
                        <a:rPr sz="1412" b="0">
                          <a:solidFill>
                            <a:srgbClr val="33475B"/>
                          </a:solidFill>
                          <a:latin typeface="Aptos"/>
                        </a:rPr>
                        <a:t>Web: TS + framework</a:t>
                      </a:r>
                    </a:p>
                  </a:txBody>
                  <a:tcPr anchor="ctr" marL="146304" marR="146304">
                    <a:solidFill>
                      <a:srgbClr val="F4F7FA"/>
                    </a:solidFill>
                  </a:tcPr>
                </a:tc>
                <a:tc>
                  <a:txBody>
                    <a:bodyPr wrap="square"/>
                    <a:lstStyle/>
                    <a:p>
                      <a:r>
                        <a:rPr sz="1412" b="0">
                          <a:solidFill>
                            <a:srgbClr val="33475B"/>
                          </a:solidFill>
                          <a:latin typeface="Aptos"/>
                        </a:rPr>
                        <a:t>Dart o React</a:t>
                      </a:r>
                    </a:p>
                  </a:txBody>
                  <a:tcPr anchor="ctr" marL="146304" marR="146304">
                    <a:solidFill>
                      <a:srgbClr val="F4F7FA"/>
                    </a:solidFill>
                  </a:tcPr>
                </a:tc>
                <a:tc>
                  <a:txBody>
                    <a:bodyPr wrap="square"/>
                    <a:lstStyle/>
                    <a:p>
                      <a:r>
                        <a:rPr sz="1412" b="0">
                          <a:solidFill>
                            <a:srgbClr val="33475B"/>
                          </a:solidFill>
                          <a:latin typeface="Aptos"/>
                        </a:rPr>
                        <a:t>Web</a:t>
                      </a:r>
                    </a:p>
                  </a:txBody>
                  <a:tcPr anchor="ctr" marL="146304" marR="146304">
                    <a:solidFill>
                      <a:srgbClr val="F4F7FA"/>
                    </a:solidFill>
                  </a:tcPr>
                </a:tc>
              </a:tr>
              <a:tr h="486054">
                <a:tc>
                  <a:txBody>
                    <a:bodyPr wrap="square"/>
                    <a:lstStyle/>
                    <a:p>
                      <a:r>
                        <a:rPr sz="1412" b="1">
                          <a:solidFill>
                            <a:srgbClr val="33475B"/>
                          </a:solidFill>
                          <a:latin typeface="Aptos"/>
                        </a:rPr>
                        <a:t>Costo de dos SO</a:t>
                      </a:r>
                    </a:p>
                  </a:txBody>
                  <a:tcPr anchor="ctr" marL="146304" marR="146304">
                    <a:solidFill>
                      <a:srgbClr val="FFFFFF"/>
                    </a:solidFill>
                  </a:tcPr>
                </a:tc>
                <a:tc>
                  <a:txBody>
                    <a:bodyPr wrap="square"/>
                    <a:lstStyle/>
                    <a:p>
                      <a:r>
                        <a:rPr sz="1412" b="0">
                          <a:solidFill>
                            <a:srgbClr val="33475B"/>
                          </a:solidFill>
                          <a:latin typeface="Aptos"/>
                        </a:rPr>
                        <a:t>Alto</a:t>
                      </a:r>
                    </a:p>
                  </a:txBody>
                  <a:tcPr anchor="ctr" marL="146304" marR="146304">
                    <a:solidFill>
                      <a:srgbClr val="FFFFFF"/>
                    </a:solidFill>
                  </a:tcPr>
                </a:tc>
                <a:tc>
                  <a:txBody>
                    <a:bodyPr wrap="square"/>
                    <a:lstStyle/>
                    <a:p>
                      <a:r>
                        <a:rPr sz="1412" b="0">
                          <a:solidFill>
                            <a:srgbClr val="33475B"/>
                          </a:solidFill>
                          <a:latin typeface="Aptos"/>
                        </a:rPr>
                        <a:t>Bajo</a:t>
                      </a:r>
                    </a:p>
                  </a:txBody>
                  <a:tcPr anchor="ctr" marL="146304" marR="146304">
                    <a:solidFill>
                      <a:srgbClr val="FFFFFF"/>
                    </a:solidFill>
                  </a:tcPr>
                </a:tc>
                <a:tc>
                  <a:txBody>
                    <a:bodyPr wrap="square"/>
                    <a:lstStyle/>
                    <a:p>
                      <a:r>
                        <a:rPr sz="1412" b="0">
                          <a:solidFill>
                            <a:srgbClr val="33475B"/>
                          </a:solidFill>
                          <a:latin typeface="Aptos"/>
                        </a:rPr>
                        <a:t>Bajo</a:t>
                      </a:r>
                    </a:p>
                  </a:txBody>
                  <a:tcPr anchor="ctr" marL="146304" marR="146304">
                    <a:solidFill>
                      <a:srgbClr val="FFFFFF"/>
                    </a:solidFill>
                  </a:tcPr>
                </a:tc>
                <a:tc>
                  <a:txBody>
                    <a:bodyPr wrap="square"/>
                    <a:lstStyle/>
                    <a:p>
                      <a:r>
                        <a:rPr sz="1412" b="0">
                          <a:solidFill>
                            <a:srgbClr val="33475B"/>
                          </a:solidFill>
                          <a:latin typeface="Aptos"/>
                        </a:rPr>
                        <a:t>Mínimo</a:t>
                      </a:r>
                    </a:p>
                  </a:txBody>
                  <a:tcPr anchor="ctr" marL="146304" marR="146304">
                    <a:solidFill>
                      <a:srgbClr val="FFFFFF"/>
                    </a:solidFill>
                  </a:tcPr>
                </a:tc>
              </a:tr>
              <a:tr h="486054">
                <a:tc>
                  <a:txBody>
                    <a:bodyPr wrap="square"/>
                    <a:lstStyle/>
                    <a:p>
                      <a:r>
                        <a:rPr sz="1412" b="1">
                          <a:solidFill>
                            <a:srgbClr val="33475B"/>
                          </a:solidFill>
                          <a:latin typeface="Aptos"/>
                        </a:rPr>
                        <a:t>Riesgo principal</a:t>
                      </a:r>
                    </a:p>
                  </a:txBody>
                  <a:tcPr anchor="ctr" marL="146304" marR="146304">
                    <a:solidFill>
                      <a:srgbClr val="F4F7FA"/>
                    </a:solidFill>
                  </a:tcPr>
                </a:tc>
                <a:tc>
                  <a:txBody>
                    <a:bodyPr wrap="square"/>
                    <a:lstStyle/>
                    <a:p>
                      <a:r>
                        <a:rPr sz="1412" b="0">
                          <a:solidFill>
                            <a:srgbClr val="33475B"/>
                          </a:solidFill>
                          <a:latin typeface="Aptos"/>
                        </a:rPr>
                        <a:t>Duplicación</a:t>
                      </a:r>
                    </a:p>
                  </a:txBody>
                  <a:tcPr anchor="ctr" marL="146304" marR="146304">
                    <a:solidFill>
                      <a:srgbClr val="F4F7FA"/>
                    </a:solidFill>
                  </a:tcPr>
                </a:tc>
                <a:tc>
                  <a:txBody>
                    <a:bodyPr wrap="square"/>
                    <a:lstStyle/>
                    <a:p>
                      <a:r>
                        <a:rPr sz="1412" b="0">
                          <a:solidFill>
                            <a:srgbClr val="33475B"/>
                          </a:solidFill>
                          <a:latin typeface="Aptos"/>
                        </a:rPr>
                        <a:t>Techo y plugins</a:t>
                      </a:r>
                    </a:p>
                  </a:txBody>
                  <a:tcPr anchor="ctr" marL="146304" marR="146304">
                    <a:solidFill>
                      <a:srgbClr val="F4F7FA"/>
                    </a:solidFill>
                  </a:tcPr>
                </a:tc>
                <a:tc>
                  <a:txBody>
                    <a:bodyPr wrap="square"/>
                    <a:lstStyle/>
                    <a:p>
                      <a:r>
                        <a:rPr sz="1412" b="0">
                          <a:solidFill>
                            <a:srgbClr val="33475B"/>
                          </a:solidFill>
                          <a:latin typeface="Aptos"/>
                        </a:rPr>
                        <a:t>Motor y ecosistema</a:t>
                      </a:r>
                    </a:p>
                  </a:txBody>
                  <a:tcPr anchor="ctr" marL="146304" marR="146304">
                    <a:solidFill>
                      <a:srgbClr val="F4F7FA"/>
                    </a:solidFill>
                  </a:tcPr>
                </a:tc>
                <a:tc>
                  <a:txBody>
                    <a:bodyPr wrap="square"/>
                    <a:lstStyle/>
                    <a:p>
                      <a:r>
                        <a:rPr sz="1412" b="0">
                          <a:solidFill>
                            <a:srgbClr val="33475B"/>
                          </a:solidFill>
                          <a:latin typeface="Aptos"/>
                        </a:rPr>
                        <a:t>Capacidades y tiendas</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requisitos que descartan híbrido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1820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572768"/>
            <a:ext cx="10698480" cy="596392"/>
          </a:xfrm>
          <a:prstGeom prst="rect">
            <a:avLst/>
          </a:prstGeom>
          <a:noFill/>
        </p:spPr>
        <p:txBody>
          <a:bodyPr wrap="square" anchor="ctr" lIns="0" rIns="0" tIns="0" bIns="0">
            <a:spAutoFit/>
          </a:bodyPr>
          <a:lstStyle/>
          <a:p>
            <a:pPr algn="l"/>
            <a:r>
              <a:rPr sz="2297" b="1">
                <a:solidFill>
                  <a:srgbClr val="0E2841"/>
                </a:solidFill>
                <a:latin typeface="Aptos"/>
              </a:rPr>
              <a:t>Gráficos intensivos: juegos, 3D, RA</a:t>
            </a:r>
          </a:p>
        </p:txBody>
      </p:sp>
      <p:sp>
        <p:nvSpPr>
          <p:cNvPr id="9" name="Oval 8"/>
          <p:cNvSpPr/>
          <p:nvPr/>
        </p:nvSpPr>
        <p:spPr>
          <a:xfrm>
            <a:off x="585216" y="241706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69160"/>
            <a:ext cx="10698480" cy="596392"/>
          </a:xfrm>
          <a:prstGeom prst="rect">
            <a:avLst/>
          </a:prstGeom>
          <a:noFill/>
        </p:spPr>
        <p:txBody>
          <a:bodyPr wrap="square" anchor="ctr" lIns="0" rIns="0" tIns="0" bIns="0">
            <a:spAutoFit/>
          </a:bodyPr>
          <a:lstStyle/>
          <a:p>
            <a:pPr algn="l"/>
            <a:r>
              <a:rPr sz="2297" b="1">
                <a:solidFill>
                  <a:srgbClr val="0E2841"/>
                </a:solidFill>
                <a:latin typeface="Aptos"/>
              </a:rPr>
              <a:t>Hardware en tiempo real: video, audio, sensores</a:t>
            </a:r>
          </a:p>
        </p:txBody>
      </p:sp>
      <p:sp>
        <p:nvSpPr>
          <p:cNvPr id="11" name="Oval 10"/>
          <p:cNvSpPr/>
          <p:nvPr/>
        </p:nvSpPr>
        <p:spPr>
          <a:xfrm>
            <a:off x="585216" y="30134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765552"/>
            <a:ext cx="10698480" cy="596392"/>
          </a:xfrm>
          <a:prstGeom prst="rect">
            <a:avLst/>
          </a:prstGeom>
          <a:noFill/>
        </p:spPr>
        <p:txBody>
          <a:bodyPr wrap="square" anchor="ctr" lIns="0" rIns="0" tIns="0" bIns="0">
            <a:spAutoFit/>
          </a:bodyPr>
          <a:lstStyle/>
          <a:p>
            <a:pPr algn="l"/>
            <a:r>
              <a:rPr sz="2297" b="1">
                <a:solidFill>
                  <a:srgbClr val="0E2841"/>
                </a:solidFill>
                <a:latin typeface="Aptos"/>
              </a:rPr>
              <a:t>Segundo plano pesado: Bluetooth, rastreo continuo</a:t>
            </a:r>
          </a:p>
        </p:txBody>
      </p:sp>
      <p:sp>
        <p:nvSpPr>
          <p:cNvPr id="13" name="Oval 12"/>
          <p:cNvSpPr/>
          <p:nvPr/>
        </p:nvSpPr>
        <p:spPr>
          <a:xfrm>
            <a:off x="585216" y="360984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361944"/>
            <a:ext cx="10698480" cy="596392"/>
          </a:xfrm>
          <a:prstGeom prst="rect">
            <a:avLst/>
          </a:prstGeom>
          <a:noFill/>
        </p:spPr>
        <p:txBody>
          <a:bodyPr wrap="square" anchor="ctr" lIns="0" rIns="0" tIns="0" bIns="0">
            <a:spAutoFit/>
          </a:bodyPr>
          <a:lstStyle/>
          <a:p>
            <a:pPr algn="l"/>
            <a:r>
              <a:rPr sz="2297" b="1">
                <a:solidFill>
                  <a:srgbClr val="0E2841"/>
                </a:solidFill>
                <a:latin typeface="Aptos"/>
              </a:rPr>
              <a:t>La experiencia de plataforma es el producto</a:t>
            </a:r>
          </a:p>
        </p:txBody>
      </p:sp>
      <p:sp>
        <p:nvSpPr>
          <p:cNvPr id="15" name="Oval 14"/>
          <p:cNvSpPr/>
          <p:nvPr/>
        </p:nvSpPr>
        <p:spPr>
          <a:xfrm>
            <a:off x="585216" y="420624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958336"/>
            <a:ext cx="10698480" cy="596392"/>
          </a:xfrm>
          <a:prstGeom prst="rect">
            <a:avLst/>
          </a:prstGeom>
          <a:noFill/>
        </p:spPr>
        <p:txBody>
          <a:bodyPr wrap="square" anchor="ctr" lIns="0" rIns="0" tIns="0" bIns="0">
            <a:spAutoFit/>
          </a:bodyPr>
          <a:lstStyle/>
          <a:p>
            <a:pPr algn="l"/>
            <a:r>
              <a:rPr sz="2297" b="1">
                <a:solidFill>
                  <a:srgbClr val="0E2841"/>
                </a:solidFill>
                <a:latin typeface="Aptos"/>
              </a:rPr>
              <a:t>API nueva sin plugin ni quien lo escriba</a:t>
            </a:r>
          </a:p>
        </p:txBody>
      </p:sp>
      <p:sp>
        <p:nvSpPr>
          <p:cNvPr id="17" name="Rounded Rectangle 16"/>
          <p:cNvSpPr/>
          <p:nvPr/>
        </p:nvSpPr>
        <p:spPr>
          <a:xfrm>
            <a:off x="566928" y="4755896"/>
            <a:ext cx="11064240" cy="157175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810760"/>
            <a:ext cx="63500" cy="14620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5896"/>
            <a:ext cx="10378440" cy="1571752"/>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La pregunta no es «¿qué tecnología es mejor?», sino «¿qué requisito de mi app descarta alguna?». La Bitácora no supera el techo del WebView.</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App con formularios, foto, GPS y modo offline en Android e iOS; la pareja solo domina TypeScript. ¿Qué hace defendible el híbrido?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WebView ofrece hoy el mismo rendimiento gráfico que la UI nativa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Ningún requisito de la app exige algo que el WebView no pueda dar</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Las PWA no pueden acceder a la cámara en ningún sistema operativo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Capacitor elimina la necesidad de mantener proyectos nativos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Del TypeScript al hardware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Qué ocurre entre tu código Angular y la cámara del teléfono</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capas entre tu código y la cámara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92315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81342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923154"/>
          </a:xfrm>
          <a:prstGeom prst="rect">
            <a:avLst/>
          </a:prstGeom>
          <a:noFill/>
        </p:spPr>
        <p:txBody>
          <a:bodyPr wrap="square" anchor="ctr" lIns="0" rIns="0" tIns="0" bIns="0">
            <a:spAutoFit/>
          </a:bodyPr>
          <a:lstStyle/>
          <a:p>
            <a:pPr algn="l">
              <a:lnSpc>
                <a:spcPct val="125000"/>
              </a:lnSpc>
            </a:pPr>
            <a:r>
              <a:rPr sz="1866" b="1">
                <a:solidFill>
                  <a:srgbClr val="0E2841"/>
                </a:solidFill>
                <a:latin typeface="Aptos Display"/>
              </a:rPr>
              <a:t>Ionic pinta la interfaz, Angular estructura la app y Capacitor empaqueta, aloja el WebView y ofrece el puente.</a:t>
            </a:r>
          </a:p>
        </p:txBody>
      </p:sp>
      <p:sp>
        <p:nvSpPr>
          <p:cNvPr id="10" name="Rounded Rectangle 9"/>
          <p:cNvSpPr/>
          <p:nvPr/>
        </p:nvSpPr>
        <p:spPr>
          <a:xfrm>
            <a:off x="566928" y="2697090"/>
            <a:ext cx="1106424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770242"/>
            <a:ext cx="63500" cy="349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697090"/>
            <a:ext cx="11064240" cy="496176"/>
          </a:xfrm>
          <a:prstGeom prst="rect">
            <a:avLst/>
          </a:prstGeom>
          <a:noFill/>
        </p:spPr>
        <p:txBody>
          <a:bodyPr wrap="square" anchor="ctr" lIns="0" rIns="0" tIns="0" bIns="0">
            <a:spAutoFit/>
          </a:bodyPr>
          <a:lstStyle/>
          <a:p>
            <a:pPr algn="ctr"/>
            <a:r>
              <a:rPr sz="1399" b="1">
                <a:solidFill>
                  <a:srgbClr val="0E2841"/>
                </a:solidFill>
                <a:latin typeface="Aptos Display"/>
              </a:rPr>
              <a:t>UI · componentes Ionic  ·  ion-list, ion-item, ion-modal; estilo md o ios</a:t>
            </a:r>
          </a:p>
        </p:txBody>
      </p:sp>
      <p:sp>
        <p:nvSpPr>
          <p:cNvPr id="13" name="Rounded Rectangle 12"/>
          <p:cNvSpPr/>
          <p:nvPr/>
        </p:nvSpPr>
        <p:spPr>
          <a:xfrm>
            <a:off x="1069848" y="3302183"/>
            <a:ext cx="1005840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9848" y="3375335"/>
            <a:ext cx="63500" cy="349872"/>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3302183"/>
            <a:ext cx="10058400" cy="496176"/>
          </a:xfrm>
          <a:prstGeom prst="rect">
            <a:avLst/>
          </a:prstGeom>
          <a:noFill/>
        </p:spPr>
        <p:txBody>
          <a:bodyPr wrap="square" anchor="ctr" lIns="0" rIns="0" tIns="0" bIns="0">
            <a:spAutoFit/>
          </a:bodyPr>
          <a:lstStyle/>
          <a:p>
            <a:pPr algn="ctr"/>
            <a:r>
              <a:rPr sz="1399" b="1">
                <a:solidFill>
                  <a:srgbClr val="0E2841"/>
                </a:solidFill>
                <a:latin typeface="Aptos Display"/>
              </a:rPr>
              <a:t>Angular · tu código TypeScript  ·  Rutas, páginas, casos de uso, DI y signals</a:t>
            </a:r>
          </a:p>
        </p:txBody>
      </p:sp>
      <p:sp>
        <p:nvSpPr>
          <p:cNvPr id="16" name="Rounded Rectangle 15"/>
          <p:cNvSpPr/>
          <p:nvPr/>
        </p:nvSpPr>
        <p:spPr>
          <a:xfrm>
            <a:off x="1572768" y="3907276"/>
            <a:ext cx="905256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72768" y="3980428"/>
            <a:ext cx="63500" cy="349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2768" y="3907276"/>
            <a:ext cx="9052560" cy="496176"/>
          </a:xfrm>
          <a:prstGeom prst="rect">
            <a:avLst/>
          </a:prstGeom>
          <a:noFill/>
        </p:spPr>
        <p:txBody>
          <a:bodyPr wrap="square" anchor="ctr" lIns="0" rIns="0" tIns="0" bIns="0">
            <a:spAutoFit/>
          </a:bodyPr>
          <a:lstStyle/>
          <a:p>
            <a:pPr algn="ctr"/>
            <a:r>
              <a:rPr sz="1399" b="1">
                <a:solidFill>
                  <a:srgbClr val="0E2841"/>
                </a:solidFill>
                <a:latin typeface="Aptos Display"/>
              </a:rPr>
              <a:t>WebView del sistema  ·  Sirve www/ desde un origen local</a:t>
            </a:r>
          </a:p>
        </p:txBody>
      </p:sp>
      <p:sp>
        <p:nvSpPr>
          <p:cNvPr id="19" name="Rounded Rectangle 18"/>
          <p:cNvSpPr/>
          <p:nvPr/>
        </p:nvSpPr>
        <p:spPr>
          <a:xfrm>
            <a:off x="2075688" y="4512369"/>
            <a:ext cx="804672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75688" y="4585521"/>
            <a:ext cx="63500" cy="349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75688" y="4512369"/>
            <a:ext cx="8046720" cy="496176"/>
          </a:xfrm>
          <a:prstGeom prst="rect">
            <a:avLst/>
          </a:prstGeom>
          <a:noFill/>
        </p:spPr>
        <p:txBody>
          <a:bodyPr wrap="square" anchor="ctr" lIns="0" rIns="0" tIns="0" bIns="0">
            <a:spAutoFit/>
          </a:bodyPr>
          <a:lstStyle/>
          <a:p>
            <a:pPr algn="ctr"/>
            <a:r>
              <a:rPr sz="1399" b="1">
                <a:solidFill>
                  <a:srgbClr val="0E2841"/>
                </a:solidFill>
                <a:latin typeface="Aptos Display"/>
              </a:rPr>
              <a:t>Puente Capacitor  ·  Asíncrono: mensaje serializado y promesa</a:t>
            </a:r>
          </a:p>
        </p:txBody>
      </p:sp>
      <p:sp>
        <p:nvSpPr>
          <p:cNvPr id="22" name="Rounded Rectangle 21"/>
          <p:cNvSpPr/>
          <p:nvPr/>
        </p:nvSpPr>
        <p:spPr>
          <a:xfrm>
            <a:off x="2578608" y="5117462"/>
            <a:ext cx="704088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78608" y="5190614"/>
            <a:ext cx="63500" cy="349872"/>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8608" y="5117462"/>
            <a:ext cx="7040880" cy="496176"/>
          </a:xfrm>
          <a:prstGeom prst="rect">
            <a:avLst/>
          </a:prstGeom>
          <a:noFill/>
        </p:spPr>
        <p:txBody>
          <a:bodyPr wrap="square" anchor="ctr" lIns="0" rIns="0" tIns="0" bIns="0">
            <a:spAutoFit/>
          </a:bodyPr>
          <a:lstStyle/>
          <a:p>
            <a:pPr algn="ctr"/>
            <a:r>
              <a:rPr sz="1399" b="1">
                <a:solidFill>
                  <a:srgbClr val="0E2841"/>
                </a:solidFill>
                <a:latin typeface="Aptos Display"/>
              </a:rPr>
              <a:t>Plugins nativos  ·  Kotlin o Java · Swift</a:t>
            </a:r>
          </a:p>
        </p:txBody>
      </p:sp>
      <p:sp>
        <p:nvSpPr>
          <p:cNvPr id="25" name="Rounded Rectangle 24"/>
          <p:cNvSpPr/>
          <p:nvPr/>
        </p:nvSpPr>
        <p:spPr>
          <a:xfrm>
            <a:off x="3081528" y="5722555"/>
            <a:ext cx="6035040" cy="49617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81528" y="5795707"/>
            <a:ext cx="63500" cy="349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81528" y="5722555"/>
            <a:ext cx="6035040" cy="496176"/>
          </a:xfrm>
          <a:prstGeom prst="rect">
            <a:avLst/>
          </a:prstGeom>
          <a:noFill/>
        </p:spPr>
        <p:txBody>
          <a:bodyPr wrap="square" anchor="ctr" lIns="0" rIns="0" tIns="0" bIns="0">
            <a:spAutoFit/>
          </a:bodyPr>
          <a:lstStyle/>
          <a:p>
            <a:pPr algn="ctr"/>
            <a:r>
              <a:rPr sz="1399" b="1">
                <a:solidFill>
                  <a:srgbClr val="0E2841"/>
                </a:solidFill>
                <a:latin typeface="Aptos Display"/>
              </a:rPr>
              <a:t>APIs del SO  ·  Cámara, GPS, Keystore o Keychain, red</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Ocho pasos para tomar una foto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695402"/>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9540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85907"/>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1 · Página</a:t>
            </a:r>
          </a:p>
          <a:p>
            <a:pPr algn="ctr">
              <a:lnSpc>
                <a:spcPct val="120000"/>
              </a:lnSpc>
              <a:spcBef>
                <a:spcPts val="700"/>
              </a:spcBef>
            </a:pPr>
            <a:r>
              <a:rPr sz="1153" b="0">
                <a:solidFill>
                  <a:srgbClr val="7A8B9E"/>
                </a:solidFill>
                <a:latin typeface="Aptos"/>
              </a:rPr>
              <a:t>Emite la intención «tomar foto»</a:t>
            </a:r>
          </a:p>
        </p:txBody>
      </p:sp>
      <p:sp>
        <p:nvSpPr>
          <p:cNvPr id="10" name="Chevron 9"/>
          <p:cNvSpPr/>
          <p:nvPr/>
        </p:nvSpPr>
        <p:spPr>
          <a:xfrm>
            <a:off x="3136392" y="2052947"/>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695402"/>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95402"/>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1985907"/>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2 · Caso de uso</a:t>
            </a:r>
          </a:p>
          <a:p>
            <a:pPr algn="ctr">
              <a:lnSpc>
                <a:spcPct val="120000"/>
              </a:lnSpc>
              <a:spcBef>
                <a:spcPts val="700"/>
              </a:spcBef>
            </a:pPr>
            <a:r>
              <a:rPr sz="1153" b="0">
                <a:solidFill>
                  <a:srgbClr val="7A8B9E"/>
                </a:solidFill>
                <a:latin typeface="Aptos"/>
              </a:rPr>
              <a:t>Pide una Foto al puerto Camara</a:t>
            </a:r>
          </a:p>
        </p:txBody>
      </p:sp>
      <p:sp>
        <p:nvSpPr>
          <p:cNvPr id="14" name="Chevron 13"/>
          <p:cNvSpPr/>
          <p:nvPr/>
        </p:nvSpPr>
        <p:spPr>
          <a:xfrm>
            <a:off x="5998464" y="2052947"/>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695402"/>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695402"/>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1985907"/>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3 · Adaptador</a:t>
            </a:r>
          </a:p>
          <a:p>
            <a:pPr algn="ctr">
              <a:lnSpc>
                <a:spcPct val="120000"/>
              </a:lnSpc>
              <a:spcBef>
                <a:spcPts val="700"/>
              </a:spcBef>
            </a:pPr>
            <a:r>
              <a:rPr sz="1153" b="0">
                <a:solidFill>
                  <a:srgbClr val="7A8B9E"/>
                </a:solidFill>
                <a:latin typeface="Aptos"/>
              </a:rPr>
              <a:t>Llama a </a:t>
            </a:r>
            <a:r>
              <a:rPr sz="1084" b="0">
                <a:solidFill>
                  <a:srgbClr val="156082"/>
                </a:solidFill>
                <a:latin typeface="Consolas"/>
              </a:rPr>
              <a:t>Camera.getPhoto()</a:t>
            </a:r>
            <a:r>
              <a:rPr sz="1153" b="0">
                <a:solidFill>
                  <a:srgbClr val="7A8B9E"/>
                </a:solidFill>
                <a:latin typeface="Aptos"/>
              </a:rPr>
              <a:t>; único que importa Capacitor</a:t>
            </a:r>
          </a:p>
        </p:txBody>
      </p:sp>
      <p:sp>
        <p:nvSpPr>
          <p:cNvPr id="18" name="Chevron 17"/>
          <p:cNvSpPr/>
          <p:nvPr/>
        </p:nvSpPr>
        <p:spPr>
          <a:xfrm>
            <a:off x="8860536" y="2052947"/>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695402"/>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69540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1985907"/>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4 · Puente</a:t>
            </a:r>
          </a:p>
          <a:p>
            <a:pPr algn="ctr">
              <a:lnSpc>
                <a:spcPct val="120000"/>
              </a:lnSpc>
              <a:spcBef>
                <a:spcPts val="700"/>
              </a:spcBef>
            </a:pPr>
            <a:r>
              <a:rPr sz="1153" b="0">
                <a:solidFill>
                  <a:srgbClr val="7A8B9E"/>
                </a:solidFill>
                <a:latin typeface="Aptos"/>
              </a:rPr>
              <a:t>Serializa la llamada y la cruza</a:t>
            </a:r>
          </a:p>
        </p:txBody>
      </p:sp>
      <p:sp>
        <p:nvSpPr>
          <p:cNvPr id="22" name="Rounded Rectangle 21"/>
          <p:cNvSpPr/>
          <p:nvPr/>
        </p:nvSpPr>
        <p:spPr>
          <a:xfrm>
            <a:off x="566928" y="3057999"/>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057999"/>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348504"/>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5 · Plugin nativo</a:t>
            </a:r>
          </a:p>
          <a:p>
            <a:pPr algn="ctr">
              <a:lnSpc>
                <a:spcPct val="120000"/>
              </a:lnSpc>
              <a:spcBef>
                <a:spcPts val="700"/>
              </a:spcBef>
            </a:pPr>
            <a:r>
              <a:rPr sz="1153" b="0">
                <a:solidFill>
                  <a:srgbClr val="7A8B9E"/>
                </a:solidFill>
                <a:latin typeface="Aptos"/>
              </a:rPr>
              <a:t>Verifica el permiso</a:t>
            </a:r>
          </a:p>
        </p:txBody>
      </p:sp>
      <p:sp>
        <p:nvSpPr>
          <p:cNvPr id="25" name="Chevron 24"/>
          <p:cNvSpPr/>
          <p:nvPr/>
        </p:nvSpPr>
        <p:spPr>
          <a:xfrm>
            <a:off x="3136392" y="3415544"/>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29000" y="3057999"/>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29000" y="3057999"/>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75304" y="3348504"/>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6 · Sistema</a:t>
            </a:r>
          </a:p>
          <a:p>
            <a:pPr algn="ctr">
              <a:lnSpc>
                <a:spcPct val="120000"/>
              </a:lnSpc>
              <a:spcBef>
                <a:spcPts val="700"/>
              </a:spcBef>
            </a:pPr>
            <a:r>
              <a:rPr sz="1153" b="0">
                <a:solidFill>
                  <a:srgbClr val="7A8B9E"/>
                </a:solidFill>
                <a:latin typeface="Aptos"/>
              </a:rPr>
              <a:t>Muestra el diálogo y abre la cámara</a:t>
            </a:r>
          </a:p>
        </p:txBody>
      </p:sp>
      <p:sp>
        <p:nvSpPr>
          <p:cNvPr id="29" name="Chevron 28"/>
          <p:cNvSpPr/>
          <p:nvPr/>
        </p:nvSpPr>
        <p:spPr>
          <a:xfrm>
            <a:off x="5998464" y="3415544"/>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1072" y="3057999"/>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91072" y="3057999"/>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7376" y="3348504"/>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7 · Plugin</a:t>
            </a:r>
          </a:p>
          <a:p>
            <a:pPr algn="ctr">
              <a:lnSpc>
                <a:spcPct val="120000"/>
              </a:lnSpc>
              <a:spcBef>
                <a:spcPts val="700"/>
              </a:spcBef>
            </a:pPr>
            <a:r>
              <a:rPr sz="1153" b="0">
                <a:solidFill>
                  <a:srgbClr val="7A8B9E"/>
                </a:solidFill>
                <a:latin typeface="Aptos"/>
              </a:rPr>
              <a:t>Guarda el archivo y devuelve su ruta</a:t>
            </a:r>
          </a:p>
        </p:txBody>
      </p:sp>
      <p:sp>
        <p:nvSpPr>
          <p:cNvPr id="33" name="Chevron 32"/>
          <p:cNvSpPr/>
          <p:nvPr/>
        </p:nvSpPr>
        <p:spPr>
          <a:xfrm>
            <a:off x="8860536" y="3415544"/>
            <a:ext cx="201168" cy="40223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153144" y="3057999"/>
            <a:ext cx="2478024" cy="11173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3144" y="3057999"/>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9448" y="3348504"/>
            <a:ext cx="2185416" cy="759784"/>
          </a:xfrm>
          <a:prstGeom prst="rect">
            <a:avLst/>
          </a:prstGeom>
          <a:noFill/>
        </p:spPr>
        <p:txBody>
          <a:bodyPr wrap="square" anchor="t" lIns="0" rIns="0" tIns="0" bIns="0">
            <a:spAutoFit/>
          </a:bodyPr>
          <a:lstStyle/>
          <a:p>
            <a:pPr algn="ctr"/>
            <a:r>
              <a:rPr sz="1490" b="1">
                <a:solidFill>
                  <a:srgbClr val="0E2841"/>
                </a:solidFill>
                <a:latin typeface="Aptos Display"/>
              </a:rPr>
              <a:t>8 · Promesa</a:t>
            </a:r>
          </a:p>
          <a:p>
            <a:pPr algn="ctr">
              <a:lnSpc>
                <a:spcPct val="120000"/>
              </a:lnSpc>
              <a:spcBef>
                <a:spcPts val="700"/>
              </a:spcBef>
            </a:pPr>
            <a:r>
              <a:rPr sz="1153" b="0">
                <a:solidFill>
                  <a:srgbClr val="7A8B9E"/>
                </a:solidFill>
                <a:latin typeface="Aptos"/>
              </a:rPr>
              <a:t>Se resuelve y el estado se actualiza</a:t>
            </a:r>
          </a:p>
        </p:txBody>
      </p:sp>
      <p:sp>
        <p:nvSpPr>
          <p:cNvPr id="37" name="Oval 36"/>
          <p:cNvSpPr/>
          <p:nvPr/>
        </p:nvSpPr>
        <p:spPr>
          <a:xfrm>
            <a:off x="585216" y="467740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99130"/>
            <a:ext cx="10698480" cy="457129"/>
          </a:xfrm>
          <a:prstGeom prst="rect">
            <a:avLst/>
          </a:prstGeom>
          <a:noFill/>
        </p:spPr>
        <p:txBody>
          <a:bodyPr wrap="square" anchor="ctr" lIns="0" rIns="0" tIns="0" bIns="0">
            <a:spAutoFit/>
          </a:bodyPr>
          <a:lstStyle/>
          <a:p>
            <a:pPr algn="l"/>
            <a:r>
              <a:rPr sz="2018" b="1">
                <a:solidFill>
                  <a:srgbClr val="0E2841"/>
                </a:solidFill>
                <a:latin typeface="Aptos"/>
              </a:rPr>
              <a:t>Asíncrono y serializa: nada de bucles</a:t>
            </a:r>
          </a:p>
        </p:txBody>
      </p:sp>
      <p:sp>
        <p:nvSpPr>
          <p:cNvPr id="39" name="Oval 38"/>
          <p:cNvSpPr/>
          <p:nvPr/>
        </p:nvSpPr>
        <p:spPr>
          <a:xfrm>
            <a:off x="585216" y="5134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9536" y="4956259"/>
            <a:ext cx="10698480" cy="457129"/>
          </a:xfrm>
          <a:prstGeom prst="rect">
            <a:avLst/>
          </a:prstGeom>
          <a:noFill/>
        </p:spPr>
        <p:txBody>
          <a:bodyPr wrap="square" anchor="ctr" lIns="0" rIns="0" tIns="0" bIns="0">
            <a:spAutoFit/>
          </a:bodyPr>
          <a:lstStyle/>
          <a:p>
            <a:pPr algn="l"/>
            <a:r>
              <a:rPr sz="2018" b="1">
                <a:solidFill>
                  <a:srgbClr val="0E2841"/>
                </a:solidFill>
                <a:latin typeface="Aptos"/>
              </a:rPr>
              <a:t>Datos pesados como ruta, no base64</a:t>
            </a:r>
          </a:p>
        </p:txBody>
      </p:sp>
      <p:sp>
        <p:nvSpPr>
          <p:cNvPr id="41" name="Oval 40"/>
          <p:cNvSpPr/>
          <p:nvPr/>
        </p:nvSpPr>
        <p:spPr>
          <a:xfrm>
            <a:off x="585216" y="559166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9536" y="5413389"/>
            <a:ext cx="10698480" cy="457129"/>
          </a:xfrm>
          <a:prstGeom prst="rect">
            <a:avLst/>
          </a:prstGeom>
          <a:noFill/>
        </p:spPr>
        <p:txBody>
          <a:bodyPr wrap="square" anchor="ctr" lIns="0" rIns="0" tIns="0" bIns="0">
            <a:spAutoFit/>
          </a:bodyPr>
          <a:lstStyle/>
          <a:p>
            <a:pPr algn="l"/>
            <a:r>
              <a:rPr sz="2018" b="1">
                <a:solidFill>
                  <a:srgbClr val="0E2841"/>
                </a:solidFill>
                <a:latin typeface="Aptos"/>
              </a:rPr>
              <a:t>El permiso lo concede el sistema</a:t>
            </a:r>
          </a:p>
        </p:txBody>
      </p:sp>
      <p:sp>
        <p:nvSpPr>
          <p:cNvPr id="43" name="Oval 42"/>
          <p:cNvSpPr/>
          <p:nvPr/>
        </p:nvSpPr>
        <p:spPr>
          <a:xfrm>
            <a:off x="585216" y="60487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 y="5870518"/>
            <a:ext cx="10698480" cy="457129"/>
          </a:xfrm>
          <a:prstGeom prst="rect">
            <a:avLst/>
          </a:prstGeom>
          <a:noFill/>
        </p:spPr>
        <p:txBody>
          <a:bodyPr wrap="square" anchor="ctr" lIns="0" rIns="0" tIns="0" bIns="0">
            <a:spAutoFit/>
          </a:bodyPr>
          <a:lstStyle/>
          <a:p>
            <a:pPr algn="l"/>
            <a:r>
              <a:rPr sz="2018" b="1">
                <a:solidFill>
                  <a:srgbClr val="0E2841"/>
                </a:solidFill>
                <a:latin typeface="Aptos"/>
              </a:rPr>
              <a:t>Origen local: el backend lo admite en CORS</a:t>
            </a:r>
          </a:p>
        </p:txBody>
      </p:sp>
      <p:sp>
        <p:nvSpPr>
          <p:cNvPr id="45" name="TextBox 4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46" name="TextBox 4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plugin: contrato TS y nativo por SO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Parte</a:t>
                      </a:r>
                    </a:p>
                  </a:txBody>
                  <a:tcPr anchor="ctr" marL="146304" marR="146304">
                    <a:solidFill>
                      <a:srgbClr val="156082"/>
                    </a:solidFill>
                  </a:tcPr>
                </a:tc>
                <a:tc>
                  <a:txBody>
                    <a:bodyPr wrap="square"/>
                    <a:lstStyle/>
                    <a:p>
                      <a:r>
                        <a:rPr sz="1569" b="1">
                          <a:solidFill>
                            <a:srgbClr val="FFFFFF"/>
                          </a:solidFill>
                          <a:latin typeface="Aptos"/>
                        </a:rPr>
                        <a:t>Dónde vive</a:t>
                      </a:r>
                    </a:p>
                  </a:txBody>
                  <a:tcPr anchor="ctr" marL="146304" marR="146304">
                    <a:solidFill>
                      <a:srgbClr val="156082"/>
                    </a:solidFill>
                  </a:tcPr>
                </a:tc>
                <a:tc>
                  <a:txBody>
                    <a:bodyPr wrap="square"/>
                    <a:lstStyle/>
                    <a:p>
                      <a:r>
                        <a:rPr sz="1569" b="1">
                          <a:solidFill>
                            <a:srgbClr val="FFFFFF"/>
                          </a:solidFill>
                          <a:latin typeface="Aptos"/>
                        </a:rPr>
                        <a:t>Qué hace</a:t>
                      </a:r>
                    </a:p>
                  </a:txBody>
                  <a:tcPr anchor="ctr" marL="146304" marR="146304">
                    <a:solidFill>
                      <a:srgbClr val="156082"/>
                    </a:solidFill>
                  </a:tcPr>
                </a:tc>
              </a:tr>
              <a:tr h="543560">
                <a:tc>
                  <a:txBody>
                    <a:bodyPr wrap="square"/>
                    <a:lstStyle/>
                    <a:p>
                      <a:r>
                        <a:rPr sz="1465" b="1">
                          <a:solidFill>
                            <a:srgbClr val="33475B"/>
                          </a:solidFill>
                          <a:latin typeface="Aptos"/>
                        </a:rPr>
                        <a:t>Contrato TypeScript</a:t>
                      </a:r>
                    </a:p>
                  </a:txBody>
                  <a:tcPr anchor="ctr" marL="146304" marR="146304">
                    <a:solidFill>
                      <a:srgbClr val="FFFFFF"/>
                    </a:solidFill>
                  </a:tcPr>
                </a:tc>
                <a:tc>
                  <a:txBody>
                    <a:bodyPr wrap="square"/>
                    <a:lstStyle/>
                    <a:p>
                      <a:r>
                        <a:rPr sz="1465" b="0">
                          <a:solidFill>
                            <a:srgbClr val="33475B"/>
                          </a:solidFill>
                          <a:latin typeface="Aptos"/>
                        </a:rPr>
                        <a:t>El paquete npm</a:t>
                      </a:r>
                    </a:p>
                  </a:txBody>
                  <a:tcPr anchor="ctr" marL="146304" marR="146304">
                    <a:solidFill>
                      <a:srgbClr val="FFFFFF"/>
                    </a:solidFill>
                  </a:tcPr>
                </a:tc>
                <a:tc>
                  <a:txBody>
                    <a:bodyPr wrap="square"/>
                    <a:lstStyle/>
                    <a:p>
                      <a:r>
                        <a:rPr sz="1465" b="0">
                          <a:solidFill>
                            <a:srgbClr val="33475B"/>
                          </a:solidFill>
                          <a:latin typeface="Aptos"/>
                        </a:rPr>
                        <a:t>Define métodos y tipos; todo devuelve promesas</a:t>
                      </a:r>
                    </a:p>
                  </a:txBody>
                  <a:tcPr anchor="ctr" marL="146304" marR="146304">
                    <a:solidFill>
                      <a:srgbClr val="FFFFFF"/>
                    </a:solidFill>
                  </a:tcPr>
                </a:tc>
              </a:tr>
              <a:tr h="543560">
                <a:tc>
                  <a:txBody>
                    <a:bodyPr wrap="square"/>
                    <a:lstStyle/>
                    <a:p>
                      <a:r>
                        <a:rPr sz="1465" b="1">
                          <a:solidFill>
                            <a:srgbClr val="33475B"/>
                          </a:solidFill>
                          <a:latin typeface="Aptos"/>
                        </a:rPr>
                        <a:t>Implementación Android</a:t>
                      </a:r>
                    </a:p>
                  </a:txBody>
                  <a:tcPr anchor="ctr" marL="146304" marR="146304">
                    <a:solidFill>
                      <a:srgbClr val="F4F7FA"/>
                    </a:solidFill>
                  </a:tcPr>
                </a:tc>
                <a:tc>
                  <a:txBody>
                    <a:bodyPr wrap="square"/>
                    <a:lstStyle/>
                    <a:p>
                      <a:r>
                        <a:rPr sz="1465" b="0">
                          <a:solidFill>
                            <a:srgbClr val="33475B"/>
                          </a:solidFill>
                          <a:latin typeface="Aptos"/>
                        </a:rPr>
                        <a:t>Kotlin o Java</a:t>
                      </a:r>
                    </a:p>
                  </a:txBody>
                  <a:tcPr anchor="ctr" marL="146304" marR="146304">
                    <a:solidFill>
                      <a:srgbClr val="F4F7FA"/>
                    </a:solidFill>
                  </a:tcPr>
                </a:tc>
                <a:tc>
                  <a:txBody>
                    <a:bodyPr wrap="square"/>
                    <a:lstStyle/>
                    <a:p>
                      <a:r>
                        <a:rPr sz="1465" b="0">
                          <a:solidFill>
                            <a:srgbClr val="33475B"/>
                          </a:solidFill>
                          <a:latin typeface="Aptos"/>
                        </a:rPr>
                        <a:t>Usa las APIs de Android</a:t>
                      </a:r>
                    </a:p>
                  </a:txBody>
                  <a:tcPr anchor="ctr" marL="146304" marR="146304">
                    <a:solidFill>
                      <a:srgbClr val="F4F7FA"/>
                    </a:solidFill>
                  </a:tcPr>
                </a:tc>
              </a:tr>
              <a:tr h="543560">
                <a:tc>
                  <a:txBody>
                    <a:bodyPr wrap="square"/>
                    <a:lstStyle/>
                    <a:p>
                      <a:r>
                        <a:rPr sz="1465" b="1">
                          <a:solidFill>
                            <a:srgbClr val="33475B"/>
                          </a:solidFill>
                          <a:latin typeface="Aptos"/>
                        </a:rPr>
                        <a:t>Implementación iOS</a:t>
                      </a:r>
                    </a:p>
                  </a:txBody>
                  <a:tcPr anchor="ctr" marL="146304" marR="146304">
                    <a:solidFill>
                      <a:srgbClr val="FFFFFF"/>
                    </a:solidFill>
                  </a:tcPr>
                </a:tc>
                <a:tc>
                  <a:txBody>
                    <a:bodyPr wrap="square"/>
                    <a:lstStyle/>
                    <a:p>
                      <a:r>
                        <a:rPr sz="1465" b="0">
                          <a:solidFill>
                            <a:srgbClr val="33475B"/>
                          </a:solidFill>
                          <a:latin typeface="Aptos"/>
                        </a:rPr>
                        <a:t>Swift</a:t>
                      </a:r>
                    </a:p>
                  </a:txBody>
                  <a:tcPr anchor="ctr" marL="146304" marR="146304">
                    <a:solidFill>
                      <a:srgbClr val="FFFFFF"/>
                    </a:solidFill>
                  </a:tcPr>
                </a:tc>
                <a:tc>
                  <a:txBody>
                    <a:bodyPr wrap="square"/>
                    <a:lstStyle/>
                    <a:p>
                      <a:r>
                        <a:rPr sz="1465" b="0">
                          <a:solidFill>
                            <a:srgbClr val="33475B"/>
                          </a:solidFill>
                          <a:latin typeface="Aptos"/>
                        </a:rPr>
                        <a:t>Usa las APIs de iOS</a:t>
                      </a:r>
                    </a:p>
                  </a:txBody>
                  <a:tcPr anchor="ctr" marL="146304" marR="146304">
                    <a:solidFill>
                      <a:srgbClr val="FFFFFF"/>
                    </a:solidFill>
                  </a:tcPr>
                </a:tc>
              </a:tr>
              <a:tr h="543560">
                <a:tc>
                  <a:txBody>
                    <a:bodyPr wrap="square"/>
                    <a:lstStyle/>
                    <a:p>
                      <a:r>
                        <a:rPr sz="1465" b="1">
                          <a:solidFill>
                            <a:srgbClr val="33475B"/>
                          </a:solidFill>
                          <a:latin typeface="Aptos"/>
                        </a:rPr>
                        <a:t>Implementación web (opcional)</a:t>
                      </a:r>
                    </a:p>
                  </a:txBody>
                  <a:tcPr anchor="ctr" marL="146304" marR="146304">
                    <a:solidFill>
                      <a:srgbClr val="F4F7FA"/>
                    </a:solidFill>
                  </a:tcPr>
                </a:tc>
                <a:tc>
                  <a:txBody>
                    <a:bodyPr wrap="square"/>
                    <a:lstStyle/>
                    <a:p>
                      <a:r>
                        <a:rPr sz="1465" b="0">
                          <a:solidFill>
                            <a:srgbClr val="33475B"/>
                          </a:solidFill>
                          <a:latin typeface="Aptos"/>
                        </a:rPr>
                        <a:t>TypeScript</a:t>
                      </a:r>
                    </a:p>
                  </a:txBody>
                  <a:tcPr anchor="ctr" marL="146304" marR="146304">
                    <a:solidFill>
                      <a:srgbClr val="F4F7FA"/>
                    </a:solidFill>
                  </a:tcPr>
                </a:tc>
                <a:tc>
                  <a:txBody>
                    <a:bodyPr wrap="square"/>
                    <a:lstStyle/>
                    <a:p>
                      <a:r>
                        <a:rPr sz="1465" b="0">
                          <a:solidFill>
                            <a:srgbClr val="33475B"/>
                          </a:solidFill>
                          <a:latin typeface="Aptos"/>
                        </a:rPr>
                        <a:t>Funciona en el navegador o informa «no disponible»</a:t>
                      </a:r>
                    </a:p>
                  </a:txBody>
                  <a:tcPr anchor="ctr" marL="146304" marR="146304">
                    <a:solidFill>
                      <a:srgbClr val="F4F7FA"/>
                    </a:solidFill>
                  </a:tcPr>
                </a:tc>
              </a:tr>
              <a:tr h="543560">
                <a:tc>
                  <a:txBody>
                    <a:bodyPr wrap="square"/>
                    <a:lstStyle/>
                    <a:p>
                      <a:r>
                        <a:rPr sz="1465" b="1">
                          <a:solidFill>
                            <a:srgbClr val="33475B"/>
                          </a:solidFill>
                          <a:latin typeface="Aptos"/>
                        </a:rPr>
                        <a:t>Registro nativo</a:t>
                      </a:r>
                    </a:p>
                  </a:txBody>
                  <a:tcPr anchor="ctr" marL="146304" marR="146304">
                    <a:solidFill>
                      <a:srgbClr val="FFFFFF"/>
                    </a:solidFill>
                  </a:tcPr>
                </a:tc>
                <a:tc>
                  <a:txBody>
                    <a:bodyPr wrap="square"/>
                    <a:lstStyle/>
                    <a:p>
                      <a:r>
                        <a:rPr sz="1377" b="0">
                          <a:solidFill>
                            <a:srgbClr val="156082"/>
                          </a:solidFill>
                          <a:latin typeface="Consolas"/>
                        </a:rPr>
                        <a:t>android/</a:t>
                      </a:r>
                      <a:r>
                        <a:rPr sz="1465" b="0">
                          <a:solidFill>
                            <a:srgbClr val="33475B"/>
                          </a:solidFill>
                          <a:latin typeface="Aptos"/>
                        </a:rPr>
                        <a:t> e </a:t>
                      </a:r>
                      <a:r>
                        <a:rPr sz="1377" b="0">
                          <a:solidFill>
                            <a:srgbClr val="156082"/>
                          </a:solidFill>
                          <a:latin typeface="Consolas"/>
                        </a:rPr>
                        <a:t>ios/</a:t>
                      </a:r>
                      <a:r>
                        <a:rPr sz="1465" b="0">
                          <a:solidFill>
                            <a:srgbClr val="33475B"/>
                          </a:solidFill>
                          <a:latin typeface="Aptos"/>
                        </a:rPr>
                        <a:t> tras </a:t>
                      </a:r>
                      <a:r>
                        <a:rPr sz="1377" b="0">
                          <a:solidFill>
                            <a:srgbClr val="156082"/>
                          </a:solidFill>
                          <a:latin typeface="Consolas"/>
                        </a:rPr>
                        <a:t>npx cap sync</a:t>
                      </a:r>
                    </a:p>
                  </a:txBody>
                  <a:tcPr anchor="ctr" marL="146304" marR="146304">
                    <a:solidFill>
                      <a:srgbClr val="FFFFFF"/>
                    </a:solidFill>
                  </a:tcPr>
                </a:tc>
                <a:tc>
                  <a:txBody>
                    <a:bodyPr wrap="square"/>
                    <a:lstStyle/>
                    <a:p>
                      <a:r>
                        <a:rPr sz="1465" b="0">
                          <a:solidFill>
                            <a:srgbClr val="33475B"/>
                          </a:solidFill>
                          <a:latin typeface="Aptos"/>
                        </a:rPr>
                        <a:t>Gradle y Xcode lo incluyen al compilar</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Un plugin es infraestructura, como </a:t>
            </a:r>
            <a:r>
              <a:rPr sz="2164" b="1">
                <a:solidFill>
                  <a:srgbClr val="156082"/>
                </a:solidFill>
                <a:latin typeface="Consolas"/>
              </a:rPr>
              <a:t>HttpClient</a:t>
            </a:r>
            <a:r>
              <a:rPr sz="2302" b="1">
                <a:solidFill>
                  <a:srgbClr val="0E2841"/>
                </a:solidFill>
                <a:latin typeface="Aptos Display"/>
              </a:rPr>
              <a:t>: el dominio declara el puerto (</a:t>
            </a:r>
            <a:r>
              <a:rPr sz="2164" b="1">
                <a:solidFill>
                  <a:srgbClr val="156082"/>
                </a:solidFill>
                <a:latin typeface="Consolas"/>
              </a:rPr>
              <a:t>Camara</a:t>
            </a:r>
            <a:r>
              <a:rPr sz="2302" b="1">
                <a:solidFill>
                  <a:srgbClr val="0E2841"/>
                </a:solidFill>
                <a:latin typeface="Aptos Display"/>
              </a:rPr>
              <a:t>) y solo un adaptador importa Capacitor.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Si no existe el plugin, se escribe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CONTRATO TYPESCRIPT</a:t>
            </a:r>
          </a:p>
        </p:txBody>
      </p:sp>
      <p:sp>
        <p:nvSpPr>
          <p:cNvPr id="10" name="TextBox 9"/>
          <p:cNvSpPr txBox="1"/>
          <p:nvPr/>
        </p:nvSpPr>
        <p:spPr>
          <a:xfrm>
            <a:off x="877824" y="2139696"/>
            <a:ext cx="10515600" cy="1417320"/>
          </a:xfrm>
          <a:prstGeom prst="rect">
            <a:avLst/>
          </a:prstGeom>
          <a:noFill/>
        </p:spPr>
        <p:txBody>
          <a:bodyPr wrap="none" lIns="0" tIns="0">
            <a:spAutoFit/>
          </a:bodyPr>
          <a:lstStyle/>
          <a:p>
            <a:pPr>
              <a:lnSpc>
                <a:spcPct val="125000"/>
              </a:lnSpc>
            </a:pPr>
            <a:r>
              <a:rPr sz="1521">
                <a:solidFill>
                  <a:srgbClr val="E8E8E8"/>
                </a:solidFill>
                <a:latin typeface="Consolas"/>
              </a:rPr>
              <a:t>import { registerPlugin } from '@capacitor/core';</a:t>
            </a:r>
          </a:p>
          <a:p>
            <a:pPr>
              <a:lnSpc>
                <a:spcPct val="125000"/>
              </a:lnSpc>
            </a:pPr>
            <a:r>
              <a:rPr sz="1521">
                <a:solidFill>
                  <a:srgbClr val="E8E8E8"/>
                </a:solidFill>
                <a:latin typeface="Consolas"/>
              </a:rPr>
              <a:t>export interface MedidorCampoPlugin {</a:t>
            </a:r>
          </a:p>
          <a:p>
            <a:pPr>
              <a:lnSpc>
                <a:spcPct val="125000"/>
              </a:lnSpc>
            </a:pPr>
            <a:r>
              <a:rPr sz="1521">
                <a:solidFill>
                  <a:srgbClr val="E8E8E8"/>
                </a:solidFill>
                <a:latin typeface="Consolas"/>
              </a:rPr>
              <a:t>  leer(opciones: { sensor: string }): Promise&lt;{ valor: number; unidad: string }&gt;; }</a:t>
            </a:r>
          </a:p>
          <a:p>
            <a:pPr>
              <a:lnSpc>
                <a:spcPct val="125000"/>
              </a:lnSpc>
            </a:pPr>
            <a:r>
              <a:rPr sz="1521">
                <a:solidFill>
                  <a:srgbClr val="E8E8E8"/>
                </a:solidFill>
                <a:latin typeface="Consolas"/>
              </a:rPr>
              <a:t>// El nombre debe coincidir con el que registra cada implementación nativa.</a:t>
            </a:r>
          </a:p>
          <a:p>
            <a:pPr>
              <a:lnSpc>
                <a:spcPct val="125000"/>
              </a:lnSpc>
            </a:pPr>
            <a:r>
              <a:rPr sz="1521">
                <a:solidFill>
                  <a:srgbClr val="E8E8E8"/>
                </a:solidFill>
                <a:latin typeface="Consolas"/>
              </a:rPr>
              <a:t>export const MedidorCampo = registerPlugin&lt;MedidorCampoPlugin&gt;('MedidorCampo');</a:t>
            </a:r>
          </a:p>
        </p:txBody>
      </p:sp>
      <p:sp>
        <p:nvSpPr>
          <p:cNvPr id="11" name="Rounded Rectangle 10"/>
          <p:cNvSpPr/>
          <p:nvPr/>
        </p:nvSpPr>
        <p:spPr>
          <a:xfrm>
            <a:off x="566928" y="3922776"/>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142232"/>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105656"/>
            <a:ext cx="7315200" cy="237744"/>
          </a:xfrm>
          <a:prstGeom prst="rect">
            <a:avLst/>
          </a:prstGeom>
          <a:noFill/>
        </p:spPr>
        <p:txBody>
          <a:bodyPr wrap="square" anchor="t" lIns="0" rIns="0" tIns="0" bIns="0">
            <a:spAutoFit/>
          </a:bodyPr>
          <a:lstStyle/>
          <a:p>
            <a:pPr algn="l"/>
            <a:r>
              <a:rPr sz="1206" b="1">
                <a:solidFill>
                  <a:srgbClr val="E97132"/>
                </a:solidFill>
                <a:latin typeface="Aptos"/>
              </a:rPr>
              <a:t>ANDROID (KOTLIN) · EN IOS, UNA CLASE SWIFT CON EL MISMO NOMBRE</a:t>
            </a:r>
          </a:p>
        </p:txBody>
      </p:sp>
      <p:sp>
        <p:nvSpPr>
          <p:cNvPr id="14" name="TextBox 13"/>
          <p:cNvSpPr txBox="1"/>
          <p:nvPr/>
        </p:nvSpPr>
        <p:spPr>
          <a:xfrm>
            <a:off x="877824" y="4489704"/>
            <a:ext cx="10515600" cy="1673352"/>
          </a:xfrm>
          <a:prstGeom prst="rect">
            <a:avLst/>
          </a:prstGeom>
          <a:noFill/>
        </p:spPr>
        <p:txBody>
          <a:bodyPr wrap="none" lIns="0" tIns="0">
            <a:spAutoFit/>
          </a:bodyPr>
          <a:lstStyle/>
          <a:p>
            <a:pPr>
              <a:lnSpc>
                <a:spcPct val="125000"/>
              </a:lnSpc>
            </a:pPr>
            <a:r>
              <a:rPr sz="1521">
                <a:solidFill>
                  <a:srgbClr val="E8E8E8"/>
                </a:solidFill>
                <a:latin typeface="Consolas"/>
              </a:rPr>
              <a:t>@CapacitorPlugin(name = "MedidorCampo")</a:t>
            </a:r>
          </a:p>
          <a:p>
            <a:pPr>
              <a:lnSpc>
                <a:spcPct val="125000"/>
              </a:lnSpc>
            </a:pPr>
            <a:r>
              <a:rPr sz="1521">
                <a:solidFill>
                  <a:srgbClr val="E8E8E8"/>
                </a:solidFill>
                <a:latin typeface="Consolas"/>
              </a:rPr>
              <a:t>class MedidorCampoPlugin : Plugin() {</a:t>
            </a:r>
          </a:p>
          <a:p>
            <a:pPr>
              <a:lnSpc>
                <a:spcPct val="125000"/>
              </a:lnSpc>
            </a:pPr>
            <a:r>
              <a:rPr sz="1521">
                <a:solidFill>
                  <a:srgbClr val="E8E8E8"/>
                </a:solidFill>
                <a:latin typeface="Consolas"/>
              </a:rPr>
              <a:t>    private val sdk = SdkFabricante()            // SDK nativo del fabricante</a:t>
            </a:r>
          </a:p>
          <a:p>
            <a:pPr>
              <a:lnSpc>
                <a:spcPct val="125000"/>
              </a:lnSpc>
            </a:pPr>
            <a:r>
              <a:rPr sz="1521">
                <a:solidFill>
                  <a:srgbClr val="E8E8E8"/>
                </a:solidFill>
                <a:latin typeface="Consolas"/>
              </a:rPr>
              <a:t>    @PluginMethod fun leer(call: PluginCall) {</a:t>
            </a:r>
          </a:p>
          <a:p>
            <a:pPr>
              <a:lnSpc>
                <a:spcPct val="125000"/>
              </a:lnSpc>
            </a:pPr>
            <a:r>
              <a:rPr sz="1521">
                <a:solidFill>
                  <a:srgbClr val="E8E8E8"/>
                </a:solidFill>
                <a:latin typeface="Consolas"/>
              </a:rPr>
              <a:t>        val m = sdk.leer(call.getString("sensor") ?: return call.reject("Falta el sensor"))</a:t>
            </a:r>
          </a:p>
          <a:p>
            <a:pPr>
              <a:lnSpc>
                <a:spcPct val="125000"/>
              </a:lnSpc>
            </a:pPr>
            <a:r>
              <a:rPr sz="1521">
                <a:solidFill>
                  <a:srgbClr val="E8E8E8"/>
                </a:solidFill>
                <a:latin typeface="Consolas"/>
              </a:rPr>
              <a:t>        call.resolve(JSObject().put("valor", m.valor).put("unidad", m.unidad)) }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Capacitor trata lo nativo como código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Aspecto</a:t>
                      </a:r>
                    </a:p>
                  </a:txBody>
                  <a:tcPr anchor="ctr" marL="146304" marR="146304">
                    <a:solidFill>
                      <a:srgbClr val="156082"/>
                    </a:solidFill>
                  </a:tcPr>
                </a:tc>
                <a:tc>
                  <a:txBody>
                    <a:bodyPr wrap="square"/>
                    <a:lstStyle/>
                    <a:p>
                      <a:r>
                        <a:rPr sz="1513" b="1">
                          <a:solidFill>
                            <a:srgbClr val="FFFFFF"/>
                          </a:solidFill>
                          <a:latin typeface="Aptos"/>
                        </a:rPr>
                        <a:t>Cordova</a:t>
                      </a:r>
                    </a:p>
                  </a:txBody>
                  <a:tcPr anchor="ctr" marL="146304" marR="146304">
                    <a:solidFill>
                      <a:srgbClr val="156082"/>
                    </a:solidFill>
                  </a:tcPr>
                </a:tc>
                <a:tc>
                  <a:txBody>
                    <a:bodyPr wrap="square"/>
                    <a:lstStyle/>
                    <a:p>
                      <a:r>
                        <a:rPr sz="1513" b="1">
                          <a:solidFill>
                            <a:srgbClr val="FFFFFF"/>
                          </a:solidFill>
                          <a:latin typeface="Aptos"/>
                        </a:rPr>
                        <a:t>Capacitor</a:t>
                      </a:r>
                    </a:p>
                  </a:txBody>
                  <a:tcPr anchor="ctr" marL="146304" marR="146304">
                    <a:solidFill>
                      <a:srgbClr val="156082"/>
                    </a:solidFill>
                  </a:tcPr>
                </a:tc>
              </a:tr>
              <a:tr h="488550">
                <a:tc>
                  <a:txBody>
                    <a:bodyPr wrap="square"/>
                    <a:lstStyle/>
                    <a:p>
                      <a:r>
                        <a:rPr sz="1413" b="1">
                          <a:solidFill>
                            <a:srgbClr val="33475B"/>
                          </a:solidFill>
                          <a:latin typeface="Aptos"/>
                        </a:rPr>
                        <a:t>Proyectos nativos</a:t>
                      </a:r>
                    </a:p>
                  </a:txBody>
                  <a:tcPr anchor="ctr" marL="146304" marR="146304">
                    <a:solidFill>
                      <a:srgbClr val="FFFFFF"/>
                    </a:solidFill>
                  </a:tcPr>
                </a:tc>
                <a:tc>
                  <a:txBody>
                    <a:bodyPr wrap="square"/>
                    <a:lstStyle/>
                    <a:p>
                      <a:r>
                        <a:rPr sz="1413" b="0">
                          <a:solidFill>
                            <a:srgbClr val="33475B"/>
                          </a:solidFill>
                          <a:latin typeface="Aptos"/>
                        </a:rPr>
                        <a:t>Se regeneran: lo manual se pierde</a:t>
                      </a:r>
                    </a:p>
                  </a:txBody>
                  <a:tcPr anchor="ctr" marL="146304" marR="146304">
                    <a:solidFill>
                      <a:srgbClr val="FFFFFF"/>
                    </a:solidFill>
                  </a:tcPr>
                </a:tc>
                <a:tc>
                  <a:txBody>
                    <a:bodyPr wrap="square"/>
                    <a:lstStyle/>
                    <a:p>
                      <a:r>
                        <a:rPr sz="1413" b="0">
                          <a:solidFill>
                            <a:srgbClr val="33475B"/>
                          </a:solidFill>
                          <a:latin typeface="Aptos"/>
                        </a:rPr>
                        <a:t>Código fuente: se versionan</a:t>
                      </a:r>
                    </a:p>
                  </a:txBody>
                  <a:tcPr anchor="ctr" marL="146304" marR="146304">
                    <a:solidFill>
                      <a:srgbClr val="FFFFFF"/>
                    </a:solidFill>
                  </a:tcPr>
                </a:tc>
              </a:tr>
              <a:tr h="488550">
                <a:tc>
                  <a:txBody>
                    <a:bodyPr wrap="square"/>
                    <a:lstStyle/>
                    <a:p>
                      <a:r>
                        <a:rPr sz="1413" b="1">
                          <a:solidFill>
                            <a:srgbClr val="33475B"/>
                          </a:solidFill>
                          <a:latin typeface="Aptos"/>
                        </a:rPr>
                        <a:t>Plugins</a:t>
                      </a:r>
                    </a:p>
                  </a:txBody>
                  <a:tcPr anchor="ctr" marL="146304" marR="146304">
                    <a:solidFill>
                      <a:srgbClr val="F4F7FA"/>
                    </a:solidFill>
                  </a:tcPr>
                </a:tc>
                <a:tc>
                  <a:txBody>
                    <a:bodyPr wrap="square"/>
                    <a:lstStyle/>
                    <a:p>
                      <a:r>
                        <a:rPr sz="1328" b="0">
                          <a:solidFill>
                            <a:srgbClr val="156082"/>
                          </a:solidFill>
                          <a:latin typeface="Consolas"/>
                        </a:rPr>
                        <a:t>cordova plugin add</a:t>
                      </a:r>
                      <a:r>
                        <a:rPr sz="1413" b="0">
                          <a:solidFill>
                            <a:srgbClr val="33475B"/>
                          </a:solidFill>
                          <a:latin typeface="Aptos"/>
                        </a:rPr>
                        <a:t>, CLI propia</a:t>
                      </a:r>
                    </a:p>
                  </a:txBody>
                  <a:tcPr anchor="ctr" marL="146304" marR="146304">
                    <a:solidFill>
                      <a:srgbClr val="F4F7FA"/>
                    </a:solidFill>
                  </a:tcPr>
                </a:tc>
                <a:tc>
                  <a:txBody>
                    <a:bodyPr wrap="square"/>
                    <a:lstStyle/>
                    <a:p>
                      <a:r>
                        <a:rPr sz="1328" b="0">
                          <a:solidFill>
                            <a:srgbClr val="156082"/>
                          </a:solidFill>
                          <a:latin typeface="Consolas"/>
                        </a:rPr>
                        <a:t>npm install</a:t>
                      </a:r>
                      <a:r>
                        <a:rPr sz="1413" b="0">
                          <a:solidFill>
                            <a:srgbClr val="33475B"/>
                          </a:solidFill>
                          <a:latin typeface="Aptos"/>
                        </a:rPr>
                        <a:t> + </a:t>
                      </a:r>
                      <a:r>
                        <a:rPr sz="1328" b="0">
                          <a:solidFill>
                            <a:srgbClr val="156082"/>
                          </a:solidFill>
                          <a:latin typeface="Consolas"/>
                        </a:rPr>
                        <a:t>npx cap sync</a:t>
                      </a:r>
                    </a:p>
                  </a:txBody>
                  <a:tcPr anchor="ctr" marL="146304" marR="146304">
                    <a:solidFill>
                      <a:srgbClr val="F4F7FA"/>
                    </a:solidFill>
                  </a:tcPr>
                </a:tc>
              </a:tr>
              <a:tr h="488550">
                <a:tc>
                  <a:txBody>
                    <a:bodyPr wrap="square"/>
                    <a:lstStyle/>
                    <a:p>
                      <a:r>
                        <a:rPr sz="1413" b="1">
                          <a:solidFill>
                            <a:srgbClr val="33475B"/>
                          </a:solidFill>
                          <a:latin typeface="Aptos"/>
                        </a:rPr>
                        <a:t>Configuración</a:t>
                      </a:r>
                    </a:p>
                  </a:txBody>
                  <a:tcPr anchor="ctr" marL="146304" marR="146304">
                    <a:solidFill>
                      <a:srgbClr val="FFFFFF"/>
                    </a:solidFill>
                  </a:tcPr>
                </a:tc>
                <a:tc>
                  <a:txBody>
                    <a:bodyPr wrap="square"/>
                    <a:lstStyle/>
                    <a:p>
                      <a:r>
                        <a:rPr sz="1328" b="0">
                          <a:solidFill>
                            <a:srgbClr val="156082"/>
                          </a:solidFill>
                          <a:latin typeface="Consolas"/>
                        </a:rPr>
                        <a:t>config.xml</a:t>
                      </a:r>
                    </a:p>
                  </a:txBody>
                  <a:tcPr anchor="ctr" marL="146304" marR="146304">
                    <a:solidFill>
                      <a:srgbClr val="FFFFFF"/>
                    </a:solidFill>
                  </a:tcPr>
                </a:tc>
                <a:tc>
                  <a:txBody>
                    <a:bodyPr wrap="square"/>
                    <a:lstStyle/>
                    <a:p>
                      <a:r>
                        <a:rPr sz="1328" b="0">
                          <a:solidFill>
                            <a:srgbClr val="156082"/>
                          </a:solidFill>
                          <a:latin typeface="Consolas"/>
                        </a:rPr>
                        <a:t>capacitor.config.ts</a:t>
                      </a:r>
                      <a:r>
                        <a:rPr sz="1413" b="0">
                          <a:solidFill>
                            <a:srgbClr val="33475B"/>
                          </a:solidFill>
                          <a:latin typeface="Aptos"/>
                        </a:rPr>
                        <a:t> y archivos nativos</a:t>
                      </a:r>
                    </a:p>
                  </a:txBody>
                  <a:tcPr anchor="ctr" marL="146304" marR="146304">
                    <a:solidFill>
                      <a:srgbClr val="FFFFFF"/>
                    </a:solidFill>
                  </a:tcPr>
                </a:tc>
              </a:tr>
              <a:tr h="488550">
                <a:tc>
                  <a:txBody>
                    <a:bodyPr wrap="square"/>
                    <a:lstStyle/>
                    <a:p>
                      <a:r>
                        <a:rPr sz="1413" b="1">
                          <a:solidFill>
                            <a:srgbClr val="33475B"/>
                          </a:solidFill>
                          <a:latin typeface="Aptos"/>
                        </a:rPr>
                        <a:t>Plugins propios</a:t>
                      </a:r>
                    </a:p>
                  </a:txBody>
                  <a:tcPr anchor="ctr" marL="146304" marR="146304">
                    <a:solidFill>
                      <a:srgbClr val="F4F7FA"/>
                    </a:solidFill>
                  </a:tcPr>
                </a:tc>
                <a:tc>
                  <a:txBody>
                    <a:bodyPr wrap="square"/>
                    <a:lstStyle/>
                    <a:p>
                      <a:r>
                        <a:rPr sz="1413" b="0">
                          <a:solidFill>
                            <a:srgbClr val="33475B"/>
                          </a:solidFill>
                          <a:latin typeface="Aptos"/>
                        </a:rPr>
                        <a:t>Java y Objective-C</a:t>
                      </a:r>
                    </a:p>
                  </a:txBody>
                  <a:tcPr anchor="ctr" marL="146304" marR="146304">
                    <a:solidFill>
                      <a:srgbClr val="F4F7FA"/>
                    </a:solidFill>
                  </a:tcPr>
                </a:tc>
                <a:tc>
                  <a:txBody>
                    <a:bodyPr wrap="square"/>
                    <a:lstStyle/>
                    <a:p>
                      <a:r>
                        <a:rPr sz="1413" b="0">
                          <a:solidFill>
                            <a:srgbClr val="33475B"/>
                          </a:solidFill>
                          <a:latin typeface="Aptos"/>
                        </a:rPr>
                        <a:t>Kotlin/Java y Swift</a:t>
                      </a:r>
                    </a:p>
                  </a:txBody>
                  <a:tcPr anchor="ctr" marL="146304" marR="146304">
                    <a:solidFill>
                      <a:srgbClr val="F4F7FA"/>
                    </a:solidFill>
                  </a:tcPr>
                </a:tc>
              </a:tr>
              <a:tr h="488550">
                <a:tc>
                  <a:txBody>
                    <a:bodyPr wrap="square"/>
                    <a:lstStyle/>
                    <a:p>
                      <a:r>
                        <a:rPr sz="1413" b="1">
                          <a:solidFill>
                            <a:srgbClr val="33475B"/>
                          </a:solidFill>
                          <a:latin typeface="Aptos"/>
                        </a:rPr>
                        <a:t>Ejecución en la web</a:t>
                      </a:r>
                    </a:p>
                  </a:txBody>
                  <a:tcPr anchor="ctr" marL="146304" marR="146304">
                    <a:solidFill>
                      <a:srgbClr val="FFFFFF"/>
                    </a:solidFill>
                  </a:tcPr>
                </a:tc>
                <a:tc>
                  <a:txBody>
                    <a:bodyPr wrap="square"/>
                    <a:lstStyle/>
                    <a:p>
                      <a:r>
                        <a:rPr sz="1413" b="0">
                          <a:solidFill>
                            <a:srgbClr val="33475B"/>
                          </a:solidFill>
                          <a:latin typeface="Aptos"/>
                        </a:rPr>
                        <a:t>Limitada</a:t>
                      </a:r>
                    </a:p>
                  </a:txBody>
                  <a:tcPr anchor="ctr" marL="146304" marR="146304">
                    <a:solidFill>
                      <a:srgbClr val="FFFFFF"/>
                    </a:solidFill>
                  </a:tcPr>
                </a:tc>
                <a:tc>
                  <a:txBody>
                    <a:bodyPr wrap="square"/>
                    <a:lstStyle/>
                    <a:p>
                      <a:r>
                        <a:rPr sz="1413" b="0">
                          <a:solidFill>
                            <a:srgbClr val="33475B"/>
                          </a:solidFill>
                          <a:latin typeface="Aptos"/>
                        </a:rPr>
                        <a:t>Implementación web; puede ser PWA</a:t>
                      </a:r>
                    </a:p>
                  </a:txBody>
                  <a:tcPr anchor="ctr" marL="146304" marR="146304">
                    <a:solidFill>
                      <a:srgbClr val="FFFFFF"/>
                    </a:solidFill>
                  </a:tcPr>
                </a:tc>
              </a:tr>
              <a:tr h="488550">
                <a:tc>
                  <a:txBody>
                    <a:bodyPr wrap="square"/>
                    <a:lstStyle/>
                    <a:p>
                      <a:r>
                        <a:rPr sz="1413" b="1">
                          <a:solidFill>
                            <a:srgbClr val="33475B"/>
                          </a:solidFill>
                          <a:latin typeface="Aptos"/>
                        </a:rPr>
                        <a:t>Proyectos nuevos</a:t>
                      </a:r>
                    </a:p>
                  </a:txBody>
                  <a:tcPr anchor="ctr" marL="146304" marR="146304">
                    <a:solidFill>
                      <a:srgbClr val="F4F7FA"/>
                    </a:solidFill>
                  </a:tcPr>
                </a:tc>
                <a:tc>
                  <a:txBody>
                    <a:bodyPr wrap="square"/>
                    <a:lstStyle/>
                    <a:p>
                      <a:r>
                        <a:rPr sz="1413" b="0">
                          <a:solidFill>
                            <a:srgbClr val="33475B"/>
                          </a:solidFill>
                          <a:latin typeface="Aptos"/>
                        </a:rPr>
                        <a:t>Ya no es la ruta de Ionic</a:t>
                      </a:r>
                    </a:p>
                  </a:txBody>
                  <a:tcPr anchor="ctr" marL="146304" marR="146304">
                    <a:solidFill>
                      <a:srgbClr val="F4F7FA"/>
                    </a:solidFill>
                  </a:tcPr>
                </a:tc>
                <a:tc>
                  <a:txBody>
                    <a:bodyPr wrap="square"/>
                    <a:lstStyle/>
                    <a:p>
                      <a:r>
                        <a:rPr sz="1413" b="0">
                          <a:solidFill>
                            <a:srgbClr val="33475B"/>
                          </a:solidFill>
                          <a:latin typeface="Aptos"/>
                        </a:rPr>
                        <a:t>Recomendado; admite plugins de Cordova</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En Capacitor, </a:t>
            </a:r>
            <a:r>
              <a:rPr sz="2087" b="1">
                <a:solidFill>
                  <a:srgbClr val="156082"/>
                </a:solidFill>
                <a:latin typeface="Consolas"/>
              </a:rPr>
              <a:t>android/</a:t>
            </a:r>
            <a:r>
              <a:rPr sz="2220" b="1">
                <a:solidFill>
                  <a:srgbClr val="0E2841"/>
                </a:solidFill>
                <a:latin typeface="Aptos Display"/>
              </a:rPr>
              <a:t> e </a:t>
            </a:r>
            <a:r>
              <a:rPr sz="2087" b="1">
                <a:solidFill>
                  <a:srgbClr val="156082"/>
                </a:solidFill>
                <a:latin typeface="Consolas"/>
              </a:rPr>
              <a:t>ios/</a:t>
            </a:r>
            <a:r>
              <a:rPr sz="2220" b="1">
                <a:solidFill>
                  <a:srgbClr val="0E2841"/>
                </a:solidFill>
                <a:latin typeface="Aptos Display"/>
              </a:rPr>
              <a:t> son código fuente: se versionan, se revisan en los PR y cada cambio manual queda en el historial.</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¿Qué ocurre cuando el código Angular invoca </a:t>
            </a:r>
            <a:r>
              <a:rPr sz="2068" b="1">
                <a:solidFill>
                  <a:srgbClr val="156082"/>
                </a:solidFill>
                <a:latin typeface="Consolas"/>
              </a:rPr>
              <a:t>Camera.getPhoto()</a:t>
            </a:r>
            <a:r>
              <a:rPr sz="2200" b="1">
                <a:solidFill>
                  <a:srgbClr val="0E2841"/>
                </a:solidFill>
                <a:latin typeface="Aptos Display"/>
              </a:rPr>
              <a:t> en un dispositivo?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WebView accede al hardware mediante una API estándar de JavaScript</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llamada cruza el puente serializada y la ejecuta el plugin nativo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Angular traduce la llamada a Kotlin o Swift al compilar el proyecto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Ionic intercepta la llamada y la resuelve con un componente web</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diseño precede al código</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SDD y el marco de gobierno móvil del curso: decidir por escrito antes de programar</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SDD invierte el orden de siempre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Tradicional</a:t>
            </a:r>
          </a:p>
        </p:txBody>
      </p:sp>
      <p:sp>
        <p:nvSpPr>
          <p:cNvPr id="10" name="Oval 9"/>
          <p:cNvSpPr/>
          <p:nvPr/>
        </p:nvSpPr>
        <p:spPr>
          <a:xfrm>
            <a:off x="786384" y="283250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576474"/>
            <a:ext cx="4709160" cy="603504"/>
          </a:xfrm>
          <a:prstGeom prst="rect">
            <a:avLst/>
          </a:prstGeom>
          <a:noFill/>
        </p:spPr>
        <p:txBody>
          <a:bodyPr wrap="square" anchor="ctr" lIns="0" rIns="0" tIns="0" bIns="0">
            <a:spAutoFit/>
          </a:bodyPr>
          <a:lstStyle/>
          <a:p>
            <a:pPr algn="l"/>
            <a:r>
              <a:rPr sz="1577" b="0">
                <a:solidFill>
                  <a:srgbClr val="33475B"/>
                </a:solidFill>
                <a:latin typeface="Aptos"/>
              </a:rPr>
              <a:t>Primero el código</a:t>
            </a:r>
          </a:p>
        </p:txBody>
      </p:sp>
      <p:sp>
        <p:nvSpPr>
          <p:cNvPr id="12" name="Oval 11"/>
          <p:cNvSpPr/>
          <p:nvPr/>
        </p:nvSpPr>
        <p:spPr>
          <a:xfrm>
            <a:off x="786384" y="343601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179978"/>
            <a:ext cx="4709160" cy="603504"/>
          </a:xfrm>
          <a:prstGeom prst="rect">
            <a:avLst/>
          </a:prstGeom>
          <a:noFill/>
        </p:spPr>
        <p:txBody>
          <a:bodyPr wrap="square" anchor="ctr" lIns="0" rIns="0" tIns="0" bIns="0">
            <a:spAutoFit/>
          </a:bodyPr>
          <a:lstStyle/>
          <a:p>
            <a:pPr algn="l"/>
            <a:r>
              <a:rPr sz="1577" b="0">
                <a:solidFill>
                  <a:srgbClr val="33475B"/>
                </a:solidFill>
                <a:latin typeface="Aptos"/>
              </a:rPr>
              <a:t>Documentación, si algún día ocurre</a:t>
            </a:r>
          </a:p>
        </p:txBody>
      </p:sp>
      <p:sp>
        <p:nvSpPr>
          <p:cNvPr id="14" name="Oval 13"/>
          <p:cNvSpPr/>
          <p:nvPr/>
        </p:nvSpPr>
        <p:spPr>
          <a:xfrm>
            <a:off x="786384" y="403951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783482"/>
            <a:ext cx="4709160" cy="603504"/>
          </a:xfrm>
          <a:prstGeom prst="rect">
            <a:avLst/>
          </a:prstGeom>
          <a:noFill/>
        </p:spPr>
        <p:txBody>
          <a:bodyPr wrap="square" anchor="ctr" lIns="0" rIns="0" tIns="0" bIns="0">
            <a:spAutoFit/>
          </a:bodyPr>
          <a:lstStyle/>
          <a:p>
            <a:pPr algn="l"/>
            <a:r>
              <a:rPr sz="1577" b="0">
                <a:solidFill>
                  <a:srgbClr val="33475B"/>
                </a:solidFill>
                <a:latin typeface="Aptos"/>
              </a:rPr>
              <a:t>Lo construido decide el diseño</a:t>
            </a:r>
          </a:p>
        </p:txBody>
      </p:sp>
      <p:sp>
        <p:nvSpPr>
          <p:cNvPr id="16" name="Rounded Rectangle 15"/>
          <p:cNvSpPr/>
          <p:nvPr/>
        </p:nvSpPr>
        <p:spPr>
          <a:xfrm>
            <a:off x="6263640" y="1572768"/>
            <a:ext cx="5367528" cy="310469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572768"/>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72768"/>
            <a:ext cx="5001768" cy="566928"/>
          </a:xfrm>
          <a:prstGeom prst="rect">
            <a:avLst/>
          </a:prstGeom>
          <a:noFill/>
        </p:spPr>
        <p:txBody>
          <a:bodyPr wrap="square" anchor="ctr" lIns="0" rIns="0" tIns="0" bIns="0">
            <a:spAutoFit/>
          </a:bodyPr>
          <a:lstStyle/>
          <a:p>
            <a:pPr algn="l"/>
            <a:r>
              <a:rPr sz="1915" b="1">
                <a:solidFill>
                  <a:srgbClr val="FFFFFF"/>
                </a:solidFill>
                <a:latin typeface="Aptos Display"/>
              </a:rPr>
              <a:t>SDD</a:t>
            </a:r>
          </a:p>
        </p:txBody>
      </p:sp>
      <p:sp>
        <p:nvSpPr>
          <p:cNvPr id="19" name="Oval 18"/>
          <p:cNvSpPr/>
          <p:nvPr/>
        </p:nvSpPr>
        <p:spPr>
          <a:xfrm>
            <a:off x="6483096" y="283250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576474"/>
            <a:ext cx="4709160" cy="603504"/>
          </a:xfrm>
          <a:prstGeom prst="rect">
            <a:avLst/>
          </a:prstGeom>
          <a:noFill/>
        </p:spPr>
        <p:txBody>
          <a:bodyPr wrap="square" anchor="ctr" lIns="0" rIns="0" tIns="0" bIns="0">
            <a:spAutoFit/>
          </a:bodyPr>
          <a:lstStyle/>
          <a:p>
            <a:pPr algn="l"/>
            <a:r>
              <a:rPr sz="1577" b="0">
                <a:solidFill>
                  <a:srgbClr val="33475B"/>
                </a:solidFill>
                <a:latin typeface="Aptos"/>
              </a:rPr>
              <a:t>Diseño revisado antes de cada feature</a:t>
            </a:r>
          </a:p>
        </p:txBody>
      </p:sp>
      <p:sp>
        <p:nvSpPr>
          <p:cNvPr id="21" name="Oval 20"/>
          <p:cNvSpPr/>
          <p:nvPr/>
        </p:nvSpPr>
        <p:spPr>
          <a:xfrm>
            <a:off x="6483096" y="343601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179978"/>
            <a:ext cx="4709160" cy="603504"/>
          </a:xfrm>
          <a:prstGeom prst="rect">
            <a:avLst/>
          </a:prstGeom>
          <a:noFill/>
        </p:spPr>
        <p:txBody>
          <a:bodyPr wrap="square" anchor="ctr" lIns="0" rIns="0" tIns="0" bIns="0">
            <a:spAutoFit/>
          </a:bodyPr>
          <a:lstStyle/>
          <a:p>
            <a:pPr algn="l"/>
            <a:r>
              <a:rPr sz="1577" b="0">
                <a:solidFill>
                  <a:srgbClr val="33475B"/>
                </a:solidFill>
                <a:latin typeface="Aptos"/>
              </a:rPr>
              <a:t>Documentación viva con cada cambio</a:t>
            </a:r>
          </a:p>
        </p:txBody>
      </p:sp>
      <p:sp>
        <p:nvSpPr>
          <p:cNvPr id="23" name="Oval 22"/>
          <p:cNvSpPr/>
          <p:nvPr/>
        </p:nvSpPr>
        <p:spPr>
          <a:xfrm>
            <a:off x="6483096" y="403951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783482"/>
            <a:ext cx="4709160" cy="603504"/>
          </a:xfrm>
          <a:prstGeom prst="rect">
            <a:avLst/>
          </a:prstGeom>
          <a:noFill/>
        </p:spPr>
        <p:txBody>
          <a:bodyPr wrap="square" anchor="ctr" lIns="0" rIns="0" tIns="0" bIns="0">
            <a:spAutoFit/>
          </a:bodyPr>
          <a:lstStyle/>
          <a:p>
            <a:pPr algn="l"/>
            <a:r>
              <a:rPr sz="1577" b="0">
                <a:solidFill>
                  <a:srgbClr val="33475B"/>
                </a:solidFill>
                <a:latin typeface="Aptos"/>
              </a:rPr>
              <a:t>Pantalla, historia, criterio y prueba trazados</a:t>
            </a:r>
          </a:p>
        </p:txBody>
      </p:sp>
      <p:sp>
        <p:nvSpPr>
          <p:cNvPr id="25" name="Rounded Rectangle 24"/>
          <p:cNvSpPr/>
          <p:nvPr/>
        </p:nvSpPr>
        <p:spPr>
          <a:xfrm>
            <a:off x="566928" y="4878628"/>
            <a:ext cx="11064240" cy="144901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33492"/>
            <a:ext cx="63500" cy="133929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78628"/>
            <a:ext cx="10378440" cy="1449019"/>
          </a:xfrm>
          <a:prstGeom prst="rect">
            <a:avLst/>
          </a:prstGeom>
          <a:noFill/>
        </p:spPr>
        <p:txBody>
          <a:bodyPr wrap="square" anchor="ctr" lIns="0" rIns="0" tIns="0" bIns="0">
            <a:spAutoFit/>
          </a:bodyPr>
          <a:lstStyle/>
          <a:p>
            <a:pPr algn="l">
              <a:lnSpc>
                <a:spcPct val="125000"/>
              </a:lnSpc>
            </a:pPr>
            <a:r>
              <a:rPr sz="2479" b="1">
                <a:solidFill>
                  <a:srgbClr val="0E2841"/>
                </a:solidFill>
                <a:latin typeface="Aptos Display"/>
              </a:rPr>
              <a:t>SDD: la documentación de diseño precede y guía la implementación; no documenta lo ya construido.</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marco: seis secciones en orden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Sección y hito</a:t>
                      </a:r>
                    </a:p>
                  </a:txBody>
                  <a:tcPr anchor="ctr" marL="146304" marR="146304">
                    <a:solidFill>
                      <a:srgbClr val="156082"/>
                    </a:solidFill>
                  </a:tcPr>
                </a:tc>
                <a:tc>
                  <a:txBody>
                    <a:bodyPr wrap="square"/>
                    <a:lstStyle/>
                    <a:p>
                      <a:r>
                        <a:rPr sz="1513" b="1">
                          <a:solidFill>
                            <a:srgbClr val="FFFFFF"/>
                          </a:solidFill>
                          <a:latin typeface="Aptos"/>
                        </a:rPr>
                        <a:t>Qué decide</a:t>
                      </a:r>
                    </a:p>
                  </a:txBody>
                  <a:tcPr anchor="ctr" marL="146304" marR="146304">
                    <a:solidFill>
                      <a:srgbClr val="156082"/>
                    </a:solidFill>
                  </a:tcPr>
                </a:tc>
                <a:tc>
                  <a:txBody>
                    <a:bodyPr wrap="square"/>
                    <a:lstStyle/>
                    <a:p>
                      <a:r>
                        <a:rPr sz="1513" b="1">
                          <a:solidFill>
                            <a:srgbClr val="FFFFFF"/>
                          </a:solidFill>
                          <a:latin typeface="Aptos"/>
                        </a:rPr>
                        <a:t>Pregunta que debe responder</a:t>
                      </a:r>
                    </a:p>
                  </a:txBody>
                  <a:tcPr anchor="ctr" marL="146304" marR="146304">
                    <a:solidFill>
                      <a:srgbClr val="156082"/>
                    </a:solidFill>
                  </a:tcPr>
                </a:tc>
              </a:tr>
              <a:tr h="488550">
                <a:tc>
                  <a:txBody>
                    <a:bodyPr wrap="square"/>
                    <a:lstStyle/>
                    <a:p>
                      <a:r>
                        <a:rPr sz="1413" b="1">
                          <a:solidFill>
                            <a:srgbClr val="33475B"/>
                          </a:solidFill>
                          <a:latin typeface="Aptos"/>
                        </a:rPr>
                        <a:t>00 Gobierno · H1</a:t>
                      </a:r>
                    </a:p>
                  </a:txBody>
                  <a:tcPr anchor="ctr" marL="146304" marR="146304">
                    <a:solidFill>
                      <a:srgbClr val="FFFFFF"/>
                    </a:solidFill>
                  </a:tcPr>
                </a:tc>
                <a:tc>
                  <a:txBody>
                    <a:bodyPr wrap="square"/>
                    <a:lstStyle/>
                    <a:p>
                      <a:r>
                        <a:rPr sz="1413" b="0">
                          <a:solidFill>
                            <a:srgbClr val="33475B"/>
                          </a:solidFill>
                          <a:latin typeface="Aptos"/>
                        </a:rPr>
                        <a:t>Proceso ágil, git, DoR, DoD, seguridad</a:t>
                      </a:r>
                    </a:p>
                  </a:txBody>
                  <a:tcPr anchor="ctr" marL="146304" marR="146304">
                    <a:solidFill>
                      <a:srgbClr val="FFFFFF"/>
                    </a:solidFill>
                  </a:tcPr>
                </a:tc>
                <a:tc>
                  <a:txBody>
                    <a:bodyPr wrap="square"/>
                    <a:lstStyle/>
                    <a:p>
                      <a:r>
                        <a:rPr sz="1413" b="0">
                          <a:solidFill>
                            <a:srgbClr val="33475B"/>
                          </a:solidFill>
                          <a:latin typeface="Aptos"/>
                        </a:rPr>
                        <a:t>¿Qué es «listo» y «hecho»?</a:t>
                      </a:r>
                    </a:p>
                  </a:txBody>
                  <a:tcPr anchor="ctr" marL="146304" marR="146304">
                    <a:solidFill>
                      <a:srgbClr val="FFFFFF"/>
                    </a:solidFill>
                  </a:tcPr>
                </a:tc>
              </a:tr>
              <a:tr h="488550">
                <a:tc>
                  <a:txBody>
                    <a:bodyPr wrap="square"/>
                    <a:lstStyle/>
                    <a:p>
                      <a:r>
                        <a:rPr sz="1413" b="1">
                          <a:solidFill>
                            <a:srgbClr val="33475B"/>
                          </a:solidFill>
                          <a:latin typeface="Aptos"/>
                        </a:rPr>
                        <a:t>01 Arquitectura · H1</a:t>
                      </a:r>
                    </a:p>
                  </a:txBody>
                  <a:tcPr anchor="ctr" marL="146304" marR="146304">
                    <a:solidFill>
                      <a:srgbClr val="F4F7FA"/>
                    </a:solidFill>
                  </a:tcPr>
                </a:tc>
                <a:tc>
                  <a:txBody>
                    <a:bodyPr wrap="square"/>
                    <a:lstStyle/>
                    <a:p>
                      <a:r>
                        <a:rPr sz="1413" b="0">
                          <a:solidFill>
                            <a:srgbClr val="33475B"/>
                          </a:solidFill>
                          <a:latin typeface="Aptos"/>
                        </a:rPr>
                        <a:t>Estructura, capas, estado, rutas, ADR</a:t>
                      </a:r>
                    </a:p>
                  </a:txBody>
                  <a:tcPr anchor="ctr" marL="146304" marR="146304">
                    <a:solidFill>
                      <a:srgbClr val="F4F7FA"/>
                    </a:solidFill>
                  </a:tcPr>
                </a:tc>
                <a:tc>
                  <a:txBody>
                    <a:bodyPr wrap="square"/>
                    <a:lstStyle/>
                    <a:p>
                      <a:r>
                        <a:rPr sz="1413" b="0">
                          <a:solidFill>
                            <a:srgbClr val="33475B"/>
                          </a:solidFill>
                          <a:latin typeface="Aptos"/>
                        </a:rPr>
                        <a:t>¿Dónde va el código de una feature?</a:t>
                      </a:r>
                    </a:p>
                  </a:txBody>
                  <a:tcPr anchor="ctr" marL="146304" marR="146304">
                    <a:solidFill>
                      <a:srgbClr val="F4F7FA"/>
                    </a:solidFill>
                  </a:tcPr>
                </a:tc>
              </a:tr>
              <a:tr h="488550">
                <a:tc>
                  <a:txBody>
                    <a:bodyPr wrap="square"/>
                    <a:lstStyle/>
                    <a:p>
                      <a:r>
                        <a:rPr sz="1413" b="1">
                          <a:solidFill>
                            <a:srgbClr val="33475B"/>
                          </a:solidFill>
                          <a:latin typeface="Aptos"/>
                        </a:rPr>
                        <a:t>02 Código y UI · H2</a:t>
                      </a:r>
                    </a:p>
                  </a:txBody>
                  <a:tcPr anchor="ctr" marL="146304" marR="146304">
                    <a:solidFill>
                      <a:srgbClr val="FFFFFF"/>
                    </a:solidFill>
                  </a:tcPr>
                </a:tc>
                <a:tc>
                  <a:txBody>
                    <a:bodyPr wrap="square"/>
                    <a:lstStyle/>
                    <a:p>
                      <a:r>
                        <a:rPr sz="1413" b="0">
                          <a:solidFill>
                            <a:srgbClr val="33475B"/>
                          </a:solidFill>
                          <a:latin typeface="Aptos"/>
                        </a:rPr>
                        <a:t>Estándares, diseño, accesibilidad, i18n</a:t>
                      </a:r>
                    </a:p>
                  </a:txBody>
                  <a:tcPr anchor="ctr" marL="146304" marR="146304">
                    <a:solidFill>
                      <a:srgbClr val="FFFFFF"/>
                    </a:solidFill>
                  </a:tcPr>
                </a:tc>
                <a:tc>
                  <a:txBody>
                    <a:bodyPr wrap="square"/>
                    <a:lstStyle/>
                    <a:p>
                      <a:r>
                        <a:rPr sz="1413" b="0">
                          <a:solidFill>
                            <a:srgbClr val="33475B"/>
                          </a:solidFill>
                          <a:latin typeface="Aptos"/>
                        </a:rPr>
                        <a:t>¿De dónde salen colores y textos?</a:t>
                      </a:r>
                    </a:p>
                  </a:txBody>
                  <a:tcPr anchor="ctr" marL="146304" marR="146304">
                    <a:solidFill>
                      <a:srgbClr val="FFFFFF"/>
                    </a:solidFill>
                  </a:tcPr>
                </a:tc>
              </a:tr>
              <a:tr h="488550">
                <a:tc>
                  <a:txBody>
                    <a:bodyPr wrap="square"/>
                    <a:lstStyle/>
                    <a:p>
                      <a:r>
                        <a:rPr sz="1413" b="1">
                          <a:solidFill>
                            <a:srgbClr val="33475B"/>
                          </a:solidFill>
                          <a:latin typeface="Aptos"/>
                        </a:rPr>
                        <a:t>03 API y datos · H2</a:t>
                      </a:r>
                    </a:p>
                  </a:txBody>
                  <a:tcPr anchor="ctr" marL="146304" marR="146304">
                    <a:solidFill>
                      <a:srgbClr val="F4F7FA"/>
                    </a:solidFill>
                  </a:tcPr>
                </a:tc>
                <a:tc>
                  <a:txBody>
                    <a:bodyPr wrap="square"/>
                    <a:lstStyle/>
                    <a:p>
                      <a:r>
                        <a:rPr sz="1413" b="0">
                          <a:solidFill>
                            <a:srgbClr val="33475B"/>
                          </a:solidFill>
                          <a:latin typeface="Aptos"/>
                        </a:rPr>
                        <a:t>Red, autenticación, persistencia, offline</a:t>
                      </a:r>
                    </a:p>
                  </a:txBody>
                  <a:tcPr anchor="ctr" marL="146304" marR="146304">
                    <a:solidFill>
                      <a:srgbClr val="F4F7FA"/>
                    </a:solidFill>
                  </a:tcPr>
                </a:tc>
                <a:tc>
                  <a:txBody>
                    <a:bodyPr wrap="square"/>
                    <a:lstStyle/>
                    <a:p>
                      <a:r>
                        <a:rPr sz="1413" b="0">
                          <a:solidFill>
                            <a:srgbClr val="33475B"/>
                          </a:solidFill>
                          <a:latin typeface="Aptos"/>
                        </a:rPr>
                        <a:t>¿Dónde viven los tokens; y sin señal?</a:t>
                      </a:r>
                    </a:p>
                  </a:txBody>
                  <a:tcPr anchor="ctr" marL="146304" marR="146304">
                    <a:solidFill>
                      <a:srgbClr val="F4F7FA"/>
                    </a:solidFill>
                  </a:tcPr>
                </a:tc>
              </a:tr>
              <a:tr h="488550">
                <a:tc>
                  <a:txBody>
                    <a:bodyPr wrap="square"/>
                    <a:lstStyle/>
                    <a:p>
                      <a:r>
                        <a:rPr sz="1413" b="1">
                          <a:solidFill>
                            <a:srgbClr val="33475B"/>
                          </a:solidFill>
                          <a:latin typeface="Aptos"/>
                        </a:rPr>
                        <a:t>04 Calidad · H3</a:t>
                      </a:r>
                    </a:p>
                  </a:txBody>
                  <a:tcPr anchor="ctr" marL="146304" marR="146304">
                    <a:solidFill>
                      <a:srgbClr val="FFFFFF"/>
                    </a:solidFill>
                  </a:tcPr>
                </a:tc>
                <a:tc>
                  <a:txBody>
                    <a:bodyPr wrap="square"/>
                    <a:lstStyle/>
                    <a:p>
                      <a:r>
                        <a:rPr sz="1413" b="0">
                          <a:solidFill>
                            <a:srgbClr val="33475B"/>
                          </a:solidFill>
                          <a:latin typeface="Aptos"/>
                        </a:rPr>
                        <a:t>Pruebas, rendimiento, seguridad móvil</a:t>
                      </a:r>
                    </a:p>
                  </a:txBody>
                  <a:tcPr anchor="ctr" marL="146304" marR="146304">
                    <a:solidFill>
                      <a:srgbClr val="FFFFFF"/>
                    </a:solidFill>
                  </a:tcPr>
                </a:tc>
                <a:tc>
                  <a:txBody>
                    <a:bodyPr wrap="square"/>
                    <a:lstStyle/>
                    <a:p>
                      <a:r>
                        <a:rPr sz="1413" b="0">
                          <a:solidFill>
                            <a:srgbClr val="33475B"/>
                          </a:solidFill>
                          <a:latin typeface="Aptos"/>
                        </a:rPr>
                        <a:t>¿Qué se prueba y en qué nivel?</a:t>
                      </a:r>
                    </a:p>
                  </a:txBody>
                  <a:tcPr anchor="ctr" marL="146304" marR="146304">
                    <a:solidFill>
                      <a:srgbClr val="FFFFFF"/>
                    </a:solidFill>
                  </a:tcPr>
                </a:tc>
              </a:tr>
              <a:tr h="488550">
                <a:tc>
                  <a:txBody>
                    <a:bodyPr wrap="square"/>
                    <a:lstStyle/>
                    <a:p>
                      <a:r>
                        <a:rPr sz="1413" b="1">
                          <a:solidFill>
                            <a:srgbClr val="33475B"/>
                          </a:solidFill>
                          <a:latin typeface="Aptos"/>
                        </a:rPr>
                        <a:t>05 Release · H3</a:t>
                      </a:r>
                    </a:p>
                  </a:txBody>
                  <a:tcPr anchor="ctr" marL="146304" marR="146304">
                    <a:solidFill>
                      <a:srgbClr val="F4F7FA"/>
                    </a:solidFill>
                  </a:tcPr>
                </a:tc>
                <a:tc>
                  <a:txBody>
                    <a:bodyPr wrap="square"/>
                    <a:lstStyle/>
                    <a:p>
                      <a:r>
                        <a:rPr sz="1413" b="0">
                          <a:solidFill>
                            <a:srgbClr val="33475B"/>
                          </a:solidFill>
                          <a:latin typeface="Aptos"/>
                        </a:rPr>
                        <a:t>CI/CD, firma, tiendas, observabilidad</a:t>
                      </a:r>
                    </a:p>
                  </a:txBody>
                  <a:tcPr anchor="ctr" marL="146304" marR="146304">
                    <a:solidFill>
                      <a:srgbClr val="F4F7FA"/>
                    </a:solidFill>
                  </a:tcPr>
                </a:tc>
                <a:tc>
                  <a:txBody>
                    <a:bodyPr wrap="square"/>
                    <a:lstStyle/>
                    <a:p>
                      <a:r>
                        <a:rPr sz="1413" b="0">
                          <a:solidFill>
                            <a:srgbClr val="33475B"/>
                          </a:solidFill>
                          <a:latin typeface="Aptos"/>
                        </a:rPr>
                        <a:t>¿Cómo un commit llega a build firmado?</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Se diligencian en ese orden y 00 Gobierno envuelve a todas: si una convención choca con el gobierno, gana el gobierno, salvo ADR.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Listo para empezar, hecho para cerrar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5367528"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5001768" cy="566928"/>
          </a:xfrm>
          <a:prstGeom prst="rect">
            <a:avLst/>
          </a:prstGeom>
          <a:noFill/>
        </p:spPr>
        <p:txBody>
          <a:bodyPr wrap="square" anchor="ctr" lIns="0" rIns="0" tIns="0" bIns="0">
            <a:spAutoFit/>
          </a:bodyPr>
          <a:lstStyle/>
          <a:p>
            <a:pPr algn="l"/>
            <a:r>
              <a:rPr sz="1837" b="1">
                <a:solidFill>
                  <a:srgbClr val="FFFFFF"/>
                </a:solidFill>
                <a:latin typeface="Aptos Display"/>
              </a:rPr>
              <a:t>DoR · antes del sprint</a:t>
            </a:r>
          </a:p>
        </p:txBody>
      </p:sp>
      <p:sp>
        <p:nvSpPr>
          <p:cNvPr id="10" name="Oval 9"/>
          <p:cNvSpPr/>
          <p:nvPr/>
        </p:nvSpPr>
        <p:spPr>
          <a:xfrm>
            <a:off x="786384" y="258196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25928"/>
            <a:ext cx="4709160" cy="603504"/>
          </a:xfrm>
          <a:prstGeom prst="rect">
            <a:avLst/>
          </a:prstGeom>
          <a:noFill/>
        </p:spPr>
        <p:txBody>
          <a:bodyPr wrap="square" anchor="ctr" lIns="0" rIns="0" tIns="0" bIns="0">
            <a:spAutoFit/>
          </a:bodyPr>
          <a:lstStyle/>
          <a:p>
            <a:pPr algn="l"/>
            <a:r>
              <a:rPr sz="1513" b="0">
                <a:solidFill>
                  <a:srgbClr val="33475B"/>
                </a:solidFill>
                <a:latin typeface="Aptos"/>
              </a:rPr>
              <a:t>Como / Quiero / Para y Dado / Cuando / Entonces</a:t>
            </a:r>
          </a:p>
        </p:txBody>
      </p:sp>
      <p:sp>
        <p:nvSpPr>
          <p:cNvPr id="12" name="Oval 11"/>
          <p:cNvSpPr/>
          <p:nvPr/>
        </p:nvSpPr>
        <p:spPr>
          <a:xfrm>
            <a:off x="786384" y="318546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29432"/>
            <a:ext cx="4709160" cy="603504"/>
          </a:xfrm>
          <a:prstGeom prst="rect">
            <a:avLst/>
          </a:prstGeom>
          <a:noFill/>
        </p:spPr>
        <p:txBody>
          <a:bodyPr wrap="square" anchor="ctr" lIns="0" rIns="0" tIns="0" bIns="0">
            <a:spAutoFit/>
          </a:bodyPr>
          <a:lstStyle/>
          <a:p>
            <a:pPr algn="l"/>
            <a:r>
              <a:rPr sz="1513" b="0">
                <a:solidFill>
                  <a:srgbClr val="33475B"/>
                </a:solidFill>
                <a:latin typeface="Aptos"/>
              </a:rPr>
              <a:t>Referencia de UI y contrato de API</a:t>
            </a:r>
          </a:p>
        </p:txBody>
      </p:sp>
      <p:sp>
        <p:nvSpPr>
          <p:cNvPr id="14" name="Oval 13"/>
          <p:cNvSpPr/>
          <p:nvPr/>
        </p:nvSpPr>
        <p:spPr>
          <a:xfrm>
            <a:off x="786384" y="378896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532936"/>
            <a:ext cx="4709160" cy="603504"/>
          </a:xfrm>
          <a:prstGeom prst="rect">
            <a:avLst/>
          </a:prstGeom>
          <a:noFill/>
        </p:spPr>
        <p:txBody>
          <a:bodyPr wrap="square" anchor="ctr" lIns="0" rIns="0" tIns="0" bIns="0">
            <a:spAutoFit/>
          </a:bodyPr>
          <a:lstStyle/>
          <a:p>
            <a:pPr algn="l"/>
            <a:r>
              <a:rPr sz="1513" b="0">
                <a:solidFill>
                  <a:srgbClr val="33475B"/>
                </a:solidFill>
                <a:latin typeface="Aptos"/>
              </a:rPr>
              <a:t>Estados: carga, vacío, error, sin conexión</a:t>
            </a:r>
          </a:p>
        </p:txBody>
      </p:sp>
      <p:sp>
        <p:nvSpPr>
          <p:cNvPr id="16" name="Oval 15"/>
          <p:cNvSpPr/>
          <p:nvPr/>
        </p:nvSpPr>
        <p:spPr>
          <a:xfrm>
            <a:off x="786384" y="439247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136440"/>
            <a:ext cx="4709160" cy="603504"/>
          </a:xfrm>
          <a:prstGeom prst="rect">
            <a:avLst/>
          </a:prstGeom>
          <a:noFill/>
        </p:spPr>
        <p:txBody>
          <a:bodyPr wrap="square" anchor="ctr" lIns="0" rIns="0" tIns="0" bIns="0">
            <a:spAutoFit/>
          </a:bodyPr>
          <a:lstStyle/>
          <a:p>
            <a:pPr algn="l"/>
            <a:r>
              <a:rPr sz="1513" b="0">
                <a:solidFill>
                  <a:srgbClr val="33475B"/>
                </a:solidFill>
                <a:latin typeface="Aptos"/>
              </a:rPr>
              <a:t>Permiso nativo identificado y estimación</a:t>
            </a:r>
          </a:p>
        </p:txBody>
      </p:sp>
      <p:sp>
        <p:nvSpPr>
          <p:cNvPr id="18" name="Rounded Rectangle 17"/>
          <p:cNvSpPr/>
          <p:nvPr/>
        </p:nvSpPr>
        <p:spPr>
          <a:xfrm>
            <a:off x="6263640" y="1572768"/>
            <a:ext cx="5367528"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63640" y="1572768"/>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572768"/>
            <a:ext cx="5001768" cy="566928"/>
          </a:xfrm>
          <a:prstGeom prst="rect">
            <a:avLst/>
          </a:prstGeom>
          <a:noFill/>
        </p:spPr>
        <p:txBody>
          <a:bodyPr wrap="square" anchor="ctr" lIns="0" rIns="0" tIns="0" bIns="0">
            <a:spAutoFit/>
          </a:bodyPr>
          <a:lstStyle/>
          <a:p>
            <a:pPr algn="l"/>
            <a:r>
              <a:rPr sz="1837" b="1">
                <a:solidFill>
                  <a:srgbClr val="FFFFFF"/>
                </a:solidFill>
                <a:latin typeface="Aptos Display"/>
              </a:rPr>
              <a:t>DoD · antes de cerrar</a:t>
            </a:r>
          </a:p>
        </p:txBody>
      </p:sp>
      <p:sp>
        <p:nvSpPr>
          <p:cNvPr id="21" name="Oval 20"/>
          <p:cNvSpPr/>
          <p:nvPr/>
        </p:nvSpPr>
        <p:spPr>
          <a:xfrm>
            <a:off x="6483096" y="258196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325928"/>
            <a:ext cx="4709160" cy="603504"/>
          </a:xfrm>
          <a:prstGeom prst="rect">
            <a:avLst/>
          </a:prstGeom>
          <a:noFill/>
        </p:spPr>
        <p:txBody>
          <a:bodyPr wrap="square" anchor="ctr" lIns="0" rIns="0" tIns="0" bIns="0">
            <a:spAutoFit/>
          </a:bodyPr>
          <a:lstStyle/>
          <a:p>
            <a:pPr algn="l"/>
            <a:r>
              <a:rPr sz="1513" b="0">
                <a:solidFill>
                  <a:srgbClr val="33475B"/>
                </a:solidFill>
                <a:latin typeface="Aptos"/>
              </a:rPr>
              <a:t>Criterios verificados en emulador o dispositivo</a:t>
            </a:r>
          </a:p>
        </p:txBody>
      </p:sp>
      <p:sp>
        <p:nvSpPr>
          <p:cNvPr id="23" name="Oval 22"/>
          <p:cNvSpPr/>
          <p:nvPr/>
        </p:nvSpPr>
        <p:spPr>
          <a:xfrm>
            <a:off x="6483096" y="318546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2929432"/>
            <a:ext cx="4709160" cy="603504"/>
          </a:xfrm>
          <a:prstGeom prst="rect">
            <a:avLst/>
          </a:prstGeom>
          <a:noFill/>
        </p:spPr>
        <p:txBody>
          <a:bodyPr wrap="square" anchor="ctr" lIns="0" rIns="0" tIns="0" bIns="0">
            <a:spAutoFit/>
          </a:bodyPr>
          <a:lstStyle/>
          <a:p>
            <a:pPr algn="l"/>
            <a:r>
              <a:rPr sz="1513" b="0">
                <a:solidFill>
                  <a:srgbClr val="33475B"/>
                </a:solidFill>
                <a:latin typeface="Aptos"/>
              </a:rPr>
              <a:t>PR revisado y pruebas que pasan</a:t>
            </a:r>
          </a:p>
        </p:txBody>
      </p:sp>
      <p:sp>
        <p:nvSpPr>
          <p:cNvPr id="25" name="Oval 24"/>
          <p:cNvSpPr/>
          <p:nvPr/>
        </p:nvSpPr>
        <p:spPr>
          <a:xfrm>
            <a:off x="6483096" y="378896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3532936"/>
            <a:ext cx="4709160" cy="603504"/>
          </a:xfrm>
          <a:prstGeom prst="rect">
            <a:avLst/>
          </a:prstGeom>
          <a:noFill/>
        </p:spPr>
        <p:txBody>
          <a:bodyPr wrap="square" anchor="ctr" lIns="0" rIns="0" tIns="0" bIns="0">
            <a:spAutoFit/>
          </a:bodyPr>
          <a:lstStyle/>
          <a:p>
            <a:pPr algn="l"/>
            <a:r>
              <a:rPr sz="1513" b="0">
                <a:solidFill>
                  <a:srgbClr val="33475B"/>
                </a:solidFill>
                <a:latin typeface="Aptos"/>
              </a:rPr>
              <a:t>Regla de dependencias respetada</a:t>
            </a:r>
          </a:p>
        </p:txBody>
      </p:sp>
      <p:sp>
        <p:nvSpPr>
          <p:cNvPr id="27" name="Oval 26"/>
          <p:cNvSpPr/>
          <p:nvPr/>
        </p:nvSpPr>
        <p:spPr>
          <a:xfrm>
            <a:off x="6483096" y="439247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136440"/>
            <a:ext cx="4709160" cy="603504"/>
          </a:xfrm>
          <a:prstGeom prst="rect">
            <a:avLst/>
          </a:prstGeom>
          <a:noFill/>
        </p:spPr>
        <p:txBody>
          <a:bodyPr wrap="square" anchor="ctr" lIns="0" rIns="0" tIns="0" bIns="0">
            <a:spAutoFit/>
          </a:bodyPr>
          <a:lstStyle/>
          <a:p>
            <a:pPr algn="l"/>
            <a:r>
              <a:rPr sz="1513" b="0">
                <a:solidFill>
                  <a:srgbClr val="33475B"/>
                </a:solidFill>
                <a:latin typeface="Aptos"/>
              </a:rPr>
              <a:t>Cuatro estados resueltos y documentación al día</a:t>
            </a:r>
          </a:p>
        </p:txBody>
      </p:sp>
      <p:sp>
        <p:nvSpPr>
          <p:cNvPr id="29" name="Rounded Rectangle 28"/>
          <p:cNvSpPr/>
          <p:nvPr/>
        </p:nvSpPr>
        <p:spPr>
          <a:xfrm>
            <a:off x="566928" y="4981041"/>
            <a:ext cx="11064240" cy="134660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035905"/>
            <a:ext cx="63500" cy="123687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981041"/>
            <a:ext cx="10378440" cy="1346606"/>
          </a:xfrm>
          <a:prstGeom prst="rect">
            <a:avLst/>
          </a:prstGeom>
          <a:noFill/>
        </p:spPr>
        <p:txBody>
          <a:bodyPr wrap="square" anchor="ctr" lIns="0" rIns="0" tIns="0" bIns="0">
            <a:spAutoFit/>
          </a:bodyPr>
          <a:lstStyle/>
          <a:p>
            <a:pPr algn="l">
              <a:lnSpc>
                <a:spcPct val="125000"/>
              </a:lnSpc>
            </a:pPr>
            <a:r>
              <a:rPr sz="2378" b="1">
                <a:solidFill>
                  <a:srgbClr val="0E2841"/>
                </a:solidFill>
                <a:latin typeface="Aptos Display"/>
              </a:rPr>
              <a:t>Sin </a:t>
            </a:r>
            <a:r>
              <a:rPr sz="2378" b="1">
                <a:solidFill>
                  <a:srgbClr val="0E2841"/>
                </a:solidFill>
                <a:latin typeface="Aptos Display"/>
              </a:rPr>
              <a:t>toda</a:t>
            </a:r>
            <a:r>
              <a:rPr sz="2378" b="1">
                <a:solidFill>
                  <a:srgbClr val="0E2841"/>
                </a:solidFill>
                <a:latin typeface="Aptos Display"/>
              </a:rPr>
              <a:t> la DoD no está hecha; lo que más se salta: los estados sin conexión y de error.</a:t>
            </a:r>
          </a:p>
        </p:txBody>
      </p:sp>
      <p:sp>
        <p:nvSpPr>
          <p:cNvPr id="32" name="TextBox 3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33" name="TextBox 3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criterio bien escrito ya es prueba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45075"/>
            <a:ext cx="2478024" cy="156991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45075"/>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53251"/>
            <a:ext cx="2185416" cy="1067539"/>
          </a:xfrm>
          <a:prstGeom prst="rect">
            <a:avLst/>
          </a:prstGeom>
          <a:noFill/>
        </p:spPr>
        <p:txBody>
          <a:bodyPr wrap="square" anchor="t" lIns="0" rIns="0" tIns="0" bIns="0">
            <a:spAutoFit/>
          </a:bodyPr>
          <a:lstStyle/>
          <a:p>
            <a:pPr algn="ctr"/>
            <a:r>
              <a:rPr sz="1648" b="1">
                <a:solidFill>
                  <a:srgbClr val="0E2841"/>
                </a:solidFill>
                <a:latin typeface="Aptos Display"/>
              </a:rPr>
              <a:t>HU-03 · Must · 5 pts</a:t>
            </a:r>
          </a:p>
          <a:p>
            <a:pPr algn="ctr">
              <a:lnSpc>
                <a:spcPct val="120000"/>
              </a:lnSpc>
              <a:spcBef>
                <a:spcPts val="700"/>
              </a:spcBef>
            </a:pPr>
            <a:r>
              <a:rPr sz="1276" b="0">
                <a:solidFill>
                  <a:srgbClr val="7A8B9E"/>
                </a:solidFill>
                <a:latin typeface="Aptos"/>
              </a:rPr>
              <a:t>Registrar una visita sin señal, para no perder la evidencia</a:t>
            </a:r>
          </a:p>
        </p:txBody>
      </p:sp>
      <p:sp>
        <p:nvSpPr>
          <p:cNvPr id="10" name="Chevron 9"/>
          <p:cNvSpPr/>
          <p:nvPr/>
        </p:nvSpPr>
        <p:spPr>
          <a:xfrm>
            <a:off x="3136392" y="2247446"/>
            <a:ext cx="201168" cy="565167"/>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745075"/>
            <a:ext cx="2478024" cy="156991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745075"/>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153251"/>
            <a:ext cx="2185416" cy="1067539"/>
          </a:xfrm>
          <a:prstGeom prst="rect">
            <a:avLst/>
          </a:prstGeom>
          <a:noFill/>
        </p:spPr>
        <p:txBody>
          <a:bodyPr wrap="square" anchor="t" lIns="0" rIns="0" tIns="0" bIns="0">
            <a:spAutoFit/>
          </a:bodyPr>
          <a:lstStyle/>
          <a:p>
            <a:pPr algn="ctr"/>
            <a:r>
              <a:rPr sz="1648" b="1">
                <a:solidFill>
                  <a:srgbClr val="0E2841"/>
                </a:solidFill>
                <a:latin typeface="Aptos Display"/>
              </a:rPr>
              <a:t>CA-1</a:t>
            </a:r>
          </a:p>
          <a:p>
            <a:pPr algn="ctr">
              <a:lnSpc>
                <a:spcPct val="120000"/>
              </a:lnSpc>
              <a:spcBef>
                <a:spcPts val="700"/>
              </a:spcBef>
            </a:pPr>
            <a:r>
              <a:rPr sz="1276" b="0">
                <a:solidFill>
                  <a:srgbClr val="7A8B9E"/>
                </a:solidFill>
                <a:latin typeface="Aptos"/>
              </a:rPr>
              <a:t>Sin conexión, al guardar queda «pendiente de sincronizar»</a:t>
            </a:r>
          </a:p>
        </p:txBody>
      </p:sp>
      <p:sp>
        <p:nvSpPr>
          <p:cNvPr id="14" name="Chevron 13"/>
          <p:cNvSpPr/>
          <p:nvPr/>
        </p:nvSpPr>
        <p:spPr>
          <a:xfrm>
            <a:off x="5998464" y="2247446"/>
            <a:ext cx="201168" cy="565167"/>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745075"/>
            <a:ext cx="2478024" cy="156991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745075"/>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153251"/>
            <a:ext cx="2185416" cy="1067539"/>
          </a:xfrm>
          <a:prstGeom prst="rect">
            <a:avLst/>
          </a:prstGeom>
          <a:noFill/>
        </p:spPr>
        <p:txBody>
          <a:bodyPr wrap="square" anchor="t" lIns="0" rIns="0" tIns="0" bIns="0">
            <a:spAutoFit/>
          </a:bodyPr>
          <a:lstStyle/>
          <a:p>
            <a:pPr algn="ctr"/>
            <a:r>
              <a:rPr sz="1648" b="1">
                <a:solidFill>
                  <a:srgbClr val="0E2841"/>
                </a:solidFill>
                <a:latin typeface="Aptos Display"/>
              </a:rPr>
              <a:t>CA-2</a:t>
            </a:r>
          </a:p>
          <a:p>
            <a:pPr algn="ctr">
              <a:lnSpc>
                <a:spcPct val="120000"/>
              </a:lnSpc>
              <a:spcBef>
                <a:spcPts val="700"/>
              </a:spcBef>
            </a:pPr>
            <a:r>
              <a:rPr sz="1276" b="0">
                <a:solidFill>
                  <a:srgbClr val="7A8B9E"/>
                </a:solidFill>
                <a:latin typeface="Aptos"/>
              </a:rPr>
              <a:t>Sin permiso de ubicación, se guarda sin coordenadas y con aviso</a:t>
            </a:r>
          </a:p>
        </p:txBody>
      </p:sp>
      <p:sp>
        <p:nvSpPr>
          <p:cNvPr id="18" name="Chevron 17"/>
          <p:cNvSpPr/>
          <p:nvPr/>
        </p:nvSpPr>
        <p:spPr>
          <a:xfrm>
            <a:off x="8860536" y="2247446"/>
            <a:ext cx="201168" cy="565167"/>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745075"/>
            <a:ext cx="2478024" cy="156991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745075"/>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153251"/>
            <a:ext cx="2185416" cy="1067539"/>
          </a:xfrm>
          <a:prstGeom prst="rect">
            <a:avLst/>
          </a:prstGeom>
          <a:noFill/>
        </p:spPr>
        <p:txBody>
          <a:bodyPr wrap="square" anchor="t" lIns="0" rIns="0" tIns="0" bIns="0">
            <a:spAutoFit/>
          </a:bodyPr>
          <a:lstStyle/>
          <a:p>
            <a:pPr algn="ctr"/>
            <a:r>
              <a:rPr sz="1648" b="1">
                <a:solidFill>
                  <a:srgbClr val="0E2841"/>
                </a:solidFill>
                <a:latin typeface="Aptos Display"/>
              </a:rPr>
              <a:t>Prueba</a:t>
            </a:r>
          </a:p>
          <a:p>
            <a:pPr algn="ctr">
              <a:lnSpc>
                <a:spcPct val="120000"/>
              </a:lnSpc>
              <a:spcBef>
                <a:spcPts val="700"/>
              </a:spcBef>
            </a:pPr>
            <a:r>
              <a:rPr sz="1276" b="0">
                <a:solidFill>
                  <a:srgbClr val="7A8B9E"/>
                </a:solidFill>
                <a:latin typeface="Aptos"/>
              </a:rPr>
              <a:t>registrar-visita.spec.ts nombra la HU y cada CA</a:t>
            </a:r>
          </a:p>
        </p:txBody>
      </p:sp>
      <p:sp>
        <p:nvSpPr>
          <p:cNvPr id="22" name="Rounded Rectangle 21"/>
          <p:cNvSpPr/>
          <p:nvPr/>
        </p:nvSpPr>
        <p:spPr>
          <a:xfrm>
            <a:off x="566928" y="3688461"/>
            <a:ext cx="11064240" cy="263918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 y="390791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3871341"/>
            <a:ext cx="7315200" cy="237744"/>
          </a:xfrm>
          <a:prstGeom prst="rect">
            <a:avLst/>
          </a:prstGeom>
          <a:noFill/>
        </p:spPr>
        <p:txBody>
          <a:bodyPr wrap="square" anchor="t" lIns="0" rIns="0" tIns="0" bIns="0">
            <a:spAutoFit/>
          </a:bodyPr>
          <a:lstStyle/>
          <a:p>
            <a:pPr algn="l"/>
            <a:r>
              <a:rPr sz="1223" b="1">
                <a:solidFill>
                  <a:srgbClr val="E97132"/>
                </a:solidFill>
                <a:latin typeface="Aptos"/>
              </a:rPr>
              <a:t>REGISTRAR-VISITA.SPEC.TS · IGUAL CON JASMINE O CON VITEST</a:t>
            </a:r>
          </a:p>
        </p:txBody>
      </p:sp>
      <p:sp>
        <p:nvSpPr>
          <p:cNvPr id="25" name="TextBox 24"/>
          <p:cNvSpPr txBox="1"/>
          <p:nvPr/>
        </p:nvSpPr>
        <p:spPr>
          <a:xfrm>
            <a:off x="877824" y="4255389"/>
            <a:ext cx="10515600" cy="1907666"/>
          </a:xfrm>
          <a:prstGeom prst="rect">
            <a:avLst/>
          </a:prstGeom>
          <a:noFill/>
        </p:spPr>
        <p:txBody>
          <a:bodyPr wrap="none" lIns="0" tIns="0">
            <a:spAutoFit/>
          </a:bodyPr>
          <a:lstStyle/>
          <a:p>
            <a:pPr>
              <a:lnSpc>
                <a:spcPct val="125000"/>
              </a:lnSpc>
            </a:pPr>
            <a:r>
              <a:rPr sz="1542">
                <a:solidFill>
                  <a:srgbClr val="E8E8E8"/>
                </a:solidFill>
                <a:latin typeface="Consolas"/>
              </a:rPr>
              <a:t>describe('HU-03 · Registrar visita sin señal', () =&gt; {</a:t>
            </a:r>
          </a:p>
          <a:p>
            <a:pPr>
              <a:lnSpc>
                <a:spcPct val="125000"/>
              </a:lnSpc>
            </a:pPr>
            <a:r>
              <a:rPr sz="1542">
                <a:solidFill>
                  <a:srgbClr val="E8E8E8"/>
                </a:solidFill>
                <a:latin typeface="Consolas"/>
              </a:rPr>
              <a:t>  it('CA-1: sin conexión, la visita queda pendiente de sincronizar', async () =&gt; {</a:t>
            </a:r>
          </a:p>
          <a:p>
            <a:pPr>
              <a:lnSpc>
                <a:spcPct val="125000"/>
              </a:lnSpc>
            </a:pPr>
            <a:r>
              <a:rPr sz="1542">
                <a:solidFill>
                  <a:srgbClr val="E8E8E8"/>
                </a:solidFill>
                <a:latin typeface="Consolas"/>
              </a:rPr>
              <a:t>    const repo = new VisitasEnMemoriaRepository({ enLinea: false });   // fake</a:t>
            </a:r>
          </a:p>
          <a:p>
            <a:pPr>
              <a:lnSpc>
                <a:spcPct val="125000"/>
              </a:lnSpc>
            </a:pPr>
            <a:r>
              <a:rPr sz="1542">
                <a:solidFill>
                  <a:srgbClr val="E8E8E8"/>
                </a:solidFill>
                <a:latin typeface="Consolas"/>
              </a:rPr>
              <a:t>    const visita = await firstValueFrom(new RegistrarVisita(repo).ejecutar(borradorValido()));</a:t>
            </a:r>
          </a:p>
          <a:p>
            <a:pPr>
              <a:lnSpc>
                <a:spcPct val="125000"/>
              </a:lnSpc>
            </a:pPr>
            <a:r>
              <a:rPr sz="1542">
                <a:solidFill>
                  <a:srgbClr val="E8E8E8"/>
                </a:solidFill>
                <a:latin typeface="Consolas"/>
              </a:rPr>
              <a:t>    expect(repo.pendientesDeEnvio()).toEqual([visita.id]);</a:t>
            </a:r>
          </a:p>
          <a:p>
            <a:pPr>
              <a:lnSpc>
                <a:spcPct val="125000"/>
              </a:lnSpc>
            </a:pPr>
            <a:r>
              <a:rPr sz="1542">
                <a:solidFill>
                  <a:srgbClr val="E8E8E8"/>
                </a:solidFill>
                <a:latin typeface="Consolas"/>
              </a:rPr>
              <a:t>  });</a:t>
            </a:r>
          </a:p>
          <a:p>
            <a:pPr>
              <a:lnSpc>
                <a:spcPct val="125000"/>
              </a:lnSpc>
            </a:pPr>
            <a:r>
              <a:rPr sz="1542">
                <a:solidFill>
                  <a:srgbClr val="E8E8E8"/>
                </a:solidFill>
                <a:latin typeface="Consolas"/>
              </a:rPr>
              <a:t>});</a:t>
            </a:r>
          </a:p>
        </p:txBody>
      </p:sp>
      <p:sp>
        <p:nvSpPr>
          <p:cNvPr id="26" name="TextBox 2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7" name="TextBox 2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Según el método SDD del marco de gobierno móvil, ¿qué debe existir antes de programar una feature?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pantalla principal ya construida, para validar el diseño con el usuario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pipeline de CI/CD configurado y la llave de firma del AAB generada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 diseño revisado, con historias y criterios de aceptación verificables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Las pruebas de extremo a extremo del flujo completo ya automatizadas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Una feature, una carpeta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Anatomía del proyecto Ionic Angular standalone y la estructura por feature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archivo raíz guarda una decisión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486054">
                <a:tc>
                  <a:txBody>
                    <a:bodyPr wrap="square"/>
                    <a:lstStyle/>
                    <a:p>
                      <a:r>
                        <a:rPr sz="1513" b="1">
                          <a:solidFill>
                            <a:srgbClr val="FFFFFF"/>
                          </a:solidFill>
                          <a:latin typeface="Aptos"/>
                        </a:rPr>
                        <a:t>Archivo o carpeta</a:t>
                      </a:r>
                    </a:p>
                  </a:txBody>
                  <a:tcPr anchor="ctr" marL="146304" marR="146304">
                    <a:solidFill>
                      <a:srgbClr val="156082"/>
                    </a:solidFill>
                  </a:tcPr>
                </a:tc>
                <a:tc>
                  <a:txBody>
                    <a:bodyPr wrap="square"/>
                    <a:lstStyle/>
                    <a:p>
                      <a:r>
                        <a:rPr sz="1513" b="1">
                          <a:solidFill>
                            <a:srgbClr val="FFFFFF"/>
                          </a:solidFill>
                          <a:latin typeface="Aptos"/>
                        </a:rPr>
                        <a:t>Qué es</a:t>
                      </a:r>
                    </a:p>
                  </a:txBody>
                  <a:tcPr anchor="ctr" marL="146304" marR="146304">
                    <a:solidFill>
                      <a:srgbClr val="156082"/>
                    </a:solidFill>
                  </a:tcPr>
                </a:tc>
                <a:tc>
                  <a:txBody>
                    <a:bodyPr wrap="square"/>
                    <a:lstStyle/>
                    <a:p>
                      <a:r>
                        <a:rPr sz="1513" b="1">
                          <a:solidFill>
                            <a:srgbClr val="FFFFFF"/>
                          </a:solidFill>
                          <a:latin typeface="Aptos"/>
                        </a:rPr>
                        <a:t>Decisión que contiene</a:t>
                      </a:r>
                    </a:p>
                  </a:txBody>
                  <a:tcPr anchor="ctr" marL="146304" marR="146304">
                    <a:solidFill>
                      <a:srgbClr val="156082"/>
                    </a:solidFill>
                  </a:tcPr>
                </a:tc>
              </a:tr>
              <a:tr h="486054">
                <a:tc>
                  <a:txBody>
                    <a:bodyPr wrap="square"/>
                    <a:lstStyle/>
                    <a:p>
                      <a:r>
                        <a:rPr sz="1327" b="1">
                          <a:solidFill>
                            <a:srgbClr val="156082"/>
                          </a:solidFill>
                          <a:latin typeface="Consolas"/>
                        </a:rPr>
                        <a:t>src/main.ts</a:t>
                      </a:r>
                    </a:p>
                  </a:txBody>
                  <a:tcPr anchor="ctr" marL="146304" marR="146304">
                    <a:solidFill>
                      <a:srgbClr val="FFFFFF"/>
                    </a:solidFill>
                  </a:tcPr>
                </a:tc>
                <a:tc>
                  <a:txBody>
                    <a:bodyPr wrap="square"/>
                    <a:lstStyle/>
                    <a:p>
                      <a:r>
                        <a:rPr sz="1412" b="0">
                          <a:solidFill>
                            <a:srgbClr val="33475B"/>
                          </a:solidFill>
                          <a:latin typeface="Aptos"/>
                        </a:rPr>
                        <a:t>Arranque con </a:t>
                      </a:r>
                      <a:r>
                        <a:rPr sz="1327" b="0">
                          <a:solidFill>
                            <a:srgbClr val="156082"/>
                          </a:solidFill>
                          <a:latin typeface="Consolas"/>
                        </a:rPr>
                        <a:t>bootstrapApplication</a:t>
                      </a:r>
                    </a:p>
                  </a:txBody>
                  <a:tcPr anchor="ctr" marL="146304" marR="146304">
                    <a:solidFill>
                      <a:srgbClr val="FFFFFF"/>
                    </a:solidFill>
                  </a:tcPr>
                </a:tc>
                <a:tc>
                  <a:txBody>
                    <a:bodyPr wrap="square"/>
                    <a:lstStyle/>
                    <a:p>
                      <a:r>
                        <a:rPr sz="1412" b="0">
                          <a:solidFill>
                            <a:srgbClr val="33475B"/>
                          </a:solidFill>
                          <a:latin typeface="Aptos"/>
                        </a:rPr>
                        <a:t>Ninguna lógica: solo arranca</a:t>
                      </a:r>
                    </a:p>
                  </a:txBody>
                  <a:tcPr anchor="ctr" marL="146304" marR="146304">
                    <a:solidFill>
                      <a:srgbClr val="FFFFFF"/>
                    </a:solidFill>
                  </a:tcPr>
                </a:tc>
              </a:tr>
              <a:tr h="486054">
                <a:tc>
                  <a:txBody>
                    <a:bodyPr wrap="square"/>
                    <a:lstStyle/>
                    <a:p>
                      <a:r>
                        <a:rPr sz="1327" b="1">
                          <a:solidFill>
                            <a:srgbClr val="156082"/>
                          </a:solidFill>
                          <a:latin typeface="Consolas"/>
                        </a:rPr>
                        <a:t>app/app.config.ts</a:t>
                      </a:r>
                    </a:p>
                  </a:txBody>
                  <a:tcPr anchor="ctr" marL="146304" marR="146304">
                    <a:solidFill>
                      <a:srgbClr val="F4F7FA"/>
                    </a:solidFill>
                  </a:tcPr>
                </a:tc>
                <a:tc>
                  <a:txBody>
                    <a:bodyPr wrap="square"/>
                    <a:lstStyle/>
                    <a:p>
                      <a:r>
                        <a:rPr sz="1412" b="0">
                          <a:solidFill>
                            <a:srgbClr val="33475B"/>
                          </a:solidFill>
                          <a:latin typeface="Aptos"/>
                        </a:rPr>
                        <a:t>Providers raíz: router, HTTP, Ionic</a:t>
                      </a:r>
                    </a:p>
                  </a:txBody>
                  <a:tcPr anchor="ctr" marL="146304" marR="146304">
                    <a:solidFill>
                      <a:srgbClr val="F4F7FA"/>
                    </a:solidFill>
                  </a:tcPr>
                </a:tc>
                <a:tc>
                  <a:txBody>
                    <a:bodyPr wrap="square"/>
                    <a:lstStyle/>
                    <a:p>
                      <a:r>
                        <a:rPr sz="1412" b="0">
                          <a:solidFill>
                            <a:srgbClr val="33475B"/>
                          </a:solidFill>
                          <a:latin typeface="Aptos"/>
                        </a:rPr>
                        <a:t>La raíz de composición global</a:t>
                      </a:r>
                    </a:p>
                  </a:txBody>
                  <a:tcPr anchor="ctr" marL="146304" marR="146304">
                    <a:solidFill>
                      <a:srgbClr val="F4F7FA"/>
                    </a:solidFill>
                  </a:tcPr>
                </a:tc>
              </a:tr>
              <a:tr h="486054">
                <a:tc>
                  <a:txBody>
                    <a:bodyPr wrap="square"/>
                    <a:lstStyle/>
                    <a:p>
                      <a:r>
                        <a:rPr sz="1327" b="1">
                          <a:solidFill>
                            <a:srgbClr val="156082"/>
                          </a:solidFill>
                          <a:latin typeface="Consolas"/>
                        </a:rPr>
                        <a:t>app/app.routes.ts</a:t>
                      </a:r>
                    </a:p>
                  </a:txBody>
                  <a:tcPr anchor="ctr" marL="146304" marR="146304">
                    <a:solidFill>
                      <a:srgbClr val="FFFFFF"/>
                    </a:solidFill>
                  </a:tcPr>
                </a:tc>
                <a:tc>
                  <a:txBody>
                    <a:bodyPr wrap="square"/>
                    <a:lstStyle/>
                    <a:p>
                      <a:r>
                        <a:rPr sz="1412" b="0">
                          <a:solidFill>
                            <a:srgbClr val="33475B"/>
                          </a:solidFill>
                          <a:latin typeface="Aptos"/>
                        </a:rPr>
                        <a:t>Tabla central de rutas</a:t>
                      </a:r>
                    </a:p>
                  </a:txBody>
                  <a:tcPr anchor="ctr" marL="146304" marR="146304">
                    <a:solidFill>
                      <a:srgbClr val="FFFFFF"/>
                    </a:solidFill>
                  </a:tcPr>
                </a:tc>
                <a:tc>
                  <a:txBody>
                    <a:bodyPr wrap="square"/>
                    <a:lstStyle/>
                    <a:p>
                      <a:r>
                        <a:rPr sz="1412" b="0">
                          <a:solidFill>
                            <a:srgbClr val="33475B"/>
                          </a:solidFill>
                          <a:latin typeface="Aptos"/>
                        </a:rPr>
                        <a:t>Qué pantallas existen; cuáles protege el guard</a:t>
                      </a:r>
                    </a:p>
                  </a:txBody>
                  <a:tcPr anchor="ctr" marL="146304" marR="146304">
                    <a:solidFill>
                      <a:srgbClr val="FFFFFF"/>
                    </a:solidFill>
                  </a:tcPr>
                </a:tc>
              </a:tr>
              <a:tr h="486054">
                <a:tc>
                  <a:txBody>
                    <a:bodyPr wrap="square"/>
                    <a:lstStyle/>
                    <a:p>
                      <a:r>
                        <a:rPr sz="1327" b="1">
                          <a:solidFill>
                            <a:srgbClr val="156082"/>
                          </a:solidFill>
                          <a:latin typeface="Consolas"/>
                        </a:rPr>
                        <a:t>app/app.component.ts</a:t>
                      </a:r>
                    </a:p>
                  </a:txBody>
                  <a:tcPr anchor="ctr" marL="146304" marR="146304">
                    <a:solidFill>
                      <a:srgbClr val="F4F7FA"/>
                    </a:solidFill>
                  </a:tcPr>
                </a:tc>
                <a:tc>
                  <a:txBody>
                    <a:bodyPr wrap="square"/>
                    <a:lstStyle/>
                    <a:p>
                      <a:r>
                        <a:rPr sz="1327" b="0">
                          <a:solidFill>
                            <a:srgbClr val="156082"/>
                          </a:solidFill>
                          <a:latin typeface="Consolas"/>
                        </a:rPr>
                        <a:t>ion-app</a:t>
                      </a:r>
                      <a:r>
                        <a:rPr sz="1412" b="0">
                          <a:solidFill>
                            <a:srgbClr val="33475B"/>
                          </a:solidFill>
                          <a:latin typeface="Aptos"/>
                        </a:rPr>
                        <a:t> + </a:t>
                      </a:r>
                      <a:r>
                        <a:rPr sz="1327" b="0">
                          <a:solidFill>
                            <a:srgbClr val="156082"/>
                          </a:solidFill>
                          <a:latin typeface="Consolas"/>
                        </a:rPr>
                        <a:t>ion-router-outlet</a:t>
                      </a:r>
                    </a:p>
                  </a:txBody>
                  <a:tcPr anchor="ctr" marL="146304" marR="146304">
                    <a:solidFill>
                      <a:srgbClr val="F4F7FA"/>
                    </a:solidFill>
                  </a:tcPr>
                </a:tc>
                <a:tc>
                  <a:txBody>
                    <a:bodyPr wrap="square"/>
                    <a:lstStyle/>
                    <a:p>
                      <a:r>
                        <a:rPr sz="1412" b="0">
                          <a:solidFill>
                            <a:srgbClr val="33475B"/>
                          </a:solidFill>
                          <a:latin typeface="Aptos"/>
                        </a:rPr>
                        <a:t>Ninguna: no lleva lógica</a:t>
                      </a:r>
                    </a:p>
                  </a:txBody>
                  <a:tcPr anchor="ctr" marL="146304" marR="146304">
                    <a:solidFill>
                      <a:srgbClr val="F4F7FA"/>
                    </a:solidFill>
                  </a:tcPr>
                </a:tc>
              </a:tr>
              <a:tr h="486054">
                <a:tc>
                  <a:txBody>
                    <a:bodyPr wrap="square"/>
                    <a:lstStyle/>
                    <a:p>
                      <a:r>
                        <a:rPr sz="1327" b="1">
                          <a:solidFill>
                            <a:srgbClr val="156082"/>
                          </a:solidFill>
                          <a:latin typeface="Consolas"/>
                        </a:rPr>
                        <a:t>theme/variables.scss</a:t>
                      </a:r>
                    </a:p>
                  </a:txBody>
                  <a:tcPr anchor="ctr" marL="146304" marR="146304">
                    <a:solidFill>
                      <a:srgbClr val="FFFFFF"/>
                    </a:solidFill>
                  </a:tcPr>
                </a:tc>
                <a:tc>
                  <a:txBody>
                    <a:bodyPr wrap="square"/>
                    <a:lstStyle/>
                    <a:p>
                      <a:r>
                        <a:rPr sz="1412" b="0">
                          <a:solidFill>
                            <a:srgbClr val="33475B"/>
                          </a:solidFill>
                          <a:latin typeface="Aptos"/>
                        </a:rPr>
                        <a:t>Variables CSS de Ionic</a:t>
                      </a:r>
                    </a:p>
                  </a:txBody>
                  <a:tcPr anchor="ctr" marL="146304" marR="146304">
                    <a:solidFill>
                      <a:srgbClr val="FFFFFF"/>
                    </a:solidFill>
                  </a:tcPr>
                </a:tc>
                <a:tc>
                  <a:txBody>
                    <a:bodyPr wrap="square"/>
                    <a:lstStyle/>
                    <a:p>
                      <a:r>
                        <a:rPr sz="1412" b="0">
                          <a:solidFill>
                            <a:srgbClr val="33475B"/>
                          </a:solidFill>
                          <a:latin typeface="Aptos"/>
                        </a:rPr>
                        <a:t>Los tokens del sistema de diseño (02)</a:t>
                      </a:r>
                    </a:p>
                  </a:txBody>
                  <a:tcPr anchor="ctr" marL="146304" marR="146304">
                    <a:solidFill>
                      <a:srgbClr val="FFFFFF"/>
                    </a:solidFill>
                  </a:tcPr>
                </a:tc>
              </a:tr>
              <a:tr h="486054">
                <a:tc>
                  <a:txBody>
                    <a:bodyPr wrap="square"/>
                    <a:lstStyle/>
                    <a:p>
                      <a:r>
                        <a:rPr sz="1327" b="1">
                          <a:solidFill>
                            <a:srgbClr val="156082"/>
                          </a:solidFill>
                          <a:latin typeface="Consolas"/>
                        </a:rPr>
                        <a:t>capacitor.config.ts</a:t>
                      </a:r>
                    </a:p>
                  </a:txBody>
                  <a:tcPr anchor="ctr" marL="146304" marR="146304">
                    <a:solidFill>
                      <a:srgbClr val="F4F7FA"/>
                    </a:solidFill>
                  </a:tcPr>
                </a:tc>
                <a:tc>
                  <a:txBody>
                    <a:bodyPr wrap="square"/>
                    <a:lstStyle/>
                    <a:p>
                      <a:r>
                        <a:rPr sz="1327" b="0">
                          <a:solidFill>
                            <a:srgbClr val="156082"/>
                          </a:solidFill>
                          <a:latin typeface="Consolas"/>
                        </a:rPr>
                        <a:t>appId</a:t>
                      </a:r>
                      <a:r>
                        <a:rPr sz="1412" b="0">
                          <a:solidFill>
                            <a:srgbClr val="33475B"/>
                          </a:solidFill>
                          <a:latin typeface="Aptos"/>
                        </a:rPr>
                        <a:t>, </a:t>
                      </a:r>
                      <a:r>
                        <a:rPr sz="1327" b="0">
                          <a:solidFill>
                            <a:srgbClr val="156082"/>
                          </a:solidFill>
                          <a:latin typeface="Consolas"/>
                        </a:rPr>
                        <a:t>appName</a:t>
                      </a:r>
                      <a:r>
                        <a:rPr sz="1412" b="0">
                          <a:solidFill>
                            <a:srgbClr val="33475B"/>
                          </a:solidFill>
                          <a:latin typeface="Aptos"/>
                        </a:rPr>
                        <a:t>, </a:t>
                      </a:r>
                      <a:r>
                        <a:rPr sz="1327" b="0">
                          <a:solidFill>
                            <a:srgbClr val="156082"/>
                          </a:solidFill>
                          <a:latin typeface="Consolas"/>
                        </a:rPr>
                        <a:t>webDir</a:t>
                      </a:r>
                      <a:r>
                        <a:rPr sz="1412" b="0">
                          <a:solidFill>
                            <a:srgbClr val="33475B"/>
                          </a:solidFill>
                          <a:latin typeface="Aptos"/>
                        </a:rPr>
                        <a:t>, plugins</a:t>
                      </a:r>
                    </a:p>
                  </a:txBody>
                  <a:tcPr anchor="ctr" marL="146304" marR="146304">
                    <a:solidFill>
                      <a:srgbClr val="F4F7FA"/>
                    </a:solidFill>
                  </a:tcPr>
                </a:tc>
                <a:tc>
                  <a:txBody>
                    <a:bodyPr wrap="square"/>
                    <a:lstStyle/>
                    <a:p>
                      <a:r>
                        <a:rPr sz="1412" b="0">
                          <a:solidFill>
                            <a:srgbClr val="33475B"/>
                          </a:solidFill>
                          <a:latin typeface="Aptos"/>
                        </a:rPr>
                        <a:t>El </a:t>
                      </a:r>
                      <a:r>
                        <a:rPr sz="1327" b="0">
                          <a:solidFill>
                            <a:srgbClr val="156082"/>
                          </a:solidFill>
                          <a:latin typeface="Consolas"/>
                        </a:rPr>
                        <a:t>appId</a:t>
                      </a:r>
                      <a:r>
                        <a:rPr sz="1412" b="0">
                          <a:solidFill>
                            <a:srgbClr val="33475B"/>
                          </a:solidFill>
                          <a:latin typeface="Aptos"/>
                        </a:rPr>
                        <a:t> es permanente tras publicar</a:t>
                      </a:r>
                    </a:p>
                  </a:txBody>
                  <a:tcPr anchor="ctr" marL="146304" marR="146304">
                    <a:solidFill>
                      <a:srgbClr val="F4F7FA"/>
                    </a:solidFill>
                  </a:tcPr>
                </a:tc>
              </a:tr>
              <a:tr h="486054">
                <a:tc>
                  <a:txBody>
                    <a:bodyPr wrap="square"/>
                    <a:lstStyle/>
                    <a:p>
                      <a:r>
                        <a:rPr sz="1327" b="1">
                          <a:solidFill>
                            <a:srgbClr val="156082"/>
                          </a:solidFill>
                          <a:latin typeface="Consolas"/>
                        </a:rPr>
                        <a:t>package.json</a:t>
                      </a:r>
                      <a:r>
                        <a:rPr sz="1412" b="1">
                          <a:solidFill>
                            <a:srgbClr val="33475B"/>
                          </a:solidFill>
                          <a:latin typeface="Aptos"/>
                        </a:rPr>
                        <a:t> + lock</a:t>
                      </a:r>
                    </a:p>
                  </a:txBody>
                  <a:tcPr anchor="ctr" marL="146304" marR="146304">
                    <a:solidFill>
                      <a:srgbClr val="FFFFFF"/>
                    </a:solidFill>
                  </a:tcPr>
                </a:tc>
                <a:tc>
                  <a:txBody>
                    <a:bodyPr wrap="square"/>
                    <a:lstStyle/>
                    <a:p>
                      <a:r>
                        <a:rPr sz="1412" b="0">
                          <a:solidFill>
                            <a:srgbClr val="33475B"/>
                          </a:solidFill>
                          <a:latin typeface="Aptos"/>
                        </a:rPr>
                        <a:t>Dependencias y scripts</a:t>
                      </a:r>
                    </a:p>
                  </a:txBody>
                  <a:tcPr anchor="ctr" marL="146304" marR="146304">
                    <a:solidFill>
                      <a:srgbClr val="FFFFFF"/>
                    </a:solidFill>
                  </a:tcPr>
                </a:tc>
                <a:tc>
                  <a:txBody>
                    <a:bodyPr wrap="square"/>
                    <a:lstStyle/>
                    <a:p>
                      <a:r>
                        <a:rPr sz="1412" b="0">
                          <a:solidFill>
                            <a:srgbClr val="33475B"/>
                          </a:solidFill>
                          <a:latin typeface="Aptos"/>
                        </a:rPr>
                        <a:t>Versiones fijadas: build reproducible</a:t>
                      </a:r>
                    </a:p>
                  </a:txBody>
                  <a:tcPr anchor="ctr" marL="146304" marR="146304">
                    <a:solidFill>
                      <a:srgbClr val="FFFFFF"/>
                    </a:solidFill>
                  </a:tcPr>
                </a:tc>
              </a:tr>
              <a:tr h="486054">
                <a:tc>
                  <a:txBody>
                    <a:bodyPr wrap="square"/>
                    <a:lstStyle/>
                    <a:p>
                      <a:r>
                        <a:rPr sz="1327" b="1">
                          <a:solidFill>
                            <a:srgbClr val="156082"/>
                          </a:solidFill>
                          <a:latin typeface="Consolas"/>
                        </a:rPr>
                        <a:t>android/</a:t>
                      </a:r>
                      <a:r>
                        <a:rPr sz="1412" b="1">
                          <a:solidFill>
                            <a:srgbClr val="33475B"/>
                          </a:solidFill>
                          <a:latin typeface="Aptos"/>
                        </a:rPr>
                        <a:t>, </a:t>
                      </a:r>
                      <a:r>
                        <a:rPr sz="1327" b="1">
                          <a:solidFill>
                            <a:srgbClr val="156082"/>
                          </a:solidFill>
                          <a:latin typeface="Consolas"/>
                        </a:rPr>
                        <a:t>ios/</a:t>
                      </a:r>
                    </a:p>
                  </a:txBody>
                  <a:tcPr anchor="ctr" marL="146304" marR="146304">
                    <a:solidFill>
                      <a:srgbClr val="F4F7FA"/>
                    </a:solidFill>
                  </a:tcPr>
                </a:tc>
                <a:tc>
                  <a:txBody>
                    <a:bodyPr wrap="square"/>
                    <a:lstStyle/>
                    <a:p>
                      <a:r>
                        <a:rPr sz="1412" b="0">
                          <a:solidFill>
                            <a:srgbClr val="33475B"/>
                          </a:solidFill>
                          <a:latin typeface="Aptos"/>
                        </a:rPr>
                        <a:t>Proyectos de </a:t>
                      </a:r>
                      <a:r>
                        <a:rPr sz="1327" b="0">
                          <a:solidFill>
                            <a:srgbClr val="156082"/>
                          </a:solidFill>
                          <a:latin typeface="Consolas"/>
                        </a:rPr>
                        <a:t>npx cap add</a:t>
                      </a:r>
                    </a:p>
                  </a:txBody>
                  <a:tcPr anchor="ctr" marL="146304" marR="146304">
                    <a:solidFill>
                      <a:srgbClr val="F4F7FA"/>
                    </a:solidFill>
                  </a:tcPr>
                </a:tc>
                <a:tc>
                  <a:txBody>
                    <a:bodyPr wrap="square"/>
                    <a:lstStyle/>
                    <a:p>
                      <a:r>
                        <a:rPr sz="1412" b="0">
                          <a:solidFill>
                            <a:srgbClr val="33475B"/>
                          </a:solidFill>
                          <a:latin typeface="Aptos"/>
                        </a:rPr>
                        <a:t>Código fuente: se versionan y se revisan</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vigente con Ionic 9 y Angular 22</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5532120"/>
                <a:gridCol w="5532120"/>
              </a:tblGrid>
              <a:tr h="624927">
                <a:tc>
                  <a:txBody>
                    <a:bodyPr wrap="square"/>
                    <a:lstStyle/>
                    <a:p>
                      <a:r>
                        <a:rPr sz="1688" b="1">
                          <a:solidFill>
                            <a:srgbClr val="FFFFFF"/>
                          </a:solidFill>
                          <a:latin typeface="Aptos"/>
                        </a:rPr>
                        <a:t>El material institucional dice</a:t>
                      </a:r>
                    </a:p>
                  </a:txBody>
                  <a:tcPr anchor="ctr" marL="146304" marR="146304">
                    <a:solidFill>
                      <a:srgbClr val="156082"/>
                    </a:solidFill>
                  </a:tcPr>
                </a:tc>
                <a:tc>
                  <a:txBody>
                    <a:bodyPr wrap="square"/>
                    <a:lstStyle/>
                    <a:p>
                      <a:r>
                        <a:rPr sz="1688" b="1">
                          <a:solidFill>
                            <a:srgbClr val="FFFFFF"/>
                          </a:solidFill>
                          <a:latin typeface="Aptos"/>
                        </a:rPr>
                        <a:t>Vigente en 2026</a:t>
                      </a:r>
                    </a:p>
                  </a:txBody>
                  <a:tcPr anchor="ctr" marL="146304" marR="146304">
                    <a:solidFill>
                      <a:srgbClr val="156082"/>
                    </a:solidFill>
                  </a:tcPr>
                </a:tc>
              </a:tr>
              <a:tr h="624927">
                <a:tc>
                  <a:txBody>
                    <a:bodyPr wrap="square"/>
                    <a:lstStyle/>
                    <a:p>
                      <a:r>
                        <a:rPr sz="1481" b="1">
                          <a:solidFill>
                            <a:srgbClr val="156082"/>
                          </a:solidFill>
                          <a:latin typeface="Consolas"/>
                        </a:rPr>
                        <a:t>app.module.ts</a:t>
                      </a:r>
                      <a:r>
                        <a:rPr sz="1576" b="1">
                          <a:solidFill>
                            <a:srgbClr val="33475B"/>
                          </a:solidFill>
                          <a:latin typeface="Aptos"/>
                        </a:rPr>
                        <a:t> y </a:t>
                      </a:r>
                      <a:r>
                        <a:rPr sz="1481" b="1">
                          <a:solidFill>
                            <a:srgbClr val="156082"/>
                          </a:solidFill>
                          <a:latin typeface="Consolas"/>
                        </a:rPr>
                        <a:t>app-routing.module.ts</a:t>
                      </a:r>
                      <a:r>
                        <a:rPr sz="1576" b="1">
                          <a:solidFill>
                            <a:srgbClr val="33475B"/>
                          </a:solidFill>
                          <a:latin typeface="Aptos"/>
                        </a:rPr>
                        <a:t> con </a:t>
                      </a:r>
                      <a:r>
                        <a:rPr sz="1481" b="1">
                          <a:solidFill>
                            <a:srgbClr val="156082"/>
                          </a:solidFill>
                          <a:latin typeface="Consolas"/>
                        </a:rPr>
                        <a:t>RouterModule</a:t>
                      </a:r>
                    </a:p>
                  </a:txBody>
                  <a:tcPr anchor="ctr" marL="146304" marR="146304">
                    <a:solidFill>
                      <a:srgbClr val="FFFFFF"/>
                    </a:solidFill>
                  </a:tcPr>
                </a:tc>
                <a:tc>
                  <a:txBody>
                    <a:bodyPr wrap="square"/>
                    <a:lstStyle/>
                    <a:p>
                      <a:r>
                        <a:rPr sz="1576" b="0">
                          <a:solidFill>
                            <a:srgbClr val="33475B"/>
                          </a:solidFill>
                          <a:latin typeface="Aptos"/>
                        </a:rPr>
                        <a:t>Standalone: </a:t>
                      </a:r>
                      <a:r>
                        <a:rPr sz="1481" b="0">
                          <a:solidFill>
                            <a:srgbClr val="156082"/>
                          </a:solidFill>
                          <a:latin typeface="Consolas"/>
                        </a:rPr>
                        <a:t>main.ts</a:t>
                      </a:r>
                      <a:r>
                        <a:rPr sz="1576" b="0">
                          <a:solidFill>
                            <a:srgbClr val="33475B"/>
                          </a:solidFill>
                          <a:latin typeface="Aptos"/>
                        </a:rPr>
                        <a:t> + </a:t>
                      </a:r>
                      <a:r>
                        <a:rPr sz="1481" b="0">
                          <a:solidFill>
                            <a:srgbClr val="156082"/>
                          </a:solidFill>
                          <a:latin typeface="Consolas"/>
                        </a:rPr>
                        <a:t>app.config.ts</a:t>
                      </a:r>
                      <a:r>
                        <a:rPr sz="1576" b="0">
                          <a:solidFill>
                            <a:srgbClr val="33475B"/>
                          </a:solidFill>
                          <a:latin typeface="Aptos"/>
                        </a:rPr>
                        <a:t> con </a:t>
                      </a:r>
                      <a:r>
                        <a:rPr sz="1481" b="0">
                          <a:solidFill>
                            <a:srgbClr val="156082"/>
                          </a:solidFill>
                          <a:latin typeface="Consolas"/>
                        </a:rPr>
                        <a:t>provideRouter(rutas)</a:t>
                      </a:r>
                      <a:r>
                        <a:rPr sz="1576" b="0">
                          <a:solidFill>
                            <a:srgbClr val="33475B"/>
                          </a:solidFill>
                          <a:latin typeface="Aptos"/>
                        </a:rPr>
                        <a:t> + </a:t>
                      </a:r>
                      <a:r>
                        <a:rPr sz="1481" b="0">
                          <a:solidFill>
                            <a:srgbClr val="156082"/>
                          </a:solidFill>
                          <a:latin typeface="Consolas"/>
                        </a:rPr>
                        <a:t>app.routes.ts</a:t>
                      </a:r>
                    </a:p>
                  </a:txBody>
                  <a:tcPr anchor="ctr" marL="146304" marR="146304">
                    <a:solidFill>
                      <a:srgbClr val="FFFFFF"/>
                    </a:solidFill>
                  </a:tcPr>
                </a:tc>
              </a:tr>
              <a:tr h="624927">
                <a:tc>
                  <a:txBody>
                    <a:bodyPr wrap="square"/>
                    <a:lstStyle/>
                    <a:p>
                      <a:r>
                        <a:rPr sz="1481" b="1">
                          <a:solidFill>
                            <a:srgbClr val="156082"/>
                          </a:solidFill>
                          <a:latin typeface="Consolas"/>
                        </a:rPr>
                        <a:t>ionic generate page</a:t>
                      </a:r>
                      <a:r>
                        <a:rPr sz="1576" b="1">
                          <a:solidFill>
                            <a:srgbClr val="33475B"/>
                          </a:solidFill>
                          <a:latin typeface="Aptos"/>
                        </a:rPr>
                        <a:t> crea la página «con su módulo»</a:t>
                      </a:r>
                    </a:p>
                  </a:txBody>
                  <a:tcPr anchor="ctr" marL="146304" marR="146304">
                    <a:solidFill>
                      <a:srgbClr val="F4F7FA"/>
                    </a:solidFill>
                  </a:tcPr>
                </a:tc>
                <a:tc>
                  <a:txBody>
                    <a:bodyPr wrap="square"/>
                    <a:lstStyle/>
                    <a:p>
                      <a:r>
                        <a:rPr sz="1576" b="0">
                          <a:solidFill>
                            <a:srgbClr val="33475B"/>
                          </a:solidFill>
                          <a:latin typeface="Aptos"/>
                        </a:rPr>
                        <a:t>Crea un componente standalone, sin módulo</a:t>
                      </a:r>
                    </a:p>
                  </a:txBody>
                  <a:tcPr anchor="ctr" marL="146304" marR="146304">
                    <a:solidFill>
                      <a:srgbClr val="F4F7FA"/>
                    </a:solidFill>
                  </a:tcPr>
                </a:tc>
              </a:tr>
              <a:tr h="624927">
                <a:tc>
                  <a:txBody>
                    <a:bodyPr wrap="square"/>
                    <a:lstStyle/>
                    <a:p>
                      <a:r>
                        <a:rPr sz="1576" b="1">
                          <a:solidFill>
                            <a:srgbClr val="33475B"/>
                          </a:solidFill>
                          <a:latin typeface="Aptos"/>
                        </a:rPr>
                        <a:t>Lazy loading de módulos</a:t>
                      </a:r>
                    </a:p>
                  </a:txBody>
                  <a:tcPr anchor="ctr" marL="146304" marR="146304">
                    <a:solidFill>
                      <a:srgbClr val="FFFFFF"/>
                    </a:solidFill>
                  </a:tcPr>
                </a:tc>
                <a:tc>
                  <a:txBody>
                    <a:bodyPr wrap="square"/>
                    <a:lstStyle/>
                    <a:p>
                      <a:r>
                        <a:rPr sz="1481" b="0">
                          <a:solidFill>
                            <a:srgbClr val="156082"/>
                          </a:solidFill>
                          <a:latin typeface="Consolas"/>
                        </a:rPr>
                        <a:t>loadComponent</a:t>
                      </a:r>
                      <a:r>
                        <a:rPr sz="1576" b="0">
                          <a:solidFill>
                            <a:srgbClr val="33475B"/>
                          </a:solidFill>
                          <a:latin typeface="Aptos"/>
                        </a:rPr>
                        <a:t> y </a:t>
                      </a:r>
                      <a:r>
                        <a:rPr sz="1481" b="0">
                          <a:solidFill>
                            <a:srgbClr val="156082"/>
                          </a:solidFill>
                          <a:latin typeface="Consolas"/>
                        </a:rPr>
                        <a:t>loadChildren</a:t>
                      </a:r>
                      <a:r>
                        <a:rPr sz="1576" b="0">
                          <a:solidFill>
                            <a:srgbClr val="33475B"/>
                          </a:solidFill>
                          <a:latin typeface="Aptos"/>
                        </a:rPr>
                        <a:t> con rutas standalone</a:t>
                      </a:r>
                    </a:p>
                  </a:txBody>
                  <a:tcPr anchor="ctr" marL="146304" marR="146304">
                    <a:solidFill>
                      <a:srgbClr val="FFFFFF"/>
                    </a:solidFill>
                  </a:tcPr>
                </a:tc>
              </a:tr>
              <a:tr h="624927">
                <a:tc>
                  <a:txBody>
                    <a:bodyPr wrap="square"/>
                    <a:lstStyle/>
                    <a:p>
                      <a:r>
                        <a:rPr sz="1576" b="1">
                          <a:solidFill>
                            <a:srgbClr val="33475B"/>
                          </a:solidFill>
                          <a:latin typeface="Aptos"/>
                        </a:rPr>
                        <a:t>Directivas </a:t>
                      </a:r>
                      <a:r>
                        <a:rPr sz="1481" b="1">
                          <a:solidFill>
                            <a:srgbClr val="156082"/>
                          </a:solidFill>
                          <a:latin typeface="Consolas"/>
                        </a:rPr>
                        <a:t>*ngIf</a:t>
                      </a:r>
                      <a:r>
                        <a:rPr sz="1576" b="1">
                          <a:solidFill>
                            <a:srgbClr val="33475B"/>
                          </a:solidFill>
                          <a:latin typeface="Aptos"/>
                        </a:rPr>
                        <a:t> y </a:t>
                      </a:r>
                      <a:r>
                        <a:rPr sz="1481" b="1">
                          <a:solidFill>
                            <a:srgbClr val="156082"/>
                          </a:solidFill>
                          <a:latin typeface="Consolas"/>
                        </a:rPr>
                        <a:t>*ngFor</a:t>
                      </a:r>
                    </a:p>
                  </a:txBody>
                  <a:tcPr anchor="ctr" marL="146304" marR="146304">
                    <a:solidFill>
                      <a:srgbClr val="F4F7FA"/>
                    </a:solidFill>
                  </a:tcPr>
                </a:tc>
                <a:tc>
                  <a:txBody>
                    <a:bodyPr wrap="square"/>
                    <a:lstStyle/>
                    <a:p>
                      <a:r>
                        <a:rPr sz="1481" b="0">
                          <a:solidFill>
                            <a:srgbClr val="156082"/>
                          </a:solidFill>
                          <a:latin typeface="Consolas"/>
                        </a:rPr>
                        <a:t>@if</a:t>
                      </a:r>
                      <a:r>
                        <a:rPr sz="1576" b="0">
                          <a:solidFill>
                            <a:srgbClr val="33475B"/>
                          </a:solidFill>
                          <a:latin typeface="Aptos"/>
                        </a:rPr>
                        <a:t>, </a:t>
                      </a:r>
                      <a:r>
                        <a:rPr sz="1481" b="0">
                          <a:solidFill>
                            <a:srgbClr val="156082"/>
                          </a:solidFill>
                          <a:latin typeface="Consolas"/>
                        </a:rPr>
                        <a:t>@for</a:t>
                      </a:r>
                      <a:r>
                        <a:rPr sz="1576" b="0">
                          <a:solidFill>
                            <a:srgbClr val="33475B"/>
                          </a:solidFill>
                          <a:latin typeface="Aptos"/>
                        </a:rPr>
                        <a:t> (con </a:t>
                      </a:r>
                      <a:r>
                        <a:rPr sz="1481" b="0">
                          <a:solidFill>
                            <a:srgbClr val="156082"/>
                          </a:solidFill>
                          <a:latin typeface="Consolas"/>
                        </a:rPr>
                        <a:t>track</a:t>
                      </a:r>
                      <a:r>
                        <a:rPr sz="1576" b="0">
                          <a:solidFill>
                            <a:srgbClr val="33475B"/>
                          </a:solidFill>
                          <a:latin typeface="Aptos"/>
                        </a:rPr>
                        <a:t>) y </a:t>
                      </a:r>
                      <a:r>
                        <a:rPr sz="1481" b="0">
                          <a:solidFill>
                            <a:srgbClr val="156082"/>
                          </a:solidFill>
                          <a:latin typeface="Consolas"/>
                        </a:rPr>
                        <a:t>@switch</a:t>
                      </a:r>
                      <a:r>
                        <a:rPr sz="1576" b="0">
                          <a:solidFill>
                            <a:srgbClr val="33475B"/>
                          </a:solidFill>
                          <a:latin typeface="Aptos"/>
                        </a:rPr>
                        <a:t>; las directivas son obsoletas desde Angular 20</a:t>
                      </a:r>
                    </a:p>
                  </a:txBody>
                  <a:tcPr anchor="ctr" marL="146304" marR="146304">
                    <a:solidFill>
                      <a:srgbClr val="F4F7FA"/>
                    </a:solidFill>
                  </a:tcPr>
                </a:tc>
              </a:tr>
              <a:tr h="624927">
                <a:tc>
                  <a:txBody>
                    <a:bodyPr wrap="square"/>
                    <a:lstStyle/>
                    <a:p>
                      <a:r>
                        <a:rPr sz="1576" b="1">
                          <a:solidFill>
                            <a:srgbClr val="33475B"/>
                          </a:solidFill>
                          <a:latin typeface="Aptos"/>
                        </a:rPr>
                        <a:t>Servicios por constructor; binding sobre propiedades</a:t>
                      </a:r>
                    </a:p>
                  </a:txBody>
                  <a:tcPr anchor="ctr" marL="146304" marR="146304">
                    <a:solidFill>
                      <a:srgbClr val="FFFFFF"/>
                    </a:solidFill>
                  </a:tcPr>
                </a:tc>
                <a:tc>
                  <a:txBody>
                    <a:bodyPr wrap="square"/>
                    <a:lstStyle/>
                    <a:p>
                      <a:r>
                        <a:rPr sz="1481" b="0">
                          <a:solidFill>
                            <a:srgbClr val="156082"/>
                          </a:solidFill>
                          <a:latin typeface="Consolas"/>
                        </a:rPr>
                        <a:t>inject()</a:t>
                      </a:r>
                      <a:r>
                        <a:rPr sz="1576" b="0">
                          <a:solidFill>
                            <a:srgbClr val="33475B"/>
                          </a:solidFill>
                          <a:latin typeface="Aptos"/>
                        </a:rPr>
                        <a:t>; </a:t>
                      </a:r>
                      <a:r>
                        <a:rPr sz="1481" b="0">
                          <a:solidFill>
                            <a:srgbClr val="156082"/>
                          </a:solidFill>
                          <a:latin typeface="Consolas"/>
                        </a:rPr>
                        <a:t>signal</a:t>
                      </a:r>
                      <a:r>
                        <a:rPr sz="1576" b="0">
                          <a:solidFill>
                            <a:srgbClr val="33475B"/>
                          </a:solidFill>
                          <a:latin typeface="Aptos"/>
                        </a:rPr>
                        <a:t>, </a:t>
                      </a:r>
                      <a:r>
                        <a:rPr sz="1481" b="0">
                          <a:solidFill>
                            <a:srgbClr val="156082"/>
                          </a:solidFill>
                          <a:latin typeface="Consolas"/>
                        </a:rPr>
                        <a:t>computed</a:t>
                      </a:r>
                      <a:r>
                        <a:rPr sz="1576" b="0">
                          <a:solidFill>
                            <a:srgbClr val="33475B"/>
                          </a:solidFill>
                          <a:latin typeface="Aptos"/>
                        </a:rPr>
                        <a:t> e </a:t>
                      </a:r>
                      <a:r>
                        <a:rPr sz="1481" b="0">
                          <a:solidFill>
                            <a:srgbClr val="156082"/>
                          </a:solidFill>
                          <a:latin typeface="Consolas"/>
                        </a:rPr>
                        <a:t>input()</a:t>
                      </a:r>
                    </a:p>
                  </a:txBody>
                  <a:tcPr anchor="ctr" marL="146304" marR="146304">
                    <a:solidFill>
                      <a:srgbClr val="FFFFFF"/>
                    </a:solidFill>
                  </a:tcPr>
                </a:tc>
              </a:tr>
              <a:tr h="624927">
                <a:tc>
                  <a:txBody>
                    <a:bodyPr wrap="square"/>
                    <a:lstStyle/>
                    <a:p>
                      <a:r>
                        <a:rPr sz="1576" b="1">
                          <a:solidFill>
                            <a:srgbClr val="33475B"/>
                          </a:solidFill>
                          <a:latin typeface="Aptos"/>
                        </a:rPr>
                        <a:t>Abrir el </a:t>
                      </a:r>
                      <a:r>
                        <a:rPr sz="1481" b="1">
                          <a:solidFill>
                            <a:srgbClr val="156082"/>
                          </a:solidFill>
                          <a:latin typeface="Consolas"/>
                        </a:rPr>
                        <a:t>.xcworkspace</a:t>
                      </a:r>
                      <a:r>
                        <a:rPr sz="1576" b="1">
                          <a:solidFill>
                            <a:srgbClr val="33475B"/>
                          </a:solidFill>
                          <a:latin typeface="Aptos"/>
                        </a:rPr>
                        <a:t> de </a:t>
                      </a:r>
                      <a:r>
                        <a:rPr sz="1481" b="1">
                          <a:solidFill>
                            <a:srgbClr val="156082"/>
                          </a:solidFill>
                          <a:latin typeface="Consolas"/>
                        </a:rPr>
                        <a:t>ios/App</a:t>
                      </a:r>
                    </a:p>
                  </a:txBody>
                  <a:tcPr anchor="ctr" marL="146304" marR="146304">
                    <a:solidFill>
                      <a:srgbClr val="F4F7FA"/>
                    </a:solidFill>
                  </a:tcPr>
                </a:tc>
                <a:tc>
                  <a:txBody>
                    <a:bodyPr wrap="square"/>
                    <a:lstStyle/>
                    <a:p>
                      <a:r>
                        <a:rPr sz="1481" b="0">
                          <a:solidFill>
                            <a:srgbClr val="156082"/>
                          </a:solidFill>
                          <a:latin typeface="Consolas"/>
                        </a:rPr>
                        <a:t>npx cap open ios</a:t>
                      </a:r>
                      <a:r>
                        <a:rPr sz="1576" b="0">
                          <a:solidFill>
                            <a:srgbClr val="33475B"/>
                          </a:solidFill>
                          <a:latin typeface="Aptos"/>
                        </a:rPr>
                        <a:t> abre el proyecto correcto (CocoaPods o SPM)</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común sube a </a:t>
            </a:r>
            <a:r>
              <a:rPr sz="2820" b="1">
                <a:solidFill>
                  <a:srgbClr val="156082"/>
                </a:solidFill>
                <a:latin typeface="Consolas"/>
              </a:rPr>
              <a:t>core/</a:t>
            </a:r>
            <a:r>
              <a:rPr sz="3000" b="1">
                <a:solidFill>
                  <a:srgbClr val="0E2841"/>
                </a:solidFill>
                <a:latin typeface="Aptos Display"/>
              </a:rPr>
              <a:t> o a </a:t>
            </a:r>
            <a:r>
              <a:rPr sz="2820" b="1">
                <a:solidFill>
                  <a:srgbClr val="156082"/>
                </a:solidFill>
                <a:latin typeface="Consolas"/>
              </a:rPr>
              <a:t>shared/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377305"/>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029833"/>
          </a:xfrm>
          <a:prstGeom prst="rect">
            <a:avLst/>
          </a:prstGeom>
          <a:noFill/>
        </p:spPr>
        <p:txBody>
          <a:bodyPr wrap="none" lIns="0" tIns="0">
            <a:spAutoFit/>
          </a:bodyPr>
          <a:lstStyle/>
          <a:p>
            <a:pPr>
              <a:lnSpc>
                <a:spcPct val="125000"/>
              </a:lnSpc>
            </a:pPr>
            <a:r>
              <a:rPr sz="1327">
                <a:solidFill>
                  <a:srgbClr val="E8E8E8"/>
                </a:solidFill>
                <a:latin typeface="Consolas"/>
              </a:rPr>
              <a:t>src/app/</a:t>
            </a:r>
          </a:p>
          <a:p>
            <a:pPr>
              <a:lnSpc>
                <a:spcPct val="125000"/>
              </a:lnSpc>
            </a:pPr>
            <a:r>
              <a:rPr sz="1327">
                <a:solidFill>
                  <a:srgbClr val="E8E8E8"/>
                </a:solidFill>
                <a:latin typeface="Consolas"/>
              </a:rPr>
              <a:t>├── core/             transversal: di/ · network/ · auth/ · storage/ · nativo/ · theme/</a:t>
            </a:r>
          </a:p>
          <a:p>
            <a:pPr>
              <a:lnSpc>
                <a:spcPct val="125000"/>
              </a:lnSpc>
            </a:pPr>
            <a:r>
              <a:rPr sz="1327">
                <a:solidFill>
                  <a:srgbClr val="E8E8E8"/>
                </a:solidFill>
                <a:latin typeface="Consolas"/>
              </a:rPr>
              <a:t>├── features/visitas/ (igual auth/ y ajustes/)</a:t>
            </a:r>
          </a:p>
          <a:p>
            <a:pPr>
              <a:lnSpc>
                <a:spcPct val="125000"/>
              </a:lnSpc>
            </a:pPr>
            <a:r>
              <a:rPr sz="1327">
                <a:solidFill>
                  <a:srgbClr val="E8E8E8"/>
                </a:solidFill>
                <a:latin typeface="Consolas"/>
              </a:rPr>
              <a:t>│   ├── presentation/ antes pages/, components/ propios y services/ de estado (ViewModel)</a:t>
            </a:r>
          </a:p>
          <a:p>
            <a:pPr>
              <a:lnSpc>
                <a:spcPct val="125000"/>
              </a:lnSpc>
            </a:pPr>
            <a:r>
              <a:rPr sz="1327">
                <a:solidFill>
                  <a:srgbClr val="E8E8E8"/>
                </a:solidFill>
                <a:latin typeface="Consolas"/>
              </a:rPr>
              <a:t>│   ├── domain/       antes services/ de negocio y models/: Visita, ListarVisitas, contrato</a:t>
            </a:r>
          </a:p>
          <a:p>
            <a:pPr>
              <a:lnSpc>
                <a:spcPct val="125000"/>
              </a:lnSpc>
            </a:pPr>
            <a:r>
              <a:rPr sz="1327">
                <a:solidFill>
                  <a:srgbClr val="E8E8E8"/>
                </a:solidFill>
                <a:latin typeface="Consolas"/>
              </a:rPr>
              <a:t>│   └── data/         antes services/ de API y DTO: VisitasHttpRepository, VisitaDto, mapper</a:t>
            </a:r>
          </a:p>
          <a:p>
            <a:pPr>
              <a:lnSpc>
                <a:spcPct val="125000"/>
              </a:lnSpc>
            </a:pPr>
            <a:r>
              <a:rPr sz="1327">
                <a:solidFill>
                  <a:srgbClr val="E8E8E8"/>
                </a:solidFill>
                <a:latin typeface="Consolas"/>
              </a:rPr>
              <a:t>├── shared/           antes components/ comunes: UI reutilizable sin lógica de negocio</a:t>
            </a:r>
          </a:p>
          <a:p>
            <a:pPr>
              <a:lnSpc>
                <a:spcPct val="125000"/>
              </a:lnSpc>
            </a:pPr>
            <a:r>
              <a:rPr sz="1327">
                <a:solidFill>
                  <a:srgbClr val="E8E8E8"/>
                </a:solidFill>
                <a:latin typeface="Consolas"/>
              </a:rPr>
              <a:t>└── app.config.ts · app.routes.ts · app.component.ts</a:t>
            </a:r>
          </a:p>
        </p:txBody>
      </p:sp>
      <p:sp>
        <p:nvSpPr>
          <p:cNvPr id="9" name="Oval 8"/>
          <p:cNvSpPr/>
          <p:nvPr/>
        </p:nvSpPr>
        <p:spPr>
          <a:xfrm>
            <a:off x="585216" y="431858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151241"/>
            <a:ext cx="10698480" cy="435281"/>
          </a:xfrm>
          <a:prstGeom prst="rect">
            <a:avLst/>
          </a:prstGeom>
          <a:noFill/>
        </p:spPr>
        <p:txBody>
          <a:bodyPr wrap="square" anchor="ctr" lIns="0" rIns="0" tIns="0" bIns="0">
            <a:spAutoFit/>
          </a:bodyPr>
          <a:lstStyle/>
          <a:p>
            <a:pPr algn="l"/>
            <a:r>
              <a:rPr sz="1922" b="1">
                <a:solidFill>
                  <a:srgbClr val="0E2841"/>
                </a:solidFill>
                <a:latin typeface="Aptos"/>
              </a:rPr>
              <a:t>Ninguna feature importa de otra</a:t>
            </a:r>
          </a:p>
        </p:txBody>
      </p:sp>
      <p:sp>
        <p:nvSpPr>
          <p:cNvPr id="11" name="Oval 10"/>
          <p:cNvSpPr/>
          <p:nvPr/>
        </p:nvSpPr>
        <p:spPr>
          <a:xfrm>
            <a:off x="585216" y="475387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586522"/>
            <a:ext cx="10698480" cy="435281"/>
          </a:xfrm>
          <a:prstGeom prst="rect">
            <a:avLst/>
          </a:prstGeom>
          <a:noFill/>
        </p:spPr>
        <p:txBody>
          <a:bodyPr wrap="square" anchor="ctr" lIns="0" rIns="0" tIns="0" bIns="0">
            <a:spAutoFit/>
          </a:bodyPr>
          <a:lstStyle/>
          <a:p>
            <a:pPr algn="l"/>
            <a:r>
              <a:rPr sz="1807" b="1">
                <a:solidFill>
                  <a:srgbClr val="156082"/>
                </a:solidFill>
                <a:latin typeface="Consolas"/>
              </a:rPr>
              <a:t>shared/</a:t>
            </a:r>
            <a:r>
              <a:rPr sz="1922" b="1">
                <a:solidFill>
                  <a:srgbClr val="0E2841"/>
                </a:solidFill>
                <a:latin typeface="Aptos"/>
              </a:rPr>
              <a:t>: solo UI, con </a:t>
            </a:r>
            <a:r>
              <a:rPr sz="1807" b="1">
                <a:solidFill>
                  <a:srgbClr val="156082"/>
                </a:solidFill>
                <a:latin typeface="Consolas"/>
              </a:rPr>
              <a:t>input()</a:t>
            </a:r>
            <a:r>
              <a:rPr sz="1922" b="1">
                <a:solidFill>
                  <a:srgbClr val="0E2841"/>
                </a:solidFill>
                <a:latin typeface="Aptos"/>
              </a:rPr>
              <a:t> y </a:t>
            </a:r>
            <a:r>
              <a:rPr sz="1807" b="1">
                <a:solidFill>
                  <a:srgbClr val="156082"/>
                </a:solidFill>
                <a:latin typeface="Consolas"/>
              </a:rPr>
              <a:t>output()</a:t>
            </a:r>
          </a:p>
        </p:txBody>
      </p:sp>
      <p:sp>
        <p:nvSpPr>
          <p:cNvPr id="13" name="Oval 12"/>
          <p:cNvSpPr/>
          <p:nvPr/>
        </p:nvSpPr>
        <p:spPr>
          <a:xfrm>
            <a:off x="585216" y="518915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021804"/>
            <a:ext cx="10698480" cy="435281"/>
          </a:xfrm>
          <a:prstGeom prst="rect">
            <a:avLst/>
          </a:prstGeom>
          <a:noFill/>
        </p:spPr>
        <p:txBody>
          <a:bodyPr wrap="square" anchor="ctr" lIns="0" rIns="0" tIns="0" bIns="0">
            <a:spAutoFit/>
          </a:bodyPr>
          <a:lstStyle/>
          <a:p>
            <a:pPr algn="l"/>
            <a:r>
              <a:rPr sz="1807" b="1">
                <a:solidFill>
                  <a:srgbClr val="156082"/>
                </a:solidFill>
                <a:latin typeface="Consolas"/>
              </a:rPr>
              <a:t>domain/</a:t>
            </a:r>
            <a:r>
              <a:rPr sz="1922" b="1">
                <a:solidFill>
                  <a:srgbClr val="0E2841"/>
                </a:solidFill>
                <a:latin typeface="Aptos"/>
              </a:rPr>
              <a:t> no importa Angular, Ionic ni Capacitor</a:t>
            </a:r>
          </a:p>
        </p:txBody>
      </p:sp>
      <p:sp>
        <p:nvSpPr>
          <p:cNvPr id="15" name="Oval 14"/>
          <p:cNvSpPr/>
          <p:nvPr/>
        </p:nvSpPr>
        <p:spPr>
          <a:xfrm>
            <a:off x="585216" y="562443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457085"/>
            <a:ext cx="10698480" cy="435281"/>
          </a:xfrm>
          <a:prstGeom prst="rect">
            <a:avLst/>
          </a:prstGeom>
          <a:noFill/>
        </p:spPr>
        <p:txBody>
          <a:bodyPr wrap="square" anchor="ctr" lIns="0" rIns="0" tIns="0" bIns="0">
            <a:spAutoFit/>
          </a:bodyPr>
          <a:lstStyle/>
          <a:p>
            <a:pPr algn="l"/>
            <a:r>
              <a:rPr sz="1922" b="1">
                <a:solidFill>
                  <a:srgbClr val="0E2841"/>
                </a:solidFill>
                <a:latin typeface="Aptos"/>
              </a:rPr>
              <a:t>Un tipo por archivo; carpetas en kebab-case</a:t>
            </a:r>
          </a:p>
        </p:txBody>
      </p:sp>
      <p:sp>
        <p:nvSpPr>
          <p:cNvPr id="17" name="Oval 16"/>
          <p:cNvSpPr/>
          <p:nvPr/>
        </p:nvSpPr>
        <p:spPr>
          <a:xfrm>
            <a:off x="585216" y="605971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892366"/>
            <a:ext cx="10698480" cy="435281"/>
          </a:xfrm>
          <a:prstGeom prst="rect">
            <a:avLst/>
          </a:prstGeom>
          <a:noFill/>
        </p:spPr>
        <p:txBody>
          <a:bodyPr wrap="square" anchor="ctr" lIns="0" rIns="0" tIns="0" bIns="0">
            <a:spAutoFit/>
          </a:bodyPr>
          <a:lstStyle/>
          <a:p>
            <a:pPr algn="l"/>
            <a:r>
              <a:rPr sz="1922" b="1">
                <a:solidFill>
                  <a:srgbClr val="0E2841"/>
                </a:solidFill>
                <a:latin typeface="Aptos"/>
              </a:rPr>
              <a:t>Prueba: borra </a:t>
            </a:r>
            <a:r>
              <a:rPr sz="1807" b="1">
                <a:solidFill>
                  <a:srgbClr val="156082"/>
                </a:solidFill>
                <a:latin typeface="Consolas"/>
              </a:rPr>
              <a:t>features/ajustes/</a:t>
            </a:r>
            <a:r>
              <a:rPr sz="1922" b="1">
                <a:solidFill>
                  <a:srgbClr val="0E2841"/>
                </a:solidFill>
                <a:latin typeface="Aptos"/>
              </a:rPr>
              <a:t>; ¿qué más falla?</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Rutas en una tabla, no en cada página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34" b="1">
                <a:solidFill>
                  <a:srgbClr val="E97132"/>
                </a:solidFill>
                <a:latin typeface="Aptos"/>
              </a:rPr>
              <a:t>APP.CONFIG.TS · RAÍZ DE COMPOSICIÓN GLOBAL</a:t>
            </a:r>
          </a:p>
        </p:txBody>
      </p:sp>
      <p:sp>
        <p:nvSpPr>
          <p:cNvPr id="10" name="TextBox 9"/>
          <p:cNvSpPr txBox="1"/>
          <p:nvPr/>
        </p:nvSpPr>
        <p:spPr>
          <a:xfrm>
            <a:off x="877824" y="2139696"/>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export const appConfig: ApplicationConfig = { providers: [</a:t>
            </a:r>
          </a:p>
          <a:p>
            <a:pPr>
              <a:lnSpc>
                <a:spcPct val="125000"/>
              </a:lnSpc>
            </a:pPr>
            <a:r>
              <a:rPr sz="1556">
                <a:solidFill>
                  <a:srgbClr val="E8E8E8"/>
                </a:solidFill>
                <a:latin typeface="Consolas"/>
              </a:rPr>
              <a:t>  { provide: RouteReuseStrategy, useClass: IonicRouteStrategy }, provideIonicAngular(),</a:t>
            </a:r>
          </a:p>
          <a:p>
            <a:pPr>
              <a:lnSpc>
                <a:spcPct val="125000"/>
              </a:lnSpc>
            </a:pPr>
            <a:r>
              <a:rPr sz="1556">
                <a:solidFill>
                  <a:srgbClr val="E8E8E8"/>
                </a:solidFill>
                <a:latin typeface="Consolas"/>
              </a:rPr>
              <a:t>  provideRouter(rutas, withComponentInputBinding(), withPreloading(PreloadAllModules)),</a:t>
            </a:r>
          </a:p>
          <a:p>
            <a:pPr>
              <a:lnSpc>
                <a:spcPct val="125000"/>
              </a:lnSpc>
            </a:pPr>
            <a:r>
              <a:rPr sz="1556">
                <a:solidFill>
                  <a:srgbClr val="E8E8E8"/>
                </a:solidFill>
                <a:latin typeface="Consolas"/>
              </a:rPr>
              <a:t>  provideHttpClient(withInterceptors([tokenInterceptor])),   // UN solo cliente HTTP</a:t>
            </a:r>
          </a:p>
          <a:p>
            <a:pPr>
              <a:lnSpc>
                <a:spcPct val="125000"/>
              </a:lnSpc>
            </a:pPr>
            <a:r>
              <a:rPr sz="1556">
                <a:solidFill>
                  <a:srgbClr val="E8E8E8"/>
                </a:solidFill>
                <a:latin typeface="Consolas"/>
              </a:rPr>
              <a:t>] };</a:t>
            </a:r>
          </a:p>
        </p:txBody>
      </p:sp>
      <p:sp>
        <p:nvSpPr>
          <p:cNvPr id="11" name="Rounded Rectangle 10"/>
          <p:cNvSpPr/>
          <p:nvPr/>
        </p:nvSpPr>
        <p:spPr>
          <a:xfrm>
            <a:off x="566928" y="4050792"/>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27024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233672"/>
            <a:ext cx="7315200" cy="237744"/>
          </a:xfrm>
          <a:prstGeom prst="rect">
            <a:avLst/>
          </a:prstGeom>
          <a:noFill/>
        </p:spPr>
        <p:txBody>
          <a:bodyPr wrap="square" anchor="t" lIns="0" rIns="0" tIns="0" bIns="0">
            <a:spAutoFit/>
          </a:bodyPr>
          <a:lstStyle/>
          <a:p>
            <a:pPr algn="l"/>
            <a:r>
              <a:rPr sz="1234" b="1">
                <a:solidFill>
                  <a:srgbClr val="E97132"/>
                </a:solidFill>
                <a:latin typeface="Aptos"/>
              </a:rPr>
              <a:t>APP.ROUTES.TS · TABLA CENTRAL (FRAGMENTO)</a:t>
            </a:r>
          </a:p>
        </p:txBody>
      </p:sp>
      <p:sp>
        <p:nvSpPr>
          <p:cNvPr id="14" name="TextBox 13"/>
          <p:cNvSpPr txBox="1"/>
          <p:nvPr/>
        </p:nvSpPr>
        <p:spPr>
          <a:xfrm>
            <a:off x="877824" y="4617720"/>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 path: 'visitas', canActivate: [sesionGuard],   // la sesión se verifica AQUÍ</a:t>
            </a:r>
          </a:p>
          <a:p>
            <a:pPr>
              <a:lnSpc>
                <a:spcPct val="125000"/>
              </a:lnSpc>
            </a:pPr>
            <a:r>
              <a:rPr sz="1556">
                <a:solidFill>
                  <a:srgbClr val="E8E8E8"/>
                </a:solidFill>
                <a:latin typeface="Consolas"/>
              </a:rPr>
              <a:t>  providers: visitasProviders,                   // la feature trae su composición</a:t>
            </a:r>
          </a:p>
          <a:p>
            <a:pPr>
              <a:lnSpc>
                <a:spcPct val="125000"/>
              </a:lnSpc>
            </a:pPr>
            <a:r>
              <a:rPr sz="1556">
                <a:solidFill>
                  <a:srgbClr val="E8E8E8"/>
                </a:solidFill>
                <a:latin typeface="Consolas"/>
              </a:rPr>
              <a:t>  children: [{ path: '', loadComponent: () =&gt;</a:t>
            </a:r>
          </a:p>
          <a:p>
            <a:pPr>
              <a:lnSpc>
                <a:spcPct val="125000"/>
              </a:lnSpc>
            </a:pPr>
            <a:r>
              <a:rPr sz="1556">
                <a:solidFill>
                  <a:srgbClr val="E8E8E8"/>
                </a:solidFill>
                <a:latin typeface="Consolas"/>
              </a:rPr>
              <a:t>    import('./features/visitas/presentation/visitas-lista.page')</a:t>
            </a:r>
          </a:p>
          <a:p>
            <a:pPr>
              <a:lnSpc>
                <a:spcPct val="125000"/>
              </a:lnSpc>
            </a:pPr>
            <a:r>
              <a:rPr sz="1556">
                <a:solidFill>
                  <a:srgbClr val="E8E8E8"/>
                </a:solidFill>
                <a:latin typeface="Consolas"/>
              </a:rPr>
              <a:t>      .then(m =&gt; m.VisitasListaPage) }] },       // un fragmento JS aparte</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068" b="1">
                <a:solidFill>
                  <a:srgbClr val="156082"/>
                </a:solidFill>
                <a:latin typeface="Consolas"/>
              </a:rPr>
              <a:t>TarjetaVisita</a:t>
            </a:r>
            <a:r>
              <a:rPr sz="2200" b="1">
                <a:solidFill>
                  <a:srgbClr val="0E2841"/>
                </a:solidFill>
                <a:latin typeface="Aptos Display"/>
              </a:rPr>
              <a:t>, en </a:t>
            </a:r>
            <a:r>
              <a:rPr sz="2068" b="1">
                <a:solidFill>
                  <a:srgbClr val="156082"/>
                </a:solidFill>
                <a:latin typeface="Consolas"/>
              </a:rPr>
              <a:t>shared/</a:t>
            </a:r>
            <a:r>
              <a:rPr sz="2200" b="1">
                <a:solidFill>
                  <a:srgbClr val="0E2841"/>
                </a:solidFill>
                <a:latin typeface="Aptos Display"/>
              </a:rPr>
              <a:t>, inyecta </a:t>
            </a:r>
            <a:r>
              <a:rPr sz="2068" b="1">
                <a:solidFill>
                  <a:srgbClr val="156082"/>
                </a:solidFill>
                <a:latin typeface="Consolas"/>
              </a:rPr>
              <a:t>ListarVisitas</a:t>
            </a:r>
            <a:r>
              <a:rPr sz="2200" b="1">
                <a:solidFill>
                  <a:srgbClr val="0E2841"/>
                </a:solidFill>
                <a:latin typeface="Aptos Display"/>
              </a:rPr>
              <a:t> para cargar sus propios datos. ¿Qué regla de la estructura por feature rompe?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que exige nombrar cada archivo igual que el tipo que declara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que deja a </a:t>
            </a:r>
            <a:r>
              <a:rPr sz="1974" b="0">
                <a:solidFill>
                  <a:srgbClr val="156082"/>
                </a:solidFill>
                <a:latin typeface="Consolas"/>
              </a:rPr>
              <a:t>shared/</a:t>
            </a:r>
            <a:r>
              <a:rPr sz="2100" b="0">
                <a:solidFill>
                  <a:srgbClr val="0E2841"/>
                </a:solidFill>
                <a:latin typeface="Aptos"/>
              </a:rPr>
              <a:t> sin lógica de negocio ni casos de uso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que obliga a declarar los componentes dentro de un </a:t>
            </a:r>
            <a:r>
              <a:rPr sz="1974" b="0">
                <a:solidFill>
                  <a:srgbClr val="156082"/>
                </a:solidFill>
                <a:latin typeface="Consolas"/>
              </a:rPr>
              <a:t>NgModule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que exige cargar cada página compartida con </a:t>
            </a:r>
            <a:r>
              <a:rPr sz="1974" b="0">
                <a:solidFill>
                  <a:srgbClr val="156082"/>
                </a:solidFill>
                <a:latin typeface="Consolas"/>
              </a:rPr>
              <a:t>loadChildren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Capas: una sola dirección</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presentation, domain y data, con una regla de dependencias que se verifica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Todas las flechas apuntan al dominio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474105"/>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126633"/>
          </a:xfrm>
          <a:prstGeom prst="rect">
            <a:avLst/>
          </a:prstGeom>
          <a:noFill/>
        </p:spPr>
        <p:txBody>
          <a:bodyPr wrap="none" lIns="0" tIns="0">
            <a:spAutoFit/>
          </a:bodyPr>
          <a:lstStyle/>
          <a:p>
            <a:pPr>
              <a:lnSpc>
                <a:spcPct val="125000"/>
              </a:lnSpc>
            </a:pPr>
            <a:r>
              <a:rPr sz="1481">
                <a:solidFill>
                  <a:srgbClr val="E8E8E8"/>
                </a:solidFill>
                <a:latin typeface="Consolas"/>
              </a:rPr>
              <a:t>      PRESENTATION                   DOMAIN                         DATA</a:t>
            </a:r>
          </a:p>
          <a:p>
            <a:pPr>
              <a:lnSpc>
                <a:spcPct val="125000"/>
              </a:lnSpc>
            </a:pPr>
            <a:r>
              <a:rPr sz="1481">
                <a:solidFill>
                  <a:srgbClr val="E8E8E8"/>
                </a:solidFill>
                <a:latin typeface="Consolas"/>
              </a:rPr>
              <a:t>  ┌──────────────────┐       ┌───────────────────┐       ┌───────────────────────┐</a:t>
            </a:r>
          </a:p>
          <a:p>
            <a:pPr>
              <a:lnSpc>
                <a:spcPct val="125000"/>
              </a:lnSpc>
            </a:pPr>
            <a:r>
              <a:rPr sz="1481">
                <a:solidFill>
                  <a:srgbClr val="E8E8E8"/>
                </a:solidFill>
                <a:latin typeface="Consolas"/>
              </a:rPr>
              <a:t>  │ VisitasListaPage │──────►│ Visita (entidad)  │◄──────│ VisitasHttpRepository │</a:t>
            </a:r>
          </a:p>
          <a:p>
            <a:pPr>
              <a:lnSpc>
                <a:spcPct val="125000"/>
              </a:lnSpc>
            </a:pPr>
            <a:r>
              <a:rPr sz="1481">
                <a:solidFill>
                  <a:srgbClr val="E8E8E8"/>
                </a:solidFill>
                <a:latin typeface="Consolas"/>
              </a:rPr>
              <a:t>  │ ViewModel (U2)   │       │ ListarVisitas     │       │ VisitaDto + mapper    │</a:t>
            </a:r>
          </a:p>
          <a:p>
            <a:pPr>
              <a:lnSpc>
                <a:spcPct val="125000"/>
              </a:lnSpc>
            </a:pPr>
            <a:r>
              <a:rPr sz="1481">
                <a:solidFill>
                  <a:srgbClr val="E8E8E8"/>
                </a:solidFill>
                <a:latin typeface="Consolas"/>
              </a:rPr>
              <a:t>  └──────────────────┘       │ VisitasRepository │       └───────────────────────┘</a:t>
            </a:r>
          </a:p>
          <a:p>
            <a:pPr>
              <a:lnSpc>
                <a:spcPct val="125000"/>
              </a:lnSpc>
            </a:pPr>
            <a:r>
              <a:rPr sz="1481">
                <a:solidFill>
                  <a:srgbClr val="E8E8E8"/>
                </a:solidFill>
                <a:latin typeface="Consolas"/>
              </a:rPr>
              <a:t> conoce Angular e Ionic      └───────────────────┘        implementa el contrato</a:t>
            </a:r>
          </a:p>
          <a:p>
            <a:pPr>
              <a:lnSpc>
                <a:spcPct val="125000"/>
              </a:lnSpc>
            </a:pPr>
            <a:r>
              <a:rPr sz="1481">
                <a:solidFill>
                  <a:srgbClr val="E8E8E8"/>
                </a:solidFill>
                <a:latin typeface="Consolas"/>
              </a:rPr>
              <a:t>                       TypeScript puro: no depende de nada externo</a:t>
            </a:r>
          </a:p>
        </p:txBody>
      </p:sp>
      <p:graphicFrame>
        <p:nvGraphicFramePr>
          <p:cNvPr id="9" name="Table 8"/>
          <p:cNvGraphicFramePr>
            <a:graphicFrameLocks noGrp="1"/>
          </p:cNvGraphicFramePr>
          <p:nvPr/>
        </p:nvGraphicFramePr>
        <p:xfrm>
          <a:off x="566928" y="4248041"/>
          <a:ext cx="11064240" cy="2079604"/>
        </p:xfrm>
        <a:graphic>
          <a:graphicData uri="http://schemas.openxmlformats.org/drawingml/2006/table">
            <a:tbl>
              <a:tblPr firstRow="1">
                <a:tableStyleId>{5C22544A-7EE6-4342-B048-85BDC9FD1C3A}</a:tableStyleId>
              </a:tblPr>
              <a:tblGrid>
                <a:gridCol w="2766060"/>
                <a:gridCol w="2766060"/>
                <a:gridCol w="2766060"/>
                <a:gridCol w="2766060"/>
              </a:tblGrid>
              <a:tr h="519901">
                <a:tc>
                  <a:txBody>
                    <a:bodyPr wrap="square"/>
                    <a:lstStyle/>
                    <a:p>
                      <a:r>
                        <a:rPr sz="1532" b="1">
                          <a:solidFill>
                            <a:srgbClr val="FFFFFF"/>
                          </a:solidFill>
                          <a:latin typeface="Aptos"/>
                        </a:rPr>
                        <a:t>Capa</a:t>
                      </a:r>
                    </a:p>
                  </a:txBody>
                  <a:tcPr anchor="ctr" marL="146304" marR="146304">
                    <a:solidFill>
                      <a:srgbClr val="156082"/>
                    </a:solidFill>
                  </a:tcPr>
                </a:tc>
                <a:tc>
                  <a:txBody>
                    <a:bodyPr wrap="square"/>
                    <a:lstStyle/>
                    <a:p>
                      <a:r>
                        <a:rPr sz="1532" b="1">
                          <a:solidFill>
                            <a:srgbClr val="FFFFFF"/>
                          </a:solidFill>
                          <a:latin typeface="Aptos"/>
                        </a:rPr>
                        <a:t>Responsabilidad</a:t>
                      </a:r>
                    </a:p>
                  </a:txBody>
                  <a:tcPr anchor="ctr" marL="146304" marR="146304">
                    <a:solidFill>
                      <a:srgbClr val="156082"/>
                    </a:solidFill>
                  </a:tcPr>
                </a:tc>
                <a:tc>
                  <a:txBody>
                    <a:bodyPr wrap="square"/>
                    <a:lstStyle/>
                    <a:p>
                      <a:r>
                        <a:rPr sz="1532" b="1">
                          <a:solidFill>
                            <a:srgbClr val="FFFFFF"/>
                          </a:solidFill>
                          <a:latin typeface="Aptos"/>
                        </a:rPr>
                        <a:t>Depende de</a:t>
                      </a:r>
                    </a:p>
                  </a:txBody>
                  <a:tcPr anchor="ctr" marL="146304" marR="146304">
                    <a:solidFill>
                      <a:srgbClr val="156082"/>
                    </a:solidFill>
                  </a:tcPr>
                </a:tc>
                <a:tc>
                  <a:txBody>
                    <a:bodyPr wrap="square"/>
                    <a:lstStyle/>
                    <a:p>
                      <a:r>
                        <a:rPr sz="1532" b="1">
                          <a:solidFill>
                            <a:srgbClr val="FFFFFF"/>
                          </a:solidFill>
                          <a:latin typeface="Aptos"/>
                        </a:rPr>
                        <a:t>Nunca contiene</a:t>
                      </a:r>
                    </a:p>
                  </a:txBody>
                  <a:tcPr anchor="ctr" marL="146304" marR="146304">
                    <a:solidFill>
                      <a:srgbClr val="156082"/>
                    </a:solidFill>
                  </a:tcPr>
                </a:tc>
              </a:tr>
              <a:tr h="519901">
                <a:tc>
                  <a:txBody>
                    <a:bodyPr wrap="square"/>
                    <a:lstStyle/>
                    <a:p>
                      <a:r>
                        <a:rPr sz="1430" b="1">
                          <a:solidFill>
                            <a:srgbClr val="33475B"/>
                          </a:solidFill>
                          <a:latin typeface="Aptos"/>
                        </a:rPr>
                        <a:t>Presentation</a:t>
                      </a:r>
                    </a:p>
                  </a:txBody>
                  <a:tcPr anchor="ctr" marL="146304" marR="146304">
                    <a:solidFill>
                      <a:srgbClr val="FFFFFF"/>
                    </a:solidFill>
                  </a:tcPr>
                </a:tc>
                <a:tc>
                  <a:txBody>
                    <a:bodyPr wrap="square"/>
                    <a:lstStyle/>
                    <a:p>
                      <a:r>
                        <a:rPr sz="1430" b="0">
                          <a:solidFill>
                            <a:srgbClr val="33475B"/>
                          </a:solidFill>
                          <a:latin typeface="Aptos"/>
                        </a:rPr>
                        <a:t>Pintar un estado y emitir intenciones</a:t>
                      </a:r>
                    </a:p>
                  </a:txBody>
                  <a:tcPr anchor="ctr" marL="146304" marR="146304">
                    <a:solidFill>
                      <a:srgbClr val="FFFFFF"/>
                    </a:solidFill>
                  </a:tcPr>
                </a:tc>
                <a:tc>
                  <a:txBody>
                    <a:bodyPr wrap="square"/>
                    <a:lstStyle/>
                    <a:p>
                      <a:r>
                        <a:rPr sz="1430" b="0">
                          <a:solidFill>
                            <a:srgbClr val="33475B"/>
                          </a:solidFill>
                          <a:latin typeface="Aptos"/>
                        </a:rPr>
                        <a:t>Domain</a:t>
                      </a:r>
                    </a:p>
                  </a:txBody>
                  <a:tcPr anchor="ctr" marL="146304" marR="146304">
                    <a:solidFill>
                      <a:srgbClr val="FFFFFF"/>
                    </a:solidFill>
                  </a:tcPr>
                </a:tc>
                <a:tc>
                  <a:txBody>
                    <a:bodyPr wrap="square"/>
                    <a:lstStyle/>
                    <a:p>
                      <a:r>
                        <a:rPr sz="1344" b="0">
                          <a:solidFill>
                            <a:srgbClr val="156082"/>
                          </a:solidFill>
                          <a:latin typeface="Consolas"/>
                        </a:rPr>
                        <a:t>HttpClient</a:t>
                      </a:r>
                      <a:r>
                        <a:rPr sz="1430" b="0">
                          <a:solidFill>
                            <a:srgbClr val="33475B"/>
                          </a:solidFill>
                          <a:latin typeface="Aptos"/>
                        </a:rPr>
                        <a:t>, plugins, DTO</a:t>
                      </a:r>
                    </a:p>
                  </a:txBody>
                  <a:tcPr anchor="ctr" marL="146304" marR="146304">
                    <a:solidFill>
                      <a:srgbClr val="FFFFFF"/>
                    </a:solidFill>
                  </a:tcPr>
                </a:tc>
              </a:tr>
              <a:tr h="519901">
                <a:tc>
                  <a:txBody>
                    <a:bodyPr wrap="square"/>
                    <a:lstStyle/>
                    <a:p>
                      <a:r>
                        <a:rPr sz="1430" b="1">
                          <a:solidFill>
                            <a:srgbClr val="33475B"/>
                          </a:solidFill>
                          <a:latin typeface="Aptos"/>
                        </a:rPr>
                        <a:t>Domain</a:t>
                      </a:r>
                    </a:p>
                  </a:txBody>
                  <a:tcPr anchor="ctr" marL="146304" marR="146304">
                    <a:solidFill>
                      <a:srgbClr val="F4F7FA"/>
                    </a:solidFill>
                  </a:tcPr>
                </a:tc>
                <a:tc>
                  <a:txBody>
                    <a:bodyPr wrap="square"/>
                    <a:lstStyle/>
                    <a:p>
                      <a:r>
                        <a:rPr sz="1430" b="0">
                          <a:solidFill>
                            <a:srgbClr val="33475B"/>
                          </a:solidFill>
                          <a:latin typeface="Aptos"/>
                        </a:rPr>
                        <a:t>Entidades, casos de uso y contratos</a:t>
                      </a:r>
                    </a:p>
                  </a:txBody>
                  <a:tcPr anchor="ctr" marL="146304" marR="146304">
                    <a:solidFill>
                      <a:srgbClr val="F4F7FA"/>
                    </a:solidFill>
                  </a:tcPr>
                </a:tc>
                <a:tc>
                  <a:txBody>
                    <a:bodyPr wrap="square"/>
                    <a:lstStyle/>
                    <a:p>
                      <a:r>
                        <a:rPr sz="1430" b="0">
                          <a:solidFill>
                            <a:srgbClr val="33475B"/>
                          </a:solidFill>
                          <a:latin typeface="Aptos"/>
                        </a:rPr>
                        <a:t>Nada</a:t>
                      </a:r>
                    </a:p>
                  </a:txBody>
                  <a:tcPr anchor="ctr" marL="146304" marR="146304">
                    <a:solidFill>
                      <a:srgbClr val="F4F7FA"/>
                    </a:solidFill>
                  </a:tcPr>
                </a:tc>
                <a:tc>
                  <a:txBody>
                    <a:bodyPr wrap="square"/>
                    <a:lstStyle/>
                    <a:p>
                      <a:r>
                        <a:rPr sz="1430" b="0">
                          <a:solidFill>
                            <a:srgbClr val="33475B"/>
                          </a:solidFill>
                          <a:latin typeface="Aptos"/>
                        </a:rPr>
                        <a:t>Angular, Ionic, Capacitor, HTTP</a:t>
                      </a:r>
                    </a:p>
                  </a:txBody>
                  <a:tcPr anchor="ctr" marL="146304" marR="146304">
                    <a:solidFill>
                      <a:srgbClr val="F4F7FA"/>
                    </a:solidFill>
                  </a:tcPr>
                </a:tc>
              </a:tr>
              <a:tr h="519901">
                <a:tc>
                  <a:txBody>
                    <a:bodyPr wrap="square"/>
                    <a:lstStyle/>
                    <a:p>
                      <a:r>
                        <a:rPr sz="1430" b="1">
                          <a:solidFill>
                            <a:srgbClr val="33475B"/>
                          </a:solidFill>
                          <a:latin typeface="Aptos"/>
                        </a:rPr>
                        <a:t>Data</a:t>
                      </a:r>
                    </a:p>
                  </a:txBody>
                  <a:tcPr anchor="ctr" marL="146304" marR="146304">
                    <a:solidFill>
                      <a:srgbClr val="FFFFFF"/>
                    </a:solidFill>
                  </a:tcPr>
                </a:tc>
                <a:tc>
                  <a:txBody>
                    <a:bodyPr wrap="square"/>
                    <a:lstStyle/>
                    <a:p>
                      <a:r>
                        <a:rPr sz="1430" b="0">
                          <a:solidFill>
                            <a:srgbClr val="33475B"/>
                          </a:solidFill>
                          <a:latin typeface="Aptos"/>
                        </a:rPr>
                        <a:t>Implementar contratos: red, caché, plugins</a:t>
                      </a:r>
                    </a:p>
                  </a:txBody>
                  <a:tcPr anchor="ctr" marL="146304" marR="146304">
                    <a:solidFill>
                      <a:srgbClr val="FFFFFF"/>
                    </a:solidFill>
                  </a:tcPr>
                </a:tc>
                <a:tc>
                  <a:txBody>
                    <a:bodyPr wrap="square"/>
                    <a:lstStyle/>
                    <a:p>
                      <a:r>
                        <a:rPr sz="1430" b="0">
                          <a:solidFill>
                            <a:srgbClr val="33475B"/>
                          </a:solidFill>
                          <a:latin typeface="Aptos"/>
                        </a:rPr>
                        <a:t>Domain</a:t>
                      </a:r>
                    </a:p>
                  </a:txBody>
                  <a:tcPr anchor="ctr" marL="146304" marR="146304">
                    <a:solidFill>
                      <a:srgbClr val="FFFFFF"/>
                    </a:solidFill>
                  </a:tcPr>
                </a:tc>
                <a:tc>
                  <a:txBody>
                    <a:bodyPr wrap="square"/>
                    <a:lstStyle/>
                    <a:p>
                      <a:r>
                        <a:rPr sz="1430" b="0">
                          <a:solidFill>
                            <a:srgbClr val="33475B"/>
                          </a:solidFill>
                          <a:latin typeface="Aptos"/>
                        </a:rPr>
                        <a:t>Componentes, rutas, UI</a:t>
                      </a:r>
                    </a:p>
                  </a:txBody>
                  <a:tcPr anchor="ctr" marL="146304" marR="146304">
                    <a:solidFill>
                      <a:srgbClr val="FFFFFF"/>
                    </a:solidFill>
                  </a:tcPr>
                </a:tc>
              </a:tr>
            </a:tbl>
          </a:graphicData>
        </a:graphic>
      </p:graphicFrame>
      <p:sp>
        <p:nvSpPr>
          <p:cNvPr id="10" name="TextBox 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1" name="TextBox 1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dominio: TypeScript sin framework</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34" b="1">
                <a:solidFill>
                  <a:srgbClr val="E97132"/>
                </a:solidFill>
                <a:latin typeface="Aptos"/>
              </a:rPr>
              <a:t>DOMAIN · ENTIDAD Y CONTRATO</a:t>
            </a:r>
          </a:p>
        </p:txBody>
      </p:sp>
      <p:sp>
        <p:nvSpPr>
          <p:cNvPr id="10" name="TextBox 9"/>
          <p:cNvSpPr txBox="1"/>
          <p:nvPr/>
        </p:nvSpPr>
        <p:spPr>
          <a:xfrm>
            <a:off x="877824" y="2139696"/>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export type EstadoVisita = 'programada' | 'realizada' | 'cancelada';</a:t>
            </a:r>
          </a:p>
          <a:p>
            <a:pPr>
              <a:lnSpc>
                <a:spcPct val="125000"/>
              </a:lnSpc>
            </a:pPr>
            <a:r>
              <a:rPr sz="1556">
                <a:solidFill>
                  <a:srgbClr val="E8E8E8"/>
                </a:solidFill>
                <a:latin typeface="Consolas"/>
              </a:rPr>
              <a:t>export interface Visita { readonly id: string; readonly cliente: string;</a:t>
            </a:r>
          </a:p>
          <a:p>
            <a:pPr>
              <a:lnSpc>
                <a:spcPct val="125000"/>
              </a:lnSpc>
            </a:pPr>
            <a:r>
              <a:rPr sz="1556">
                <a:solidFill>
                  <a:srgbClr val="E8E8E8"/>
                </a:solidFill>
                <a:latin typeface="Consolas"/>
              </a:rPr>
              <a:t>                          readonly fecha: Date; readonly estado: EstadoVisita; }</a:t>
            </a:r>
          </a:p>
          <a:p>
            <a:pPr>
              <a:lnSpc>
                <a:spcPct val="125000"/>
              </a:lnSpc>
            </a:pPr>
            <a:r>
              <a:rPr sz="1556">
                <a:solidFill>
                  <a:srgbClr val="E8E8E8"/>
                </a:solidFill>
                <a:latin typeface="Consolas"/>
              </a:rPr>
              <a:t>// abstract class: una interface se borra al compilar y no sirve como token de DI</a:t>
            </a:r>
          </a:p>
          <a:p>
            <a:pPr>
              <a:lnSpc>
                <a:spcPct val="125000"/>
              </a:lnSpc>
            </a:pPr>
            <a:r>
              <a:rPr sz="1556">
                <a:solidFill>
                  <a:srgbClr val="E8E8E8"/>
                </a:solidFill>
                <a:latin typeface="Consolas"/>
              </a:rPr>
              <a:t>export abstract class VisitasRepository { abstract listar(): Observable&lt;Visita[]&gt;; }</a:t>
            </a:r>
          </a:p>
        </p:txBody>
      </p:sp>
      <p:sp>
        <p:nvSpPr>
          <p:cNvPr id="11" name="Rounded Rectangle 10"/>
          <p:cNvSpPr/>
          <p:nvPr/>
        </p:nvSpPr>
        <p:spPr>
          <a:xfrm>
            <a:off x="566928" y="4050792"/>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27024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233672"/>
            <a:ext cx="7315200" cy="237744"/>
          </a:xfrm>
          <a:prstGeom prst="rect">
            <a:avLst/>
          </a:prstGeom>
          <a:noFill/>
        </p:spPr>
        <p:txBody>
          <a:bodyPr wrap="square" anchor="t" lIns="0" rIns="0" tIns="0" bIns="0">
            <a:spAutoFit/>
          </a:bodyPr>
          <a:lstStyle/>
          <a:p>
            <a:pPr algn="l"/>
            <a:r>
              <a:rPr sz="1234" b="1">
                <a:solidFill>
                  <a:srgbClr val="E97132"/>
                </a:solidFill>
                <a:latin typeface="Aptos"/>
              </a:rPr>
              <a:t>DOMAIN · CASO DE USO</a:t>
            </a:r>
          </a:p>
        </p:txBody>
      </p:sp>
      <p:sp>
        <p:nvSpPr>
          <p:cNvPr id="14" name="TextBox 13"/>
          <p:cNvSpPr txBox="1"/>
          <p:nvPr/>
        </p:nvSpPr>
        <p:spPr>
          <a:xfrm>
            <a:off x="877824" y="4617720"/>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export class ListarVisitas {</a:t>
            </a:r>
          </a:p>
          <a:p>
            <a:pPr>
              <a:lnSpc>
                <a:spcPct val="125000"/>
              </a:lnSpc>
            </a:pPr>
            <a:r>
              <a:rPr sz="1556">
                <a:solidFill>
                  <a:srgbClr val="E8E8E8"/>
                </a:solidFill>
                <a:latin typeface="Consolas"/>
              </a:rPr>
              <a:t>  constructor(private readonly repo: VisitasRepository) {}</a:t>
            </a:r>
          </a:p>
          <a:p>
            <a:pPr>
              <a:lnSpc>
                <a:spcPct val="125000"/>
              </a:lnSpc>
            </a:pPr>
            <a:r>
              <a:rPr sz="1556">
                <a:solidFill>
                  <a:srgbClr val="E8E8E8"/>
                </a:solidFill>
                <a:latin typeface="Consolas"/>
              </a:rPr>
              <a:t>  ejecutar(): Observable&lt;Visita[]&gt; {      // la más reciente primero, sin mutar</a:t>
            </a:r>
          </a:p>
          <a:p>
            <a:pPr>
              <a:lnSpc>
                <a:spcPct val="125000"/>
              </a:lnSpc>
            </a:pPr>
            <a:r>
              <a:rPr sz="1556">
                <a:solidFill>
                  <a:srgbClr val="E8E8E8"/>
                </a:solidFill>
                <a:latin typeface="Consolas"/>
              </a:rPr>
              <a:t>    return this.repo.listar().pipe(</a:t>
            </a:r>
          </a:p>
          <a:p>
            <a:pPr>
              <a:lnSpc>
                <a:spcPct val="125000"/>
              </a:lnSpc>
            </a:pPr>
            <a:r>
              <a:rPr sz="1556">
                <a:solidFill>
                  <a:srgbClr val="E8E8E8"/>
                </a:solidFill>
                <a:latin typeface="Consolas"/>
              </a:rPr>
              <a:t>      map(vs =&gt; [...vs].sort((a, b) =&gt; b.fecha.getTime() - a.fecha.getTime()))); }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DTO nunca sale de </a:t>
            </a:r>
            <a:r>
              <a:rPr sz="2820" b="1">
                <a:solidFill>
                  <a:srgbClr val="156082"/>
                </a:solidFill>
                <a:latin typeface="Consolas"/>
              </a:rPr>
              <a:t>data/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34" b="1">
                <a:solidFill>
                  <a:srgbClr val="E97132"/>
                </a:solidFill>
                <a:latin typeface="Aptos"/>
              </a:rPr>
              <a:t>DATA · DTO Y MAPPER (EL DTO ES EL ESPEJO DEL JSON)</a:t>
            </a:r>
          </a:p>
        </p:txBody>
      </p:sp>
      <p:sp>
        <p:nvSpPr>
          <p:cNvPr id="10" name="TextBox 9"/>
          <p:cNvSpPr txBox="1"/>
          <p:nvPr/>
        </p:nvSpPr>
        <p:spPr>
          <a:xfrm>
            <a:off x="877824" y="2139696"/>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interface VisitaDto { id: number; cliente_nombre: string; fecha_iso: string;</a:t>
            </a:r>
          </a:p>
          <a:p>
            <a:pPr>
              <a:lnSpc>
                <a:spcPct val="125000"/>
              </a:lnSpc>
            </a:pPr>
            <a:r>
              <a:rPr sz="1556">
                <a:solidFill>
                  <a:srgbClr val="E8E8E8"/>
                </a:solidFill>
                <a:latin typeface="Consolas"/>
              </a:rPr>
              <a:t>                      estado: 'P' | 'R' | 'C'; }</a:t>
            </a:r>
          </a:p>
          <a:p>
            <a:pPr>
              <a:lnSpc>
                <a:spcPct val="125000"/>
              </a:lnSpc>
            </a:pPr>
            <a:r>
              <a:rPr sz="1556">
                <a:solidFill>
                  <a:srgbClr val="E8E8E8"/>
                </a:solidFill>
                <a:latin typeface="Consolas"/>
              </a:rPr>
              <a:t>const aVisita = (d: VisitaDto): Visita =&gt; ({ id: String(d.id), cliente: d.cliente_nombre,</a:t>
            </a:r>
          </a:p>
          <a:p>
            <a:pPr>
              <a:lnSpc>
                <a:spcPct val="125000"/>
              </a:lnSpc>
            </a:pPr>
            <a:r>
              <a:rPr sz="1556">
                <a:solidFill>
                  <a:srgbClr val="E8E8E8"/>
                </a:solidFill>
                <a:latin typeface="Consolas"/>
              </a:rPr>
              <a:t>  fecha: new Date(d.fecha_iso), estado: ESTADOS[d.estado] });</a:t>
            </a:r>
          </a:p>
          <a:p>
            <a:pPr>
              <a:lnSpc>
                <a:spcPct val="125000"/>
              </a:lnSpc>
            </a:pPr>
            <a:r>
              <a:rPr sz="1556">
                <a:solidFill>
                  <a:srgbClr val="E8E8E8"/>
                </a:solidFill>
                <a:latin typeface="Consolas"/>
              </a:rPr>
              <a:t>// ESTADOS: Record&lt;VisitaDto['estado'], EstadoVisita&gt; (P, R y C a programada, realizada…)</a:t>
            </a:r>
          </a:p>
        </p:txBody>
      </p:sp>
      <p:sp>
        <p:nvSpPr>
          <p:cNvPr id="11" name="Rounded Rectangle 10"/>
          <p:cNvSpPr/>
          <p:nvPr/>
        </p:nvSpPr>
        <p:spPr>
          <a:xfrm>
            <a:off x="566928" y="4050792"/>
            <a:ext cx="11064240" cy="227685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27024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233672"/>
            <a:ext cx="7315200" cy="237744"/>
          </a:xfrm>
          <a:prstGeom prst="rect">
            <a:avLst/>
          </a:prstGeom>
          <a:noFill/>
        </p:spPr>
        <p:txBody>
          <a:bodyPr wrap="square" anchor="t" lIns="0" rIns="0" tIns="0" bIns="0">
            <a:spAutoFit/>
          </a:bodyPr>
          <a:lstStyle/>
          <a:p>
            <a:pPr algn="l"/>
            <a:r>
              <a:rPr sz="1234" b="1">
                <a:solidFill>
                  <a:srgbClr val="E97132"/>
                </a:solidFill>
                <a:latin typeface="Aptos"/>
              </a:rPr>
              <a:t>DATA · ADAPTADOR QUE IMPLEMENTA EL CONTRATO DEL DOMINIO</a:t>
            </a:r>
          </a:p>
        </p:txBody>
      </p:sp>
      <p:sp>
        <p:nvSpPr>
          <p:cNvPr id="14" name="TextBox 13"/>
          <p:cNvSpPr txBox="1"/>
          <p:nvPr/>
        </p:nvSpPr>
        <p:spPr>
          <a:xfrm>
            <a:off x="877824" y="4617720"/>
            <a:ext cx="10515600" cy="1545336"/>
          </a:xfrm>
          <a:prstGeom prst="rect">
            <a:avLst/>
          </a:prstGeom>
          <a:noFill/>
        </p:spPr>
        <p:txBody>
          <a:bodyPr wrap="none" lIns="0" tIns="0">
            <a:spAutoFit/>
          </a:bodyPr>
          <a:lstStyle/>
          <a:p>
            <a:pPr>
              <a:lnSpc>
                <a:spcPct val="125000"/>
              </a:lnSpc>
            </a:pPr>
            <a:r>
              <a:rPr sz="1556">
                <a:solidFill>
                  <a:srgbClr val="E8E8E8"/>
                </a:solidFill>
                <a:latin typeface="Consolas"/>
              </a:rPr>
              <a:t>@Injectable() export class VisitasHttpRepository implements VisitasRepository {</a:t>
            </a:r>
          </a:p>
          <a:p>
            <a:pPr>
              <a:lnSpc>
                <a:spcPct val="125000"/>
              </a:lnSpc>
            </a:pPr>
            <a:r>
              <a:rPr sz="1556">
                <a:solidFill>
                  <a:srgbClr val="E8E8E8"/>
                </a:solidFill>
                <a:latin typeface="Consolas"/>
              </a:rPr>
              <a:t>  private readonly http = inject(HttpClient);  private readonly api = inject(API_URL);</a:t>
            </a:r>
          </a:p>
          <a:p>
            <a:pPr>
              <a:lnSpc>
                <a:spcPct val="125000"/>
              </a:lnSpc>
            </a:pPr>
            <a:r>
              <a:rPr sz="1556">
                <a:solidFill>
                  <a:srgbClr val="E8E8E8"/>
                </a:solidFill>
                <a:latin typeface="Consolas"/>
              </a:rPr>
              <a:t>  listar(): Observable&lt;Visita[]&gt; {</a:t>
            </a:r>
          </a:p>
          <a:p>
            <a:pPr>
              <a:lnSpc>
                <a:spcPct val="125000"/>
              </a:lnSpc>
            </a:pPr>
            <a:r>
              <a:rPr sz="1556">
                <a:solidFill>
                  <a:srgbClr val="E8E8E8"/>
                </a:solidFill>
                <a:latin typeface="Consolas"/>
              </a:rPr>
              <a:t>    return this.http.get&lt;VisitaDto[]&gt;(`${this.api}/visitas`)</a:t>
            </a:r>
          </a:p>
          <a:p>
            <a:pPr>
              <a:lnSpc>
                <a:spcPct val="125000"/>
              </a:lnSpc>
            </a:pPr>
            <a:r>
              <a:rPr sz="1556">
                <a:solidFill>
                  <a:srgbClr val="E8E8E8"/>
                </a:solidFill>
                <a:latin typeface="Consolas"/>
              </a:rPr>
              <a:t>      .pipe(map(dtos =&gt; dtos.map(aVisita))); }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piezas sostienen la regla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Caso de uso</a:t>
            </a:r>
          </a:p>
          <a:p>
            <a:pPr algn="l">
              <a:lnSpc>
                <a:spcPct val="120000"/>
              </a:lnSpc>
              <a:spcBef>
                <a:spcPts val="700"/>
              </a:spcBef>
            </a:pPr>
            <a:r>
              <a:rPr sz="1395" b="0">
                <a:solidFill>
                  <a:srgbClr val="33475B"/>
                </a:solidFill>
                <a:latin typeface="Aptos"/>
              </a:rPr>
              <a:t>Una acción de negocio: pura, delgada y probable sin infraestructura</a:t>
            </a:r>
          </a:p>
        </p:txBody>
      </p:sp>
      <p:sp>
        <p:nvSpPr>
          <p:cNvPr id="10" name="Rounded Rectangle 9"/>
          <p:cNvSpPr/>
          <p:nvPr/>
        </p:nvSpPr>
        <p:spPr>
          <a:xfrm>
            <a:off x="3410712"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Repositorio</a:t>
            </a:r>
          </a:p>
          <a:p>
            <a:pPr algn="l">
              <a:lnSpc>
                <a:spcPct val="120000"/>
              </a:lnSpc>
              <a:spcBef>
                <a:spcPts val="700"/>
              </a:spcBef>
            </a:pPr>
            <a:r>
              <a:rPr sz="1395" b="0">
                <a:solidFill>
                  <a:srgbClr val="33475B"/>
                </a:solidFill>
                <a:latin typeface="Aptos"/>
              </a:rPr>
              <a:t>Contrato del dominio, en su idioma; la capa de datos lo implementa</a:t>
            </a:r>
          </a:p>
        </p:txBody>
      </p:sp>
      <p:sp>
        <p:nvSpPr>
          <p:cNvPr id="13" name="Rounded Rectangle 12"/>
          <p:cNvSpPr/>
          <p:nvPr/>
        </p:nvSpPr>
        <p:spPr>
          <a:xfrm>
            <a:off x="6254496"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Raíz de composición</a:t>
            </a:r>
          </a:p>
          <a:p>
            <a:pPr algn="l">
              <a:lnSpc>
                <a:spcPct val="120000"/>
              </a:lnSpc>
              <a:spcBef>
                <a:spcPts val="700"/>
              </a:spcBef>
            </a:pPr>
            <a:r>
              <a:rPr sz="1311" b="0">
                <a:solidFill>
                  <a:srgbClr val="156082"/>
                </a:solidFill>
                <a:latin typeface="Consolas"/>
              </a:rPr>
              <a:t>core/di/</a:t>
            </a:r>
            <a:r>
              <a:rPr sz="1395" b="0">
                <a:solidFill>
                  <a:srgbClr val="33475B"/>
                </a:solidFill>
                <a:latin typeface="Aptos"/>
              </a:rPr>
              <a:t>: el único lugar que conoce las implementaciones</a:t>
            </a:r>
          </a:p>
        </p:txBody>
      </p:sp>
      <p:sp>
        <p:nvSpPr>
          <p:cNvPr id="16" name="Rounded Rectangle 15"/>
          <p:cNvSpPr/>
          <p:nvPr/>
        </p:nvSpPr>
        <p:spPr>
          <a:xfrm>
            <a:off x="9098280"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La ganancia</a:t>
            </a:r>
          </a:p>
          <a:p>
            <a:pPr algn="l">
              <a:lnSpc>
                <a:spcPct val="120000"/>
              </a:lnSpc>
              <a:spcBef>
                <a:spcPts val="700"/>
              </a:spcBef>
            </a:pPr>
            <a:r>
              <a:rPr sz="1395" b="0">
                <a:solidFill>
                  <a:srgbClr val="33475B"/>
                </a:solidFill>
                <a:latin typeface="Aptos"/>
              </a:rPr>
              <a:t>Pruebas sin backend; offline cambiando una línea; la API toca solo DTO y mapper</a:t>
            </a:r>
          </a:p>
        </p:txBody>
      </p:sp>
      <p:sp>
        <p:nvSpPr>
          <p:cNvPr id="19" name="Rounded Rectangle 18"/>
          <p:cNvSpPr/>
          <p:nvPr/>
        </p:nvSpPr>
        <p:spPr>
          <a:xfrm>
            <a:off x="566928" y="4162806"/>
            <a:ext cx="11064240" cy="216484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4382262"/>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4345686"/>
            <a:ext cx="7315200" cy="237744"/>
          </a:xfrm>
          <a:prstGeom prst="rect">
            <a:avLst/>
          </a:prstGeom>
          <a:noFill/>
        </p:spPr>
        <p:txBody>
          <a:bodyPr wrap="square" anchor="t" lIns="0" rIns="0" tIns="0" bIns="0">
            <a:spAutoFit/>
          </a:bodyPr>
          <a:lstStyle/>
          <a:p>
            <a:pPr algn="l"/>
            <a:r>
              <a:rPr sz="1234" b="1">
                <a:solidFill>
                  <a:srgbClr val="E97132"/>
                </a:solidFill>
                <a:latin typeface="Aptos"/>
              </a:rPr>
              <a:t>CORE/DI/VISITAS.PROVIDERS.TS · LA ÚNICA QUE SABE QUÉ IMPLEMENTACIÓN SE USA</a:t>
            </a:r>
          </a:p>
        </p:txBody>
      </p:sp>
      <p:sp>
        <p:nvSpPr>
          <p:cNvPr id="22" name="TextBox 21"/>
          <p:cNvSpPr txBox="1"/>
          <p:nvPr/>
        </p:nvSpPr>
        <p:spPr>
          <a:xfrm>
            <a:off x="877824" y="4729734"/>
            <a:ext cx="10515600" cy="1433322"/>
          </a:xfrm>
          <a:prstGeom prst="rect">
            <a:avLst/>
          </a:prstGeom>
          <a:noFill/>
        </p:spPr>
        <p:txBody>
          <a:bodyPr wrap="none" lIns="0" tIns="0">
            <a:spAutoFit/>
          </a:bodyPr>
          <a:lstStyle/>
          <a:p>
            <a:pPr>
              <a:lnSpc>
                <a:spcPct val="125000"/>
              </a:lnSpc>
            </a:pPr>
            <a:r>
              <a:rPr sz="1556">
                <a:solidFill>
                  <a:srgbClr val="E8E8E8"/>
                </a:solidFill>
                <a:latin typeface="Consolas"/>
              </a:rPr>
              <a:t>export const visitasProviders: Provider[] = [</a:t>
            </a:r>
          </a:p>
          <a:p>
            <a:pPr>
              <a:lnSpc>
                <a:spcPct val="125000"/>
              </a:lnSpc>
            </a:pPr>
            <a:r>
              <a:rPr sz="1556">
                <a:solidFill>
                  <a:srgbClr val="E8E8E8"/>
                </a:solidFill>
                <a:latin typeface="Consolas"/>
              </a:rPr>
              <a:t>  { provide: VisitasRepository, useClass: VisitasHttpRepository },</a:t>
            </a:r>
          </a:p>
          <a:p>
            <a:pPr>
              <a:lnSpc>
                <a:spcPct val="125000"/>
              </a:lnSpc>
            </a:pPr>
            <a:r>
              <a:rPr sz="1556">
                <a:solidFill>
                  <a:srgbClr val="E8E8E8"/>
                </a:solidFill>
                <a:latin typeface="Consolas"/>
              </a:rPr>
              <a:t>  { provide: ListarVisitas, useFactory: () =&gt; new ListarVisitas(inject(VisitasRepository)) },</a:t>
            </a:r>
          </a:p>
          <a:p>
            <a:pPr>
              <a:lnSpc>
                <a:spcPct val="125000"/>
              </a:lnSpc>
            </a:pPr>
            <a:r>
              <a:rPr sz="1556">
                <a:solidFill>
                  <a:srgbClr val="E8E8E8"/>
                </a:solidFill>
                <a:latin typeface="Consolas"/>
              </a:rPr>
              <a:t>];</a:t>
            </a:r>
          </a:p>
          <a:p>
            <a:pPr>
              <a:lnSpc>
                <a:spcPct val="125000"/>
              </a:lnSpc>
            </a:pPr>
            <a:r>
              <a:rPr sz="1556">
                <a:solidFill>
                  <a:srgbClr val="E8E8E8"/>
                </a:solidFill>
                <a:latin typeface="Consolas"/>
              </a:rPr>
              <a:t>// La página solo hace inject(ListarVisitas) y pinta: cargando, listo, vacío o error.</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Errores de capa y cómo cazarlos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072384"/>
        </p:xfrm>
        <a:graphic>
          <a:graphicData uri="http://schemas.openxmlformats.org/drawingml/2006/table">
            <a:tbl>
              <a:tblPr firstRow="1">
                <a:tableStyleId>{5C22544A-7EE6-4342-B048-85BDC9FD1C3A}</a:tableStyleId>
              </a:tblPr>
              <a:tblGrid>
                <a:gridCol w="3688080"/>
                <a:gridCol w="3688080"/>
                <a:gridCol w="3688080"/>
              </a:tblGrid>
              <a:tr h="512064">
                <a:tc>
                  <a:txBody>
                    <a:bodyPr wrap="square"/>
                    <a:lstStyle/>
                    <a:p>
                      <a:r>
                        <a:rPr sz="1541" b="1">
                          <a:solidFill>
                            <a:srgbClr val="FFFFFF"/>
                          </a:solidFill>
                          <a:latin typeface="Aptos"/>
                        </a:rPr>
                        <a:t>Lo que aparece en el código</a:t>
                      </a:r>
                    </a:p>
                  </a:txBody>
                  <a:tcPr anchor="ctr" marL="146304" marR="146304">
                    <a:solidFill>
                      <a:srgbClr val="156082"/>
                    </a:solidFill>
                  </a:tcPr>
                </a:tc>
                <a:tc>
                  <a:txBody>
                    <a:bodyPr wrap="square"/>
                    <a:lstStyle/>
                    <a:p>
                      <a:r>
                        <a:rPr sz="1541" b="1">
                          <a:solidFill>
                            <a:srgbClr val="FFFFFF"/>
                          </a:solidFill>
                          <a:latin typeface="Aptos"/>
                        </a:rPr>
                        <a:t>Regla que rompe</a:t>
                      </a:r>
                    </a:p>
                  </a:txBody>
                  <a:tcPr anchor="ctr" marL="146304" marR="146304">
                    <a:solidFill>
                      <a:srgbClr val="156082"/>
                    </a:solidFill>
                  </a:tcPr>
                </a:tc>
                <a:tc>
                  <a:txBody>
                    <a:bodyPr wrap="square"/>
                    <a:lstStyle/>
                    <a:p>
                      <a:r>
                        <a:rPr sz="1541" b="1">
                          <a:solidFill>
                            <a:srgbClr val="FFFFFF"/>
                          </a:solidFill>
                          <a:latin typeface="Aptos"/>
                        </a:rPr>
                        <a:t>Corrección</a:t>
                      </a:r>
                    </a:p>
                  </a:txBody>
                  <a:tcPr anchor="ctr" marL="146304" marR="146304">
                    <a:solidFill>
                      <a:srgbClr val="156082"/>
                    </a:solidFill>
                  </a:tcPr>
                </a:tc>
              </a:tr>
              <a:tr h="512064">
                <a:tc>
                  <a:txBody>
                    <a:bodyPr wrap="square"/>
                    <a:lstStyle/>
                    <a:p>
                      <a:r>
                        <a:rPr sz="1352" b="1">
                          <a:solidFill>
                            <a:srgbClr val="156082"/>
                          </a:solidFill>
                          <a:latin typeface="Consolas"/>
                        </a:rPr>
                        <a:t>inject(HttpClient)</a:t>
                      </a:r>
                      <a:r>
                        <a:rPr sz="1438" b="1">
                          <a:solidFill>
                            <a:srgbClr val="33475B"/>
                          </a:solidFill>
                          <a:latin typeface="Aptos"/>
                        </a:rPr>
                        <a:t> en una página</a:t>
                      </a:r>
                    </a:p>
                  </a:txBody>
                  <a:tcPr anchor="ctr" marL="146304" marR="146304">
                    <a:solidFill>
                      <a:srgbClr val="FFFFFF"/>
                    </a:solidFill>
                  </a:tcPr>
                </a:tc>
                <a:tc>
                  <a:txBody>
                    <a:bodyPr wrap="square"/>
                    <a:lstStyle/>
                    <a:p>
                      <a:r>
                        <a:rPr sz="1438" b="0">
                          <a:solidFill>
                            <a:srgbClr val="33475B"/>
                          </a:solidFill>
                          <a:latin typeface="Aptos"/>
                        </a:rPr>
                        <a:t>Presentation depende de data</a:t>
                      </a:r>
                    </a:p>
                  </a:txBody>
                  <a:tcPr anchor="ctr" marL="146304" marR="146304">
                    <a:solidFill>
                      <a:srgbClr val="FFFFFF"/>
                    </a:solidFill>
                  </a:tcPr>
                </a:tc>
                <a:tc>
                  <a:txBody>
                    <a:bodyPr wrap="square"/>
                    <a:lstStyle/>
                    <a:p>
                      <a:r>
                        <a:rPr sz="1438" b="0">
                          <a:solidFill>
                            <a:srgbClr val="33475B"/>
                          </a:solidFill>
                          <a:latin typeface="Aptos"/>
                        </a:rPr>
                        <a:t>Caso de uso + contrato del dominio</a:t>
                      </a:r>
                    </a:p>
                  </a:txBody>
                  <a:tcPr anchor="ctr" marL="146304" marR="146304">
                    <a:solidFill>
                      <a:srgbClr val="FFFFFF"/>
                    </a:solidFill>
                  </a:tcPr>
                </a:tc>
              </a:tr>
              <a:tr h="512064">
                <a:tc>
                  <a:txBody>
                    <a:bodyPr wrap="square"/>
                    <a:lstStyle/>
                    <a:p>
                      <a:r>
                        <a:rPr sz="1352" b="1">
                          <a:solidFill>
                            <a:srgbClr val="156082"/>
                          </a:solidFill>
                          <a:latin typeface="Consolas"/>
                        </a:rPr>
                        <a:t>@capacitor/geolocation</a:t>
                      </a:r>
                      <a:r>
                        <a:rPr sz="1438" b="1">
                          <a:solidFill>
                            <a:srgbClr val="33475B"/>
                          </a:solidFill>
                          <a:latin typeface="Aptos"/>
                        </a:rPr>
                        <a:t> en </a:t>
                      </a:r>
                      <a:r>
                        <a:rPr sz="1352" b="1">
                          <a:solidFill>
                            <a:srgbClr val="156082"/>
                          </a:solidFill>
                          <a:latin typeface="Consolas"/>
                        </a:rPr>
                        <a:t>domain/</a:t>
                      </a:r>
                    </a:p>
                  </a:txBody>
                  <a:tcPr anchor="ctr" marL="146304" marR="146304">
                    <a:solidFill>
                      <a:srgbClr val="F4F7FA"/>
                    </a:solidFill>
                  </a:tcPr>
                </a:tc>
                <a:tc>
                  <a:txBody>
                    <a:bodyPr wrap="square"/>
                    <a:lstStyle/>
                    <a:p>
                      <a:r>
                        <a:rPr sz="1438" b="0">
                          <a:solidFill>
                            <a:srgbClr val="33475B"/>
                          </a:solidFill>
                          <a:latin typeface="Aptos"/>
                        </a:rPr>
                        <a:t>El dominio no depende de nada</a:t>
                      </a:r>
                    </a:p>
                  </a:txBody>
                  <a:tcPr anchor="ctr" marL="146304" marR="146304">
                    <a:solidFill>
                      <a:srgbClr val="F4F7FA"/>
                    </a:solidFill>
                  </a:tcPr>
                </a:tc>
                <a:tc>
                  <a:txBody>
                    <a:bodyPr wrap="square"/>
                    <a:lstStyle/>
                    <a:p>
                      <a:r>
                        <a:rPr sz="1438" b="0">
                          <a:solidFill>
                            <a:srgbClr val="33475B"/>
                          </a:solidFill>
                          <a:latin typeface="Aptos"/>
                        </a:rPr>
                        <a:t>Puerto en domain + adaptador en data</a:t>
                      </a:r>
                    </a:p>
                  </a:txBody>
                  <a:tcPr anchor="ctr" marL="146304" marR="146304">
                    <a:solidFill>
                      <a:srgbClr val="F4F7FA"/>
                    </a:solidFill>
                  </a:tcPr>
                </a:tc>
              </a:tr>
              <a:tr h="512064">
                <a:tc>
                  <a:txBody>
                    <a:bodyPr wrap="square"/>
                    <a:lstStyle/>
                    <a:p>
                      <a:r>
                        <a:rPr sz="1438" b="1">
                          <a:solidFill>
                            <a:srgbClr val="33475B"/>
                          </a:solidFill>
                          <a:latin typeface="Aptos"/>
                        </a:rPr>
                        <a:t>La plantilla muestra </a:t>
                      </a:r>
                      <a:r>
                        <a:rPr sz="1352" b="1">
                          <a:solidFill>
                            <a:srgbClr val="156082"/>
                          </a:solidFill>
                          <a:latin typeface="Consolas"/>
                        </a:rPr>
                        <a:t>cliente_nombre</a:t>
                      </a:r>
                    </a:p>
                  </a:txBody>
                  <a:tcPr anchor="ctr" marL="146304" marR="146304">
                    <a:solidFill>
                      <a:srgbClr val="FFFFFF"/>
                    </a:solidFill>
                  </a:tcPr>
                </a:tc>
                <a:tc>
                  <a:txBody>
                    <a:bodyPr wrap="square"/>
                    <a:lstStyle/>
                    <a:p>
                      <a:r>
                        <a:rPr sz="1438" b="0">
                          <a:solidFill>
                            <a:srgbClr val="33475B"/>
                          </a:solidFill>
                          <a:latin typeface="Aptos"/>
                        </a:rPr>
                        <a:t>El DTO llegó a la vista</a:t>
                      </a:r>
                    </a:p>
                  </a:txBody>
                  <a:tcPr anchor="ctr" marL="146304" marR="146304">
                    <a:solidFill>
                      <a:srgbClr val="FFFFFF"/>
                    </a:solidFill>
                  </a:tcPr>
                </a:tc>
                <a:tc>
                  <a:txBody>
                    <a:bodyPr wrap="square"/>
                    <a:lstStyle/>
                    <a:p>
                      <a:r>
                        <a:rPr sz="1438" b="0">
                          <a:solidFill>
                            <a:srgbClr val="33475B"/>
                          </a:solidFill>
                          <a:latin typeface="Aptos"/>
                        </a:rPr>
                        <a:t>Mapper en data; la vista usa la entidad</a:t>
                      </a:r>
                    </a:p>
                  </a:txBody>
                  <a:tcPr anchor="ctr" marL="146304" marR="146304">
                    <a:solidFill>
                      <a:srgbClr val="FFFFFF"/>
                    </a:solidFill>
                  </a:tcPr>
                </a:tc>
              </a:tr>
              <a:tr h="512064">
                <a:tc>
                  <a:txBody>
                    <a:bodyPr wrap="square"/>
                    <a:lstStyle/>
                    <a:p>
                      <a:r>
                        <a:rPr sz="1438" b="1">
                          <a:solidFill>
                            <a:srgbClr val="33475B"/>
                          </a:solidFill>
                          <a:latin typeface="Aptos"/>
                        </a:rPr>
                        <a:t>Un caso de uso inyecta </a:t>
                      </a:r>
                      <a:r>
                        <a:rPr sz="1352" b="1">
                          <a:solidFill>
                            <a:srgbClr val="156082"/>
                          </a:solidFill>
                          <a:latin typeface="Consolas"/>
                        </a:rPr>
                        <a:t>ToastController</a:t>
                      </a:r>
                    </a:p>
                  </a:txBody>
                  <a:tcPr anchor="ctr" marL="146304" marR="146304">
                    <a:solidFill>
                      <a:srgbClr val="F4F7FA"/>
                    </a:solidFill>
                  </a:tcPr>
                </a:tc>
                <a:tc>
                  <a:txBody>
                    <a:bodyPr wrap="square"/>
                    <a:lstStyle/>
                    <a:p>
                      <a:r>
                        <a:rPr sz="1438" b="0">
                          <a:solidFill>
                            <a:srgbClr val="33475B"/>
                          </a:solidFill>
                          <a:latin typeface="Aptos"/>
                        </a:rPr>
                        <a:t>El dominio conoce la UI</a:t>
                      </a:r>
                    </a:p>
                  </a:txBody>
                  <a:tcPr anchor="ctr" marL="146304" marR="146304">
                    <a:solidFill>
                      <a:srgbClr val="F4F7FA"/>
                    </a:solidFill>
                  </a:tcPr>
                </a:tc>
                <a:tc>
                  <a:txBody>
                    <a:bodyPr wrap="square"/>
                    <a:lstStyle/>
                    <a:p>
                      <a:r>
                        <a:rPr sz="1438" b="0">
                          <a:solidFill>
                            <a:srgbClr val="33475B"/>
                          </a:solidFill>
                          <a:latin typeface="Aptos"/>
                        </a:rPr>
                        <a:t>Devolver resultado; decide la vista</a:t>
                      </a:r>
                    </a:p>
                  </a:txBody>
                  <a:tcPr anchor="ctr" marL="146304" marR="146304">
                    <a:solidFill>
                      <a:srgbClr val="F4F7FA"/>
                    </a:solidFill>
                  </a:tcPr>
                </a:tc>
              </a:tr>
              <a:tr h="512064">
                <a:tc>
                  <a:txBody>
                    <a:bodyPr wrap="square"/>
                    <a:lstStyle/>
                    <a:p>
                      <a:r>
                        <a:rPr sz="1352" b="1">
                          <a:solidFill>
                            <a:srgbClr val="156082"/>
                          </a:solidFill>
                          <a:latin typeface="Consolas"/>
                        </a:rPr>
                        <a:t>visitas</a:t>
                      </a:r>
                      <a:r>
                        <a:rPr sz="1438" b="1">
                          <a:solidFill>
                            <a:srgbClr val="33475B"/>
                          </a:solidFill>
                          <a:latin typeface="Aptos"/>
                        </a:rPr>
                        <a:t> importa de </a:t>
                      </a:r>
                      <a:r>
                        <a:rPr sz="1352" b="1">
                          <a:solidFill>
                            <a:srgbClr val="156082"/>
                          </a:solidFill>
                          <a:latin typeface="Consolas"/>
                        </a:rPr>
                        <a:t>auth/data</a:t>
                      </a:r>
                    </a:p>
                  </a:txBody>
                  <a:tcPr anchor="ctr" marL="146304" marR="146304">
                    <a:solidFill>
                      <a:srgbClr val="FFFFFF"/>
                    </a:solidFill>
                  </a:tcPr>
                </a:tc>
                <a:tc>
                  <a:txBody>
                    <a:bodyPr wrap="square"/>
                    <a:lstStyle/>
                    <a:p>
                      <a:r>
                        <a:rPr sz="1438" b="0">
                          <a:solidFill>
                            <a:srgbClr val="33475B"/>
                          </a:solidFill>
                          <a:latin typeface="Aptos"/>
                        </a:rPr>
                        <a:t>Sin imports entre features</a:t>
                      </a:r>
                    </a:p>
                  </a:txBody>
                  <a:tcPr anchor="ctr" marL="146304" marR="146304">
                    <a:solidFill>
                      <a:srgbClr val="FFFFFF"/>
                    </a:solidFill>
                  </a:tcPr>
                </a:tc>
                <a:tc>
                  <a:txBody>
                    <a:bodyPr wrap="square"/>
                    <a:lstStyle/>
                    <a:p>
                      <a:r>
                        <a:rPr sz="1438" b="0">
                          <a:solidFill>
                            <a:srgbClr val="33475B"/>
                          </a:solidFill>
                          <a:latin typeface="Aptos"/>
                        </a:rPr>
                        <a:t>Subir lo común a </a:t>
                      </a:r>
                      <a:r>
                        <a:rPr sz="1352" b="0">
                          <a:solidFill>
                            <a:srgbClr val="156082"/>
                          </a:solidFill>
                          <a:latin typeface="Consolas"/>
                        </a:rPr>
                        <a:t>core/auth</a:t>
                      </a:r>
                    </a:p>
                  </a:txBody>
                  <a:tcPr anchor="ctr" marL="146304" marR="146304">
                    <a:solidFill>
                      <a:srgbClr val="FFFFFF"/>
                    </a:solidFill>
                  </a:tcPr>
                </a:tc>
              </a:tr>
            </a:tbl>
          </a:graphicData>
        </a:graphic>
      </p:graphicFrame>
      <p:sp>
        <p:nvSpPr>
          <p:cNvPr id="8" name="Rounded Rectangle 7"/>
          <p:cNvSpPr/>
          <p:nvPr/>
        </p:nvSpPr>
        <p:spPr>
          <a:xfrm>
            <a:off x="566928" y="4846320"/>
            <a:ext cx="11064240" cy="148132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 y="506577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029200"/>
            <a:ext cx="7315200" cy="237744"/>
          </a:xfrm>
          <a:prstGeom prst="rect">
            <a:avLst/>
          </a:prstGeom>
          <a:noFill/>
        </p:spPr>
        <p:txBody>
          <a:bodyPr wrap="square" anchor="t" lIns="0" rIns="0" tIns="0" bIns="0">
            <a:spAutoFit/>
          </a:bodyPr>
          <a:lstStyle/>
          <a:p>
            <a:pPr algn="l"/>
            <a:r>
              <a:rPr sz="1181" b="1">
                <a:solidFill>
                  <a:srgbClr val="E97132"/>
                </a:solidFill>
                <a:latin typeface="Aptos"/>
              </a:rPr>
              <a:t>ESLINT.CONFIG.JS (FRAGMENTO) · LA REGLA QUE NO SE AUTOMATIZA, SE VIOLA</a:t>
            </a:r>
          </a:p>
        </p:txBody>
      </p:sp>
      <p:sp>
        <p:nvSpPr>
          <p:cNvPr id="11" name="TextBox 10"/>
          <p:cNvSpPr txBox="1"/>
          <p:nvPr/>
        </p:nvSpPr>
        <p:spPr>
          <a:xfrm>
            <a:off x="877824" y="5413248"/>
            <a:ext cx="10515600" cy="749807"/>
          </a:xfrm>
          <a:prstGeom prst="rect">
            <a:avLst/>
          </a:prstGeom>
          <a:noFill/>
        </p:spPr>
        <p:txBody>
          <a:bodyPr wrap="none" lIns="0" tIns="0">
            <a:spAutoFit/>
          </a:bodyPr>
          <a:lstStyle/>
          <a:p>
            <a:pPr>
              <a:lnSpc>
                <a:spcPct val="125000"/>
              </a:lnSpc>
            </a:pPr>
            <a:r>
              <a:rPr sz="1490">
                <a:solidFill>
                  <a:srgbClr val="E8E8E8"/>
                </a:solidFill>
                <a:latin typeface="Consolas"/>
              </a:rPr>
              <a:t>{ files: ['src/app/features/**/domain/**/*.ts'], rules: { 'no-restricted-imports': ['error', {</a:t>
            </a:r>
          </a:p>
          <a:p>
            <a:pPr>
              <a:lnSpc>
                <a:spcPct val="125000"/>
              </a:lnSpc>
            </a:pPr>
            <a:r>
              <a:rPr sz="1490">
                <a:solidFill>
                  <a:srgbClr val="E8E8E8"/>
                </a:solidFill>
                <a:latin typeface="Consolas"/>
              </a:rPr>
              <a:t>  patterns: [{ group: ['@angular/*', '@ionic/*', '@capacitor/*'],</a:t>
            </a:r>
          </a:p>
          <a:p>
            <a:pPr>
              <a:lnSpc>
                <a:spcPct val="125000"/>
              </a:lnSpc>
            </a:pPr>
            <a:r>
              <a:rPr sz="1490">
                <a:solidFill>
                  <a:srgbClr val="E8E8E8"/>
                </a:solidFill>
                <a:latin typeface="Consolas"/>
              </a:rPr>
              <a:t>    message: 'domain/ es TypeScript puro: declara un contrato; data/ lo implementa.' }] }] } },</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Del código al diagrama con C4</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1878276"/>
        </p:xfrm>
        <a:graphic>
          <a:graphicData uri="http://schemas.openxmlformats.org/drawingml/2006/table">
            <a:tbl>
              <a:tblPr firstRow="1">
                <a:tableStyleId>{5C22544A-7EE6-4342-B048-85BDC9FD1C3A}</a:tableStyleId>
              </a:tblPr>
              <a:tblGrid>
                <a:gridCol w="3688080"/>
                <a:gridCol w="3688080"/>
                <a:gridCol w="3688080"/>
              </a:tblGrid>
              <a:tr h="469569">
                <a:tc>
                  <a:txBody>
                    <a:bodyPr wrap="square"/>
                    <a:lstStyle/>
                    <a:p>
                      <a:r>
                        <a:rPr sz="1481" b="1">
                          <a:solidFill>
                            <a:srgbClr val="FFFFFF"/>
                          </a:solidFill>
                          <a:latin typeface="Aptos"/>
                        </a:rPr>
                        <a:t>Nivel</a:t>
                      </a:r>
                    </a:p>
                  </a:txBody>
                  <a:tcPr anchor="ctr" marL="146304" marR="146304">
                    <a:solidFill>
                      <a:srgbClr val="156082"/>
                    </a:solidFill>
                  </a:tcPr>
                </a:tc>
                <a:tc>
                  <a:txBody>
                    <a:bodyPr wrap="square"/>
                    <a:lstStyle/>
                    <a:p>
                      <a:r>
                        <a:rPr sz="1481" b="1">
                          <a:solidFill>
                            <a:srgbClr val="FFFFFF"/>
                          </a:solidFill>
                          <a:latin typeface="Aptos"/>
                        </a:rPr>
                        <a:t>Qué muestra</a:t>
                      </a:r>
                    </a:p>
                  </a:txBody>
                  <a:tcPr anchor="ctr" marL="146304" marR="146304">
                    <a:solidFill>
                      <a:srgbClr val="156082"/>
                    </a:solidFill>
                  </a:tcPr>
                </a:tc>
                <a:tc>
                  <a:txBody>
                    <a:bodyPr wrap="square"/>
                    <a:lstStyle/>
                    <a:p>
                      <a:r>
                        <a:rPr sz="1481" b="1">
                          <a:solidFill>
                            <a:srgbClr val="FFFFFF"/>
                          </a:solidFill>
                          <a:latin typeface="Aptos"/>
                        </a:rPr>
                        <a:t>En la Bitácora</a:t>
                      </a:r>
                    </a:p>
                  </a:txBody>
                  <a:tcPr anchor="ctr" marL="146304" marR="146304">
                    <a:solidFill>
                      <a:srgbClr val="156082"/>
                    </a:solidFill>
                  </a:tcPr>
                </a:tc>
              </a:tr>
              <a:tr h="469569">
                <a:tc>
                  <a:txBody>
                    <a:bodyPr wrap="square"/>
                    <a:lstStyle/>
                    <a:p>
                      <a:r>
                        <a:rPr sz="1382" b="1">
                          <a:solidFill>
                            <a:srgbClr val="33475B"/>
                          </a:solidFill>
                          <a:latin typeface="Aptos"/>
                        </a:rPr>
                        <a:t>1 · Contexto</a:t>
                      </a:r>
                    </a:p>
                  </a:txBody>
                  <a:tcPr anchor="ctr" marL="146304" marR="146304">
                    <a:solidFill>
                      <a:srgbClr val="FFFFFF"/>
                    </a:solidFill>
                  </a:tcPr>
                </a:tc>
                <a:tc>
                  <a:txBody>
                    <a:bodyPr wrap="square"/>
                    <a:lstStyle/>
                    <a:p>
                      <a:r>
                        <a:rPr sz="1382" b="0">
                          <a:solidFill>
                            <a:srgbClr val="33475B"/>
                          </a:solidFill>
                          <a:latin typeface="Aptos"/>
                        </a:rPr>
                        <a:t>Sistema, usuarios y sistemas externos</a:t>
                      </a:r>
                    </a:p>
                  </a:txBody>
                  <a:tcPr anchor="ctr" marL="146304" marR="146304">
                    <a:solidFill>
                      <a:srgbClr val="FFFFFF"/>
                    </a:solidFill>
                  </a:tcPr>
                </a:tc>
                <a:tc>
                  <a:txBody>
                    <a:bodyPr wrap="square"/>
                    <a:lstStyle/>
                    <a:p>
                      <a:r>
                        <a:rPr sz="1382" b="0">
                          <a:solidFill>
                            <a:srgbClr val="33475B"/>
                          </a:solidFill>
                          <a:latin typeface="Aptos"/>
                        </a:rPr>
                        <a:t>Técnico, supervisor, API, mapas</a:t>
                      </a:r>
                    </a:p>
                  </a:txBody>
                  <a:tcPr anchor="ctr" marL="146304" marR="146304">
                    <a:solidFill>
                      <a:srgbClr val="FFFFFF"/>
                    </a:solidFill>
                  </a:tcPr>
                </a:tc>
              </a:tr>
              <a:tr h="469569">
                <a:tc>
                  <a:txBody>
                    <a:bodyPr wrap="square"/>
                    <a:lstStyle/>
                    <a:p>
                      <a:r>
                        <a:rPr sz="1382" b="1">
                          <a:solidFill>
                            <a:srgbClr val="33475B"/>
                          </a:solidFill>
                          <a:latin typeface="Aptos"/>
                        </a:rPr>
                        <a:t>2 · Contenedores</a:t>
                      </a:r>
                    </a:p>
                  </a:txBody>
                  <a:tcPr anchor="ctr" marL="146304" marR="146304">
                    <a:solidFill>
                      <a:srgbClr val="F4F7FA"/>
                    </a:solidFill>
                  </a:tcPr>
                </a:tc>
                <a:tc>
                  <a:txBody>
                    <a:bodyPr wrap="square"/>
                    <a:lstStyle/>
                    <a:p>
                      <a:r>
                        <a:rPr sz="1382" b="0">
                          <a:solidFill>
                            <a:srgbClr val="33475B"/>
                          </a:solidFill>
                          <a:latin typeface="Aptos"/>
                        </a:rPr>
                        <a:t>Lo que se despliega y cómo se habla</a:t>
                      </a:r>
                    </a:p>
                  </a:txBody>
                  <a:tcPr anchor="ctr" marL="146304" marR="146304">
                    <a:solidFill>
                      <a:srgbClr val="F4F7FA"/>
                    </a:solidFill>
                  </a:tcPr>
                </a:tc>
                <a:tc>
                  <a:txBody>
                    <a:bodyPr wrap="square"/>
                    <a:lstStyle/>
                    <a:p>
                      <a:r>
                        <a:rPr sz="1382" b="0">
                          <a:solidFill>
                            <a:srgbClr val="33475B"/>
                          </a:solidFill>
                          <a:latin typeface="Aptos"/>
                        </a:rPr>
                        <a:t>App Ionic + Capacitor, API REST, BD</a:t>
                      </a:r>
                    </a:p>
                  </a:txBody>
                  <a:tcPr anchor="ctr" marL="146304" marR="146304">
                    <a:solidFill>
                      <a:srgbClr val="F4F7FA"/>
                    </a:solidFill>
                  </a:tcPr>
                </a:tc>
              </a:tr>
              <a:tr h="469569">
                <a:tc>
                  <a:txBody>
                    <a:bodyPr wrap="square"/>
                    <a:lstStyle/>
                    <a:p>
                      <a:r>
                        <a:rPr sz="1382" b="1">
                          <a:solidFill>
                            <a:srgbClr val="33475B"/>
                          </a:solidFill>
                          <a:latin typeface="Aptos"/>
                        </a:rPr>
                        <a:t>3 · Componentes</a:t>
                      </a:r>
                    </a:p>
                  </a:txBody>
                  <a:tcPr anchor="ctr" marL="146304" marR="146304">
                    <a:solidFill>
                      <a:srgbClr val="FFFFFF"/>
                    </a:solidFill>
                  </a:tcPr>
                </a:tc>
                <a:tc>
                  <a:txBody>
                    <a:bodyPr wrap="square"/>
                    <a:lstStyle/>
                    <a:p>
                      <a:r>
                        <a:rPr sz="1382" b="0">
                          <a:solidFill>
                            <a:srgbClr val="33475B"/>
                          </a:solidFill>
                          <a:latin typeface="Aptos"/>
                        </a:rPr>
                        <a:t>Piezas internas de un contenedor</a:t>
                      </a:r>
                    </a:p>
                  </a:txBody>
                  <a:tcPr anchor="ctr" marL="146304" marR="146304">
                    <a:solidFill>
                      <a:srgbClr val="FFFFFF"/>
                    </a:solidFill>
                  </a:tcPr>
                </a:tc>
                <a:tc>
                  <a:txBody>
                    <a:bodyPr wrap="square"/>
                    <a:lstStyle/>
                    <a:p>
                      <a:r>
                        <a:rPr sz="1382" b="0">
                          <a:solidFill>
                            <a:srgbClr val="33475B"/>
                          </a:solidFill>
                          <a:latin typeface="Aptos"/>
                        </a:rPr>
                        <a:t>Features y capas, con la regla</a:t>
                      </a:r>
                    </a:p>
                  </a:txBody>
                  <a:tcPr anchor="ctr" marL="146304" marR="146304">
                    <a:solidFill>
                      <a:srgbClr val="FFFFFF"/>
                    </a:solidFill>
                  </a:tcPr>
                </a:tc>
              </a:tr>
            </a:tbl>
          </a:graphicData>
        </a:graphic>
      </p:graphicFrame>
      <p:sp>
        <p:nvSpPr>
          <p:cNvPr id="8" name="Rounded Rectangle 7"/>
          <p:cNvSpPr/>
          <p:nvPr/>
        </p:nvSpPr>
        <p:spPr>
          <a:xfrm>
            <a:off x="566928" y="3778183"/>
            <a:ext cx="3432048" cy="114773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3778183"/>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4076594"/>
            <a:ext cx="3139440" cy="780460"/>
          </a:xfrm>
          <a:prstGeom prst="rect">
            <a:avLst/>
          </a:prstGeom>
          <a:noFill/>
        </p:spPr>
        <p:txBody>
          <a:bodyPr wrap="square" anchor="t" lIns="0" rIns="0" tIns="0" bIns="0">
            <a:spAutoFit/>
          </a:bodyPr>
          <a:lstStyle/>
          <a:p>
            <a:pPr algn="ctr"/>
            <a:r>
              <a:rPr sz="1530" b="1">
                <a:solidFill>
                  <a:srgbClr val="0E2841"/>
                </a:solidFill>
                <a:latin typeface="Aptos Display"/>
              </a:rPr>
              <a:t>Técnico de campo</a:t>
            </a:r>
          </a:p>
          <a:p>
            <a:pPr algn="ctr">
              <a:lnSpc>
                <a:spcPct val="120000"/>
              </a:lnSpc>
              <a:spcBef>
                <a:spcPts val="700"/>
              </a:spcBef>
            </a:pPr>
            <a:r>
              <a:rPr sz="1185" b="0">
                <a:solidFill>
                  <a:srgbClr val="7A8B9E"/>
                </a:solidFill>
                <a:latin typeface="Aptos"/>
              </a:rPr>
              <a:t>Persona; «registra visitas en»</a:t>
            </a:r>
          </a:p>
        </p:txBody>
      </p:sp>
      <p:sp>
        <p:nvSpPr>
          <p:cNvPr id="11" name="Chevron 10"/>
          <p:cNvSpPr/>
          <p:nvPr/>
        </p:nvSpPr>
        <p:spPr>
          <a:xfrm>
            <a:off x="4090416" y="4145458"/>
            <a:ext cx="201168" cy="413184"/>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024" y="3778183"/>
            <a:ext cx="3432048" cy="114773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3024" y="3778183"/>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9328" y="4076594"/>
            <a:ext cx="3139440" cy="780460"/>
          </a:xfrm>
          <a:prstGeom prst="rect">
            <a:avLst/>
          </a:prstGeom>
          <a:noFill/>
        </p:spPr>
        <p:txBody>
          <a:bodyPr wrap="square" anchor="t" lIns="0" rIns="0" tIns="0" bIns="0">
            <a:spAutoFit/>
          </a:bodyPr>
          <a:lstStyle/>
          <a:p>
            <a:pPr algn="ctr"/>
            <a:r>
              <a:rPr sz="1530" b="1">
                <a:solidFill>
                  <a:srgbClr val="0E2841"/>
                </a:solidFill>
                <a:latin typeface="Aptos Display"/>
              </a:rPr>
              <a:t>Bitácora de Campo</a:t>
            </a:r>
          </a:p>
          <a:p>
            <a:pPr algn="ctr">
              <a:lnSpc>
                <a:spcPct val="120000"/>
              </a:lnSpc>
              <a:spcBef>
                <a:spcPts val="700"/>
              </a:spcBef>
            </a:pPr>
            <a:r>
              <a:rPr sz="1185" b="0">
                <a:solidFill>
                  <a:srgbClr val="7A8B9E"/>
                </a:solidFill>
                <a:latin typeface="Aptos"/>
              </a:rPr>
              <a:t>El sistema; «sincroniza por HTTPS con»</a:t>
            </a:r>
          </a:p>
        </p:txBody>
      </p:sp>
      <p:sp>
        <p:nvSpPr>
          <p:cNvPr id="15" name="Chevron 14"/>
          <p:cNvSpPr/>
          <p:nvPr/>
        </p:nvSpPr>
        <p:spPr>
          <a:xfrm>
            <a:off x="7906512" y="4145458"/>
            <a:ext cx="201168" cy="413184"/>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99120" y="3778183"/>
            <a:ext cx="3432048" cy="114773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99120" y="3778183"/>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5424" y="4076594"/>
            <a:ext cx="3139440" cy="780460"/>
          </a:xfrm>
          <a:prstGeom prst="rect">
            <a:avLst/>
          </a:prstGeom>
          <a:noFill/>
        </p:spPr>
        <p:txBody>
          <a:bodyPr wrap="square" anchor="t" lIns="0" rIns="0" tIns="0" bIns="0">
            <a:spAutoFit/>
          </a:bodyPr>
          <a:lstStyle/>
          <a:p>
            <a:pPr algn="ctr"/>
            <a:r>
              <a:rPr sz="1530" b="1">
                <a:solidFill>
                  <a:srgbClr val="0E2841"/>
                </a:solidFill>
                <a:latin typeface="Aptos Display"/>
              </a:rPr>
              <a:t>API de visitas</a:t>
            </a:r>
          </a:p>
          <a:p>
            <a:pPr algn="ctr">
              <a:lnSpc>
                <a:spcPct val="120000"/>
              </a:lnSpc>
              <a:spcBef>
                <a:spcPts val="700"/>
              </a:spcBef>
            </a:pPr>
            <a:r>
              <a:rPr sz="1185" b="0">
                <a:solidFill>
                  <a:srgbClr val="7A8B9E"/>
                </a:solidFill>
                <a:latin typeface="Aptos"/>
              </a:rPr>
              <a:t>Sistema externo</a:t>
            </a:r>
          </a:p>
        </p:txBody>
      </p:sp>
      <p:sp>
        <p:nvSpPr>
          <p:cNvPr id="19" name="Rounded Rectangle 18"/>
          <p:cNvSpPr/>
          <p:nvPr/>
        </p:nvSpPr>
        <p:spPr>
          <a:xfrm>
            <a:off x="566928" y="5253057"/>
            <a:ext cx="11064240" cy="107459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5307921"/>
            <a:ext cx="63500" cy="96486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253057"/>
            <a:ext cx="10378440" cy="1074590"/>
          </a:xfrm>
          <a:prstGeom prst="rect">
            <a:avLst/>
          </a:prstGeom>
          <a:noFill/>
        </p:spPr>
        <p:txBody>
          <a:bodyPr wrap="square" anchor="ctr" lIns="0" rIns="0" tIns="0" bIns="0">
            <a:spAutoFit/>
          </a:bodyPr>
          <a:lstStyle/>
          <a:p>
            <a:pPr algn="l">
              <a:lnSpc>
                <a:spcPct val="125000"/>
              </a:lnSpc>
            </a:pPr>
            <a:r>
              <a:rPr sz="2172" b="1">
                <a:solidFill>
                  <a:srgbClr val="0E2841"/>
                </a:solidFill>
                <a:latin typeface="Aptos Display"/>
              </a:rPr>
              <a:t>En C4 cada flecha lleva un verbo («registra», «sincroniza») y, si cruza la red, el protocolo.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068" b="1">
                <a:solidFill>
                  <a:srgbClr val="156082"/>
                </a:solidFill>
                <a:latin typeface="Consolas"/>
              </a:rPr>
              <a:t>VisitasListaPage</a:t>
            </a:r>
            <a:r>
              <a:rPr sz="2200" b="1">
                <a:solidFill>
                  <a:srgbClr val="0E2841"/>
                </a:solidFill>
                <a:latin typeface="Aptos Display"/>
              </a:rPr>
              <a:t> inyecta </a:t>
            </a:r>
            <a:r>
              <a:rPr sz="2068" b="1">
                <a:solidFill>
                  <a:srgbClr val="156082"/>
                </a:solidFill>
                <a:latin typeface="Consolas"/>
              </a:rPr>
              <a:t>HttpClient</a:t>
            </a:r>
            <a:r>
              <a:rPr sz="2200" b="1">
                <a:solidFill>
                  <a:srgbClr val="0E2841"/>
                </a:solidFill>
                <a:latin typeface="Aptos Display"/>
              </a:rPr>
              <a:t> y muestra </a:t>
            </a:r>
            <a:r>
              <a:rPr sz="2068" b="1">
                <a:solidFill>
                  <a:srgbClr val="156082"/>
                </a:solidFill>
                <a:latin typeface="Consolas"/>
              </a:rPr>
              <a:t>cliente_nombre</a:t>
            </a:r>
            <a:r>
              <a:rPr sz="2200" b="1">
                <a:solidFill>
                  <a:srgbClr val="0E2841"/>
                </a:solidFill>
                <a:latin typeface="Aptos Display"/>
              </a:rPr>
              <a:t> directamente del JSON. ¿Qué regla de capas rompe?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presentación depende de data y el DTO del backend llega a la vista</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dominio queda dependiendo de Angular porque la página usa inyección</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feature de visitas importa directamente de la feature de auth</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página usa signals en lugar de exponer un observable de RxJS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¿Por qué el contrato </a:t>
            </a:r>
            <a:r>
              <a:rPr sz="2068" b="1">
                <a:solidFill>
                  <a:srgbClr val="156082"/>
                </a:solidFill>
                <a:latin typeface="Consolas"/>
              </a:rPr>
              <a:t>VisitasRepository</a:t>
            </a:r>
            <a:r>
              <a:rPr sz="2200" b="1">
                <a:solidFill>
                  <a:srgbClr val="0E2841"/>
                </a:solidFill>
                <a:latin typeface="Aptos Display"/>
              </a:rPr>
              <a:t> se declara como clase abstracta y no como </a:t>
            </a:r>
            <a:r>
              <a:rPr sz="2068" b="1">
                <a:solidFill>
                  <a:srgbClr val="156082"/>
                </a:solidFill>
                <a:latin typeface="Consolas"/>
              </a:rPr>
              <a:t>interface</a:t>
            </a:r>
            <a:r>
              <a:rPr sz="2200" b="1">
                <a:solidFill>
                  <a:srgbClr val="0E2841"/>
                </a:solidFill>
                <a:latin typeface="Aptos Display"/>
              </a:rPr>
              <a:t>?</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Las clases abstractas se ejecutan más rápido que las interfaces en Angular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dominio necesita heredar el decorador </a:t>
            </a:r>
            <a:r>
              <a:rPr sz="1974" b="0">
                <a:solidFill>
                  <a:srgbClr val="156082"/>
                </a:solidFill>
                <a:latin typeface="Consolas"/>
              </a:rPr>
              <a:t>@Injectable</a:t>
            </a:r>
            <a:r>
              <a:rPr sz="2100" b="0">
                <a:solidFill>
                  <a:srgbClr val="0E2841"/>
                </a:solidFill>
                <a:latin typeface="Aptos"/>
              </a:rPr>
              <a:t> de Angular</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Las interfaces se borran al compilar y no sirven como token de DI</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TypeScript no permite que un servicio implemente una interfaz</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El framework se elige con un ADR</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Angular, React o Vue: una matriz que muestra los pesos y un registro que los defiende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Angular, React o Vue: tres apuestas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2766060"/>
                <a:gridCol w="2766060"/>
                <a:gridCol w="2766060"/>
                <a:gridCol w="2766060"/>
              </a:tblGrid>
              <a:tr h="546811">
                <a:tc>
                  <a:txBody>
                    <a:bodyPr wrap="square"/>
                    <a:lstStyle/>
                    <a:p>
                      <a:r>
                        <a:rPr sz="1590" b="1">
                          <a:solidFill>
                            <a:srgbClr val="FFFFFF"/>
                          </a:solidFill>
                          <a:latin typeface="Aptos"/>
                        </a:rPr>
                        <a:t>Criterio</a:t>
                      </a:r>
                    </a:p>
                  </a:txBody>
                  <a:tcPr anchor="ctr" marL="146304" marR="146304">
                    <a:solidFill>
                      <a:srgbClr val="156082"/>
                    </a:solidFill>
                  </a:tcPr>
                </a:tc>
                <a:tc>
                  <a:txBody>
                    <a:bodyPr wrap="square"/>
                    <a:lstStyle/>
                    <a:p>
                      <a:r>
                        <a:rPr sz="1590" b="1">
                          <a:solidFill>
                            <a:srgbClr val="FFFFFF"/>
                          </a:solidFill>
                          <a:latin typeface="Aptos"/>
                        </a:rPr>
                        <a:t>Angular</a:t>
                      </a:r>
                    </a:p>
                  </a:txBody>
                  <a:tcPr anchor="ctr" marL="146304" marR="146304">
                    <a:solidFill>
                      <a:srgbClr val="156082"/>
                    </a:solidFill>
                  </a:tcPr>
                </a:tc>
                <a:tc>
                  <a:txBody>
                    <a:bodyPr wrap="square"/>
                    <a:lstStyle/>
                    <a:p>
                      <a:r>
                        <a:rPr sz="1590" b="1">
                          <a:solidFill>
                            <a:srgbClr val="FFFFFF"/>
                          </a:solidFill>
                          <a:latin typeface="Aptos"/>
                        </a:rPr>
                        <a:t>React</a:t>
                      </a:r>
                    </a:p>
                  </a:txBody>
                  <a:tcPr anchor="ctr" marL="146304" marR="146304">
                    <a:solidFill>
                      <a:srgbClr val="156082"/>
                    </a:solidFill>
                  </a:tcPr>
                </a:tc>
                <a:tc>
                  <a:txBody>
                    <a:bodyPr wrap="square"/>
                    <a:lstStyle/>
                    <a:p>
                      <a:r>
                        <a:rPr sz="1590" b="1">
                          <a:solidFill>
                            <a:srgbClr val="FFFFFF"/>
                          </a:solidFill>
                          <a:latin typeface="Aptos"/>
                        </a:rPr>
                        <a:t>Vue</a:t>
                      </a:r>
                    </a:p>
                  </a:txBody>
                  <a:tcPr anchor="ctr" marL="146304" marR="146304">
                    <a:solidFill>
                      <a:srgbClr val="156082"/>
                    </a:solidFill>
                  </a:tcPr>
                </a:tc>
              </a:tr>
              <a:tr h="546811">
                <a:tc>
                  <a:txBody>
                    <a:bodyPr wrap="square"/>
                    <a:lstStyle/>
                    <a:p>
                      <a:r>
                        <a:rPr sz="1484" b="1">
                          <a:solidFill>
                            <a:srgbClr val="33475B"/>
                          </a:solidFill>
                          <a:latin typeface="Aptos"/>
                        </a:rPr>
                        <a:t>Qué es</a:t>
                      </a:r>
                    </a:p>
                  </a:txBody>
                  <a:tcPr anchor="ctr" marL="146304" marR="146304">
                    <a:solidFill>
                      <a:srgbClr val="FFFFFF"/>
                    </a:solidFill>
                  </a:tcPr>
                </a:tc>
                <a:tc>
                  <a:txBody>
                    <a:bodyPr wrap="square"/>
                    <a:lstStyle/>
                    <a:p>
                      <a:r>
                        <a:rPr sz="1484" b="0">
                          <a:solidFill>
                            <a:srgbClr val="33475B"/>
                          </a:solidFill>
                          <a:latin typeface="Aptos"/>
                        </a:rPr>
                        <a:t>Framework completo y opinado</a:t>
                      </a:r>
                    </a:p>
                  </a:txBody>
                  <a:tcPr anchor="ctr" marL="146304" marR="146304">
                    <a:solidFill>
                      <a:srgbClr val="FFFFFF"/>
                    </a:solidFill>
                  </a:tcPr>
                </a:tc>
                <a:tc>
                  <a:txBody>
                    <a:bodyPr wrap="square"/>
                    <a:lstStyle/>
                    <a:p>
                      <a:r>
                        <a:rPr sz="1484" b="0">
                          <a:solidFill>
                            <a:srgbClr val="33475B"/>
                          </a:solidFill>
                          <a:latin typeface="Aptos"/>
                        </a:rPr>
                        <a:t>Librería de UI; el resto se elige</a:t>
                      </a:r>
                    </a:p>
                  </a:txBody>
                  <a:tcPr anchor="ctr" marL="146304" marR="146304">
                    <a:solidFill>
                      <a:srgbClr val="FFFFFF"/>
                    </a:solidFill>
                  </a:tcPr>
                </a:tc>
                <a:tc>
                  <a:txBody>
                    <a:bodyPr wrap="square"/>
                    <a:lstStyle/>
                    <a:p>
                      <a:r>
                        <a:rPr sz="1484" b="0">
                          <a:solidFill>
                            <a:srgbClr val="33475B"/>
                          </a:solidFill>
                          <a:latin typeface="Aptos"/>
                        </a:rPr>
                        <a:t>Framework progresivo</a:t>
                      </a:r>
                    </a:p>
                  </a:txBody>
                  <a:tcPr anchor="ctr" marL="146304" marR="146304">
                    <a:solidFill>
                      <a:srgbClr val="FFFFFF"/>
                    </a:solidFill>
                  </a:tcPr>
                </a:tc>
              </a:tr>
              <a:tr h="546811">
                <a:tc>
                  <a:txBody>
                    <a:bodyPr wrap="square"/>
                    <a:lstStyle/>
                    <a:p>
                      <a:r>
                        <a:rPr sz="1484" b="1">
                          <a:solidFill>
                            <a:srgbClr val="33475B"/>
                          </a:solidFill>
                          <a:latin typeface="Aptos"/>
                        </a:rPr>
                        <a:t>Inyección de dependencias</a:t>
                      </a:r>
                    </a:p>
                  </a:txBody>
                  <a:tcPr anchor="ctr" marL="146304" marR="146304">
                    <a:solidFill>
                      <a:srgbClr val="F4F7FA"/>
                    </a:solidFill>
                  </a:tcPr>
                </a:tc>
                <a:tc>
                  <a:txBody>
                    <a:bodyPr wrap="square"/>
                    <a:lstStyle/>
                    <a:p>
                      <a:r>
                        <a:rPr sz="1484" b="0">
                          <a:solidFill>
                            <a:srgbClr val="33475B"/>
                          </a:solidFill>
                          <a:latin typeface="Aptos"/>
                        </a:rPr>
                        <a:t>Nativa: </a:t>
                      </a:r>
                      <a:r>
                        <a:rPr sz="1394" b="0">
                          <a:solidFill>
                            <a:srgbClr val="156082"/>
                          </a:solidFill>
                          <a:latin typeface="Consolas"/>
                        </a:rPr>
                        <a:t>inject()</a:t>
                      </a:r>
                      <a:r>
                        <a:rPr sz="1484" b="0">
                          <a:solidFill>
                            <a:srgbClr val="33475B"/>
                          </a:solidFill>
                          <a:latin typeface="Aptos"/>
                        </a:rPr>
                        <a:t> y providers</a:t>
                      </a:r>
                    </a:p>
                  </a:txBody>
                  <a:tcPr anchor="ctr" marL="146304" marR="146304">
                    <a:solidFill>
                      <a:srgbClr val="F4F7FA"/>
                    </a:solidFill>
                  </a:tcPr>
                </a:tc>
                <a:tc>
                  <a:txBody>
                    <a:bodyPr wrap="square"/>
                    <a:lstStyle/>
                    <a:p>
                      <a:r>
                        <a:rPr sz="1484" b="0">
                          <a:solidFill>
                            <a:srgbClr val="33475B"/>
                          </a:solidFill>
                          <a:latin typeface="Aptos"/>
                        </a:rPr>
                        <a:t>No incluida: Context o librerías</a:t>
                      </a:r>
                    </a:p>
                  </a:txBody>
                  <a:tcPr anchor="ctr" marL="146304" marR="146304">
                    <a:solidFill>
                      <a:srgbClr val="F4F7FA"/>
                    </a:solidFill>
                  </a:tcPr>
                </a:tc>
                <a:tc>
                  <a:txBody>
                    <a:bodyPr wrap="square"/>
                    <a:lstStyle/>
                    <a:p>
                      <a:r>
                        <a:rPr sz="1394" b="0">
                          <a:solidFill>
                            <a:srgbClr val="156082"/>
                          </a:solidFill>
                          <a:latin typeface="Consolas"/>
                        </a:rPr>
                        <a:t>provide</a:t>
                      </a:r>
                      <a:r>
                        <a:rPr sz="1484" b="0">
                          <a:solidFill>
                            <a:srgbClr val="33475B"/>
                          </a:solidFill>
                          <a:latin typeface="Aptos"/>
                        </a:rPr>
                        <a:t> / </a:t>
                      </a:r>
                      <a:r>
                        <a:rPr sz="1394" b="0">
                          <a:solidFill>
                            <a:srgbClr val="156082"/>
                          </a:solidFill>
                          <a:latin typeface="Consolas"/>
                        </a:rPr>
                        <a:t>inject</a:t>
                      </a:r>
                      <a:r>
                        <a:rPr sz="1484" b="0">
                          <a:solidFill>
                            <a:srgbClr val="33475B"/>
                          </a:solidFill>
                          <a:latin typeface="Aptos"/>
                        </a:rPr>
                        <a:t> básico</a:t>
                      </a:r>
                    </a:p>
                  </a:txBody>
                  <a:tcPr anchor="ctr" marL="146304" marR="146304">
                    <a:solidFill>
                      <a:srgbClr val="F4F7FA"/>
                    </a:solidFill>
                  </a:tcPr>
                </a:tc>
              </a:tr>
              <a:tr h="546811">
                <a:tc>
                  <a:txBody>
                    <a:bodyPr wrap="square"/>
                    <a:lstStyle/>
                    <a:p>
                      <a:r>
                        <a:rPr sz="1484" b="1">
                          <a:solidFill>
                            <a:srgbClr val="33475B"/>
                          </a:solidFill>
                          <a:latin typeface="Aptos"/>
                        </a:rPr>
                        <a:t>Estado reactivo</a:t>
                      </a:r>
                    </a:p>
                  </a:txBody>
                  <a:tcPr anchor="ctr" marL="146304" marR="146304">
                    <a:solidFill>
                      <a:srgbClr val="FFFFFF"/>
                    </a:solidFill>
                  </a:tcPr>
                </a:tc>
                <a:tc>
                  <a:txBody>
                    <a:bodyPr wrap="square"/>
                    <a:lstStyle/>
                    <a:p>
                      <a:r>
                        <a:rPr sz="1484" b="0">
                          <a:solidFill>
                            <a:srgbClr val="33475B"/>
                          </a:solidFill>
                          <a:latin typeface="Aptos"/>
                        </a:rPr>
                        <a:t>Signals y RxJS</a:t>
                      </a:r>
                    </a:p>
                  </a:txBody>
                  <a:tcPr anchor="ctr" marL="146304" marR="146304">
                    <a:solidFill>
                      <a:srgbClr val="FFFFFF"/>
                    </a:solidFill>
                  </a:tcPr>
                </a:tc>
                <a:tc>
                  <a:txBody>
                    <a:bodyPr wrap="square"/>
                    <a:lstStyle/>
                    <a:p>
                      <a:r>
                        <a:rPr sz="1484" b="0">
                          <a:solidFill>
                            <a:srgbClr val="33475B"/>
                          </a:solidFill>
                          <a:latin typeface="Aptos"/>
                        </a:rPr>
                        <a:t>Hooks; Zustand o Redux</a:t>
                      </a:r>
                    </a:p>
                  </a:txBody>
                  <a:tcPr anchor="ctr" marL="146304" marR="146304">
                    <a:solidFill>
                      <a:srgbClr val="FFFFFF"/>
                    </a:solidFill>
                  </a:tcPr>
                </a:tc>
                <a:tc>
                  <a:txBody>
                    <a:bodyPr wrap="square"/>
                    <a:lstStyle/>
                    <a:p>
                      <a:r>
                        <a:rPr sz="1484" b="0">
                          <a:solidFill>
                            <a:srgbClr val="33475B"/>
                          </a:solidFill>
                          <a:latin typeface="Aptos"/>
                        </a:rPr>
                        <a:t>Refs reactivas; Pinia</a:t>
                      </a:r>
                    </a:p>
                  </a:txBody>
                  <a:tcPr anchor="ctr" marL="146304" marR="146304">
                    <a:solidFill>
                      <a:srgbClr val="FFFFFF"/>
                    </a:solidFill>
                  </a:tcPr>
                </a:tc>
              </a:tr>
              <a:tr h="546811">
                <a:tc>
                  <a:txBody>
                    <a:bodyPr wrap="square"/>
                    <a:lstStyle/>
                    <a:p>
                      <a:r>
                        <a:rPr sz="1484" b="1">
                          <a:solidFill>
                            <a:srgbClr val="33475B"/>
                          </a:solidFill>
                          <a:latin typeface="Aptos"/>
                        </a:rPr>
                        <a:t>Rutas, formularios y HTTP</a:t>
                      </a:r>
                    </a:p>
                  </a:txBody>
                  <a:tcPr anchor="ctr" marL="146304" marR="146304">
                    <a:solidFill>
                      <a:srgbClr val="F4F7FA"/>
                    </a:solidFill>
                  </a:tcPr>
                </a:tc>
                <a:tc>
                  <a:txBody>
                    <a:bodyPr wrap="square"/>
                    <a:lstStyle/>
                    <a:p>
                      <a:r>
                        <a:rPr sz="1484" b="0">
                          <a:solidFill>
                            <a:srgbClr val="33475B"/>
                          </a:solidFill>
                          <a:latin typeface="Aptos"/>
                        </a:rPr>
                        <a:t>Incluidos: guards, Reactive Forms, </a:t>
                      </a:r>
                      <a:r>
                        <a:rPr sz="1394" b="0">
                          <a:solidFill>
                            <a:srgbClr val="156082"/>
                          </a:solidFill>
                          <a:latin typeface="Consolas"/>
                        </a:rPr>
                        <a:t>HttpClient</a:t>
                      </a:r>
                    </a:p>
                  </a:txBody>
                  <a:tcPr anchor="ctr" marL="146304" marR="146304">
                    <a:solidFill>
                      <a:srgbClr val="F4F7FA"/>
                    </a:solidFill>
                  </a:tcPr>
                </a:tc>
                <a:tc>
                  <a:txBody>
                    <a:bodyPr wrap="square"/>
                    <a:lstStyle/>
                    <a:p>
                      <a:r>
                        <a:rPr sz="1484" b="0">
                          <a:solidFill>
                            <a:srgbClr val="33475B"/>
                          </a:solidFill>
                          <a:latin typeface="Aptos"/>
                        </a:rPr>
                        <a:t>React Router, React Hook Form, fetch o axios</a:t>
                      </a:r>
                    </a:p>
                  </a:txBody>
                  <a:tcPr anchor="ctr" marL="146304" marR="146304">
                    <a:solidFill>
                      <a:srgbClr val="F4F7FA"/>
                    </a:solidFill>
                  </a:tcPr>
                </a:tc>
                <a:tc>
                  <a:txBody>
                    <a:bodyPr wrap="square"/>
                    <a:lstStyle/>
                    <a:p>
                      <a:r>
                        <a:rPr sz="1484" b="0">
                          <a:solidFill>
                            <a:srgbClr val="33475B"/>
                          </a:solidFill>
                          <a:latin typeface="Aptos"/>
                        </a:rPr>
                        <a:t>Vue Router, </a:t>
                      </a:r>
                      <a:r>
                        <a:rPr sz="1394" b="0">
                          <a:solidFill>
                            <a:srgbClr val="156082"/>
                          </a:solidFill>
                          <a:latin typeface="Consolas"/>
                        </a:rPr>
                        <a:t>v-model</a:t>
                      </a:r>
                      <a:r>
                        <a:rPr sz="1484" b="0">
                          <a:solidFill>
                            <a:srgbClr val="33475B"/>
                          </a:solidFill>
                          <a:latin typeface="Aptos"/>
                        </a:rPr>
                        <a:t>, fetch o axios</a:t>
                      </a:r>
                    </a:p>
                  </a:txBody>
                  <a:tcPr anchor="ctr" marL="146304" marR="146304">
                    <a:solidFill>
                      <a:srgbClr val="F4F7FA"/>
                    </a:solidFill>
                  </a:tcPr>
                </a:tc>
              </a:tr>
              <a:tr h="546811">
                <a:tc>
                  <a:txBody>
                    <a:bodyPr wrap="square"/>
                    <a:lstStyle/>
                    <a:p>
                      <a:r>
                        <a:rPr sz="1484" b="1">
                          <a:solidFill>
                            <a:srgbClr val="33475B"/>
                          </a:solidFill>
                          <a:latin typeface="Aptos"/>
                        </a:rPr>
                        <a:t>Integración con Ionic</a:t>
                      </a:r>
                    </a:p>
                  </a:txBody>
                  <a:tcPr anchor="ctr" marL="146304" marR="146304">
                    <a:solidFill>
                      <a:srgbClr val="FFFFFF"/>
                    </a:solidFill>
                  </a:tcPr>
                </a:tc>
                <a:tc>
                  <a:txBody>
                    <a:bodyPr wrap="square"/>
                    <a:lstStyle/>
                    <a:p>
                      <a:r>
                        <a:rPr sz="1394" b="0">
                          <a:solidFill>
                            <a:srgbClr val="156082"/>
                          </a:solidFill>
                          <a:latin typeface="Consolas"/>
                        </a:rPr>
                        <a:t>@ionic/angular</a:t>
                      </a:r>
                    </a:p>
                  </a:txBody>
                  <a:tcPr anchor="ctr" marL="146304" marR="146304">
                    <a:solidFill>
                      <a:srgbClr val="FFFFFF"/>
                    </a:solidFill>
                  </a:tcPr>
                </a:tc>
                <a:tc>
                  <a:txBody>
                    <a:bodyPr wrap="square"/>
                    <a:lstStyle/>
                    <a:p>
                      <a:r>
                        <a:rPr sz="1394" b="0">
                          <a:solidFill>
                            <a:srgbClr val="156082"/>
                          </a:solidFill>
                          <a:latin typeface="Consolas"/>
                        </a:rPr>
                        <a:t>@ionic/react</a:t>
                      </a:r>
                    </a:p>
                  </a:txBody>
                  <a:tcPr anchor="ctr" marL="146304" marR="146304">
                    <a:solidFill>
                      <a:srgbClr val="FFFFFF"/>
                    </a:solidFill>
                  </a:tcPr>
                </a:tc>
                <a:tc>
                  <a:txBody>
                    <a:bodyPr wrap="square"/>
                    <a:lstStyle/>
                    <a:p>
                      <a:r>
                        <a:rPr sz="1394" b="0">
                          <a:solidFill>
                            <a:srgbClr val="156082"/>
                          </a:solidFill>
                          <a:latin typeface="Consolas"/>
                        </a:rPr>
                        <a:t>@ionic/vue</a:t>
                      </a:r>
                    </a:p>
                  </a:txBody>
                  <a:tcPr anchor="ctr" marL="146304" marR="146304">
                    <a:solidFill>
                      <a:srgbClr val="FFFFFF"/>
                    </a:solidFill>
                  </a:tcPr>
                </a:tc>
              </a:tr>
              <a:tr h="546811">
                <a:tc>
                  <a:txBody>
                    <a:bodyPr wrap="square"/>
                    <a:lstStyle/>
                    <a:p>
                      <a:r>
                        <a:rPr sz="1484" b="1">
                          <a:solidFill>
                            <a:srgbClr val="33475B"/>
                          </a:solidFill>
                          <a:latin typeface="Aptos"/>
                        </a:rPr>
                        <a:t>Ideal, según el material</a:t>
                      </a:r>
                    </a:p>
                  </a:txBody>
                  <a:tcPr anchor="ctr" marL="146304" marR="146304">
                    <a:solidFill>
                      <a:srgbClr val="F4F7FA"/>
                    </a:solidFill>
                  </a:tcPr>
                </a:tc>
                <a:tc>
                  <a:txBody>
                    <a:bodyPr wrap="square"/>
                    <a:lstStyle/>
                    <a:p>
                      <a:r>
                        <a:rPr sz="1484" b="0">
                          <a:solidFill>
                            <a:srgbClr val="33475B"/>
                          </a:solidFill>
                          <a:latin typeface="Aptos"/>
                        </a:rPr>
                        <a:t>Proyectos grandes y organizados</a:t>
                      </a:r>
                    </a:p>
                  </a:txBody>
                  <a:tcPr anchor="ctr" marL="146304" marR="146304">
                    <a:solidFill>
                      <a:srgbClr val="F4F7FA"/>
                    </a:solidFill>
                  </a:tcPr>
                </a:tc>
                <a:tc>
                  <a:txBody>
                    <a:bodyPr wrap="square"/>
                    <a:lstStyle/>
                    <a:p>
                      <a:r>
                        <a:rPr sz="1484" b="0">
                          <a:solidFill>
                            <a:srgbClr val="33475B"/>
                          </a:solidFill>
                          <a:latin typeface="Aptos"/>
                        </a:rPr>
                        <a:t>Control fino del estado; muy usado</a:t>
                      </a:r>
                    </a:p>
                  </a:txBody>
                  <a:tcPr anchor="ctr" marL="146304" marR="146304">
                    <a:solidFill>
                      <a:srgbClr val="F4F7FA"/>
                    </a:solidFill>
                  </a:tcPr>
                </a:tc>
                <a:tc>
                  <a:txBody>
                    <a:bodyPr wrap="square"/>
                    <a:lstStyle/>
                    <a:p>
                      <a:r>
                        <a:rPr sz="1484" b="0">
                          <a:solidFill>
                            <a:srgbClr val="33475B"/>
                          </a:solidFill>
                          <a:latin typeface="Aptos"/>
                        </a:rPr>
                        <a:t>Curva de aprendizaje amable</a:t>
                      </a:r>
                    </a:p>
                  </a:txBody>
                  <a:tcPr anchor="ctr" marL="146304" marR="146304">
                    <a:solidFill>
                      <a:srgbClr val="F4F7FA"/>
                    </a:solidFill>
                  </a:tcPr>
                </a:tc>
              </a:tr>
              <a:tr h="546811">
                <a:tc>
                  <a:txBody>
                    <a:bodyPr wrap="square"/>
                    <a:lstStyle/>
                    <a:p>
                      <a:r>
                        <a:rPr sz="1484" b="1">
                          <a:solidFill>
                            <a:srgbClr val="33475B"/>
                          </a:solidFill>
                          <a:latin typeface="Aptos"/>
                        </a:rPr>
                        <a:t>Riesgo arquitectónico</a:t>
                      </a:r>
                    </a:p>
                  </a:txBody>
                  <a:tcPr anchor="ctr" marL="146304" marR="146304">
                    <a:solidFill>
                      <a:srgbClr val="FFFFFF"/>
                    </a:solidFill>
                  </a:tcPr>
                </a:tc>
                <a:tc>
                  <a:txBody>
                    <a:bodyPr wrap="square"/>
                    <a:lstStyle/>
                    <a:p>
                      <a:r>
                        <a:rPr sz="1484" b="0">
                          <a:solidFill>
                            <a:srgbClr val="33475B"/>
                          </a:solidFill>
                          <a:latin typeface="Aptos"/>
                        </a:rPr>
                        <a:t>Curva y ceremonia</a:t>
                      </a:r>
                    </a:p>
                  </a:txBody>
                  <a:tcPr anchor="ctr" marL="146304" marR="146304">
                    <a:solidFill>
                      <a:srgbClr val="FFFFFF"/>
                    </a:solidFill>
                  </a:tcPr>
                </a:tc>
                <a:tc>
                  <a:txBody>
                    <a:bodyPr wrap="square"/>
                    <a:lstStyle/>
                    <a:p>
                      <a:r>
                        <a:rPr sz="1484" b="0">
                          <a:solidFill>
                            <a:srgbClr val="33475B"/>
                          </a:solidFill>
                          <a:latin typeface="Aptos"/>
                        </a:rPr>
                        <a:t>Inconsistencia si no se fija por ADR</a:t>
                      </a:r>
                    </a:p>
                  </a:txBody>
                  <a:tcPr anchor="ctr" marL="146304" marR="146304">
                    <a:solidFill>
                      <a:srgbClr val="FFFFFF"/>
                    </a:solidFill>
                  </a:tcPr>
                </a:tc>
                <a:tc>
                  <a:txBody>
                    <a:bodyPr wrap="square"/>
                    <a:lstStyle/>
                    <a:p>
                      <a:r>
                        <a:rPr sz="1484" b="0">
                          <a:solidFill>
                            <a:srgbClr val="33475B"/>
                          </a:solidFill>
                          <a:latin typeface="Aptos"/>
                        </a:rPr>
                        <a:t>Ecosistema empresarial menor</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matriz hace visibles los pesos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2212848"/>
                <a:gridCol w="2212848"/>
                <a:gridCol w="2212848"/>
                <a:gridCol w="2212848"/>
                <a:gridCol w="2212848"/>
              </a:tblGrid>
              <a:tr h="488550">
                <a:tc>
                  <a:txBody>
                    <a:bodyPr wrap="square"/>
                    <a:lstStyle/>
                    <a:p>
                      <a:r>
                        <a:rPr sz="1513" b="1">
                          <a:solidFill>
                            <a:srgbClr val="FFFFFF"/>
                          </a:solidFill>
                          <a:latin typeface="Aptos"/>
                        </a:rPr>
                        <a:t>Criterio</a:t>
                      </a:r>
                    </a:p>
                  </a:txBody>
                  <a:tcPr anchor="ctr" marL="146304" marR="146304">
                    <a:solidFill>
                      <a:srgbClr val="156082"/>
                    </a:solidFill>
                  </a:tcPr>
                </a:tc>
                <a:tc>
                  <a:txBody>
                    <a:bodyPr wrap="square"/>
                    <a:lstStyle/>
                    <a:p>
                      <a:r>
                        <a:rPr sz="1513" b="1">
                          <a:solidFill>
                            <a:srgbClr val="FFFFFF"/>
                          </a:solidFill>
                          <a:latin typeface="Aptos"/>
                        </a:rPr>
                        <a:t>Peso</a:t>
                      </a:r>
                    </a:p>
                  </a:txBody>
                  <a:tcPr anchor="ctr" marL="146304" marR="146304">
                    <a:solidFill>
                      <a:srgbClr val="156082"/>
                    </a:solidFill>
                  </a:tcPr>
                </a:tc>
                <a:tc>
                  <a:txBody>
                    <a:bodyPr wrap="square"/>
                    <a:lstStyle/>
                    <a:p>
                      <a:r>
                        <a:rPr sz="1513" b="1">
                          <a:solidFill>
                            <a:srgbClr val="FFFFFF"/>
                          </a:solidFill>
                          <a:latin typeface="Aptos"/>
                        </a:rPr>
                        <a:t>Angular</a:t>
                      </a:r>
                    </a:p>
                  </a:txBody>
                  <a:tcPr anchor="ctr" marL="146304" marR="146304">
                    <a:solidFill>
                      <a:srgbClr val="156082"/>
                    </a:solidFill>
                  </a:tcPr>
                </a:tc>
                <a:tc>
                  <a:txBody>
                    <a:bodyPr wrap="square"/>
                    <a:lstStyle/>
                    <a:p>
                      <a:r>
                        <a:rPr sz="1513" b="1">
                          <a:solidFill>
                            <a:srgbClr val="FFFFFF"/>
                          </a:solidFill>
                          <a:latin typeface="Aptos"/>
                        </a:rPr>
                        <a:t>React</a:t>
                      </a:r>
                    </a:p>
                  </a:txBody>
                  <a:tcPr anchor="ctr" marL="146304" marR="146304">
                    <a:solidFill>
                      <a:srgbClr val="156082"/>
                    </a:solidFill>
                  </a:tcPr>
                </a:tc>
                <a:tc>
                  <a:txBody>
                    <a:bodyPr wrap="square"/>
                    <a:lstStyle/>
                    <a:p>
                      <a:r>
                        <a:rPr sz="1513" b="1">
                          <a:solidFill>
                            <a:srgbClr val="FFFFFF"/>
                          </a:solidFill>
                          <a:latin typeface="Aptos"/>
                        </a:rPr>
                        <a:t>Vue</a:t>
                      </a:r>
                    </a:p>
                  </a:txBody>
                  <a:tcPr anchor="ctr" marL="146304" marR="146304">
                    <a:solidFill>
                      <a:srgbClr val="156082"/>
                    </a:solidFill>
                  </a:tcPr>
                </a:tc>
              </a:tr>
              <a:tr h="488550">
                <a:tc>
                  <a:txBody>
                    <a:bodyPr wrap="square"/>
                    <a:lstStyle/>
                    <a:p>
                      <a:r>
                        <a:rPr sz="1413" b="1">
                          <a:solidFill>
                            <a:srgbClr val="33475B"/>
                          </a:solidFill>
                          <a:latin typeface="Aptos"/>
                        </a:rPr>
                        <a:t>Estructura incluida</a:t>
                      </a:r>
                    </a:p>
                  </a:txBody>
                  <a:tcPr anchor="ctr" marL="146304" marR="146304">
                    <a:solidFill>
                      <a:srgbClr val="FFFFFF"/>
                    </a:solidFill>
                  </a:tcPr>
                </a:tc>
                <a:tc>
                  <a:txBody>
                    <a:bodyPr wrap="square"/>
                    <a:lstStyle/>
                    <a:p>
                      <a:r>
                        <a:rPr sz="1413" b="0">
                          <a:solidFill>
                            <a:srgbClr val="33475B"/>
                          </a:solidFill>
                          <a:latin typeface="Aptos"/>
                        </a:rPr>
                        <a:t>3</a:t>
                      </a:r>
                    </a:p>
                  </a:txBody>
                  <a:tcPr anchor="ctr" marL="146304" marR="146304">
                    <a:solidFill>
                      <a:srgbClr val="FFFFFF"/>
                    </a:solidFill>
                  </a:tcPr>
                </a:tc>
                <a:tc>
                  <a:txBody>
                    <a:bodyPr wrap="square"/>
                    <a:lstStyle/>
                    <a:p>
                      <a:r>
                        <a:rPr sz="1413" b="0">
                          <a:solidFill>
                            <a:srgbClr val="33475B"/>
                          </a:solidFill>
                          <a:latin typeface="Aptos"/>
                        </a:rPr>
                        <a:t>5 → 15</a:t>
                      </a:r>
                    </a:p>
                  </a:txBody>
                  <a:tcPr anchor="ctr" marL="146304" marR="146304">
                    <a:solidFill>
                      <a:srgbClr val="FFFFFF"/>
                    </a:solidFill>
                  </a:tcPr>
                </a:tc>
                <a:tc>
                  <a:txBody>
                    <a:bodyPr wrap="square"/>
                    <a:lstStyle/>
                    <a:p>
                      <a:r>
                        <a:rPr sz="1413" b="0">
                          <a:solidFill>
                            <a:srgbClr val="33475B"/>
                          </a:solidFill>
                          <a:latin typeface="Aptos"/>
                        </a:rPr>
                        <a:t>2 → 6</a:t>
                      </a:r>
                    </a:p>
                  </a:txBody>
                  <a:tcPr anchor="ctr" marL="146304" marR="146304">
                    <a:solidFill>
                      <a:srgbClr val="FFFFFF"/>
                    </a:solidFill>
                  </a:tcPr>
                </a:tc>
                <a:tc>
                  <a:txBody>
                    <a:bodyPr wrap="square"/>
                    <a:lstStyle/>
                    <a:p>
                      <a:r>
                        <a:rPr sz="1413" b="0">
                          <a:solidFill>
                            <a:srgbClr val="33475B"/>
                          </a:solidFill>
                          <a:latin typeface="Aptos"/>
                        </a:rPr>
                        <a:t>4 → 12</a:t>
                      </a:r>
                    </a:p>
                  </a:txBody>
                  <a:tcPr anchor="ctr" marL="146304" marR="146304">
                    <a:solidFill>
                      <a:srgbClr val="FFFFFF"/>
                    </a:solidFill>
                  </a:tcPr>
                </a:tc>
              </a:tr>
              <a:tr h="488550">
                <a:tc>
                  <a:txBody>
                    <a:bodyPr wrap="square"/>
                    <a:lstStyle/>
                    <a:p>
                      <a:r>
                        <a:rPr sz="1413" b="1">
                          <a:solidFill>
                            <a:srgbClr val="33475B"/>
                          </a:solidFill>
                          <a:latin typeface="Aptos"/>
                        </a:rPr>
                        <a:t>DI nativa para fakes</a:t>
                      </a:r>
                    </a:p>
                  </a:txBody>
                  <a:tcPr anchor="ctr" marL="146304" marR="146304">
                    <a:solidFill>
                      <a:srgbClr val="F4F7FA"/>
                    </a:solidFill>
                  </a:tcPr>
                </a:tc>
                <a:tc>
                  <a:txBody>
                    <a:bodyPr wrap="square"/>
                    <a:lstStyle/>
                    <a:p>
                      <a:r>
                        <a:rPr sz="1413" b="0">
                          <a:solidFill>
                            <a:srgbClr val="33475B"/>
                          </a:solidFill>
                          <a:latin typeface="Aptos"/>
                        </a:rPr>
                        <a:t>3</a:t>
                      </a:r>
                    </a:p>
                  </a:txBody>
                  <a:tcPr anchor="ctr" marL="146304" marR="146304">
                    <a:solidFill>
                      <a:srgbClr val="F4F7FA"/>
                    </a:solidFill>
                  </a:tcPr>
                </a:tc>
                <a:tc>
                  <a:txBody>
                    <a:bodyPr wrap="square"/>
                    <a:lstStyle/>
                    <a:p>
                      <a:r>
                        <a:rPr sz="1413" b="0">
                          <a:solidFill>
                            <a:srgbClr val="33475B"/>
                          </a:solidFill>
                          <a:latin typeface="Aptos"/>
                        </a:rPr>
                        <a:t>5 → 15</a:t>
                      </a:r>
                    </a:p>
                  </a:txBody>
                  <a:tcPr anchor="ctr" marL="146304" marR="146304">
                    <a:solidFill>
                      <a:srgbClr val="F4F7FA"/>
                    </a:solidFill>
                  </a:tcPr>
                </a:tc>
                <a:tc>
                  <a:txBody>
                    <a:bodyPr wrap="square"/>
                    <a:lstStyle/>
                    <a:p>
                      <a:r>
                        <a:rPr sz="1413" b="0">
                          <a:solidFill>
                            <a:srgbClr val="33475B"/>
                          </a:solidFill>
                          <a:latin typeface="Aptos"/>
                        </a:rPr>
                        <a:t>2 → 6</a:t>
                      </a:r>
                    </a:p>
                  </a:txBody>
                  <a:tcPr anchor="ctr" marL="146304" marR="146304">
                    <a:solidFill>
                      <a:srgbClr val="F4F7FA"/>
                    </a:solidFill>
                  </a:tcPr>
                </a:tc>
                <a:tc>
                  <a:txBody>
                    <a:bodyPr wrap="square"/>
                    <a:lstStyle/>
                    <a:p>
                      <a:r>
                        <a:rPr sz="1413" b="0">
                          <a:solidFill>
                            <a:srgbClr val="33475B"/>
                          </a:solidFill>
                          <a:latin typeface="Aptos"/>
                        </a:rPr>
                        <a:t>3 → 9</a:t>
                      </a:r>
                    </a:p>
                  </a:txBody>
                  <a:tcPr anchor="ctr" marL="146304" marR="146304">
                    <a:solidFill>
                      <a:srgbClr val="F4F7FA"/>
                    </a:solidFill>
                  </a:tcPr>
                </a:tc>
              </a:tr>
              <a:tr h="488550">
                <a:tc>
                  <a:txBody>
                    <a:bodyPr wrap="square"/>
                    <a:lstStyle/>
                    <a:p>
                      <a:r>
                        <a:rPr sz="1413" b="1">
                          <a:solidFill>
                            <a:srgbClr val="33475B"/>
                          </a:solidFill>
                          <a:latin typeface="Aptos"/>
                        </a:rPr>
                        <a:t>Experiencia de pareja</a:t>
                      </a:r>
                    </a:p>
                  </a:txBody>
                  <a:tcPr anchor="ctr" marL="146304" marR="146304">
                    <a:solidFill>
                      <a:srgbClr val="FFFFFF"/>
                    </a:solidFill>
                  </a:tcPr>
                </a:tc>
                <a:tc>
                  <a:txBody>
                    <a:bodyPr wrap="square"/>
                    <a:lstStyle/>
                    <a:p>
                      <a:r>
                        <a:rPr sz="1413" b="0">
                          <a:solidFill>
                            <a:srgbClr val="33475B"/>
                          </a:solidFill>
                          <a:latin typeface="Aptos"/>
                        </a:rPr>
                        <a:t>2</a:t>
                      </a:r>
                    </a:p>
                  </a:txBody>
                  <a:tcPr anchor="ctr" marL="146304" marR="146304">
                    <a:solidFill>
                      <a:srgbClr val="FFFFFF"/>
                    </a:solidFill>
                  </a:tcPr>
                </a:tc>
                <a:tc>
                  <a:txBody>
                    <a:bodyPr wrap="square"/>
                    <a:lstStyle/>
                    <a:p>
                      <a:r>
                        <a:rPr sz="1413" b="0">
                          <a:solidFill>
                            <a:srgbClr val="33475B"/>
                          </a:solidFill>
                          <a:latin typeface="Aptos"/>
                        </a:rPr>
                        <a:t>4 → 8</a:t>
                      </a:r>
                    </a:p>
                  </a:txBody>
                  <a:tcPr anchor="ctr" marL="146304" marR="146304">
                    <a:solidFill>
                      <a:srgbClr val="FFFFFF"/>
                    </a:solidFill>
                  </a:tcPr>
                </a:tc>
                <a:tc>
                  <a:txBody>
                    <a:bodyPr wrap="square"/>
                    <a:lstStyle/>
                    <a:p>
                      <a:r>
                        <a:rPr sz="1413" b="0">
                          <a:solidFill>
                            <a:srgbClr val="33475B"/>
                          </a:solidFill>
                          <a:latin typeface="Aptos"/>
                        </a:rPr>
                        <a:t>3 → 6</a:t>
                      </a:r>
                    </a:p>
                  </a:txBody>
                  <a:tcPr anchor="ctr" marL="146304" marR="146304">
                    <a:solidFill>
                      <a:srgbClr val="FFFFFF"/>
                    </a:solidFill>
                  </a:tcPr>
                </a:tc>
                <a:tc>
                  <a:txBody>
                    <a:bodyPr wrap="square"/>
                    <a:lstStyle/>
                    <a:p>
                      <a:r>
                        <a:rPr sz="1413" b="0">
                          <a:solidFill>
                            <a:srgbClr val="33475B"/>
                          </a:solidFill>
                          <a:latin typeface="Aptos"/>
                        </a:rPr>
                        <a:t>2 → 4</a:t>
                      </a:r>
                    </a:p>
                  </a:txBody>
                  <a:tcPr anchor="ctr" marL="146304" marR="146304">
                    <a:solidFill>
                      <a:srgbClr val="FFFFFF"/>
                    </a:solidFill>
                  </a:tcPr>
                </a:tc>
              </a:tr>
              <a:tr h="488550">
                <a:tc>
                  <a:txBody>
                    <a:bodyPr wrap="square"/>
                    <a:lstStyle/>
                    <a:p>
                      <a:r>
                        <a:rPr sz="1413" b="1">
                          <a:solidFill>
                            <a:srgbClr val="33475B"/>
                          </a:solidFill>
                          <a:latin typeface="Aptos"/>
                        </a:rPr>
                        <a:t>Madurez con Ionic</a:t>
                      </a:r>
                    </a:p>
                  </a:txBody>
                  <a:tcPr anchor="ctr" marL="146304" marR="146304">
                    <a:solidFill>
                      <a:srgbClr val="F4F7FA"/>
                    </a:solidFill>
                  </a:tcPr>
                </a:tc>
                <a:tc>
                  <a:txBody>
                    <a:bodyPr wrap="square"/>
                    <a:lstStyle/>
                    <a:p>
                      <a:r>
                        <a:rPr sz="1413" b="0">
                          <a:solidFill>
                            <a:srgbClr val="33475B"/>
                          </a:solidFill>
                          <a:latin typeface="Aptos"/>
                        </a:rPr>
                        <a:t>2</a:t>
                      </a:r>
                    </a:p>
                  </a:txBody>
                  <a:tcPr anchor="ctr" marL="146304" marR="146304">
                    <a:solidFill>
                      <a:srgbClr val="F4F7FA"/>
                    </a:solidFill>
                  </a:tcPr>
                </a:tc>
                <a:tc>
                  <a:txBody>
                    <a:bodyPr wrap="square"/>
                    <a:lstStyle/>
                    <a:p>
                      <a:r>
                        <a:rPr sz="1413" b="0">
                          <a:solidFill>
                            <a:srgbClr val="33475B"/>
                          </a:solidFill>
                          <a:latin typeface="Aptos"/>
                        </a:rPr>
                        <a:t>5 → 10</a:t>
                      </a:r>
                    </a:p>
                  </a:txBody>
                  <a:tcPr anchor="ctr" marL="146304" marR="146304">
                    <a:solidFill>
                      <a:srgbClr val="F4F7FA"/>
                    </a:solidFill>
                  </a:tcPr>
                </a:tc>
                <a:tc>
                  <a:txBody>
                    <a:bodyPr wrap="square"/>
                    <a:lstStyle/>
                    <a:p>
                      <a:r>
                        <a:rPr sz="1413" b="0">
                          <a:solidFill>
                            <a:srgbClr val="33475B"/>
                          </a:solidFill>
                          <a:latin typeface="Aptos"/>
                        </a:rPr>
                        <a:t>4 → 8</a:t>
                      </a:r>
                    </a:p>
                  </a:txBody>
                  <a:tcPr anchor="ctr" marL="146304" marR="146304">
                    <a:solidFill>
                      <a:srgbClr val="F4F7FA"/>
                    </a:solidFill>
                  </a:tcPr>
                </a:tc>
                <a:tc>
                  <a:txBody>
                    <a:bodyPr wrap="square"/>
                    <a:lstStyle/>
                    <a:p>
                      <a:r>
                        <a:rPr sz="1413" b="0">
                          <a:solidFill>
                            <a:srgbClr val="33475B"/>
                          </a:solidFill>
                          <a:latin typeface="Aptos"/>
                        </a:rPr>
                        <a:t>4 → 8</a:t>
                      </a:r>
                    </a:p>
                  </a:txBody>
                  <a:tcPr anchor="ctr" marL="146304" marR="146304">
                    <a:solidFill>
                      <a:srgbClr val="F4F7FA"/>
                    </a:solidFill>
                  </a:tcPr>
                </a:tc>
              </a:tr>
              <a:tr h="488550">
                <a:tc>
                  <a:txBody>
                    <a:bodyPr wrap="square"/>
                    <a:lstStyle/>
                    <a:p>
                      <a:r>
                        <a:rPr sz="1413" b="1">
                          <a:solidFill>
                            <a:srgbClr val="33475B"/>
                          </a:solidFill>
                          <a:latin typeface="Aptos"/>
                        </a:rPr>
                        <a:t>Curva y bundle</a:t>
                      </a:r>
                    </a:p>
                  </a:txBody>
                  <a:tcPr anchor="ctr" marL="146304" marR="146304">
                    <a:solidFill>
                      <a:srgbClr val="FFFFFF"/>
                    </a:solidFill>
                  </a:tcPr>
                </a:tc>
                <a:tc>
                  <a:txBody>
                    <a:bodyPr wrap="square"/>
                    <a:lstStyle/>
                    <a:p>
                      <a:r>
                        <a:rPr sz="1413" b="0">
                          <a:solidFill>
                            <a:srgbClr val="33475B"/>
                          </a:solidFill>
                          <a:latin typeface="Aptos"/>
                        </a:rPr>
                        <a:t>2</a:t>
                      </a:r>
                    </a:p>
                  </a:txBody>
                  <a:tcPr anchor="ctr" marL="146304" marR="146304">
                    <a:solidFill>
                      <a:srgbClr val="FFFFFF"/>
                    </a:solidFill>
                  </a:tcPr>
                </a:tc>
                <a:tc>
                  <a:txBody>
                    <a:bodyPr wrap="square"/>
                    <a:lstStyle/>
                    <a:p>
                      <a:r>
                        <a:rPr sz="1413" b="0">
                          <a:solidFill>
                            <a:srgbClr val="33475B"/>
                          </a:solidFill>
                          <a:latin typeface="Aptos"/>
                        </a:rPr>
                        <a:t>3 → 6</a:t>
                      </a:r>
                    </a:p>
                  </a:txBody>
                  <a:tcPr anchor="ctr" marL="146304" marR="146304">
                    <a:solidFill>
                      <a:srgbClr val="FFFFFF"/>
                    </a:solidFill>
                  </a:tcPr>
                </a:tc>
                <a:tc>
                  <a:txBody>
                    <a:bodyPr wrap="square"/>
                    <a:lstStyle/>
                    <a:p>
                      <a:r>
                        <a:rPr sz="1413" b="0">
                          <a:solidFill>
                            <a:srgbClr val="33475B"/>
                          </a:solidFill>
                          <a:latin typeface="Aptos"/>
                        </a:rPr>
                        <a:t>4 → 8</a:t>
                      </a:r>
                    </a:p>
                  </a:txBody>
                  <a:tcPr anchor="ctr" marL="146304" marR="146304">
                    <a:solidFill>
                      <a:srgbClr val="FFFFFF"/>
                    </a:solidFill>
                  </a:tcPr>
                </a:tc>
                <a:tc>
                  <a:txBody>
                    <a:bodyPr wrap="square"/>
                    <a:lstStyle/>
                    <a:p>
                      <a:r>
                        <a:rPr sz="1413" b="0">
                          <a:solidFill>
                            <a:srgbClr val="33475B"/>
                          </a:solidFill>
                          <a:latin typeface="Aptos"/>
                        </a:rPr>
                        <a:t>5 → 10</a:t>
                      </a:r>
                    </a:p>
                  </a:txBody>
                  <a:tcPr anchor="ctr" marL="146304" marR="146304">
                    <a:solidFill>
                      <a:srgbClr val="FFFFFF"/>
                    </a:solidFill>
                  </a:tcPr>
                </a:tc>
              </a:tr>
              <a:tr h="488550">
                <a:tc>
                  <a:txBody>
                    <a:bodyPr wrap="square"/>
                    <a:lstStyle/>
                    <a:p>
                      <a:r>
                        <a:rPr sz="1413" b="1">
                          <a:solidFill>
                            <a:srgbClr val="33475B"/>
                          </a:solidFill>
                          <a:latin typeface="Aptos"/>
                        </a:rPr>
                        <a:t>Total (máx. 60)</a:t>
                      </a:r>
                    </a:p>
                  </a:txBody>
                  <a:tcPr anchor="ctr" marL="146304" marR="146304">
                    <a:solidFill>
                      <a:srgbClr val="F4F7FA"/>
                    </a:solidFill>
                  </a:tcPr>
                </a:tc>
                <a:tc>
                  <a:txBody>
                    <a:bodyPr wrap="square"/>
                    <a:lstStyle/>
                    <a:p/>
                  </a:txBody>
                  <a:tcPr anchor="ctr" marL="146304" marR="146304">
                    <a:solidFill>
                      <a:srgbClr val="F4F7FA"/>
                    </a:solidFill>
                  </a:tcPr>
                </a:tc>
                <a:tc>
                  <a:txBody>
                    <a:bodyPr wrap="square"/>
                    <a:lstStyle/>
                    <a:p>
                      <a:r>
                        <a:rPr sz="1413" b="1">
                          <a:solidFill>
                            <a:srgbClr val="33475B"/>
                          </a:solidFill>
                          <a:latin typeface="Aptos"/>
                        </a:rPr>
                        <a:t>54</a:t>
                      </a:r>
                    </a:p>
                  </a:txBody>
                  <a:tcPr anchor="ctr" marL="146304" marR="146304">
                    <a:solidFill>
                      <a:srgbClr val="F4F7FA"/>
                    </a:solidFill>
                  </a:tcPr>
                </a:tc>
                <a:tc>
                  <a:txBody>
                    <a:bodyPr wrap="square"/>
                    <a:lstStyle/>
                    <a:p>
                      <a:r>
                        <a:rPr sz="1413" b="1">
                          <a:solidFill>
                            <a:srgbClr val="33475B"/>
                          </a:solidFill>
                          <a:latin typeface="Aptos"/>
                        </a:rPr>
                        <a:t>34</a:t>
                      </a:r>
                    </a:p>
                  </a:txBody>
                  <a:tcPr anchor="ctr" marL="146304" marR="146304">
                    <a:solidFill>
                      <a:srgbClr val="F4F7FA"/>
                    </a:solidFill>
                  </a:tcPr>
                </a:tc>
                <a:tc>
                  <a:txBody>
                    <a:bodyPr wrap="square"/>
                    <a:lstStyle/>
                    <a:p>
                      <a:r>
                        <a:rPr sz="1413" b="1">
                          <a:solidFill>
                            <a:srgbClr val="33475B"/>
                          </a:solidFill>
                          <a:latin typeface="Aptos"/>
                        </a:rPr>
                        <a:t>43</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Una matriz ponderada no decide por ti: hace visibles los pesos, que es lo que de verdad se discute.</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ADR-005: el framework, por escrito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5532120"/>
                <a:gridCol w="5532120"/>
              </a:tblGrid>
              <a:tr h="624927">
                <a:tc>
                  <a:txBody>
                    <a:bodyPr wrap="square"/>
                    <a:lstStyle/>
                    <a:p>
                      <a:r>
                        <a:rPr sz="1688" b="1">
                          <a:solidFill>
                            <a:srgbClr val="FFFFFF"/>
                          </a:solidFill>
                          <a:latin typeface="Aptos"/>
                        </a:rPr>
                        <a:t>Parte del ADR</a:t>
                      </a:r>
                    </a:p>
                  </a:txBody>
                  <a:tcPr anchor="ctr" marL="146304" marR="146304">
                    <a:solidFill>
                      <a:srgbClr val="156082"/>
                    </a:solidFill>
                  </a:tcPr>
                </a:tc>
                <a:tc>
                  <a:txBody>
                    <a:bodyPr wrap="square"/>
                    <a:lstStyle/>
                    <a:p>
                      <a:r>
                        <a:rPr sz="1688" b="1">
                          <a:solidFill>
                            <a:srgbClr val="FFFFFF"/>
                          </a:solidFill>
                          <a:latin typeface="Aptos"/>
                        </a:rPr>
                        <a:t>ADR-005 · Angular como framework · 2026-10-09 · Aceptado</a:t>
                      </a:r>
                    </a:p>
                  </a:txBody>
                  <a:tcPr anchor="ctr" marL="146304" marR="146304">
                    <a:solidFill>
                      <a:srgbClr val="156082"/>
                    </a:solidFill>
                  </a:tcPr>
                </a:tc>
              </a:tr>
              <a:tr h="624927">
                <a:tc>
                  <a:txBody>
                    <a:bodyPr wrap="square"/>
                    <a:lstStyle/>
                    <a:p>
                      <a:r>
                        <a:rPr sz="1576" b="1">
                          <a:solidFill>
                            <a:srgbClr val="33475B"/>
                          </a:solidFill>
                          <a:latin typeface="Aptos"/>
                        </a:rPr>
                        <a:t>Contexto y restricciones</a:t>
                      </a:r>
                    </a:p>
                  </a:txBody>
                  <a:tcPr anchor="ctr" marL="146304" marR="146304">
                    <a:solidFill>
                      <a:srgbClr val="FFFFFF"/>
                    </a:solidFill>
                  </a:tcPr>
                </a:tc>
                <a:tc>
                  <a:txBody>
                    <a:bodyPr wrap="square"/>
                    <a:lstStyle/>
                    <a:p>
                      <a:r>
                        <a:rPr sz="1576" b="0">
                          <a:solidFill>
                            <a:srgbClr val="33475B"/>
                          </a:solidFill>
                          <a:latin typeface="Aptos"/>
                        </a:rPr>
                        <a:t>Tres features con formularios, foto, ubicación y offline; probar sin dispositivo; cinco semanas</a:t>
                      </a:r>
                    </a:p>
                  </a:txBody>
                  <a:tcPr anchor="ctr" marL="146304" marR="146304">
                    <a:solidFill>
                      <a:srgbClr val="FFFFFF"/>
                    </a:solidFill>
                  </a:tcPr>
                </a:tc>
              </a:tr>
              <a:tr h="624927">
                <a:tc>
                  <a:txBody>
                    <a:bodyPr wrap="square"/>
                    <a:lstStyle/>
                    <a:p>
                      <a:r>
                        <a:rPr sz="1576" b="1">
                          <a:solidFill>
                            <a:srgbClr val="33475B"/>
                          </a:solidFill>
                          <a:latin typeface="Aptos"/>
                        </a:rPr>
                        <a:t>Decisión</a:t>
                      </a:r>
                    </a:p>
                  </a:txBody>
                  <a:tcPr anchor="ctr" marL="146304" marR="146304">
                    <a:solidFill>
                      <a:srgbClr val="F4F7FA"/>
                    </a:solidFill>
                  </a:tcPr>
                </a:tc>
                <a:tc>
                  <a:txBody>
                    <a:bodyPr wrap="square"/>
                    <a:lstStyle/>
                    <a:p>
                      <a:r>
                        <a:rPr sz="1576" b="0">
                          <a:solidFill>
                            <a:srgbClr val="33475B"/>
                          </a:solidFill>
                          <a:latin typeface="Aptos"/>
                        </a:rPr>
                        <a:t>Angular 22 standalone (signals, </a:t>
                      </a:r>
                      <a:r>
                        <a:rPr sz="1481" b="0">
                          <a:solidFill>
                            <a:srgbClr val="156082"/>
                          </a:solidFill>
                          <a:latin typeface="Consolas"/>
                        </a:rPr>
                        <a:t>inject()</a:t>
                      </a:r>
                      <a:r>
                        <a:rPr sz="1576" b="0">
                          <a:solidFill>
                            <a:srgbClr val="33475B"/>
                          </a:solidFill>
                          <a:latin typeface="Aptos"/>
                        </a:rPr>
                        <a:t>, control flow) con </a:t>
                      </a:r>
                      <a:r>
                        <a:rPr sz="1481" b="0">
                          <a:solidFill>
                            <a:srgbClr val="156082"/>
                          </a:solidFill>
                          <a:latin typeface="Consolas"/>
                        </a:rPr>
                        <a:t>@ionic/angular</a:t>
                      </a:r>
                      <a:r>
                        <a:rPr sz="1576" b="0">
                          <a:solidFill>
                            <a:srgbClr val="33475B"/>
                          </a:solidFill>
                          <a:latin typeface="Aptos"/>
                        </a:rPr>
                        <a:t> 9 y Capacitor 8</a:t>
                      </a:r>
                    </a:p>
                  </a:txBody>
                  <a:tcPr anchor="ctr" marL="146304" marR="146304">
                    <a:solidFill>
                      <a:srgbClr val="F4F7FA"/>
                    </a:solidFill>
                  </a:tcPr>
                </a:tc>
              </a:tr>
              <a:tr h="624927">
                <a:tc>
                  <a:txBody>
                    <a:bodyPr wrap="square"/>
                    <a:lstStyle/>
                    <a:p>
                      <a:r>
                        <a:rPr sz="1576" b="1">
                          <a:solidFill>
                            <a:srgbClr val="33475B"/>
                          </a:solidFill>
                          <a:latin typeface="Aptos"/>
                        </a:rPr>
                        <a:t>Justificación</a:t>
                      </a:r>
                    </a:p>
                  </a:txBody>
                  <a:tcPr anchor="ctr" marL="146304" marR="146304">
                    <a:solidFill>
                      <a:srgbClr val="FFFFFF"/>
                    </a:solidFill>
                  </a:tcPr>
                </a:tc>
                <a:tc>
                  <a:txBody>
                    <a:bodyPr wrap="square"/>
                    <a:lstStyle/>
                    <a:p>
                      <a:r>
                        <a:rPr sz="1576" b="0">
                          <a:solidFill>
                            <a:srgbClr val="33475B"/>
                          </a:solidFill>
                          <a:latin typeface="Aptos"/>
                        </a:rPr>
                        <a:t>Desempata la DI nativa: contratos en la raíz de composición y fakes sin librerías; matriz 54/60</a:t>
                      </a:r>
                    </a:p>
                  </a:txBody>
                  <a:tcPr anchor="ctr" marL="146304" marR="146304">
                    <a:solidFill>
                      <a:srgbClr val="FFFFFF"/>
                    </a:solidFill>
                  </a:tcPr>
                </a:tc>
              </a:tr>
              <a:tr h="624927">
                <a:tc>
                  <a:txBody>
                    <a:bodyPr wrap="square"/>
                    <a:lstStyle/>
                    <a:p>
                      <a:r>
                        <a:rPr sz="1576" b="1">
                          <a:solidFill>
                            <a:srgbClr val="33475B"/>
                          </a:solidFill>
                          <a:latin typeface="Aptos"/>
                        </a:rPr>
                        <a:t>Alternativas</a:t>
                      </a:r>
                    </a:p>
                  </a:txBody>
                  <a:tcPr anchor="ctr" marL="146304" marR="146304">
                    <a:solidFill>
                      <a:srgbClr val="F4F7FA"/>
                    </a:solidFill>
                  </a:tcPr>
                </a:tc>
                <a:tc>
                  <a:txBody>
                    <a:bodyPr wrap="square"/>
                    <a:lstStyle/>
                    <a:p>
                      <a:r>
                        <a:rPr sz="1576" b="0">
                          <a:solidFill>
                            <a:srgbClr val="33475B"/>
                          </a:solidFill>
                          <a:latin typeface="Aptos"/>
                        </a:rPr>
                        <a:t>React: estado, rutas, formularios y DI con librerías a elegir. Vue: DI limitada para fakes</a:t>
                      </a:r>
                    </a:p>
                  </a:txBody>
                  <a:tcPr anchor="ctr" marL="146304" marR="146304">
                    <a:solidFill>
                      <a:srgbClr val="F4F7FA"/>
                    </a:solidFill>
                  </a:tcPr>
                </a:tc>
              </a:tr>
              <a:tr h="624927">
                <a:tc>
                  <a:txBody>
                    <a:bodyPr wrap="square"/>
                    <a:lstStyle/>
                    <a:p>
                      <a:r>
                        <a:rPr sz="1576" b="1">
                          <a:solidFill>
                            <a:srgbClr val="33475B"/>
                          </a:solidFill>
                          <a:latin typeface="Aptos"/>
                        </a:rPr>
                        <a:t>Consecuencias</a:t>
                      </a:r>
                    </a:p>
                  </a:txBody>
                  <a:tcPr anchor="ctr" marL="146304" marR="146304">
                    <a:solidFill>
                      <a:srgbClr val="FFFFFF"/>
                    </a:solidFill>
                  </a:tcPr>
                </a:tc>
                <a:tc>
                  <a:txBody>
                    <a:bodyPr wrap="square"/>
                    <a:lstStyle/>
                    <a:p>
                      <a:r>
                        <a:rPr sz="1576" b="0">
                          <a:solidFill>
                            <a:srgbClr val="33475B"/>
                          </a:solidFill>
                          <a:latin typeface="Aptos"/>
                        </a:rPr>
                        <a:t>+ Una sola forma de DI, rutas, formularios y HTTP. − Curva alta; versión mayor cada seis meses</a:t>
                      </a:r>
                    </a:p>
                  </a:txBody>
                  <a:tcPr anchor="ctr" marL="146304" marR="146304">
                    <a:solidFill>
                      <a:srgbClr val="FFFFFF"/>
                    </a:solidFill>
                  </a:tcPr>
                </a:tc>
              </a:tr>
              <a:tr h="624927">
                <a:tc>
                  <a:txBody>
                    <a:bodyPr wrap="square"/>
                    <a:lstStyle/>
                    <a:p>
                      <a:r>
                        <a:rPr sz="1576" b="1">
                          <a:solidFill>
                            <a:srgbClr val="33475B"/>
                          </a:solidFill>
                          <a:latin typeface="Aptos"/>
                        </a:rPr>
                        <a:t>Verificación</a:t>
                      </a:r>
                    </a:p>
                  </a:txBody>
                  <a:tcPr anchor="ctr" marL="146304" marR="146304">
                    <a:solidFill>
                      <a:srgbClr val="F4F7FA"/>
                    </a:solidFill>
                  </a:tcPr>
                </a:tc>
                <a:tc>
                  <a:txBody>
                    <a:bodyPr wrap="square"/>
                    <a:lstStyle/>
                    <a:p>
                      <a:r>
                        <a:rPr sz="1481" b="0">
                          <a:solidFill>
                            <a:srgbClr val="156082"/>
                          </a:solidFill>
                          <a:latin typeface="Consolas"/>
                        </a:rPr>
                        <a:t>package.json</a:t>
                      </a:r>
                      <a:r>
                        <a:rPr sz="1576" b="0">
                          <a:solidFill>
                            <a:srgbClr val="33475B"/>
                          </a:solidFill>
                          <a:latin typeface="Aptos"/>
                        </a:rPr>
                        <a:t> fija </a:t>
                      </a:r>
                      <a:r>
                        <a:rPr sz="1481" b="0">
                          <a:solidFill>
                            <a:srgbClr val="156082"/>
                          </a:solidFill>
                          <a:latin typeface="Consolas"/>
                        </a:rPr>
                        <a:t>@angular/core</a:t>
                      </a:r>
                      <a:r>
                        <a:rPr sz="1576" b="0">
                          <a:solidFill>
                            <a:srgbClr val="33475B"/>
                          </a:solidFill>
                          <a:latin typeface="Aptos"/>
                        </a:rPr>
                        <a:t> 22.x e </a:t>
                      </a:r>
                      <a:r>
                        <a:rPr sz="1481" b="0">
                          <a:solidFill>
                            <a:srgbClr val="156082"/>
                          </a:solidFill>
                          <a:latin typeface="Consolas"/>
                        </a:rPr>
                        <a:t>@ionic/angular</a:t>
                      </a:r>
                      <a:r>
                        <a:rPr sz="1576" b="0">
                          <a:solidFill>
                            <a:srgbClr val="33475B"/>
                          </a:solidFill>
                          <a:latin typeface="Aptos"/>
                        </a:rPr>
                        <a:t> 9.x, sin react ni vue</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Una pareja registra: «Elegimos Angular porque es el mejor framework». ¿Qué le falta para ser un ADR válido según el marco?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Un diagrama de componentes y la firma de aprobación del docente tutor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Contexto, alternativas descartadas con su razón y costos asumidos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lista de comandos del CLI con los que se creó el proyecto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Una medición de rendimiento frente a una app nativa equivalente</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Entorno, CLI y ejecución</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Reproducir el entorno en cualquier máquina y saber qué valida cada nivel de prueba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herramientas, una sola global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261360"/>
        </p:xfrm>
        <a:graphic>
          <a:graphicData uri="http://schemas.openxmlformats.org/drawingml/2006/table">
            <a:tbl>
              <a:tblPr firstRow="1">
                <a:tableStyleId>{5C22544A-7EE6-4342-B048-85BDC9FD1C3A}</a:tableStyleId>
              </a:tblPr>
              <a:tblGrid>
                <a:gridCol w="3688080"/>
                <a:gridCol w="3688080"/>
                <a:gridCol w="3688080"/>
              </a:tblGrid>
              <a:tr h="543560">
                <a:tc>
                  <a:txBody>
                    <a:bodyPr wrap="square"/>
                    <a:lstStyle/>
                    <a:p>
                      <a:r>
                        <a:rPr sz="1569" b="1">
                          <a:solidFill>
                            <a:srgbClr val="FFFFFF"/>
                          </a:solidFill>
                          <a:latin typeface="Aptos"/>
                        </a:rPr>
                        <a:t>Herramienta</a:t>
                      </a:r>
                    </a:p>
                  </a:txBody>
                  <a:tcPr anchor="ctr" marL="146304" marR="146304">
                    <a:solidFill>
                      <a:srgbClr val="156082"/>
                    </a:solidFill>
                  </a:tcPr>
                </a:tc>
                <a:tc>
                  <a:txBody>
                    <a:bodyPr wrap="square"/>
                    <a:lstStyle/>
                    <a:p>
                      <a:r>
                        <a:rPr sz="1569" b="1">
                          <a:solidFill>
                            <a:srgbClr val="FFFFFF"/>
                          </a:solidFill>
                          <a:latin typeface="Aptos"/>
                        </a:rPr>
                        <a:t>Para qué</a:t>
                      </a:r>
                    </a:p>
                  </a:txBody>
                  <a:tcPr anchor="ctr" marL="146304" marR="146304">
                    <a:solidFill>
                      <a:srgbClr val="156082"/>
                    </a:solidFill>
                  </a:tcPr>
                </a:tc>
                <a:tc>
                  <a:txBody>
                    <a:bodyPr wrap="square"/>
                    <a:lstStyle/>
                    <a:p>
                      <a:r>
                        <a:rPr sz="1569" b="1">
                          <a:solidFill>
                            <a:srgbClr val="FFFFFF"/>
                          </a:solidFill>
                          <a:latin typeface="Aptos"/>
                        </a:rPr>
                        <a:t>Nota de arquitectura</a:t>
                      </a:r>
                    </a:p>
                  </a:txBody>
                  <a:tcPr anchor="ctr" marL="146304" marR="146304">
                    <a:solidFill>
                      <a:srgbClr val="156082"/>
                    </a:solidFill>
                  </a:tcPr>
                </a:tc>
              </a:tr>
              <a:tr h="543560">
                <a:tc>
                  <a:txBody>
                    <a:bodyPr wrap="square"/>
                    <a:lstStyle/>
                    <a:p>
                      <a:r>
                        <a:rPr sz="1465" b="1">
                          <a:solidFill>
                            <a:srgbClr val="33475B"/>
                          </a:solidFill>
                          <a:latin typeface="Aptos"/>
                        </a:rPr>
                        <a:t>Node.js ≥ 24.15 y npm</a:t>
                      </a:r>
                    </a:p>
                  </a:txBody>
                  <a:tcPr anchor="ctr" marL="146304" marR="146304">
                    <a:solidFill>
                      <a:srgbClr val="FFFFFF"/>
                    </a:solidFill>
                  </a:tcPr>
                </a:tc>
                <a:tc>
                  <a:txBody>
                    <a:bodyPr wrap="square"/>
                    <a:lstStyle/>
                    <a:p>
                      <a:r>
                        <a:rPr sz="1465" b="0">
                          <a:solidFill>
                            <a:srgbClr val="33475B"/>
                          </a:solidFill>
                          <a:latin typeface="Aptos"/>
                        </a:rPr>
                        <a:t>Ejecutar las CLI y el build</a:t>
                      </a:r>
                    </a:p>
                  </a:txBody>
                  <a:tcPr anchor="ctr" marL="146304" marR="146304">
                    <a:solidFill>
                      <a:srgbClr val="FFFFFF"/>
                    </a:solidFill>
                  </a:tcPr>
                </a:tc>
                <a:tc>
                  <a:txBody>
                    <a:bodyPr wrap="square"/>
                    <a:lstStyle/>
                    <a:p>
                      <a:r>
                        <a:rPr sz="1465" b="0">
                          <a:solidFill>
                            <a:srgbClr val="33475B"/>
                          </a:solidFill>
                          <a:latin typeface="Aptos"/>
                        </a:rPr>
                        <a:t>Versión fijada en </a:t>
                      </a:r>
                      <a:r>
                        <a:rPr sz="1377" b="0">
                          <a:solidFill>
                            <a:srgbClr val="156082"/>
                          </a:solidFill>
                          <a:latin typeface="Consolas"/>
                        </a:rPr>
                        <a:t>.nvmrc</a:t>
                      </a:r>
                      <a:r>
                        <a:rPr sz="1465" b="0">
                          <a:solidFill>
                            <a:srgbClr val="33475B"/>
                          </a:solidFill>
                          <a:latin typeface="Aptos"/>
                        </a:rPr>
                        <a:t> y en </a:t>
                      </a:r>
                      <a:r>
                        <a:rPr sz="1377" b="0">
                          <a:solidFill>
                            <a:srgbClr val="156082"/>
                          </a:solidFill>
                          <a:latin typeface="Consolas"/>
                        </a:rPr>
                        <a:t>engines</a:t>
                      </a:r>
                    </a:p>
                  </a:txBody>
                  <a:tcPr anchor="ctr" marL="146304" marR="146304">
                    <a:solidFill>
                      <a:srgbClr val="FFFFFF"/>
                    </a:solidFill>
                  </a:tcPr>
                </a:tc>
              </a:tr>
              <a:tr h="543560">
                <a:tc>
                  <a:txBody>
                    <a:bodyPr wrap="square"/>
                    <a:lstStyle/>
                    <a:p>
                      <a:r>
                        <a:rPr sz="1465" b="1">
                          <a:solidFill>
                            <a:srgbClr val="33475B"/>
                          </a:solidFill>
                          <a:latin typeface="Aptos"/>
                        </a:rPr>
                        <a:t>Ionic CLI (</a:t>
                      </a:r>
                      <a:r>
                        <a:rPr sz="1377" b="1">
                          <a:solidFill>
                            <a:srgbClr val="156082"/>
                          </a:solidFill>
                          <a:latin typeface="Consolas"/>
                        </a:rPr>
                        <a:t>npm install -g @ionic/cli</a:t>
                      </a:r>
                      <a:r>
                        <a:rPr sz="1465" b="1">
                          <a:solidFill>
                            <a:srgbClr val="33475B"/>
                          </a:solidFill>
                          <a:latin typeface="Aptos"/>
                        </a:rPr>
                        <a:t>)</a:t>
                      </a:r>
                    </a:p>
                  </a:txBody>
                  <a:tcPr anchor="ctr" marL="146304" marR="146304">
                    <a:solidFill>
                      <a:srgbClr val="F4F7FA"/>
                    </a:solidFill>
                  </a:tcPr>
                </a:tc>
                <a:tc>
                  <a:txBody>
                    <a:bodyPr wrap="square"/>
                    <a:lstStyle/>
                    <a:p>
                      <a:r>
                        <a:rPr sz="1465" b="0">
                          <a:solidFill>
                            <a:srgbClr val="33475B"/>
                          </a:solidFill>
                          <a:latin typeface="Aptos"/>
                        </a:rPr>
                        <a:t>Crear, servir y generar</a:t>
                      </a:r>
                    </a:p>
                  </a:txBody>
                  <a:tcPr anchor="ctr" marL="146304" marR="146304">
                    <a:solidFill>
                      <a:srgbClr val="F4F7FA"/>
                    </a:solidFill>
                  </a:tcPr>
                </a:tc>
                <a:tc>
                  <a:txBody>
                    <a:bodyPr wrap="square"/>
                    <a:lstStyle/>
                    <a:p>
                      <a:r>
                        <a:rPr sz="1465" b="0">
                          <a:solidFill>
                            <a:srgbClr val="33475B"/>
                          </a:solidFill>
                          <a:latin typeface="Aptos"/>
                        </a:rPr>
                        <a:t>La única instalación global justificada</a:t>
                      </a:r>
                    </a:p>
                  </a:txBody>
                  <a:tcPr anchor="ctr" marL="146304" marR="146304">
                    <a:solidFill>
                      <a:srgbClr val="F4F7FA"/>
                    </a:solidFill>
                  </a:tcPr>
                </a:tc>
              </a:tr>
              <a:tr h="543560">
                <a:tc>
                  <a:txBody>
                    <a:bodyPr wrap="square"/>
                    <a:lstStyle/>
                    <a:p>
                      <a:r>
                        <a:rPr sz="1465" b="1">
                          <a:solidFill>
                            <a:srgbClr val="33475B"/>
                          </a:solidFill>
                          <a:latin typeface="Aptos"/>
                        </a:rPr>
                        <a:t>Angular CLI y Capacitor CLI</a:t>
                      </a:r>
                    </a:p>
                  </a:txBody>
                  <a:tcPr anchor="ctr" marL="146304" marR="146304">
                    <a:solidFill>
                      <a:srgbClr val="FFFFFF"/>
                    </a:solidFill>
                  </a:tcPr>
                </a:tc>
                <a:tc>
                  <a:txBody>
                    <a:bodyPr wrap="square"/>
                    <a:lstStyle/>
                    <a:p>
                      <a:r>
                        <a:rPr sz="1465" b="0">
                          <a:solidFill>
                            <a:srgbClr val="33475B"/>
                          </a:solidFill>
                          <a:latin typeface="Aptos"/>
                        </a:rPr>
                        <a:t>Build, pruebas y lint; </a:t>
                      </a:r>
                      <a:r>
                        <a:rPr sz="1377" b="0">
                          <a:solidFill>
                            <a:srgbClr val="156082"/>
                          </a:solidFill>
                          <a:latin typeface="Consolas"/>
                        </a:rPr>
                        <a:t>add</a:t>
                      </a:r>
                      <a:r>
                        <a:rPr sz="1465" b="0">
                          <a:solidFill>
                            <a:srgbClr val="33475B"/>
                          </a:solidFill>
                          <a:latin typeface="Aptos"/>
                        </a:rPr>
                        <a:t>, </a:t>
                      </a:r>
                      <a:r>
                        <a:rPr sz="1377" b="0">
                          <a:solidFill>
                            <a:srgbClr val="156082"/>
                          </a:solidFill>
                          <a:latin typeface="Consolas"/>
                        </a:rPr>
                        <a:t>sync</a:t>
                      </a:r>
                      <a:r>
                        <a:rPr sz="1465" b="0">
                          <a:solidFill>
                            <a:srgbClr val="33475B"/>
                          </a:solidFill>
                          <a:latin typeface="Aptos"/>
                        </a:rPr>
                        <a:t>, </a:t>
                      </a:r>
                      <a:r>
                        <a:rPr sz="1377" b="0">
                          <a:solidFill>
                            <a:srgbClr val="156082"/>
                          </a:solidFill>
                          <a:latin typeface="Consolas"/>
                        </a:rPr>
                        <a:t>run</a:t>
                      </a:r>
                    </a:p>
                  </a:txBody>
                  <a:tcPr anchor="ctr" marL="146304" marR="146304">
                    <a:solidFill>
                      <a:srgbClr val="FFFFFF"/>
                    </a:solidFill>
                  </a:tcPr>
                </a:tc>
                <a:tc>
                  <a:txBody>
                    <a:bodyPr wrap="square"/>
                    <a:lstStyle/>
                    <a:p>
                      <a:r>
                        <a:rPr sz="1465" b="0">
                          <a:solidFill>
                            <a:srgbClr val="33475B"/>
                          </a:solidFill>
                          <a:latin typeface="Aptos"/>
                        </a:rPr>
                        <a:t>Locales del proyecto: se usan con </a:t>
                      </a:r>
                      <a:r>
                        <a:rPr sz="1377" b="0">
                          <a:solidFill>
                            <a:srgbClr val="156082"/>
                          </a:solidFill>
                          <a:latin typeface="Consolas"/>
                        </a:rPr>
                        <a:t>npx</a:t>
                      </a:r>
                    </a:p>
                  </a:txBody>
                  <a:tcPr anchor="ctr" marL="146304" marR="146304">
                    <a:solidFill>
                      <a:srgbClr val="FFFFFF"/>
                    </a:solidFill>
                  </a:tcPr>
                </a:tc>
              </a:tr>
              <a:tr h="543560">
                <a:tc>
                  <a:txBody>
                    <a:bodyPr wrap="square"/>
                    <a:lstStyle/>
                    <a:p>
                      <a:r>
                        <a:rPr sz="1465" b="1">
                          <a:solidFill>
                            <a:srgbClr val="33475B"/>
                          </a:solidFill>
                          <a:latin typeface="Aptos"/>
                        </a:rPr>
                        <a:t>Android Studio, SDK y JDK 21</a:t>
                      </a:r>
                    </a:p>
                  </a:txBody>
                  <a:tcPr anchor="ctr" marL="146304" marR="146304">
                    <a:solidFill>
                      <a:srgbClr val="F4F7FA"/>
                    </a:solidFill>
                  </a:tcPr>
                </a:tc>
                <a:tc>
                  <a:txBody>
                    <a:bodyPr wrap="square"/>
                    <a:lstStyle/>
                    <a:p>
                      <a:r>
                        <a:rPr sz="1465" b="0">
                          <a:solidFill>
                            <a:srgbClr val="33475B"/>
                          </a:solidFill>
                          <a:latin typeface="Aptos"/>
                        </a:rPr>
                        <a:t>Compilar y emular Android</a:t>
                      </a:r>
                    </a:p>
                  </a:txBody>
                  <a:tcPr anchor="ctr" marL="146304" marR="146304">
                    <a:solidFill>
                      <a:srgbClr val="F4F7FA"/>
                    </a:solidFill>
                  </a:tcPr>
                </a:tc>
                <a:tc>
                  <a:txBody>
                    <a:bodyPr wrap="square"/>
                    <a:lstStyle/>
                    <a:p>
                      <a:r>
                        <a:rPr sz="1465" b="0">
                          <a:solidFill>
                            <a:srgbClr val="33475B"/>
                          </a:solidFill>
                          <a:latin typeface="Aptos"/>
                        </a:rPr>
                        <a:t>Usa el JDK que trae Android Studio</a:t>
                      </a:r>
                    </a:p>
                  </a:txBody>
                  <a:tcPr anchor="ctr" marL="146304" marR="146304">
                    <a:solidFill>
                      <a:srgbClr val="F4F7FA"/>
                    </a:solidFill>
                  </a:tcPr>
                </a:tc>
              </a:tr>
              <a:tr h="543560">
                <a:tc>
                  <a:txBody>
                    <a:bodyPr wrap="square"/>
                    <a:lstStyle/>
                    <a:p>
                      <a:r>
                        <a:rPr sz="1465" b="1">
                          <a:solidFill>
                            <a:srgbClr val="33475B"/>
                          </a:solidFill>
                          <a:latin typeface="Aptos"/>
                        </a:rPr>
                        <a:t>Xcode y simulador (solo macOS)</a:t>
                      </a:r>
                    </a:p>
                  </a:txBody>
                  <a:tcPr anchor="ctr" marL="146304" marR="146304">
                    <a:solidFill>
                      <a:srgbClr val="FFFFFF"/>
                    </a:solidFill>
                  </a:tcPr>
                </a:tc>
                <a:tc>
                  <a:txBody>
                    <a:bodyPr wrap="square"/>
                    <a:lstStyle/>
                    <a:p>
                      <a:r>
                        <a:rPr sz="1465" b="0">
                          <a:solidFill>
                            <a:srgbClr val="33475B"/>
                          </a:solidFill>
                          <a:latin typeface="Aptos"/>
                        </a:rPr>
                        <a:t>Compilar, firmar y probar iOS</a:t>
                      </a:r>
                    </a:p>
                  </a:txBody>
                  <a:tcPr anchor="ctr" marL="146304" marR="146304">
                    <a:solidFill>
                      <a:srgbClr val="FFFFFF"/>
                    </a:solidFill>
                  </a:tcPr>
                </a:tc>
                <a:tc>
                  <a:txBody>
                    <a:bodyPr wrap="square"/>
                    <a:lstStyle/>
                    <a:p>
                      <a:r>
                        <a:rPr sz="1465" b="0">
                          <a:solidFill>
                            <a:srgbClr val="33475B"/>
                          </a:solidFill>
                          <a:latin typeface="Aptos"/>
                        </a:rPr>
                        <a:t>Sin Mac, el README dice cómo y cuándo se prueba iOS</a:t>
                      </a:r>
                    </a:p>
                  </a:txBody>
                  <a:tcPr anchor="ctr" marL="146304" marR="146304">
                    <a:solidFill>
                      <a:srgbClr val="FFFFFF"/>
                    </a:solidFill>
                  </a:tcPr>
                </a:tc>
              </a:tr>
            </a:tbl>
          </a:graphicData>
        </a:graphic>
      </p:graphicFrame>
      <p:sp>
        <p:nvSpPr>
          <p:cNvPr id="8" name="Rounded Rectangle 7"/>
          <p:cNvSpPr/>
          <p:nvPr/>
        </p:nvSpPr>
        <p:spPr>
          <a:xfrm>
            <a:off x="566928" y="5035296"/>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090160"/>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035296"/>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Gobierno: Git con </a:t>
            </a:r>
            <a:r>
              <a:rPr sz="2164" b="1">
                <a:solidFill>
                  <a:srgbClr val="156082"/>
                </a:solidFill>
                <a:latin typeface="Consolas"/>
              </a:rPr>
              <a:t>.gitignore</a:t>
            </a:r>
            <a:r>
              <a:rPr sz="2302" b="1">
                <a:solidFill>
                  <a:srgbClr val="0E2841"/>
                </a:solidFill>
                <a:latin typeface="Aptos Display"/>
              </a:rPr>
              <a:t> (nunca </a:t>
            </a:r>
            <a:r>
              <a:rPr sz="2164" b="1">
                <a:solidFill>
                  <a:srgbClr val="156082"/>
                </a:solidFill>
                <a:latin typeface="Consolas"/>
              </a:rPr>
              <a:t>node_modules/</a:t>
            </a:r>
            <a:r>
              <a:rPr sz="2302" b="1">
                <a:solidFill>
                  <a:srgbClr val="0E2841"/>
                </a:solidFill>
                <a:latin typeface="Aptos Display"/>
              </a:rPr>
              <a:t>, </a:t>
            </a:r>
            <a:r>
              <a:rPr sz="2164" b="1">
                <a:solidFill>
                  <a:srgbClr val="156082"/>
                </a:solidFill>
                <a:latin typeface="Consolas"/>
              </a:rPr>
              <a:t>www/</a:t>
            </a:r>
            <a:r>
              <a:rPr sz="2302" b="1">
                <a:solidFill>
                  <a:srgbClr val="0E2841"/>
                </a:solidFill>
                <a:latin typeface="Aptos Display"/>
              </a:rPr>
              <a:t> ni llaves de firma) y un README que ejecute la app sin preguntar.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 </a:t>
            </a:r>
            <a:r>
              <a:rPr sz="2820" b="1">
                <a:solidFill>
                  <a:srgbClr val="156082"/>
                </a:solidFill>
                <a:latin typeface="Consolas"/>
              </a:rPr>
              <a:t>src/</a:t>
            </a:r>
            <a:r>
              <a:rPr sz="3000" b="1">
                <a:solidFill>
                  <a:srgbClr val="0E2841"/>
                </a:solidFill>
                <a:latin typeface="Aptos Display"/>
              </a:rPr>
              <a:t> al teléfono en tres saltos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5947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src/</a:t>
            </a:r>
          </a:p>
          <a:p>
            <a:pPr algn="ctr">
              <a:lnSpc>
                <a:spcPct val="120000"/>
              </a:lnSpc>
              <a:spcBef>
                <a:spcPts val="700"/>
              </a:spcBef>
            </a:pPr>
            <a:r>
              <a:rPr sz="1308" b="0">
                <a:solidFill>
                  <a:srgbClr val="7A8B9E"/>
                </a:solidFill>
                <a:latin typeface="Aptos"/>
              </a:rPr>
              <a:t>Tu TypeScript</a:t>
            </a:r>
          </a:p>
        </p:txBody>
      </p:sp>
      <p:sp>
        <p:nvSpPr>
          <p:cNvPr id="10" name="Chevron 9"/>
          <p:cNvSpPr/>
          <p:nvPr/>
        </p:nvSpPr>
        <p:spPr>
          <a:xfrm>
            <a:off x="3136392"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759477"/>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www/</a:t>
            </a:r>
          </a:p>
          <a:p>
            <a:pPr algn="ctr">
              <a:lnSpc>
                <a:spcPct val="120000"/>
              </a:lnSpc>
              <a:spcBef>
                <a:spcPts val="700"/>
              </a:spcBef>
            </a:pPr>
            <a:r>
              <a:rPr sz="1308" b="0">
                <a:solidFill>
                  <a:srgbClr val="7A8B9E"/>
                </a:solidFill>
                <a:latin typeface="Aptos"/>
              </a:rPr>
              <a:t>HTML, JS y CSS tras </a:t>
            </a:r>
            <a:r>
              <a:rPr sz="1229" b="0">
                <a:solidFill>
                  <a:srgbClr val="156082"/>
                </a:solidFill>
                <a:latin typeface="Consolas"/>
              </a:rPr>
              <a:t>ionic build</a:t>
            </a:r>
          </a:p>
        </p:txBody>
      </p:sp>
      <p:sp>
        <p:nvSpPr>
          <p:cNvPr id="14" name="Chevron 13"/>
          <p:cNvSpPr/>
          <p:nvPr/>
        </p:nvSpPr>
        <p:spPr>
          <a:xfrm>
            <a:off x="5998464"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759477"/>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android/ · ios/</a:t>
            </a:r>
          </a:p>
          <a:p>
            <a:pPr algn="ctr">
              <a:lnSpc>
                <a:spcPct val="120000"/>
              </a:lnSpc>
              <a:spcBef>
                <a:spcPts val="700"/>
              </a:spcBef>
            </a:pPr>
            <a:r>
              <a:rPr sz="1229" b="0">
                <a:solidFill>
                  <a:srgbClr val="156082"/>
                </a:solidFill>
                <a:latin typeface="Consolas"/>
              </a:rPr>
              <a:t>npx cap sync</a:t>
            </a:r>
            <a:r>
              <a:rPr sz="1308" b="0">
                <a:solidFill>
                  <a:srgbClr val="7A8B9E"/>
                </a:solidFill>
                <a:latin typeface="Aptos"/>
              </a:rPr>
              <a:t> copia www/ y registra plugins</a:t>
            </a:r>
          </a:p>
        </p:txBody>
      </p:sp>
      <p:sp>
        <p:nvSpPr>
          <p:cNvPr id="18" name="Chevron 17"/>
          <p:cNvSpPr/>
          <p:nvPr/>
        </p:nvSpPr>
        <p:spPr>
          <a:xfrm>
            <a:off x="8860536"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75947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Emulador o dispositivo</a:t>
            </a:r>
          </a:p>
          <a:p>
            <a:pPr algn="ctr">
              <a:lnSpc>
                <a:spcPct val="120000"/>
              </a:lnSpc>
              <a:spcBef>
                <a:spcPts val="700"/>
              </a:spcBef>
            </a:pPr>
            <a:r>
              <a:rPr sz="1308" b="0">
                <a:solidFill>
                  <a:srgbClr val="7A8B9E"/>
                </a:solidFill>
                <a:latin typeface="Aptos"/>
              </a:rPr>
              <a:t>Gradle o xcodebuild, vía </a:t>
            </a:r>
            <a:r>
              <a:rPr sz="1229" b="0">
                <a:solidFill>
                  <a:srgbClr val="156082"/>
                </a:solidFill>
                <a:latin typeface="Consolas"/>
              </a:rPr>
              <a:t>npx cap run</a:t>
            </a:r>
            <a:r>
              <a:rPr sz="1308" b="0">
                <a:solidFill>
                  <a:srgbClr val="7A8B9E"/>
                </a:solidFill>
                <a:latin typeface="Aptos"/>
              </a:rPr>
              <a:t> o el IDE</a:t>
            </a:r>
          </a:p>
        </p:txBody>
      </p:sp>
      <p:sp>
        <p:nvSpPr>
          <p:cNvPr id="22" name="Rounded Rectangle 21"/>
          <p:cNvSpPr/>
          <p:nvPr/>
        </p:nvSpPr>
        <p:spPr>
          <a:xfrm>
            <a:off x="566928" y="3848481"/>
            <a:ext cx="11064240" cy="247916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 y="406793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031361"/>
            <a:ext cx="7315200" cy="237744"/>
          </a:xfrm>
          <a:prstGeom prst="rect">
            <a:avLst/>
          </a:prstGeom>
          <a:noFill/>
        </p:spPr>
        <p:txBody>
          <a:bodyPr wrap="square" anchor="t" lIns="0" rIns="0" tIns="0" bIns="0">
            <a:spAutoFit/>
          </a:bodyPr>
          <a:lstStyle/>
          <a:p>
            <a:pPr algn="l"/>
            <a:r>
              <a:rPr sz="1253" b="1">
                <a:solidFill>
                  <a:srgbClr val="E97132"/>
                </a:solidFill>
                <a:latin typeface="Aptos"/>
              </a:rPr>
              <a:t>PRIMER ARRANQUE DE LA BITÁCORA</a:t>
            </a:r>
          </a:p>
        </p:txBody>
      </p:sp>
      <p:sp>
        <p:nvSpPr>
          <p:cNvPr id="25" name="TextBox 24"/>
          <p:cNvSpPr txBox="1"/>
          <p:nvPr/>
        </p:nvSpPr>
        <p:spPr>
          <a:xfrm>
            <a:off x="877824" y="4415409"/>
            <a:ext cx="10515600" cy="1747647"/>
          </a:xfrm>
          <a:prstGeom prst="rect">
            <a:avLst/>
          </a:prstGeom>
          <a:noFill/>
        </p:spPr>
        <p:txBody>
          <a:bodyPr wrap="none" lIns="0" tIns="0">
            <a:spAutoFit/>
          </a:bodyPr>
          <a:lstStyle/>
          <a:p>
            <a:pPr>
              <a:lnSpc>
                <a:spcPct val="125000"/>
              </a:lnSpc>
            </a:pPr>
            <a:r>
              <a:rPr sz="1580">
                <a:solidFill>
                  <a:srgbClr val="E8E8E8"/>
                </a:solidFill>
                <a:latin typeface="Consolas"/>
              </a:rPr>
              <a:t>npm install -g @ionic/cli</a:t>
            </a:r>
          </a:p>
          <a:p>
            <a:pPr>
              <a:lnSpc>
                <a:spcPct val="125000"/>
              </a:lnSpc>
            </a:pPr>
            <a:r>
              <a:rPr sz="1580">
                <a:solidFill>
                  <a:srgbClr val="E8E8E8"/>
                </a:solidFill>
                <a:latin typeface="Consolas"/>
              </a:rPr>
              <a:t>ionic start bitacora-campo blank --type=angular-standalone --capacitor</a:t>
            </a:r>
          </a:p>
          <a:p>
            <a:pPr>
              <a:lnSpc>
                <a:spcPct val="125000"/>
              </a:lnSpc>
            </a:pPr>
            <a:r>
              <a:rPr sz="1580">
                <a:solidFill>
                  <a:srgbClr val="E8E8E8"/>
                </a:solidFill>
                <a:latin typeface="Consolas"/>
              </a:rPr>
              <a:t>ionic generate page features/visitas/presentation/visitas-lista  # tú decides DÓNDE</a:t>
            </a:r>
          </a:p>
          <a:p>
            <a:pPr>
              <a:lnSpc>
                <a:spcPct val="125000"/>
              </a:lnSpc>
            </a:pPr>
            <a:r>
              <a:rPr sz="1580">
                <a:solidFill>
                  <a:srgbClr val="E8E8E8"/>
                </a:solidFill>
                <a:latin typeface="Consolas"/>
              </a:rPr>
              <a:t>ionic build &amp;&amp; npm install @capacitor/android @capacitor/ios</a:t>
            </a:r>
          </a:p>
          <a:p>
            <a:pPr>
              <a:lnSpc>
                <a:spcPct val="125000"/>
              </a:lnSpc>
            </a:pPr>
            <a:r>
              <a:rPr sz="1580">
                <a:solidFill>
                  <a:srgbClr val="E8E8E8"/>
                </a:solidFill>
                <a:latin typeface="Consolas"/>
              </a:rPr>
              <a:t>npx cap add android &amp;&amp; npx cap sync   # crea android/, copia www/ y registra los plugins</a:t>
            </a:r>
          </a:p>
          <a:p>
            <a:pPr>
              <a:lnSpc>
                <a:spcPct val="125000"/>
              </a:lnSpc>
            </a:pPr>
            <a:r>
              <a:rPr sz="1580">
                <a:solidFill>
                  <a:srgbClr val="E8E8E8"/>
                </a:solidFill>
                <a:latin typeface="Consolas"/>
              </a:rPr>
              <a:t>ionic cap run android -l --external   # live reload en el teléfono (misma red)</a:t>
            </a:r>
          </a:p>
        </p:txBody>
      </p:sp>
      <p:sp>
        <p:nvSpPr>
          <p:cNvPr id="26" name="TextBox 2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7" name="TextBox 2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comando tiene su momento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3688080"/>
                <a:gridCol w="3688080"/>
                <a:gridCol w="3688080"/>
              </a:tblGrid>
              <a:tr h="546811">
                <a:tc>
                  <a:txBody>
                    <a:bodyPr wrap="square"/>
                    <a:lstStyle/>
                    <a:p>
                      <a:r>
                        <a:rPr sz="1590" b="1">
                          <a:solidFill>
                            <a:srgbClr val="FFFFFF"/>
                          </a:solidFill>
                          <a:latin typeface="Aptos"/>
                        </a:rPr>
                        <a:t>Comando</a:t>
                      </a:r>
                    </a:p>
                  </a:txBody>
                  <a:tcPr anchor="ctr" marL="146304" marR="146304">
                    <a:solidFill>
                      <a:srgbClr val="156082"/>
                    </a:solidFill>
                  </a:tcPr>
                </a:tc>
                <a:tc>
                  <a:txBody>
                    <a:bodyPr wrap="square"/>
                    <a:lstStyle/>
                    <a:p>
                      <a:r>
                        <a:rPr sz="1590" b="1">
                          <a:solidFill>
                            <a:srgbClr val="FFFFFF"/>
                          </a:solidFill>
                          <a:latin typeface="Aptos"/>
                        </a:rPr>
                        <a:t>Qué hace</a:t>
                      </a:r>
                    </a:p>
                  </a:txBody>
                  <a:tcPr anchor="ctr" marL="146304" marR="146304">
                    <a:solidFill>
                      <a:srgbClr val="156082"/>
                    </a:solidFill>
                  </a:tcPr>
                </a:tc>
                <a:tc>
                  <a:txBody>
                    <a:bodyPr wrap="square"/>
                    <a:lstStyle/>
                    <a:p>
                      <a:r>
                        <a:rPr sz="1590" b="1">
                          <a:solidFill>
                            <a:srgbClr val="FFFFFF"/>
                          </a:solidFill>
                          <a:latin typeface="Aptos"/>
                        </a:rPr>
                        <a:t>Cuándo</a:t>
                      </a:r>
                    </a:p>
                  </a:txBody>
                  <a:tcPr anchor="ctr" marL="146304" marR="146304">
                    <a:solidFill>
                      <a:srgbClr val="156082"/>
                    </a:solidFill>
                  </a:tcPr>
                </a:tc>
              </a:tr>
              <a:tr h="546811">
                <a:tc>
                  <a:txBody>
                    <a:bodyPr wrap="square"/>
                    <a:lstStyle/>
                    <a:p>
                      <a:r>
                        <a:rPr sz="1394" b="1">
                          <a:solidFill>
                            <a:srgbClr val="156082"/>
                          </a:solidFill>
                          <a:latin typeface="Consolas"/>
                        </a:rPr>
                        <a:t>ionic serve</a:t>
                      </a:r>
                    </a:p>
                  </a:txBody>
                  <a:tcPr anchor="ctr" marL="146304" marR="146304">
                    <a:solidFill>
                      <a:srgbClr val="FFFFFF"/>
                    </a:solidFill>
                  </a:tcPr>
                </a:tc>
                <a:tc>
                  <a:txBody>
                    <a:bodyPr wrap="square"/>
                    <a:lstStyle/>
                    <a:p>
                      <a:r>
                        <a:rPr sz="1484" b="0">
                          <a:solidFill>
                            <a:srgbClr val="33475B"/>
                          </a:solidFill>
                          <a:latin typeface="Aptos"/>
                        </a:rPr>
                        <a:t>Sirve en el navegador con recarga</a:t>
                      </a:r>
                    </a:p>
                  </a:txBody>
                  <a:tcPr anchor="ctr" marL="146304" marR="146304">
                    <a:solidFill>
                      <a:srgbClr val="FFFFFF"/>
                    </a:solidFill>
                  </a:tcPr>
                </a:tc>
                <a:tc>
                  <a:txBody>
                    <a:bodyPr wrap="square"/>
                    <a:lstStyle/>
                    <a:p>
                      <a:r>
                        <a:rPr sz="1484" b="0">
                          <a:solidFill>
                            <a:srgbClr val="33475B"/>
                          </a:solidFill>
                          <a:latin typeface="Aptos"/>
                        </a:rPr>
                        <a:t>Desarrollo de UI y lógica</a:t>
                      </a:r>
                    </a:p>
                  </a:txBody>
                  <a:tcPr anchor="ctr" marL="146304" marR="146304">
                    <a:solidFill>
                      <a:srgbClr val="FFFFFF"/>
                    </a:solidFill>
                  </a:tcPr>
                </a:tc>
              </a:tr>
              <a:tr h="546811">
                <a:tc>
                  <a:txBody>
                    <a:bodyPr wrap="square"/>
                    <a:lstStyle/>
                    <a:p>
                      <a:r>
                        <a:rPr sz="1394" b="1">
                          <a:solidFill>
                            <a:srgbClr val="156082"/>
                          </a:solidFill>
                          <a:latin typeface="Consolas"/>
                        </a:rPr>
                        <a:t>ionic build</a:t>
                      </a:r>
                    </a:p>
                  </a:txBody>
                  <a:tcPr anchor="ctr" marL="146304" marR="146304">
                    <a:solidFill>
                      <a:srgbClr val="F4F7FA"/>
                    </a:solidFill>
                  </a:tcPr>
                </a:tc>
                <a:tc>
                  <a:txBody>
                    <a:bodyPr wrap="square"/>
                    <a:lstStyle/>
                    <a:p>
                      <a:r>
                        <a:rPr sz="1484" b="0">
                          <a:solidFill>
                            <a:srgbClr val="33475B"/>
                          </a:solidFill>
                          <a:latin typeface="Aptos"/>
                        </a:rPr>
                        <a:t>Compila la app web hacia </a:t>
                      </a:r>
                      <a:r>
                        <a:rPr sz="1394" b="0">
                          <a:solidFill>
                            <a:srgbClr val="156082"/>
                          </a:solidFill>
                          <a:latin typeface="Consolas"/>
                        </a:rPr>
                        <a:t>www/</a:t>
                      </a:r>
                    </a:p>
                  </a:txBody>
                  <a:tcPr anchor="ctr" marL="146304" marR="146304">
                    <a:solidFill>
                      <a:srgbClr val="F4F7FA"/>
                    </a:solidFill>
                  </a:tcPr>
                </a:tc>
                <a:tc>
                  <a:txBody>
                    <a:bodyPr wrap="square"/>
                    <a:lstStyle/>
                    <a:p>
                      <a:r>
                        <a:rPr sz="1484" b="0">
                          <a:solidFill>
                            <a:srgbClr val="33475B"/>
                          </a:solidFill>
                          <a:latin typeface="Aptos"/>
                        </a:rPr>
                        <a:t>Antes de sincronizar con nativo</a:t>
                      </a:r>
                    </a:p>
                  </a:txBody>
                  <a:tcPr anchor="ctr" marL="146304" marR="146304">
                    <a:solidFill>
                      <a:srgbClr val="F4F7FA"/>
                    </a:solidFill>
                  </a:tcPr>
                </a:tc>
              </a:tr>
              <a:tr h="546811">
                <a:tc>
                  <a:txBody>
                    <a:bodyPr wrap="square"/>
                    <a:lstStyle/>
                    <a:p>
                      <a:r>
                        <a:rPr sz="1394" b="1">
                          <a:solidFill>
                            <a:srgbClr val="156082"/>
                          </a:solidFill>
                          <a:latin typeface="Consolas"/>
                        </a:rPr>
                        <a:t>ionic generate page</a:t>
                      </a:r>
                    </a:p>
                  </a:txBody>
                  <a:tcPr anchor="ctr" marL="146304" marR="146304">
                    <a:solidFill>
                      <a:srgbClr val="FFFFFF"/>
                    </a:solidFill>
                  </a:tcPr>
                </a:tc>
                <a:tc>
                  <a:txBody>
                    <a:bodyPr wrap="square"/>
                    <a:lstStyle/>
                    <a:p>
                      <a:r>
                        <a:rPr sz="1484" b="0">
                          <a:solidFill>
                            <a:srgbClr val="33475B"/>
                          </a:solidFill>
                          <a:latin typeface="Aptos"/>
                        </a:rPr>
                        <a:t>Crea page, component o service</a:t>
                      </a:r>
                    </a:p>
                  </a:txBody>
                  <a:tcPr anchor="ctr" marL="146304" marR="146304">
                    <a:solidFill>
                      <a:srgbClr val="FFFFFF"/>
                    </a:solidFill>
                  </a:tcPr>
                </a:tc>
                <a:tc>
                  <a:txBody>
                    <a:bodyPr wrap="square"/>
                    <a:lstStyle/>
                    <a:p>
                      <a:r>
                        <a:rPr sz="1484" b="0">
                          <a:solidFill>
                            <a:srgbClr val="33475B"/>
                          </a:solidFill>
                          <a:latin typeface="Aptos"/>
                        </a:rPr>
                        <a:t>Con la ruta de la feature y la capa</a:t>
                      </a:r>
                    </a:p>
                  </a:txBody>
                  <a:tcPr anchor="ctr" marL="146304" marR="146304">
                    <a:solidFill>
                      <a:srgbClr val="FFFFFF"/>
                    </a:solidFill>
                  </a:tcPr>
                </a:tc>
              </a:tr>
              <a:tr h="546811">
                <a:tc>
                  <a:txBody>
                    <a:bodyPr wrap="square"/>
                    <a:lstStyle/>
                    <a:p>
                      <a:r>
                        <a:rPr sz="1394" b="1">
                          <a:solidFill>
                            <a:srgbClr val="156082"/>
                          </a:solidFill>
                          <a:latin typeface="Consolas"/>
                        </a:rPr>
                        <a:t>ionic doctor check</a:t>
                      </a:r>
                    </a:p>
                  </a:txBody>
                  <a:tcPr anchor="ctr" marL="146304" marR="146304">
                    <a:solidFill>
                      <a:srgbClr val="F4F7FA"/>
                    </a:solidFill>
                  </a:tcPr>
                </a:tc>
                <a:tc>
                  <a:txBody>
                    <a:bodyPr wrap="square"/>
                    <a:lstStyle/>
                    <a:p>
                      <a:r>
                        <a:rPr sz="1484" b="0">
                          <a:solidFill>
                            <a:srgbClr val="33475B"/>
                          </a:solidFill>
                          <a:latin typeface="Aptos"/>
                        </a:rPr>
                        <a:t>Diagnostica el proyecto (</a:t>
                      </a:r>
                      <a:r>
                        <a:rPr sz="1394" b="0">
                          <a:solidFill>
                            <a:srgbClr val="156082"/>
                          </a:solidFill>
                          <a:latin typeface="Consolas"/>
                        </a:rPr>
                        <a:t>npx cap doctor</a:t>
                      </a:r>
                      <a:r>
                        <a:rPr sz="1484" b="0">
                          <a:solidFill>
                            <a:srgbClr val="33475B"/>
                          </a:solidFill>
                          <a:latin typeface="Aptos"/>
                        </a:rPr>
                        <a:t>: Capacitor)</a:t>
                      </a:r>
                    </a:p>
                  </a:txBody>
                  <a:tcPr anchor="ctr" marL="146304" marR="146304">
                    <a:solidFill>
                      <a:srgbClr val="F4F7FA"/>
                    </a:solidFill>
                  </a:tcPr>
                </a:tc>
                <a:tc>
                  <a:txBody>
                    <a:bodyPr wrap="square"/>
                    <a:lstStyle/>
                    <a:p>
                      <a:r>
                        <a:rPr sz="1484" b="0">
                          <a:solidFill>
                            <a:srgbClr val="33475B"/>
                          </a:solidFill>
                          <a:latin typeface="Aptos"/>
                        </a:rPr>
                        <a:t>Cuando algo falla sin razón aparente</a:t>
                      </a:r>
                    </a:p>
                  </a:txBody>
                  <a:tcPr anchor="ctr" marL="146304" marR="146304">
                    <a:solidFill>
                      <a:srgbClr val="F4F7FA"/>
                    </a:solidFill>
                  </a:tcPr>
                </a:tc>
              </a:tr>
              <a:tr h="546811">
                <a:tc>
                  <a:txBody>
                    <a:bodyPr wrap="square"/>
                    <a:lstStyle/>
                    <a:p>
                      <a:r>
                        <a:rPr sz="1394" b="1">
                          <a:solidFill>
                            <a:srgbClr val="156082"/>
                          </a:solidFill>
                          <a:latin typeface="Consolas"/>
                        </a:rPr>
                        <a:t>npx cap add android</a:t>
                      </a:r>
                    </a:p>
                  </a:txBody>
                  <a:tcPr anchor="ctr" marL="146304" marR="146304">
                    <a:solidFill>
                      <a:srgbClr val="FFFFFF"/>
                    </a:solidFill>
                  </a:tcPr>
                </a:tc>
                <a:tc>
                  <a:txBody>
                    <a:bodyPr wrap="square"/>
                    <a:lstStyle/>
                    <a:p>
                      <a:r>
                        <a:rPr sz="1484" b="0">
                          <a:solidFill>
                            <a:srgbClr val="33475B"/>
                          </a:solidFill>
                          <a:latin typeface="Aptos"/>
                        </a:rPr>
                        <a:t>Crea el proyecto nativo (o </a:t>
                      </a:r>
                      <a:r>
                        <a:rPr sz="1394" b="0">
                          <a:solidFill>
                            <a:srgbClr val="156082"/>
                          </a:solidFill>
                          <a:latin typeface="Consolas"/>
                        </a:rPr>
                        <a:t>ios</a:t>
                      </a:r>
                      <a:r>
                        <a:rPr sz="1484" b="0">
                          <a:solidFill>
                            <a:srgbClr val="33475B"/>
                          </a:solidFill>
                          <a:latin typeface="Aptos"/>
                        </a:rPr>
                        <a:t>)</a:t>
                      </a:r>
                    </a:p>
                  </a:txBody>
                  <a:tcPr anchor="ctr" marL="146304" marR="146304">
                    <a:solidFill>
                      <a:srgbClr val="FFFFFF"/>
                    </a:solidFill>
                  </a:tcPr>
                </a:tc>
                <a:tc>
                  <a:txBody>
                    <a:bodyPr wrap="square"/>
                    <a:lstStyle/>
                    <a:p>
                      <a:r>
                        <a:rPr sz="1484" b="0">
                          <a:solidFill>
                            <a:srgbClr val="33475B"/>
                          </a:solidFill>
                          <a:latin typeface="Aptos"/>
                        </a:rPr>
                        <a:t>Una vez por plataforma</a:t>
                      </a:r>
                    </a:p>
                  </a:txBody>
                  <a:tcPr anchor="ctr" marL="146304" marR="146304">
                    <a:solidFill>
                      <a:srgbClr val="FFFFFF"/>
                    </a:solidFill>
                  </a:tcPr>
                </a:tc>
              </a:tr>
              <a:tr h="546811">
                <a:tc>
                  <a:txBody>
                    <a:bodyPr wrap="square"/>
                    <a:lstStyle/>
                    <a:p>
                      <a:r>
                        <a:rPr sz="1394" b="1">
                          <a:solidFill>
                            <a:srgbClr val="156082"/>
                          </a:solidFill>
                          <a:latin typeface="Consolas"/>
                        </a:rPr>
                        <a:t>npx cap copy</a:t>
                      </a:r>
                      <a:r>
                        <a:rPr sz="1484" b="1">
                          <a:solidFill>
                            <a:srgbClr val="33475B"/>
                          </a:solidFill>
                          <a:latin typeface="Aptos"/>
                        </a:rPr>
                        <a:t> / </a:t>
                      </a:r>
                      <a:r>
                        <a:rPr sz="1394" b="1">
                          <a:solidFill>
                            <a:srgbClr val="156082"/>
                          </a:solidFill>
                          <a:latin typeface="Consolas"/>
                        </a:rPr>
                        <a:t>sync</a:t>
                      </a:r>
                    </a:p>
                  </a:txBody>
                  <a:tcPr anchor="ctr" marL="146304" marR="146304">
                    <a:solidFill>
                      <a:srgbClr val="F4F7FA"/>
                    </a:solidFill>
                  </a:tcPr>
                </a:tc>
                <a:tc>
                  <a:txBody>
                    <a:bodyPr wrap="square"/>
                    <a:lstStyle/>
                    <a:p>
                      <a:r>
                        <a:rPr sz="1484" b="0">
                          <a:solidFill>
                            <a:srgbClr val="33475B"/>
                          </a:solidFill>
                          <a:latin typeface="Aptos"/>
                        </a:rPr>
                        <a:t>copy: solo </a:t>
                      </a:r>
                      <a:r>
                        <a:rPr sz="1394" b="0">
                          <a:solidFill>
                            <a:srgbClr val="156082"/>
                          </a:solidFill>
                          <a:latin typeface="Consolas"/>
                        </a:rPr>
                        <a:t>www/</a:t>
                      </a:r>
                      <a:r>
                        <a:rPr sz="1484" b="0">
                          <a:solidFill>
                            <a:srgbClr val="33475B"/>
                          </a:solidFill>
                          <a:latin typeface="Aptos"/>
                        </a:rPr>
                        <a:t>; sync: además dependencias nativas</a:t>
                      </a:r>
                    </a:p>
                  </a:txBody>
                  <a:tcPr anchor="ctr" marL="146304" marR="146304">
                    <a:solidFill>
                      <a:srgbClr val="F4F7FA"/>
                    </a:solidFill>
                  </a:tcPr>
                </a:tc>
                <a:tc>
                  <a:txBody>
                    <a:bodyPr wrap="square"/>
                    <a:lstStyle/>
                    <a:p>
                      <a:r>
                        <a:rPr sz="1484" b="0">
                          <a:solidFill>
                            <a:srgbClr val="33475B"/>
                          </a:solidFill>
                          <a:latin typeface="Aptos"/>
                        </a:rPr>
                        <a:t>copy: cambios web; sync: tras tocar plugins</a:t>
                      </a:r>
                    </a:p>
                  </a:txBody>
                  <a:tcPr anchor="ctr" marL="146304" marR="146304">
                    <a:solidFill>
                      <a:srgbClr val="F4F7FA"/>
                    </a:solidFill>
                  </a:tcPr>
                </a:tc>
              </a:tr>
              <a:tr h="546811">
                <a:tc>
                  <a:txBody>
                    <a:bodyPr wrap="square"/>
                    <a:lstStyle/>
                    <a:p>
                      <a:r>
                        <a:rPr sz="1394" b="1">
                          <a:solidFill>
                            <a:srgbClr val="156082"/>
                          </a:solidFill>
                          <a:latin typeface="Consolas"/>
                        </a:rPr>
                        <a:t>npx cap open</a:t>
                      </a:r>
                      <a:r>
                        <a:rPr sz="1484" b="1">
                          <a:solidFill>
                            <a:srgbClr val="33475B"/>
                          </a:solidFill>
                          <a:latin typeface="Aptos"/>
                        </a:rPr>
                        <a:t> / </a:t>
                      </a:r>
                      <a:r>
                        <a:rPr sz="1394" b="1">
                          <a:solidFill>
                            <a:srgbClr val="156082"/>
                          </a:solidFill>
                          <a:latin typeface="Consolas"/>
                        </a:rPr>
                        <a:t>run</a:t>
                      </a:r>
                    </a:p>
                  </a:txBody>
                  <a:tcPr anchor="ctr" marL="146304" marR="146304">
                    <a:solidFill>
                      <a:srgbClr val="FFFFFF"/>
                    </a:solidFill>
                  </a:tcPr>
                </a:tc>
                <a:tc>
                  <a:txBody>
                    <a:bodyPr wrap="square"/>
                    <a:lstStyle/>
                    <a:p>
                      <a:r>
                        <a:rPr sz="1484" b="0">
                          <a:solidFill>
                            <a:srgbClr val="33475B"/>
                          </a:solidFill>
                          <a:latin typeface="Aptos"/>
                        </a:rPr>
                        <a:t>Abre el IDE nativo / compila e instala</a:t>
                      </a:r>
                    </a:p>
                  </a:txBody>
                  <a:tcPr anchor="ctr" marL="146304" marR="146304">
                    <a:solidFill>
                      <a:srgbClr val="FFFFFF"/>
                    </a:solidFill>
                  </a:tcPr>
                </a:tc>
                <a:tc>
                  <a:txBody>
                    <a:bodyPr wrap="square"/>
                    <a:lstStyle/>
                    <a:p>
                      <a:r>
                        <a:rPr sz="1484" b="0">
                          <a:solidFill>
                            <a:srgbClr val="33475B"/>
                          </a:solidFill>
                          <a:latin typeface="Aptos"/>
                        </a:rPr>
                        <a:t>Firmar o ver logs / probar en nativo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entornos, tres verdades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944368"/>
        </p:xfrm>
        <a:graphic>
          <a:graphicData uri="http://schemas.openxmlformats.org/drawingml/2006/table">
            <a:tbl>
              <a:tblPr firstRow="1">
                <a:tableStyleId>{5C22544A-7EE6-4342-B048-85BDC9FD1C3A}</a:tableStyleId>
              </a:tblPr>
              <a:tblGrid>
                <a:gridCol w="2766060"/>
                <a:gridCol w="2766060"/>
                <a:gridCol w="2766060"/>
                <a:gridCol w="2766060"/>
              </a:tblGrid>
              <a:tr h="736092">
                <a:tc>
                  <a:txBody>
                    <a:bodyPr wrap="square"/>
                    <a:lstStyle/>
                    <a:p>
                      <a:r>
                        <a:rPr sz="1725" b="1">
                          <a:solidFill>
                            <a:srgbClr val="FFFFFF"/>
                          </a:solidFill>
                          <a:latin typeface="Aptos"/>
                        </a:rPr>
                        <a:t>Entorno</a:t>
                      </a:r>
                    </a:p>
                  </a:txBody>
                  <a:tcPr anchor="ctr" marL="146304" marR="146304">
                    <a:solidFill>
                      <a:srgbClr val="156082"/>
                    </a:solidFill>
                  </a:tcPr>
                </a:tc>
                <a:tc>
                  <a:txBody>
                    <a:bodyPr wrap="square"/>
                    <a:lstStyle/>
                    <a:p>
                      <a:r>
                        <a:rPr sz="1725" b="1">
                          <a:solidFill>
                            <a:srgbClr val="FFFFFF"/>
                          </a:solidFill>
                          <a:latin typeface="Aptos"/>
                        </a:rPr>
                        <a:t>Qué valida</a:t>
                      </a:r>
                    </a:p>
                  </a:txBody>
                  <a:tcPr anchor="ctr" marL="146304" marR="146304">
                    <a:solidFill>
                      <a:srgbClr val="156082"/>
                    </a:solidFill>
                  </a:tcPr>
                </a:tc>
                <a:tc>
                  <a:txBody>
                    <a:bodyPr wrap="square"/>
                    <a:lstStyle/>
                    <a:p>
                      <a:r>
                        <a:rPr sz="1725" b="1">
                          <a:solidFill>
                            <a:srgbClr val="FFFFFF"/>
                          </a:solidFill>
                          <a:latin typeface="Aptos"/>
                        </a:rPr>
                        <a:t>Qué NO valida</a:t>
                      </a:r>
                    </a:p>
                  </a:txBody>
                  <a:tcPr anchor="ctr" marL="146304" marR="146304">
                    <a:solidFill>
                      <a:srgbClr val="156082"/>
                    </a:solidFill>
                  </a:tcPr>
                </a:tc>
                <a:tc>
                  <a:txBody>
                    <a:bodyPr wrap="square"/>
                    <a:lstStyle/>
                    <a:p>
                      <a:r>
                        <a:rPr sz="1725" b="1">
                          <a:solidFill>
                            <a:srgbClr val="FFFFFF"/>
                          </a:solidFill>
                          <a:latin typeface="Aptos"/>
                        </a:rPr>
                        <a:t>Cómo se depura</a:t>
                      </a:r>
                    </a:p>
                  </a:txBody>
                  <a:tcPr anchor="ctr" marL="146304" marR="146304">
                    <a:solidFill>
                      <a:srgbClr val="156082"/>
                    </a:solidFill>
                  </a:tcPr>
                </a:tc>
              </a:tr>
              <a:tr h="736092">
                <a:tc>
                  <a:txBody>
                    <a:bodyPr wrap="square"/>
                    <a:lstStyle/>
                    <a:p>
                      <a:r>
                        <a:rPr sz="1609" b="1">
                          <a:solidFill>
                            <a:srgbClr val="33475B"/>
                          </a:solidFill>
                          <a:latin typeface="Aptos"/>
                        </a:rPr>
                        <a:t>Navegador (</a:t>
                      </a:r>
                      <a:r>
                        <a:rPr sz="1513" b="1">
                          <a:solidFill>
                            <a:srgbClr val="156082"/>
                          </a:solidFill>
                          <a:latin typeface="Consolas"/>
                        </a:rPr>
                        <a:t>ionic serve</a:t>
                      </a:r>
                      <a:r>
                        <a:rPr sz="1609" b="1">
                          <a:solidFill>
                            <a:srgbClr val="33475B"/>
                          </a:solidFill>
                          <a:latin typeface="Aptos"/>
                        </a:rPr>
                        <a:t>)</a:t>
                      </a:r>
                    </a:p>
                  </a:txBody>
                  <a:tcPr anchor="ctr" marL="146304" marR="146304">
                    <a:solidFill>
                      <a:srgbClr val="FFFFFF"/>
                    </a:solidFill>
                  </a:tcPr>
                </a:tc>
                <a:tc>
                  <a:txBody>
                    <a:bodyPr wrap="square"/>
                    <a:lstStyle/>
                    <a:p>
                      <a:r>
                        <a:rPr sz="1609" b="0">
                          <a:solidFill>
                            <a:srgbClr val="33475B"/>
                          </a:solidFill>
                          <a:latin typeface="Aptos"/>
                        </a:rPr>
                        <a:t>Layout, navegación, lógica, HTTP</a:t>
                      </a:r>
                    </a:p>
                  </a:txBody>
                  <a:tcPr anchor="ctr" marL="146304" marR="146304">
                    <a:solidFill>
                      <a:srgbClr val="FFFFFF"/>
                    </a:solidFill>
                  </a:tcPr>
                </a:tc>
                <a:tc>
                  <a:txBody>
                    <a:bodyPr wrap="square"/>
                    <a:lstStyle/>
                    <a:p>
                      <a:r>
                        <a:rPr sz="1609" b="0">
                          <a:solidFill>
                            <a:srgbClr val="33475B"/>
                          </a:solidFill>
                          <a:latin typeface="Aptos"/>
                        </a:rPr>
                        <a:t>Plugins, permisos, rendimiento, origen y CORS</a:t>
                      </a:r>
                    </a:p>
                  </a:txBody>
                  <a:tcPr anchor="ctr" marL="146304" marR="146304">
                    <a:solidFill>
                      <a:srgbClr val="FFFFFF"/>
                    </a:solidFill>
                  </a:tcPr>
                </a:tc>
                <a:tc>
                  <a:txBody>
                    <a:bodyPr wrap="square"/>
                    <a:lstStyle/>
                    <a:p>
                      <a:r>
                        <a:rPr sz="1609" b="0">
                          <a:solidFill>
                            <a:srgbClr val="33475B"/>
                          </a:solidFill>
                          <a:latin typeface="Aptos"/>
                        </a:rPr>
                        <a:t>DevTools; </a:t>
                      </a:r>
                      <a:r>
                        <a:rPr sz="1513" b="0">
                          <a:solidFill>
                            <a:srgbClr val="156082"/>
                          </a:solidFill>
                          <a:latin typeface="Consolas"/>
                        </a:rPr>
                        <a:t>?ionic:mode=ios</a:t>
                      </a:r>
                    </a:p>
                  </a:txBody>
                  <a:tcPr anchor="ctr" marL="146304" marR="146304">
                    <a:solidFill>
                      <a:srgbClr val="FFFFFF"/>
                    </a:solidFill>
                  </a:tcPr>
                </a:tc>
              </a:tr>
              <a:tr h="736092">
                <a:tc>
                  <a:txBody>
                    <a:bodyPr wrap="square"/>
                    <a:lstStyle/>
                    <a:p>
                      <a:r>
                        <a:rPr sz="1609" b="1">
                          <a:solidFill>
                            <a:srgbClr val="33475B"/>
                          </a:solidFill>
                          <a:latin typeface="Aptos"/>
                        </a:rPr>
                        <a:t>Emulador o simulador</a:t>
                      </a:r>
                    </a:p>
                  </a:txBody>
                  <a:tcPr anchor="ctr" marL="146304" marR="146304">
                    <a:solidFill>
                      <a:srgbClr val="F4F7FA"/>
                    </a:solidFill>
                  </a:tcPr>
                </a:tc>
                <a:tc>
                  <a:txBody>
                    <a:bodyPr wrap="square"/>
                    <a:lstStyle/>
                    <a:p>
                      <a:r>
                        <a:rPr sz="1609" b="0">
                          <a:solidFill>
                            <a:srgbClr val="33475B"/>
                          </a:solidFill>
                          <a:latin typeface="Aptos"/>
                        </a:rPr>
                        <a:t>Integración nativa, permisos, ciclo de vida</a:t>
                      </a:r>
                    </a:p>
                  </a:txBody>
                  <a:tcPr anchor="ctr" marL="146304" marR="146304">
                    <a:solidFill>
                      <a:srgbClr val="F4F7FA"/>
                    </a:solidFill>
                  </a:tcPr>
                </a:tc>
                <a:tc>
                  <a:txBody>
                    <a:bodyPr wrap="square"/>
                    <a:lstStyle/>
                    <a:p>
                      <a:r>
                        <a:rPr sz="1609" b="0">
                          <a:solidFill>
                            <a:srgbClr val="33475B"/>
                          </a:solidFill>
                          <a:latin typeface="Aptos"/>
                        </a:rPr>
                        <a:t>Rendimiento real; cámara y GPS simulados</a:t>
                      </a:r>
                    </a:p>
                  </a:txBody>
                  <a:tcPr anchor="ctr" marL="146304" marR="146304">
                    <a:solidFill>
                      <a:srgbClr val="F4F7FA"/>
                    </a:solidFill>
                  </a:tcPr>
                </a:tc>
                <a:tc>
                  <a:txBody>
                    <a:bodyPr wrap="square"/>
                    <a:lstStyle/>
                    <a:p>
                      <a:r>
                        <a:rPr sz="1513" b="0">
                          <a:solidFill>
                            <a:srgbClr val="156082"/>
                          </a:solidFill>
                          <a:latin typeface="Consolas"/>
                        </a:rPr>
                        <a:t>chrome://inspect</a:t>
                      </a:r>
                      <a:r>
                        <a:rPr sz="1609" b="0">
                          <a:solidFill>
                            <a:srgbClr val="33475B"/>
                          </a:solidFill>
                          <a:latin typeface="Aptos"/>
                        </a:rPr>
                        <a:t>, Safari, Logcat, Xcode</a:t>
                      </a:r>
                    </a:p>
                  </a:txBody>
                  <a:tcPr anchor="ctr" marL="146304" marR="146304">
                    <a:solidFill>
                      <a:srgbClr val="F4F7FA"/>
                    </a:solidFill>
                  </a:tcPr>
                </a:tc>
              </a:tr>
              <a:tr h="736092">
                <a:tc>
                  <a:txBody>
                    <a:bodyPr wrap="square"/>
                    <a:lstStyle/>
                    <a:p>
                      <a:r>
                        <a:rPr sz="1609" b="1">
                          <a:solidFill>
                            <a:srgbClr val="33475B"/>
                          </a:solidFill>
                          <a:latin typeface="Aptos"/>
                        </a:rPr>
                        <a:t>Dispositivo físico</a:t>
                      </a:r>
                    </a:p>
                  </a:txBody>
                  <a:tcPr anchor="ctr" marL="146304" marR="146304">
                    <a:solidFill>
                      <a:srgbClr val="FFFFFF"/>
                    </a:solidFill>
                  </a:tcPr>
                </a:tc>
                <a:tc>
                  <a:txBody>
                    <a:bodyPr wrap="square"/>
                    <a:lstStyle/>
                    <a:p>
                      <a:r>
                        <a:rPr sz="1609" b="0">
                          <a:solidFill>
                            <a:srgbClr val="33475B"/>
                          </a:solidFill>
                          <a:latin typeface="Aptos"/>
                        </a:rPr>
                        <a:t>Rendimiento, sensores y red móvil</a:t>
                      </a:r>
                    </a:p>
                  </a:txBody>
                  <a:tcPr anchor="ctr" marL="146304" marR="146304">
                    <a:solidFill>
                      <a:srgbClr val="FFFFFF"/>
                    </a:solidFill>
                  </a:tcPr>
                </a:tc>
                <a:tc>
                  <a:txBody>
                    <a:bodyPr wrap="square"/>
                    <a:lstStyle/>
                    <a:p>
                      <a:r>
                        <a:rPr sz="1609" b="0">
                          <a:solidFill>
                            <a:srgbClr val="33475B"/>
                          </a:solidFill>
                          <a:latin typeface="Aptos"/>
                        </a:rPr>
                        <a:t>Nada: es la referencia</a:t>
                      </a:r>
                    </a:p>
                  </a:txBody>
                  <a:tcPr anchor="ctr" marL="146304" marR="146304">
                    <a:solidFill>
                      <a:srgbClr val="FFFFFF"/>
                    </a:solidFill>
                  </a:tcPr>
                </a:tc>
                <a:tc>
                  <a:txBody>
                    <a:bodyPr wrap="square"/>
                    <a:lstStyle/>
                    <a:p>
                      <a:r>
                        <a:rPr sz="1609" b="0">
                          <a:solidFill>
                            <a:srgbClr val="33475B"/>
                          </a:solidFill>
                          <a:latin typeface="Aptos"/>
                        </a:rPr>
                        <a:t>Las mismas, por USB</a:t>
                      </a:r>
                    </a:p>
                  </a:txBody>
                  <a:tcPr anchor="ctr" marL="146304" marR="146304">
                    <a:solidFill>
                      <a:srgbClr val="FFFFFF"/>
                    </a:solidFill>
                  </a:tcPr>
                </a:tc>
              </a:tr>
            </a:tbl>
          </a:graphicData>
        </a:graphic>
      </p:graphicFrame>
      <p:sp>
        <p:nvSpPr>
          <p:cNvPr id="8" name="Rounded Rectangle 7"/>
          <p:cNvSpPr/>
          <p:nvPr/>
        </p:nvSpPr>
        <p:spPr>
          <a:xfrm>
            <a:off x="566928" y="4718304"/>
            <a:ext cx="11064240" cy="160934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773168"/>
            <a:ext cx="63500" cy="149961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18304"/>
            <a:ext cx="10378440" cy="1609344"/>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Una historia que toca una capacidad nativa no se cierra con evidencia de </a:t>
            </a:r>
            <a:r>
              <a:rPr sz="2378" b="1">
                <a:solidFill>
                  <a:srgbClr val="156082"/>
                </a:solidFill>
                <a:latin typeface="Consolas"/>
              </a:rPr>
              <a:t>ionic serve</a:t>
            </a:r>
            <a:r>
              <a:rPr sz="2529" b="1">
                <a:solidFill>
                  <a:srgbClr val="0E2841"/>
                </a:solidFill>
                <a:latin typeface="Aptos Display"/>
              </a:rPr>
              <a:t>: la DoD exige emulador o dispositivo.</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Nueve fallas de entorno y su arreglo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4754880"/>
        </p:xfrm>
        <a:graphic>
          <a:graphicData uri="http://schemas.openxmlformats.org/drawingml/2006/table">
            <a:tbl>
              <a:tblPr firstRow="1">
                <a:tableStyleId>{5C22544A-7EE6-4342-B048-85BDC9FD1C3A}</a:tableStyleId>
              </a:tblPr>
              <a:tblGrid>
                <a:gridCol w="3688080"/>
                <a:gridCol w="3688080"/>
                <a:gridCol w="3688080"/>
              </a:tblGrid>
              <a:tr h="475488">
                <a:tc>
                  <a:txBody>
                    <a:bodyPr wrap="square"/>
                    <a:lstStyle/>
                    <a:p>
                      <a:r>
                        <a:rPr sz="1500" b="1">
                          <a:solidFill>
                            <a:srgbClr val="FFFFFF"/>
                          </a:solidFill>
                          <a:latin typeface="Aptos"/>
                        </a:rPr>
                        <a:t>Síntoma</a:t>
                      </a:r>
                    </a:p>
                  </a:txBody>
                  <a:tcPr anchor="ctr" marL="146304" marR="146304">
                    <a:solidFill>
                      <a:srgbClr val="156082"/>
                    </a:solidFill>
                  </a:tcPr>
                </a:tc>
                <a:tc>
                  <a:txBody>
                    <a:bodyPr wrap="square"/>
                    <a:lstStyle/>
                    <a:p>
                      <a:r>
                        <a:rPr sz="1500" b="1">
                          <a:solidFill>
                            <a:srgbClr val="FFFFFF"/>
                          </a:solidFill>
                          <a:latin typeface="Aptos"/>
                        </a:rPr>
                        <a:t>Causa probable</a:t>
                      </a:r>
                    </a:p>
                  </a:txBody>
                  <a:tcPr anchor="ctr" marL="146304" marR="146304">
                    <a:solidFill>
                      <a:srgbClr val="156082"/>
                    </a:solidFill>
                  </a:tcPr>
                </a:tc>
                <a:tc>
                  <a:txBody>
                    <a:bodyPr wrap="square"/>
                    <a:lstStyle/>
                    <a:p>
                      <a:r>
                        <a:rPr sz="1500" b="1">
                          <a:solidFill>
                            <a:srgbClr val="FFFFFF"/>
                          </a:solidFill>
                          <a:latin typeface="Aptos"/>
                        </a:rPr>
                        <a:t>Corrección</a:t>
                      </a:r>
                    </a:p>
                  </a:txBody>
                  <a:tcPr anchor="ctr" marL="146304" marR="146304">
                    <a:solidFill>
                      <a:srgbClr val="156082"/>
                    </a:solidFill>
                  </a:tcPr>
                </a:tc>
              </a:tr>
              <a:tr h="475488">
                <a:tc>
                  <a:txBody>
                    <a:bodyPr wrap="square"/>
                    <a:lstStyle/>
                    <a:p>
                      <a:r>
                        <a:rPr sz="1316" b="1">
                          <a:solidFill>
                            <a:srgbClr val="156082"/>
                          </a:solidFill>
                          <a:latin typeface="Consolas"/>
                        </a:rPr>
                        <a:t>ionic: command not found</a:t>
                      </a:r>
                    </a:p>
                  </a:txBody>
                  <a:tcPr anchor="ctr" marL="146304" marR="146304">
                    <a:solidFill>
                      <a:srgbClr val="FFFFFF"/>
                    </a:solidFill>
                  </a:tcPr>
                </a:tc>
                <a:tc>
                  <a:txBody>
                    <a:bodyPr wrap="square"/>
                    <a:lstStyle/>
                    <a:p>
                      <a:r>
                        <a:rPr sz="1400" b="0">
                          <a:solidFill>
                            <a:srgbClr val="33475B"/>
                          </a:solidFill>
                          <a:latin typeface="Aptos"/>
                        </a:rPr>
                        <a:t>npm global fuera del PATH</a:t>
                      </a:r>
                    </a:p>
                  </a:txBody>
                  <a:tcPr anchor="ctr" marL="146304" marR="146304">
                    <a:solidFill>
                      <a:srgbClr val="FFFFFF"/>
                    </a:solidFill>
                  </a:tcPr>
                </a:tc>
                <a:tc>
                  <a:txBody>
                    <a:bodyPr wrap="square"/>
                    <a:lstStyle/>
                    <a:p>
                      <a:r>
                        <a:rPr sz="1400" b="0">
                          <a:solidFill>
                            <a:srgbClr val="33475B"/>
                          </a:solidFill>
                          <a:latin typeface="Aptos"/>
                        </a:rPr>
                        <a:t>Agregar al PATH o </a:t>
                      </a:r>
                      <a:r>
                        <a:rPr sz="1316" b="0">
                          <a:solidFill>
                            <a:srgbClr val="156082"/>
                          </a:solidFill>
                          <a:latin typeface="Consolas"/>
                        </a:rPr>
                        <a:t>npx @ionic/cli</a:t>
                      </a:r>
                    </a:p>
                  </a:txBody>
                  <a:tcPr anchor="ctr" marL="146304" marR="146304">
                    <a:solidFill>
                      <a:srgbClr val="FFFFFF"/>
                    </a:solidFill>
                  </a:tcPr>
                </a:tc>
              </a:tr>
              <a:tr h="475488">
                <a:tc>
                  <a:txBody>
                    <a:bodyPr wrap="square"/>
                    <a:lstStyle/>
                    <a:p>
                      <a:r>
                        <a:rPr sz="1400" b="1">
                          <a:solidFill>
                            <a:srgbClr val="33475B"/>
                          </a:solidFill>
                          <a:latin typeface="Aptos"/>
                        </a:rPr>
                        <a:t>Pantalla en blanco en el teléfono</a:t>
                      </a:r>
                    </a:p>
                  </a:txBody>
                  <a:tcPr anchor="ctr" marL="146304" marR="146304">
                    <a:solidFill>
                      <a:srgbClr val="F4F7FA"/>
                    </a:solidFill>
                  </a:tcPr>
                </a:tc>
                <a:tc>
                  <a:txBody>
                    <a:bodyPr wrap="square"/>
                    <a:lstStyle/>
                    <a:p>
                      <a:r>
                        <a:rPr sz="1400" b="0">
                          <a:solidFill>
                            <a:srgbClr val="33475B"/>
                          </a:solidFill>
                          <a:latin typeface="Aptos"/>
                        </a:rPr>
                        <a:t>Sin build + sync, o </a:t>
                      </a:r>
                      <a:r>
                        <a:rPr sz="1316" b="0">
                          <a:solidFill>
                            <a:srgbClr val="156082"/>
                          </a:solidFill>
                          <a:latin typeface="Consolas"/>
                        </a:rPr>
                        <a:t>webDir</a:t>
                      </a:r>
                      <a:r>
                        <a:rPr sz="1400" b="0">
                          <a:solidFill>
                            <a:srgbClr val="33475B"/>
                          </a:solidFill>
                          <a:latin typeface="Aptos"/>
                        </a:rPr>
                        <a:t> distinto</a:t>
                      </a:r>
                    </a:p>
                  </a:txBody>
                  <a:tcPr anchor="ctr" marL="146304" marR="146304">
                    <a:solidFill>
                      <a:srgbClr val="F4F7FA"/>
                    </a:solidFill>
                  </a:tcPr>
                </a:tc>
                <a:tc>
                  <a:txBody>
                    <a:bodyPr wrap="square"/>
                    <a:lstStyle/>
                    <a:p>
                      <a:r>
                        <a:rPr sz="1316" b="0">
                          <a:solidFill>
                            <a:srgbClr val="156082"/>
                          </a:solidFill>
                          <a:latin typeface="Consolas"/>
                        </a:rPr>
                        <a:t>ionic build &amp;&amp; npx cap sync</a:t>
                      </a:r>
                    </a:p>
                  </a:txBody>
                  <a:tcPr anchor="ctr" marL="146304" marR="146304">
                    <a:solidFill>
                      <a:srgbClr val="F4F7FA"/>
                    </a:solidFill>
                  </a:tcPr>
                </a:tc>
              </a:tr>
              <a:tr h="475488">
                <a:tc>
                  <a:txBody>
                    <a:bodyPr wrap="square"/>
                    <a:lstStyle/>
                    <a:p>
                      <a:r>
                        <a:rPr sz="1400" b="1">
                          <a:solidFill>
                            <a:srgbClr val="33475B"/>
                          </a:solidFill>
                          <a:latin typeface="Aptos"/>
                        </a:rPr>
                        <a:t>«plugin is not implemented»</a:t>
                      </a:r>
                    </a:p>
                  </a:txBody>
                  <a:tcPr anchor="ctr" marL="146304" marR="146304">
                    <a:solidFill>
                      <a:srgbClr val="FFFFFF"/>
                    </a:solidFill>
                  </a:tcPr>
                </a:tc>
                <a:tc>
                  <a:txBody>
                    <a:bodyPr wrap="square"/>
                    <a:lstStyle/>
                    <a:p>
                      <a:r>
                        <a:rPr sz="1400" b="0">
                          <a:solidFill>
                            <a:srgbClr val="33475B"/>
                          </a:solidFill>
                          <a:latin typeface="Aptos"/>
                        </a:rPr>
                        <a:t>Plugin sin sincronizar</a:t>
                      </a:r>
                    </a:p>
                  </a:txBody>
                  <a:tcPr anchor="ctr" marL="146304" marR="146304">
                    <a:solidFill>
                      <a:srgbClr val="FFFFFF"/>
                    </a:solidFill>
                  </a:tcPr>
                </a:tc>
                <a:tc>
                  <a:txBody>
                    <a:bodyPr wrap="square"/>
                    <a:lstStyle/>
                    <a:p>
                      <a:r>
                        <a:rPr sz="1316" b="0">
                          <a:solidFill>
                            <a:srgbClr val="156082"/>
                          </a:solidFill>
                          <a:latin typeface="Consolas"/>
                        </a:rPr>
                        <a:t>npx cap sync</a:t>
                      </a:r>
                      <a:r>
                        <a:rPr sz="1400" b="0">
                          <a:solidFill>
                            <a:srgbClr val="33475B"/>
                          </a:solidFill>
                          <a:latin typeface="Aptos"/>
                        </a:rPr>
                        <a:t> y recompilar</a:t>
                      </a:r>
                    </a:p>
                  </a:txBody>
                  <a:tcPr anchor="ctr" marL="146304" marR="146304">
                    <a:solidFill>
                      <a:srgbClr val="FFFFFF"/>
                    </a:solidFill>
                  </a:tcPr>
                </a:tc>
              </a:tr>
              <a:tr h="475488">
                <a:tc>
                  <a:txBody>
                    <a:bodyPr wrap="square"/>
                    <a:lstStyle/>
                    <a:p>
                      <a:r>
                        <a:rPr sz="1316" b="1">
                          <a:solidFill>
                            <a:srgbClr val="156082"/>
                          </a:solidFill>
                          <a:latin typeface="Consolas"/>
                        </a:rPr>
                        <a:t>SDK location not found</a:t>
                      </a:r>
                    </a:p>
                  </a:txBody>
                  <a:tcPr anchor="ctr" marL="146304" marR="146304">
                    <a:solidFill>
                      <a:srgbClr val="F4F7FA"/>
                    </a:solidFill>
                  </a:tcPr>
                </a:tc>
                <a:tc>
                  <a:txBody>
                    <a:bodyPr wrap="square"/>
                    <a:lstStyle/>
                    <a:p>
                      <a:r>
                        <a:rPr sz="1400" b="0">
                          <a:solidFill>
                            <a:srgbClr val="33475B"/>
                          </a:solidFill>
                          <a:latin typeface="Aptos"/>
                        </a:rPr>
                        <a:t>SDK sin ubicar o JDK distinto</a:t>
                      </a:r>
                    </a:p>
                  </a:txBody>
                  <a:tcPr anchor="ctr" marL="146304" marR="146304">
                    <a:solidFill>
                      <a:srgbClr val="F4F7FA"/>
                    </a:solidFill>
                  </a:tcPr>
                </a:tc>
                <a:tc>
                  <a:txBody>
                    <a:bodyPr wrap="square"/>
                    <a:lstStyle/>
                    <a:p>
                      <a:r>
                        <a:rPr sz="1400" b="0">
                          <a:solidFill>
                            <a:srgbClr val="33475B"/>
                          </a:solidFill>
                          <a:latin typeface="Aptos"/>
                        </a:rPr>
                        <a:t>Abrir en Android Studio; su JDK 21</a:t>
                      </a:r>
                    </a:p>
                  </a:txBody>
                  <a:tcPr anchor="ctr" marL="146304" marR="146304">
                    <a:solidFill>
                      <a:srgbClr val="F4F7FA"/>
                    </a:solidFill>
                  </a:tcPr>
                </a:tc>
              </a:tr>
              <a:tr h="475488">
                <a:tc>
                  <a:txBody>
                    <a:bodyPr wrap="square"/>
                    <a:lstStyle/>
                    <a:p>
                      <a:r>
                        <a:rPr sz="1400" b="1">
                          <a:solidFill>
                            <a:srgbClr val="33475B"/>
                          </a:solidFill>
                          <a:latin typeface="Aptos"/>
                        </a:rPr>
                        <a:t>Teléfono ausente o </a:t>
                      </a:r>
                      <a:r>
                        <a:rPr sz="1400" b="1" i="1">
                          <a:solidFill>
                            <a:srgbClr val="33475B"/>
                          </a:solidFill>
                          <a:latin typeface="Aptos"/>
                        </a:rPr>
                        <a:t>unauthorized</a:t>
                      </a:r>
                    </a:p>
                  </a:txBody>
                  <a:tcPr anchor="ctr" marL="146304" marR="146304">
                    <a:solidFill>
                      <a:srgbClr val="FFFFFF"/>
                    </a:solidFill>
                  </a:tcPr>
                </a:tc>
                <a:tc>
                  <a:txBody>
                    <a:bodyPr wrap="square"/>
                    <a:lstStyle/>
                    <a:p>
                      <a:r>
                        <a:rPr sz="1400" b="0">
                          <a:solidFill>
                            <a:srgbClr val="33475B"/>
                          </a:solidFill>
                          <a:latin typeface="Aptos"/>
                        </a:rPr>
                        <a:t>Depuración USB sin activar</a:t>
                      </a:r>
                    </a:p>
                  </a:txBody>
                  <a:tcPr anchor="ctr" marL="146304" marR="146304">
                    <a:solidFill>
                      <a:srgbClr val="FFFFFF"/>
                    </a:solidFill>
                  </a:tcPr>
                </a:tc>
                <a:tc>
                  <a:txBody>
                    <a:bodyPr wrap="square"/>
                    <a:lstStyle/>
                    <a:p>
                      <a:r>
                        <a:rPr sz="1400" b="0">
                          <a:solidFill>
                            <a:srgbClr val="33475B"/>
                          </a:solidFill>
                          <a:latin typeface="Aptos"/>
                        </a:rPr>
                        <a:t>Activarla y aceptar la huella RSA</a:t>
                      </a:r>
                    </a:p>
                  </a:txBody>
                  <a:tcPr anchor="ctr" marL="146304" marR="146304">
                    <a:solidFill>
                      <a:srgbClr val="FFFFFF"/>
                    </a:solidFill>
                  </a:tcPr>
                </a:tc>
              </a:tr>
              <a:tr h="475488">
                <a:tc>
                  <a:txBody>
                    <a:bodyPr wrap="square"/>
                    <a:lstStyle/>
                    <a:p>
                      <a:r>
                        <a:rPr sz="1400" b="1">
                          <a:solidFill>
                            <a:srgbClr val="33475B"/>
                          </a:solidFill>
                          <a:latin typeface="Aptos"/>
                        </a:rPr>
                        <a:t>API ok en navegador, no en teléfono</a:t>
                      </a:r>
                    </a:p>
                  </a:txBody>
                  <a:tcPr anchor="ctr" marL="146304" marR="146304">
                    <a:solidFill>
                      <a:srgbClr val="F4F7FA"/>
                    </a:solidFill>
                  </a:tcPr>
                </a:tc>
                <a:tc>
                  <a:txBody>
                    <a:bodyPr wrap="square"/>
                    <a:lstStyle/>
                    <a:p>
                      <a:r>
                        <a:rPr sz="1316" b="0">
                          <a:solidFill>
                            <a:srgbClr val="156082"/>
                          </a:solidFill>
                          <a:latin typeface="Consolas"/>
                        </a:rPr>
                        <a:t>localhost</a:t>
                      </a:r>
                      <a:r>
                        <a:rPr sz="1400" b="0">
                          <a:solidFill>
                            <a:srgbClr val="33475B"/>
                          </a:solidFill>
                          <a:latin typeface="Aptos"/>
                        </a:rPr>
                        <a:t>, HTTP en claro o CORS</a:t>
                      </a:r>
                    </a:p>
                  </a:txBody>
                  <a:tcPr anchor="ctr" marL="146304" marR="146304">
                    <a:solidFill>
                      <a:srgbClr val="F4F7FA"/>
                    </a:solidFill>
                  </a:tcPr>
                </a:tc>
                <a:tc>
                  <a:txBody>
                    <a:bodyPr wrap="square"/>
                    <a:lstStyle/>
                    <a:p>
                      <a:r>
                        <a:rPr sz="1400" b="0">
                          <a:solidFill>
                            <a:srgbClr val="33475B"/>
                          </a:solidFill>
                          <a:latin typeface="Aptos"/>
                        </a:rPr>
                        <a:t>URL por entorno, HTTPS y CORS</a:t>
                      </a:r>
                    </a:p>
                  </a:txBody>
                  <a:tcPr anchor="ctr" marL="146304" marR="146304">
                    <a:solidFill>
                      <a:srgbClr val="F4F7FA"/>
                    </a:solidFill>
                  </a:tcPr>
                </a:tc>
              </a:tr>
              <a:tr h="475488">
                <a:tc>
                  <a:txBody>
                    <a:bodyPr wrap="square"/>
                    <a:lstStyle/>
                    <a:p>
                      <a:r>
                        <a:rPr sz="1400" b="1">
                          <a:solidFill>
                            <a:srgbClr val="33475B"/>
                          </a:solidFill>
                          <a:latin typeface="Aptos"/>
                        </a:rPr>
                        <a:t>iOS: «Signing requires a team»</a:t>
                      </a:r>
                    </a:p>
                  </a:txBody>
                  <a:tcPr anchor="ctr" marL="146304" marR="146304">
                    <a:solidFill>
                      <a:srgbClr val="FFFFFF"/>
                    </a:solidFill>
                  </a:tcPr>
                </a:tc>
                <a:tc>
                  <a:txBody>
                    <a:bodyPr wrap="square"/>
                    <a:lstStyle/>
                    <a:p>
                      <a:r>
                        <a:rPr sz="1400" b="0">
                          <a:solidFill>
                            <a:srgbClr val="33475B"/>
                          </a:solidFill>
                          <a:latin typeface="Aptos"/>
                        </a:rPr>
                        <a:t>Xcode sin equipo de firma</a:t>
                      </a:r>
                    </a:p>
                  </a:txBody>
                  <a:tcPr anchor="ctr" marL="146304" marR="146304">
                    <a:solidFill>
                      <a:srgbClr val="FFFFFF"/>
                    </a:solidFill>
                  </a:tcPr>
                </a:tc>
                <a:tc>
                  <a:txBody>
                    <a:bodyPr wrap="square"/>
                    <a:lstStyle/>
                    <a:p>
                      <a:r>
                        <a:rPr sz="1400" b="0">
                          <a:solidFill>
                            <a:srgbClr val="33475B"/>
                          </a:solidFill>
                          <a:latin typeface="Aptos"/>
                        </a:rPr>
                        <a:t>Elegir Team; un Apple ID gratis sirve</a:t>
                      </a:r>
                    </a:p>
                  </a:txBody>
                  <a:tcPr anchor="ctr" marL="146304" marR="146304">
                    <a:solidFill>
                      <a:srgbClr val="FFFFFF"/>
                    </a:solidFill>
                  </a:tcPr>
                </a:tc>
              </a:tr>
              <a:tr h="475488">
                <a:tc>
                  <a:txBody>
                    <a:bodyPr wrap="square"/>
                    <a:lstStyle/>
                    <a:p>
                      <a:r>
                        <a:rPr sz="1400" b="1">
                          <a:solidFill>
                            <a:srgbClr val="33475B"/>
                          </a:solidFill>
                          <a:latin typeface="Aptos"/>
                        </a:rPr>
                        <a:t>Distinto en Android y en iOS</a:t>
                      </a:r>
                    </a:p>
                  </a:txBody>
                  <a:tcPr anchor="ctr" marL="146304" marR="146304">
                    <a:solidFill>
                      <a:srgbClr val="F4F7FA"/>
                    </a:solidFill>
                  </a:tcPr>
                </a:tc>
                <a:tc>
                  <a:txBody>
                    <a:bodyPr wrap="square"/>
                    <a:lstStyle/>
                    <a:p>
                      <a:r>
                        <a:rPr sz="1400" b="0">
                          <a:solidFill>
                            <a:srgbClr val="33475B"/>
                          </a:solidFill>
                          <a:latin typeface="Aptos"/>
                        </a:rPr>
                        <a:t>Modo </a:t>
                      </a:r>
                      <a:r>
                        <a:rPr sz="1316" b="0">
                          <a:solidFill>
                            <a:srgbClr val="156082"/>
                          </a:solidFill>
                          <a:latin typeface="Consolas"/>
                        </a:rPr>
                        <a:t>md</a:t>
                      </a:r>
                      <a:r>
                        <a:rPr sz="1400" b="0">
                          <a:solidFill>
                            <a:srgbClr val="33475B"/>
                          </a:solidFill>
                          <a:latin typeface="Aptos"/>
                        </a:rPr>
                        <a:t> frente a modo </a:t>
                      </a:r>
                      <a:r>
                        <a:rPr sz="1316" b="0">
                          <a:solidFill>
                            <a:srgbClr val="156082"/>
                          </a:solidFill>
                          <a:latin typeface="Consolas"/>
                        </a:rPr>
                        <a:t>ios</a:t>
                      </a:r>
                    </a:p>
                  </a:txBody>
                  <a:tcPr anchor="ctr" marL="146304" marR="146304">
                    <a:solidFill>
                      <a:srgbClr val="F4F7FA"/>
                    </a:solidFill>
                  </a:tcPr>
                </a:tc>
                <a:tc>
                  <a:txBody>
                    <a:bodyPr wrap="square"/>
                    <a:lstStyle/>
                    <a:p>
                      <a:r>
                        <a:rPr sz="1400" b="0">
                          <a:solidFill>
                            <a:srgbClr val="33475B"/>
                          </a:solidFill>
                          <a:latin typeface="Aptos"/>
                        </a:rPr>
                        <a:t>Esperado; forzar uno exige ADR</a:t>
                      </a:r>
                    </a:p>
                  </a:txBody>
                  <a:tcPr anchor="ctr" marL="146304" marR="146304">
                    <a:solidFill>
                      <a:srgbClr val="F4F7FA"/>
                    </a:solidFill>
                  </a:tcPr>
                </a:tc>
              </a:tr>
              <a:tr h="475488">
                <a:tc>
                  <a:txBody>
                    <a:bodyPr wrap="square"/>
                    <a:lstStyle/>
                    <a:p>
                      <a:r>
                        <a:rPr sz="1400" b="1">
                          <a:solidFill>
                            <a:srgbClr val="33475B"/>
                          </a:solidFill>
                          <a:latin typeface="Aptos"/>
                        </a:rPr>
                        <a:t>Muestra una versión vieja</a:t>
                      </a:r>
                    </a:p>
                  </a:txBody>
                  <a:tcPr anchor="ctr" marL="146304" marR="146304">
                    <a:solidFill>
                      <a:srgbClr val="FFFFFF"/>
                    </a:solidFill>
                  </a:tcPr>
                </a:tc>
                <a:tc>
                  <a:txBody>
                    <a:bodyPr wrap="square"/>
                    <a:lstStyle/>
                    <a:p>
                      <a:r>
                        <a:rPr sz="1400" b="0">
                          <a:solidFill>
                            <a:srgbClr val="33475B"/>
                          </a:solidFill>
                          <a:latin typeface="Aptos"/>
                        </a:rPr>
                        <a:t>Caché o instalación anterior</a:t>
                      </a:r>
                    </a:p>
                  </a:txBody>
                  <a:tcPr anchor="ctr" marL="146304" marR="146304">
                    <a:solidFill>
                      <a:srgbClr val="FFFFFF"/>
                    </a:solidFill>
                  </a:tcPr>
                </a:tc>
                <a:tc>
                  <a:txBody>
                    <a:bodyPr wrap="square"/>
                    <a:lstStyle/>
                    <a:p>
                      <a:r>
                        <a:rPr sz="1400" b="0">
                          <a:solidFill>
                            <a:srgbClr val="33475B"/>
                          </a:solidFill>
                          <a:latin typeface="Aptos"/>
                        </a:rPr>
                        <a:t>Desinstalar y reinstalar</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La app funciona en </a:t>
            </a:r>
            <a:r>
              <a:rPr sz="2068" b="1">
                <a:solidFill>
                  <a:srgbClr val="156082"/>
                </a:solidFill>
                <a:latin typeface="Consolas"/>
              </a:rPr>
              <a:t>ionic serve</a:t>
            </a:r>
            <a:r>
              <a:rPr sz="2200" b="1">
                <a:solidFill>
                  <a:srgbClr val="0E2841"/>
                </a:solidFill>
                <a:latin typeface="Aptos Display"/>
              </a:rPr>
              <a:t>, pero en el teléfono falla </a:t>
            </a:r>
            <a:r>
              <a:rPr sz="2068" b="1">
                <a:solidFill>
                  <a:srgbClr val="156082"/>
                </a:solidFill>
                <a:latin typeface="Consolas"/>
              </a:rPr>
              <a:t>http://localhost:3000</a:t>
            </a:r>
            <a:r>
              <a:rPr sz="2200" b="1">
                <a:solidFill>
                  <a:srgbClr val="0E2841"/>
                </a:solidFill>
                <a:latin typeface="Aptos Display"/>
              </a:rPr>
              <a:t>. ¿Cuál es la causa más probable?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WebView del teléfono no admite peticiones HTTP asíncronas a un servidor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1974" b="0">
                <a:solidFill>
                  <a:srgbClr val="156082"/>
                </a:solidFill>
                <a:latin typeface="Consolas"/>
              </a:rPr>
              <a:t>localhost</a:t>
            </a:r>
            <a:r>
              <a:rPr sz="2100" b="0">
                <a:solidFill>
                  <a:srgbClr val="0E2841"/>
                </a:solidFill>
                <a:latin typeface="Aptos"/>
              </a:rPr>
              <a:t> es el propio teléfono y el HTTP en claro está bloqueado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Angular desactiva </a:t>
            </a:r>
            <a:r>
              <a:rPr sz="1974" b="0">
                <a:solidFill>
                  <a:srgbClr val="156082"/>
                </a:solidFill>
                <a:latin typeface="Consolas"/>
              </a:rPr>
              <a:t>HttpClient</a:t>
            </a:r>
            <a:r>
              <a:rPr sz="2100" b="0">
                <a:solidFill>
                  <a:srgbClr val="0E2841"/>
                </a:solidFill>
                <a:latin typeface="Aptos"/>
              </a:rPr>
              <a:t> cuando la app corre dentro de Capacitor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No se ejecutó </a:t>
            </a:r>
            <a:r>
              <a:rPr sz="1974" b="0">
                <a:solidFill>
                  <a:srgbClr val="156082"/>
                </a:solidFill>
                <a:latin typeface="Consolas"/>
              </a:rPr>
              <a:t>ionic doctor check</a:t>
            </a:r>
            <a:r>
              <a:rPr sz="2100" b="0">
                <a:solidFill>
                  <a:srgbClr val="0E2841"/>
                </a:solidFill>
                <a:latin typeface="Aptos"/>
              </a:rPr>
              <a:t> antes de compilar para Android</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42 /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08</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Errores, entrega y síntesis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Lo que más cuesta en el semestre, lo que pide el H1 y lo que te llevas</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Ocho errores que cuestan el semestre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486054">
                <a:tc>
                  <a:txBody>
                    <a:bodyPr wrap="square"/>
                    <a:lstStyle/>
                    <a:p>
                      <a:r>
                        <a:rPr sz="1513" b="1">
                          <a:solidFill>
                            <a:srgbClr val="FFFFFF"/>
                          </a:solidFill>
                          <a:latin typeface="Aptos"/>
                        </a:rPr>
                        <a:t>Error</a:t>
                      </a:r>
                    </a:p>
                  </a:txBody>
                  <a:tcPr anchor="ctr" marL="146304" marR="146304">
                    <a:solidFill>
                      <a:srgbClr val="156082"/>
                    </a:solidFill>
                  </a:tcPr>
                </a:tc>
                <a:tc>
                  <a:txBody>
                    <a:bodyPr wrap="square"/>
                    <a:lstStyle/>
                    <a:p>
                      <a:r>
                        <a:rPr sz="1513" b="1">
                          <a:solidFill>
                            <a:srgbClr val="FFFFFF"/>
                          </a:solidFill>
                          <a:latin typeface="Aptos"/>
                        </a:rPr>
                        <a:t>Causa</a:t>
                      </a:r>
                    </a:p>
                  </a:txBody>
                  <a:tcPr anchor="ctr" marL="146304" marR="146304">
                    <a:solidFill>
                      <a:srgbClr val="156082"/>
                    </a:solidFill>
                  </a:tcPr>
                </a:tc>
                <a:tc>
                  <a:txBody>
                    <a:bodyPr wrap="square"/>
                    <a:lstStyle/>
                    <a:p>
                      <a:r>
                        <a:rPr sz="1513" b="1">
                          <a:solidFill>
                            <a:srgbClr val="FFFFFF"/>
                          </a:solidFill>
                          <a:latin typeface="Aptos"/>
                        </a:rPr>
                        <a:t>Corrección</a:t>
                      </a:r>
                    </a:p>
                  </a:txBody>
                  <a:tcPr anchor="ctr" marL="146304" marR="146304">
                    <a:solidFill>
                      <a:srgbClr val="156082"/>
                    </a:solidFill>
                  </a:tcPr>
                </a:tc>
              </a:tr>
              <a:tr h="486054">
                <a:tc>
                  <a:txBody>
                    <a:bodyPr wrap="square"/>
                    <a:lstStyle/>
                    <a:p>
                      <a:r>
                        <a:rPr sz="1412" b="1">
                          <a:solidFill>
                            <a:srgbClr val="33475B"/>
                          </a:solidFill>
                          <a:latin typeface="Aptos"/>
                        </a:rPr>
                        <a:t>Organizar por tipo técnico</a:t>
                      </a:r>
                    </a:p>
                  </a:txBody>
                  <a:tcPr anchor="ctr" marL="146304" marR="146304">
                    <a:solidFill>
                      <a:srgbClr val="FFFFFF"/>
                    </a:solidFill>
                  </a:tcPr>
                </a:tc>
                <a:tc>
                  <a:txBody>
                    <a:bodyPr wrap="square"/>
                    <a:lstStyle/>
                    <a:p>
                      <a:r>
                        <a:rPr sz="1412" b="0">
                          <a:solidFill>
                            <a:srgbClr val="33475B"/>
                          </a:solidFill>
                          <a:latin typeface="Aptos"/>
                        </a:rPr>
                        <a:t>Se copia un tutorial</a:t>
                      </a:r>
                    </a:p>
                  </a:txBody>
                  <a:tcPr anchor="ctr" marL="146304" marR="146304">
                    <a:solidFill>
                      <a:srgbClr val="FFFFFF"/>
                    </a:solidFill>
                  </a:tcPr>
                </a:tc>
                <a:tc>
                  <a:txBody>
                    <a:bodyPr wrap="square"/>
                    <a:lstStyle/>
                    <a:p>
                      <a:r>
                        <a:rPr sz="1412" b="0">
                          <a:solidFill>
                            <a:srgbClr val="33475B"/>
                          </a:solidFill>
                          <a:latin typeface="Aptos"/>
                        </a:rPr>
                        <a:t>Por feature; lo común a </a:t>
                      </a:r>
                      <a:r>
                        <a:rPr sz="1327" b="0">
                          <a:solidFill>
                            <a:srgbClr val="156082"/>
                          </a:solidFill>
                          <a:latin typeface="Consolas"/>
                        </a:rPr>
                        <a:t>core/</a:t>
                      </a:r>
                      <a:r>
                        <a:rPr sz="1412" b="0">
                          <a:solidFill>
                            <a:srgbClr val="33475B"/>
                          </a:solidFill>
                          <a:latin typeface="Aptos"/>
                        </a:rPr>
                        <a:t> o </a:t>
                      </a:r>
                      <a:r>
                        <a:rPr sz="1327" b="0">
                          <a:solidFill>
                            <a:srgbClr val="156082"/>
                          </a:solidFill>
                          <a:latin typeface="Consolas"/>
                        </a:rPr>
                        <a:t>shared/</a:t>
                      </a:r>
                    </a:p>
                  </a:txBody>
                  <a:tcPr anchor="ctr" marL="146304" marR="146304">
                    <a:solidFill>
                      <a:srgbClr val="FFFFFF"/>
                    </a:solidFill>
                  </a:tcPr>
                </a:tc>
              </a:tr>
              <a:tr h="486054">
                <a:tc>
                  <a:txBody>
                    <a:bodyPr wrap="square"/>
                    <a:lstStyle/>
                    <a:p>
                      <a:r>
                        <a:rPr sz="1412" b="1">
                          <a:solidFill>
                            <a:srgbClr val="33475B"/>
                          </a:solidFill>
                          <a:latin typeface="Aptos"/>
                        </a:rPr>
                        <a:t>Lógica de negocio en la página</a:t>
                      </a:r>
                    </a:p>
                  </a:txBody>
                  <a:tcPr anchor="ctr" marL="146304" marR="146304">
                    <a:solidFill>
                      <a:srgbClr val="F4F7FA"/>
                    </a:solidFill>
                  </a:tcPr>
                </a:tc>
                <a:tc>
                  <a:txBody>
                    <a:bodyPr wrap="square"/>
                    <a:lstStyle/>
                    <a:p>
                      <a:r>
                        <a:rPr sz="1412" b="0">
                          <a:solidFill>
                            <a:srgbClr val="33475B"/>
                          </a:solidFill>
                          <a:latin typeface="Aptos"/>
                        </a:rPr>
                        <a:t>Es el lugar más cercano</a:t>
                      </a:r>
                    </a:p>
                  </a:txBody>
                  <a:tcPr anchor="ctr" marL="146304" marR="146304">
                    <a:solidFill>
                      <a:srgbClr val="F4F7FA"/>
                    </a:solidFill>
                  </a:tcPr>
                </a:tc>
                <a:tc>
                  <a:txBody>
                    <a:bodyPr wrap="square"/>
                    <a:lstStyle/>
                    <a:p>
                      <a:r>
                        <a:rPr sz="1412" b="0">
                          <a:solidFill>
                            <a:srgbClr val="33475B"/>
                          </a:solidFill>
                          <a:latin typeface="Aptos"/>
                        </a:rPr>
                        <a:t>Caso de uso en </a:t>
                      </a:r>
                      <a:r>
                        <a:rPr sz="1327" b="0">
                          <a:solidFill>
                            <a:srgbClr val="156082"/>
                          </a:solidFill>
                          <a:latin typeface="Consolas"/>
                        </a:rPr>
                        <a:t>domain/</a:t>
                      </a:r>
                    </a:p>
                  </a:txBody>
                  <a:tcPr anchor="ctr" marL="146304" marR="146304">
                    <a:solidFill>
                      <a:srgbClr val="F4F7FA"/>
                    </a:solidFill>
                  </a:tcPr>
                </a:tc>
              </a:tr>
              <a:tr h="486054">
                <a:tc>
                  <a:txBody>
                    <a:bodyPr wrap="square"/>
                    <a:lstStyle/>
                    <a:p>
                      <a:r>
                        <a:rPr sz="1412" b="1">
                          <a:solidFill>
                            <a:srgbClr val="33475B"/>
                          </a:solidFill>
                          <a:latin typeface="Aptos"/>
                        </a:rPr>
                        <a:t>Plugin en el dominio o la página</a:t>
                      </a:r>
                    </a:p>
                  </a:txBody>
                  <a:tcPr anchor="ctr" marL="146304" marR="146304">
                    <a:solidFill>
                      <a:srgbClr val="FFFFFF"/>
                    </a:solidFill>
                  </a:tcPr>
                </a:tc>
                <a:tc>
                  <a:txBody>
                    <a:bodyPr wrap="square"/>
                    <a:lstStyle/>
                    <a:p>
                      <a:r>
                        <a:rPr sz="1412" b="0">
                          <a:solidFill>
                            <a:srgbClr val="33475B"/>
                          </a:solidFill>
                          <a:latin typeface="Aptos"/>
                        </a:rPr>
                        <a:t>La documentación lo llama directo</a:t>
                      </a:r>
                    </a:p>
                  </a:txBody>
                  <a:tcPr anchor="ctr" marL="146304" marR="146304">
                    <a:solidFill>
                      <a:srgbClr val="FFFFFF"/>
                    </a:solidFill>
                  </a:tcPr>
                </a:tc>
                <a:tc>
                  <a:txBody>
                    <a:bodyPr wrap="square"/>
                    <a:lstStyle/>
                    <a:p>
                      <a:r>
                        <a:rPr sz="1412" b="0">
                          <a:solidFill>
                            <a:srgbClr val="33475B"/>
                          </a:solidFill>
                          <a:latin typeface="Aptos"/>
                        </a:rPr>
                        <a:t>Puerto en domain, adaptador en data</a:t>
                      </a:r>
                    </a:p>
                  </a:txBody>
                  <a:tcPr anchor="ctr" marL="146304" marR="146304">
                    <a:solidFill>
                      <a:srgbClr val="FFFFFF"/>
                    </a:solidFill>
                  </a:tcPr>
                </a:tc>
              </a:tr>
              <a:tr h="486054">
                <a:tc>
                  <a:txBody>
                    <a:bodyPr wrap="square"/>
                    <a:lstStyle/>
                    <a:p>
                      <a:r>
                        <a:rPr sz="1412" b="1">
                          <a:solidFill>
                            <a:srgbClr val="33475B"/>
                          </a:solidFill>
                          <a:latin typeface="Aptos"/>
                        </a:rPr>
                        <a:t>El DTO llega a las plantillas</a:t>
                      </a:r>
                    </a:p>
                  </a:txBody>
                  <a:tcPr anchor="ctr" marL="146304" marR="146304">
                    <a:solidFill>
                      <a:srgbClr val="F4F7FA"/>
                    </a:solidFill>
                  </a:tcPr>
                </a:tc>
                <a:tc>
                  <a:txBody>
                    <a:bodyPr wrap="square"/>
                    <a:lstStyle/>
                    <a:p>
                      <a:r>
                        <a:rPr sz="1412" b="0">
                          <a:solidFill>
                            <a:srgbClr val="33475B"/>
                          </a:solidFill>
                          <a:latin typeface="Aptos"/>
                        </a:rPr>
                        <a:t>Se reutiliza el tipo HTTP</a:t>
                      </a:r>
                    </a:p>
                  </a:txBody>
                  <a:tcPr anchor="ctr" marL="146304" marR="146304">
                    <a:solidFill>
                      <a:srgbClr val="F4F7FA"/>
                    </a:solidFill>
                  </a:tcPr>
                </a:tc>
                <a:tc>
                  <a:txBody>
                    <a:bodyPr wrap="square"/>
                    <a:lstStyle/>
                    <a:p>
                      <a:r>
                        <a:rPr sz="1412" b="0">
                          <a:solidFill>
                            <a:srgbClr val="33475B"/>
                          </a:solidFill>
                          <a:latin typeface="Aptos"/>
                        </a:rPr>
                        <a:t>DTO y mapper en data</a:t>
                      </a:r>
                    </a:p>
                  </a:txBody>
                  <a:tcPr anchor="ctr" marL="146304" marR="146304">
                    <a:solidFill>
                      <a:srgbClr val="F4F7FA"/>
                    </a:solidFill>
                  </a:tcPr>
                </a:tc>
              </a:tr>
              <a:tr h="486054">
                <a:tc>
                  <a:txBody>
                    <a:bodyPr wrap="square"/>
                    <a:lstStyle/>
                    <a:p>
                      <a:r>
                        <a:rPr sz="1412" b="1">
                          <a:solidFill>
                            <a:srgbClr val="33475B"/>
                          </a:solidFill>
                          <a:latin typeface="Aptos"/>
                        </a:rPr>
                        <a:t>Enfoque o framework sin ADR</a:t>
                      </a:r>
                    </a:p>
                  </a:txBody>
                  <a:tcPr anchor="ctr" marL="146304" marR="146304">
                    <a:solidFill>
                      <a:srgbClr val="FFFFFF"/>
                    </a:solidFill>
                  </a:tcPr>
                </a:tc>
                <a:tc>
                  <a:txBody>
                    <a:bodyPr wrap="square"/>
                    <a:lstStyle/>
                    <a:p>
                      <a:r>
                        <a:rPr sz="1412" b="0">
                          <a:solidFill>
                            <a:srgbClr val="33475B"/>
                          </a:solidFill>
                          <a:latin typeface="Aptos"/>
                        </a:rPr>
                        <a:t>«Lo conocemos» o «está de moda»</a:t>
                      </a:r>
                    </a:p>
                  </a:txBody>
                  <a:tcPr anchor="ctr" marL="146304" marR="146304">
                    <a:solidFill>
                      <a:srgbClr val="FFFFFF"/>
                    </a:solidFill>
                  </a:tcPr>
                </a:tc>
                <a:tc>
                  <a:txBody>
                    <a:bodyPr wrap="square"/>
                    <a:lstStyle/>
                    <a:p>
                      <a:r>
                        <a:rPr sz="1412" b="0">
                          <a:solidFill>
                            <a:srgbClr val="33475B"/>
                          </a:solidFill>
                          <a:latin typeface="Aptos"/>
                        </a:rPr>
                        <a:t>ADR con descartes y un costo</a:t>
                      </a:r>
                    </a:p>
                  </a:txBody>
                  <a:tcPr anchor="ctr" marL="146304" marR="146304">
                    <a:solidFill>
                      <a:srgbClr val="FFFFFF"/>
                    </a:solidFill>
                  </a:tcPr>
                </a:tc>
              </a:tr>
              <a:tr h="486054">
                <a:tc>
                  <a:txBody>
                    <a:bodyPr wrap="square"/>
                    <a:lstStyle/>
                    <a:p>
                      <a:r>
                        <a:rPr sz="1327" b="1">
                          <a:solidFill>
                            <a:srgbClr val="156082"/>
                          </a:solidFill>
                          <a:latin typeface="Consolas"/>
                        </a:rPr>
                        <a:t>android/</a:t>
                      </a:r>
                      <a:r>
                        <a:rPr sz="1412" b="1">
                          <a:solidFill>
                            <a:srgbClr val="33475B"/>
                          </a:solidFill>
                          <a:latin typeface="Aptos"/>
                        </a:rPr>
                        <a:t> e </a:t>
                      </a:r>
                      <a:r>
                        <a:rPr sz="1327" b="1">
                          <a:solidFill>
                            <a:srgbClr val="156082"/>
                          </a:solidFill>
                          <a:latin typeface="Consolas"/>
                        </a:rPr>
                        <a:t>ios/</a:t>
                      </a:r>
                      <a:r>
                        <a:rPr sz="1412" b="1">
                          <a:solidFill>
                            <a:srgbClr val="33475B"/>
                          </a:solidFill>
                          <a:latin typeface="Aptos"/>
                        </a:rPr>
                        <a:t> como generadas</a:t>
                      </a:r>
                    </a:p>
                  </a:txBody>
                  <a:tcPr anchor="ctr" marL="146304" marR="146304">
                    <a:solidFill>
                      <a:srgbClr val="F4F7FA"/>
                    </a:solidFill>
                  </a:tcPr>
                </a:tc>
                <a:tc>
                  <a:txBody>
                    <a:bodyPr wrap="square"/>
                    <a:lstStyle/>
                    <a:p>
                      <a:r>
                        <a:rPr sz="1412" b="0">
                          <a:solidFill>
                            <a:srgbClr val="33475B"/>
                          </a:solidFill>
                          <a:latin typeface="Aptos"/>
                        </a:rPr>
                        <a:t>Costumbre de Cordova</a:t>
                      </a:r>
                    </a:p>
                  </a:txBody>
                  <a:tcPr anchor="ctr" marL="146304" marR="146304">
                    <a:solidFill>
                      <a:srgbClr val="F4F7FA"/>
                    </a:solidFill>
                  </a:tcPr>
                </a:tc>
                <a:tc>
                  <a:txBody>
                    <a:bodyPr wrap="square"/>
                    <a:lstStyle/>
                    <a:p>
                      <a:r>
                        <a:rPr sz="1412" b="0">
                          <a:solidFill>
                            <a:srgbClr val="33475B"/>
                          </a:solidFill>
                          <a:latin typeface="Aptos"/>
                        </a:rPr>
                        <a:t>Versionarlas y revisarlas en PR</a:t>
                      </a:r>
                    </a:p>
                  </a:txBody>
                  <a:tcPr anchor="ctr" marL="146304" marR="146304">
                    <a:solidFill>
                      <a:srgbClr val="F4F7FA"/>
                    </a:solidFill>
                  </a:tcPr>
                </a:tc>
              </a:tr>
              <a:tr h="486054">
                <a:tc>
                  <a:txBody>
                    <a:bodyPr wrap="square"/>
                    <a:lstStyle/>
                    <a:p>
                      <a:r>
                        <a:rPr sz="1412" b="1">
                          <a:solidFill>
                            <a:srgbClr val="33475B"/>
                          </a:solidFill>
                          <a:latin typeface="Aptos"/>
                        </a:rPr>
                        <a:t>Validar todo en </a:t>
                      </a:r>
                      <a:r>
                        <a:rPr sz="1327" b="1">
                          <a:solidFill>
                            <a:srgbClr val="156082"/>
                          </a:solidFill>
                          <a:latin typeface="Consolas"/>
                        </a:rPr>
                        <a:t>ionic serve</a:t>
                      </a:r>
                    </a:p>
                  </a:txBody>
                  <a:tcPr anchor="ctr" marL="146304" marR="146304">
                    <a:solidFill>
                      <a:srgbClr val="FFFFFF"/>
                    </a:solidFill>
                  </a:tcPr>
                </a:tc>
                <a:tc>
                  <a:txBody>
                    <a:bodyPr wrap="square"/>
                    <a:lstStyle/>
                    <a:p>
                      <a:r>
                        <a:rPr sz="1412" b="0">
                          <a:solidFill>
                            <a:srgbClr val="33475B"/>
                          </a:solidFill>
                          <a:latin typeface="Aptos"/>
                        </a:rPr>
                        <a:t>Es el entorno más rápido</a:t>
                      </a:r>
                    </a:p>
                  </a:txBody>
                  <a:tcPr anchor="ctr" marL="146304" marR="146304">
                    <a:solidFill>
                      <a:srgbClr val="FFFFFF"/>
                    </a:solidFill>
                  </a:tcPr>
                </a:tc>
                <a:tc>
                  <a:txBody>
                    <a:bodyPr wrap="square"/>
                    <a:lstStyle/>
                    <a:p>
                      <a:r>
                        <a:rPr sz="1412" b="0">
                          <a:solidFill>
                            <a:srgbClr val="33475B"/>
                          </a:solidFill>
                          <a:latin typeface="Aptos"/>
                        </a:rPr>
                        <a:t>Nativo, en emulador o dispositivo</a:t>
                      </a:r>
                    </a:p>
                  </a:txBody>
                  <a:tcPr anchor="ctr" marL="146304" marR="146304">
                    <a:solidFill>
                      <a:srgbClr val="FFFFFF"/>
                    </a:solidFill>
                  </a:tcPr>
                </a:tc>
              </a:tr>
              <a:tr h="486054">
                <a:tc>
                  <a:txBody>
                    <a:bodyPr wrap="square"/>
                    <a:lstStyle/>
                    <a:p>
                      <a:r>
                        <a:rPr sz="1412" b="1">
                          <a:solidFill>
                            <a:srgbClr val="33475B"/>
                          </a:solidFill>
                          <a:latin typeface="Aptos"/>
                        </a:rPr>
                        <a:t>Programar antes de diseñar</a:t>
                      </a:r>
                    </a:p>
                  </a:txBody>
                  <a:tcPr anchor="ctr" marL="146304" marR="146304">
                    <a:solidFill>
                      <a:srgbClr val="F4F7FA"/>
                    </a:solidFill>
                  </a:tcPr>
                </a:tc>
                <a:tc>
                  <a:txBody>
                    <a:bodyPr wrap="square"/>
                    <a:lstStyle/>
                    <a:p>
                      <a:r>
                        <a:rPr sz="1412" b="0">
                          <a:solidFill>
                            <a:srgbClr val="33475B"/>
                          </a:solidFill>
                          <a:latin typeface="Aptos"/>
                        </a:rPr>
                        <a:t>Presión por mostrar pantallas</a:t>
                      </a:r>
                    </a:p>
                  </a:txBody>
                  <a:tcPr anchor="ctr" marL="146304" marR="146304">
                    <a:solidFill>
                      <a:srgbClr val="F4F7FA"/>
                    </a:solidFill>
                  </a:tcPr>
                </a:tc>
                <a:tc>
                  <a:txBody>
                    <a:bodyPr wrap="square"/>
                    <a:lstStyle/>
                    <a:p>
                      <a:r>
                        <a:rPr sz="1412" b="0">
                          <a:solidFill>
                            <a:srgbClr val="33475B"/>
                          </a:solidFill>
                          <a:latin typeface="Aptos"/>
                        </a:rPr>
                        <a:t>SDD: </a:t>
                      </a:r>
                      <a:r>
                        <a:rPr sz="1327" b="0">
                          <a:solidFill>
                            <a:srgbClr val="156082"/>
                          </a:solidFill>
                          <a:latin typeface="Consolas"/>
                        </a:rPr>
                        <a:t>docs(...)</a:t>
                      </a:r>
                      <a:r>
                        <a:rPr sz="1412" b="0">
                          <a:solidFill>
                            <a:srgbClr val="33475B"/>
                          </a:solidFill>
                          <a:latin typeface="Aptos"/>
                        </a:rPr>
                        <a:t> antes que </a:t>
                      </a:r>
                      <a:r>
                        <a:rPr sz="1327" b="0">
                          <a:solidFill>
                            <a:srgbClr val="156082"/>
                          </a:solidFill>
                          <a:latin typeface="Consolas"/>
                        </a:rPr>
                        <a:t>feat(...)</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43 / 45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Del concepto al H1: qué va dónde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Lo que pide la Actividad 1</a:t>
                      </a:r>
                    </a:p>
                  </a:txBody>
                  <a:tcPr anchor="ctr" marL="146304" marR="146304">
                    <a:solidFill>
                      <a:srgbClr val="156082"/>
                    </a:solidFill>
                  </a:tcPr>
                </a:tc>
                <a:tc>
                  <a:txBody>
                    <a:bodyPr wrap="square"/>
                    <a:lstStyle/>
                    <a:p>
                      <a:r>
                        <a:rPr sz="1513" b="1">
                          <a:solidFill>
                            <a:srgbClr val="FFFFFF"/>
                          </a:solidFill>
                          <a:latin typeface="Aptos"/>
                        </a:rPr>
                        <a:t>Dónde está en la OVA</a:t>
                      </a:r>
                    </a:p>
                  </a:txBody>
                  <a:tcPr anchor="ctr" marL="146304" marR="146304">
                    <a:solidFill>
                      <a:srgbClr val="156082"/>
                    </a:solidFill>
                  </a:tcPr>
                </a:tc>
                <a:tc>
                  <a:txBody>
                    <a:bodyPr wrap="square"/>
                    <a:lstStyle/>
                    <a:p>
                      <a:r>
                        <a:rPr sz="1513" b="1">
                          <a:solidFill>
                            <a:srgbClr val="FFFFFF"/>
                          </a:solidFill>
                          <a:latin typeface="Aptos"/>
                        </a:rPr>
                        <a:t>Documento del marco</a:t>
                      </a:r>
                    </a:p>
                  </a:txBody>
                  <a:tcPr anchor="ctr" marL="146304" marR="146304">
                    <a:solidFill>
                      <a:srgbClr val="156082"/>
                    </a:solidFill>
                  </a:tcPr>
                </a:tc>
              </a:tr>
              <a:tr h="488550">
                <a:tc>
                  <a:txBody>
                    <a:bodyPr wrap="square"/>
                    <a:lstStyle/>
                    <a:p>
                      <a:r>
                        <a:rPr sz="1413" b="1">
                          <a:solidFill>
                            <a:srgbClr val="33475B"/>
                          </a:solidFill>
                          <a:latin typeface="Aptos"/>
                        </a:rPr>
                        <a:t>Proyecto, problema y alcance</a:t>
                      </a:r>
                    </a:p>
                  </a:txBody>
                  <a:tcPr anchor="ctr" marL="146304" marR="146304">
                    <a:solidFill>
                      <a:srgbClr val="FFFFFF"/>
                    </a:solidFill>
                  </a:tcPr>
                </a:tc>
                <a:tc>
                  <a:txBody>
                    <a:bodyPr wrap="square"/>
                    <a:lstStyle/>
                    <a:p>
                      <a:r>
                        <a:rPr sz="1413" b="0">
                          <a:solidFill>
                            <a:srgbClr val="33475B"/>
                          </a:solidFill>
                          <a:latin typeface="Aptos"/>
                        </a:rPr>
                        <a:t>1.1 · Proyecto de aula</a:t>
                      </a:r>
                    </a:p>
                  </a:txBody>
                  <a:tcPr anchor="ctr" marL="146304" marR="146304">
                    <a:solidFill>
                      <a:srgbClr val="FFFFFF"/>
                    </a:solidFill>
                  </a:tcPr>
                </a:tc>
                <a:tc>
                  <a:txBody>
                    <a:bodyPr wrap="square"/>
                    <a:lstStyle/>
                    <a:p>
                      <a:r>
                        <a:rPr sz="1328" b="0">
                          <a:solidFill>
                            <a:srgbClr val="156082"/>
                          </a:solidFill>
                          <a:latin typeface="Consolas"/>
                        </a:rPr>
                        <a:t>docs/README.md</a:t>
                      </a:r>
                      <a:r>
                        <a:rPr sz="1413" b="0">
                          <a:solidFill>
                            <a:srgbClr val="33475B"/>
                          </a:solidFill>
                          <a:latin typeface="Aptos"/>
                        </a:rPr>
                        <a:t> y </a:t>
                      </a:r>
                      <a:r>
                        <a:rPr sz="1328" b="0">
                          <a:solidFill>
                            <a:srgbClr val="156082"/>
                          </a:solidFill>
                          <a:latin typeface="Consolas"/>
                        </a:rPr>
                        <a:t>00-gobierno/</a:t>
                      </a:r>
                    </a:p>
                  </a:txBody>
                  <a:tcPr anchor="ctr" marL="146304" marR="146304">
                    <a:solidFill>
                      <a:srgbClr val="FFFFFF"/>
                    </a:solidFill>
                  </a:tcPr>
                </a:tc>
              </a:tr>
              <a:tr h="488550">
                <a:tc>
                  <a:txBody>
                    <a:bodyPr wrap="square"/>
                    <a:lstStyle/>
                    <a:p>
                      <a:r>
                        <a:rPr sz="1413" b="1">
                          <a:solidFill>
                            <a:srgbClr val="33475B"/>
                          </a:solidFill>
                          <a:latin typeface="Aptos"/>
                        </a:rPr>
                        <a:t>Framework seleccionado y justificado</a:t>
                      </a:r>
                    </a:p>
                  </a:txBody>
                  <a:tcPr anchor="ctr" marL="146304" marR="146304">
                    <a:solidFill>
                      <a:srgbClr val="F4F7FA"/>
                    </a:solidFill>
                  </a:tcPr>
                </a:tc>
                <a:tc>
                  <a:txBody>
                    <a:bodyPr wrap="square"/>
                    <a:lstStyle/>
                    <a:p>
                      <a:r>
                        <a:rPr sz="1413" b="0">
                          <a:solidFill>
                            <a:srgbClr val="33475B"/>
                          </a:solidFill>
                          <a:latin typeface="Aptos"/>
                        </a:rPr>
                        <a:t>7 · Framework y ADR</a:t>
                      </a:r>
                    </a:p>
                  </a:txBody>
                  <a:tcPr anchor="ctr" marL="146304" marR="146304">
                    <a:solidFill>
                      <a:srgbClr val="F4F7FA"/>
                    </a:solidFill>
                  </a:tcPr>
                </a:tc>
                <a:tc>
                  <a:txBody>
                    <a:bodyPr wrap="square"/>
                    <a:lstStyle/>
                    <a:p>
                      <a:r>
                        <a:rPr sz="1413" b="0">
                          <a:solidFill>
                            <a:srgbClr val="33475B"/>
                          </a:solidFill>
                          <a:latin typeface="Aptos"/>
                        </a:rPr>
                        <a:t>ADR en </a:t>
                      </a:r>
                      <a:r>
                        <a:rPr sz="1328" b="0">
                          <a:solidFill>
                            <a:srgbClr val="156082"/>
                          </a:solidFill>
                          <a:latin typeface="Consolas"/>
                        </a:rPr>
                        <a:t>01-arquitectura/decisiones/</a:t>
                      </a:r>
                    </a:p>
                  </a:txBody>
                  <a:tcPr anchor="ctr" marL="146304" marR="146304">
                    <a:solidFill>
                      <a:srgbClr val="F4F7FA"/>
                    </a:solidFill>
                  </a:tcPr>
                </a:tc>
              </a:tr>
              <a:tr h="488550">
                <a:tc>
                  <a:txBody>
                    <a:bodyPr wrap="square"/>
                    <a:lstStyle/>
                    <a:p>
                      <a:r>
                        <a:rPr sz="1413" b="1">
                          <a:solidFill>
                            <a:srgbClr val="33475B"/>
                          </a:solidFill>
                          <a:latin typeface="Aptos"/>
                        </a:rPr>
                        <a:t>Diagrama C4 o UML con capas</a:t>
                      </a:r>
                    </a:p>
                  </a:txBody>
                  <a:tcPr anchor="ctr" marL="146304" marR="146304">
                    <a:solidFill>
                      <a:srgbClr val="FFFFFF"/>
                    </a:solidFill>
                  </a:tcPr>
                </a:tc>
                <a:tc>
                  <a:txBody>
                    <a:bodyPr wrap="square"/>
                    <a:lstStyle/>
                    <a:p>
                      <a:r>
                        <a:rPr sz="1413" b="0">
                          <a:solidFill>
                            <a:srgbClr val="33475B"/>
                          </a:solidFill>
                          <a:latin typeface="Aptos"/>
                        </a:rPr>
                        <a:t>3, 6 y 6.3</a:t>
                      </a:r>
                    </a:p>
                  </a:txBody>
                  <a:tcPr anchor="ctr" marL="146304" marR="146304">
                    <a:solidFill>
                      <a:srgbClr val="FFFFFF"/>
                    </a:solidFill>
                  </a:tcPr>
                </a:tc>
                <a:tc>
                  <a:txBody>
                    <a:bodyPr wrap="square"/>
                    <a:lstStyle/>
                    <a:p>
                      <a:r>
                        <a:rPr sz="1328" b="0">
                          <a:solidFill>
                            <a:srgbClr val="156082"/>
                          </a:solidFill>
                          <a:latin typeface="Consolas"/>
                        </a:rPr>
                        <a:t>01-arquitectura/</a:t>
                      </a:r>
                    </a:p>
                  </a:txBody>
                  <a:tcPr anchor="ctr" marL="146304" marR="146304">
                    <a:solidFill>
                      <a:srgbClr val="FFFFFF"/>
                    </a:solidFill>
                  </a:tcPr>
                </a:tc>
              </a:tr>
              <a:tr h="488550">
                <a:tc>
                  <a:txBody>
                    <a:bodyPr wrap="square"/>
                    <a:lstStyle/>
                    <a:p>
                      <a:r>
                        <a:rPr sz="1413" b="1">
                          <a:solidFill>
                            <a:srgbClr val="33475B"/>
                          </a:solidFill>
                          <a:latin typeface="Aptos"/>
                        </a:rPr>
                        <a:t>Estructura base Ionic + Capacitor</a:t>
                      </a:r>
                    </a:p>
                  </a:txBody>
                  <a:tcPr anchor="ctr" marL="146304" marR="146304">
                    <a:solidFill>
                      <a:srgbClr val="F4F7FA"/>
                    </a:solidFill>
                  </a:tcPr>
                </a:tc>
                <a:tc>
                  <a:txBody>
                    <a:bodyPr wrap="square"/>
                    <a:lstStyle/>
                    <a:p>
                      <a:r>
                        <a:rPr sz="1413" b="0">
                          <a:solidFill>
                            <a:srgbClr val="33475B"/>
                          </a:solidFill>
                          <a:latin typeface="Aptos"/>
                        </a:rPr>
                        <a:t>5 · Estructura por feature</a:t>
                      </a:r>
                    </a:p>
                  </a:txBody>
                  <a:tcPr anchor="ctr" marL="146304" marR="146304">
                    <a:solidFill>
                      <a:srgbClr val="F4F7FA"/>
                    </a:solidFill>
                  </a:tcPr>
                </a:tc>
                <a:tc>
                  <a:txBody>
                    <a:bodyPr wrap="square"/>
                    <a:lstStyle/>
                    <a:p>
                      <a:r>
                        <a:rPr sz="1328" b="0">
                          <a:solidFill>
                            <a:srgbClr val="156082"/>
                          </a:solidFill>
                          <a:latin typeface="Consolas"/>
                        </a:rPr>
                        <a:t>estructura-del-proyecto.md</a:t>
                      </a:r>
                    </a:p>
                  </a:txBody>
                  <a:tcPr anchor="ctr" marL="146304" marR="146304">
                    <a:solidFill>
                      <a:srgbClr val="F4F7FA"/>
                    </a:solidFill>
                  </a:tcPr>
                </a:tc>
              </a:tr>
              <a:tr h="488550">
                <a:tc>
                  <a:txBody>
                    <a:bodyPr wrap="square"/>
                    <a:lstStyle/>
                    <a:p>
                      <a:r>
                        <a:rPr sz="1413" b="1">
                          <a:solidFill>
                            <a:srgbClr val="33475B"/>
                          </a:solidFill>
                          <a:latin typeface="Aptos"/>
                        </a:rPr>
                        <a:t>Prototipo y backlog (10+ historias)</a:t>
                      </a:r>
                    </a:p>
                  </a:txBody>
                  <a:tcPr anchor="ctr" marL="146304" marR="146304">
                    <a:solidFill>
                      <a:srgbClr val="FFFFFF"/>
                    </a:solidFill>
                  </a:tcPr>
                </a:tc>
                <a:tc>
                  <a:txBody>
                    <a:bodyPr wrap="square"/>
                    <a:lstStyle/>
                    <a:p>
                      <a:r>
                        <a:rPr sz="1413" b="0">
                          <a:solidFill>
                            <a:srgbClr val="33475B"/>
                          </a:solidFill>
                          <a:latin typeface="Aptos"/>
                        </a:rPr>
                        <a:t>4.2 y 4.3</a:t>
                      </a:r>
                    </a:p>
                  </a:txBody>
                  <a:tcPr anchor="ctr" marL="146304" marR="146304">
                    <a:solidFill>
                      <a:srgbClr val="FFFFFF"/>
                    </a:solidFill>
                  </a:tcPr>
                </a:tc>
                <a:tc>
                  <a:txBody>
                    <a:bodyPr wrap="square"/>
                    <a:lstStyle/>
                    <a:p>
                      <a:r>
                        <a:rPr sz="1328" b="0">
                          <a:solidFill>
                            <a:srgbClr val="156082"/>
                          </a:solidFill>
                          <a:latin typeface="Consolas"/>
                        </a:rPr>
                        <a:t>pantallas/</a:t>
                      </a:r>
                      <a:r>
                        <a:rPr sz="1413" b="0">
                          <a:solidFill>
                            <a:srgbClr val="33475B"/>
                          </a:solidFill>
                          <a:latin typeface="Aptos"/>
                        </a:rPr>
                        <a:t> y </a:t>
                      </a:r>
                      <a:r>
                        <a:rPr sz="1328" b="0">
                          <a:solidFill>
                            <a:srgbClr val="156082"/>
                          </a:solidFill>
                          <a:latin typeface="Consolas"/>
                        </a:rPr>
                        <a:t>backlog.md</a:t>
                      </a:r>
                    </a:p>
                  </a:txBody>
                  <a:tcPr anchor="ctr" marL="146304" marR="146304">
                    <a:solidFill>
                      <a:srgbClr val="FFFFFF"/>
                    </a:solidFill>
                  </a:tcPr>
                </a:tc>
              </a:tr>
              <a:tr h="488550">
                <a:tc>
                  <a:txBody>
                    <a:bodyPr wrap="square"/>
                    <a:lstStyle/>
                    <a:p>
                      <a:r>
                        <a:rPr sz="1413" b="1">
                          <a:solidFill>
                            <a:srgbClr val="33475B"/>
                          </a:solidFill>
                          <a:latin typeface="Aptos"/>
                        </a:rPr>
                        <a:t>Entorno y pruebas iniciales</a:t>
                      </a:r>
                    </a:p>
                  </a:txBody>
                  <a:tcPr anchor="ctr" marL="146304" marR="146304">
                    <a:solidFill>
                      <a:srgbClr val="F4F7FA"/>
                    </a:solidFill>
                  </a:tcPr>
                </a:tc>
                <a:tc>
                  <a:txBody>
                    <a:bodyPr wrap="square"/>
                    <a:lstStyle/>
                    <a:p>
                      <a:r>
                        <a:rPr sz="1413" b="0">
                          <a:solidFill>
                            <a:srgbClr val="33475B"/>
                          </a:solidFill>
                          <a:latin typeface="Aptos"/>
                        </a:rPr>
                        <a:t>8 · Entorno y CLI</a:t>
                      </a:r>
                    </a:p>
                  </a:txBody>
                  <a:tcPr anchor="ctr" marL="146304" marR="146304">
                    <a:solidFill>
                      <a:srgbClr val="F4F7FA"/>
                    </a:solidFill>
                  </a:tcPr>
                </a:tc>
                <a:tc>
                  <a:txBody>
                    <a:bodyPr wrap="square"/>
                    <a:lstStyle/>
                    <a:p>
                      <a:r>
                        <a:rPr sz="1328" b="0">
                          <a:solidFill>
                            <a:srgbClr val="156082"/>
                          </a:solidFill>
                          <a:latin typeface="Consolas"/>
                        </a:rPr>
                        <a:t>README.md</a:t>
                      </a:r>
                      <a:r>
                        <a:rPr sz="1413" b="0">
                          <a:solidFill>
                            <a:srgbClr val="33475B"/>
                          </a:solidFill>
                          <a:latin typeface="Aptos"/>
                        </a:rPr>
                        <a:t> raíz y DoD</a:t>
                      </a:r>
                    </a:p>
                  </a:txBody>
                  <a:tcPr anchor="ctr" marL="146304" marR="146304">
                    <a:solidFill>
                      <a:srgbClr val="F4F7FA"/>
                    </a:solidFill>
                  </a:tcPr>
                </a:tc>
              </a:tr>
            </a:tbl>
          </a:graphicData>
        </a:graphic>
      </p:graphicFrame>
      <p:sp>
        <p:nvSpPr>
          <p:cNvPr id="8" name="Rounded Rectangle 7"/>
          <p:cNvSpPr/>
          <p:nvPr/>
        </p:nvSpPr>
        <p:spPr>
          <a:xfrm>
            <a:off x="566928" y="5193792"/>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248656"/>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El entregable institucional es un PDF técnico de 8 a 12 páginas en APA 7.ª ed.; su contenido sale de diligenciar las secciones 00 y 01 del marco.</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44 / 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ARQUITECTURA DE LA APP HÍBRIDA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Por descarte</a:t>
            </a:r>
          </a:p>
          <a:p>
            <a:pPr algn="l">
              <a:lnSpc>
                <a:spcPct val="120000"/>
              </a:lnSpc>
              <a:spcBef>
                <a:spcPts val="700"/>
              </a:spcBef>
            </a:pPr>
            <a:r>
              <a:rPr sz="1518" b="0">
                <a:solidFill>
                  <a:srgbClr val="33475B"/>
                </a:solidFill>
                <a:latin typeface="Aptos"/>
              </a:rPr>
              <a:t>El enfoque se elige revisando qué requisito lo descartaría</a:t>
            </a:r>
          </a:p>
        </p:txBody>
      </p:sp>
      <p:sp>
        <p:nvSpPr>
          <p:cNvPr id="10" name="Rounded Rectangle 9"/>
          <p:cNvSpPr/>
          <p:nvPr/>
        </p:nvSpPr>
        <p:spPr>
          <a:xfrm>
            <a:off x="4358640"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El puente cobra</a:t>
            </a:r>
          </a:p>
          <a:p>
            <a:pPr algn="l">
              <a:lnSpc>
                <a:spcPct val="120000"/>
              </a:lnSpc>
              <a:spcBef>
                <a:spcPts val="700"/>
              </a:spcBef>
            </a:pPr>
            <a:r>
              <a:rPr sz="1518" b="0">
                <a:solidFill>
                  <a:srgbClr val="33475B"/>
                </a:solidFill>
                <a:latin typeface="Aptos"/>
              </a:rPr>
              <a:t>Lo nativo cruza un puente asíncrono, serializado y con permisos</a:t>
            </a:r>
          </a:p>
        </p:txBody>
      </p:sp>
      <p:sp>
        <p:nvSpPr>
          <p:cNvPr id="13" name="Rounded Rectangle 12"/>
          <p:cNvSpPr/>
          <p:nvPr/>
        </p:nvSpPr>
        <p:spPr>
          <a:xfrm>
            <a:off x="8150352"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Capas y ADR</a:t>
            </a:r>
          </a:p>
          <a:p>
            <a:pPr algn="l">
              <a:lnSpc>
                <a:spcPct val="120000"/>
              </a:lnSpc>
              <a:spcBef>
                <a:spcPts val="700"/>
              </a:spcBef>
            </a:pPr>
            <a:r>
              <a:rPr sz="1518" b="0">
                <a:solidFill>
                  <a:srgbClr val="33475B"/>
                </a:solidFill>
                <a:latin typeface="Aptos"/>
              </a:rPr>
              <a:t>La regla de dependencias ubica cada pieza; el ADR vuelve verificable cada elección</a:t>
            </a:r>
          </a:p>
        </p:txBody>
      </p:sp>
      <p:sp>
        <p:nvSpPr>
          <p:cNvPr id="16" name="Rounded Rectangle 15"/>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Una app híbrida es una app nativa con la UI en un WebView, y su calidad depende de decisiones que se toman y se escriben antes del código.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45 / 45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
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0-3). Abrir con la pregunta y pedir que piensen en la pantalla más grande de su proyecto ABP o de la app de su trabajo. Contar en voz alta cuántas de las tres cosas viven hoy en el mismo archivo: casi siempre las tres. Idea que se instala desde el primer minuto: esta unidad separa lo que se ve, lo que la pantalla recuerda y lo que viaja por la red, para que cada cosa viva en su capa, se pruebe sin el dispositivo y se pueda defender en un ADR. Esa frase es la columna vertebral de toda la unidad y del H2.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3-4), rápido. Leerlo como capacidades, no como temario. Aclarar qué es este documento: material de apoyo de la UNIDAD COMPLETA, no el guion de la hora; quien no venga al encuentro puede estudiar la unidad con él y con la OVA. El encuentro 2 dura una hora y además es la clínica del H1, así que el recorrido en vivo es corto. Recorrido sugerido (numeración del pie): 1-3 apertura y logística; 5-7 capas y pantalla; 10 pregunta; 11 tokens; 15 y 17 estado e inyección; 22-25 estado, ViewModel, pregunta y ADR; 29 identificadores; 32 regla en el dominio; 36, 40 y 41 red y sesión; 43 offline; 48 cierre. Lo demás queda de CONSULTA. Reservar los últimos 15-20 minutos para la clínica del H1.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4-6). El encuentro sincrónico 2 es el viernes 16 de octubre de 2026, de 6:00 a 7:00 p. m., por Google Meet: https://meet.google.com/pzh-kxer-pnx. La Unidad 2 va del 12 al 18 de octubre. Este encuentro incluye la clínica del H1 (Actividad de aprendizaje 1, vence el domingo 18): que traigan dudas concretas de arquitectura y backlog. El H2 es la Actividad de aprendizaje 2, vale 20 % y es individual: publicar en el foro de la Unidad 2 el análisis (ADR del stack más las secciones 02 Código y UI y 03 API y datos del marco de gobierno móvil del curso), responder a DOS compañeros y subir a la tarea un PDF con la publicación y los enlaces a las respuestas. Vence el domingo 25 de octubre a las 11:59 p. m. El detalle y la rúbrica están en la Guía del proyecto ABP, dentro de la OVA del curso.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material institucional (Unidad de aprendizaje 2 y Clase digital 2) recorre cinco temas: componentes de interfaz, personalización visual, estado reactivo, formularios reactivos y consumo de APIs REST. Aquí se estudian los MISMOS cinco con otra pregunta encima. La columna vertebral es el marco de gobierno móvil del curso: la columna «Marco» dice qué sección del marco responde cada pregunta, y la última columna remite a la sección de la OVA donde está el desarrollo completo. Útil para el H2: cada tema se defiende con su sección del marco.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6-9). Todos los ejemplos de la unidad (y de los manuales) usan la misma app de referencia, Bitácora de Campo, que registra visitas técnicas con formulario, foto y ubicación; no es elegible como proyecto ABP. Su feature central, visitas, está organizada por capas como pide la sección 01 del marco: presentación conoce Ionic y Angular; dominio es TypeScript puro y no importa nada de infraestructura; datos implementa los contratos que declara el dominio. Las flechas son de dependencia: presentación y datos apuntan al dominio, el dominio no apunta a nadie. Decisión que conviene dejar escrita: en los ejemplos el dominio usa Observable como tipo de asincronía porque RxJS es una librería de flujos, no de infraestructura. Usar Promise en el dominio también es defendible; lo importante es decidirlo UNA vez y registrarlo en un ADR. Preguntar: ¿en su proyecto quién decidió eso?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9-11). Los componentes de Ionic son el vocabulario visual de la app; la regla arquitectónica es que una pantalla COMPONE esos bloques y DELEGA todo lo demás. Distinguir la página (contenedor), que inyecta su ViewModel, traduce toques en intenciones y navega, del componente presentacional, que recibe datos por input(), emite eventos por output() y se prueba sin ningún servicio. El modal es el ejemplo perfecto: no guarda; devuelve un borrador con dismiss(data, 'confirmar') y la página se lo entrega al ViewModel. Gestos: un gesto propio, como la presión larga, se crea con GestureController y se encapsula en una directiva de shared/ que traduce el movimiento del dedo en un evento con nombre, (presionLarga); la página nunca manipula coordenadas. Analogía: el mesero toma el pedido y lo lleva a la cocina; no cocina en la mesa.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11-13). La plantilla solo LEE el estado y EMITE intenciones (abrir, nueva, recargar). En la OVA está completa: arriba lleva un ion-refresher que emite alRefrescar, dentro de «cargado» se muestra un aviso cuando desactualizado es true, y cada ítem emite también marcarRealizada hacia el ViewModel. Los textos literales («Registrar la primera visita») están por legibilidad: en el proyecto salen de archivos de traducción (02 · i18n). Error que se provoca en vivo: preguntar qué pasa si alguien agrega el estado «sincronizando» y no toca la plantilla.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Tabla de decisión para el H2 (sección 02 del marco). Lo que más se olvida: ion-card en listas largas (cada tarjeta ocupa media pantalla), el modal para algo que merece URL propia (el detalle de una visita sí la merece) y el deslizar como única forma de hacer una acción (no es descubrible). Con cientos de ítems la lista necesita virtualización, que se estudia en la Unidad 3. Gestos: Ionic trae listos el deslizar (ion-item-sliding) y el tirar para actualizar (ion-refresher); un gesto propio, como la presión larga, se crea con GestureController y se encapsula en una directiva de shared/ que emite un evento con nombre.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material pide tamaños de toque adecuados, retroalimentación y accesibilidad visual; la sección 02 del marco lo vuelve VERIFICABLE: cada fila tiene un número o una prueba que se puede hacer con el teléfono en la mano. Ejercicio para casa: poner el teléfono con la fuente máxima del sistema y en modo oscuro, y recorrer las tres pantallas principales del proyecto. Referencia complementaria: W3C (2023), WCAG 2.2, para contraste y áreas táctiles.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La presentación usa la capa de datos sin pasar por el dominio. La presentación solo depende del dominio. El modal devuelve un borrador con dismiss(data, 'confirmar'), el ViewModel invoca el caso de uso y este usa el contrato del repositorio. Así el modal se prueba sin backend y la fuente de datos cambia sin tocarlo. EN VIVO (min 13-15). En la OVA el enunciado nombra el método: VisitasHttpRepository.registrar(). Votar antes de revelar. Si alguien elige la de navegación, aclarar que un modal sin URL propia es correcto para una tarea acotada.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15-17). El material propone variables CSS para colores, fuentes y bordes; la lente arquitectónica agrega la regla: las pantallas no conocen valores, conocen nombres. Tres niveles de token: primitivos (la paleta, que solo aparece en el archivo de tema), semánticos (los que usan las pantallas: --ion-color-primary, --app-espacio-m) y de componente (como --background de ion-card, que ajusta un componente compartido). Pregunta para provocar: ¿cuántos #009540 escritos a mano hay hoy en su proyecto? Cada uno es un lugar que se rompe al cambiar de marca o al activar el modo oscuro.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Un color de Ionic son SEIS variables: color, rgb, contraste (y su rgb), shade y tint. Advertencia del material: cambiar solo --ion-color-primary deja el primario a medias, porque los botones presionados (shade), los estados resaltados (tint) y los fondos translúcidos (rgb) conservan el color anterior. La última línea del primer bloque son tokens semánticos propios de la app. El modo oscuro es el MISMO conjunto de tokens con otros valores: ningún componente cambia. Ionic también trae paletas oscuras listas: dark.system.css sigue al sistema y dark.class.css permite un interruptor en Ajustes; cualquiera parte de los mismos tokens. El ajuste por modo funciona porque Ionic pone la clase del modo (md o ios) en la raíz del documento.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Ionic aplica el modo md (Material Design) en Android y el modo ios (Human Interface Guidelines) en iPhone. Se puede forzar globalmente con provideIonicAngular({ mode: 'md' }) o por componente con el atributo mode. Forzar o no tiene costo, y por eso merece un ADR: es una decisión de producto, no de estilo. Detección de plataforma: el servicio Platform responde is('ios'), is('android') o is('hybrid'). El material da el ejemplo clásico (botón flotante en Android, barra inferior en iOS); el error es esparcir platform.is() por las plantillas. Lo correcto es traducir la plataforma a decisiones de presentación en UN servicio de core/.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Redefinir los valores de los mismos tokens bajo el esquema oscuro. Tema claro y oscuro salen del mismo conjunto de tokens: cambian los valores, no los componentes. El modo md/ios es otra dimensión (convenciones de plataforma) y Platform decide presentación, no colores. CONSULTA, de repaso. Si sobra un minuto en vivo, sirve para separar dos ejes que se confunden: claro/oscuro (valores de tokens) y md/ios (convenciones de plataforma).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17-19). El material lo dice con claridad: los datos no se gestionan desde los componentes visuales sino desde servicios que actúan como fuente única de verdad. La sección 01 del marco lo precisa en tres reglas: un solo patrón unidireccional para toda la app, estado inmutable y una pantalla que dibuja exactamente un objeto de estado. Pero no todo el estado es igual: la tabla dice quién es el dueño de cada tipo y cuánto vive. Pregunta: ¿dónde vive hoy el usuario autenticado en su app? Si la respuesta es «en la página de inicio», hay un problema.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Angular el servicio se declara con @Injectable() y se obtiene con inject(). La decisión arquitectónica es DÓNDE se provee, porque fija cuánto vive la instancia: providedIn 'root' vive toda la ejecución (sesión, conectividad); los providers de una ruta se crean al entrar por primera vez y se conservan (repositorios y casos de uso de una feature); los providers de un componente viven lo que viva la página (su ViewModel). Error típico: proveer el ViewModel en root y descubrir que la lista conserva el estado de la visita anterior.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19-22). Clase abstracta y no interface: las interfaces de TypeScript desaparecen al compilar y no sirven como token de inyección. El caso de uso ListarVisitas es una acción de negocio sin Angular (en la OVA ordena los datos del listado por fecha descendente y conserva el resto). La raíz de composición es el único lugar que sabe qué implementación se usa: en producción VisitasConCacheRepository; en pruebas basta cambiar esa línea por VisitasEnMemoriaRepository y ninguna pantalla se entera. Ese es el mecanismo que permite probar ViewModels con repositorios falsos, que es la estrategia de pruebas que pide el H2.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Tabla, RxJS: modela lo que ocurre en el tiempo (teclas, toques, respuestas HTTP, conectividad). Un Observable frío ejecuta de nuevo para cada suscriptor; un Subject no tiene valor y solo entrega lo que se emita después (ideal para intenciones como recargar$); un BehaviorSubject exige valor inicial y entrega el actual a quien llega tarde (conectividad, tema); un ReplaySubject(n) repite los últimos n. Tarjetas, signals: las versiones recientes de Angular generan aplicaciones sin Zone.js y la vista se actualiza cuando cambia un signal que la plantilla lee. Reparto: signal y computed para lo que se lee ahora; RxJS para lo que ocurre en el tiempo; toSignal como único puente, dentro del ViewModel; effect solo para efectos secundarios. toSignal se desuscribe solo al destruirse la pantalla: resuelve la advertencia del material sobre limitar suscripciones activas, sin subscribe manuales.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Son los operadores que nombra el material, con su papel concreto en la app de referencia. El buscador de visitas usa cuatro en cadena: filter (dos o más caracteres), debounceTime (esperar a que deje de escribir), distinctUntilChanged (no repetir el mismo término) y switchMap (cancelar la búsqueda anterior). Ejercicio: escribir la cadena en el orden correcto antes de ver la pregunta del final de la sección.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Tabla para memorizar con un caso cada fila. Analogía: switchMap es el técnico que cambia de ruta cuando le llega una visita más urgente; concatMap, la fila del banco; exhaustMap, el portero que no deja entrar a nadie hasta que sale el que está; mergeMap, abrir todas las cajas a la vez. Las tres apariciones en la unidad: switchMap en la carga de la lista (sección 5 de este deck), exhaustMap en el guardado del formulario y concatMap en la cola offline.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`debounceTime`, `distinctUntilChanged` y `switchMap`, en ese orden. debounceTime espera a que deje de escribir, distinctUntilChanged descarta términos repetidos y switchMap cancela la búsqueda anterior, de modo que nunca se pinta una respuesta vieja encima de una nueva. CONSULTA, de repaso. La trampa está en mergeMap: paralelo parece rápido, pero permite que una respuesta vieja llegue después y pise a la nueva.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22-24). El estado se modela como una unión discriminada: UN solo objeto con una de varias formas, cada una con exactamente sus datos ('offline' significa sin red y sin copia local). No puede existir «cargando con error y con lista» a la vez. Dos funciones hacen el mapeo: aEstado(listado) devuelve 'vacio' o 'cargado'; aEstadoDeError(e) devuelve 'offline' si no hay conexión y, si no, 'error'. La máquina es pequeña y explícita. Pregunta de diseño: ¿la lista debe seguir visible mientras se refresca? Entonces se agrega refrescando: boolean a CARGADO. La decisión de experiencia de usuario vive en el modelo de estado, no en la plantilla.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24-27). El ViewModel se provee en la página: vive y muere con ella. Recorrer el flujo de arriba abajo: recargar$ es un Subject de intenciones; startWith(undefined) dispara la primera carga; switchMap cancela una carga en curso si llega otra intención; dentro, map traduce el resultado a estado, startWith pinta «cargando» al empezar y catchError convierte el error en un estado. Señalar con el dedo DÓNDE está el catchError: dentro del switchMap. Es exactamente lo que pregunta el siguiente slide. toSignal convierte todo en el signal que lee la plantilla y se desuscribe solo.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El `catchError` está fuera del `switchMap` y el flujo se completó. catchError reemplaza el flujo que falló y lo completa. Si se aplica al flujo externo (recargar$), la suscripción termina y las siguientes intenciones ya no llegan. Dentro del switchMap solo muere la carga de ese momento. EN VIVO (min 27-28). Es el bug más común de la unidad y no da ningún aviso: la app simplemente deja de responder al botón. Si alguien elige la opción del Subject, recordar que un Subject no tiene valor inicial por diseño.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28-31). El marco exige un solo patrón de estado para toda la app, registrado con su plantilla de ADR. Este es un ADR breve y completo. Señalar dos cosas: las alternativas tienen su razón de descarte (no son una lista de opciones) y hay una consecuencia NEGATIVA escrita. Un ADR sin consecuencia negativa está incompleto. Matices de la OVA: SignalStore se reevalúa si crece el estado compartido ENTRE features; el código repetido por pantalla es el tipo de estado y sus mapeos. Las plantillas en español (ADR, feature, pantalla, integración de endpoint, entidad local) están en Plantillas del proyecto, dentro de la OVA del curso.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material presenta equivalentes en React y Vue. Para el H2: la comparativa del stack no es «cuál me gusta», es mostrar que las mismas preocupaciones arquitectónicas (capas, estado, red, rutas protegidas) tienen solución en cada ecosistema y justificar la elección con el contexto del proyecto. Quien elija otro stack en su trabajo puede usar esta tabla como traductor.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La sección 01 del marco tiene tres reglas que evitan casi todos los errores de navegación: una tabla central de rutas, guards centralizados y pasar identificadores, no objetos. El registro de rutas es documentación Y código: esta tabla va en el documento del proyecto y el siguiente slide es la misma tabla escrita en app.routes.ts. Si las dos no coinciden, una de las dos miente.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Extracto: en la OVA cada import termina en .then(m =&gt; m.Pagina). Tres cosas para señalar: la feature visitas trae su propia composición (providers: visitasProviders), el guard se declara una vez en la ruta padre y protege a todas las hijas, y la ruta comodín redirige a visitas. El guard funcional no muestra pantallas ni mensajes: devuelve true o un UrlTree hacia /login con la ruta a la que se quería volver. La verificación vive en un lugar, no en cada pantalla.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31-33). Con provideRouter(rutas, withComponentInputBinding()), el :id llega a la página de detalle como input.required&lt;string&gt;() y su ViewModel VUELVE A BUSCAR la visita: caché primero, red después. Pasar el objeto completo en el estado de navegación parece más rápido, pero se pierde, envejece y acopla. Un enlace profundo (la notificación «Tienes una visita mañana») llega desde Capacitor (plugin App, evento appUrlOpen) a un solo adaptador de core/, que valida la ruta y navega con router.navigateByUrl() sobre la MISMA tabla: el guard también lo protege. Al entrar por un deep link no hay historial, por eso ion-back-button necesita defaultHref="/visitas". El botón físico de Android y el gesto de borde de iOS los gestiona ion-router-outlet: no se reimplementan.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Se pierde con un deep link o una recarga, y puede mostrar datos viejos. El marco pide pasar identificadores y volver a buscar en el destino. El objeto en memoria no existe si la pantalla se abre por un enlace profundo o tras restaurar la app, y además es una copia que envejece y acopla una pantalla con otra. EN VIVO si hay tiempo; si no, queda de repaso. Si la responden rápido, preguntar cómo se vería el fallo en una demo: no se ve, porque en la demo siempre se entra desde la lista.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material elige Reactive Forms porque el formulario es un objeto en TypeScript: se valida, se observa con valueChanges y se prueba sin la plantilla. La pregunta arquitectónica es otra: ¿qué validación le toca al formulario y cuál al dominio? Cuatro tipos, cuatro lugares. La regla vive en el dominio; el formulario la CONSULTA. El backend vuelve a verificar, pero eso no autoriza a la app a duplicar ni a perder la regla.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33-35). ViolacionVisita es un tipo unión de dos literales: 'realizada-con-fecha-futura' y 'cancelada-sin-motivo'. La función es TypeScript puro: se prueba con dos líneas, sin TestBed ni plantilla. El adaptador convierte la regla del dominio en un ValidatorFn de grupo; el formulario no sabe CUÁL es la regla, solo la consulta. El caso de uso RegistrarVisita llama a la misma función. Analogía: el reglamento está en un solo libro; el portero y el juez lo consultan, no lo reescriben.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la OVA el grupo también tiene fecha (new Date().toISOString(), requerida). El control dinámico se hace en el constructor: se escucha estado.valueChanges con takeUntilDestroyed() y se habilita o deshabilita «motivo». En la plantilla, ion-input muestra helperText y errorText según el estado del control, y las violaciones del grupo se traducen con UN mapa violación → texto (claves de traducción), no con mensajes dispersos. El formulario no guarda: devuelve un borrador y el ViewModel invoca el caso de uso, protegido con exhaustMap contra dobles toques. Si el servidor rechaza el envío (409 o 422), el error de datos trae los campos y el ViewModel los devuelve al formulario. Siguen vigentes las buenas prácticas del material: control adecuado a cada dato (ion-datetime, ion-select), solo los campos necesarios, campos relacionados agrupados y botón deshabilitado mientras haya errores.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En el dominio, y el formulario la reutiliza como validador. Es una regla de negocio: se escribe una vez en TypeScript puro y la usan el caso de uso y el formulario, mediante un validador de grupo que la consulta. El backend la vuelve a verificar, pero la app no la duplica ni la pierde. CONSULTA, de repaso. La opción del backend es la que más tienta a quien viene del desarrollo web: el backend valida, sí, pero la app también necesita la regla para no dejar al técnico enviar algo que va a fallar sin señal.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material recomienda centralizar el consumo de APIs en servicios, tipar las respuestas, validar lo recibido, reintentar ante errores intermitentes y usar interceptores para las cabeceras. La sección 03 del marco lo vuelve verificable con estas siete reglas (la columna «Qué evita» es la razón de cada una). Sobre reintentos y semántica HTTP: PUT y DELETE son idempotentes por definición, pero solo si el backend lo cumple; la regla del marco es conservadora y reintenta automáticamente solo la lectura. Un POST se reenvía únicamente con una clave de idempotencia que el servidor reconozca, que es lo que se ve en la sección de offline.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35-37). Los interceptores funcionales se registran UNA vez con provideHttpClient(withInterceptors([correlacion, auth, tiempoYReintentos])) y se ejecutan en el orden de la lista al salir la petición (y en orden inverso al volver). Ese orden es una decisión: la correlación va primero para que todos los reintentos compartan el mismo X-Request-Id, y la autenticación envuelve a los reintentos para que un 401 no se reintente a ciegas. En el código: tiempo máximo en TODA petición; si no es GET, se devuelve sin reintento; si es GET, se reintenta hasta tres veces solo ante fallas transitorias, con espera exponencial (300, 600, 1200 ms) más un poco de azar para que mil teléfonos no reintenten en el mismo milisegundo.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Una función de core/network/, aErrorDeDatos, traduce cada falla a un ErrorDeDatos con un tipo que el dominio entiende; esta tabla es el contrato de esa traducción. Sirve tal cual para la sección 03 del H2. Leerla por columnas: la del medio es lo que hace el código; la de la derecha es lo que ve el técnico en campo. Si una fila no tiene respuesta en su proyecto, falta una decisión.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El DTO es el espejo exacto del JSON del backend y nunca sale de la capa de datos. El mapper (aVisita) lo convierte en entidad y es donde se valida lo recibido: si llega una fecha inválida o un estado desconocido, falla con un error de formato en lugar de adivinar (falla ruidosa). El repositorio es @Injectable(), toma la URL base de un token API_URL y su registrar() hace un POST con aVisitaDtoNueva(borrador) y el mismo mapeo de errores. CORS: la app corre en un WebView con su propio origen; o el backend lo acepta, o se activa CapacitorHttp para que las peticiones salgan por la pila de red nativa. Cualquiera de las dos es una decisión de la sección 03 que merece quedar escrita.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La sección 03 del marco agrega lo que en móvil separa una app segura de una que no lo es: DÓNDE se guarda el token, QUIÉN lo adjunta y QUÉ pasa cuando vence. El almacenamiento seguro se usa a través de un puerto (AlmacenSeguro, en core/auth/) implementado con un plugin de Capacitor: es uno de los «plugins como adaptadores» del ABP que se estudian en la Unidad 3. Al arrancar, provideAppInitializer intenta un refresh si hay refresh token guardado, y la sesión sobrevive al cierre de la app. Preferences guarda en SharedPreferences o UserDefaults SIN cifrar: un token ahí es un token expuesto. Lectura complementaria: OWASP (2024), MASVS.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37-39). SIN_AUTH es un HttpContextToken&lt;boolean&gt; que marca las peticiones que van sin token (login y refresh). conToken(t) clona la petición con la cabecera Authorization: Bearer t si hay token. Ante un 401 se hace UN refresh y UN reintento con el token nuevo; si el refresh falla, se cierra sesión. Los cuatro pasos de abajo son lo que hace cerrar(). Contexto local: el mismo teléfono de la empresa lo usan dos técnicos en turnos distintos; si no se borra la caché, el segundo ve las visitas del primero. La biometría, si se usa, es una PUERTA al refresh token guardado, no un reemplazo del token (Unidad 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39-41). SesionService se provee en root. Si diez peticiones reciben 401 a la vez, todas comparten ESTE refresh: la primera crea refresco$ con ??=, las demás encuentran el mismo observable y se suscriben a él; shareReplay(1) entrega el mismo token a todas y finalize lo limpia al terminar. Sin esto, diez refresh simultáneos invalidan el refresh token unos a otros y la sesión se cae sola. En la OVA: si no hay refresh token se lanza ErrorDeDatos('sesion-expirada'), y el par recibido se guarda con almacen.guardar('refresh', par.refreshToken) antes de devolver par.accessToken.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Refresh token en Keychain o Keystore y un único refresh compartido. El refresh token va en almacenamiento seguro del sistema y el access token en memoria. Ante varios 401 simultáneos se ejecuta un solo refresh que todas las peticiones comparten, y cada una se reintenta una vez; si el refresh falla, la sesión se cierra limpiamente. EN VIVO si hay tiempo; si no, de repaso. Cada distractor combina un error de almacenamiento con uno de renovación: pedir que nombren los dos errores de cada opción incorrecta.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41-44). En campo, la señal es la excepción: piense en un técnico haciendo una visita en una finca cafetera de la zona rural de Pitalito. La sección 03 del marco exige decidir la estrategia POR FEATURE y documentarla; el ABP pide como mínimo una caché de lectura aplicada. Si una feature se declara offline primero, el marco exige las cuatro cosas de las tarjetas: mutaciones encoladas con un id generado en el cliente; sincronización idempotente (cabecera Idempotency-Key); una política de conflictos por entidad; y la conectividad como flujo, no como consulta única. Al reconectar, la cola se envía con concatMap (en orden, una por una) y cada envío lleva su clave: si la respuesta se perdió y se reenvía, el servidor no duplica. El título es la advertencia de la OVA: una estrategia dice QUÉ se lee sin red, QUÉ se escribe sin red, CÓMO se resuelven los conflictos y QUÉ ve el usuario en cada caso. Sin esas cuatro respuestas, el requisito no está documentado.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La caché no se programa en la pantalla ni en el repositorio HTTP: se agrega como un DECORADOR que cumple el mismo contrato y envuelve al repositorio remoto (inyecta VisitasHttpRepository y el puerto CacheLocal de core/storage). La pantalla no se entera; solo recibe desactualizado: true cuando los datos vienen de la copia local. desdeCache lee lo guardado y lo devuelve con desactualizado: true; si no hay nada guardado, propaga el error original y la pantalla muestra «offline». El modelo guardado (VisitaGuardada, con la fecha como texto ISO) es distinto de la entidad: el marco separa persistencia y dominio, y un mapper los une. Capacitor Preferences basta para una caché pequeña de lectura; si hay consultas, volumen o cola de escrituras, la opción es SQLite: esa elección es el ADR de persistencia (ADR-002 en la Bitácora). Se guarda solo lo necesario para trabajar sin red: no se replica el backend ni se guardan datos personales que la pantalla no usa.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Un id generado en el cliente, enviado como clave de idempotencia. El servidor reconoce la clave de idempotencia y no aplica dos veces la misma mutación, aunque la cola la reenvíe tras un tiempo agotado. Los reintentos ciegos de un POST son justamente lo que produce duplicados. CONSULTA, de repaso. Une dos secciones: la regla de no reintentar escrituras (capa de datos) y la clave de idempotencia (offline primero).</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(si sobra tiempo en vivo, usarla como lista de chequeo del H2). Uno por cada sección de la unidad. El 3 y el 7 son los que no dan ningún aviso: la app deja de responder o duplica datos sin error visible. El 9 se ve en revisión: NgRx en una feature, BehaviorSubject sueltos en otra y estado en el componente en una tercera. El 10 es el de la primera visita al campo: sin vacio, error y offline, termina en una pantalla en blanco.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(se señala en vivo al cerrar). Mapa del enunciado de la A2 contra la OVA y el marco de gobierno móvil del curso: cada fila es un párrafo del análisis que se publica en el foro. Las plantillas en español (ADR, feature, pantalla, integración de endpoint, entidad local) están en Plantillas del proyecto, y el detalle del hito en la Guía del proyecto ABP, ambas dentro de la OVA del curso.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cierre (min 44-45, antes de abrir la clínica del H1). Lo esencial de la unidad cabe en una frase: la pantalla dibuja un estado y emite intenciones; todo lo demás vive en otra capa. Los componentes son vocabulario de presentación, el tema sale de tokens, el estado fluye en un solo sentido, los formularios consultan al dominio, y la red, los tokens y la caché se resuelven una sola vez en la capa de datos. Trabajo de la semana: H2 (Actividad de aprendizaje 2, 20 %, individual) en el foro de la Unidad 2, responder a dos compañeros y subir el PDF; vence el domingo 25 de octubre, 11:59 p. m. El H1 vence el domingo 18. Fuentes de la unidad: Corporación Universitaria del Huila (2026), Unidad de aprendizaje 2: Interfaz de usuario, gestión de estado y acceso a dispositivos [PDF], aula virtual; Clase digital 2 (Moodle). Bibliografía de la clase digital: Angular (2024), Angular Documentation, https://angular.io/docs; Apple (2024), Apple Developer Documentation; Capacitor (2024), Capacitor Documentation, https://capacitorjs.com/docs; Google (2024), Android Developers Documentation; Ionic Framework (2024), Ionic Documentation, https://ionicframework.com/docs; Meta (2024), React Documentation; RxJS (2024), RxJS Documentation, https://rxjs.dev/guide/overview; Vue.js (2024), Vue.js Documentation; Sommerville, I. (2011), Ingeniería de software, Pearson; Aguilar, L. J. (2020), Fundamentos de programación Plus, McGraw-Hill; Pressman, R. S. y Maxim, B. R. (2021), Ingeniería de software Plus, McGraw-Hill (los tres en la biblioteca digital de CORHUILA). Lecturas complementarias: OWASP (2024), MASVS, https://mas.owasp.org/MASVS/; W3C (2023), WCAG 2.2, https://www.w3.org/TR/WCAG22/. Próximo encuentro: viernes 23 de octubre, misma hora.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Interfaz, estado y datos en la app móvil</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Ingeniería para el Desarrollo Móvil  ·  Jesús Ariel González Bonilla  ·  2026-B  ·  Corte 1  ·  Unidad 2</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Arquitectura de presentación y de datos en apps Ionic + Angular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Una pantalla suele saberlo todo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2872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01899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128723"/>
          </a:xfrm>
          <a:prstGeom prst="rect">
            <a:avLst/>
          </a:prstGeom>
          <a:noFill/>
        </p:spPr>
        <p:txBody>
          <a:bodyPr wrap="square" anchor="ctr" lIns="0" rIns="0" tIns="0" bIns="0">
            <a:spAutoFit/>
          </a:bodyPr>
          <a:lstStyle/>
          <a:p>
            <a:pPr algn="l">
              <a:lnSpc>
                <a:spcPct val="125000"/>
              </a:lnSpc>
            </a:pPr>
            <a:r>
              <a:rPr sz="2735" b="1">
                <a:solidFill>
                  <a:srgbClr val="0E2841"/>
                </a:solidFill>
                <a:latin typeface="Aptos Display"/>
              </a:rPr>
              <a:t>¿Qué sabe hoy la pantalla principal de tu app: el JSON del backend, el token, la regla de negocio, el color exacto?</a:t>
            </a:r>
          </a:p>
        </p:txBody>
      </p:sp>
      <p:sp>
        <p:nvSpPr>
          <p:cNvPr id="10" name="Oval 9"/>
          <p:cNvSpPr/>
          <p:nvPr/>
        </p:nvSpPr>
        <p:spPr>
          <a:xfrm>
            <a:off x="585216" y="425653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02659"/>
            <a:ext cx="10698480" cy="808329"/>
          </a:xfrm>
          <a:prstGeom prst="rect">
            <a:avLst/>
          </a:prstGeom>
          <a:noFill/>
        </p:spPr>
        <p:txBody>
          <a:bodyPr wrap="square" anchor="ctr" lIns="0" rIns="0" tIns="0" bIns="0">
            <a:spAutoFit/>
          </a:bodyPr>
          <a:lstStyle/>
          <a:p>
            <a:pPr algn="l"/>
            <a:r>
              <a:rPr sz="2610" b="1">
                <a:solidFill>
                  <a:srgbClr val="0E2841"/>
                </a:solidFill>
                <a:latin typeface="Aptos"/>
              </a:rPr>
              <a:t>Lo que se ve</a:t>
            </a:r>
          </a:p>
        </p:txBody>
      </p:sp>
      <p:sp>
        <p:nvSpPr>
          <p:cNvPr id="12" name="Oval 11"/>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10988"/>
            <a:ext cx="10698480" cy="808329"/>
          </a:xfrm>
          <a:prstGeom prst="rect">
            <a:avLst/>
          </a:prstGeom>
          <a:noFill/>
        </p:spPr>
        <p:txBody>
          <a:bodyPr wrap="square" anchor="ctr" lIns="0" rIns="0" tIns="0" bIns="0">
            <a:spAutoFit/>
          </a:bodyPr>
          <a:lstStyle/>
          <a:p>
            <a:pPr algn="l"/>
            <a:r>
              <a:rPr sz="2610" b="1">
                <a:solidFill>
                  <a:srgbClr val="0E2841"/>
                </a:solidFill>
                <a:latin typeface="Aptos"/>
              </a:rPr>
              <a:t>Lo que la pantalla recuerda</a:t>
            </a:r>
          </a:p>
        </p:txBody>
      </p:sp>
      <p:sp>
        <p:nvSpPr>
          <p:cNvPr id="14" name="Oval 13"/>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519318"/>
            <a:ext cx="10698480" cy="808329"/>
          </a:xfrm>
          <a:prstGeom prst="rect">
            <a:avLst/>
          </a:prstGeom>
          <a:noFill/>
        </p:spPr>
        <p:txBody>
          <a:bodyPr wrap="square" anchor="ctr" lIns="0" rIns="0" tIns="0" bIns="0">
            <a:spAutoFit/>
          </a:bodyPr>
          <a:lstStyle/>
          <a:p>
            <a:pPr algn="l"/>
            <a:r>
              <a:rPr sz="2610" b="1">
                <a:solidFill>
                  <a:srgbClr val="0E2841"/>
                </a:solidFill>
                <a:latin typeface="Aptos"/>
              </a:rPr>
              <a:t>Lo que viaja por la red</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48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vas a poder hacer al terminar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5532120"/>
                <a:gridCol w="5532120"/>
              </a:tblGrid>
              <a:tr h="624927">
                <a:tc>
                  <a:txBody>
                    <a:bodyPr wrap="square"/>
                    <a:lstStyle/>
                    <a:p>
                      <a:r>
                        <a:rPr sz="1688" b="1">
                          <a:solidFill>
                            <a:srgbClr val="FFFFFF"/>
                          </a:solidFill>
                          <a:latin typeface="Aptos"/>
                        </a:rPr>
                        <a:t>Tema</a:t>
                      </a:r>
                    </a:p>
                  </a:txBody>
                  <a:tcPr anchor="ctr" marL="146304" marR="146304">
                    <a:solidFill>
                      <a:srgbClr val="156082"/>
                    </a:solidFill>
                  </a:tcPr>
                </a:tc>
                <a:tc>
                  <a:txBody>
                    <a:bodyPr wrap="square"/>
                    <a:lstStyle/>
                    <a:p>
                      <a:r>
                        <a:rPr sz="1688" b="1">
                          <a:solidFill>
                            <a:srgbClr val="FFFFFF"/>
                          </a:solidFill>
                          <a:latin typeface="Aptos"/>
                        </a:rPr>
                        <a:t>Al terminar vas a poder</a:t>
                      </a:r>
                    </a:p>
                  </a:txBody>
                  <a:tcPr anchor="ctr" marL="146304" marR="146304">
                    <a:solidFill>
                      <a:srgbClr val="156082"/>
                    </a:solidFill>
                  </a:tcPr>
                </a:tc>
              </a:tr>
              <a:tr h="624927">
                <a:tc>
                  <a:txBody>
                    <a:bodyPr wrap="square"/>
                    <a:lstStyle/>
                    <a:p>
                      <a:r>
                        <a:rPr sz="1576" b="1">
                          <a:solidFill>
                            <a:srgbClr val="33475B"/>
                          </a:solidFill>
                          <a:latin typeface="Aptos"/>
                        </a:rPr>
                        <a:t>Interfaz</a:t>
                      </a:r>
                    </a:p>
                  </a:txBody>
                  <a:tcPr anchor="ctr" marL="146304" marR="146304">
                    <a:solidFill>
                      <a:srgbClr val="FFFFFF"/>
                    </a:solidFill>
                  </a:tcPr>
                </a:tc>
                <a:tc>
                  <a:txBody>
                    <a:bodyPr wrap="square"/>
                    <a:lstStyle/>
                    <a:p>
                      <a:r>
                        <a:rPr sz="1576" b="0">
                          <a:solidFill>
                            <a:srgbClr val="33475B"/>
                          </a:solidFill>
                          <a:latin typeface="Aptos"/>
                        </a:rPr>
                        <a:t>Componer pantallas Ionic sin lógica de negocio y con accesibilidad táctil</a:t>
                      </a:r>
                    </a:p>
                  </a:txBody>
                  <a:tcPr anchor="ctr" marL="146304" marR="146304">
                    <a:solidFill>
                      <a:srgbClr val="FFFFFF"/>
                    </a:solidFill>
                  </a:tcPr>
                </a:tc>
              </a:tr>
              <a:tr h="624927">
                <a:tc>
                  <a:txBody>
                    <a:bodyPr wrap="square"/>
                    <a:lstStyle/>
                    <a:p>
                      <a:r>
                        <a:rPr sz="1576" b="1">
                          <a:solidFill>
                            <a:srgbClr val="33475B"/>
                          </a:solidFill>
                          <a:latin typeface="Aptos"/>
                        </a:rPr>
                        <a:t>Tema visual</a:t>
                      </a:r>
                    </a:p>
                  </a:txBody>
                  <a:tcPr anchor="ctr" marL="146304" marR="146304">
                    <a:solidFill>
                      <a:srgbClr val="F4F7FA"/>
                    </a:solidFill>
                  </a:tcPr>
                </a:tc>
                <a:tc>
                  <a:txBody>
                    <a:bodyPr wrap="square"/>
                    <a:lstStyle/>
                    <a:p>
                      <a:r>
                        <a:rPr sz="1576" b="0">
                          <a:solidFill>
                            <a:srgbClr val="33475B"/>
                          </a:solidFill>
                          <a:latin typeface="Aptos"/>
                        </a:rPr>
                        <a:t>Centralizar la apariencia en tokens para md, ios y modo oscuro</a:t>
                      </a:r>
                    </a:p>
                  </a:txBody>
                  <a:tcPr anchor="ctr" marL="146304" marR="146304">
                    <a:solidFill>
                      <a:srgbClr val="F4F7FA"/>
                    </a:solidFill>
                  </a:tcPr>
                </a:tc>
              </a:tr>
              <a:tr h="624927">
                <a:tc>
                  <a:txBody>
                    <a:bodyPr wrap="square"/>
                    <a:lstStyle/>
                    <a:p>
                      <a:r>
                        <a:rPr sz="1576" b="1">
                          <a:solidFill>
                            <a:srgbClr val="33475B"/>
                          </a:solidFill>
                          <a:latin typeface="Aptos"/>
                        </a:rPr>
                        <a:t>Estado</a:t>
                      </a:r>
                    </a:p>
                  </a:txBody>
                  <a:tcPr anchor="ctr" marL="146304" marR="146304">
                    <a:solidFill>
                      <a:srgbClr val="FFFFFF"/>
                    </a:solidFill>
                  </a:tcPr>
                </a:tc>
                <a:tc>
                  <a:txBody>
                    <a:bodyPr wrap="square"/>
                    <a:lstStyle/>
                    <a:p>
                      <a:r>
                        <a:rPr sz="1576" b="0">
                          <a:solidFill>
                            <a:srgbClr val="33475B"/>
                          </a:solidFill>
                          <a:latin typeface="Aptos"/>
                        </a:rPr>
                        <a:t>Diseñar un flujo unidireccional e inmutable y registrarlo en un ADR</a:t>
                      </a:r>
                    </a:p>
                  </a:txBody>
                  <a:tcPr anchor="ctr" marL="146304" marR="146304">
                    <a:solidFill>
                      <a:srgbClr val="FFFFFF"/>
                    </a:solidFill>
                  </a:tcPr>
                </a:tc>
              </a:tr>
              <a:tr h="624927">
                <a:tc>
                  <a:txBody>
                    <a:bodyPr wrap="square"/>
                    <a:lstStyle/>
                    <a:p>
                      <a:r>
                        <a:rPr sz="1576" b="1">
                          <a:solidFill>
                            <a:srgbClr val="33475B"/>
                          </a:solidFill>
                          <a:latin typeface="Aptos"/>
                        </a:rPr>
                        <a:t>Navegación</a:t>
                      </a:r>
                    </a:p>
                  </a:txBody>
                  <a:tcPr anchor="ctr" marL="146304" marR="146304">
                    <a:solidFill>
                      <a:srgbClr val="F4F7FA"/>
                    </a:solidFill>
                  </a:tcPr>
                </a:tc>
                <a:tc>
                  <a:txBody>
                    <a:bodyPr wrap="square"/>
                    <a:lstStyle/>
                    <a:p>
                      <a:r>
                        <a:rPr sz="1576" b="0">
                          <a:solidFill>
                            <a:srgbClr val="33475B"/>
                          </a:solidFill>
                          <a:latin typeface="Aptos"/>
                        </a:rPr>
                        <a:t>Organizar rutas en una tabla central con guards y deep links</a:t>
                      </a:r>
                    </a:p>
                  </a:txBody>
                  <a:tcPr anchor="ctr" marL="146304" marR="146304">
                    <a:solidFill>
                      <a:srgbClr val="F4F7FA"/>
                    </a:solidFill>
                  </a:tcPr>
                </a:tc>
              </a:tr>
              <a:tr h="624927">
                <a:tc>
                  <a:txBody>
                    <a:bodyPr wrap="square"/>
                    <a:lstStyle/>
                    <a:p>
                      <a:r>
                        <a:rPr sz="1576" b="1">
                          <a:solidFill>
                            <a:srgbClr val="33475B"/>
                          </a:solidFill>
                          <a:latin typeface="Aptos"/>
                        </a:rPr>
                        <a:t>Formularios</a:t>
                      </a:r>
                    </a:p>
                  </a:txBody>
                  <a:tcPr anchor="ctr" marL="146304" marR="146304">
                    <a:solidFill>
                      <a:srgbClr val="FFFFFF"/>
                    </a:solidFill>
                  </a:tcPr>
                </a:tc>
                <a:tc>
                  <a:txBody>
                    <a:bodyPr wrap="square"/>
                    <a:lstStyle/>
                    <a:p>
                      <a:r>
                        <a:rPr sz="1576" b="0">
                          <a:solidFill>
                            <a:srgbClr val="33475B"/>
                          </a:solidFill>
                          <a:latin typeface="Aptos"/>
                        </a:rPr>
                        <a:t>Validar la entrada sin duplicar las reglas del dominio</a:t>
                      </a:r>
                    </a:p>
                  </a:txBody>
                  <a:tcPr anchor="ctr" marL="146304" marR="146304">
                    <a:solidFill>
                      <a:srgbClr val="FFFFFF"/>
                    </a:solidFill>
                  </a:tcPr>
                </a:tc>
              </a:tr>
              <a:tr h="624927">
                <a:tc>
                  <a:txBody>
                    <a:bodyPr wrap="square"/>
                    <a:lstStyle/>
                    <a:p>
                      <a:r>
                        <a:rPr sz="1576" b="1">
                          <a:solidFill>
                            <a:srgbClr val="33475B"/>
                          </a:solidFill>
                          <a:latin typeface="Aptos"/>
                        </a:rPr>
                        <a:t>Datos</a:t>
                      </a:r>
                    </a:p>
                  </a:txBody>
                  <a:tcPr anchor="ctr" marL="146304" marR="146304">
                    <a:solidFill>
                      <a:srgbClr val="F4F7FA"/>
                    </a:solidFill>
                  </a:tcPr>
                </a:tc>
                <a:tc>
                  <a:txBody>
                    <a:bodyPr wrap="square"/>
                    <a:lstStyle/>
                    <a:p>
                      <a:r>
                        <a:rPr sz="1576" b="0">
                          <a:solidFill>
                            <a:srgbClr val="33475B"/>
                          </a:solidFill>
                          <a:latin typeface="Aptos"/>
                        </a:rPr>
                        <a:t>Montar un cliente HTTP único, refresh serializado y offline explícito</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1. La ruta de la unidad</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2, el H2 y la app de referencia</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Esta semana: encuentro, clínica y H2</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Encuentro 2</a:t>
            </a:r>
          </a:p>
          <a:p>
            <a:pPr algn="l">
              <a:lnSpc>
                <a:spcPct val="120000"/>
              </a:lnSpc>
              <a:spcBef>
                <a:spcPts val="700"/>
              </a:spcBef>
            </a:pPr>
            <a:r>
              <a:rPr sz="1518" b="0">
                <a:solidFill>
                  <a:srgbClr val="33475B"/>
                </a:solidFill>
                <a:latin typeface="Aptos"/>
              </a:rPr>
              <a:t>Viernes 16 de octubre, 6:00 a 7:00 p. m., por Google Meet</a:t>
            </a:r>
          </a:p>
        </p:txBody>
      </p:sp>
      <p:sp>
        <p:nvSpPr>
          <p:cNvPr id="10" name="Rounded Rectangle 9"/>
          <p:cNvSpPr/>
          <p:nvPr/>
        </p:nvSpPr>
        <p:spPr>
          <a:xfrm>
            <a:off x="3410712"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Unidad 2</a:t>
            </a:r>
          </a:p>
          <a:p>
            <a:pPr algn="l">
              <a:lnSpc>
                <a:spcPct val="120000"/>
              </a:lnSpc>
              <a:spcBef>
                <a:spcPts val="700"/>
              </a:spcBef>
            </a:pPr>
            <a:r>
              <a:rPr sz="1518" b="0">
                <a:solidFill>
                  <a:srgbClr val="33475B"/>
                </a:solidFill>
                <a:latin typeface="Aptos"/>
              </a:rPr>
              <a:t>Del 12 al 18 de octubre de 2026</a:t>
            </a:r>
          </a:p>
        </p:txBody>
      </p:sp>
      <p:sp>
        <p:nvSpPr>
          <p:cNvPr id="13" name="Rounded Rectangle 12"/>
          <p:cNvSpPr/>
          <p:nvPr/>
        </p:nvSpPr>
        <p:spPr>
          <a:xfrm>
            <a:off x="6254496"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Clínica del H1</a:t>
            </a:r>
          </a:p>
          <a:p>
            <a:pPr algn="l">
              <a:lnSpc>
                <a:spcPct val="120000"/>
              </a:lnSpc>
              <a:spcBef>
                <a:spcPts val="700"/>
              </a:spcBef>
            </a:pPr>
            <a:r>
              <a:rPr sz="1518" b="0">
                <a:solidFill>
                  <a:srgbClr val="33475B"/>
                </a:solidFill>
                <a:latin typeface="Aptos"/>
              </a:rPr>
              <a:t>La A1 vence el domingo 18 de octubre: trae dudas de arquitectura y backlog</a:t>
            </a:r>
          </a:p>
        </p:txBody>
      </p:sp>
      <p:sp>
        <p:nvSpPr>
          <p:cNvPr id="16" name="Rounded Rectangle 15"/>
          <p:cNvSpPr/>
          <p:nvPr/>
        </p:nvSpPr>
        <p:spPr>
          <a:xfrm>
            <a:off x="9098280" y="1572768"/>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2284693"/>
          </a:xfrm>
          <a:prstGeom prst="rect">
            <a:avLst/>
          </a:prstGeom>
          <a:noFill/>
        </p:spPr>
        <p:txBody>
          <a:bodyPr wrap="square" anchor="t" lIns="0" rIns="0" tIns="0" bIns="0">
            <a:spAutoFit/>
          </a:bodyPr>
          <a:lstStyle/>
          <a:p>
            <a:pPr algn="l"/>
            <a:r>
              <a:rPr sz="1986" b="1">
                <a:solidFill>
                  <a:srgbClr val="0E2841"/>
                </a:solidFill>
                <a:latin typeface="Aptos Display"/>
              </a:rPr>
              <a:t>H2 · A2 (20 %)</a:t>
            </a:r>
          </a:p>
          <a:p>
            <a:pPr algn="l">
              <a:lnSpc>
                <a:spcPct val="120000"/>
              </a:lnSpc>
              <a:spcBef>
                <a:spcPts val="700"/>
              </a:spcBef>
            </a:pPr>
            <a:r>
              <a:rPr sz="1518" b="0">
                <a:solidFill>
                  <a:srgbClr val="33475B"/>
                </a:solidFill>
                <a:latin typeface="Aptos"/>
              </a:rPr>
              <a:t>Individual: análisis en el foro, dos respuestas y PDF. Vence el domingo 25 de octubre, 11:59 p. m.</a:t>
            </a:r>
          </a:p>
        </p:txBody>
      </p:sp>
      <p:sp>
        <p:nvSpPr>
          <p:cNvPr id="19" name="Rounded Rectangle 18"/>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Meet: meet.google.com/pzh-kxer-pnx · El análisis del H2 es el ADR del stack + las secciones 02 Código y UI y 03 API y datos del marco.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mismos cinco temas, otra pregunta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08508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97536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085088"/>
          </a:xfrm>
          <a:prstGeom prst="rect">
            <a:avLst/>
          </a:prstGeom>
          <a:noFill/>
        </p:spPr>
        <p:txBody>
          <a:bodyPr wrap="square" anchor="ctr" lIns="0" rIns="0" tIns="0" bIns="0">
            <a:spAutoFit/>
          </a:bodyPr>
          <a:lstStyle/>
          <a:p>
            <a:pPr algn="l">
              <a:lnSpc>
                <a:spcPct val="125000"/>
              </a:lnSpc>
            </a:pPr>
            <a:r>
              <a:rPr sz="2367" b="1">
                <a:solidFill>
                  <a:srgbClr val="0E2841"/>
                </a:solidFill>
                <a:latin typeface="Aptos Display"/>
              </a:rPr>
              <a:t>No «¿cómo se usa?», sino «¿en qué capa vive y por qué?».</a:t>
            </a:r>
          </a:p>
        </p:txBody>
      </p:sp>
      <p:graphicFrame>
        <p:nvGraphicFramePr>
          <p:cNvPr id="10" name="Table 9"/>
          <p:cNvGraphicFramePr>
            <a:graphicFrameLocks noGrp="1"/>
          </p:cNvGraphicFramePr>
          <p:nvPr/>
        </p:nvGraphicFramePr>
        <p:xfrm>
          <a:off x="566928" y="2859024"/>
          <a:ext cx="11064240" cy="3468624"/>
        </p:xfrm>
        <a:graphic>
          <a:graphicData uri="http://schemas.openxmlformats.org/drawingml/2006/table">
            <a:tbl>
              <a:tblPr firstRow="1">
                <a:tableStyleId>{5C22544A-7EE6-4342-B048-85BDC9FD1C3A}</a:tableStyleId>
              </a:tblPr>
              <a:tblGrid>
                <a:gridCol w="3688080"/>
                <a:gridCol w="3688080"/>
                <a:gridCol w="3688080"/>
              </a:tblGrid>
              <a:tr h="578104">
                <a:tc>
                  <a:txBody>
                    <a:bodyPr wrap="square"/>
                    <a:lstStyle/>
                    <a:p>
                      <a:r>
                        <a:rPr sz="1614" b="1">
                          <a:solidFill>
                            <a:srgbClr val="FFFFFF"/>
                          </a:solidFill>
                          <a:latin typeface="Aptos"/>
                        </a:rPr>
                        <a:t>Tema del material</a:t>
                      </a:r>
                    </a:p>
                  </a:txBody>
                  <a:tcPr anchor="ctr" marL="146304" marR="146304">
                    <a:solidFill>
                      <a:srgbClr val="156082"/>
                    </a:solidFill>
                  </a:tcPr>
                </a:tc>
                <a:tc>
                  <a:txBody>
                    <a:bodyPr wrap="square"/>
                    <a:lstStyle/>
                    <a:p>
                      <a:r>
                        <a:rPr sz="1614" b="1">
                          <a:solidFill>
                            <a:srgbClr val="FFFFFF"/>
                          </a:solidFill>
                          <a:latin typeface="Aptos"/>
                        </a:rPr>
                        <a:t>Pregunta arquitectónica</a:t>
                      </a:r>
                    </a:p>
                  </a:txBody>
                  <a:tcPr anchor="ctr" marL="146304" marR="146304">
                    <a:solidFill>
                      <a:srgbClr val="156082"/>
                    </a:solidFill>
                  </a:tcPr>
                </a:tc>
                <a:tc>
                  <a:txBody>
                    <a:bodyPr wrap="square"/>
                    <a:lstStyle/>
                    <a:p>
                      <a:r>
                        <a:rPr sz="1614" b="1">
                          <a:solidFill>
                            <a:srgbClr val="FFFFFF"/>
                          </a:solidFill>
                          <a:latin typeface="Aptos"/>
                        </a:rPr>
                        <a:t>Marco (sección de la OVA)</a:t>
                      </a:r>
                    </a:p>
                  </a:txBody>
                  <a:tcPr anchor="ctr" marL="146304" marR="146304">
                    <a:solidFill>
                      <a:srgbClr val="156082"/>
                    </a:solidFill>
                  </a:tcPr>
                </a:tc>
              </a:tr>
              <a:tr h="578104">
                <a:tc>
                  <a:txBody>
                    <a:bodyPr wrap="square"/>
                    <a:lstStyle/>
                    <a:p>
                      <a:r>
                        <a:rPr sz="1506" b="1">
                          <a:solidFill>
                            <a:srgbClr val="33475B"/>
                          </a:solidFill>
                          <a:latin typeface="Aptos"/>
                        </a:rPr>
                        <a:t>Listas, tarjetas, modales, popovers y gestos</a:t>
                      </a:r>
                    </a:p>
                  </a:txBody>
                  <a:tcPr anchor="ctr" marL="146304" marR="146304">
                    <a:solidFill>
                      <a:srgbClr val="FFFFFF"/>
                    </a:solidFill>
                  </a:tcPr>
                </a:tc>
                <a:tc>
                  <a:txBody>
                    <a:bodyPr wrap="square"/>
                    <a:lstStyle/>
                    <a:p>
                      <a:r>
                        <a:rPr sz="1506" b="0">
                          <a:solidFill>
                            <a:srgbClr val="33475B"/>
                          </a:solidFill>
                          <a:latin typeface="Aptos"/>
                        </a:rPr>
                        <a:t>¿Qué sabe una pantalla y qué no?</a:t>
                      </a:r>
                    </a:p>
                  </a:txBody>
                  <a:tcPr anchor="ctr" marL="146304" marR="146304">
                    <a:solidFill>
                      <a:srgbClr val="FFFFFF"/>
                    </a:solidFill>
                  </a:tcPr>
                </a:tc>
                <a:tc>
                  <a:txBody>
                    <a:bodyPr wrap="square"/>
                    <a:lstStyle/>
                    <a:p>
                      <a:r>
                        <a:rPr sz="1506" b="0">
                          <a:solidFill>
                            <a:srgbClr val="33475B"/>
                          </a:solidFill>
                          <a:latin typeface="Aptos"/>
                        </a:rPr>
                        <a:t>02 Código y UI (2)</a:t>
                      </a:r>
                    </a:p>
                  </a:txBody>
                  <a:tcPr anchor="ctr" marL="146304" marR="146304">
                    <a:solidFill>
                      <a:srgbClr val="FFFFFF"/>
                    </a:solidFill>
                  </a:tcPr>
                </a:tc>
              </a:tr>
              <a:tr h="578104">
                <a:tc>
                  <a:txBody>
                    <a:bodyPr wrap="square"/>
                    <a:lstStyle/>
                    <a:p>
                      <a:r>
                        <a:rPr sz="1506" b="1">
                          <a:solidFill>
                            <a:srgbClr val="33475B"/>
                          </a:solidFill>
                          <a:latin typeface="Aptos"/>
                        </a:rPr>
                        <a:t>Variables CSS y modos md/ios</a:t>
                      </a:r>
                    </a:p>
                  </a:txBody>
                  <a:tcPr anchor="ctr" marL="146304" marR="146304">
                    <a:solidFill>
                      <a:srgbClr val="F4F7FA"/>
                    </a:solidFill>
                  </a:tcPr>
                </a:tc>
                <a:tc>
                  <a:txBody>
                    <a:bodyPr wrap="square"/>
                    <a:lstStyle/>
                    <a:p>
                      <a:r>
                        <a:rPr sz="1506" b="0">
                          <a:solidFill>
                            <a:srgbClr val="33475B"/>
                          </a:solidFill>
                          <a:latin typeface="Aptos"/>
                        </a:rPr>
                        <a:t>¿De dónde salen colores, espacios y tipografía?</a:t>
                      </a:r>
                    </a:p>
                  </a:txBody>
                  <a:tcPr anchor="ctr" marL="146304" marR="146304">
                    <a:solidFill>
                      <a:srgbClr val="F4F7FA"/>
                    </a:solidFill>
                  </a:tcPr>
                </a:tc>
                <a:tc>
                  <a:txBody>
                    <a:bodyPr wrap="square"/>
                    <a:lstStyle/>
                    <a:p>
                      <a:r>
                        <a:rPr sz="1506" b="0">
                          <a:solidFill>
                            <a:srgbClr val="33475B"/>
                          </a:solidFill>
                          <a:latin typeface="Aptos"/>
                        </a:rPr>
                        <a:t>02 · Sistema de diseño (3)</a:t>
                      </a:r>
                    </a:p>
                  </a:txBody>
                  <a:tcPr anchor="ctr" marL="146304" marR="146304">
                    <a:solidFill>
                      <a:srgbClr val="F4F7FA"/>
                    </a:solidFill>
                  </a:tcPr>
                </a:tc>
              </a:tr>
              <a:tr h="578104">
                <a:tc>
                  <a:txBody>
                    <a:bodyPr wrap="square"/>
                    <a:lstStyle/>
                    <a:p>
                      <a:r>
                        <a:rPr sz="1506" b="1">
                          <a:solidFill>
                            <a:srgbClr val="33475B"/>
                          </a:solidFill>
                          <a:latin typeface="Aptos"/>
                        </a:rPr>
                        <a:t>Servicios, inyección y RxJS</a:t>
                      </a:r>
                    </a:p>
                  </a:txBody>
                  <a:tcPr anchor="ctr" marL="146304" marR="146304">
                    <a:solidFill>
                      <a:srgbClr val="FFFFFF"/>
                    </a:solidFill>
                  </a:tcPr>
                </a:tc>
                <a:tc>
                  <a:txBody>
                    <a:bodyPr wrap="square"/>
                    <a:lstStyle/>
                    <a:p>
                      <a:r>
                        <a:rPr sz="1506" b="0">
                          <a:solidFill>
                            <a:srgbClr val="33475B"/>
                          </a:solidFill>
                          <a:latin typeface="Aptos"/>
                        </a:rPr>
                        <a:t>¿Quién es dueño del estado y hacia dónde fluye?</a:t>
                      </a:r>
                    </a:p>
                  </a:txBody>
                  <a:tcPr anchor="ctr" marL="146304" marR="146304">
                    <a:solidFill>
                      <a:srgbClr val="FFFFFF"/>
                    </a:solidFill>
                  </a:tcPr>
                </a:tc>
                <a:tc>
                  <a:txBody>
                    <a:bodyPr wrap="square"/>
                    <a:lstStyle/>
                    <a:p>
                      <a:r>
                        <a:rPr sz="1506" b="0">
                          <a:solidFill>
                            <a:srgbClr val="33475B"/>
                          </a:solidFill>
                          <a:latin typeface="Aptos"/>
                        </a:rPr>
                        <a:t>01 · Capas y estado (4 y 5)</a:t>
                      </a:r>
                    </a:p>
                  </a:txBody>
                  <a:tcPr anchor="ctr" marL="146304" marR="146304">
                    <a:solidFill>
                      <a:srgbClr val="FFFFFF"/>
                    </a:solidFill>
                  </a:tcPr>
                </a:tc>
              </a:tr>
              <a:tr h="578104">
                <a:tc>
                  <a:txBody>
                    <a:bodyPr wrap="square"/>
                    <a:lstStyle/>
                    <a:p>
                      <a:r>
                        <a:rPr sz="1506" b="1">
                          <a:solidFill>
                            <a:srgbClr val="33475B"/>
                          </a:solidFill>
                          <a:latin typeface="Aptos"/>
                        </a:rPr>
                        <a:t>Reactive Forms</a:t>
                      </a:r>
                    </a:p>
                  </a:txBody>
                  <a:tcPr anchor="ctr" marL="146304" marR="146304">
                    <a:solidFill>
                      <a:srgbClr val="F4F7FA"/>
                    </a:solidFill>
                  </a:tcPr>
                </a:tc>
                <a:tc>
                  <a:txBody>
                    <a:bodyPr wrap="square"/>
                    <a:lstStyle/>
                    <a:p>
                      <a:r>
                        <a:rPr sz="1506" b="0">
                          <a:solidFill>
                            <a:srgbClr val="33475B"/>
                          </a:solidFill>
                          <a:latin typeface="Aptos"/>
                        </a:rPr>
                        <a:t>¿Dónde vive cada validación?</a:t>
                      </a:r>
                    </a:p>
                  </a:txBody>
                  <a:tcPr anchor="ctr" marL="146304" marR="146304">
                    <a:solidFill>
                      <a:srgbClr val="F4F7FA"/>
                    </a:solidFill>
                  </a:tcPr>
                </a:tc>
                <a:tc>
                  <a:txBody>
                    <a:bodyPr wrap="square"/>
                    <a:lstStyle/>
                    <a:p>
                      <a:r>
                        <a:rPr sz="1506" b="0">
                          <a:solidFill>
                            <a:srgbClr val="33475B"/>
                          </a:solidFill>
                          <a:latin typeface="Aptos"/>
                        </a:rPr>
                        <a:t>01 + 02 (6)</a:t>
                      </a:r>
                    </a:p>
                  </a:txBody>
                  <a:tcPr anchor="ctr" marL="146304" marR="146304">
                    <a:solidFill>
                      <a:srgbClr val="F4F7FA"/>
                    </a:solidFill>
                  </a:tcPr>
                </a:tc>
              </a:tr>
              <a:tr h="578104">
                <a:tc>
                  <a:txBody>
                    <a:bodyPr wrap="square"/>
                    <a:lstStyle/>
                    <a:p>
                      <a:r>
                        <a:rPr sz="1506" b="1">
                          <a:solidFill>
                            <a:srgbClr val="33475B"/>
                          </a:solidFill>
                          <a:latin typeface="Aptos"/>
                        </a:rPr>
                        <a:t>APIs REST, carga y errores</a:t>
                      </a:r>
                    </a:p>
                  </a:txBody>
                  <a:tcPr anchor="ctr" marL="146304" marR="146304">
                    <a:solidFill>
                      <a:srgbClr val="FFFFFF"/>
                    </a:solidFill>
                  </a:tcPr>
                </a:tc>
                <a:tc>
                  <a:txBody>
                    <a:bodyPr wrap="square"/>
                    <a:lstStyle/>
                    <a:p>
                      <a:r>
                        <a:rPr sz="1506" b="0">
                          <a:solidFill>
                            <a:srgbClr val="33475B"/>
                          </a:solidFill>
                          <a:latin typeface="Aptos"/>
                        </a:rPr>
                        <a:t>¿Cómo hablar con el backend sin que la UI se entere?</a:t>
                      </a:r>
                    </a:p>
                  </a:txBody>
                  <a:tcPr anchor="ctr" marL="146304" marR="146304">
                    <a:solidFill>
                      <a:srgbClr val="FFFFFF"/>
                    </a:solidFill>
                  </a:tcPr>
                </a:tc>
                <a:tc>
                  <a:txBody>
                    <a:bodyPr wrap="square"/>
                    <a:lstStyle/>
                    <a:p>
                      <a:r>
                        <a:rPr sz="1506" b="0">
                          <a:solidFill>
                            <a:srgbClr val="33475B"/>
                          </a:solidFill>
                          <a:latin typeface="Aptos"/>
                        </a:rPr>
                        <a:t>03 API y datos (7, 8 y 9)</a:t>
                      </a:r>
                    </a:p>
                  </a:txBody>
                  <a:tcPr anchor="ctr" marL="146304" marR="146304">
                    <a:solidFill>
                      <a:srgbClr val="FFFFFF"/>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Bitácora de Campo: feature por capas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11810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55648"/>
            <a:ext cx="10515600" cy="2770632"/>
          </a:xfrm>
          <a:prstGeom prst="rect">
            <a:avLst/>
          </a:prstGeom>
          <a:noFill/>
        </p:spPr>
        <p:txBody>
          <a:bodyPr wrap="none" lIns="0" tIns="0">
            <a:spAutoFit/>
          </a:bodyPr>
          <a:lstStyle/>
          <a:p>
            <a:pPr>
              <a:lnSpc>
                <a:spcPct val="125000"/>
              </a:lnSpc>
            </a:pPr>
            <a:r>
              <a:rPr sz="1552">
                <a:solidFill>
                  <a:srgbClr val="E8E8E8"/>
                </a:solidFill>
                <a:latin typeface="Consolas"/>
              </a:rPr>
              <a:t>src/app/</a:t>
            </a:r>
          </a:p>
          <a:p>
            <a:pPr>
              <a:lnSpc>
                <a:spcPct val="125000"/>
              </a:lnSpc>
            </a:pPr>
            <a:r>
              <a:rPr sz="1552">
                <a:solidFill>
                  <a:srgbClr val="E8E8E8"/>
                </a:solidFill>
                <a:latin typeface="Consolas"/>
              </a:rPr>
              <a:t>├── core/             di · network · auth · storage · theme</a:t>
            </a:r>
          </a:p>
          <a:p>
            <a:pPr>
              <a:lnSpc>
                <a:spcPct val="125000"/>
              </a:lnSpc>
            </a:pPr>
            <a:r>
              <a:rPr sz="1552">
                <a:solidFill>
                  <a:srgbClr val="E8E8E8"/>
                </a:solidFill>
                <a:latin typeface="Consolas"/>
              </a:rPr>
              <a:t>├── features/visitas/</a:t>
            </a:r>
          </a:p>
          <a:p>
            <a:pPr>
              <a:lnSpc>
                <a:spcPct val="125000"/>
              </a:lnSpc>
            </a:pPr>
            <a:r>
              <a:rPr sz="1552">
                <a:solidFill>
                  <a:srgbClr val="E8E8E8"/>
                </a:solidFill>
                <a:latin typeface="Consolas"/>
              </a:rPr>
              <a:t>│   ├── presentation/ páginas, componentes y ViewModels</a:t>
            </a:r>
          </a:p>
          <a:p>
            <a:pPr>
              <a:lnSpc>
                <a:spcPct val="125000"/>
              </a:lnSpc>
            </a:pPr>
            <a:r>
              <a:rPr sz="1552">
                <a:solidFill>
                  <a:srgbClr val="E8E8E8"/>
                </a:solidFill>
                <a:latin typeface="Consolas"/>
              </a:rPr>
              <a:t>│   ├── domain/       Visita, ListarVisitas, VisitasRepository (contrato)</a:t>
            </a:r>
          </a:p>
          <a:p>
            <a:pPr>
              <a:lnSpc>
                <a:spcPct val="125000"/>
              </a:lnSpc>
            </a:pPr>
            <a:r>
              <a:rPr sz="1552">
                <a:solidFill>
                  <a:srgbClr val="E8E8E8"/>
                </a:solidFill>
                <a:latin typeface="Consolas"/>
              </a:rPr>
              <a:t>│   └── data/         VisitasHttpRepository, VisitaDto, mappers</a:t>
            </a:r>
          </a:p>
          <a:p>
            <a:pPr>
              <a:lnSpc>
                <a:spcPct val="125000"/>
              </a:lnSpc>
            </a:pPr>
            <a:r>
              <a:rPr sz="1552">
                <a:solidFill>
                  <a:srgbClr val="E8E8E8"/>
                </a:solidFill>
                <a:latin typeface="Consolas"/>
              </a:rPr>
              <a:t>├── shared/           componentes de UI reutilizables, sin negocio</a:t>
            </a:r>
          </a:p>
          <a:p>
            <a:pPr>
              <a:lnSpc>
                <a:spcPct val="125000"/>
              </a:lnSpc>
            </a:pPr>
            <a:r>
              <a:rPr sz="1552">
                <a:solidFill>
                  <a:srgbClr val="E8E8E8"/>
                </a:solidFill>
                <a:latin typeface="Consolas"/>
              </a:rPr>
              <a:t>└── app.routes.ts     tabla central de rutas</a:t>
            </a:r>
          </a:p>
        </p:txBody>
      </p:sp>
      <p:sp>
        <p:nvSpPr>
          <p:cNvPr id="9" name="Rounded Rectangle 8"/>
          <p:cNvSpPr/>
          <p:nvPr/>
        </p:nvSpPr>
        <p:spPr>
          <a:xfrm>
            <a:off x="566928" y="4892040"/>
            <a:ext cx="11064240" cy="143560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4946904"/>
            <a:ext cx="63500" cy="1325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92040"/>
            <a:ext cx="10378440" cy="1435608"/>
          </a:xfrm>
          <a:prstGeom prst="rect">
            <a:avLst/>
          </a:prstGeom>
          <a:noFill/>
        </p:spPr>
        <p:txBody>
          <a:bodyPr wrap="square" anchor="ctr" lIns="0" rIns="0" tIns="0" bIns="0">
            <a:spAutoFit/>
          </a:bodyPr>
          <a:lstStyle/>
          <a:p>
            <a:pPr algn="l">
              <a:lnSpc>
                <a:spcPct val="125000"/>
              </a:lnSpc>
            </a:pPr>
            <a:r>
              <a:rPr sz="2355" b="1">
                <a:solidFill>
                  <a:srgbClr val="0E2841"/>
                </a:solidFill>
                <a:latin typeface="Aptos Display"/>
              </a:rPr>
              <a:t>Presentación → Dominio ← Datos. El dominio usa </a:t>
            </a:r>
            <a:r>
              <a:rPr sz="2214" b="1">
                <a:solidFill>
                  <a:srgbClr val="156082"/>
                </a:solidFill>
                <a:latin typeface="Consolas"/>
              </a:rPr>
              <a:t>Observable</a:t>
            </a:r>
            <a:r>
              <a:rPr sz="2355" b="1">
                <a:solidFill>
                  <a:srgbClr val="0E2841"/>
                </a:solidFill>
                <a:latin typeface="Aptos Display"/>
              </a:rPr>
              <a:t> de RxJS, pero nunca </a:t>
            </a:r>
            <a:r>
              <a:rPr sz="2214" b="1">
                <a:solidFill>
                  <a:srgbClr val="156082"/>
                </a:solidFill>
                <a:latin typeface="Consolas"/>
              </a:rPr>
              <a:t>@angular/*</a:t>
            </a:r>
            <a:r>
              <a:rPr sz="2355" b="1">
                <a:solidFill>
                  <a:srgbClr val="0E2841"/>
                </a:solidFill>
                <a:latin typeface="Aptos Display"/>
              </a:rPr>
              <a:t>, </a:t>
            </a:r>
            <a:r>
              <a:rPr sz="2214" b="1">
                <a:solidFill>
                  <a:srgbClr val="156082"/>
                </a:solidFill>
                <a:latin typeface="Consolas"/>
              </a:rPr>
              <a:t>HttpClient</a:t>
            </a:r>
            <a:r>
              <a:rPr sz="2355" b="1">
                <a:solidFill>
                  <a:srgbClr val="0E2841"/>
                </a:solidFill>
                <a:latin typeface="Aptos Display"/>
              </a:rPr>
              <a:t>, </a:t>
            </a:r>
            <a:r>
              <a:rPr sz="2214" b="1">
                <a:solidFill>
                  <a:srgbClr val="156082"/>
                </a:solidFill>
                <a:latin typeface="Consolas"/>
              </a:rPr>
              <a:t>@ionic/*</a:t>
            </a:r>
            <a:r>
              <a:rPr sz="2355" b="1">
                <a:solidFill>
                  <a:srgbClr val="0E2841"/>
                </a:solidFill>
                <a:latin typeface="Aptos Display"/>
              </a:rPr>
              <a:t> ni </a:t>
            </a:r>
            <a:r>
              <a:rPr sz="2214" b="1">
                <a:solidFill>
                  <a:srgbClr val="156082"/>
                </a:solidFill>
                <a:latin typeface="Consolas"/>
              </a:rPr>
              <a:t>@capacitor/*</a:t>
            </a:r>
            <a:r>
              <a:rPr sz="2355" b="1">
                <a:solidFill>
                  <a:srgbClr val="0E2841"/>
                </a:solidFill>
                <a:latin typeface="Aptos Display"/>
              </a:rPr>
              <a:t>.</a:t>
            </a:r>
          </a:p>
        </p:txBody>
      </p:sp>
      <p:sp>
        <p:nvSpPr>
          <p:cNvPr id="12" name="TextBox 1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3" name="TextBox 1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48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2. La pantalla compone y delega</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Componentes Ionic, gestos y accesibilidad táctil</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Una pantalla compone y delega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3468624" cy="280989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572768"/>
            <a:ext cx="3468624"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72768"/>
            <a:ext cx="3102864" cy="566928"/>
          </a:xfrm>
          <a:prstGeom prst="rect">
            <a:avLst/>
          </a:prstGeom>
          <a:noFill/>
        </p:spPr>
        <p:txBody>
          <a:bodyPr wrap="square" anchor="ctr" lIns="0" rIns="0" tIns="0" bIns="0">
            <a:spAutoFit/>
          </a:bodyPr>
          <a:lstStyle/>
          <a:p>
            <a:pPr algn="l"/>
            <a:r>
              <a:rPr sz="1760" b="1">
                <a:solidFill>
                  <a:srgbClr val="FFFFFF"/>
                </a:solidFill>
                <a:latin typeface="Aptos Display"/>
              </a:rPr>
              <a:t>Página (contenedor)</a:t>
            </a:r>
          </a:p>
        </p:txBody>
      </p:sp>
      <p:sp>
        <p:nvSpPr>
          <p:cNvPr id="10" name="Oval 9"/>
          <p:cNvSpPr/>
          <p:nvPr/>
        </p:nvSpPr>
        <p:spPr>
          <a:xfrm>
            <a:off x="786384" y="268510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429076"/>
            <a:ext cx="2810256" cy="603504"/>
          </a:xfrm>
          <a:prstGeom prst="rect">
            <a:avLst/>
          </a:prstGeom>
          <a:noFill/>
        </p:spPr>
        <p:txBody>
          <a:bodyPr wrap="square" anchor="ctr" lIns="0" rIns="0" tIns="0" bIns="0">
            <a:spAutoFit/>
          </a:bodyPr>
          <a:lstStyle/>
          <a:p>
            <a:pPr algn="l"/>
            <a:r>
              <a:rPr sz="1450" b="0">
                <a:solidFill>
                  <a:srgbClr val="33475B"/>
                </a:solidFill>
                <a:latin typeface="Aptos"/>
              </a:rPr>
              <a:t>Inyecta su ViewModel</a:t>
            </a:r>
          </a:p>
        </p:txBody>
      </p:sp>
      <p:sp>
        <p:nvSpPr>
          <p:cNvPr id="12" name="Oval 11"/>
          <p:cNvSpPr/>
          <p:nvPr/>
        </p:nvSpPr>
        <p:spPr>
          <a:xfrm>
            <a:off x="786384" y="3288612"/>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032580"/>
            <a:ext cx="2810256" cy="603504"/>
          </a:xfrm>
          <a:prstGeom prst="rect">
            <a:avLst/>
          </a:prstGeom>
          <a:noFill/>
        </p:spPr>
        <p:txBody>
          <a:bodyPr wrap="square" anchor="ctr" lIns="0" rIns="0" tIns="0" bIns="0">
            <a:spAutoFit/>
          </a:bodyPr>
          <a:lstStyle/>
          <a:p>
            <a:pPr algn="l"/>
            <a:r>
              <a:rPr sz="1450" b="0">
                <a:solidFill>
                  <a:srgbClr val="33475B"/>
                </a:solidFill>
                <a:latin typeface="Aptos"/>
              </a:rPr>
              <a:t>Traduce toques en intenciones</a:t>
            </a:r>
          </a:p>
        </p:txBody>
      </p:sp>
      <p:sp>
        <p:nvSpPr>
          <p:cNvPr id="14" name="Oval 13"/>
          <p:cNvSpPr/>
          <p:nvPr/>
        </p:nvSpPr>
        <p:spPr>
          <a:xfrm>
            <a:off x="786384" y="389211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636084"/>
            <a:ext cx="2810256" cy="603504"/>
          </a:xfrm>
          <a:prstGeom prst="rect">
            <a:avLst/>
          </a:prstGeom>
          <a:noFill/>
        </p:spPr>
        <p:txBody>
          <a:bodyPr wrap="square" anchor="ctr" lIns="0" rIns="0" tIns="0" bIns="0">
            <a:spAutoFit/>
          </a:bodyPr>
          <a:lstStyle/>
          <a:p>
            <a:pPr algn="l"/>
            <a:r>
              <a:rPr sz="1450" b="0">
                <a:solidFill>
                  <a:srgbClr val="33475B"/>
                </a:solidFill>
                <a:latin typeface="Aptos"/>
              </a:rPr>
              <a:t>Navega</a:t>
            </a:r>
          </a:p>
        </p:txBody>
      </p:sp>
      <p:sp>
        <p:nvSpPr>
          <p:cNvPr id="16" name="Rounded Rectangle 15"/>
          <p:cNvSpPr/>
          <p:nvPr/>
        </p:nvSpPr>
        <p:spPr>
          <a:xfrm>
            <a:off x="4364736" y="1572768"/>
            <a:ext cx="3468624" cy="280989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4364736" y="1572768"/>
            <a:ext cx="3468624"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47616" y="1572768"/>
            <a:ext cx="3102864" cy="566928"/>
          </a:xfrm>
          <a:prstGeom prst="rect">
            <a:avLst/>
          </a:prstGeom>
          <a:noFill/>
        </p:spPr>
        <p:txBody>
          <a:bodyPr wrap="square" anchor="ctr" lIns="0" rIns="0" tIns="0" bIns="0">
            <a:spAutoFit/>
          </a:bodyPr>
          <a:lstStyle/>
          <a:p>
            <a:pPr algn="l"/>
            <a:r>
              <a:rPr sz="1760" b="1">
                <a:solidFill>
                  <a:srgbClr val="FFFFFF"/>
                </a:solidFill>
                <a:latin typeface="Aptos Display"/>
              </a:rPr>
              <a:t>Componente presentacional</a:t>
            </a:r>
          </a:p>
        </p:txBody>
      </p:sp>
      <p:sp>
        <p:nvSpPr>
          <p:cNvPr id="19" name="Oval 18"/>
          <p:cNvSpPr/>
          <p:nvPr/>
        </p:nvSpPr>
        <p:spPr>
          <a:xfrm>
            <a:off x="4584192" y="268510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21936" y="2429076"/>
            <a:ext cx="2810256" cy="603504"/>
          </a:xfrm>
          <a:prstGeom prst="rect">
            <a:avLst/>
          </a:prstGeom>
          <a:noFill/>
        </p:spPr>
        <p:txBody>
          <a:bodyPr wrap="square" anchor="ctr" lIns="0" rIns="0" tIns="0" bIns="0">
            <a:spAutoFit/>
          </a:bodyPr>
          <a:lstStyle/>
          <a:p>
            <a:pPr algn="l"/>
            <a:r>
              <a:rPr sz="1450" b="0">
                <a:solidFill>
                  <a:srgbClr val="33475B"/>
                </a:solidFill>
                <a:latin typeface="Aptos"/>
              </a:rPr>
              <a:t>Recibe datos por </a:t>
            </a:r>
            <a:r>
              <a:rPr sz="1363" b="0">
                <a:solidFill>
                  <a:srgbClr val="156082"/>
                </a:solidFill>
                <a:latin typeface="Consolas"/>
              </a:rPr>
              <a:t>input()</a:t>
            </a:r>
          </a:p>
        </p:txBody>
      </p:sp>
      <p:sp>
        <p:nvSpPr>
          <p:cNvPr id="21" name="Oval 20"/>
          <p:cNvSpPr/>
          <p:nvPr/>
        </p:nvSpPr>
        <p:spPr>
          <a:xfrm>
            <a:off x="4584192" y="3288612"/>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21936" y="3032580"/>
            <a:ext cx="2810256" cy="603504"/>
          </a:xfrm>
          <a:prstGeom prst="rect">
            <a:avLst/>
          </a:prstGeom>
          <a:noFill/>
        </p:spPr>
        <p:txBody>
          <a:bodyPr wrap="square" anchor="ctr" lIns="0" rIns="0" tIns="0" bIns="0">
            <a:spAutoFit/>
          </a:bodyPr>
          <a:lstStyle/>
          <a:p>
            <a:pPr algn="l"/>
            <a:r>
              <a:rPr sz="1450" b="0">
                <a:solidFill>
                  <a:srgbClr val="33475B"/>
                </a:solidFill>
                <a:latin typeface="Aptos"/>
              </a:rPr>
              <a:t>Emite eventos por </a:t>
            </a:r>
            <a:r>
              <a:rPr sz="1363" b="0">
                <a:solidFill>
                  <a:srgbClr val="156082"/>
                </a:solidFill>
                <a:latin typeface="Consolas"/>
              </a:rPr>
              <a:t>output()</a:t>
            </a:r>
          </a:p>
        </p:txBody>
      </p:sp>
      <p:sp>
        <p:nvSpPr>
          <p:cNvPr id="23" name="Oval 22"/>
          <p:cNvSpPr/>
          <p:nvPr/>
        </p:nvSpPr>
        <p:spPr>
          <a:xfrm>
            <a:off x="4584192" y="389211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21936" y="3636084"/>
            <a:ext cx="2810256" cy="603504"/>
          </a:xfrm>
          <a:prstGeom prst="rect">
            <a:avLst/>
          </a:prstGeom>
          <a:noFill/>
        </p:spPr>
        <p:txBody>
          <a:bodyPr wrap="square" anchor="ctr" lIns="0" rIns="0" tIns="0" bIns="0">
            <a:spAutoFit/>
          </a:bodyPr>
          <a:lstStyle/>
          <a:p>
            <a:pPr algn="l"/>
            <a:r>
              <a:rPr sz="1450" b="0">
                <a:solidFill>
                  <a:srgbClr val="33475B"/>
                </a:solidFill>
                <a:latin typeface="Aptos"/>
              </a:rPr>
              <a:t>Se prueba sin servicios</a:t>
            </a:r>
          </a:p>
        </p:txBody>
      </p:sp>
      <p:sp>
        <p:nvSpPr>
          <p:cNvPr id="25" name="Rounded Rectangle 24"/>
          <p:cNvSpPr/>
          <p:nvPr/>
        </p:nvSpPr>
        <p:spPr>
          <a:xfrm>
            <a:off x="8162544" y="1572768"/>
            <a:ext cx="3468624" cy="280989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 Same Side Corner Rectangle 25"/>
          <p:cNvSpPr/>
          <p:nvPr/>
        </p:nvSpPr>
        <p:spPr>
          <a:xfrm>
            <a:off x="8162544" y="1572768"/>
            <a:ext cx="3468624" cy="566928"/>
          </a:xfrm>
          <a:prstGeom prst="round2SameRect">
            <a:avLst>
              <a:gd name="adj1" fmla="val 14000"/>
              <a:gd name="adj2" fmla="val 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5424" y="1572768"/>
            <a:ext cx="3102864" cy="566928"/>
          </a:xfrm>
          <a:prstGeom prst="rect">
            <a:avLst/>
          </a:prstGeom>
          <a:noFill/>
        </p:spPr>
        <p:txBody>
          <a:bodyPr wrap="square" anchor="ctr" lIns="0" rIns="0" tIns="0" bIns="0">
            <a:spAutoFit/>
          </a:bodyPr>
          <a:lstStyle/>
          <a:p>
            <a:pPr algn="l"/>
            <a:r>
              <a:rPr sz="1760" b="1">
                <a:solidFill>
                  <a:srgbClr val="FFFFFF"/>
                </a:solidFill>
                <a:latin typeface="Aptos Display"/>
              </a:rPr>
              <a:t>Ninguna de las dos</a:t>
            </a:r>
          </a:p>
        </p:txBody>
      </p:sp>
      <p:sp>
        <p:nvSpPr>
          <p:cNvPr id="28" name="Oval 27"/>
          <p:cNvSpPr/>
          <p:nvPr/>
        </p:nvSpPr>
        <p:spPr>
          <a:xfrm>
            <a:off x="8382000" y="2526366"/>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19744" y="2318004"/>
            <a:ext cx="2810256" cy="508164"/>
          </a:xfrm>
          <a:prstGeom prst="rect">
            <a:avLst/>
          </a:prstGeom>
          <a:noFill/>
        </p:spPr>
        <p:txBody>
          <a:bodyPr wrap="square" anchor="ctr" lIns="0" rIns="0" tIns="0" bIns="0">
            <a:spAutoFit/>
          </a:bodyPr>
          <a:lstStyle/>
          <a:p>
            <a:pPr algn="l"/>
            <a:r>
              <a:rPr sz="1450" b="0">
                <a:solidFill>
                  <a:srgbClr val="33475B"/>
                </a:solidFill>
                <a:latin typeface="Aptos"/>
              </a:rPr>
              <a:t>Calcula reglas de negocio</a:t>
            </a:r>
          </a:p>
        </p:txBody>
      </p:sp>
      <p:sp>
        <p:nvSpPr>
          <p:cNvPr id="30" name="Oval 29"/>
          <p:cNvSpPr/>
          <p:nvPr/>
        </p:nvSpPr>
        <p:spPr>
          <a:xfrm>
            <a:off x="8382000" y="3034530"/>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19744" y="2826168"/>
            <a:ext cx="2810256" cy="508164"/>
          </a:xfrm>
          <a:prstGeom prst="rect">
            <a:avLst/>
          </a:prstGeom>
          <a:noFill/>
        </p:spPr>
        <p:txBody>
          <a:bodyPr wrap="square" anchor="ctr" lIns="0" rIns="0" tIns="0" bIns="0">
            <a:spAutoFit/>
          </a:bodyPr>
          <a:lstStyle/>
          <a:p>
            <a:pPr algn="l"/>
            <a:r>
              <a:rPr sz="1450" b="0">
                <a:solidFill>
                  <a:srgbClr val="33475B"/>
                </a:solidFill>
                <a:latin typeface="Aptos"/>
              </a:rPr>
              <a:t>Llama a </a:t>
            </a:r>
            <a:r>
              <a:rPr sz="1363" b="0">
                <a:solidFill>
                  <a:srgbClr val="156082"/>
                </a:solidFill>
                <a:latin typeface="Consolas"/>
              </a:rPr>
              <a:t>HttpClient</a:t>
            </a:r>
          </a:p>
        </p:txBody>
      </p:sp>
      <p:sp>
        <p:nvSpPr>
          <p:cNvPr id="32" name="Oval 31"/>
          <p:cNvSpPr/>
          <p:nvPr/>
        </p:nvSpPr>
        <p:spPr>
          <a:xfrm>
            <a:off x="8382000" y="3542694"/>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19744" y="3334332"/>
            <a:ext cx="2810256" cy="508164"/>
          </a:xfrm>
          <a:prstGeom prst="rect">
            <a:avLst/>
          </a:prstGeom>
          <a:noFill/>
        </p:spPr>
        <p:txBody>
          <a:bodyPr wrap="square" anchor="ctr" lIns="0" rIns="0" tIns="0" bIns="0">
            <a:spAutoFit/>
          </a:bodyPr>
          <a:lstStyle/>
          <a:p>
            <a:pPr algn="l"/>
            <a:r>
              <a:rPr sz="1450" b="0">
                <a:solidFill>
                  <a:srgbClr val="33475B"/>
                </a:solidFill>
                <a:latin typeface="Aptos"/>
              </a:rPr>
              <a:t>Decide qué estado sigue</a:t>
            </a:r>
          </a:p>
        </p:txBody>
      </p:sp>
      <p:sp>
        <p:nvSpPr>
          <p:cNvPr id="34" name="Oval 33"/>
          <p:cNvSpPr/>
          <p:nvPr/>
        </p:nvSpPr>
        <p:spPr>
          <a:xfrm>
            <a:off x="8382000" y="4050859"/>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19744" y="3842497"/>
            <a:ext cx="2810256" cy="508164"/>
          </a:xfrm>
          <a:prstGeom prst="rect">
            <a:avLst/>
          </a:prstGeom>
          <a:noFill/>
        </p:spPr>
        <p:txBody>
          <a:bodyPr wrap="square" anchor="ctr" lIns="0" rIns="0" tIns="0" bIns="0">
            <a:spAutoFit/>
          </a:bodyPr>
          <a:lstStyle/>
          <a:p>
            <a:pPr algn="l"/>
            <a:r>
              <a:rPr sz="1450" b="0">
                <a:solidFill>
                  <a:srgbClr val="33475B"/>
                </a:solidFill>
                <a:latin typeface="Aptos"/>
              </a:rPr>
              <a:t>Manipula coordenadas del dedo</a:t>
            </a:r>
          </a:p>
        </p:txBody>
      </p:sp>
      <p:sp>
        <p:nvSpPr>
          <p:cNvPr id="36" name="Rounded Rectangle 35"/>
          <p:cNvSpPr/>
          <p:nvPr/>
        </p:nvSpPr>
        <p:spPr>
          <a:xfrm>
            <a:off x="566928" y="4583833"/>
            <a:ext cx="11064240" cy="174381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4803289"/>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 y="4766713"/>
            <a:ext cx="7315200" cy="237744"/>
          </a:xfrm>
          <a:prstGeom prst="rect">
            <a:avLst/>
          </a:prstGeom>
          <a:noFill/>
        </p:spPr>
        <p:txBody>
          <a:bodyPr wrap="square" anchor="t" lIns="0" rIns="0" tIns="0" bIns="0">
            <a:spAutoFit/>
          </a:bodyPr>
          <a:lstStyle/>
          <a:p>
            <a:pPr algn="l"/>
            <a:r>
              <a:rPr sz="1191" b="1">
                <a:solidFill>
                  <a:srgbClr val="E97132"/>
                </a:solidFill>
                <a:latin typeface="Aptos"/>
              </a:rPr>
              <a:t>PÁGINA · NUEVA(): EL MODAL DEVUELVE UN RESULTADO, NO GUARDA</a:t>
            </a:r>
          </a:p>
        </p:txBody>
      </p:sp>
      <p:sp>
        <p:nvSpPr>
          <p:cNvPr id="39" name="TextBox 38"/>
          <p:cNvSpPr txBox="1"/>
          <p:nvPr/>
        </p:nvSpPr>
        <p:spPr>
          <a:xfrm>
            <a:off x="877824" y="5150761"/>
            <a:ext cx="10515600" cy="1012294"/>
          </a:xfrm>
          <a:prstGeom prst="rect">
            <a:avLst/>
          </a:prstGeom>
          <a:noFill/>
        </p:spPr>
        <p:txBody>
          <a:bodyPr wrap="none" lIns="0" tIns="0">
            <a:spAutoFit/>
          </a:bodyPr>
          <a:lstStyle/>
          <a:p>
            <a:pPr>
              <a:lnSpc>
                <a:spcPct val="125000"/>
              </a:lnSpc>
            </a:pPr>
            <a:r>
              <a:rPr sz="1501">
                <a:solidFill>
                  <a:srgbClr val="E8E8E8"/>
                </a:solidFill>
                <a:latin typeface="Consolas"/>
              </a:rPr>
              <a:t>const modal = await this.modales.create({ component: FormVisitaComponent });</a:t>
            </a:r>
          </a:p>
          <a:p>
            <a:pPr>
              <a:lnSpc>
                <a:spcPct val="125000"/>
              </a:lnSpc>
            </a:pPr>
            <a:r>
              <a:rPr sz="1501">
                <a:solidFill>
                  <a:srgbClr val="E8E8E8"/>
                </a:solidFill>
                <a:latin typeface="Consolas"/>
              </a:rPr>
              <a:t>await modal.present();</a:t>
            </a:r>
          </a:p>
          <a:p>
            <a:pPr>
              <a:lnSpc>
                <a:spcPct val="125000"/>
              </a:lnSpc>
            </a:pPr>
            <a:r>
              <a:rPr sz="1501">
                <a:solidFill>
                  <a:srgbClr val="E8E8E8"/>
                </a:solidFill>
                <a:latin typeface="Consolas"/>
              </a:rPr>
              <a:t>const { data, role } = await modal.onWillDismiss&lt;BorradorVisita&gt;();</a:t>
            </a:r>
          </a:p>
          <a:p>
            <a:pPr>
              <a:lnSpc>
                <a:spcPct val="125000"/>
              </a:lnSpc>
            </a:pPr>
            <a:r>
              <a:rPr sz="1501">
                <a:solidFill>
                  <a:srgbClr val="E8E8E8"/>
                </a:solidFill>
                <a:latin typeface="Consolas"/>
              </a:rPr>
              <a:t>if (role === 'confirmar' &amp;&amp; data) this.vm.registrar(data);</a:t>
            </a:r>
          </a:p>
        </p:txBody>
      </p:sp>
      <p:sp>
        <p:nvSpPr>
          <p:cNvPr id="40" name="TextBox 3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41" name="TextBox 4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bloque de plantilla por cada estado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015691"/>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63" b="1">
                <a:solidFill>
                  <a:srgbClr val="E97132"/>
                </a:solidFill>
                <a:latin typeface="Aptos"/>
              </a:rPr>
              <a:t>PÁGINA (CONTENEDOR) · EXTRACTO DE LA PLANTILLA</a:t>
            </a:r>
          </a:p>
        </p:txBody>
      </p:sp>
      <p:sp>
        <p:nvSpPr>
          <p:cNvPr id="10" name="TextBox 9"/>
          <p:cNvSpPr txBox="1"/>
          <p:nvPr/>
        </p:nvSpPr>
        <p:spPr>
          <a:xfrm>
            <a:off x="877824" y="2139696"/>
            <a:ext cx="10515600" cy="2284171"/>
          </a:xfrm>
          <a:prstGeom prst="rect">
            <a:avLst/>
          </a:prstGeom>
          <a:noFill/>
        </p:spPr>
        <p:txBody>
          <a:bodyPr wrap="none" lIns="0" tIns="0">
            <a:spAutoFit/>
          </a:bodyPr>
          <a:lstStyle/>
          <a:p>
            <a:pPr>
              <a:lnSpc>
                <a:spcPct val="125000"/>
              </a:lnSpc>
            </a:pPr>
            <a:r>
              <a:rPr sz="1592">
                <a:solidFill>
                  <a:srgbClr val="E8E8E8"/>
                </a:solidFill>
                <a:latin typeface="Consolas"/>
              </a:rPr>
              <a:t>@let e = vm.estado();</a:t>
            </a:r>
          </a:p>
          <a:p>
            <a:pPr>
              <a:lnSpc>
                <a:spcPct val="125000"/>
              </a:lnSpc>
            </a:pPr>
            <a:r>
              <a:rPr sz="1592">
                <a:solidFill>
                  <a:srgbClr val="E8E8E8"/>
                </a:solidFill>
                <a:latin typeface="Consolas"/>
              </a:rPr>
              <a:t>@if (e.tipo === 'cargando') { &lt;app-lista-esqueleto /&gt; }</a:t>
            </a:r>
          </a:p>
          <a:p>
            <a:pPr>
              <a:lnSpc>
                <a:spcPct val="125000"/>
              </a:lnSpc>
            </a:pPr>
            <a:r>
              <a:rPr sz="1592">
                <a:solidFill>
                  <a:srgbClr val="E8E8E8"/>
                </a:solidFill>
                <a:latin typeface="Consolas"/>
              </a:rPr>
              <a:t>@else if (e.tipo === 'cargado') {</a:t>
            </a:r>
          </a:p>
          <a:p>
            <a:pPr>
              <a:lnSpc>
                <a:spcPct val="125000"/>
              </a:lnSpc>
            </a:pPr>
            <a:r>
              <a:rPr sz="1592">
                <a:solidFill>
                  <a:srgbClr val="E8E8E8"/>
                </a:solidFill>
                <a:latin typeface="Consolas"/>
              </a:rPr>
              <a:t>  @for (v of e.visitas; track v.id) { &lt;app-visita-item [visita]="v" (abrir)="abrir(v.id)" /&gt; }</a:t>
            </a:r>
          </a:p>
          <a:p>
            <a:pPr>
              <a:lnSpc>
                <a:spcPct val="125000"/>
              </a:lnSpc>
            </a:pPr>
            <a:r>
              <a:rPr sz="1592">
                <a:solidFill>
                  <a:srgbClr val="E8E8E8"/>
                </a:solidFill>
                <a:latin typeface="Consolas"/>
              </a:rPr>
              <a:t>} @else if (e.tipo === 'vacio') { &lt;app-estado-vacio (accionar)="nueva()" /&gt; }</a:t>
            </a:r>
          </a:p>
          <a:p>
            <a:pPr>
              <a:lnSpc>
                <a:spcPct val="125000"/>
              </a:lnSpc>
            </a:pPr>
            <a:r>
              <a:rPr sz="1592">
                <a:solidFill>
                  <a:srgbClr val="E8E8E8"/>
                </a:solidFill>
                <a:latin typeface="Consolas"/>
              </a:rPr>
              <a:t>@else if (e.tipo === 'offline') { &lt;app-estado-offline (reintentar)="vm.recargar()" /&gt; }</a:t>
            </a:r>
          </a:p>
          <a:p>
            <a:pPr>
              <a:lnSpc>
                <a:spcPct val="125000"/>
              </a:lnSpc>
            </a:pPr>
            <a:r>
              <a:rPr sz="1592">
                <a:solidFill>
                  <a:srgbClr val="E8E8E8"/>
                </a:solidFill>
                <a:latin typeface="Consolas"/>
              </a:rPr>
              <a:t>@else { &lt;app-estado-error [mensaje]="e.mensaje" (reintentar)="vm.recargar()" /&gt; }</a:t>
            </a:r>
          </a:p>
        </p:txBody>
      </p:sp>
      <p:sp>
        <p:nvSpPr>
          <p:cNvPr id="11" name="Rounded Rectangle 10"/>
          <p:cNvSpPr/>
          <p:nvPr/>
        </p:nvSpPr>
        <p:spPr>
          <a:xfrm>
            <a:off x="566928" y="4789627"/>
            <a:ext cx="11064240" cy="15380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4844491"/>
            <a:ext cx="63500" cy="14282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89627"/>
            <a:ext cx="10378440" cy="1538020"/>
          </a:xfrm>
          <a:prstGeom prst="rect">
            <a:avLst/>
          </a:prstGeom>
          <a:noFill/>
        </p:spPr>
        <p:txBody>
          <a:bodyPr wrap="square" anchor="ctr" lIns="0" rIns="0" tIns="0" bIns="0">
            <a:spAutoFit/>
          </a:bodyPr>
          <a:lstStyle/>
          <a:p>
            <a:pPr algn="l">
              <a:lnSpc>
                <a:spcPct val="125000"/>
              </a:lnSpc>
            </a:pPr>
            <a:r>
              <a:rPr sz="2416" b="1">
                <a:solidFill>
                  <a:srgbClr val="0E2841"/>
                </a:solidFill>
                <a:latin typeface="Aptos Display"/>
              </a:rPr>
              <a:t>El </a:t>
            </a:r>
            <a:r>
              <a:rPr sz="2271" b="1">
                <a:solidFill>
                  <a:srgbClr val="156082"/>
                </a:solidFill>
                <a:latin typeface="Consolas"/>
              </a:rPr>
              <a:t>@if … @else if</a:t>
            </a:r>
            <a:r>
              <a:rPr sz="2416" b="1">
                <a:solidFill>
                  <a:srgbClr val="0E2841"/>
                </a:solidFill>
                <a:latin typeface="Aptos Display"/>
              </a:rPr>
              <a:t> sobre </a:t>
            </a:r>
            <a:r>
              <a:rPr sz="2271" b="1">
                <a:solidFill>
                  <a:srgbClr val="156082"/>
                </a:solidFill>
                <a:latin typeface="Consolas"/>
              </a:rPr>
              <a:t>e.tipo</a:t>
            </a:r>
            <a:r>
              <a:rPr sz="2416" b="1">
                <a:solidFill>
                  <a:srgbClr val="0E2841"/>
                </a:solidFill>
                <a:latin typeface="Aptos Display"/>
              </a:rPr>
              <a:t> obliga a un bloque por estado: si el ViewModel agrega uno, la revisión lo delata.</a:t>
            </a:r>
          </a:p>
        </p:txBody>
      </p:sp>
      <p:sp>
        <p:nvSpPr>
          <p:cNvPr id="14" name="TextBox 13"/>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5" name="TextBox 14"/>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48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componente Ionic tiene su lugar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2766060"/>
                <a:gridCol w="2766060"/>
                <a:gridCol w="2766060"/>
                <a:gridCol w="2766060"/>
              </a:tblGrid>
              <a:tr h="624927">
                <a:tc>
                  <a:txBody>
                    <a:bodyPr wrap="square"/>
                    <a:lstStyle/>
                    <a:p>
                      <a:r>
                        <a:rPr sz="1688" b="1">
                          <a:solidFill>
                            <a:srgbClr val="FFFFFF"/>
                          </a:solidFill>
                          <a:latin typeface="Aptos"/>
                        </a:rPr>
                        <a:t>Componente</a:t>
                      </a:r>
                    </a:p>
                  </a:txBody>
                  <a:tcPr anchor="ctr" marL="146304" marR="146304">
                    <a:solidFill>
                      <a:srgbClr val="156082"/>
                    </a:solidFill>
                  </a:tcPr>
                </a:tc>
                <a:tc>
                  <a:txBody>
                    <a:bodyPr wrap="square"/>
                    <a:lstStyle/>
                    <a:p>
                      <a:r>
                        <a:rPr sz="1688" b="1">
                          <a:solidFill>
                            <a:srgbClr val="FFFFFF"/>
                          </a:solidFill>
                          <a:latin typeface="Aptos"/>
                        </a:rPr>
                        <a:t>Úsalo para</a:t>
                      </a:r>
                    </a:p>
                  </a:txBody>
                  <a:tcPr anchor="ctr" marL="146304" marR="146304">
                    <a:solidFill>
                      <a:srgbClr val="156082"/>
                    </a:solidFill>
                  </a:tcPr>
                </a:tc>
                <a:tc>
                  <a:txBody>
                    <a:bodyPr wrap="square"/>
                    <a:lstStyle/>
                    <a:p>
                      <a:r>
                        <a:rPr sz="1688" b="1">
                          <a:solidFill>
                            <a:srgbClr val="FFFFFF"/>
                          </a:solidFill>
                          <a:latin typeface="Aptos"/>
                        </a:rPr>
                        <a:t>Evítalo cuando</a:t>
                      </a:r>
                    </a:p>
                  </a:txBody>
                  <a:tcPr anchor="ctr" marL="146304" marR="146304">
                    <a:solidFill>
                      <a:srgbClr val="156082"/>
                    </a:solidFill>
                  </a:tcPr>
                </a:tc>
                <a:tc>
                  <a:txBody>
                    <a:bodyPr wrap="square"/>
                    <a:lstStyle/>
                    <a:p>
                      <a:r>
                        <a:rPr sz="1688" b="1">
                          <a:solidFill>
                            <a:srgbClr val="FFFFFF"/>
                          </a:solidFill>
                          <a:latin typeface="Aptos"/>
                        </a:rPr>
                        <a:t>Nota de arquitectura</a:t>
                      </a:r>
                    </a:p>
                  </a:txBody>
                  <a:tcPr anchor="ctr" marL="146304" marR="146304">
                    <a:solidFill>
                      <a:srgbClr val="156082"/>
                    </a:solidFill>
                  </a:tcPr>
                </a:tc>
              </a:tr>
              <a:tr h="624927">
                <a:tc>
                  <a:txBody>
                    <a:bodyPr wrap="square"/>
                    <a:lstStyle/>
                    <a:p>
                      <a:r>
                        <a:rPr sz="1481" b="1">
                          <a:solidFill>
                            <a:srgbClr val="156082"/>
                          </a:solidFill>
                          <a:latin typeface="Consolas"/>
                        </a:rPr>
                        <a:t>ion-list</a:t>
                      </a:r>
                      <a:r>
                        <a:rPr sz="1576" b="1">
                          <a:solidFill>
                            <a:srgbClr val="33475B"/>
                          </a:solidFill>
                          <a:latin typeface="Aptos"/>
                        </a:rPr>
                        <a:t> + </a:t>
                      </a:r>
                      <a:r>
                        <a:rPr sz="1481" b="1">
                          <a:solidFill>
                            <a:srgbClr val="156082"/>
                          </a:solidFill>
                          <a:latin typeface="Consolas"/>
                        </a:rPr>
                        <a:t>ion-item</a:t>
                      </a:r>
                    </a:p>
                  </a:txBody>
                  <a:tcPr anchor="ctr" marL="146304" marR="146304">
                    <a:solidFill>
                      <a:srgbClr val="FFFFFF"/>
                    </a:solidFill>
                  </a:tcPr>
                </a:tc>
                <a:tc>
                  <a:txBody>
                    <a:bodyPr wrap="square"/>
                    <a:lstStyle/>
                    <a:p>
                      <a:r>
                        <a:rPr sz="1576" b="0">
                          <a:solidFill>
                            <a:srgbClr val="33475B"/>
                          </a:solidFill>
                          <a:latin typeface="Aptos"/>
                        </a:rPr>
                        <a:t>Colecciones homogéneas</a:t>
                      </a:r>
                    </a:p>
                  </a:txBody>
                  <a:tcPr anchor="ctr" marL="146304" marR="146304">
                    <a:solidFill>
                      <a:srgbClr val="FFFFFF"/>
                    </a:solidFill>
                  </a:tcPr>
                </a:tc>
                <a:tc>
                  <a:txBody>
                    <a:bodyPr wrap="square"/>
                    <a:lstStyle/>
                    <a:p>
                      <a:r>
                        <a:rPr sz="1576" b="0">
                          <a:solidFill>
                            <a:srgbClr val="33475B"/>
                          </a:solidFill>
                          <a:latin typeface="Aptos"/>
                        </a:rPr>
                        <a:t>Es el detalle de una entidad</a:t>
                      </a:r>
                    </a:p>
                  </a:txBody>
                  <a:tcPr anchor="ctr" marL="146304" marR="146304">
                    <a:solidFill>
                      <a:srgbClr val="FFFFFF"/>
                    </a:solidFill>
                  </a:tcPr>
                </a:tc>
                <a:tc>
                  <a:txBody>
                    <a:bodyPr wrap="square"/>
                    <a:lstStyle/>
                    <a:p>
                      <a:r>
                        <a:rPr sz="1576" b="0">
                          <a:solidFill>
                            <a:srgbClr val="33475B"/>
                          </a:solidFill>
                          <a:latin typeface="Aptos"/>
                        </a:rPr>
                        <a:t>Cientos de ítems: virtualizar (U3)</a:t>
                      </a:r>
                    </a:p>
                  </a:txBody>
                  <a:tcPr anchor="ctr" marL="146304" marR="146304">
                    <a:solidFill>
                      <a:srgbClr val="FFFFFF"/>
                    </a:solidFill>
                  </a:tcPr>
                </a:tc>
              </a:tr>
              <a:tr h="624927">
                <a:tc>
                  <a:txBody>
                    <a:bodyPr wrap="square"/>
                    <a:lstStyle/>
                    <a:p>
                      <a:r>
                        <a:rPr sz="1481" b="1">
                          <a:solidFill>
                            <a:srgbClr val="156082"/>
                          </a:solidFill>
                          <a:latin typeface="Consolas"/>
                        </a:rPr>
                        <a:t>ion-card</a:t>
                      </a:r>
                    </a:p>
                  </a:txBody>
                  <a:tcPr anchor="ctr" marL="146304" marR="146304">
                    <a:solidFill>
                      <a:srgbClr val="F4F7FA"/>
                    </a:solidFill>
                  </a:tcPr>
                </a:tc>
                <a:tc>
                  <a:txBody>
                    <a:bodyPr wrap="square"/>
                    <a:lstStyle/>
                    <a:p>
                      <a:r>
                        <a:rPr sz="1576" b="0">
                          <a:solidFill>
                            <a:srgbClr val="33475B"/>
                          </a:solidFill>
                          <a:latin typeface="Aptos"/>
                        </a:rPr>
                        <a:t>Resumen con imagen y acciones</a:t>
                      </a:r>
                    </a:p>
                  </a:txBody>
                  <a:tcPr anchor="ctr" marL="146304" marR="146304">
                    <a:solidFill>
                      <a:srgbClr val="F4F7FA"/>
                    </a:solidFill>
                  </a:tcPr>
                </a:tc>
                <a:tc>
                  <a:txBody>
                    <a:bodyPr wrap="square"/>
                    <a:lstStyle/>
                    <a:p>
                      <a:r>
                        <a:rPr sz="1576" b="0">
                          <a:solidFill>
                            <a:srgbClr val="33475B"/>
                          </a:solidFill>
                          <a:latin typeface="Aptos"/>
                        </a:rPr>
                        <a:t>Listas largas</a:t>
                      </a:r>
                    </a:p>
                  </a:txBody>
                  <a:tcPr anchor="ctr" marL="146304" marR="146304">
                    <a:solidFill>
                      <a:srgbClr val="F4F7FA"/>
                    </a:solidFill>
                  </a:tcPr>
                </a:tc>
                <a:tc>
                  <a:txBody>
                    <a:bodyPr wrap="square"/>
                    <a:lstStyle/>
                    <a:p>
                      <a:r>
                        <a:rPr sz="1576" b="0">
                          <a:solidFill>
                            <a:srgbClr val="33475B"/>
                          </a:solidFill>
                          <a:latin typeface="Aptos"/>
                        </a:rPr>
                        <a:t>Recibe la visita, no la busca</a:t>
                      </a:r>
                    </a:p>
                  </a:txBody>
                  <a:tcPr anchor="ctr" marL="146304" marR="146304">
                    <a:solidFill>
                      <a:srgbClr val="F4F7FA"/>
                    </a:solidFill>
                  </a:tcPr>
                </a:tc>
              </a:tr>
              <a:tr h="624927">
                <a:tc>
                  <a:txBody>
                    <a:bodyPr wrap="square"/>
                    <a:lstStyle/>
                    <a:p>
                      <a:r>
                        <a:rPr sz="1481" b="1">
                          <a:solidFill>
                            <a:srgbClr val="156082"/>
                          </a:solidFill>
                          <a:latin typeface="Consolas"/>
                        </a:rPr>
                        <a:t>ion-modal</a:t>
                      </a:r>
                    </a:p>
                  </a:txBody>
                  <a:tcPr anchor="ctr" marL="146304" marR="146304">
                    <a:solidFill>
                      <a:srgbClr val="FFFFFF"/>
                    </a:solidFill>
                  </a:tcPr>
                </a:tc>
                <a:tc>
                  <a:txBody>
                    <a:bodyPr wrap="square"/>
                    <a:lstStyle/>
                    <a:p>
                      <a:r>
                        <a:rPr sz="1576" b="0">
                          <a:solidFill>
                            <a:srgbClr val="33475B"/>
                          </a:solidFill>
                          <a:latin typeface="Aptos"/>
                        </a:rPr>
                        <a:t>Tarea acotada con resultado</a:t>
                      </a:r>
                    </a:p>
                  </a:txBody>
                  <a:tcPr anchor="ctr" marL="146304" marR="146304">
                    <a:solidFill>
                      <a:srgbClr val="FFFFFF"/>
                    </a:solidFill>
                  </a:tcPr>
                </a:tc>
                <a:tc>
                  <a:txBody>
                    <a:bodyPr wrap="square"/>
                    <a:lstStyle/>
                    <a:p>
                      <a:r>
                        <a:rPr sz="1576" b="0">
                          <a:solidFill>
                            <a:srgbClr val="33475B"/>
                          </a:solidFill>
                          <a:latin typeface="Aptos"/>
                        </a:rPr>
                        <a:t>Merece URL propia</a:t>
                      </a:r>
                    </a:p>
                  </a:txBody>
                  <a:tcPr anchor="ctr" marL="146304" marR="146304">
                    <a:solidFill>
                      <a:srgbClr val="FFFFFF"/>
                    </a:solidFill>
                  </a:tcPr>
                </a:tc>
                <a:tc>
                  <a:txBody>
                    <a:bodyPr wrap="square"/>
                    <a:lstStyle/>
                    <a:p>
                      <a:r>
                        <a:rPr sz="1576" b="0">
                          <a:solidFill>
                            <a:srgbClr val="33475B"/>
                          </a:solidFill>
                          <a:latin typeface="Aptos"/>
                        </a:rPr>
                        <a:t>Devuelve con </a:t>
                      </a:r>
                      <a:r>
                        <a:rPr sz="1481" b="0">
                          <a:solidFill>
                            <a:srgbClr val="156082"/>
                          </a:solidFill>
                          <a:latin typeface="Consolas"/>
                        </a:rPr>
                        <a:t>dismiss(data, role)</a:t>
                      </a:r>
                    </a:p>
                  </a:txBody>
                  <a:tcPr anchor="ctr" marL="146304" marR="146304">
                    <a:solidFill>
                      <a:srgbClr val="FFFFFF"/>
                    </a:solidFill>
                  </a:tcPr>
                </a:tc>
              </a:tr>
              <a:tr h="624927">
                <a:tc>
                  <a:txBody>
                    <a:bodyPr wrap="square"/>
                    <a:lstStyle/>
                    <a:p>
                      <a:r>
                        <a:rPr sz="1481" b="1">
                          <a:solidFill>
                            <a:srgbClr val="156082"/>
                          </a:solidFill>
                          <a:latin typeface="Consolas"/>
                        </a:rPr>
                        <a:t>ion-popover</a:t>
                      </a:r>
                    </a:p>
                  </a:txBody>
                  <a:tcPr anchor="ctr" marL="146304" marR="146304">
                    <a:solidFill>
                      <a:srgbClr val="F4F7FA"/>
                    </a:solidFill>
                  </a:tcPr>
                </a:tc>
                <a:tc>
                  <a:txBody>
                    <a:bodyPr wrap="square"/>
                    <a:lstStyle/>
                    <a:p>
                      <a:r>
                        <a:rPr sz="1576" b="0">
                          <a:solidFill>
                            <a:srgbClr val="33475B"/>
                          </a:solidFill>
                          <a:latin typeface="Aptos"/>
                        </a:rPr>
                        <a:t>Ordenar, filtrar</a:t>
                      </a:r>
                    </a:p>
                  </a:txBody>
                  <a:tcPr anchor="ctr" marL="146304" marR="146304">
                    <a:solidFill>
                      <a:srgbClr val="F4F7FA"/>
                    </a:solidFill>
                  </a:tcPr>
                </a:tc>
                <a:tc>
                  <a:txBody>
                    <a:bodyPr wrap="square"/>
                    <a:lstStyle/>
                    <a:p>
                      <a:r>
                        <a:rPr sz="1576" b="0">
                          <a:solidFill>
                            <a:srgbClr val="33475B"/>
                          </a:solidFill>
                          <a:latin typeface="Aptos"/>
                        </a:rPr>
                        <a:t>Acción principal o destructiva</a:t>
                      </a:r>
                    </a:p>
                  </a:txBody>
                  <a:tcPr anchor="ctr" marL="146304" marR="146304">
                    <a:solidFill>
                      <a:srgbClr val="F4F7FA"/>
                    </a:solidFill>
                  </a:tcPr>
                </a:tc>
                <a:tc>
                  <a:txBody>
                    <a:bodyPr wrap="square"/>
                    <a:lstStyle/>
                    <a:p>
                      <a:r>
                        <a:rPr sz="1576" b="0">
                          <a:solidFill>
                            <a:srgbClr val="33475B"/>
                          </a:solidFill>
                          <a:latin typeface="Aptos"/>
                        </a:rPr>
                        <a:t>Opciones = intenciones al ViewModel</a:t>
                      </a:r>
                    </a:p>
                  </a:txBody>
                  <a:tcPr anchor="ctr" marL="146304" marR="146304">
                    <a:solidFill>
                      <a:srgbClr val="F4F7FA"/>
                    </a:solidFill>
                  </a:tcPr>
                </a:tc>
              </a:tr>
              <a:tr h="624927">
                <a:tc>
                  <a:txBody>
                    <a:bodyPr wrap="square"/>
                    <a:lstStyle/>
                    <a:p>
                      <a:r>
                        <a:rPr sz="1481" b="1">
                          <a:solidFill>
                            <a:srgbClr val="156082"/>
                          </a:solidFill>
                          <a:latin typeface="Consolas"/>
                        </a:rPr>
                        <a:t>ion-item-sliding</a:t>
                      </a:r>
                    </a:p>
                  </a:txBody>
                  <a:tcPr anchor="ctr" marL="146304" marR="146304">
                    <a:solidFill>
                      <a:srgbClr val="FFFFFF"/>
                    </a:solidFill>
                  </a:tcPr>
                </a:tc>
                <a:tc>
                  <a:txBody>
                    <a:bodyPr wrap="square"/>
                    <a:lstStyle/>
                    <a:p>
                      <a:r>
                        <a:rPr sz="1576" b="0">
                          <a:solidFill>
                            <a:srgbClr val="33475B"/>
                          </a:solidFill>
                          <a:latin typeface="Aptos"/>
                        </a:rPr>
                        <a:t>Atajo: marcar realizada</a:t>
                      </a:r>
                    </a:p>
                  </a:txBody>
                  <a:tcPr anchor="ctr" marL="146304" marR="146304">
                    <a:solidFill>
                      <a:srgbClr val="FFFFFF"/>
                    </a:solidFill>
                  </a:tcPr>
                </a:tc>
                <a:tc>
                  <a:txBody>
                    <a:bodyPr wrap="square"/>
                    <a:lstStyle/>
                    <a:p>
                      <a:r>
                        <a:rPr sz="1576" b="0">
                          <a:solidFill>
                            <a:srgbClr val="33475B"/>
                          </a:solidFill>
                          <a:latin typeface="Aptos"/>
                        </a:rPr>
                        <a:t>Es la única vía</a:t>
                      </a:r>
                    </a:p>
                  </a:txBody>
                  <a:tcPr anchor="ctr" marL="146304" marR="146304">
                    <a:solidFill>
                      <a:srgbClr val="FFFFFF"/>
                    </a:solidFill>
                  </a:tcPr>
                </a:tc>
                <a:tc>
                  <a:txBody>
                    <a:bodyPr wrap="square"/>
                    <a:lstStyle/>
                    <a:p>
                      <a:r>
                        <a:rPr sz="1576" b="0">
                          <a:solidFill>
                            <a:srgbClr val="33475B"/>
                          </a:solidFill>
                          <a:latin typeface="Aptos"/>
                        </a:rPr>
                        <a:t>Siempre con alternativa visible</a:t>
                      </a:r>
                    </a:p>
                  </a:txBody>
                  <a:tcPr anchor="ctr" marL="146304" marR="146304">
                    <a:solidFill>
                      <a:srgbClr val="FFFFFF"/>
                    </a:solidFill>
                  </a:tcPr>
                </a:tc>
              </a:tr>
              <a:tr h="624927">
                <a:tc>
                  <a:txBody>
                    <a:bodyPr wrap="square"/>
                    <a:lstStyle/>
                    <a:p>
                      <a:r>
                        <a:rPr sz="1481" b="1">
                          <a:solidFill>
                            <a:srgbClr val="156082"/>
                          </a:solidFill>
                          <a:latin typeface="Consolas"/>
                        </a:rPr>
                        <a:t>ion-refresher</a:t>
                      </a:r>
                    </a:p>
                  </a:txBody>
                  <a:tcPr anchor="ctr" marL="146304" marR="146304">
                    <a:solidFill>
                      <a:srgbClr val="F4F7FA"/>
                    </a:solidFill>
                  </a:tcPr>
                </a:tc>
                <a:tc>
                  <a:txBody>
                    <a:bodyPr wrap="square"/>
                    <a:lstStyle/>
                    <a:p>
                      <a:r>
                        <a:rPr sz="1576" b="0">
                          <a:solidFill>
                            <a:srgbClr val="33475B"/>
                          </a:solidFill>
                          <a:latin typeface="Aptos"/>
                        </a:rPr>
                        <a:t>Tirar para actualizar</a:t>
                      </a:r>
                    </a:p>
                  </a:txBody>
                  <a:tcPr anchor="ctr" marL="146304" marR="146304">
                    <a:solidFill>
                      <a:srgbClr val="F4F7FA"/>
                    </a:solidFill>
                  </a:tcPr>
                </a:tc>
                <a:tc>
                  <a:txBody>
                    <a:bodyPr wrap="square"/>
                    <a:lstStyle/>
                    <a:p>
                      <a:r>
                        <a:rPr sz="1576" b="0">
                          <a:solidFill>
                            <a:srgbClr val="33475B"/>
                          </a:solidFill>
                          <a:latin typeface="Aptos"/>
                        </a:rPr>
                        <a:t>No hay datos remotos</a:t>
                      </a:r>
                    </a:p>
                  </a:txBody>
                  <a:tcPr anchor="ctr" marL="146304" marR="146304">
                    <a:solidFill>
                      <a:srgbClr val="F4F7FA"/>
                    </a:solidFill>
                  </a:tcPr>
                </a:tc>
                <a:tc>
                  <a:txBody>
                    <a:bodyPr wrap="square"/>
                    <a:lstStyle/>
                    <a:p>
                      <a:r>
                        <a:rPr sz="1576" b="0">
                          <a:solidFill>
                            <a:srgbClr val="33475B"/>
                          </a:solidFill>
                          <a:latin typeface="Aptos"/>
                        </a:rPr>
                        <a:t>Emite «recargar», no llama al repo</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48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Accesibilidad táctil verificable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3688080"/>
                <a:gridCol w="3688080"/>
                <a:gridCol w="3688080"/>
              </a:tblGrid>
              <a:tr h="624927">
                <a:tc>
                  <a:txBody>
                    <a:bodyPr wrap="square"/>
                    <a:lstStyle/>
                    <a:p>
                      <a:r>
                        <a:rPr sz="1688" b="1">
                          <a:solidFill>
                            <a:srgbClr val="FFFFFF"/>
                          </a:solidFill>
                          <a:latin typeface="Aptos"/>
                        </a:rPr>
                        <a:t>Regla</a:t>
                      </a:r>
                    </a:p>
                  </a:txBody>
                  <a:tcPr anchor="ctr" marL="146304" marR="146304">
                    <a:solidFill>
                      <a:srgbClr val="156082"/>
                    </a:solidFill>
                  </a:tcPr>
                </a:tc>
                <a:tc>
                  <a:txBody>
                    <a:bodyPr wrap="square"/>
                    <a:lstStyle/>
                    <a:p>
                      <a:r>
                        <a:rPr sz="1688" b="1">
                          <a:solidFill>
                            <a:srgbClr val="FFFFFF"/>
                          </a:solidFill>
                          <a:latin typeface="Aptos"/>
                        </a:rPr>
                        <a:t>Valor verificable</a:t>
                      </a:r>
                    </a:p>
                  </a:txBody>
                  <a:tcPr anchor="ctr" marL="146304" marR="146304">
                    <a:solidFill>
                      <a:srgbClr val="156082"/>
                    </a:solidFill>
                  </a:tcPr>
                </a:tc>
                <a:tc>
                  <a:txBody>
                    <a:bodyPr wrap="square"/>
                    <a:lstStyle/>
                    <a:p>
                      <a:r>
                        <a:rPr sz="1688" b="1">
                          <a:solidFill>
                            <a:srgbClr val="FFFFFF"/>
                          </a:solidFill>
                          <a:latin typeface="Aptos"/>
                        </a:rPr>
                        <a:t>Cómo se cumple en Ionic</a:t>
                      </a:r>
                    </a:p>
                  </a:txBody>
                  <a:tcPr anchor="ctr" marL="146304" marR="146304">
                    <a:solidFill>
                      <a:srgbClr val="156082"/>
                    </a:solidFill>
                  </a:tcPr>
                </a:tc>
              </a:tr>
              <a:tr h="624927">
                <a:tc>
                  <a:txBody>
                    <a:bodyPr wrap="square"/>
                    <a:lstStyle/>
                    <a:p>
                      <a:r>
                        <a:rPr sz="1576" b="1">
                          <a:solidFill>
                            <a:srgbClr val="33475B"/>
                          </a:solidFill>
                          <a:latin typeface="Aptos"/>
                        </a:rPr>
                        <a:t>Área táctil mínima</a:t>
                      </a:r>
                    </a:p>
                  </a:txBody>
                  <a:tcPr anchor="ctr" marL="146304" marR="146304">
                    <a:solidFill>
                      <a:srgbClr val="FFFFFF"/>
                    </a:solidFill>
                  </a:tcPr>
                </a:tc>
                <a:tc>
                  <a:txBody>
                    <a:bodyPr wrap="square"/>
                    <a:lstStyle/>
                    <a:p>
                      <a:r>
                        <a:rPr sz="1576" b="0">
                          <a:solidFill>
                            <a:srgbClr val="33475B"/>
                          </a:solidFill>
                          <a:latin typeface="Aptos"/>
                        </a:rPr>
                        <a:t>44 × 44 pt (iOS) · 48 × 48 dp (Android)</a:t>
                      </a:r>
                    </a:p>
                  </a:txBody>
                  <a:tcPr anchor="ctr" marL="146304" marR="146304">
                    <a:solidFill>
                      <a:srgbClr val="FFFFFF"/>
                    </a:solidFill>
                  </a:tcPr>
                </a:tc>
                <a:tc>
                  <a:txBody>
                    <a:bodyPr wrap="square"/>
                    <a:lstStyle/>
                    <a:p>
                      <a:r>
                        <a:rPr sz="1481" b="0">
                          <a:solidFill>
                            <a:srgbClr val="156082"/>
                          </a:solidFill>
                          <a:latin typeface="Consolas"/>
                        </a:rPr>
                        <a:t>ion-button</a:t>
                      </a:r>
                      <a:r>
                        <a:rPr sz="1576" b="0">
                          <a:solidFill>
                            <a:srgbClr val="33475B"/>
                          </a:solidFill>
                          <a:latin typeface="Aptos"/>
                        </a:rPr>
                        <a:t> e </a:t>
                      </a:r>
                      <a:r>
                        <a:rPr sz="1481" b="0">
                          <a:solidFill>
                            <a:srgbClr val="156082"/>
                          </a:solidFill>
                          <a:latin typeface="Consolas"/>
                        </a:rPr>
                        <a:t>ion-item button</a:t>
                      </a:r>
                      <a:r>
                        <a:rPr sz="1576" b="0">
                          <a:solidFill>
                            <a:srgbClr val="33475B"/>
                          </a:solidFill>
                          <a:latin typeface="Aptos"/>
                        </a:rPr>
                        <a:t>, no íconos con </a:t>
                      </a:r>
                      <a:r>
                        <a:rPr sz="1481" b="0">
                          <a:solidFill>
                            <a:srgbClr val="156082"/>
                          </a:solidFill>
                          <a:latin typeface="Consolas"/>
                        </a:rPr>
                        <a:t>(click)</a:t>
                      </a:r>
                    </a:p>
                  </a:txBody>
                  <a:tcPr anchor="ctr" marL="146304" marR="146304">
                    <a:solidFill>
                      <a:srgbClr val="FFFFFF"/>
                    </a:solidFill>
                  </a:tcPr>
                </a:tc>
              </a:tr>
              <a:tr h="624927">
                <a:tc>
                  <a:txBody>
                    <a:bodyPr wrap="square"/>
                    <a:lstStyle/>
                    <a:p>
                      <a:r>
                        <a:rPr sz="1576" b="1">
                          <a:solidFill>
                            <a:srgbClr val="33475B"/>
                          </a:solidFill>
                          <a:latin typeface="Aptos"/>
                        </a:rPr>
                        <a:t>Etiqueta accesible</a:t>
                      </a:r>
                    </a:p>
                  </a:txBody>
                  <a:tcPr anchor="ctr" marL="146304" marR="146304">
                    <a:solidFill>
                      <a:srgbClr val="F4F7FA"/>
                    </a:solidFill>
                  </a:tcPr>
                </a:tc>
                <a:tc>
                  <a:txBody>
                    <a:bodyPr wrap="square"/>
                    <a:lstStyle/>
                    <a:p>
                      <a:r>
                        <a:rPr sz="1576" b="0">
                          <a:solidFill>
                            <a:srgbClr val="33475B"/>
                          </a:solidFill>
                          <a:latin typeface="Aptos"/>
                        </a:rPr>
                        <a:t>Todo control tiene nombre para el lector</a:t>
                      </a:r>
                    </a:p>
                  </a:txBody>
                  <a:tcPr anchor="ctr" marL="146304" marR="146304">
                    <a:solidFill>
                      <a:srgbClr val="F4F7FA"/>
                    </a:solidFill>
                  </a:tcPr>
                </a:tc>
                <a:tc>
                  <a:txBody>
                    <a:bodyPr wrap="square"/>
                    <a:lstStyle/>
                    <a:p>
                      <a:r>
                        <a:rPr sz="1481" b="0">
                          <a:solidFill>
                            <a:srgbClr val="156082"/>
                          </a:solidFill>
                          <a:latin typeface="Consolas"/>
                        </a:rPr>
                        <a:t>aria-label</a:t>
                      </a:r>
                      <a:r>
                        <a:rPr sz="1576" b="0">
                          <a:solidFill>
                            <a:srgbClr val="33475B"/>
                          </a:solidFill>
                          <a:latin typeface="Aptos"/>
                        </a:rPr>
                        <a:t> en botones de solo ícono, como el FAB</a:t>
                      </a:r>
                    </a:p>
                  </a:txBody>
                  <a:tcPr anchor="ctr" marL="146304" marR="146304">
                    <a:solidFill>
                      <a:srgbClr val="F4F7FA"/>
                    </a:solidFill>
                  </a:tcPr>
                </a:tc>
              </a:tr>
              <a:tr h="624927">
                <a:tc>
                  <a:txBody>
                    <a:bodyPr wrap="square"/>
                    <a:lstStyle/>
                    <a:p>
                      <a:r>
                        <a:rPr sz="1576" b="1">
                          <a:solidFill>
                            <a:srgbClr val="33475B"/>
                          </a:solidFill>
                          <a:latin typeface="Aptos"/>
                        </a:rPr>
                        <a:t>Contraste</a:t>
                      </a:r>
                    </a:p>
                  </a:txBody>
                  <a:tcPr anchor="ctr" marL="146304" marR="146304">
                    <a:solidFill>
                      <a:srgbClr val="FFFFFF"/>
                    </a:solidFill>
                  </a:tcPr>
                </a:tc>
                <a:tc>
                  <a:txBody>
                    <a:bodyPr wrap="square"/>
                    <a:lstStyle/>
                    <a:p>
                      <a:r>
                        <a:rPr sz="1576" b="0">
                          <a:solidFill>
                            <a:srgbClr val="33475B"/>
                          </a:solidFill>
                          <a:latin typeface="Aptos"/>
                        </a:rPr>
                        <a:t>WCAG AA: 4,5:1 texto; 3:1 grande e íconos</a:t>
                      </a:r>
                    </a:p>
                  </a:txBody>
                  <a:tcPr anchor="ctr" marL="146304" marR="146304">
                    <a:solidFill>
                      <a:srgbClr val="FFFFFF"/>
                    </a:solidFill>
                  </a:tcPr>
                </a:tc>
                <a:tc>
                  <a:txBody>
                    <a:bodyPr wrap="square"/>
                    <a:lstStyle/>
                    <a:p>
                      <a:r>
                        <a:rPr sz="1576" b="0">
                          <a:solidFill>
                            <a:srgbClr val="33475B"/>
                          </a:solidFill>
                          <a:latin typeface="Aptos"/>
                        </a:rPr>
                        <a:t>Medido con los tokens del tema claro y del oscuro</a:t>
                      </a:r>
                    </a:p>
                  </a:txBody>
                  <a:tcPr anchor="ctr" marL="146304" marR="146304">
                    <a:solidFill>
                      <a:srgbClr val="FFFFFF"/>
                    </a:solidFill>
                  </a:tcPr>
                </a:tc>
              </a:tr>
              <a:tr h="624927">
                <a:tc>
                  <a:txBody>
                    <a:bodyPr wrap="square"/>
                    <a:lstStyle/>
                    <a:p>
                      <a:r>
                        <a:rPr sz="1576" b="1">
                          <a:solidFill>
                            <a:srgbClr val="33475B"/>
                          </a:solidFill>
                          <a:latin typeface="Aptos"/>
                        </a:rPr>
                        <a:t>No depender del color</a:t>
                      </a:r>
                    </a:p>
                  </a:txBody>
                  <a:tcPr anchor="ctr" marL="146304" marR="146304">
                    <a:solidFill>
                      <a:srgbClr val="F4F7FA"/>
                    </a:solidFill>
                  </a:tcPr>
                </a:tc>
                <a:tc>
                  <a:txBody>
                    <a:bodyPr wrap="square"/>
                    <a:lstStyle/>
                    <a:p>
                      <a:r>
                        <a:rPr sz="1576" b="0">
                          <a:solidFill>
                            <a:srgbClr val="33475B"/>
                          </a:solidFill>
                          <a:latin typeface="Aptos"/>
                        </a:rPr>
                        <a:t>El estado se lee en texto o ícono</a:t>
                      </a:r>
                    </a:p>
                  </a:txBody>
                  <a:tcPr anchor="ctr" marL="146304" marR="146304">
                    <a:solidFill>
                      <a:srgbClr val="F4F7FA"/>
                    </a:solidFill>
                  </a:tcPr>
                </a:tc>
                <a:tc>
                  <a:txBody>
                    <a:bodyPr wrap="square"/>
                    <a:lstStyle/>
                    <a:p>
                      <a:r>
                        <a:rPr sz="1576" b="0">
                          <a:solidFill>
                            <a:srgbClr val="33475B"/>
                          </a:solidFill>
                          <a:latin typeface="Aptos"/>
                        </a:rPr>
                        <a:t>El chip dice «Realizada», no solo se pinta de verde</a:t>
                      </a:r>
                    </a:p>
                  </a:txBody>
                  <a:tcPr anchor="ctr" marL="146304" marR="146304">
                    <a:solidFill>
                      <a:srgbClr val="F4F7FA"/>
                    </a:solidFill>
                  </a:tcPr>
                </a:tc>
              </a:tr>
              <a:tr h="624927">
                <a:tc>
                  <a:txBody>
                    <a:bodyPr wrap="square"/>
                    <a:lstStyle/>
                    <a:p>
                      <a:r>
                        <a:rPr sz="1576" b="1">
                          <a:solidFill>
                            <a:srgbClr val="33475B"/>
                          </a:solidFill>
                          <a:latin typeface="Aptos"/>
                        </a:rPr>
                        <a:t>Texto escalable</a:t>
                      </a:r>
                    </a:p>
                  </a:txBody>
                  <a:tcPr anchor="ctr" marL="146304" marR="146304">
                    <a:solidFill>
                      <a:srgbClr val="FFFFFF"/>
                    </a:solidFill>
                  </a:tcPr>
                </a:tc>
                <a:tc>
                  <a:txBody>
                    <a:bodyPr wrap="square"/>
                    <a:lstStyle/>
                    <a:p>
                      <a:r>
                        <a:rPr sz="1576" b="0">
                          <a:solidFill>
                            <a:srgbClr val="33475B"/>
                          </a:solidFill>
                          <a:latin typeface="Aptos"/>
                        </a:rPr>
                        <a:t>Soporta la fuente máxima del sistema</a:t>
                      </a:r>
                    </a:p>
                  </a:txBody>
                  <a:tcPr anchor="ctr" marL="146304" marR="146304">
                    <a:solidFill>
                      <a:srgbClr val="FFFFFF"/>
                    </a:solidFill>
                  </a:tcPr>
                </a:tc>
                <a:tc>
                  <a:txBody>
                    <a:bodyPr wrap="square"/>
                    <a:lstStyle/>
                    <a:p>
                      <a:r>
                        <a:rPr sz="1576" b="0">
                          <a:solidFill>
                            <a:srgbClr val="33475B"/>
                          </a:solidFill>
                          <a:latin typeface="Aptos"/>
                        </a:rPr>
                        <a:t>Tipografía en </a:t>
                      </a:r>
                      <a:r>
                        <a:rPr sz="1481" b="0">
                          <a:solidFill>
                            <a:srgbClr val="156082"/>
                          </a:solidFill>
                          <a:latin typeface="Consolas"/>
                        </a:rPr>
                        <a:t>rem</a:t>
                      </a:r>
                      <a:r>
                        <a:rPr sz="1576" b="0">
                          <a:solidFill>
                            <a:srgbClr val="33475B"/>
                          </a:solidFill>
                          <a:latin typeface="Aptos"/>
                        </a:rPr>
                        <a:t>, sin alturas fijas en filas</a:t>
                      </a:r>
                    </a:p>
                  </a:txBody>
                  <a:tcPr anchor="ctr" marL="146304" marR="146304">
                    <a:solidFill>
                      <a:srgbClr val="FFFFFF"/>
                    </a:solidFill>
                  </a:tcPr>
                </a:tc>
              </a:tr>
              <a:tr h="624927">
                <a:tc>
                  <a:txBody>
                    <a:bodyPr wrap="square"/>
                    <a:lstStyle/>
                    <a:p>
                      <a:r>
                        <a:rPr sz="1576" b="1">
                          <a:solidFill>
                            <a:srgbClr val="33475B"/>
                          </a:solidFill>
                          <a:latin typeface="Aptos"/>
                        </a:rPr>
                        <a:t>Gestos con alternativa</a:t>
                      </a:r>
                    </a:p>
                  </a:txBody>
                  <a:tcPr anchor="ctr" marL="146304" marR="146304">
                    <a:solidFill>
                      <a:srgbClr val="F4F7FA"/>
                    </a:solidFill>
                  </a:tcPr>
                </a:tc>
                <a:tc>
                  <a:txBody>
                    <a:bodyPr wrap="square"/>
                    <a:lstStyle/>
                    <a:p>
                      <a:r>
                        <a:rPr sz="1576" b="0">
                          <a:solidFill>
                            <a:srgbClr val="33475B"/>
                          </a:solidFill>
                          <a:latin typeface="Aptos"/>
                        </a:rPr>
                        <a:t>Toda acción por gesto existe como botón</a:t>
                      </a:r>
                    </a:p>
                  </a:txBody>
                  <a:tcPr anchor="ctr" marL="146304" marR="146304">
                    <a:solidFill>
                      <a:srgbClr val="F4F7FA"/>
                    </a:solidFill>
                  </a:tcPr>
                </a:tc>
                <a:tc>
                  <a:txBody>
                    <a:bodyPr wrap="square"/>
                    <a:lstStyle/>
                    <a:p>
                      <a:r>
                        <a:rPr sz="1576" b="0">
                          <a:solidFill>
                            <a:srgbClr val="33475B"/>
                          </a:solidFill>
                          <a:latin typeface="Aptos"/>
                        </a:rPr>
                        <a:t>Presión larga y deslizar, repetidos en un popover</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48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El modal «Nueva visita» llama al repositorio HTTP antes de cerrarse. ¿Qué regla de capas rompe?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La del sistema de diseño, porque el modal define sus propios estilos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La presentación usa la capa de datos sin pasar por el dominio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La de navegación, porque el modal debería tener una ruta propia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La de formularios, porque el modal no debería tener validadores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48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3. El tema sale de tokens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Sistema de diseño, modo oscuro y modos md e ios</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Las pantallas no conocen valores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9609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8637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96099"/>
          </a:xfrm>
          <a:prstGeom prst="rect">
            <a:avLst/>
          </a:prstGeom>
          <a:noFill/>
        </p:spPr>
        <p:txBody>
          <a:bodyPr wrap="square" anchor="ctr" lIns="0" rIns="0" tIns="0" bIns="0">
            <a:spAutoFit/>
          </a:bodyPr>
          <a:lstStyle/>
          <a:p>
            <a:pPr algn="l">
              <a:lnSpc>
                <a:spcPct val="125000"/>
              </a:lnSpc>
            </a:pPr>
            <a:r>
              <a:rPr sz="2471" b="1">
                <a:solidFill>
                  <a:srgbClr val="0E2841"/>
                </a:solidFill>
                <a:latin typeface="Aptos Display"/>
              </a:rPr>
              <a:t>Las pantallas conocen nombres, no valores: un color escrito a mano es una decisión de diseño escondida donde nadie la revisa.</a:t>
            </a:r>
          </a:p>
        </p:txBody>
      </p:sp>
      <p:sp>
        <p:nvSpPr>
          <p:cNvPr id="10" name="Rounded Rectangle 9"/>
          <p:cNvSpPr/>
          <p:nvPr/>
        </p:nvSpPr>
        <p:spPr>
          <a:xfrm>
            <a:off x="566928" y="3270035"/>
            <a:ext cx="1106424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343187"/>
            <a:ext cx="63500" cy="689443"/>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270035"/>
            <a:ext cx="11064240" cy="835747"/>
          </a:xfrm>
          <a:prstGeom prst="rect">
            <a:avLst/>
          </a:prstGeom>
          <a:noFill/>
        </p:spPr>
        <p:txBody>
          <a:bodyPr wrap="square" anchor="ctr" lIns="0" rIns="0" tIns="0" bIns="0">
            <a:spAutoFit/>
          </a:bodyPr>
          <a:lstStyle/>
          <a:p>
            <a:pPr algn="ctr"/>
            <a:r>
              <a:rPr sz="1853" b="1">
                <a:solidFill>
                  <a:srgbClr val="0E2841"/>
                </a:solidFill>
                <a:latin typeface="Aptos Display"/>
              </a:rPr>
              <a:t>Primitivos  ·  la paleta, solo en el archivo de tema</a:t>
            </a:r>
          </a:p>
        </p:txBody>
      </p:sp>
      <p:sp>
        <p:nvSpPr>
          <p:cNvPr id="13" name="Rounded Rectangle 12"/>
          <p:cNvSpPr/>
          <p:nvPr/>
        </p:nvSpPr>
        <p:spPr>
          <a:xfrm>
            <a:off x="1069848" y="4289239"/>
            <a:ext cx="1005840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69848" y="4362391"/>
            <a:ext cx="63500" cy="689443"/>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4289239"/>
            <a:ext cx="10058400" cy="835747"/>
          </a:xfrm>
          <a:prstGeom prst="rect">
            <a:avLst/>
          </a:prstGeom>
          <a:noFill/>
        </p:spPr>
        <p:txBody>
          <a:bodyPr wrap="square" anchor="ctr" lIns="0" rIns="0" tIns="0" bIns="0">
            <a:spAutoFit/>
          </a:bodyPr>
          <a:lstStyle/>
          <a:p>
            <a:pPr algn="ctr"/>
            <a:r>
              <a:rPr sz="1853" b="1">
                <a:solidFill>
                  <a:srgbClr val="0E2841"/>
                </a:solidFill>
                <a:latin typeface="Aptos Display"/>
              </a:rPr>
              <a:t>Semánticos  ·  </a:t>
            </a:r>
            <a:r>
              <a:rPr sz="1742" b="1">
                <a:solidFill>
                  <a:srgbClr val="156082"/>
                </a:solidFill>
                <a:latin typeface="Consolas"/>
              </a:rPr>
              <a:t>--ion-color-primary</a:t>
            </a:r>
            <a:r>
              <a:rPr sz="1853" b="1">
                <a:solidFill>
                  <a:srgbClr val="0E2841"/>
                </a:solidFill>
                <a:latin typeface="Aptos Display"/>
              </a:rPr>
              <a:t>, </a:t>
            </a:r>
            <a:r>
              <a:rPr sz="1742" b="1">
                <a:solidFill>
                  <a:srgbClr val="156082"/>
                </a:solidFill>
                <a:latin typeface="Consolas"/>
              </a:rPr>
              <a:t>--app-espacio-m</a:t>
            </a:r>
            <a:r>
              <a:rPr sz="1853" b="1">
                <a:solidFill>
                  <a:srgbClr val="0E2841"/>
                </a:solidFill>
                <a:latin typeface="Aptos Display"/>
              </a:rPr>
              <a:t>: los usan las pantallas</a:t>
            </a:r>
          </a:p>
        </p:txBody>
      </p:sp>
      <p:sp>
        <p:nvSpPr>
          <p:cNvPr id="16" name="Rounded Rectangle 15"/>
          <p:cNvSpPr/>
          <p:nvPr/>
        </p:nvSpPr>
        <p:spPr>
          <a:xfrm>
            <a:off x="1572768" y="5308443"/>
            <a:ext cx="905256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72768" y="5381595"/>
            <a:ext cx="63500" cy="68944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72768" y="5308443"/>
            <a:ext cx="9052560" cy="835747"/>
          </a:xfrm>
          <a:prstGeom prst="rect">
            <a:avLst/>
          </a:prstGeom>
          <a:noFill/>
        </p:spPr>
        <p:txBody>
          <a:bodyPr wrap="square" anchor="ctr" lIns="0" rIns="0" tIns="0" bIns="0">
            <a:spAutoFit/>
          </a:bodyPr>
          <a:lstStyle/>
          <a:p>
            <a:pPr algn="ctr"/>
            <a:r>
              <a:rPr sz="1853" b="1">
                <a:solidFill>
                  <a:srgbClr val="0E2841"/>
                </a:solidFill>
                <a:latin typeface="Aptos Display"/>
              </a:rPr>
              <a:t>De componente  ·  </a:t>
            </a:r>
            <a:r>
              <a:rPr sz="1742" b="1">
                <a:solidFill>
                  <a:srgbClr val="156082"/>
                </a:solidFill>
                <a:latin typeface="Consolas"/>
              </a:rPr>
              <a:t>--background</a:t>
            </a:r>
            <a:r>
              <a:rPr sz="1853" b="1">
                <a:solidFill>
                  <a:srgbClr val="0E2841"/>
                </a:solidFill>
                <a:latin typeface="Aptos Display"/>
              </a:rPr>
              <a:t> de </a:t>
            </a:r>
            <a:r>
              <a:rPr sz="1742" b="1">
                <a:solidFill>
                  <a:srgbClr val="156082"/>
                </a:solidFill>
                <a:latin typeface="Consolas"/>
              </a:rPr>
              <a:t>ion-card</a:t>
            </a:r>
            <a:r>
              <a:rPr sz="1853" b="1">
                <a:solidFill>
                  <a:srgbClr val="0E2841"/>
                </a:solidFill>
                <a:latin typeface="Aptos Display"/>
              </a:rPr>
              <a:t>: ajusta un componente compartido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48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archivo de tema, todos los modos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40487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06" b="1">
                <a:solidFill>
                  <a:srgbClr val="E97132"/>
                </a:solidFill>
                <a:latin typeface="Aptos"/>
              </a:rPr>
              <a:t>CORE/THEME/TOKENS.SCSS · UN COLOR DE IONIC SON SEIS VARIABLES</a:t>
            </a:r>
          </a:p>
        </p:txBody>
      </p:sp>
      <p:sp>
        <p:nvSpPr>
          <p:cNvPr id="10" name="TextBox 9"/>
          <p:cNvSpPr txBox="1"/>
          <p:nvPr/>
        </p:nvSpPr>
        <p:spPr>
          <a:xfrm>
            <a:off x="877824" y="2139696"/>
            <a:ext cx="10515600" cy="1673352"/>
          </a:xfrm>
          <a:prstGeom prst="rect">
            <a:avLst/>
          </a:prstGeom>
          <a:noFill/>
        </p:spPr>
        <p:txBody>
          <a:bodyPr wrap="none" lIns="0" tIns="0">
            <a:spAutoFit/>
          </a:bodyPr>
          <a:lstStyle/>
          <a:p>
            <a:pPr>
              <a:lnSpc>
                <a:spcPct val="125000"/>
              </a:lnSpc>
            </a:pPr>
            <a:r>
              <a:rPr sz="1521">
                <a:solidFill>
                  <a:srgbClr val="E8E8E8"/>
                </a:solidFill>
                <a:latin typeface="Consolas"/>
              </a:rPr>
              <a:t>:root {</a:t>
            </a:r>
          </a:p>
          <a:p>
            <a:pPr>
              <a:lnSpc>
                <a:spcPct val="125000"/>
              </a:lnSpc>
            </a:pPr>
            <a:r>
              <a:rPr sz="1521">
                <a:solidFill>
                  <a:srgbClr val="E8E8E8"/>
                </a:solidFill>
                <a:latin typeface="Consolas"/>
              </a:rPr>
              <a:t>  --ion-color-primary: #009540;          --ion-color-primary-rgb: 0, 149, 64;</a:t>
            </a:r>
          </a:p>
          <a:p>
            <a:pPr>
              <a:lnSpc>
                <a:spcPct val="125000"/>
              </a:lnSpc>
            </a:pPr>
            <a:r>
              <a:rPr sz="1521">
                <a:solidFill>
                  <a:srgbClr val="E8E8E8"/>
                </a:solidFill>
                <a:latin typeface="Consolas"/>
              </a:rPr>
              <a:t>  --ion-color-primary-contrast: #ffffff; --ion-color-primary-contrast-rgb: 255, 255, 255;</a:t>
            </a:r>
          </a:p>
          <a:p>
            <a:pPr>
              <a:lnSpc>
                <a:spcPct val="125000"/>
              </a:lnSpc>
            </a:pPr>
            <a:r>
              <a:rPr sz="1521">
                <a:solidFill>
                  <a:srgbClr val="E8E8E8"/>
                </a:solidFill>
                <a:latin typeface="Consolas"/>
              </a:rPr>
              <a:t>  --ion-color-primary-shade: #008338;    --ion-color-primary-tint: #1aa053;</a:t>
            </a:r>
          </a:p>
          <a:p>
            <a:pPr>
              <a:lnSpc>
                <a:spcPct val="125000"/>
              </a:lnSpc>
            </a:pPr>
            <a:r>
              <a:rPr sz="1521">
                <a:solidFill>
                  <a:srgbClr val="E8E8E8"/>
                </a:solidFill>
                <a:latin typeface="Consolas"/>
              </a:rPr>
              <a:t>  --app-superficie: var(--ion-color-light); --app-espacio-m: 16px; --app-radio-m: 12px;</a:t>
            </a:r>
          </a:p>
          <a:p>
            <a:pPr>
              <a:lnSpc>
                <a:spcPct val="125000"/>
              </a:lnSpc>
            </a:pPr>
            <a:r>
              <a:rPr sz="1521">
                <a:solidFill>
                  <a:srgbClr val="E8E8E8"/>
                </a:solidFill>
                <a:latin typeface="Consolas"/>
              </a:rPr>
              <a:t>}</a:t>
            </a:r>
          </a:p>
        </p:txBody>
      </p:sp>
      <p:sp>
        <p:nvSpPr>
          <p:cNvPr id="11" name="Rounded Rectangle 10"/>
          <p:cNvSpPr/>
          <p:nvPr/>
        </p:nvSpPr>
        <p:spPr>
          <a:xfrm>
            <a:off x="566928" y="4178808"/>
            <a:ext cx="11064240" cy="2148840"/>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39826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361688"/>
            <a:ext cx="7315200" cy="237744"/>
          </a:xfrm>
          <a:prstGeom prst="rect">
            <a:avLst/>
          </a:prstGeom>
          <a:noFill/>
        </p:spPr>
        <p:txBody>
          <a:bodyPr wrap="square" anchor="t" lIns="0" rIns="0" tIns="0" bIns="0">
            <a:spAutoFit/>
          </a:bodyPr>
          <a:lstStyle/>
          <a:p>
            <a:pPr algn="l"/>
            <a:r>
              <a:rPr sz="1206" b="1">
                <a:solidFill>
                  <a:srgbClr val="E97132"/>
                </a:solidFill>
                <a:latin typeface="Aptos"/>
              </a:rPr>
              <a:t>MODO OSCURO (MISMOS TOKENS, OTROS VALORES) Y AJUSTE POR MODO</a:t>
            </a:r>
          </a:p>
        </p:txBody>
      </p:sp>
      <p:sp>
        <p:nvSpPr>
          <p:cNvPr id="14" name="TextBox 13"/>
          <p:cNvSpPr txBox="1"/>
          <p:nvPr/>
        </p:nvSpPr>
        <p:spPr>
          <a:xfrm>
            <a:off x="877824" y="4745736"/>
            <a:ext cx="10515600" cy="1417320"/>
          </a:xfrm>
          <a:prstGeom prst="rect">
            <a:avLst/>
          </a:prstGeom>
          <a:noFill/>
        </p:spPr>
        <p:txBody>
          <a:bodyPr wrap="none" lIns="0" tIns="0">
            <a:spAutoFit/>
          </a:bodyPr>
          <a:lstStyle/>
          <a:p>
            <a:pPr>
              <a:lnSpc>
                <a:spcPct val="125000"/>
              </a:lnSpc>
            </a:pPr>
            <a:r>
              <a:rPr sz="1521">
                <a:solidFill>
                  <a:srgbClr val="E8E8E8"/>
                </a:solidFill>
                <a:latin typeface="Consolas"/>
              </a:rPr>
              <a:t>@media (prefers-color-scheme: dark) {</a:t>
            </a:r>
          </a:p>
          <a:p>
            <a:pPr>
              <a:lnSpc>
                <a:spcPct val="125000"/>
              </a:lnSpc>
            </a:pPr>
            <a:r>
              <a:rPr sz="1521">
                <a:solidFill>
                  <a:srgbClr val="E8E8E8"/>
                </a:solidFill>
                <a:latin typeface="Consolas"/>
              </a:rPr>
              <a:t>  :root { --ion-background-color: #121212; --ion-text-color: #e8e8e8;</a:t>
            </a:r>
          </a:p>
          <a:p>
            <a:pPr>
              <a:lnSpc>
                <a:spcPct val="125000"/>
              </a:lnSpc>
            </a:pPr>
            <a:r>
              <a:rPr sz="1521">
                <a:solidFill>
                  <a:srgbClr val="E8E8E8"/>
                </a:solidFill>
                <a:latin typeface="Consolas"/>
              </a:rPr>
              <a:t>          --app-superficie: #1e1e1e; }</a:t>
            </a:r>
          </a:p>
          <a:p>
            <a:pPr>
              <a:lnSpc>
                <a:spcPct val="125000"/>
              </a:lnSpc>
            </a:pPr>
            <a:r>
              <a:rPr sz="1521">
                <a:solidFill>
                  <a:srgbClr val="E8E8E8"/>
                </a:solidFill>
                <a:latin typeface="Consolas"/>
              </a:rPr>
              <a:t>}</a:t>
            </a:r>
          </a:p>
          <a:p>
            <a:pPr>
              <a:lnSpc>
                <a:spcPct val="125000"/>
              </a:lnSpc>
            </a:pPr>
            <a:r>
              <a:rPr sz="1521">
                <a:solidFill>
                  <a:srgbClr val="E8E8E8"/>
                </a:solidFill>
                <a:latin typeface="Consolas"/>
              </a:rPr>
              <a:t>.ios app-visita-tarjeta { --app-radio-m: 8px; }  /* Ionic pone .md o .ios en la raíz */</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48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md o ios, decidido en un solo lugar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2225908"/>
        </p:xfrm>
        <a:graphic>
          <a:graphicData uri="http://schemas.openxmlformats.org/drawingml/2006/table">
            <a:tbl>
              <a:tblPr firstRow="1">
                <a:tableStyleId>{5C22544A-7EE6-4342-B048-85BDC9FD1C3A}</a:tableStyleId>
              </a:tblPr>
              <a:tblGrid>
                <a:gridCol w="3688080"/>
                <a:gridCol w="3688080"/>
                <a:gridCol w="3688080"/>
              </a:tblGrid>
              <a:tr h="556477">
                <a:tc>
                  <a:txBody>
                    <a:bodyPr wrap="square"/>
                    <a:lstStyle/>
                    <a:p>
                      <a:r>
                        <a:rPr sz="1563" b="1">
                          <a:solidFill>
                            <a:srgbClr val="FFFFFF"/>
                          </a:solidFill>
                          <a:latin typeface="Aptos"/>
                        </a:rPr>
                        <a:t>Estrategia</a:t>
                      </a:r>
                    </a:p>
                  </a:txBody>
                  <a:tcPr anchor="ctr" marL="146304" marR="146304">
                    <a:solidFill>
                      <a:srgbClr val="156082"/>
                    </a:solidFill>
                  </a:tcPr>
                </a:tc>
                <a:tc>
                  <a:txBody>
                    <a:bodyPr wrap="square"/>
                    <a:lstStyle/>
                    <a:p>
                      <a:r>
                        <a:rPr sz="1563" b="1">
                          <a:solidFill>
                            <a:srgbClr val="FFFFFF"/>
                          </a:solidFill>
                          <a:latin typeface="Aptos"/>
                        </a:rPr>
                        <a:t>Lo que compra</a:t>
                      </a:r>
                    </a:p>
                  </a:txBody>
                  <a:tcPr anchor="ctr" marL="146304" marR="146304">
                    <a:solidFill>
                      <a:srgbClr val="156082"/>
                    </a:solidFill>
                  </a:tcPr>
                </a:tc>
                <a:tc>
                  <a:txBody>
                    <a:bodyPr wrap="square"/>
                    <a:lstStyle/>
                    <a:p>
                      <a:r>
                        <a:rPr sz="1563" b="1">
                          <a:solidFill>
                            <a:srgbClr val="FFFFFF"/>
                          </a:solidFill>
                          <a:latin typeface="Aptos"/>
                        </a:rPr>
                        <a:t>Lo que paga</a:t>
                      </a:r>
                    </a:p>
                  </a:txBody>
                  <a:tcPr anchor="ctr" marL="146304" marR="146304">
                    <a:solidFill>
                      <a:srgbClr val="156082"/>
                    </a:solidFill>
                  </a:tcPr>
                </a:tc>
              </a:tr>
              <a:tr h="556477">
                <a:tc>
                  <a:txBody>
                    <a:bodyPr wrap="square"/>
                    <a:lstStyle/>
                    <a:p>
                      <a:r>
                        <a:rPr sz="1459" b="1">
                          <a:solidFill>
                            <a:srgbClr val="33475B"/>
                          </a:solidFill>
                          <a:latin typeface="Aptos"/>
                        </a:rPr>
                        <a:t>Automático por plataforma (defecto)</a:t>
                      </a:r>
                    </a:p>
                  </a:txBody>
                  <a:tcPr anchor="ctr" marL="146304" marR="146304">
                    <a:solidFill>
                      <a:srgbClr val="FFFFFF"/>
                    </a:solidFill>
                  </a:tcPr>
                </a:tc>
                <a:tc>
                  <a:txBody>
                    <a:bodyPr wrap="square"/>
                    <a:lstStyle/>
                    <a:p>
                      <a:r>
                        <a:rPr sz="1459" b="0">
                          <a:solidFill>
                            <a:srgbClr val="33475B"/>
                          </a:solidFill>
                          <a:latin typeface="Aptos"/>
                        </a:rPr>
                        <a:t>Se siente nativa en cada sistema</a:t>
                      </a:r>
                    </a:p>
                  </a:txBody>
                  <a:tcPr anchor="ctr" marL="146304" marR="146304">
                    <a:solidFill>
                      <a:srgbClr val="FFFFFF"/>
                    </a:solidFill>
                  </a:tcPr>
                </a:tc>
                <a:tc>
                  <a:txBody>
                    <a:bodyPr wrap="square"/>
                    <a:lstStyle/>
                    <a:p>
                      <a:r>
                        <a:rPr sz="1459" b="0">
                          <a:solidFill>
                            <a:srgbClr val="33475B"/>
                          </a:solidFill>
                          <a:latin typeface="Aptos"/>
                        </a:rPr>
                        <a:t>Dos apariencias que probar y capturar para las tiendas</a:t>
                      </a:r>
                    </a:p>
                  </a:txBody>
                  <a:tcPr anchor="ctr" marL="146304" marR="146304">
                    <a:solidFill>
                      <a:srgbClr val="FFFFFF"/>
                    </a:solidFill>
                  </a:tcPr>
                </a:tc>
              </a:tr>
              <a:tr h="556477">
                <a:tc>
                  <a:txBody>
                    <a:bodyPr wrap="square"/>
                    <a:lstStyle/>
                    <a:p>
                      <a:r>
                        <a:rPr sz="1459" b="1">
                          <a:solidFill>
                            <a:srgbClr val="33475B"/>
                          </a:solidFill>
                          <a:latin typeface="Aptos"/>
                        </a:rPr>
                        <a:t>Un solo modo forzado en ambas</a:t>
                      </a:r>
                    </a:p>
                  </a:txBody>
                  <a:tcPr anchor="ctr" marL="146304" marR="146304">
                    <a:solidFill>
                      <a:srgbClr val="F4F7FA"/>
                    </a:solidFill>
                  </a:tcPr>
                </a:tc>
                <a:tc>
                  <a:txBody>
                    <a:bodyPr wrap="square"/>
                    <a:lstStyle/>
                    <a:p>
                      <a:r>
                        <a:rPr sz="1459" b="0">
                          <a:solidFill>
                            <a:srgbClr val="33475B"/>
                          </a:solidFill>
                          <a:latin typeface="Aptos"/>
                        </a:rPr>
                        <a:t>Apariencia de marca, menos pruebas visuales</a:t>
                      </a:r>
                    </a:p>
                  </a:txBody>
                  <a:tcPr anchor="ctr" marL="146304" marR="146304">
                    <a:solidFill>
                      <a:srgbClr val="F4F7FA"/>
                    </a:solidFill>
                  </a:tcPr>
                </a:tc>
                <a:tc>
                  <a:txBody>
                    <a:bodyPr wrap="square"/>
                    <a:lstStyle/>
                    <a:p>
                      <a:r>
                        <a:rPr sz="1459" b="0">
                          <a:solidFill>
                            <a:srgbClr val="33475B"/>
                          </a:solidFill>
                          <a:latin typeface="Aptos"/>
                        </a:rPr>
                        <a:t>En iOS se siente ajena: navegación, tipografía</a:t>
                      </a:r>
                    </a:p>
                  </a:txBody>
                  <a:tcPr anchor="ctr" marL="146304" marR="146304">
                    <a:solidFill>
                      <a:srgbClr val="F4F7FA"/>
                    </a:solidFill>
                  </a:tcPr>
                </a:tc>
              </a:tr>
              <a:tr h="556477">
                <a:tc>
                  <a:txBody>
                    <a:bodyPr wrap="square"/>
                    <a:lstStyle/>
                    <a:p>
                      <a:r>
                        <a:rPr sz="1459" b="1">
                          <a:solidFill>
                            <a:srgbClr val="33475B"/>
                          </a:solidFill>
                          <a:latin typeface="Aptos"/>
                        </a:rPr>
                        <a:t>Automático + ajustes por modo en tokens</a:t>
                      </a:r>
                    </a:p>
                  </a:txBody>
                  <a:tcPr anchor="ctr" marL="146304" marR="146304">
                    <a:solidFill>
                      <a:srgbClr val="FFFFFF"/>
                    </a:solidFill>
                  </a:tcPr>
                </a:tc>
                <a:tc>
                  <a:txBody>
                    <a:bodyPr wrap="square"/>
                    <a:lstStyle/>
                    <a:p>
                      <a:r>
                        <a:rPr sz="1459" b="0">
                          <a:solidFill>
                            <a:srgbClr val="33475B"/>
                          </a:solidFill>
                          <a:latin typeface="Aptos"/>
                        </a:rPr>
                        <a:t>Nativa y con identidad de marca</a:t>
                      </a:r>
                    </a:p>
                  </a:txBody>
                  <a:tcPr anchor="ctr" marL="146304" marR="146304">
                    <a:solidFill>
                      <a:srgbClr val="FFFFFF"/>
                    </a:solidFill>
                  </a:tcPr>
                </a:tc>
                <a:tc>
                  <a:txBody>
                    <a:bodyPr wrap="square"/>
                    <a:lstStyle/>
                    <a:p>
                      <a:r>
                        <a:rPr sz="1459" b="0">
                          <a:solidFill>
                            <a:srgbClr val="33475B"/>
                          </a:solidFill>
                          <a:latin typeface="Aptos"/>
                        </a:rPr>
                        <a:t>Disciplina: los ajustes viven en el tema</a:t>
                      </a:r>
                    </a:p>
                  </a:txBody>
                  <a:tcPr anchor="ctr" marL="146304" marR="146304">
                    <a:solidFill>
                      <a:srgbClr val="FFFFFF"/>
                    </a:solidFill>
                  </a:tcPr>
                </a:tc>
              </a:tr>
            </a:tbl>
          </a:graphicData>
        </a:graphic>
      </p:graphicFrame>
      <p:sp>
        <p:nvSpPr>
          <p:cNvPr id="8" name="Rounded Rectangle 7"/>
          <p:cNvSpPr/>
          <p:nvPr/>
        </p:nvSpPr>
        <p:spPr>
          <a:xfrm>
            <a:off x="566928" y="3999846"/>
            <a:ext cx="11064240" cy="2327801"/>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1248" y="4219302"/>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4182726"/>
            <a:ext cx="7315200" cy="237744"/>
          </a:xfrm>
          <a:prstGeom prst="rect">
            <a:avLst/>
          </a:prstGeom>
          <a:noFill/>
        </p:spPr>
        <p:txBody>
          <a:bodyPr wrap="square" anchor="t" lIns="0" rIns="0" tIns="0" bIns="0">
            <a:spAutoFit/>
          </a:bodyPr>
          <a:lstStyle/>
          <a:p>
            <a:pPr algn="l"/>
            <a:r>
              <a:rPr sz="1199" b="1">
                <a:solidFill>
                  <a:srgbClr val="E97132"/>
                </a:solidFill>
                <a:latin typeface="Aptos"/>
              </a:rPr>
              <a:t>CORE/ · LAS PANTALLAS PREGUNTAN QUÉ MOSTRAR, NO EN QUÉ SISTEMA ESTÁN</a:t>
            </a:r>
          </a:p>
        </p:txBody>
      </p:sp>
      <p:sp>
        <p:nvSpPr>
          <p:cNvPr id="11" name="TextBox 10"/>
          <p:cNvSpPr txBox="1"/>
          <p:nvPr/>
        </p:nvSpPr>
        <p:spPr>
          <a:xfrm>
            <a:off x="877824" y="4566774"/>
            <a:ext cx="10515600" cy="1596281"/>
          </a:xfrm>
          <a:prstGeom prst="rect">
            <a:avLst/>
          </a:prstGeom>
          <a:noFill/>
        </p:spPr>
        <p:txBody>
          <a:bodyPr wrap="none" lIns="0" tIns="0">
            <a:spAutoFit/>
          </a:bodyPr>
          <a:lstStyle/>
          <a:p>
            <a:pPr>
              <a:lnSpc>
                <a:spcPct val="125000"/>
              </a:lnSpc>
            </a:pPr>
            <a:r>
              <a:rPr sz="1511">
                <a:solidFill>
                  <a:srgbClr val="E8E8E8"/>
                </a:solidFill>
                <a:latin typeface="Consolas"/>
              </a:rPr>
              <a:t>@Injectable({ providedIn: 'root' })</a:t>
            </a:r>
          </a:p>
          <a:p>
            <a:pPr>
              <a:lnSpc>
                <a:spcPct val="125000"/>
              </a:lnSpc>
            </a:pPr>
            <a:r>
              <a:rPr sz="1511">
                <a:solidFill>
                  <a:srgbClr val="E8E8E8"/>
                </a:solidFill>
                <a:latin typeface="Consolas"/>
              </a:rPr>
              <a:t>export class PresentacionPorPlataforma {</a:t>
            </a:r>
          </a:p>
          <a:p>
            <a:pPr>
              <a:lnSpc>
                <a:spcPct val="125000"/>
              </a:lnSpc>
            </a:pPr>
            <a:r>
              <a:rPr sz="1511">
                <a:solidFill>
                  <a:srgbClr val="E8E8E8"/>
                </a:solidFill>
                <a:latin typeface="Consolas"/>
              </a:rPr>
              <a:t>  private readonly plataforma = inject(Platform);</a:t>
            </a:r>
          </a:p>
          <a:p>
            <a:pPr>
              <a:lnSpc>
                <a:spcPct val="125000"/>
              </a:lnSpc>
            </a:pPr>
            <a:r>
              <a:rPr sz="1511">
                <a:solidFill>
                  <a:srgbClr val="E8E8E8"/>
                </a:solidFill>
                <a:latin typeface="Consolas"/>
              </a:rPr>
              <a:t>  readonly accionPrincipal: 'boton-flotante' | 'barra-inferior' =</a:t>
            </a:r>
          </a:p>
          <a:p>
            <a:pPr>
              <a:lnSpc>
                <a:spcPct val="125000"/>
              </a:lnSpc>
            </a:pPr>
            <a:r>
              <a:rPr sz="1511">
                <a:solidFill>
                  <a:srgbClr val="E8E8E8"/>
                </a:solidFill>
                <a:latin typeface="Consolas"/>
              </a:rPr>
              <a:t>    this.plataforma.is('ios') ? 'barra-inferior' : 'boton-flotante';</a:t>
            </a:r>
          </a:p>
          <a:p>
            <a:pPr>
              <a:lnSpc>
                <a:spcPct val="125000"/>
              </a:lnSpc>
            </a:pPr>
            <a:r>
              <a:rPr sz="1511">
                <a:solidFill>
                  <a:srgbClr val="E8E8E8"/>
                </a:solidFill>
                <a:latin typeface="Consolas"/>
              </a:rPr>
              <a:t>}</a:t>
            </a:r>
          </a:p>
        </p:txBody>
      </p:sp>
      <p:sp>
        <p:nvSpPr>
          <p:cNvPr id="12" name="TextBox 1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3" name="TextBox 1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48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Modo oscuro sin reescribir pantallas: ¿qué enfoque respeta el sistema de diseño?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Duplicar la hoja de estilos de cada página con colores oscuros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Redefinir los valores de los mismos tokens bajo el esquema oscuro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Forzar el modo md en toda la app para tener una sola apariencia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Detectar la plataforma con </a:t>
            </a:r>
            <a:r>
              <a:rPr sz="1974" b="0">
                <a:solidFill>
                  <a:srgbClr val="156082"/>
                </a:solidFill>
                <a:latin typeface="Consolas"/>
              </a:rPr>
              <a:t>Platform</a:t>
            </a:r>
            <a:r>
              <a:rPr sz="2100" b="0">
                <a:solidFill>
                  <a:srgbClr val="0E2841"/>
                </a:solidFill>
                <a:latin typeface="Aptos"/>
              </a:rPr>
              <a:t> y cambiar clases por pantalla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48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4. Estado en un solo sentido</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Dueños del estado, inyección y flujos RxJS</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tipo de estado tiene su dueño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El marco: un solo patrón unidireccional para toda la app, estado inmutable y una pantalla que dibuja exactamente un objeto de estado.</a:t>
            </a:r>
          </a:p>
        </p:txBody>
      </p:sp>
      <p:graphicFrame>
        <p:nvGraphicFramePr>
          <p:cNvPr id="10" name="Table 9"/>
          <p:cNvGraphicFramePr>
            <a:graphicFrameLocks noGrp="1"/>
          </p:cNvGraphicFramePr>
          <p:nvPr/>
        </p:nvGraphicFramePr>
        <p:xfrm>
          <a:off x="566928" y="3066288"/>
          <a:ext cx="11064240" cy="3261360"/>
        </p:xfrm>
        <a:graphic>
          <a:graphicData uri="http://schemas.openxmlformats.org/drawingml/2006/table">
            <a:tbl>
              <a:tblPr firstRow="1">
                <a:tableStyleId>{5C22544A-7EE6-4342-B048-85BDC9FD1C3A}</a:tableStyleId>
              </a:tblPr>
              <a:tblGrid>
                <a:gridCol w="2766060"/>
                <a:gridCol w="2766060"/>
                <a:gridCol w="2766060"/>
                <a:gridCol w="2766060"/>
              </a:tblGrid>
              <a:tr h="543560">
                <a:tc>
                  <a:txBody>
                    <a:bodyPr wrap="square"/>
                    <a:lstStyle/>
                    <a:p>
                      <a:r>
                        <a:rPr sz="1569" b="1">
                          <a:solidFill>
                            <a:srgbClr val="FFFFFF"/>
                          </a:solidFill>
                          <a:latin typeface="Aptos"/>
                        </a:rPr>
                        <a:t>Tipo de estado</a:t>
                      </a:r>
                    </a:p>
                  </a:txBody>
                  <a:tcPr anchor="ctr" marL="146304" marR="146304">
                    <a:solidFill>
                      <a:srgbClr val="156082"/>
                    </a:solidFill>
                  </a:tcPr>
                </a:tc>
                <a:tc>
                  <a:txBody>
                    <a:bodyPr wrap="square"/>
                    <a:lstStyle/>
                    <a:p>
                      <a:r>
                        <a:rPr sz="1569" b="1">
                          <a:solidFill>
                            <a:srgbClr val="FFFFFF"/>
                          </a:solidFill>
                          <a:latin typeface="Aptos"/>
                        </a:rPr>
                        <a:t>Ejemplo en la Bitácora</a:t>
                      </a:r>
                    </a:p>
                  </a:txBody>
                  <a:tcPr anchor="ctr" marL="146304" marR="146304">
                    <a:solidFill>
                      <a:srgbClr val="156082"/>
                    </a:solidFill>
                  </a:tcPr>
                </a:tc>
                <a:tc>
                  <a:txBody>
                    <a:bodyPr wrap="square"/>
                    <a:lstStyle/>
                    <a:p>
                      <a:r>
                        <a:rPr sz="1569" b="1">
                          <a:solidFill>
                            <a:srgbClr val="FFFFFF"/>
                          </a:solidFill>
                          <a:latin typeface="Aptos"/>
                        </a:rPr>
                        <a:t>Dueño</a:t>
                      </a:r>
                    </a:p>
                  </a:txBody>
                  <a:tcPr anchor="ctr" marL="146304" marR="146304">
                    <a:solidFill>
                      <a:srgbClr val="156082"/>
                    </a:solidFill>
                  </a:tcPr>
                </a:tc>
                <a:tc>
                  <a:txBody>
                    <a:bodyPr wrap="square"/>
                    <a:lstStyle/>
                    <a:p>
                      <a:r>
                        <a:rPr sz="1569" b="1">
                          <a:solidFill>
                            <a:srgbClr val="FFFFFF"/>
                          </a:solidFill>
                          <a:latin typeface="Aptos"/>
                        </a:rPr>
                        <a:t>Vive</a:t>
                      </a:r>
                    </a:p>
                  </a:txBody>
                  <a:tcPr anchor="ctr" marL="146304" marR="146304">
                    <a:solidFill>
                      <a:srgbClr val="156082"/>
                    </a:solidFill>
                  </a:tcPr>
                </a:tc>
              </a:tr>
              <a:tr h="543560">
                <a:tc>
                  <a:txBody>
                    <a:bodyPr wrap="square"/>
                    <a:lstStyle/>
                    <a:p>
                      <a:r>
                        <a:rPr sz="1465" b="1">
                          <a:solidFill>
                            <a:srgbClr val="33475B"/>
                          </a:solidFill>
                          <a:latin typeface="Aptos"/>
                        </a:rPr>
                        <a:t>Efímero de la UI</a:t>
                      </a:r>
                    </a:p>
                  </a:txBody>
                  <a:tcPr anchor="ctr" marL="146304" marR="146304">
                    <a:solidFill>
                      <a:srgbClr val="FFFFFF"/>
                    </a:solidFill>
                  </a:tcPr>
                </a:tc>
                <a:tc>
                  <a:txBody>
                    <a:bodyPr wrap="square"/>
                    <a:lstStyle/>
                    <a:p>
                      <a:r>
                        <a:rPr sz="1465" b="0">
                          <a:solidFill>
                            <a:srgbClr val="33475B"/>
                          </a:solidFill>
                          <a:latin typeface="Aptos"/>
                        </a:rPr>
                        <a:t>Popover abierto, ítem deslizado</a:t>
                      </a:r>
                    </a:p>
                  </a:txBody>
                  <a:tcPr anchor="ctr" marL="146304" marR="146304">
                    <a:solidFill>
                      <a:srgbClr val="FFFFFF"/>
                    </a:solidFill>
                  </a:tcPr>
                </a:tc>
                <a:tc>
                  <a:txBody>
                    <a:bodyPr wrap="square"/>
                    <a:lstStyle/>
                    <a:p>
                      <a:r>
                        <a:rPr sz="1465" b="0">
                          <a:solidFill>
                            <a:srgbClr val="33475B"/>
                          </a:solidFill>
                          <a:latin typeface="Aptos"/>
                        </a:rPr>
                        <a:t>El componente</a:t>
                      </a:r>
                    </a:p>
                  </a:txBody>
                  <a:tcPr anchor="ctr" marL="146304" marR="146304">
                    <a:solidFill>
                      <a:srgbClr val="FFFFFF"/>
                    </a:solidFill>
                  </a:tcPr>
                </a:tc>
                <a:tc>
                  <a:txBody>
                    <a:bodyPr wrap="square"/>
                    <a:lstStyle/>
                    <a:p>
                      <a:r>
                        <a:rPr sz="1465" b="0">
                          <a:solidFill>
                            <a:srgbClr val="33475B"/>
                          </a:solidFill>
                          <a:latin typeface="Aptos"/>
                        </a:rPr>
                        <a:t>Mientras la vista existe</a:t>
                      </a:r>
                    </a:p>
                  </a:txBody>
                  <a:tcPr anchor="ctr" marL="146304" marR="146304">
                    <a:solidFill>
                      <a:srgbClr val="FFFFFF"/>
                    </a:solidFill>
                  </a:tcPr>
                </a:tc>
              </a:tr>
              <a:tr h="543560">
                <a:tc>
                  <a:txBody>
                    <a:bodyPr wrap="square"/>
                    <a:lstStyle/>
                    <a:p>
                      <a:r>
                        <a:rPr sz="1465" b="1">
                          <a:solidFill>
                            <a:srgbClr val="33475B"/>
                          </a:solidFill>
                          <a:latin typeface="Aptos"/>
                        </a:rPr>
                        <a:t>De pantalla</a:t>
                      </a:r>
                    </a:p>
                  </a:txBody>
                  <a:tcPr anchor="ctr" marL="146304" marR="146304">
                    <a:solidFill>
                      <a:srgbClr val="F4F7FA"/>
                    </a:solidFill>
                  </a:tcPr>
                </a:tc>
                <a:tc>
                  <a:txBody>
                    <a:bodyPr wrap="square"/>
                    <a:lstStyle/>
                    <a:p>
                      <a:r>
                        <a:rPr sz="1465" b="0">
                          <a:solidFill>
                            <a:srgbClr val="33475B"/>
                          </a:solidFill>
                          <a:latin typeface="Aptos"/>
                        </a:rPr>
                        <a:t>Lista de visitas: carga o falla</a:t>
                      </a:r>
                    </a:p>
                  </a:txBody>
                  <a:tcPr anchor="ctr" marL="146304" marR="146304">
                    <a:solidFill>
                      <a:srgbClr val="F4F7FA"/>
                    </a:solidFill>
                  </a:tcPr>
                </a:tc>
                <a:tc>
                  <a:txBody>
                    <a:bodyPr wrap="square"/>
                    <a:lstStyle/>
                    <a:p>
                      <a:r>
                        <a:rPr sz="1465" b="0">
                          <a:solidFill>
                            <a:srgbClr val="33475B"/>
                          </a:solidFill>
                          <a:latin typeface="Aptos"/>
                        </a:rPr>
                        <a:t>El ViewModel</a:t>
                      </a:r>
                    </a:p>
                  </a:txBody>
                  <a:tcPr anchor="ctr" marL="146304" marR="146304">
                    <a:solidFill>
                      <a:srgbClr val="F4F7FA"/>
                    </a:solidFill>
                  </a:tcPr>
                </a:tc>
                <a:tc>
                  <a:txBody>
                    <a:bodyPr wrap="square"/>
                    <a:lstStyle/>
                    <a:p>
                      <a:r>
                        <a:rPr sz="1465" b="0">
                          <a:solidFill>
                            <a:srgbClr val="33475B"/>
                          </a:solidFill>
                          <a:latin typeface="Aptos"/>
                        </a:rPr>
                        <a:t>Mientras la pantalla vive</a:t>
                      </a:r>
                    </a:p>
                  </a:txBody>
                  <a:tcPr anchor="ctr" marL="146304" marR="146304">
                    <a:solidFill>
                      <a:srgbClr val="F4F7FA"/>
                    </a:solidFill>
                  </a:tcPr>
                </a:tc>
              </a:tr>
              <a:tr h="543560">
                <a:tc>
                  <a:txBody>
                    <a:bodyPr wrap="square"/>
                    <a:lstStyle/>
                    <a:p>
                      <a:r>
                        <a:rPr sz="1465" b="1">
                          <a:solidFill>
                            <a:srgbClr val="33475B"/>
                          </a:solidFill>
                          <a:latin typeface="Aptos"/>
                        </a:rPr>
                        <a:t>De formulario</a:t>
                      </a:r>
                    </a:p>
                  </a:txBody>
                  <a:tcPr anchor="ctr" marL="146304" marR="146304">
                    <a:solidFill>
                      <a:srgbClr val="FFFFFF"/>
                    </a:solidFill>
                  </a:tcPr>
                </a:tc>
                <a:tc>
                  <a:txBody>
                    <a:bodyPr wrap="square"/>
                    <a:lstStyle/>
                    <a:p>
                      <a:r>
                        <a:rPr sz="1465" b="0">
                          <a:solidFill>
                            <a:srgbClr val="33475B"/>
                          </a:solidFill>
                          <a:latin typeface="Aptos"/>
                        </a:rPr>
                        <a:t>Borrador de una visita</a:t>
                      </a:r>
                    </a:p>
                  </a:txBody>
                  <a:tcPr anchor="ctr" marL="146304" marR="146304">
                    <a:solidFill>
                      <a:srgbClr val="FFFFFF"/>
                    </a:solidFill>
                  </a:tcPr>
                </a:tc>
                <a:tc>
                  <a:txBody>
                    <a:bodyPr wrap="square"/>
                    <a:lstStyle/>
                    <a:p>
                      <a:r>
                        <a:rPr sz="1465" b="0">
                          <a:solidFill>
                            <a:srgbClr val="33475B"/>
                          </a:solidFill>
                          <a:latin typeface="Aptos"/>
                        </a:rPr>
                        <a:t>El </a:t>
                      </a:r>
                      <a:r>
                        <a:rPr sz="1377" b="0">
                          <a:solidFill>
                            <a:srgbClr val="156082"/>
                          </a:solidFill>
                          <a:latin typeface="Consolas"/>
                        </a:rPr>
                        <a:t>FormGroup</a:t>
                      </a:r>
                    </a:p>
                  </a:txBody>
                  <a:tcPr anchor="ctr" marL="146304" marR="146304">
                    <a:solidFill>
                      <a:srgbClr val="FFFFFF"/>
                    </a:solidFill>
                  </a:tcPr>
                </a:tc>
                <a:tc>
                  <a:txBody>
                    <a:bodyPr wrap="square"/>
                    <a:lstStyle/>
                    <a:p>
                      <a:r>
                        <a:rPr sz="1465" b="0">
                          <a:solidFill>
                            <a:srgbClr val="33475B"/>
                          </a:solidFill>
                          <a:latin typeface="Aptos"/>
                        </a:rPr>
                        <a:t>Hasta confirmar o descartar</a:t>
                      </a:r>
                    </a:p>
                  </a:txBody>
                  <a:tcPr anchor="ctr" marL="146304" marR="146304">
                    <a:solidFill>
                      <a:srgbClr val="FFFFFF"/>
                    </a:solidFill>
                  </a:tcPr>
                </a:tc>
              </a:tr>
              <a:tr h="543560">
                <a:tc>
                  <a:txBody>
                    <a:bodyPr wrap="square"/>
                    <a:lstStyle/>
                    <a:p>
                      <a:r>
                        <a:rPr sz="1465" b="1">
                          <a:solidFill>
                            <a:srgbClr val="33475B"/>
                          </a:solidFill>
                          <a:latin typeface="Aptos"/>
                        </a:rPr>
                        <a:t>De sesión y dispositivo</a:t>
                      </a:r>
                    </a:p>
                  </a:txBody>
                  <a:tcPr anchor="ctr" marL="146304" marR="146304">
                    <a:solidFill>
                      <a:srgbClr val="F4F7FA"/>
                    </a:solidFill>
                  </a:tcPr>
                </a:tc>
                <a:tc>
                  <a:txBody>
                    <a:bodyPr wrap="square"/>
                    <a:lstStyle/>
                    <a:p>
                      <a:r>
                        <a:rPr sz="1465" b="0">
                          <a:solidFill>
                            <a:srgbClr val="33475B"/>
                          </a:solidFill>
                          <a:latin typeface="Aptos"/>
                        </a:rPr>
                        <a:t>Usuario, conectividad</a:t>
                      </a:r>
                    </a:p>
                  </a:txBody>
                  <a:tcPr anchor="ctr" marL="146304" marR="146304">
                    <a:solidFill>
                      <a:srgbClr val="F4F7FA"/>
                    </a:solidFill>
                  </a:tcPr>
                </a:tc>
                <a:tc>
                  <a:txBody>
                    <a:bodyPr wrap="square"/>
                    <a:lstStyle/>
                    <a:p>
                      <a:r>
                        <a:rPr sz="1465" b="0">
                          <a:solidFill>
                            <a:srgbClr val="33475B"/>
                          </a:solidFill>
                          <a:latin typeface="Aptos"/>
                        </a:rPr>
                        <a:t>Servicio raíz en </a:t>
                      </a:r>
                      <a:r>
                        <a:rPr sz="1377" b="0">
                          <a:solidFill>
                            <a:srgbClr val="156082"/>
                          </a:solidFill>
                          <a:latin typeface="Consolas"/>
                        </a:rPr>
                        <a:t>core/</a:t>
                      </a:r>
                    </a:p>
                  </a:txBody>
                  <a:tcPr anchor="ctr" marL="146304" marR="146304">
                    <a:solidFill>
                      <a:srgbClr val="F4F7FA"/>
                    </a:solidFill>
                  </a:tcPr>
                </a:tc>
                <a:tc>
                  <a:txBody>
                    <a:bodyPr wrap="square"/>
                    <a:lstStyle/>
                    <a:p>
                      <a:r>
                        <a:rPr sz="1465" b="0">
                          <a:solidFill>
                            <a:srgbClr val="33475B"/>
                          </a:solidFill>
                          <a:latin typeface="Aptos"/>
                        </a:rPr>
                        <a:t>Toda la ejecución</a:t>
                      </a:r>
                    </a:p>
                  </a:txBody>
                  <a:tcPr anchor="ctr" marL="146304" marR="146304">
                    <a:solidFill>
                      <a:srgbClr val="F4F7FA"/>
                    </a:solidFill>
                  </a:tcPr>
                </a:tc>
              </a:tr>
              <a:tr h="543560">
                <a:tc>
                  <a:txBody>
                    <a:bodyPr wrap="square"/>
                    <a:lstStyle/>
                    <a:p>
                      <a:r>
                        <a:rPr sz="1465" b="1">
                          <a:solidFill>
                            <a:srgbClr val="33475B"/>
                          </a:solidFill>
                          <a:latin typeface="Aptos"/>
                        </a:rPr>
                        <a:t>Del servidor (copia local)</a:t>
                      </a:r>
                    </a:p>
                  </a:txBody>
                  <a:tcPr anchor="ctr" marL="146304" marR="146304">
                    <a:solidFill>
                      <a:srgbClr val="FFFFFF"/>
                    </a:solidFill>
                  </a:tcPr>
                </a:tc>
                <a:tc>
                  <a:txBody>
                    <a:bodyPr wrap="square"/>
                    <a:lstStyle/>
                    <a:p>
                      <a:r>
                        <a:rPr sz="1465" b="0">
                          <a:solidFill>
                            <a:srgbClr val="33475B"/>
                          </a:solidFill>
                          <a:latin typeface="Aptos"/>
                        </a:rPr>
                        <a:t>Visitas en caché</a:t>
                      </a:r>
                    </a:p>
                  </a:txBody>
                  <a:tcPr anchor="ctr" marL="146304" marR="146304">
                    <a:solidFill>
                      <a:srgbClr val="FFFFFF"/>
                    </a:solidFill>
                  </a:tcPr>
                </a:tc>
                <a:tc>
                  <a:txBody>
                    <a:bodyPr wrap="square"/>
                    <a:lstStyle/>
                    <a:p>
                      <a:r>
                        <a:rPr sz="1465" b="0">
                          <a:solidFill>
                            <a:srgbClr val="33475B"/>
                          </a:solidFill>
                          <a:latin typeface="Aptos"/>
                        </a:rPr>
                        <a:t>El repositorio</a:t>
                      </a:r>
                    </a:p>
                  </a:txBody>
                  <a:tcPr anchor="ctr" marL="146304" marR="146304">
                    <a:solidFill>
                      <a:srgbClr val="FFFFFF"/>
                    </a:solidFill>
                  </a:tcPr>
                </a:tc>
                <a:tc>
                  <a:txBody>
                    <a:bodyPr wrap="square"/>
                    <a:lstStyle/>
                    <a:p>
                      <a:r>
                        <a:rPr sz="1465" b="0">
                          <a:solidFill>
                            <a:srgbClr val="33475B"/>
                          </a:solidFill>
                          <a:latin typeface="Aptos"/>
                        </a:rPr>
                        <a:t>Persistente, con vigencia</a:t>
                      </a:r>
                    </a:p>
                  </a:txBody>
                  <a:tcPr anchor="ctr" marL="146304" marR="146304">
                    <a:solidFill>
                      <a:srgbClr val="FFFFFF"/>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48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Dónde se provee fija cuánto vive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63500" cy="689443"/>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572768"/>
            <a:ext cx="11064240" cy="835747"/>
          </a:xfrm>
          <a:prstGeom prst="rect">
            <a:avLst/>
          </a:prstGeom>
          <a:noFill/>
        </p:spPr>
        <p:txBody>
          <a:bodyPr wrap="square" anchor="ctr" lIns="0" rIns="0" tIns="0" bIns="0">
            <a:spAutoFit/>
          </a:bodyPr>
          <a:lstStyle/>
          <a:p>
            <a:pPr algn="ctr"/>
            <a:r>
              <a:rPr sz="1742" b="1">
                <a:solidFill>
                  <a:srgbClr val="156082"/>
                </a:solidFill>
                <a:latin typeface="Consolas"/>
              </a:rPr>
              <a:t>providedIn: 'root'</a:t>
            </a:r>
            <a:r>
              <a:rPr sz="1853" b="1">
                <a:solidFill>
                  <a:srgbClr val="0E2841"/>
                </a:solidFill>
                <a:latin typeface="Aptos Display"/>
              </a:rPr>
              <a:t>  ·  toda la ejecución: sesión, conectividad</a:t>
            </a:r>
          </a:p>
        </p:txBody>
      </p:sp>
      <p:sp>
        <p:nvSpPr>
          <p:cNvPr id="10" name="Rounded Rectangle 9"/>
          <p:cNvSpPr/>
          <p:nvPr/>
        </p:nvSpPr>
        <p:spPr>
          <a:xfrm>
            <a:off x="1069848" y="2591972"/>
            <a:ext cx="1005840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9848" y="2665124"/>
            <a:ext cx="63500" cy="689443"/>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2591972"/>
            <a:ext cx="10058400" cy="835747"/>
          </a:xfrm>
          <a:prstGeom prst="rect">
            <a:avLst/>
          </a:prstGeom>
          <a:noFill/>
        </p:spPr>
        <p:txBody>
          <a:bodyPr wrap="square" anchor="ctr" lIns="0" rIns="0" tIns="0" bIns="0">
            <a:spAutoFit/>
          </a:bodyPr>
          <a:lstStyle/>
          <a:p>
            <a:pPr algn="ctr"/>
            <a:r>
              <a:rPr sz="1742" b="1">
                <a:solidFill>
                  <a:srgbClr val="156082"/>
                </a:solidFill>
                <a:latin typeface="Consolas"/>
              </a:rPr>
              <a:t>providers</a:t>
            </a:r>
            <a:r>
              <a:rPr sz="1853" b="1">
                <a:solidFill>
                  <a:srgbClr val="0E2841"/>
                </a:solidFill>
                <a:latin typeface="Aptos Display"/>
              </a:rPr>
              <a:t> de una ruta  ·  se crean al entrar y se conservan: repositorios, casos de uso</a:t>
            </a:r>
          </a:p>
        </p:txBody>
      </p:sp>
      <p:sp>
        <p:nvSpPr>
          <p:cNvPr id="13" name="Rounded Rectangle 12"/>
          <p:cNvSpPr/>
          <p:nvPr/>
        </p:nvSpPr>
        <p:spPr>
          <a:xfrm>
            <a:off x="1572768" y="3611176"/>
            <a:ext cx="905256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72768" y="3684328"/>
            <a:ext cx="63500" cy="68944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72768" y="3611176"/>
            <a:ext cx="9052560" cy="835747"/>
          </a:xfrm>
          <a:prstGeom prst="rect">
            <a:avLst/>
          </a:prstGeom>
          <a:noFill/>
        </p:spPr>
        <p:txBody>
          <a:bodyPr wrap="square" anchor="ctr" lIns="0" rIns="0" tIns="0" bIns="0">
            <a:spAutoFit/>
          </a:bodyPr>
          <a:lstStyle/>
          <a:p>
            <a:pPr algn="ctr"/>
            <a:r>
              <a:rPr sz="1742" b="1">
                <a:solidFill>
                  <a:srgbClr val="156082"/>
                </a:solidFill>
                <a:latin typeface="Consolas"/>
              </a:rPr>
              <a:t>providers</a:t>
            </a:r>
            <a:r>
              <a:rPr sz="1853" b="1">
                <a:solidFill>
                  <a:srgbClr val="0E2841"/>
                </a:solidFill>
                <a:latin typeface="Aptos Display"/>
              </a:rPr>
              <a:t> del componente  ·  lo que viva la página: su ViewModel</a:t>
            </a:r>
          </a:p>
        </p:txBody>
      </p:sp>
      <p:sp>
        <p:nvSpPr>
          <p:cNvPr id="16" name="Rounded Rectangle 15"/>
          <p:cNvSpPr/>
          <p:nvPr/>
        </p:nvSpPr>
        <p:spPr>
          <a:xfrm>
            <a:off x="566928" y="4831548"/>
            <a:ext cx="11064240" cy="149609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886412"/>
            <a:ext cx="63500" cy="138637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31548"/>
            <a:ext cx="10378440" cy="1496099"/>
          </a:xfrm>
          <a:prstGeom prst="rect">
            <a:avLst/>
          </a:prstGeom>
          <a:noFill/>
        </p:spPr>
        <p:txBody>
          <a:bodyPr wrap="square" anchor="ctr" lIns="0" rIns="0" tIns="0" bIns="0">
            <a:spAutoFit/>
          </a:bodyPr>
          <a:lstStyle/>
          <a:p>
            <a:pPr algn="l">
              <a:lnSpc>
                <a:spcPct val="125000"/>
              </a:lnSpc>
            </a:pPr>
            <a:r>
              <a:rPr sz="2471" b="1">
                <a:solidFill>
                  <a:srgbClr val="0E2841"/>
                </a:solidFill>
                <a:latin typeface="Aptos Display"/>
              </a:rPr>
              <a:t>La inyección también hace cumplir las capas: el dominio declara un contrato y la raíz de composición decide quién lo cumple.</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dominio declara, la raíz compone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532888"/>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34" b="1">
                <a:solidFill>
                  <a:srgbClr val="E97132"/>
                </a:solidFill>
                <a:latin typeface="Aptos"/>
              </a:rPr>
              <a:t>DOMINIO · TYPESCRIPT PURO, SIN ANGULAR</a:t>
            </a:r>
          </a:p>
        </p:txBody>
      </p:sp>
      <p:sp>
        <p:nvSpPr>
          <p:cNvPr id="10" name="TextBox 9"/>
          <p:cNvSpPr txBox="1"/>
          <p:nvPr/>
        </p:nvSpPr>
        <p:spPr>
          <a:xfrm>
            <a:off x="877824" y="2139696"/>
            <a:ext cx="10515600" cy="1801368"/>
          </a:xfrm>
          <a:prstGeom prst="rect">
            <a:avLst/>
          </a:prstGeom>
          <a:noFill/>
        </p:spPr>
        <p:txBody>
          <a:bodyPr wrap="none" lIns="0" tIns="0">
            <a:spAutoFit/>
          </a:bodyPr>
          <a:lstStyle/>
          <a:p>
            <a:pPr>
              <a:lnSpc>
                <a:spcPct val="125000"/>
              </a:lnSpc>
            </a:pPr>
            <a:r>
              <a:rPr sz="1556">
                <a:solidFill>
                  <a:srgbClr val="E8E8E8"/>
                </a:solidFill>
                <a:latin typeface="Consolas"/>
              </a:rPr>
              <a:t>export abstract class VisitasRepository {       // abstracta: una interface no es token de DI</a:t>
            </a:r>
          </a:p>
          <a:p>
            <a:pPr>
              <a:lnSpc>
                <a:spcPct val="125000"/>
              </a:lnSpc>
            </a:pPr>
            <a:r>
              <a:rPr sz="1556">
                <a:solidFill>
                  <a:srgbClr val="E8E8E8"/>
                </a:solidFill>
                <a:latin typeface="Consolas"/>
              </a:rPr>
              <a:t>  abstract listar(): Observable&lt;Listado&lt;Visita&gt;&gt;;</a:t>
            </a:r>
          </a:p>
          <a:p>
            <a:pPr>
              <a:lnSpc>
                <a:spcPct val="125000"/>
              </a:lnSpc>
            </a:pPr>
            <a:r>
              <a:rPr sz="1556">
                <a:solidFill>
                  <a:srgbClr val="E8E8E8"/>
                </a:solidFill>
                <a:latin typeface="Consolas"/>
              </a:rPr>
              <a:t>  abstract registrar(borrador: BorradorVisita): Observable&lt;Visita&gt;; }</a:t>
            </a:r>
          </a:p>
          <a:p>
            <a:pPr>
              <a:lnSpc>
                <a:spcPct val="125000"/>
              </a:lnSpc>
            </a:pPr>
            <a:r>
              <a:rPr sz="1556">
                <a:solidFill>
                  <a:srgbClr val="E8E8E8"/>
                </a:solidFill>
                <a:latin typeface="Consolas"/>
              </a:rPr>
              <a:t>export class ListarVisitas {                    // caso de uso: una acción de negocio</a:t>
            </a:r>
          </a:p>
          <a:p>
            <a:pPr>
              <a:lnSpc>
                <a:spcPct val="125000"/>
              </a:lnSpc>
            </a:pPr>
            <a:r>
              <a:rPr sz="1556">
                <a:solidFill>
                  <a:srgbClr val="E8E8E8"/>
                </a:solidFill>
                <a:latin typeface="Consolas"/>
              </a:rPr>
              <a:t>  constructor(private readonly repo: VisitasRepository) {}</a:t>
            </a:r>
          </a:p>
          <a:p>
            <a:pPr>
              <a:lnSpc>
                <a:spcPct val="125000"/>
              </a:lnSpc>
            </a:pPr>
            <a:r>
              <a:rPr sz="1556">
                <a:solidFill>
                  <a:srgbClr val="E8E8E8"/>
                </a:solidFill>
                <a:latin typeface="Consolas"/>
              </a:rPr>
              <a:t>  ejecutar() { return this.repo.listar().pipe(map(ordenarPorFechaDesc)); } }</a:t>
            </a:r>
          </a:p>
        </p:txBody>
      </p:sp>
      <p:sp>
        <p:nvSpPr>
          <p:cNvPr id="11" name="Rounded Rectangle 10"/>
          <p:cNvSpPr/>
          <p:nvPr/>
        </p:nvSpPr>
        <p:spPr>
          <a:xfrm>
            <a:off x="566928" y="4306824"/>
            <a:ext cx="11064240" cy="202082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526280"/>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489704"/>
            <a:ext cx="7315200" cy="237744"/>
          </a:xfrm>
          <a:prstGeom prst="rect">
            <a:avLst/>
          </a:prstGeom>
          <a:noFill/>
        </p:spPr>
        <p:txBody>
          <a:bodyPr wrap="square" anchor="t" lIns="0" rIns="0" tIns="0" bIns="0">
            <a:spAutoFit/>
          </a:bodyPr>
          <a:lstStyle/>
          <a:p>
            <a:pPr algn="l"/>
            <a:r>
              <a:rPr sz="1234" b="1">
                <a:solidFill>
                  <a:srgbClr val="E97132"/>
                </a:solidFill>
                <a:latin typeface="Aptos"/>
              </a:rPr>
              <a:t>CORE/DI · RAÍZ DE COMPOSICIÓN: EL ÚNICO LUGAR QUE ELIGE IMPLEMENTACIÓN</a:t>
            </a:r>
          </a:p>
        </p:txBody>
      </p:sp>
      <p:sp>
        <p:nvSpPr>
          <p:cNvPr id="14" name="TextBox 13"/>
          <p:cNvSpPr txBox="1"/>
          <p:nvPr/>
        </p:nvSpPr>
        <p:spPr>
          <a:xfrm>
            <a:off x="877824" y="4873752"/>
            <a:ext cx="10515600" cy="1289304"/>
          </a:xfrm>
          <a:prstGeom prst="rect">
            <a:avLst/>
          </a:prstGeom>
          <a:noFill/>
        </p:spPr>
        <p:txBody>
          <a:bodyPr wrap="none" lIns="0" tIns="0">
            <a:spAutoFit/>
          </a:bodyPr>
          <a:lstStyle/>
          <a:p>
            <a:pPr>
              <a:lnSpc>
                <a:spcPct val="125000"/>
              </a:lnSpc>
            </a:pPr>
            <a:r>
              <a:rPr sz="1556">
                <a:solidFill>
                  <a:srgbClr val="E8E8E8"/>
                </a:solidFill>
                <a:latin typeface="Consolas"/>
              </a:rPr>
              <a:t>export const visitasProviders: Provider[] = [</a:t>
            </a:r>
          </a:p>
          <a:p>
            <a:pPr>
              <a:lnSpc>
                <a:spcPct val="125000"/>
              </a:lnSpc>
            </a:pPr>
            <a:r>
              <a:rPr sz="1556">
                <a:solidFill>
                  <a:srgbClr val="E8E8E8"/>
                </a:solidFill>
                <a:latin typeface="Consolas"/>
              </a:rPr>
              <a:t>  { provide: VisitasRepository, useClass: VisitasConCacheRepository },</a:t>
            </a:r>
          </a:p>
          <a:p>
            <a:pPr>
              <a:lnSpc>
                <a:spcPct val="125000"/>
              </a:lnSpc>
            </a:pPr>
            <a:r>
              <a:rPr sz="1556">
                <a:solidFill>
                  <a:srgbClr val="E8E8E8"/>
                </a:solidFill>
                <a:latin typeface="Consolas"/>
              </a:rPr>
              <a:t>  { provide: ListarVisitas,</a:t>
            </a:r>
          </a:p>
          <a:p>
            <a:pPr>
              <a:lnSpc>
                <a:spcPct val="125000"/>
              </a:lnSpc>
            </a:pPr>
            <a:r>
              <a:rPr sz="1556">
                <a:solidFill>
                  <a:srgbClr val="E8E8E8"/>
                </a:solidFill>
                <a:latin typeface="Consolas"/>
              </a:rPr>
              <a:t>    useFactory: () =&gt; new ListarVisitas(inject(VisitasRepository)) } ];</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48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RxJS y signals: cada uno su papel</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2531870"/>
        </p:xfrm>
        <a:graphic>
          <a:graphicData uri="http://schemas.openxmlformats.org/drawingml/2006/table">
            <a:tbl>
              <a:tblPr firstRow="1">
                <a:tableStyleId>{5C22544A-7EE6-4342-B048-85BDC9FD1C3A}</a:tableStyleId>
              </a:tblPr>
              <a:tblGrid>
                <a:gridCol w="3688080"/>
                <a:gridCol w="3688080"/>
                <a:gridCol w="3688080"/>
              </a:tblGrid>
              <a:tr h="506374">
                <a:tc>
                  <a:txBody>
                    <a:bodyPr wrap="square"/>
                    <a:lstStyle/>
                    <a:p>
                      <a:r>
                        <a:rPr sz="1537" b="1">
                          <a:solidFill>
                            <a:srgbClr val="FFFFFF"/>
                          </a:solidFill>
                          <a:latin typeface="Aptos"/>
                        </a:rPr>
                        <a:t>Fuente RxJS</a:t>
                      </a:r>
                    </a:p>
                  </a:txBody>
                  <a:tcPr anchor="ctr" marL="146304" marR="146304">
                    <a:solidFill>
                      <a:srgbClr val="156082"/>
                    </a:solidFill>
                  </a:tcPr>
                </a:tc>
                <a:tc>
                  <a:txBody>
                    <a:bodyPr wrap="square"/>
                    <a:lstStyle/>
                    <a:p>
                      <a:r>
                        <a:rPr sz="1537" b="1">
                          <a:solidFill>
                            <a:srgbClr val="FFFFFF"/>
                          </a:solidFill>
                          <a:latin typeface="Aptos"/>
                        </a:rPr>
                        <a:t>Qué entrega</a:t>
                      </a:r>
                    </a:p>
                  </a:txBody>
                  <a:tcPr anchor="ctr" marL="146304" marR="146304">
                    <a:solidFill>
                      <a:srgbClr val="156082"/>
                    </a:solidFill>
                  </a:tcPr>
                </a:tc>
                <a:tc>
                  <a:txBody>
                    <a:bodyPr wrap="square"/>
                    <a:lstStyle/>
                    <a:p>
                      <a:r>
                        <a:rPr sz="1537" b="1">
                          <a:solidFill>
                            <a:srgbClr val="FFFFFF"/>
                          </a:solidFill>
                          <a:latin typeface="Aptos"/>
                        </a:rPr>
                        <a:t>Uso típico</a:t>
                      </a:r>
                    </a:p>
                  </a:txBody>
                  <a:tcPr anchor="ctr" marL="146304" marR="146304">
                    <a:solidFill>
                      <a:srgbClr val="156082"/>
                    </a:solidFill>
                  </a:tcPr>
                </a:tc>
              </a:tr>
              <a:tr h="506374">
                <a:tc>
                  <a:txBody>
                    <a:bodyPr wrap="square"/>
                    <a:lstStyle/>
                    <a:p>
                      <a:r>
                        <a:rPr sz="1348" b="1">
                          <a:solidFill>
                            <a:srgbClr val="156082"/>
                          </a:solidFill>
                          <a:latin typeface="Consolas"/>
                        </a:rPr>
                        <a:t>Observable</a:t>
                      </a:r>
                      <a:r>
                        <a:rPr sz="1434" b="1">
                          <a:solidFill>
                            <a:srgbClr val="33475B"/>
                          </a:solidFill>
                          <a:latin typeface="Aptos"/>
                        </a:rPr>
                        <a:t> frío</a:t>
                      </a:r>
                    </a:p>
                  </a:txBody>
                  <a:tcPr anchor="ctr" marL="146304" marR="146304">
                    <a:solidFill>
                      <a:srgbClr val="FFFFFF"/>
                    </a:solidFill>
                  </a:tcPr>
                </a:tc>
                <a:tc>
                  <a:txBody>
                    <a:bodyPr wrap="square"/>
                    <a:lstStyle/>
                    <a:p>
                      <a:r>
                        <a:rPr sz="1434" b="0">
                          <a:solidFill>
                            <a:srgbClr val="33475B"/>
                          </a:solidFill>
                          <a:latin typeface="Aptos"/>
                        </a:rPr>
                        <a:t>Ejecuta de nuevo para cada suscriptor</a:t>
                      </a:r>
                    </a:p>
                  </a:txBody>
                  <a:tcPr anchor="ctr" marL="146304" marR="146304">
                    <a:solidFill>
                      <a:srgbClr val="FFFFFF"/>
                    </a:solidFill>
                  </a:tcPr>
                </a:tc>
                <a:tc>
                  <a:txBody>
                    <a:bodyPr wrap="square"/>
                    <a:lstStyle/>
                    <a:p>
                      <a:r>
                        <a:rPr sz="1434" b="0">
                          <a:solidFill>
                            <a:srgbClr val="33475B"/>
                          </a:solidFill>
                          <a:latin typeface="Aptos"/>
                        </a:rPr>
                        <a:t>Una petición HTTP</a:t>
                      </a:r>
                    </a:p>
                  </a:txBody>
                  <a:tcPr anchor="ctr" marL="146304" marR="146304">
                    <a:solidFill>
                      <a:srgbClr val="FFFFFF"/>
                    </a:solidFill>
                  </a:tcPr>
                </a:tc>
              </a:tr>
              <a:tr h="506374">
                <a:tc>
                  <a:txBody>
                    <a:bodyPr wrap="square"/>
                    <a:lstStyle/>
                    <a:p>
                      <a:r>
                        <a:rPr sz="1348" b="1">
                          <a:solidFill>
                            <a:srgbClr val="156082"/>
                          </a:solidFill>
                          <a:latin typeface="Consolas"/>
                        </a:rPr>
                        <a:t>Subject</a:t>
                      </a:r>
                    </a:p>
                  </a:txBody>
                  <a:tcPr anchor="ctr" marL="146304" marR="146304">
                    <a:solidFill>
                      <a:srgbClr val="F4F7FA"/>
                    </a:solidFill>
                  </a:tcPr>
                </a:tc>
                <a:tc>
                  <a:txBody>
                    <a:bodyPr wrap="square"/>
                    <a:lstStyle/>
                    <a:p>
                      <a:r>
                        <a:rPr sz="1434" b="0">
                          <a:solidFill>
                            <a:srgbClr val="33475B"/>
                          </a:solidFill>
                          <a:latin typeface="Aptos"/>
                        </a:rPr>
                        <a:t>Sin valor: lo que se emita después</a:t>
                      </a:r>
                    </a:p>
                  </a:txBody>
                  <a:tcPr anchor="ctr" marL="146304" marR="146304">
                    <a:solidFill>
                      <a:srgbClr val="F4F7FA"/>
                    </a:solidFill>
                  </a:tcPr>
                </a:tc>
                <a:tc>
                  <a:txBody>
                    <a:bodyPr wrap="square"/>
                    <a:lstStyle/>
                    <a:p>
                      <a:r>
                        <a:rPr sz="1434" b="0">
                          <a:solidFill>
                            <a:srgbClr val="33475B"/>
                          </a:solidFill>
                          <a:latin typeface="Aptos"/>
                        </a:rPr>
                        <a:t>Intenciones: </a:t>
                      </a:r>
                      <a:r>
                        <a:rPr sz="1348" b="0">
                          <a:solidFill>
                            <a:srgbClr val="156082"/>
                          </a:solidFill>
                          <a:latin typeface="Consolas"/>
                        </a:rPr>
                        <a:t>recargar$</a:t>
                      </a:r>
                    </a:p>
                  </a:txBody>
                  <a:tcPr anchor="ctr" marL="146304" marR="146304">
                    <a:solidFill>
                      <a:srgbClr val="F4F7FA"/>
                    </a:solidFill>
                  </a:tcPr>
                </a:tc>
              </a:tr>
              <a:tr h="506374">
                <a:tc>
                  <a:txBody>
                    <a:bodyPr wrap="square"/>
                    <a:lstStyle/>
                    <a:p>
                      <a:r>
                        <a:rPr sz="1348" b="1">
                          <a:solidFill>
                            <a:srgbClr val="156082"/>
                          </a:solidFill>
                          <a:latin typeface="Consolas"/>
                        </a:rPr>
                        <a:t>BehaviorSubject</a:t>
                      </a:r>
                    </a:p>
                  </a:txBody>
                  <a:tcPr anchor="ctr" marL="146304" marR="146304">
                    <a:solidFill>
                      <a:srgbClr val="FFFFFF"/>
                    </a:solidFill>
                  </a:tcPr>
                </a:tc>
                <a:tc>
                  <a:txBody>
                    <a:bodyPr wrap="square"/>
                    <a:lstStyle/>
                    <a:p>
                      <a:r>
                        <a:rPr sz="1434" b="0">
                          <a:solidFill>
                            <a:srgbClr val="33475B"/>
                          </a:solidFill>
                          <a:latin typeface="Aptos"/>
                        </a:rPr>
                        <a:t>El valor actual al que llega tarde</a:t>
                      </a:r>
                    </a:p>
                  </a:txBody>
                  <a:tcPr anchor="ctr" marL="146304" marR="146304">
                    <a:solidFill>
                      <a:srgbClr val="FFFFFF"/>
                    </a:solidFill>
                  </a:tcPr>
                </a:tc>
                <a:tc>
                  <a:txBody>
                    <a:bodyPr wrap="square"/>
                    <a:lstStyle/>
                    <a:p>
                      <a:r>
                        <a:rPr sz="1434" b="0">
                          <a:solidFill>
                            <a:srgbClr val="33475B"/>
                          </a:solidFill>
                          <a:latin typeface="Aptos"/>
                        </a:rPr>
                        <a:t>Conectividad, tema</a:t>
                      </a:r>
                    </a:p>
                  </a:txBody>
                  <a:tcPr anchor="ctr" marL="146304" marR="146304">
                    <a:solidFill>
                      <a:srgbClr val="FFFFFF"/>
                    </a:solidFill>
                  </a:tcPr>
                </a:tc>
              </a:tr>
              <a:tr h="506374">
                <a:tc>
                  <a:txBody>
                    <a:bodyPr wrap="square"/>
                    <a:lstStyle/>
                    <a:p>
                      <a:r>
                        <a:rPr sz="1348" b="1">
                          <a:solidFill>
                            <a:srgbClr val="156082"/>
                          </a:solidFill>
                          <a:latin typeface="Consolas"/>
                        </a:rPr>
                        <a:t>ReplaySubject(n)</a:t>
                      </a:r>
                    </a:p>
                  </a:txBody>
                  <a:tcPr anchor="ctr" marL="146304" marR="146304">
                    <a:solidFill>
                      <a:srgbClr val="F4F7FA"/>
                    </a:solidFill>
                  </a:tcPr>
                </a:tc>
                <a:tc>
                  <a:txBody>
                    <a:bodyPr wrap="square"/>
                    <a:lstStyle/>
                    <a:p>
                      <a:r>
                        <a:rPr sz="1434" b="0">
                          <a:solidFill>
                            <a:srgbClr val="33475B"/>
                          </a:solidFill>
                          <a:latin typeface="Aptos"/>
                        </a:rPr>
                        <a:t>Repite los últimos n valores</a:t>
                      </a:r>
                    </a:p>
                  </a:txBody>
                  <a:tcPr anchor="ctr" marL="146304" marR="146304">
                    <a:solidFill>
                      <a:srgbClr val="F4F7FA"/>
                    </a:solidFill>
                  </a:tcPr>
                </a:tc>
                <a:tc>
                  <a:txBody>
                    <a:bodyPr wrap="square"/>
                    <a:lstStyle/>
                    <a:p>
                      <a:r>
                        <a:rPr sz="1434" b="0">
                          <a:solidFill>
                            <a:srgbClr val="33475B"/>
                          </a:solidFill>
                          <a:latin typeface="Aptos"/>
                        </a:rPr>
                        <a:t>Lo reciente, a quien llega</a:t>
                      </a:r>
                    </a:p>
                  </a:txBody>
                  <a:tcPr anchor="ctr" marL="146304" marR="146304">
                    <a:solidFill>
                      <a:srgbClr val="F4F7FA"/>
                    </a:solidFill>
                  </a:tcPr>
                </a:tc>
              </a:tr>
            </a:tbl>
          </a:graphicData>
        </a:graphic>
      </p:graphicFrame>
      <p:sp>
        <p:nvSpPr>
          <p:cNvPr id="8" name="Rounded Rectangle 7"/>
          <p:cNvSpPr/>
          <p:nvPr/>
        </p:nvSpPr>
        <p:spPr>
          <a:xfrm>
            <a:off x="566928" y="4305808"/>
            <a:ext cx="2532888" cy="20218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456184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4817872"/>
            <a:ext cx="2130552" cy="1308608"/>
          </a:xfrm>
          <a:prstGeom prst="rect">
            <a:avLst/>
          </a:prstGeom>
          <a:noFill/>
        </p:spPr>
        <p:txBody>
          <a:bodyPr wrap="square" anchor="t" lIns="0" rIns="0" tIns="0" bIns="0">
            <a:spAutoFit/>
          </a:bodyPr>
          <a:lstStyle/>
          <a:p>
            <a:pPr algn="l"/>
            <a:r>
              <a:rPr sz="1742" b="1">
                <a:solidFill>
                  <a:srgbClr val="0E2841"/>
                </a:solidFill>
                <a:latin typeface="Aptos Display"/>
              </a:rPr>
              <a:t>signal</a:t>
            </a:r>
          </a:p>
          <a:p>
            <a:pPr algn="l">
              <a:lnSpc>
                <a:spcPct val="120000"/>
              </a:lnSpc>
              <a:spcBef>
                <a:spcPts val="700"/>
              </a:spcBef>
            </a:pPr>
            <a:r>
              <a:rPr sz="1252" b="0">
                <a:solidFill>
                  <a:srgbClr val="156082"/>
                </a:solidFill>
                <a:latin typeface="Consolas"/>
              </a:rPr>
              <a:t>signal</a:t>
            </a:r>
            <a:r>
              <a:rPr sz="1332" b="0">
                <a:solidFill>
                  <a:srgbClr val="33475B"/>
                </a:solidFill>
                <a:latin typeface="Aptos"/>
              </a:rPr>
              <a:t> y </a:t>
            </a:r>
            <a:r>
              <a:rPr sz="1252" b="0">
                <a:solidFill>
                  <a:srgbClr val="156082"/>
                </a:solidFill>
                <a:latin typeface="Consolas"/>
              </a:rPr>
              <a:t>computed</a:t>
            </a:r>
            <a:r>
              <a:rPr sz="1332" b="0">
                <a:solidFill>
                  <a:srgbClr val="33475B"/>
                </a:solidFill>
                <a:latin typeface="Aptos"/>
              </a:rPr>
              <a:t>: lo que la plantilla lee AHORA; sin Zone.js</a:t>
            </a:r>
          </a:p>
        </p:txBody>
      </p:sp>
      <p:sp>
        <p:nvSpPr>
          <p:cNvPr id="11" name="Rounded Rectangle 10"/>
          <p:cNvSpPr/>
          <p:nvPr/>
        </p:nvSpPr>
        <p:spPr>
          <a:xfrm>
            <a:off x="3410712" y="4305808"/>
            <a:ext cx="2532888" cy="20218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11880" y="456184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4817872"/>
            <a:ext cx="2130552" cy="1308608"/>
          </a:xfrm>
          <a:prstGeom prst="rect">
            <a:avLst/>
          </a:prstGeom>
          <a:noFill/>
        </p:spPr>
        <p:txBody>
          <a:bodyPr wrap="square" anchor="t" lIns="0" rIns="0" tIns="0" bIns="0">
            <a:spAutoFit/>
          </a:bodyPr>
          <a:lstStyle/>
          <a:p>
            <a:pPr algn="l"/>
            <a:r>
              <a:rPr sz="1742" b="1">
                <a:solidFill>
                  <a:srgbClr val="0E2841"/>
                </a:solidFill>
                <a:latin typeface="Aptos Display"/>
              </a:rPr>
              <a:t>RxJS</a:t>
            </a:r>
          </a:p>
          <a:p>
            <a:pPr algn="l">
              <a:lnSpc>
                <a:spcPct val="120000"/>
              </a:lnSpc>
              <a:spcBef>
                <a:spcPts val="700"/>
              </a:spcBef>
            </a:pPr>
            <a:r>
              <a:rPr sz="1332" b="0">
                <a:solidFill>
                  <a:srgbClr val="33475B"/>
                </a:solidFill>
                <a:latin typeface="Aptos"/>
              </a:rPr>
              <a:t>Lo que ocurre EN EL TIEMPO: teclas, reintentos, cancelación</a:t>
            </a:r>
          </a:p>
        </p:txBody>
      </p:sp>
      <p:sp>
        <p:nvSpPr>
          <p:cNvPr id="14" name="Rounded Rectangle 13"/>
          <p:cNvSpPr/>
          <p:nvPr/>
        </p:nvSpPr>
        <p:spPr>
          <a:xfrm>
            <a:off x="6254496" y="4305808"/>
            <a:ext cx="2532888" cy="20218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55664" y="456184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4817872"/>
            <a:ext cx="2130552" cy="1308608"/>
          </a:xfrm>
          <a:prstGeom prst="rect">
            <a:avLst/>
          </a:prstGeom>
          <a:noFill/>
        </p:spPr>
        <p:txBody>
          <a:bodyPr wrap="square" anchor="t" lIns="0" rIns="0" tIns="0" bIns="0">
            <a:spAutoFit/>
          </a:bodyPr>
          <a:lstStyle/>
          <a:p>
            <a:pPr algn="l"/>
            <a:r>
              <a:rPr sz="1742" b="1">
                <a:solidFill>
                  <a:srgbClr val="0E2841"/>
                </a:solidFill>
                <a:latin typeface="Aptos Display"/>
              </a:rPr>
              <a:t>toSignal</a:t>
            </a:r>
          </a:p>
          <a:p>
            <a:pPr algn="l">
              <a:lnSpc>
                <a:spcPct val="120000"/>
              </a:lnSpc>
              <a:spcBef>
                <a:spcPts val="700"/>
              </a:spcBef>
            </a:pPr>
            <a:r>
              <a:rPr sz="1332" b="0">
                <a:solidFill>
                  <a:srgbClr val="33475B"/>
                </a:solidFill>
                <a:latin typeface="Aptos"/>
              </a:rPr>
              <a:t>El único puente, dentro del ViewModel. Se desuscribe solo</a:t>
            </a:r>
          </a:p>
        </p:txBody>
      </p:sp>
      <p:sp>
        <p:nvSpPr>
          <p:cNvPr id="17" name="Rounded Rectangle 16"/>
          <p:cNvSpPr/>
          <p:nvPr/>
        </p:nvSpPr>
        <p:spPr>
          <a:xfrm>
            <a:off x="9098280" y="4305808"/>
            <a:ext cx="2532888" cy="20218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99448" y="456184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4817872"/>
            <a:ext cx="2130552" cy="1308608"/>
          </a:xfrm>
          <a:prstGeom prst="rect">
            <a:avLst/>
          </a:prstGeom>
          <a:noFill/>
        </p:spPr>
        <p:txBody>
          <a:bodyPr wrap="square" anchor="t" lIns="0" rIns="0" tIns="0" bIns="0">
            <a:spAutoFit/>
          </a:bodyPr>
          <a:lstStyle/>
          <a:p>
            <a:pPr algn="l"/>
            <a:r>
              <a:rPr sz="1742" b="1">
                <a:solidFill>
                  <a:srgbClr val="0E2841"/>
                </a:solidFill>
                <a:latin typeface="Aptos Display"/>
              </a:rPr>
              <a:t>effect</a:t>
            </a:r>
          </a:p>
          <a:p>
            <a:pPr algn="l">
              <a:lnSpc>
                <a:spcPct val="120000"/>
              </a:lnSpc>
              <a:spcBef>
                <a:spcPts val="700"/>
              </a:spcBef>
            </a:pPr>
            <a:r>
              <a:rPr sz="1332" b="0">
                <a:solidFill>
                  <a:srgbClr val="33475B"/>
                </a:solidFill>
                <a:latin typeface="Aptos"/>
              </a:rPr>
              <a:t>Solo efectos secundarios; nunca para derivar estado</a:t>
            </a:r>
          </a:p>
        </p:txBody>
      </p:sp>
      <p:sp>
        <p:nvSpPr>
          <p:cNvPr id="20" name="TextBox 1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1" name="TextBox 2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48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Seis operadores, seis papeles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3688080"/>
                <a:gridCol w="3688080"/>
                <a:gridCol w="3688080"/>
              </a:tblGrid>
              <a:tr h="624927">
                <a:tc>
                  <a:txBody>
                    <a:bodyPr wrap="square"/>
                    <a:lstStyle/>
                    <a:p>
                      <a:r>
                        <a:rPr sz="1688" b="1">
                          <a:solidFill>
                            <a:srgbClr val="FFFFFF"/>
                          </a:solidFill>
                          <a:latin typeface="Aptos"/>
                        </a:rPr>
                        <a:t>Operador</a:t>
                      </a:r>
                    </a:p>
                  </a:txBody>
                  <a:tcPr anchor="ctr" marL="146304" marR="146304">
                    <a:solidFill>
                      <a:srgbClr val="156082"/>
                    </a:solidFill>
                  </a:tcPr>
                </a:tc>
                <a:tc>
                  <a:txBody>
                    <a:bodyPr wrap="square"/>
                    <a:lstStyle/>
                    <a:p>
                      <a:r>
                        <a:rPr sz="1688" b="1">
                          <a:solidFill>
                            <a:srgbClr val="FFFFFF"/>
                          </a:solidFill>
                          <a:latin typeface="Aptos"/>
                        </a:rPr>
                        <a:t>Qué hace</a:t>
                      </a:r>
                    </a:p>
                  </a:txBody>
                  <a:tcPr anchor="ctr" marL="146304" marR="146304">
                    <a:solidFill>
                      <a:srgbClr val="156082"/>
                    </a:solidFill>
                  </a:tcPr>
                </a:tc>
                <a:tc>
                  <a:txBody>
                    <a:bodyPr wrap="square"/>
                    <a:lstStyle/>
                    <a:p>
                      <a:r>
                        <a:rPr sz="1688" b="1">
                          <a:solidFill>
                            <a:srgbClr val="FFFFFF"/>
                          </a:solidFill>
                          <a:latin typeface="Aptos"/>
                        </a:rPr>
                        <a:t>Uso en la Bitácora</a:t>
                      </a:r>
                    </a:p>
                  </a:txBody>
                  <a:tcPr anchor="ctr" marL="146304" marR="146304">
                    <a:solidFill>
                      <a:srgbClr val="156082"/>
                    </a:solidFill>
                  </a:tcPr>
                </a:tc>
              </a:tr>
              <a:tr h="624927">
                <a:tc>
                  <a:txBody>
                    <a:bodyPr wrap="square"/>
                    <a:lstStyle/>
                    <a:p>
                      <a:r>
                        <a:rPr sz="1481" b="1">
                          <a:solidFill>
                            <a:srgbClr val="156082"/>
                          </a:solidFill>
                          <a:latin typeface="Consolas"/>
                        </a:rPr>
                        <a:t>map</a:t>
                      </a:r>
                    </a:p>
                  </a:txBody>
                  <a:tcPr anchor="ctr" marL="146304" marR="146304">
                    <a:solidFill>
                      <a:srgbClr val="FFFFFF"/>
                    </a:solidFill>
                  </a:tcPr>
                </a:tc>
                <a:tc>
                  <a:txBody>
                    <a:bodyPr wrap="square"/>
                    <a:lstStyle/>
                    <a:p>
                      <a:r>
                        <a:rPr sz="1576" b="0">
                          <a:solidFill>
                            <a:srgbClr val="33475B"/>
                          </a:solidFill>
                          <a:latin typeface="Aptos"/>
                        </a:rPr>
                        <a:t>Transforma cada valor</a:t>
                      </a:r>
                    </a:p>
                  </a:txBody>
                  <a:tcPr anchor="ctr" marL="146304" marR="146304">
                    <a:solidFill>
                      <a:srgbClr val="FFFFFF"/>
                    </a:solidFill>
                  </a:tcPr>
                </a:tc>
                <a:tc>
                  <a:txBody>
                    <a:bodyPr wrap="square"/>
                    <a:lstStyle/>
                    <a:p>
                      <a:r>
                        <a:rPr sz="1576" b="0">
                          <a:solidFill>
                            <a:srgbClr val="33475B"/>
                          </a:solidFill>
                          <a:latin typeface="Aptos"/>
                        </a:rPr>
                        <a:t>DTO → entidad; resultado → estado</a:t>
                      </a:r>
                    </a:p>
                  </a:txBody>
                  <a:tcPr anchor="ctr" marL="146304" marR="146304">
                    <a:solidFill>
                      <a:srgbClr val="FFFFFF"/>
                    </a:solidFill>
                  </a:tcPr>
                </a:tc>
              </a:tr>
              <a:tr h="624927">
                <a:tc>
                  <a:txBody>
                    <a:bodyPr wrap="square"/>
                    <a:lstStyle/>
                    <a:p>
                      <a:r>
                        <a:rPr sz="1481" b="1">
                          <a:solidFill>
                            <a:srgbClr val="156082"/>
                          </a:solidFill>
                          <a:latin typeface="Consolas"/>
                        </a:rPr>
                        <a:t>filter</a:t>
                      </a:r>
                    </a:p>
                  </a:txBody>
                  <a:tcPr anchor="ctr" marL="146304" marR="146304">
                    <a:solidFill>
                      <a:srgbClr val="F4F7FA"/>
                    </a:solidFill>
                  </a:tcPr>
                </a:tc>
                <a:tc>
                  <a:txBody>
                    <a:bodyPr wrap="square"/>
                    <a:lstStyle/>
                    <a:p>
                      <a:r>
                        <a:rPr sz="1576" b="0">
                          <a:solidFill>
                            <a:srgbClr val="33475B"/>
                          </a:solidFill>
                          <a:latin typeface="Aptos"/>
                        </a:rPr>
                        <a:t>Deja pasar lo que cumple una condición</a:t>
                      </a:r>
                    </a:p>
                  </a:txBody>
                  <a:tcPr anchor="ctr" marL="146304" marR="146304">
                    <a:solidFill>
                      <a:srgbClr val="F4F7FA"/>
                    </a:solidFill>
                  </a:tcPr>
                </a:tc>
                <a:tc>
                  <a:txBody>
                    <a:bodyPr wrap="square"/>
                    <a:lstStyle/>
                    <a:p>
                      <a:r>
                        <a:rPr sz="1576" b="0">
                          <a:solidFill>
                            <a:srgbClr val="33475B"/>
                          </a:solidFill>
                          <a:latin typeface="Aptos"/>
                        </a:rPr>
                        <a:t>Buscar solo con 2 o más caracteres</a:t>
                      </a:r>
                    </a:p>
                  </a:txBody>
                  <a:tcPr anchor="ctr" marL="146304" marR="146304">
                    <a:solidFill>
                      <a:srgbClr val="F4F7FA"/>
                    </a:solidFill>
                  </a:tcPr>
                </a:tc>
              </a:tr>
              <a:tr h="624927">
                <a:tc>
                  <a:txBody>
                    <a:bodyPr wrap="square"/>
                    <a:lstStyle/>
                    <a:p>
                      <a:r>
                        <a:rPr sz="1481" b="1">
                          <a:solidFill>
                            <a:srgbClr val="156082"/>
                          </a:solidFill>
                          <a:latin typeface="Consolas"/>
                        </a:rPr>
                        <a:t>debounceTime</a:t>
                      </a:r>
                    </a:p>
                  </a:txBody>
                  <a:tcPr anchor="ctr" marL="146304" marR="146304">
                    <a:solidFill>
                      <a:srgbClr val="FFFFFF"/>
                    </a:solidFill>
                  </a:tcPr>
                </a:tc>
                <a:tc>
                  <a:txBody>
                    <a:bodyPr wrap="square"/>
                    <a:lstStyle/>
                    <a:p>
                      <a:r>
                        <a:rPr sz="1576" b="0">
                          <a:solidFill>
                            <a:srgbClr val="33475B"/>
                          </a:solidFill>
                          <a:latin typeface="Aptos"/>
                        </a:rPr>
                        <a:t>Espera un silencio antes de emitir</a:t>
                      </a:r>
                    </a:p>
                  </a:txBody>
                  <a:tcPr anchor="ctr" marL="146304" marR="146304">
                    <a:solidFill>
                      <a:srgbClr val="FFFFFF"/>
                    </a:solidFill>
                  </a:tcPr>
                </a:tc>
                <a:tc>
                  <a:txBody>
                    <a:bodyPr wrap="square"/>
                    <a:lstStyle/>
                    <a:p>
                      <a:r>
                        <a:rPr sz="1576" b="0">
                          <a:solidFill>
                            <a:srgbClr val="33475B"/>
                          </a:solidFill>
                          <a:latin typeface="Aptos"/>
                        </a:rPr>
                        <a:t>No consultar en cada tecla</a:t>
                      </a:r>
                    </a:p>
                  </a:txBody>
                  <a:tcPr anchor="ctr" marL="146304" marR="146304">
                    <a:solidFill>
                      <a:srgbClr val="FFFFFF"/>
                    </a:solidFill>
                  </a:tcPr>
                </a:tc>
              </a:tr>
              <a:tr h="624927">
                <a:tc>
                  <a:txBody>
                    <a:bodyPr wrap="square"/>
                    <a:lstStyle/>
                    <a:p>
                      <a:r>
                        <a:rPr sz="1481" b="1">
                          <a:solidFill>
                            <a:srgbClr val="156082"/>
                          </a:solidFill>
                          <a:latin typeface="Consolas"/>
                        </a:rPr>
                        <a:t>distinctUntilChanged</a:t>
                      </a:r>
                    </a:p>
                  </a:txBody>
                  <a:tcPr anchor="ctr" marL="146304" marR="146304">
                    <a:solidFill>
                      <a:srgbClr val="F4F7FA"/>
                    </a:solidFill>
                  </a:tcPr>
                </a:tc>
                <a:tc>
                  <a:txBody>
                    <a:bodyPr wrap="square"/>
                    <a:lstStyle/>
                    <a:p>
                      <a:r>
                        <a:rPr sz="1576" b="0">
                          <a:solidFill>
                            <a:srgbClr val="33475B"/>
                          </a:solidFill>
                          <a:latin typeface="Aptos"/>
                        </a:rPr>
                        <a:t>Descarta repetidos consecutivos</a:t>
                      </a:r>
                    </a:p>
                  </a:txBody>
                  <a:tcPr anchor="ctr" marL="146304" marR="146304">
                    <a:solidFill>
                      <a:srgbClr val="F4F7FA"/>
                    </a:solidFill>
                  </a:tcPr>
                </a:tc>
                <a:tc>
                  <a:txBody>
                    <a:bodyPr wrap="square"/>
                    <a:lstStyle/>
                    <a:p>
                      <a:r>
                        <a:rPr sz="1576" b="0">
                          <a:solidFill>
                            <a:srgbClr val="33475B"/>
                          </a:solidFill>
                          <a:latin typeface="Aptos"/>
                        </a:rPr>
                        <a:t>No repetir la misma búsqueda</a:t>
                      </a:r>
                    </a:p>
                  </a:txBody>
                  <a:tcPr anchor="ctr" marL="146304" marR="146304">
                    <a:solidFill>
                      <a:srgbClr val="F4F7FA"/>
                    </a:solidFill>
                  </a:tcPr>
                </a:tc>
              </a:tr>
              <a:tr h="624927">
                <a:tc>
                  <a:txBody>
                    <a:bodyPr wrap="square"/>
                    <a:lstStyle/>
                    <a:p>
                      <a:r>
                        <a:rPr sz="1481" b="1">
                          <a:solidFill>
                            <a:srgbClr val="156082"/>
                          </a:solidFill>
                          <a:latin typeface="Consolas"/>
                        </a:rPr>
                        <a:t>switchMap</a:t>
                      </a:r>
                    </a:p>
                  </a:txBody>
                  <a:tcPr anchor="ctr" marL="146304" marR="146304">
                    <a:solidFill>
                      <a:srgbClr val="FFFFFF"/>
                    </a:solidFill>
                  </a:tcPr>
                </a:tc>
                <a:tc>
                  <a:txBody>
                    <a:bodyPr wrap="square"/>
                    <a:lstStyle/>
                    <a:p>
                      <a:r>
                        <a:rPr sz="1576" b="0">
                          <a:solidFill>
                            <a:srgbClr val="33475B"/>
                          </a:solidFill>
                          <a:latin typeface="Aptos"/>
                        </a:rPr>
                        <a:t>Cambia a un flujo nuevo y cancela el anterior</a:t>
                      </a:r>
                    </a:p>
                  </a:txBody>
                  <a:tcPr anchor="ctr" marL="146304" marR="146304">
                    <a:solidFill>
                      <a:srgbClr val="FFFFFF"/>
                    </a:solidFill>
                  </a:tcPr>
                </a:tc>
                <a:tc>
                  <a:txBody>
                    <a:bodyPr wrap="square"/>
                    <a:lstStyle/>
                    <a:p>
                      <a:r>
                        <a:rPr sz="1576" b="0">
                          <a:solidFill>
                            <a:srgbClr val="33475B"/>
                          </a:solidFill>
                          <a:latin typeface="Aptos"/>
                        </a:rPr>
                        <a:t>Búsqueda y recarga de la lista</a:t>
                      </a:r>
                    </a:p>
                  </a:txBody>
                  <a:tcPr anchor="ctr" marL="146304" marR="146304">
                    <a:solidFill>
                      <a:srgbClr val="FFFFFF"/>
                    </a:solidFill>
                  </a:tcPr>
                </a:tc>
              </a:tr>
              <a:tr h="624927">
                <a:tc>
                  <a:txBody>
                    <a:bodyPr wrap="square"/>
                    <a:lstStyle/>
                    <a:p>
                      <a:r>
                        <a:rPr sz="1481" b="1">
                          <a:solidFill>
                            <a:srgbClr val="156082"/>
                          </a:solidFill>
                          <a:latin typeface="Consolas"/>
                        </a:rPr>
                        <a:t>catchError</a:t>
                      </a:r>
                    </a:p>
                  </a:txBody>
                  <a:tcPr anchor="ctr" marL="146304" marR="146304">
                    <a:solidFill>
                      <a:srgbClr val="F4F7FA"/>
                    </a:solidFill>
                  </a:tcPr>
                </a:tc>
                <a:tc>
                  <a:txBody>
                    <a:bodyPr wrap="square"/>
                    <a:lstStyle/>
                    <a:p>
                      <a:r>
                        <a:rPr sz="1576" b="0">
                          <a:solidFill>
                            <a:srgbClr val="33475B"/>
                          </a:solidFill>
                          <a:latin typeface="Aptos"/>
                        </a:rPr>
                        <a:t>Convierte un error en un valor o en otro error</a:t>
                      </a:r>
                    </a:p>
                  </a:txBody>
                  <a:tcPr anchor="ctr" marL="146304" marR="146304">
                    <a:solidFill>
                      <a:srgbClr val="F4F7FA"/>
                    </a:solidFill>
                  </a:tcPr>
                </a:tc>
                <a:tc>
                  <a:txBody>
                    <a:bodyPr wrap="square"/>
                    <a:lstStyle/>
                    <a:p>
                      <a:r>
                        <a:rPr sz="1576" b="0">
                          <a:solidFill>
                            <a:srgbClr val="33475B"/>
                          </a:solidFill>
                          <a:latin typeface="Aptos"/>
                        </a:rPr>
                        <a:t>Error HTTP → estado </a:t>
                      </a:r>
                      <a:r>
                        <a:rPr sz="1481" b="0">
                          <a:solidFill>
                            <a:srgbClr val="156082"/>
                          </a:solidFill>
                          <a:latin typeface="Consolas"/>
                        </a:rPr>
                        <a:t>error</a:t>
                      </a:r>
                      <a:r>
                        <a:rPr sz="1576" b="0">
                          <a:solidFill>
                            <a:srgbClr val="33475B"/>
                          </a:solidFill>
                          <a:latin typeface="Aptos"/>
                        </a:rPr>
                        <a:t> u </a:t>
                      </a:r>
                      <a:r>
                        <a:rPr sz="1481" b="0">
                          <a:solidFill>
                            <a:srgbClr val="156082"/>
                          </a:solidFill>
                          <a:latin typeface="Consolas"/>
                        </a:rPr>
                        <a:t>offline</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48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Cuatro formas de manejar concurrencia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5084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411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50848"/>
          </a:xfrm>
          <a:prstGeom prst="rect">
            <a:avLst/>
          </a:prstGeom>
          <a:noFill/>
        </p:spPr>
        <p:txBody>
          <a:bodyPr wrap="square" anchor="ctr" lIns="0" rIns="0" tIns="0" bIns="0">
            <a:spAutoFit/>
          </a:bodyPr>
          <a:lstStyle/>
          <a:p>
            <a:pPr algn="l">
              <a:lnSpc>
                <a:spcPct val="125000"/>
              </a:lnSpc>
            </a:pPr>
            <a:r>
              <a:rPr sz="2262" b="1">
                <a:solidFill>
                  <a:srgbClr val="156082"/>
                </a:solidFill>
                <a:latin typeface="Consolas"/>
              </a:rPr>
              <a:t>switchMap</a:t>
            </a:r>
            <a:r>
              <a:rPr sz="2407" b="1">
                <a:solidFill>
                  <a:srgbClr val="0E2841"/>
                </a:solidFill>
                <a:latin typeface="Aptos Display"/>
              </a:rPr>
              <a:t> pertenece a una familia de cuatro: elegir entre ellas es una decisión de concurrencia, no de gusto.</a:t>
            </a:r>
          </a:p>
        </p:txBody>
      </p:sp>
      <p:graphicFrame>
        <p:nvGraphicFramePr>
          <p:cNvPr id="10" name="Table 9"/>
          <p:cNvGraphicFramePr>
            <a:graphicFrameLocks noGrp="1"/>
          </p:cNvGraphicFramePr>
          <p:nvPr/>
        </p:nvGraphicFramePr>
        <p:xfrm>
          <a:off x="566928" y="3224783"/>
          <a:ext cx="11064240" cy="3102860"/>
        </p:xfrm>
        <a:graphic>
          <a:graphicData uri="http://schemas.openxmlformats.org/drawingml/2006/table">
            <a:tbl>
              <a:tblPr firstRow="1">
                <a:tableStyleId>{5C22544A-7EE6-4342-B048-85BDC9FD1C3A}</a:tableStyleId>
              </a:tblPr>
              <a:tblGrid>
                <a:gridCol w="3688080"/>
                <a:gridCol w="3688080"/>
                <a:gridCol w="3688080"/>
              </a:tblGrid>
              <a:tr h="620572">
                <a:tc>
                  <a:txBody>
                    <a:bodyPr wrap="square"/>
                    <a:lstStyle/>
                    <a:p>
                      <a:r>
                        <a:rPr sz="1641" b="1">
                          <a:solidFill>
                            <a:srgbClr val="FFFFFF"/>
                          </a:solidFill>
                          <a:latin typeface="Aptos"/>
                        </a:rPr>
                        <a:t>Operador</a:t>
                      </a:r>
                    </a:p>
                  </a:txBody>
                  <a:tcPr anchor="ctr" marL="146304" marR="146304">
                    <a:solidFill>
                      <a:srgbClr val="156082"/>
                    </a:solidFill>
                  </a:tcPr>
                </a:tc>
                <a:tc>
                  <a:txBody>
                    <a:bodyPr wrap="square"/>
                    <a:lstStyle/>
                    <a:p>
                      <a:r>
                        <a:rPr sz="1641" b="1">
                          <a:solidFill>
                            <a:srgbClr val="FFFFFF"/>
                          </a:solidFill>
                          <a:latin typeface="Aptos"/>
                        </a:rPr>
                        <a:t>Si llega otra con una en curso</a:t>
                      </a:r>
                    </a:p>
                  </a:txBody>
                  <a:tcPr anchor="ctr" marL="146304" marR="146304">
                    <a:solidFill>
                      <a:srgbClr val="156082"/>
                    </a:solidFill>
                  </a:tcPr>
                </a:tc>
                <a:tc>
                  <a:txBody>
                    <a:bodyPr wrap="square"/>
                    <a:lstStyle/>
                    <a:p>
                      <a:r>
                        <a:rPr sz="1641" b="1">
                          <a:solidFill>
                            <a:srgbClr val="FFFFFF"/>
                          </a:solidFill>
                          <a:latin typeface="Aptos"/>
                        </a:rPr>
                        <a:t>Caso correcto</a:t>
                      </a:r>
                    </a:p>
                  </a:txBody>
                  <a:tcPr anchor="ctr" marL="146304" marR="146304">
                    <a:solidFill>
                      <a:srgbClr val="156082"/>
                    </a:solidFill>
                  </a:tcPr>
                </a:tc>
              </a:tr>
              <a:tr h="620572">
                <a:tc>
                  <a:txBody>
                    <a:bodyPr wrap="square"/>
                    <a:lstStyle/>
                    <a:p>
                      <a:r>
                        <a:rPr sz="1439" b="1">
                          <a:solidFill>
                            <a:srgbClr val="156082"/>
                          </a:solidFill>
                          <a:latin typeface="Consolas"/>
                        </a:rPr>
                        <a:t>switchMap</a:t>
                      </a:r>
                    </a:p>
                  </a:txBody>
                  <a:tcPr anchor="ctr" marL="146304" marR="146304">
                    <a:solidFill>
                      <a:srgbClr val="FFFFFF"/>
                    </a:solidFill>
                  </a:tcPr>
                </a:tc>
                <a:tc>
                  <a:txBody>
                    <a:bodyPr wrap="square"/>
                    <a:lstStyle/>
                    <a:p>
                      <a:r>
                        <a:rPr sz="1531" b="0">
                          <a:solidFill>
                            <a:srgbClr val="33475B"/>
                          </a:solidFill>
                          <a:latin typeface="Aptos"/>
                        </a:rPr>
                        <a:t>Cancela la anterior; se queda con la última</a:t>
                      </a:r>
                    </a:p>
                  </a:txBody>
                  <a:tcPr anchor="ctr" marL="146304" marR="146304">
                    <a:solidFill>
                      <a:srgbClr val="FFFFFF"/>
                    </a:solidFill>
                  </a:tcPr>
                </a:tc>
                <a:tc>
                  <a:txBody>
                    <a:bodyPr wrap="square"/>
                    <a:lstStyle/>
                    <a:p>
                      <a:r>
                        <a:rPr sz="1531" b="0">
                          <a:solidFill>
                            <a:srgbClr val="33475B"/>
                          </a:solidFill>
                          <a:latin typeface="Aptos"/>
                        </a:rPr>
                        <a:t>Búsqueda por texto, recargar</a:t>
                      </a:r>
                    </a:p>
                  </a:txBody>
                  <a:tcPr anchor="ctr" marL="146304" marR="146304">
                    <a:solidFill>
                      <a:srgbClr val="FFFFFF"/>
                    </a:solidFill>
                  </a:tcPr>
                </a:tc>
              </a:tr>
              <a:tr h="620572">
                <a:tc>
                  <a:txBody>
                    <a:bodyPr wrap="square"/>
                    <a:lstStyle/>
                    <a:p>
                      <a:r>
                        <a:rPr sz="1439" b="1">
                          <a:solidFill>
                            <a:srgbClr val="156082"/>
                          </a:solidFill>
                          <a:latin typeface="Consolas"/>
                        </a:rPr>
                        <a:t>concatMap</a:t>
                      </a:r>
                    </a:p>
                  </a:txBody>
                  <a:tcPr anchor="ctr" marL="146304" marR="146304">
                    <a:solidFill>
                      <a:srgbClr val="F4F7FA"/>
                    </a:solidFill>
                  </a:tcPr>
                </a:tc>
                <a:tc>
                  <a:txBody>
                    <a:bodyPr wrap="square"/>
                    <a:lstStyle/>
                    <a:p>
                      <a:r>
                        <a:rPr sz="1531" b="0">
                          <a:solidFill>
                            <a:srgbClr val="33475B"/>
                          </a:solidFill>
                          <a:latin typeface="Aptos"/>
                        </a:rPr>
                        <a:t>Encola y procesa en orden</a:t>
                      </a:r>
                    </a:p>
                  </a:txBody>
                  <a:tcPr anchor="ctr" marL="146304" marR="146304">
                    <a:solidFill>
                      <a:srgbClr val="F4F7FA"/>
                    </a:solidFill>
                  </a:tcPr>
                </a:tc>
                <a:tc>
                  <a:txBody>
                    <a:bodyPr wrap="square"/>
                    <a:lstStyle/>
                    <a:p>
                      <a:r>
                        <a:rPr sz="1531" b="0">
                          <a:solidFill>
                            <a:srgbClr val="33475B"/>
                          </a:solidFill>
                          <a:latin typeface="Aptos"/>
                        </a:rPr>
                        <a:t>Enviar la cola offline en el orden en que se registró</a:t>
                      </a:r>
                    </a:p>
                  </a:txBody>
                  <a:tcPr anchor="ctr" marL="146304" marR="146304">
                    <a:solidFill>
                      <a:srgbClr val="F4F7FA"/>
                    </a:solidFill>
                  </a:tcPr>
                </a:tc>
              </a:tr>
              <a:tr h="620572">
                <a:tc>
                  <a:txBody>
                    <a:bodyPr wrap="square"/>
                    <a:lstStyle/>
                    <a:p>
                      <a:r>
                        <a:rPr sz="1439" b="1">
                          <a:solidFill>
                            <a:srgbClr val="156082"/>
                          </a:solidFill>
                          <a:latin typeface="Consolas"/>
                        </a:rPr>
                        <a:t>exhaustMap</a:t>
                      </a:r>
                    </a:p>
                  </a:txBody>
                  <a:tcPr anchor="ctr" marL="146304" marR="146304">
                    <a:solidFill>
                      <a:srgbClr val="FFFFFF"/>
                    </a:solidFill>
                  </a:tcPr>
                </a:tc>
                <a:tc>
                  <a:txBody>
                    <a:bodyPr wrap="square"/>
                    <a:lstStyle/>
                    <a:p>
                      <a:r>
                        <a:rPr sz="1531" b="0">
                          <a:solidFill>
                            <a:srgbClr val="33475B"/>
                          </a:solidFill>
                          <a:latin typeface="Aptos"/>
                        </a:rPr>
                        <a:t>Ignora las nuevas hasta terminar</a:t>
                      </a:r>
                    </a:p>
                  </a:txBody>
                  <a:tcPr anchor="ctr" marL="146304" marR="146304">
                    <a:solidFill>
                      <a:srgbClr val="FFFFFF"/>
                    </a:solidFill>
                  </a:tcPr>
                </a:tc>
                <a:tc>
                  <a:txBody>
                    <a:bodyPr wrap="square"/>
                    <a:lstStyle/>
                    <a:p>
                      <a:r>
                        <a:rPr sz="1531" b="0">
                          <a:solidFill>
                            <a:srgbClr val="33475B"/>
                          </a:solidFill>
                          <a:latin typeface="Aptos"/>
                        </a:rPr>
                        <a:t>Botón «Guardar» ante dobles toques</a:t>
                      </a:r>
                    </a:p>
                  </a:txBody>
                  <a:tcPr anchor="ctr" marL="146304" marR="146304">
                    <a:solidFill>
                      <a:srgbClr val="FFFFFF"/>
                    </a:solidFill>
                  </a:tcPr>
                </a:tc>
              </a:tr>
              <a:tr h="620572">
                <a:tc>
                  <a:txBody>
                    <a:bodyPr wrap="square"/>
                    <a:lstStyle/>
                    <a:p>
                      <a:r>
                        <a:rPr sz="1439" b="1">
                          <a:solidFill>
                            <a:srgbClr val="156082"/>
                          </a:solidFill>
                          <a:latin typeface="Consolas"/>
                        </a:rPr>
                        <a:t>mergeMap</a:t>
                      </a:r>
                    </a:p>
                  </a:txBody>
                  <a:tcPr anchor="ctr" marL="146304" marR="146304">
                    <a:solidFill>
                      <a:srgbClr val="F4F7FA"/>
                    </a:solidFill>
                  </a:tcPr>
                </a:tc>
                <a:tc>
                  <a:txBody>
                    <a:bodyPr wrap="square"/>
                    <a:lstStyle/>
                    <a:p>
                      <a:r>
                        <a:rPr sz="1531" b="0">
                          <a:solidFill>
                            <a:srgbClr val="33475B"/>
                          </a:solidFill>
                          <a:latin typeface="Aptos"/>
                        </a:rPr>
                        <a:t>Ejecuta todas en paralelo</a:t>
                      </a:r>
                    </a:p>
                  </a:txBody>
                  <a:tcPr anchor="ctr" marL="146304" marR="146304">
                    <a:solidFill>
                      <a:srgbClr val="F4F7FA"/>
                    </a:solidFill>
                  </a:tcPr>
                </a:tc>
                <a:tc>
                  <a:txBody>
                    <a:bodyPr wrap="square"/>
                    <a:lstStyle/>
                    <a:p>
                      <a:r>
                        <a:rPr sz="1531" b="0">
                          <a:solidFill>
                            <a:srgbClr val="33475B"/>
                          </a:solidFill>
                          <a:latin typeface="Aptos"/>
                        </a:rPr>
                        <a:t>Subir varias fotos independientes</a:t>
                      </a:r>
                    </a:p>
                  </a:txBody>
                  <a:tcPr anchor="ctr" marL="146304" marR="146304">
                    <a:solidFill>
                      <a:srgbClr val="F4F7FA"/>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48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Buscador que consulta mientras el técnico escribe: ¿qué evita peticiones de más y respuestas fuera de orden?</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1974" b="0">
                <a:solidFill>
                  <a:srgbClr val="156082"/>
                </a:solidFill>
                <a:latin typeface="Consolas"/>
              </a:rPr>
              <a:t>debounceTime</a:t>
            </a:r>
            <a:r>
              <a:rPr sz="2100" b="0">
                <a:solidFill>
                  <a:srgbClr val="0E2841"/>
                </a:solidFill>
                <a:latin typeface="Aptos"/>
              </a:rPr>
              <a:t> con </a:t>
            </a:r>
            <a:r>
              <a:rPr sz="1974" b="0">
                <a:solidFill>
                  <a:srgbClr val="156082"/>
                </a:solidFill>
                <a:latin typeface="Consolas"/>
              </a:rPr>
              <a:t>mergeMap</a:t>
            </a:r>
            <a:r>
              <a:rPr sz="2100" b="0">
                <a:solidFill>
                  <a:srgbClr val="0E2841"/>
                </a:solidFill>
                <a:latin typeface="Aptos"/>
              </a:rPr>
              <a:t>, para lanzar las búsquedas en paralelo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1974" b="0">
                <a:solidFill>
                  <a:srgbClr val="156082"/>
                </a:solidFill>
                <a:latin typeface="Consolas"/>
              </a:rPr>
              <a:t>concatMap</a:t>
            </a:r>
            <a:r>
              <a:rPr sz="2100" b="0">
                <a:solidFill>
                  <a:srgbClr val="0E2841"/>
                </a:solidFill>
                <a:latin typeface="Aptos"/>
              </a:rPr>
              <a:t> con </a:t>
            </a:r>
            <a:r>
              <a:rPr sz="1974" b="0">
                <a:solidFill>
                  <a:srgbClr val="156082"/>
                </a:solidFill>
                <a:latin typeface="Consolas"/>
              </a:rPr>
              <a:t>filter</a:t>
            </a:r>
            <a:r>
              <a:rPr sz="2100" b="0">
                <a:solidFill>
                  <a:srgbClr val="0E2841"/>
                </a:solidFill>
                <a:latin typeface="Aptos"/>
              </a:rPr>
              <a:t>, para procesar cada búsqueda en su orden</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1974" b="0">
                <a:solidFill>
                  <a:srgbClr val="156082"/>
                </a:solidFill>
                <a:latin typeface="Consolas"/>
              </a:rPr>
              <a:t>debounceTime</a:t>
            </a:r>
            <a:r>
              <a:rPr sz="2100" b="0">
                <a:solidFill>
                  <a:srgbClr val="0E2841"/>
                </a:solidFill>
                <a:latin typeface="Aptos"/>
              </a:rPr>
              <a:t>, </a:t>
            </a:r>
            <a:r>
              <a:rPr sz="1974" b="0">
                <a:solidFill>
                  <a:srgbClr val="156082"/>
                </a:solidFill>
                <a:latin typeface="Consolas"/>
              </a:rPr>
              <a:t>distinctUntilChanged</a:t>
            </a:r>
            <a:r>
              <a:rPr sz="2100" b="0">
                <a:solidFill>
                  <a:srgbClr val="0E2841"/>
                </a:solidFill>
                <a:latin typeface="Aptos"/>
              </a:rPr>
              <a:t> y </a:t>
            </a:r>
            <a:r>
              <a:rPr sz="1974" b="0">
                <a:solidFill>
                  <a:srgbClr val="156082"/>
                </a:solidFill>
                <a:latin typeface="Consolas"/>
              </a:rPr>
              <a:t>switchMap</a:t>
            </a:r>
            <a:r>
              <a:rPr sz="2100" b="0">
                <a:solidFill>
                  <a:srgbClr val="0E2841"/>
                </a:solidFill>
                <a:latin typeface="Aptos"/>
              </a:rPr>
              <a:t>, en ese orden</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1974" b="0">
                <a:solidFill>
                  <a:srgbClr val="156082"/>
                </a:solidFill>
                <a:latin typeface="Consolas"/>
              </a:rPr>
              <a:t>exhaustMap</a:t>
            </a:r>
            <a:r>
              <a:rPr sz="2100" b="0">
                <a:solidFill>
                  <a:srgbClr val="0E2841"/>
                </a:solidFill>
                <a:latin typeface="Aptos"/>
              </a:rPr>
              <a:t> con </a:t>
            </a:r>
            <a:r>
              <a:rPr sz="1974" b="0">
                <a:solidFill>
                  <a:srgbClr val="156082"/>
                </a:solidFill>
                <a:latin typeface="Consolas"/>
              </a:rPr>
              <a:t>map</a:t>
            </a:r>
            <a:r>
              <a:rPr sz="2100" b="0">
                <a:solidFill>
                  <a:srgbClr val="0E2841"/>
                </a:solidFill>
                <a:latin typeface="Aptos"/>
              </a:rPr>
              <a:t>, para ignorar teclas durante cada petición</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48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5. El ViewModel y su ADR</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Un estado, varias formas, una decisión escrita</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formas posibles de un estado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48840"/>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06" b="1">
                <a:solidFill>
                  <a:srgbClr val="E97132"/>
                </a:solidFill>
                <a:latin typeface="Aptos"/>
              </a:rPr>
              <a:t>ESTADO DE LA PANTALLA · UNIÓN DISCRIMINADA</a:t>
            </a:r>
          </a:p>
        </p:txBody>
      </p:sp>
      <p:sp>
        <p:nvSpPr>
          <p:cNvPr id="10" name="TextBox 9"/>
          <p:cNvSpPr txBox="1"/>
          <p:nvPr/>
        </p:nvSpPr>
        <p:spPr>
          <a:xfrm>
            <a:off x="877824" y="2139696"/>
            <a:ext cx="10515600" cy="1417320"/>
          </a:xfrm>
          <a:prstGeom prst="rect">
            <a:avLst/>
          </a:prstGeom>
          <a:noFill/>
        </p:spPr>
        <p:txBody>
          <a:bodyPr wrap="none" lIns="0" tIns="0">
            <a:spAutoFit/>
          </a:bodyPr>
          <a:lstStyle/>
          <a:p>
            <a:pPr>
              <a:lnSpc>
                <a:spcPct val="125000"/>
              </a:lnSpc>
            </a:pPr>
            <a:r>
              <a:rPr sz="1521">
                <a:solidFill>
                  <a:srgbClr val="E8E8E8"/>
                </a:solidFill>
                <a:latin typeface="Consolas"/>
              </a:rPr>
              <a:t>export type EstadoListaVisitas =</a:t>
            </a:r>
          </a:p>
          <a:p>
            <a:pPr>
              <a:lnSpc>
                <a:spcPct val="125000"/>
              </a:lnSpc>
            </a:pPr>
            <a:r>
              <a:rPr sz="1521">
                <a:solidFill>
                  <a:srgbClr val="E8E8E8"/>
                </a:solidFill>
                <a:latin typeface="Consolas"/>
              </a:rPr>
              <a:t>  | { readonly tipo: 'cargando' } | { readonly tipo: 'vacio' }</a:t>
            </a:r>
          </a:p>
          <a:p>
            <a:pPr>
              <a:lnSpc>
                <a:spcPct val="125000"/>
              </a:lnSpc>
            </a:pPr>
            <a:r>
              <a:rPr sz="1521">
                <a:solidFill>
                  <a:srgbClr val="E8E8E8"/>
                </a:solidFill>
                <a:latin typeface="Consolas"/>
              </a:rPr>
              <a:t>  | { readonly tipo: 'cargado'; readonly visitas: readonly Visita[];</a:t>
            </a:r>
          </a:p>
          <a:p>
            <a:pPr>
              <a:lnSpc>
                <a:spcPct val="125000"/>
              </a:lnSpc>
            </a:pPr>
            <a:r>
              <a:rPr sz="1521">
                <a:solidFill>
                  <a:srgbClr val="E8E8E8"/>
                </a:solidFill>
                <a:latin typeface="Consolas"/>
              </a:rPr>
              <a:t>      readonly desactualizado: boolean }</a:t>
            </a:r>
          </a:p>
          <a:p>
            <a:pPr>
              <a:lnSpc>
                <a:spcPct val="125000"/>
              </a:lnSpc>
            </a:pPr>
            <a:r>
              <a:rPr sz="1521">
                <a:solidFill>
                  <a:srgbClr val="E8E8E8"/>
                </a:solidFill>
                <a:latin typeface="Consolas"/>
              </a:rPr>
              <a:t>  | { readonly tipo: 'offline' } | { readonly tipo: 'error'; readonly mensaje: string };</a:t>
            </a:r>
          </a:p>
        </p:txBody>
      </p:sp>
      <p:sp>
        <p:nvSpPr>
          <p:cNvPr id="11" name="Rounded Rectangle 10"/>
          <p:cNvSpPr/>
          <p:nvPr/>
        </p:nvSpPr>
        <p:spPr>
          <a:xfrm>
            <a:off x="566928" y="3922776"/>
            <a:ext cx="11064240" cy="240487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4105656"/>
            <a:ext cx="10515600" cy="2057400"/>
          </a:xfrm>
          <a:prstGeom prst="rect">
            <a:avLst/>
          </a:prstGeom>
          <a:noFill/>
        </p:spPr>
        <p:txBody>
          <a:bodyPr wrap="none" lIns="0" tIns="0">
            <a:spAutoFit/>
          </a:bodyPr>
          <a:lstStyle/>
          <a:p>
            <a:pPr>
              <a:lnSpc>
                <a:spcPct val="125000"/>
              </a:lnSpc>
            </a:pPr>
            <a:r>
              <a:rPr sz="1521">
                <a:solidFill>
                  <a:srgbClr val="E8E8E8"/>
                </a:solidFill>
                <a:latin typeface="Consolas"/>
              </a:rPr>
              <a:t>               ┌── datos &gt; 0 ─────────────► CARGADO ──┐</a:t>
            </a:r>
          </a:p>
          <a:p>
            <a:pPr>
              <a:lnSpc>
                <a:spcPct val="125000"/>
              </a:lnSpc>
            </a:pPr>
            <a:r>
              <a:rPr sz="1521">
                <a:solidFill>
                  <a:srgbClr val="E8E8E8"/>
                </a:solidFill>
                <a:latin typeface="Consolas"/>
              </a:rPr>
              <a:t>               ├── datos = 0 ─────────────► VACÍO   ──┤</a:t>
            </a:r>
          </a:p>
          <a:p>
            <a:pPr>
              <a:lnSpc>
                <a:spcPct val="125000"/>
              </a:lnSpc>
            </a:pPr>
            <a:r>
              <a:rPr sz="1521">
                <a:solidFill>
                  <a:srgbClr val="E8E8E8"/>
                </a:solidFill>
                <a:latin typeface="Consolas"/>
              </a:rPr>
              <a:t>  CARGANDO ────┼── sin red y sin caché ───► OFFLINE ──┤</a:t>
            </a:r>
          </a:p>
          <a:p>
            <a:pPr>
              <a:lnSpc>
                <a:spcPct val="125000"/>
              </a:lnSpc>
            </a:pPr>
            <a:r>
              <a:rPr sz="1521">
                <a:solidFill>
                  <a:srgbClr val="E8E8E8"/>
                </a:solidFill>
                <a:latin typeface="Consolas"/>
              </a:rPr>
              <a:t>     ▲         └── cualquier otro error ──► ERROR   ──┤</a:t>
            </a:r>
          </a:p>
          <a:p>
            <a:pPr>
              <a:lnSpc>
                <a:spcPct val="125000"/>
              </a:lnSpc>
            </a:pPr>
            <a:r>
              <a:rPr sz="1521">
                <a:solidFill>
                  <a:srgbClr val="E8E8E8"/>
                </a:solidFill>
                <a:latin typeface="Consolas"/>
              </a:rPr>
              <a:t>     └───────── recargar() · tirar para actualizar ───┘</a:t>
            </a:r>
          </a:p>
          <a:p>
            <a:pPr>
              <a:lnSpc>
                <a:spcPct val="125000"/>
              </a:lnSpc>
            </a:pPr>
            <a:r>
              <a:rPr sz="1521">
                <a:solidFill>
                  <a:srgbClr val="E8E8E8"/>
                </a:solidFill>
                <a:latin typeface="Consolas"/>
              </a:rPr>
              <a:t>  CARGADO con desactualizado = true: datos de la caché y aviso visible</a:t>
            </a:r>
          </a:p>
        </p:txBody>
      </p:sp>
      <p:sp>
        <p:nvSpPr>
          <p:cNvPr id="13" name="TextBox 1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4" name="TextBox 1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48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Intenciones entran, un estado sale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015691"/>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63" b="1">
                <a:solidFill>
                  <a:srgbClr val="E97132"/>
                </a:solidFill>
                <a:latin typeface="Aptos"/>
              </a:rPr>
              <a:t>VISITASLISTAVIEWMODEL · @INJECTABLE() PROVISTO EN LA PÁGINA</a:t>
            </a:r>
          </a:p>
        </p:txBody>
      </p:sp>
      <p:sp>
        <p:nvSpPr>
          <p:cNvPr id="10" name="TextBox 9"/>
          <p:cNvSpPr txBox="1"/>
          <p:nvPr/>
        </p:nvSpPr>
        <p:spPr>
          <a:xfrm>
            <a:off x="877824" y="2139696"/>
            <a:ext cx="10515600" cy="2284171"/>
          </a:xfrm>
          <a:prstGeom prst="rect">
            <a:avLst/>
          </a:prstGeom>
          <a:noFill/>
        </p:spPr>
        <p:txBody>
          <a:bodyPr wrap="none" lIns="0" tIns="0">
            <a:spAutoFit/>
          </a:bodyPr>
          <a:lstStyle/>
          <a:p>
            <a:pPr>
              <a:lnSpc>
                <a:spcPct val="125000"/>
              </a:lnSpc>
            </a:pPr>
            <a:r>
              <a:rPr sz="1592">
                <a:solidFill>
                  <a:srgbClr val="E8E8E8"/>
                </a:solidFill>
                <a:latin typeface="Consolas"/>
              </a:rPr>
              <a:t>readonly estado = toSignal(this.recargar$.pipe(</a:t>
            </a:r>
          </a:p>
          <a:p>
            <a:pPr>
              <a:lnSpc>
                <a:spcPct val="125000"/>
              </a:lnSpc>
            </a:pPr>
            <a:r>
              <a:rPr sz="1592">
                <a:solidFill>
                  <a:srgbClr val="E8E8E8"/>
                </a:solidFill>
                <a:latin typeface="Consolas"/>
              </a:rPr>
              <a:t>  startWith(undefined),                              // primera carga al crear la pantalla</a:t>
            </a:r>
          </a:p>
          <a:p>
            <a:pPr>
              <a:lnSpc>
                <a:spcPct val="125000"/>
              </a:lnSpc>
            </a:pPr>
            <a:r>
              <a:rPr sz="1592">
                <a:solidFill>
                  <a:srgbClr val="E8E8E8"/>
                </a:solidFill>
                <a:latin typeface="Consolas"/>
              </a:rPr>
              <a:t>  switchMap(() =&gt; this.listar.ejecutar().pipe(</a:t>
            </a:r>
          </a:p>
          <a:p>
            <a:pPr>
              <a:lnSpc>
                <a:spcPct val="125000"/>
              </a:lnSpc>
            </a:pPr>
            <a:r>
              <a:rPr sz="1592">
                <a:solidFill>
                  <a:srgbClr val="E8E8E8"/>
                </a:solidFill>
                <a:latin typeface="Consolas"/>
              </a:rPr>
              <a:t>    map(aEstado),</a:t>
            </a:r>
          </a:p>
          <a:p>
            <a:pPr>
              <a:lnSpc>
                <a:spcPct val="125000"/>
              </a:lnSpc>
            </a:pPr>
            <a:r>
              <a:rPr sz="1592">
                <a:solidFill>
                  <a:srgbClr val="E8E8E8"/>
                </a:solidFill>
                <a:latin typeface="Consolas"/>
              </a:rPr>
              <a:t>    startWith&lt;EstadoListaVisitas&gt;({ tipo: 'cargando' }),</a:t>
            </a:r>
          </a:p>
          <a:p>
            <a:pPr>
              <a:lnSpc>
                <a:spcPct val="125000"/>
              </a:lnSpc>
            </a:pPr>
            <a:r>
              <a:rPr sz="1592">
                <a:solidFill>
                  <a:srgbClr val="E8E8E8"/>
                </a:solidFill>
                <a:latin typeface="Consolas"/>
              </a:rPr>
              <a:t>    catchError(e =&gt; of(aEstadoDeError(e))),          // muere la carga, no el flujo externo</a:t>
            </a:r>
          </a:p>
          <a:p>
            <a:pPr>
              <a:lnSpc>
                <a:spcPct val="125000"/>
              </a:lnSpc>
            </a:pPr>
            <a:r>
              <a:rPr sz="1592">
                <a:solidFill>
                  <a:srgbClr val="E8E8E8"/>
                </a:solidFill>
                <a:latin typeface="Consolas"/>
              </a:rPr>
              <a:t>  ))), { initialValue: { tipo: 'cargando' } as EstadoListaVisitas });</a:t>
            </a:r>
          </a:p>
        </p:txBody>
      </p:sp>
      <p:sp>
        <p:nvSpPr>
          <p:cNvPr id="11" name="Rounded Rectangle 10"/>
          <p:cNvSpPr/>
          <p:nvPr/>
        </p:nvSpPr>
        <p:spPr>
          <a:xfrm>
            <a:off x="566928" y="4789627"/>
            <a:ext cx="11064240" cy="15380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4844491"/>
            <a:ext cx="63500" cy="14282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89627"/>
            <a:ext cx="10378440" cy="1538020"/>
          </a:xfrm>
          <a:prstGeom prst="rect">
            <a:avLst/>
          </a:prstGeom>
          <a:noFill/>
        </p:spPr>
        <p:txBody>
          <a:bodyPr wrap="square" anchor="ctr" lIns="0" rIns="0" tIns="0" bIns="0">
            <a:spAutoFit/>
          </a:bodyPr>
          <a:lstStyle/>
          <a:p>
            <a:pPr algn="l">
              <a:lnSpc>
                <a:spcPct val="125000"/>
              </a:lnSpc>
            </a:pPr>
            <a:r>
              <a:rPr sz="2416" b="1">
                <a:solidFill>
                  <a:srgbClr val="0E2841"/>
                </a:solidFill>
                <a:latin typeface="Aptos Display"/>
              </a:rPr>
              <a:t>La vista lee el signal y emite intenciones (</a:t>
            </a:r>
            <a:r>
              <a:rPr sz="2271" b="1">
                <a:solidFill>
                  <a:srgbClr val="156082"/>
                </a:solidFill>
                <a:latin typeface="Consolas"/>
              </a:rPr>
              <a:t>recargar()</a:t>
            </a:r>
            <a:r>
              <a:rPr sz="2416" b="1">
                <a:solidFill>
                  <a:srgbClr val="0E2841"/>
                </a:solidFill>
                <a:latin typeface="Aptos Display"/>
              </a:rPr>
              <a:t> solo hace </a:t>
            </a:r>
            <a:r>
              <a:rPr sz="2271" b="1">
                <a:solidFill>
                  <a:srgbClr val="156082"/>
                </a:solidFill>
                <a:latin typeface="Consolas"/>
              </a:rPr>
              <a:t>recargar$.next()</a:t>
            </a:r>
            <a:r>
              <a:rPr sz="2416" b="1">
                <a:solidFill>
                  <a:srgbClr val="0E2841"/>
                </a:solidFill>
                <a:latin typeface="Aptos Display"/>
              </a:rPr>
              <a:t>); nunca modifica el estado.</a:t>
            </a:r>
          </a:p>
        </p:txBody>
      </p:sp>
      <p:sp>
        <p:nvSpPr>
          <p:cNvPr id="14" name="TextBox 13"/>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5" name="TextBox 14"/>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Tras el primer error de red, «Reintentar» deja de funcionar. ¿Cuál es la causa más probable?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a:t>
            </a:r>
            <a:r>
              <a:rPr sz="1974" b="0">
                <a:solidFill>
                  <a:srgbClr val="156082"/>
                </a:solidFill>
                <a:latin typeface="Consolas"/>
              </a:rPr>
              <a:t>Subject</a:t>
            </a:r>
            <a:r>
              <a:rPr sz="2100" b="0">
                <a:solidFill>
                  <a:srgbClr val="0E2841"/>
                </a:solidFill>
                <a:latin typeface="Aptos"/>
              </a:rPr>
              <a:t> de recarga se declaró sin un valor inicial obligatorio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Falta un </a:t>
            </a:r>
            <a:r>
              <a:rPr sz="1974" b="0">
                <a:solidFill>
                  <a:srgbClr val="156082"/>
                </a:solidFill>
                <a:latin typeface="Consolas"/>
              </a:rPr>
              <a:t>debounceTime</a:t>
            </a:r>
            <a:r>
              <a:rPr sz="2100" b="0">
                <a:solidFill>
                  <a:srgbClr val="0E2841"/>
                </a:solidFill>
                <a:latin typeface="Aptos"/>
              </a:rPr>
              <a:t> antes del </a:t>
            </a:r>
            <a:r>
              <a:rPr sz="1974" b="0">
                <a:solidFill>
                  <a:srgbClr val="156082"/>
                </a:solidFill>
                <a:latin typeface="Consolas"/>
              </a:rPr>
              <a:t>switchMap</a:t>
            </a:r>
            <a:r>
              <a:rPr sz="2100" b="0">
                <a:solidFill>
                  <a:srgbClr val="0E2841"/>
                </a:solidFill>
                <a:latin typeface="Aptos"/>
              </a:rPr>
              <a:t> que hace la carga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El </a:t>
            </a:r>
            <a:r>
              <a:rPr sz="1974" b="0">
                <a:solidFill>
                  <a:srgbClr val="156082"/>
                </a:solidFill>
                <a:latin typeface="Consolas"/>
              </a:rPr>
              <a:t>catchError</a:t>
            </a:r>
            <a:r>
              <a:rPr sz="2100" b="0">
                <a:solidFill>
                  <a:srgbClr val="0E2841"/>
                </a:solidFill>
                <a:latin typeface="Aptos"/>
              </a:rPr>
              <a:t> está fuera del </a:t>
            </a:r>
            <a:r>
              <a:rPr sz="1974" b="0">
                <a:solidFill>
                  <a:srgbClr val="156082"/>
                </a:solidFill>
                <a:latin typeface="Consolas"/>
              </a:rPr>
              <a:t>switchMap</a:t>
            </a:r>
            <a:r>
              <a:rPr sz="2100" b="0">
                <a:solidFill>
                  <a:srgbClr val="0E2841"/>
                </a:solidFill>
                <a:latin typeface="Aptos"/>
              </a:rPr>
              <a:t> y el flujo se completó</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1974" b="0">
                <a:solidFill>
                  <a:srgbClr val="156082"/>
                </a:solidFill>
                <a:latin typeface="Consolas"/>
              </a:rPr>
              <a:t>toSignal</a:t>
            </a:r>
            <a:r>
              <a:rPr sz="2100" b="0">
                <a:solidFill>
                  <a:srgbClr val="0E2841"/>
                </a:solidFill>
                <a:latin typeface="Aptos"/>
              </a:rPr>
              <a:t> se desuscribe por su cuenta al recibir el primer error</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48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patrón de estado va en un ADR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5532120"/>
                <a:gridCol w="5532120"/>
              </a:tblGrid>
              <a:tr h="546811">
                <a:tc>
                  <a:txBody>
                    <a:bodyPr wrap="square"/>
                    <a:lstStyle/>
                    <a:p>
                      <a:r>
                        <a:rPr sz="1590" b="1">
                          <a:solidFill>
                            <a:srgbClr val="FFFFFF"/>
                          </a:solidFill>
                          <a:latin typeface="Aptos"/>
                        </a:rPr>
                        <a:t>ADR-001</a:t>
                      </a:r>
                    </a:p>
                  </a:txBody>
                  <a:tcPr anchor="ctr" marL="146304" marR="146304">
                    <a:solidFill>
                      <a:srgbClr val="156082"/>
                    </a:solidFill>
                  </a:tcPr>
                </a:tc>
                <a:tc>
                  <a:txBody>
                    <a:bodyPr wrap="square"/>
                    <a:lstStyle/>
                    <a:p>
                      <a:r>
                        <a:rPr sz="1590" b="1">
                          <a:solidFill>
                            <a:srgbClr val="FFFFFF"/>
                          </a:solidFill>
                          <a:latin typeface="Aptos"/>
                        </a:rPr>
                        <a:t>ViewModel por pantalla, estado inmutable</a:t>
                      </a:r>
                    </a:p>
                  </a:txBody>
                  <a:tcPr anchor="ctr" marL="146304" marR="146304">
                    <a:solidFill>
                      <a:srgbClr val="156082"/>
                    </a:solidFill>
                  </a:tcPr>
                </a:tc>
              </a:tr>
              <a:tr h="546811">
                <a:tc>
                  <a:txBody>
                    <a:bodyPr wrap="square"/>
                    <a:lstStyle/>
                    <a:p>
                      <a:r>
                        <a:rPr sz="1484" b="1">
                          <a:solidFill>
                            <a:srgbClr val="33475B"/>
                          </a:solidFill>
                          <a:latin typeface="Aptos"/>
                        </a:rPr>
                        <a:t>Estado</a:t>
                      </a:r>
                    </a:p>
                  </a:txBody>
                  <a:tcPr anchor="ctr" marL="146304" marR="146304">
                    <a:solidFill>
                      <a:srgbClr val="FFFFFF"/>
                    </a:solidFill>
                  </a:tcPr>
                </a:tc>
                <a:tc>
                  <a:txBody>
                    <a:bodyPr wrap="square"/>
                    <a:lstStyle/>
                    <a:p>
                      <a:r>
                        <a:rPr sz="1484" b="0">
                          <a:solidFill>
                            <a:srgbClr val="33475B"/>
                          </a:solidFill>
                          <a:latin typeface="Aptos"/>
                        </a:rPr>
                        <a:t>Aceptada (2026-10-16)</a:t>
                      </a:r>
                    </a:p>
                  </a:txBody>
                  <a:tcPr anchor="ctr" marL="146304" marR="146304">
                    <a:solidFill>
                      <a:srgbClr val="FFFFFF"/>
                    </a:solidFill>
                  </a:tcPr>
                </a:tc>
              </a:tr>
              <a:tr h="546811">
                <a:tc>
                  <a:txBody>
                    <a:bodyPr wrap="square"/>
                    <a:lstStyle/>
                    <a:p>
                      <a:r>
                        <a:rPr sz="1484" b="1">
                          <a:solidFill>
                            <a:srgbClr val="33475B"/>
                          </a:solidFill>
                          <a:latin typeface="Aptos"/>
                        </a:rPr>
                        <a:t>Contexto</a:t>
                      </a:r>
                    </a:p>
                  </a:txBody>
                  <a:tcPr anchor="ctr" marL="146304" marR="146304">
                    <a:solidFill>
                      <a:srgbClr val="F4F7FA"/>
                    </a:solidFill>
                  </a:tcPr>
                </a:tc>
                <a:tc>
                  <a:txBody>
                    <a:bodyPr wrap="square"/>
                    <a:lstStyle/>
                    <a:p>
                      <a:r>
                        <a:rPr sz="1484" b="0">
                          <a:solidFill>
                            <a:srgbClr val="33475B"/>
                          </a:solidFill>
                          <a:latin typeface="Aptos"/>
                        </a:rPr>
                        <a:t>Una pareja, unas seis pantallas, pruebas sin renderizar la UI</a:t>
                      </a:r>
                    </a:p>
                  </a:txBody>
                  <a:tcPr anchor="ctr" marL="146304" marR="146304">
                    <a:solidFill>
                      <a:srgbClr val="F4F7FA"/>
                    </a:solidFill>
                  </a:tcPr>
                </a:tc>
              </a:tr>
              <a:tr h="546811">
                <a:tc>
                  <a:txBody>
                    <a:bodyPr wrap="square"/>
                    <a:lstStyle/>
                    <a:p>
                      <a:r>
                        <a:rPr sz="1484" b="1">
                          <a:solidFill>
                            <a:srgbClr val="33475B"/>
                          </a:solidFill>
                          <a:latin typeface="Aptos"/>
                        </a:rPr>
                        <a:t>Decisión</a:t>
                      </a:r>
                    </a:p>
                  </a:txBody>
                  <a:tcPr anchor="ctr" marL="146304" marR="146304">
                    <a:solidFill>
                      <a:srgbClr val="FFFFFF"/>
                    </a:solidFill>
                  </a:tcPr>
                </a:tc>
                <a:tc>
                  <a:txBody>
                    <a:bodyPr wrap="square"/>
                    <a:lstStyle/>
                    <a:p>
                      <a:r>
                        <a:rPr sz="1484" b="0">
                          <a:solidFill>
                            <a:srgbClr val="33475B"/>
                          </a:solidFill>
                          <a:latin typeface="Aptos"/>
                        </a:rPr>
                        <a:t>ViewModel provisto en la página que expone UN signal de estado inmutable (RxJS + </a:t>
                      </a:r>
                      <a:r>
                        <a:rPr sz="1394" b="0">
                          <a:solidFill>
                            <a:srgbClr val="156082"/>
                          </a:solidFill>
                          <a:latin typeface="Consolas"/>
                        </a:rPr>
                        <a:t>toSignal</a:t>
                      </a:r>
                      <a:r>
                        <a:rPr sz="1484" b="0">
                          <a:solidFill>
                            <a:srgbClr val="33475B"/>
                          </a:solidFill>
                          <a:latin typeface="Aptos"/>
                        </a:rPr>
                        <a:t>)</a:t>
                      </a:r>
                    </a:p>
                  </a:txBody>
                  <a:tcPr anchor="ctr" marL="146304" marR="146304">
                    <a:solidFill>
                      <a:srgbClr val="FFFFFF"/>
                    </a:solidFill>
                  </a:tcPr>
                </a:tc>
              </a:tr>
              <a:tr h="546811">
                <a:tc>
                  <a:txBody>
                    <a:bodyPr wrap="square"/>
                    <a:lstStyle/>
                    <a:p>
                      <a:r>
                        <a:rPr sz="1484" b="1">
                          <a:solidFill>
                            <a:srgbClr val="33475B"/>
                          </a:solidFill>
                          <a:latin typeface="Aptos"/>
                        </a:rPr>
                        <a:t>Alternativa (a)</a:t>
                      </a:r>
                    </a:p>
                  </a:txBody>
                  <a:tcPr anchor="ctr" marL="146304" marR="146304">
                    <a:solidFill>
                      <a:srgbClr val="F4F7FA"/>
                    </a:solidFill>
                  </a:tcPr>
                </a:tc>
                <a:tc>
                  <a:txBody>
                    <a:bodyPr wrap="square"/>
                    <a:lstStyle/>
                    <a:p>
                      <a:r>
                        <a:rPr sz="1484" b="0">
                          <a:solidFill>
                            <a:srgbClr val="33475B"/>
                          </a:solidFill>
                          <a:latin typeface="Aptos"/>
                        </a:rPr>
                        <a:t>NgRx Store: trazabilidad, pero acciones, reducers y efectos son ceremonia excesiva aquí</a:t>
                      </a:r>
                    </a:p>
                  </a:txBody>
                  <a:tcPr anchor="ctr" marL="146304" marR="146304">
                    <a:solidFill>
                      <a:srgbClr val="F4F7FA"/>
                    </a:solidFill>
                  </a:tcPr>
                </a:tc>
              </a:tr>
              <a:tr h="546811">
                <a:tc>
                  <a:txBody>
                    <a:bodyPr wrap="square"/>
                    <a:lstStyle/>
                    <a:p>
                      <a:r>
                        <a:rPr sz="1484" b="1">
                          <a:solidFill>
                            <a:srgbClr val="33475B"/>
                          </a:solidFill>
                          <a:latin typeface="Aptos"/>
                        </a:rPr>
                        <a:t>Alternativa (b)</a:t>
                      </a:r>
                    </a:p>
                  </a:txBody>
                  <a:tcPr anchor="ctr" marL="146304" marR="146304">
                    <a:solidFill>
                      <a:srgbClr val="FFFFFF"/>
                    </a:solidFill>
                  </a:tcPr>
                </a:tc>
                <a:tc>
                  <a:txBody>
                    <a:bodyPr wrap="square"/>
                    <a:lstStyle/>
                    <a:p>
                      <a:r>
                        <a:rPr sz="1484" b="0">
                          <a:solidFill>
                            <a:srgbClr val="33475B"/>
                          </a:solidFill>
                          <a:latin typeface="Aptos"/>
                        </a:rPr>
                        <a:t>NgRx SignalStore: más ligero, pero suma una dependencia; se reevalúa si crece</a:t>
                      </a:r>
                    </a:p>
                  </a:txBody>
                  <a:tcPr anchor="ctr" marL="146304" marR="146304">
                    <a:solidFill>
                      <a:srgbClr val="FFFFFF"/>
                    </a:solidFill>
                  </a:tcPr>
                </a:tc>
              </a:tr>
              <a:tr h="546811">
                <a:tc>
                  <a:txBody>
                    <a:bodyPr wrap="square"/>
                    <a:lstStyle/>
                    <a:p>
                      <a:r>
                        <a:rPr sz="1484" b="1">
                          <a:solidFill>
                            <a:srgbClr val="33475B"/>
                          </a:solidFill>
                          <a:latin typeface="Aptos"/>
                        </a:rPr>
                        <a:t>Alternativa (c)</a:t>
                      </a:r>
                    </a:p>
                  </a:txBody>
                  <a:tcPr anchor="ctr" marL="146304" marR="146304">
                    <a:solidFill>
                      <a:srgbClr val="F4F7FA"/>
                    </a:solidFill>
                  </a:tcPr>
                </a:tc>
                <a:tc>
                  <a:txBody>
                    <a:bodyPr wrap="square"/>
                    <a:lstStyle/>
                    <a:p>
                      <a:r>
                        <a:rPr sz="1484" b="0">
                          <a:solidFill>
                            <a:srgbClr val="33475B"/>
                          </a:solidFill>
                          <a:latin typeface="Aptos"/>
                        </a:rPr>
                        <a:t>Estado mutable en componentes: rápido, no testeable</a:t>
                      </a:r>
                    </a:p>
                  </a:txBody>
                  <a:tcPr anchor="ctr" marL="146304" marR="146304">
                    <a:solidFill>
                      <a:srgbClr val="F4F7FA"/>
                    </a:solidFill>
                  </a:tcPr>
                </a:tc>
              </a:tr>
              <a:tr h="546811">
                <a:tc>
                  <a:txBody>
                    <a:bodyPr wrap="square"/>
                    <a:lstStyle/>
                    <a:p>
                      <a:r>
                        <a:rPr sz="1484" b="1">
                          <a:solidFill>
                            <a:srgbClr val="33475B"/>
                          </a:solidFill>
                          <a:latin typeface="Aptos"/>
                        </a:rPr>
                        <a:t>Consecuencias</a:t>
                      </a:r>
                    </a:p>
                  </a:txBody>
                  <a:tcPr anchor="ctr" marL="146304" marR="146304">
                    <a:solidFill>
                      <a:srgbClr val="FFFFFF"/>
                    </a:solidFill>
                  </a:tcPr>
                </a:tc>
                <a:tc>
                  <a:txBody>
                    <a:bodyPr wrap="square"/>
                    <a:lstStyle/>
                    <a:p>
                      <a:r>
                        <a:rPr sz="1484" b="0">
                          <a:solidFill>
                            <a:srgbClr val="33475B"/>
                          </a:solidFill>
                          <a:latin typeface="Aptos"/>
                        </a:rPr>
                        <a:t>+ Se prueba con un repositorio falso. − Código repetido por pantalla</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48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Misma arquitectura, otras librerías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Sirve para el ADR del stack del H2: la arquitectura es la misma; cambian las librerías.</a:t>
            </a:r>
          </a:p>
        </p:txBody>
      </p:sp>
      <p:graphicFrame>
        <p:nvGraphicFramePr>
          <p:cNvPr id="10" name="Table 9"/>
          <p:cNvGraphicFramePr>
            <a:graphicFrameLocks noGrp="1"/>
          </p:cNvGraphicFramePr>
          <p:nvPr/>
        </p:nvGraphicFramePr>
        <p:xfrm>
          <a:off x="566928" y="3066288"/>
          <a:ext cx="11064240" cy="3261360"/>
        </p:xfrm>
        <a:graphic>
          <a:graphicData uri="http://schemas.openxmlformats.org/drawingml/2006/table">
            <a:tbl>
              <a:tblPr firstRow="1">
                <a:tableStyleId>{5C22544A-7EE6-4342-B048-85BDC9FD1C3A}</a:tableStyleId>
              </a:tblPr>
              <a:tblGrid>
                <a:gridCol w="2766060"/>
                <a:gridCol w="2766060"/>
                <a:gridCol w="2766060"/>
                <a:gridCol w="2766060"/>
              </a:tblGrid>
              <a:tr h="543560">
                <a:tc>
                  <a:txBody>
                    <a:bodyPr wrap="square"/>
                    <a:lstStyle/>
                    <a:p>
                      <a:r>
                        <a:rPr sz="1569" b="1">
                          <a:solidFill>
                            <a:srgbClr val="FFFFFF"/>
                          </a:solidFill>
                          <a:latin typeface="Aptos"/>
                        </a:rPr>
                        <a:t>Preocupación</a:t>
                      </a:r>
                    </a:p>
                  </a:txBody>
                  <a:tcPr anchor="ctr" marL="146304" marR="146304">
                    <a:solidFill>
                      <a:srgbClr val="156082"/>
                    </a:solidFill>
                  </a:tcPr>
                </a:tc>
                <a:tc>
                  <a:txBody>
                    <a:bodyPr wrap="square"/>
                    <a:lstStyle/>
                    <a:p>
                      <a:r>
                        <a:rPr sz="1569" b="1">
                          <a:solidFill>
                            <a:srgbClr val="FFFFFF"/>
                          </a:solidFill>
                          <a:latin typeface="Aptos"/>
                        </a:rPr>
                        <a:t>Angular (este curso)</a:t>
                      </a:r>
                    </a:p>
                  </a:txBody>
                  <a:tcPr anchor="ctr" marL="146304" marR="146304">
                    <a:solidFill>
                      <a:srgbClr val="156082"/>
                    </a:solidFill>
                  </a:tcPr>
                </a:tc>
                <a:tc>
                  <a:txBody>
                    <a:bodyPr wrap="square"/>
                    <a:lstStyle/>
                    <a:p>
                      <a:r>
                        <a:rPr sz="1569" b="1">
                          <a:solidFill>
                            <a:srgbClr val="FFFFFF"/>
                          </a:solidFill>
                          <a:latin typeface="Aptos"/>
                        </a:rPr>
                        <a:t>React</a:t>
                      </a:r>
                    </a:p>
                  </a:txBody>
                  <a:tcPr anchor="ctr" marL="146304" marR="146304">
                    <a:solidFill>
                      <a:srgbClr val="156082"/>
                    </a:solidFill>
                  </a:tcPr>
                </a:tc>
                <a:tc>
                  <a:txBody>
                    <a:bodyPr wrap="square"/>
                    <a:lstStyle/>
                    <a:p>
                      <a:r>
                        <a:rPr sz="1569" b="1">
                          <a:solidFill>
                            <a:srgbClr val="FFFFFF"/>
                          </a:solidFill>
                          <a:latin typeface="Aptos"/>
                        </a:rPr>
                        <a:t>Vue</a:t>
                      </a:r>
                    </a:p>
                  </a:txBody>
                  <a:tcPr anchor="ctr" marL="146304" marR="146304">
                    <a:solidFill>
                      <a:srgbClr val="156082"/>
                    </a:solidFill>
                  </a:tcPr>
                </a:tc>
              </a:tr>
              <a:tr h="543560">
                <a:tc>
                  <a:txBody>
                    <a:bodyPr wrap="square"/>
                    <a:lstStyle/>
                    <a:p>
                      <a:r>
                        <a:rPr sz="1465" b="1">
                          <a:solidFill>
                            <a:srgbClr val="33475B"/>
                          </a:solidFill>
                          <a:latin typeface="Aptos"/>
                        </a:rPr>
                        <a:t>Estado y dependencias</a:t>
                      </a:r>
                    </a:p>
                  </a:txBody>
                  <a:tcPr anchor="ctr" marL="146304" marR="146304">
                    <a:solidFill>
                      <a:srgbClr val="FFFFFF"/>
                    </a:solidFill>
                  </a:tcPr>
                </a:tc>
                <a:tc>
                  <a:txBody>
                    <a:bodyPr wrap="square"/>
                    <a:lstStyle/>
                    <a:p>
                      <a:r>
                        <a:rPr sz="1465" b="0">
                          <a:solidFill>
                            <a:srgbClr val="33475B"/>
                          </a:solidFill>
                          <a:latin typeface="Aptos"/>
                        </a:rPr>
                        <a:t>Servicios, </a:t>
                      </a:r>
                      <a:r>
                        <a:rPr sz="1377" b="0">
                          <a:solidFill>
                            <a:srgbClr val="156082"/>
                          </a:solidFill>
                          <a:latin typeface="Consolas"/>
                        </a:rPr>
                        <a:t>inject()</a:t>
                      </a:r>
                      <a:r>
                        <a:rPr sz="1465" b="0">
                          <a:solidFill>
                            <a:srgbClr val="33475B"/>
                          </a:solidFill>
                          <a:latin typeface="Aptos"/>
                        </a:rPr>
                        <a:t>, signals</a:t>
                      </a:r>
                    </a:p>
                  </a:txBody>
                  <a:tcPr anchor="ctr" marL="146304" marR="146304">
                    <a:solidFill>
                      <a:srgbClr val="FFFFFF"/>
                    </a:solidFill>
                  </a:tcPr>
                </a:tc>
                <a:tc>
                  <a:txBody>
                    <a:bodyPr wrap="square"/>
                    <a:lstStyle/>
                    <a:p>
                      <a:r>
                        <a:rPr sz="1465" b="0">
                          <a:solidFill>
                            <a:srgbClr val="33475B"/>
                          </a:solidFill>
                          <a:latin typeface="Aptos"/>
                        </a:rPr>
                        <a:t>Context API, Zustand, Redux, MobX</a:t>
                      </a:r>
                    </a:p>
                  </a:txBody>
                  <a:tcPr anchor="ctr" marL="146304" marR="146304">
                    <a:solidFill>
                      <a:srgbClr val="FFFFFF"/>
                    </a:solidFill>
                  </a:tcPr>
                </a:tc>
                <a:tc>
                  <a:txBody>
                    <a:bodyPr wrap="square"/>
                    <a:lstStyle/>
                    <a:p>
                      <a:r>
                        <a:rPr sz="1465" b="0">
                          <a:solidFill>
                            <a:srgbClr val="33475B"/>
                          </a:solidFill>
                          <a:latin typeface="Aptos"/>
                        </a:rPr>
                        <a:t>provide/inject, Pinia</a:t>
                      </a:r>
                    </a:p>
                  </a:txBody>
                  <a:tcPr anchor="ctr" marL="146304" marR="146304">
                    <a:solidFill>
                      <a:srgbClr val="FFFFFF"/>
                    </a:solidFill>
                  </a:tcPr>
                </a:tc>
              </a:tr>
              <a:tr h="543560">
                <a:tc>
                  <a:txBody>
                    <a:bodyPr wrap="square"/>
                    <a:lstStyle/>
                    <a:p>
                      <a:r>
                        <a:rPr sz="1465" b="1">
                          <a:solidFill>
                            <a:srgbClr val="33475B"/>
                          </a:solidFill>
                          <a:latin typeface="Aptos"/>
                        </a:rPr>
                        <a:t>Flujos asíncronos</a:t>
                      </a:r>
                    </a:p>
                  </a:txBody>
                  <a:tcPr anchor="ctr" marL="146304" marR="146304">
                    <a:solidFill>
                      <a:srgbClr val="F4F7FA"/>
                    </a:solidFill>
                  </a:tcPr>
                </a:tc>
                <a:tc>
                  <a:txBody>
                    <a:bodyPr wrap="square"/>
                    <a:lstStyle/>
                    <a:p>
                      <a:r>
                        <a:rPr sz="1465" b="0">
                          <a:solidFill>
                            <a:srgbClr val="33475B"/>
                          </a:solidFill>
                          <a:latin typeface="Aptos"/>
                        </a:rPr>
                        <a:t>RxJS</a:t>
                      </a:r>
                    </a:p>
                  </a:txBody>
                  <a:tcPr anchor="ctr" marL="146304" marR="146304">
                    <a:solidFill>
                      <a:srgbClr val="F4F7FA"/>
                    </a:solidFill>
                  </a:tcPr>
                </a:tc>
                <a:tc>
                  <a:txBody>
                    <a:bodyPr wrap="square"/>
                    <a:lstStyle/>
                    <a:p>
                      <a:r>
                        <a:rPr sz="1465" b="0">
                          <a:solidFill>
                            <a:srgbClr val="33475B"/>
                          </a:solidFill>
                          <a:latin typeface="Aptos"/>
                        </a:rPr>
                        <a:t>Hooks y React Query</a:t>
                      </a:r>
                    </a:p>
                  </a:txBody>
                  <a:tcPr anchor="ctr" marL="146304" marR="146304">
                    <a:solidFill>
                      <a:srgbClr val="F4F7FA"/>
                    </a:solidFill>
                  </a:tcPr>
                </a:tc>
                <a:tc>
                  <a:txBody>
                    <a:bodyPr wrap="square"/>
                    <a:lstStyle/>
                    <a:p>
                      <a:r>
                        <a:rPr sz="1465" b="0">
                          <a:solidFill>
                            <a:srgbClr val="33475B"/>
                          </a:solidFill>
                          <a:latin typeface="Aptos"/>
                        </a:rPr>
                        <a:t>Composables y VueUse</a:t>
                      </a:r>
                    </a:p>
                  </a:txBody>
                  <a:tcPr anchor="ctr" marL="146304" marR="146304">
                    <a:solidFill>
                      <a:srgbClr val="F4F7FA"/>
                    </a:solidFill>
                  </a:tcPr>
                </a:tc>
              </a:tr>
              <a:tr h="543560">
                <a:tc>
                  <a:txBody>
                    <a:bodyPr wrap="square"/>
                    <a:lstStyle/>
                    <a:p>
                      <a:r>
                        <a:rPr sz="1465" b="1">
                          <a:solidFill>
                            <a:srgbClr val="33475B"/>
                          </a:solidFill>
                          <a:latin typeface="Aptos"/>
                        </a:rPr>
                        <a:t>Formularios</a:t>
                      </a:r>
                    </a:p>
                  </a:txBody>
                  <a:tcPr anchor="ctr" marL="146304" marR="146304">
                    <a:solidFill>
                      <a:srgbClr val="FFFFFF"/>
                    </a:solidFill>
                  </a:tcPr>
                </a:tc>
                <a:tc>
                  <a:txBody>
                    <a:bodyPr wrap="square"/>
                    <a:lstStyle/>
                    <a:p>
                      <a:r>
                        <a:rPr sz="1465" b="0">
                          <a:solidFill>
                            <a:srgbClr val="33475B"/>
                          </a:solidFill>
                          <a:latin typeface="Aptos"/>
                        </a:rPr>
                        <a:t>Reactive Forms</a:t>
                      </a:r>
                    </a:p>
                  </a:txBody>
                  <a:tcPr anchor="ctr" marL="146304" marR="146304">
                    <a:solidFill>
                      <a:srgbClr val="FFFFFF"/>
                    </a:solidFill>
                  </a:tcPr>
                </a:tc>
                <a:tc>
                  <a:txBody>
                    <a:bodyPr wrap="square"/>
                    <a:lstStyle/>
                    <a:p>
                      <a:r>
                        <a:rPr sz="1465" b="0">
                          <a:solidFill>
                            <a:srgbClr val="33475B"/>
                          </a:solidFill>
                          <a:latin typeface="Aptos"/>
                        </a:rPr>
                        <a:t>React Hook Form, Formik</a:t>
                      </a:r>
                    </a:p>
                  </a:txBody>
                  <a:tcPr anchor="ctr" marL="146304" marR="146304">
                    <a:solidFill>
                      <a:srgbClr val="FFFFFF"/>
                    </a:solidFill>
                  </a:tcPr>
                </a:tc>
                <a:tc>
                  <a:txBody>
                    <a:bodyPr wrap="square"/>
                    <a:lstStyle/>
                    <a:p>
                      <a:r>
                        <a:rPr sz="1465" b="0">
                          <a:solidFill>
                            <a:srgbClr val="33475B"/>
                          </a:solidFill>
                          <a:latin typeface="Aptos"/>
                        </a:rPr>
                        <a:t>Vuelidate, </a:t>
                      </a:r>
                      <a:r>
                        <a:rPr sz="1377" b="0">
                          <a:solidFill>
                            <a:srgbClr val="156082"/>
                          </a:solidFill>
                          <a:latin typeface="Consolas"/>
                        </a:rPr>
                        <a:t>v-model</a:t>
                      </a:r>
                      <a:r>
                        <a:rPr sz="1465" b="0">
                          <a:solidFill>
                            <a:srgbClr val="33475B"/>
                          </a:solidFill>
                          <a:latin typeface="Aptos"/>
                        </a:rPr>
                        <a:t> con reglas</a:t>
                      </a:r>
                    </a:p>
                  </a:txBody>
                  <a:tcPr anchor="ctr" marL="146304" marR="146304">
                    <a:solidFill>
                      <a:srgbClr val="FFFFFF"/>
                    </a:solidFill>
                  </a:tcPr>
                </a:tc>
              </a:tr>
              <a:tr h="543560">
                <a:tc>
                  <a:txBody>
                    <a:bodyPr wrap="square"/>
                    <a:lstStyle/>
                    <a:p>
                      <a:r>
                        <a:rPr sz="1465" b="1">
                          <a:solidFill>
                            <a:srgbClr val="33475B"/>
                          </a:solidFill>
                          <a:latin typeface="Aptos"/>
                        </a:rPr>
                        <a:t>Cliente HTTP</a:t>
                      </a:r>
                    </a:p>
                  </a:txBody>
                  <a:tcPr anchor="ctr" marL="146304" marR="146304">
                    <a:solidFill>
                      <a:srgbClr val="F4F7FA"/>
                    </a:solidFill>
                  </a:tcPr>
                </a:tc>
                <a:tc>
                  <a:txBody>
                    <a:bodyPr wrap="square"/>
                    <a:lstStyle/>
                    <a:p>
                      <a:r>
                        <a:rPr sz="1377" b="0">
                          <a:solidFill>
                            <a:srgbClr val="156082"/>
                          </a:solidFill>
                          <a:latin typeface="Consolas"/>
                        </a:rPr>
                        <a:t>HttpClient</a:t>
                      </a:r>
                      <a:r>
                        <a:rPr sz="1465" b="0">
                          <a:solidFill>
                            <a:srgbClr val="33475B"/>
                          </a:solidFill>
                          <a:latin typeface="Aptos"/>
                        </a:rPr>
                        <a:t> con interceptores</a:t>
                      </a:r>
                    </a:p>
                  </a:txBody>
                  <a:tcPr anchor="ctr" marL="146304" marR="146304">
                    <a:solidFill>
                      <a:srgbClr val="F4F7FA"/>
                    </a:solidFill>
                  </a:tcPr>
                </a:tc>
                <a:tc>
                  <a:txBody>
                    <a:bodyPr wrap="square"/>
                    <a:lstStyle/>
                    <a:p>
                      <a:r>
                        <a:rPr sz="1465" b="0">
                          <a:solidFill>
                            <a:srgbClr val="33475B"/>
                          </a:solidFill>
                          <a:latin typeface="Aptos"/>
                        </a:rPr>
                        <a:t>axios con interceptores, fetch</a:t>
                      </a:r>
                    </a:p>
                  </a:txBody>
                  <a:tcPr anchor="ctr" marL="146304" marR="146304">
                    <a:solidFill>
                      <a:srgbClr val="F4F7FA"/>
                    </a:solidFill>
                  </a:tcPr>
                </a:tc>
                <a:tc>
                  <a:txBody>
                    <a:bodyPr wrap="square"/>
                    <a:lstStyle/>
                    <a:p>
                      <a:r>
                        <a:rPr sz="1465" b="0">
                          <a:solidFill>
                            <a:srgbClr val="33475B"/>
                          </a:solidFill>
                          <a:latin typeface="Aptos"/>
                        </a:rPr>
                        <a:t>axios, fetch</a:t>
                      </a:r>
                    </a:p>
                  </a:txBody>
                  <a:tcPr anchor="ctr" marL="146304" marR="146304">
                    <a:solidFill>
                      <a:srgbClr val="F4F7FA"/>
                    </a:solidFill>
                  </a:tcPr>
                </a:tc>
              </a:tr>
              <a:tr h="543560">
                <a:tc>
                  <a:txBody>
                    <a:bodyPr wrap="square"/>
                    <a:lstStyle/>
                    <a:p>
                      <a:r>
                        <a:rPr sz="1465" b="1">
                          <a:solidFill>
                            <a:srgbClr val="33475B"/>
                          </a:solidFill>
                          <a:latin typeface="Aptos"/>
                        </a:rPr>
                        <a:t>Rutas protegidas</a:t>
                      </a:r>
                    </a:p>
                  </a:txBody>
                  <a:tcPr anchor="ctr" marL="146304" marR="146304">
                    <a:solidFill>
                      <a:srgbClr val="FFFFFF"/>
                    </a:solidFill>
                  </a:tcPr>
                </a:tc>
                <a:tc>
                  <a:txBody>
                    <a:bodyPr wrap="square"/>
                    <a:lstStyle/>
                    <a:p>
                      <a:r>
                        <a:rPr sz="1465" b="0">
                          <a:solidFill>
                            <a:srgbClr val="33475B"/>
                          </a:solidFill>
                          <a:latin typeface="Aptos"/>
                        </a:rPr>
                        <a:t>Router con </a:t>
                      </a:r>
                      <a:r>
                        <a:rPr sz="1377" b="0">
                          <a:solidFill>
                            <a:srgbClr val="156082"/>
                          </a:solidFill>
                          <a:latin typeface="Consolas"/>
                        </a:rPr>
                        <a:t>CanActivateFn</a:t>
                      </a:r>
                    </a:p>
                  </a:txBody>
                  <a:tcPr anchor="ctr" marL="146304" marR="146304">
                    <a:solidFill>
                      <a:srgbClr val="FFFFFF"/>
                    </a:solidFill>
                  </a:tcPr>
                </a:tc>
                <a:tc>
                  <a:txBody>
                    <a:bodyPr wrap="square"/>
                    <a:lstStyle/>
                    <a:p>
                      <a:r>
                        <a:rPr sz="1465" b="0">
                          <a:solidFill>
                            <a:srgbClr val="33475B"/>
                          </a:solidFill>
                          <a:latin typeface="Aptos"/>
                        </a:rPr>
                        <a:t>Rutas protegidas de React Router</a:t>
                      </a:r>
                    </a:p>
                  </a:txBody>
                  <a:tcPr anchor="ctr" marL="146304" marR="146304">
                    <a:solidFill>
                      <a:srgbClr val="FFFFFF"/>
                    </a:solidFill>
                  </a:tcPr>
                </a:tc>
                <a:tc>
                  <a:txBody>
                    <a:bodyPr wrap="square"/>
                    <a:lstStyle/>
                    <a:p>
                      <a:r>
                        <a:rPr sz="1377" b="0">
                          <a:solidFill>
                            <a:srgbClr val="156082"/>
                          </a:solidFill>
                          <a:latin typeface="Consolas"/>
                        </a:rPr>
                        <a:t>beforeEach</a:t>
                      </a:r>
                      <a:r>
                        <a:rPr sz="1465" b="0">
                          <a:solidFill>
                            <a:srgbClr val="33475B"/>
                          </a:solidFill>
                          <a:latin typeface="Aptos"/>
                        </a:rPr>
                        <a:t> de Vue Router</a:t>
                      </a:r>
                    </a:p>
                  </a:txBody>
                  <a:tcPr anchor="ctr" marL="146304" marR="146304">
                    <a:solidFill>
                      <a:srgbClr val="FFFFFF"/>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48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06</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6. Navegación por identificadores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Tabla central, guards y deep links</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Las rutas viven en una sola tabla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5084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411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50848"/>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Tres reglas del marco: una tabla central de rutas, guards centralizados y pasar identificadores, no objetos.</a:t>
            </a:r>
          </a:p>
        </p:txBody>
      </p:sp>
      <p:graphicFrame>
        <p:nvGraphicFramePr>
          <p:cNvPr id="10" name="Table 9"/>
          <p:cNvGraphicFramePr>
            <a:graphicFrameLocks noGrp="1"/>
          </p:cNvGraphicFramePr>
          <p:nvPr/>
        </p:nvGraphicFramePr>
        <p:xfrm>
          <a:off x="566928" y="3224783"/>
          <a:ext cx="11064240" cy="3102860"/>
        </p:xfrm>
        <a:graphic>
          <a:graphicData uri="http://schemas.openxmlformats.org/drawingml/2006/table">
            <a:tbl>
              <a:tblPr firstRow="1">
                <a:tableStyleId>{5C22544A-7EE6-4342-B048-85BDC9FD1C3A}</a:tableStyleId>
              </a:tblPr>
              <a:tblGrid>
                <a:gridCol w="2766060"/>
                <a:gridCol w="2766060"/>
                <a:gridCol w="2766060"/>
                <a:gridCol w="2766060"/>
              </a:tblGrid>
              <a:tr h="620572">
                <a:tc>
                  <a:txBody>
                    <a:bodyPr wrap="square"/>
                    <a:lstStyle/>
                    <a:p>
                      <a:r>
                        <a:rPr sz="1641" b="1">
                          <a:solidFill>
                            <a:srgbClr val="FFFFFF"/>
                          </a:solidFill>
                          <a:latin typeface="Aptos"/>
                        </a:rPr>
                        <a:t>Ruta</a:t>
                      </a:r>
                    </a:p>
                  </a:txBody>
                  <a:tcPr anchor="ctr" marL="146304" marR="146304">
                    <a:solidFill>
                      <a:srgbClr val="156082"/>
                    </a:solidFill>
                  </a:tcPr>
                </a:tc>
                <a:tc>
                  <a:txBody>
                    <a:bodyPr wrap="square"/>
                    <a:lstStyle/>
                    <a:p>
                      <a:r>
                        <a:rPr sz="1641" b="1">
                          <a:solidFill>
                            <a:srgbClr val="FFFFFF"/>
                          </a:solidFill>
                          <a:latin typeface="Aptos"/>
                        </a:rPr>
                        <a:t>Pantalla</a:t>
                      </a:r>
                    </a:p>
                  </a:txBody>
                  <a:tcPr anchor="ctr" marL="146304" marR="146304">
                    <a:solidFill>
                      <a:srgbClr val="156082"/>
                    </a:solidFill>
                  </a:tcPr>
                </a:tc>
                <a:tc>
                  <a:txBody>
                    <a:bodyPr wrap="square"/>
                    <a:lstStyle/>
                    <a:p>
                      <a:r>
                        <a:rPr sz="1641" b="1">
                          <a:solidFill>
                            <a:srgbClr val="FFFFFF"/>
                          </a:solidFill>
                          <a:latin typeface="Aptos"/>
                        </a:rPr>
                        <a:t>Argumentos</a:t>
                      </a:r>
                    </a:p>
                  </a:txBody>
                  <a:tcPr anchor="ctr" marL="146304" marR="146304">
                    <a:solidFill>
                      <a:srgbClr val="156082"/>
                    </a:solidFill>
                  </a:tcPr>
                </a:tc>
                <a:tc>
                  <a:txBody>
                    <a:bodyPr wrap="square"/>
                    <a:lstStyle/>
                    <a:p>
                      <a:r>
                        <a:rPr sz="1641" b="1">
                          <a:solidFill>
                            <a:srgbClr val="FFFFFF"/>
                          </a:solidFill>
                          <a:latin typeface="Aptos"/>
                        </a:rPr>
                        <a:t>Requiere sesión</a:t>
                      </a:r>
                    </a:p>
                  </a:txBody>
                  <a:tcPr anchor="ctr" marL="146304" marR="146304">
                    <a:solidFill>
                      <a:srgbClr val="156082"/>
                    </a:solidFill>
                  </a:tcPr>
                </a:tc>
              </a:tr>
              <a:tr h="620572">
                <a:tc>
                  <a:txBody>
                    <a:bodyPr wrap="square"/>
                    <a:lstStyle/>
                    <a:p>
                      <a:r>
                        <a:rPr sz="1439" b="1">
                          <a:solidFill>
                            <a:srgbClr val="156082"/>
                          </a:solidFill>
                          <a:latin typeface="Consolas"/>
                        </a:rPr>
                        <a:t>/login</a:t>
                      </a:r>
                    </a:p>
                  </a:txBody>
                  <a:tcPr anchor="ctr" marL="146304" marR="146304">
                    <a:solidFill>
                      <a:srgbClr val="FFFFFF"/>
                    </a:solidFill>
                  </a:tcPr>
                </a:tc>
                <a:tc>
                  <a:txBody>
                    <a:bodyPr wrap="square"/>
                    <a:lstStyle/>
                    <a:p>
                      <a:r>
                        <a:rPr sz="1531" b="0">
                          <a:solidFill>
                            <a:srgbClr val="33475B"/>
                          </a:solidFill>
                          <a:latin typeface="Aptos"/>
                        </a:rPr>
                        <a:t>LoginPage</a:t>
                      </a:r>
                    </a:p>
                  </a:txBody>
                  <a:tcPr anchor="ctr" marL="146304" marR="146304">
                    <a:solidFill>
                      <a:srgbClr val="FFFFFF"/>
                    </a:solidFill>
                  </a:tcPr>
                </a:tc>
                <a:tc>
                  <a:txBody>
                    <a:bodyPr wrap="square"/>
                    <a:lstStyle/>
                    <a:p>
                      <a:r>
                        <a:rPr sz="1531" b="0">
                          <a:solidFill>
                            <a:srgbClr val="33475B"/>
                          </a:solidFill>
                          <a:latin typeface="Aptos"/>
                        </a:rPr>
                        <a:t>—</a:t>
                      </a:r>
                    </a:p>
                  </a:txBody>
                  <a:tcPr anchor="ctr" marL="146304" marR="146304">
                    <a:solidFill>
                      <a:srgbClr val="FFFFFF"/>
                    </a:solidFill>
                  </a:tcPr>
                </a:tc>
                <a:tc>
                  <a:txBody>
                    <a:bodyPr wrap="square"/>
                    <a:lstStyle/>
                    <a:p>
                      <a:r>
                        <a:rPr sz="1531" b="0">
                          <a:solidFill>
                            <a:srgbClr val="33475B"/>
                          </a:solidFill>
                          <a:latin typeface="Aptos"/>
                        </a:rPr>
                        <a:t>No</a:t>
                      </a:r>
                    </a:p>
                  </a:txBody>
                  <a:tcPr anchor="ctr" marL="146304" marR="146304">
                    <a:solidFill>
                      <a:srgbClr val="FFFFFF"/>
                    </a:solidFill>
                  </a:tcPr>
                </a:tc>
              </a:tr>
              <a:tr h="620572">
                <a:tc>
                  <a:txBody>
                    <a:bodyPr wrap="square"/>
                    <a:lstStyle/>
                    <a:p>
                      <a:r>
                        <a:rPr sz="1439" b="1">
                          <a:solidFill>
                            <a:srgbClr val="156082"/>
                          </a:solidFill>
                          <a:latin typeface="Consolas"/>
                        </a:rPr>
                        <a:t>/visitas</a:t>
                      </a:r>
                    </a:p>
                  </a:txBody>
                  <a:tcPr anchor="ctr" marL="146304" marR="146304">
                    <a:solidFill>
                      <a:srgbClr val="F4F7FA"/>
                    </a:solidFill>
                  </a:tcPr>
                </a:tc>
                <a:tc>
                  <a:txBody>
                    <a:bodyPr wrap="square"/>
                    <a:lstStyle/>
                    <a:p>
                      <a:r>
                        <a:rPr sz="1531" b="0">
                          <a:solidFill>
                            <a:srgbClr val="33475B"/>
                          </a:solidFill>
                          <a:latin typeface="Aptos"/>
                        </a:rPr>
                        <a:t>VisitasListaPage</a:t>
                      </a:r>
                    </a:p>
                  </a:txBody>
                  <a:tcPr anchor="ctr" marL="146304" marR="146304">
                    <a:solidFill>
                      <a:srgbClr val="F4F7FA"/>
                    </a:solidFill>
                  </a:tcPr>
                </a:tc>
                <a:tc>
                  <a:txBody>
                    <a:bodyPr wrap="square"/>
                    <a:lstStyle/>
                    <a:p>
                      <a:r>
                        <a:rPr sz="1531" b="0">
                          <a:solidFill>
                            <a:srgbClr val="33475B"/>
                          </a:solidFill>
                          <a:latin typeface="Aptos"/>
                        </a:rPr>
                        <a:t>—</a:t>
                      </a:r>
                    </a:p>
                  </a:txBody>
                  <a:tcPr anchor="ctr" marL="146304" marR="146304">
                    <a:solidFill>
                      <a:srgbClr val="F4F7FA"/>
                    </a:solidFill>
                  </a:tcPr>
                </a:tc>
                <a:tc>
                  <a:txBody>
                    <a:bodyPr wrap="square"/>
                    <a:lstStyle/>
                    <a:p>
                      <a:r>
                        <a:rPr sz="1531" b="0">
                          <a:solidFill>
                            <a:srgbClr val="33475B"/>
                          </a:solidFill>
                          <a:latin typeface="Aptos"/>
                        </a:rPr>
                        <a:t>Sí</a:t>
                      </a:r>
                    </a:p>
                  </a:txBody>
                  <a:tcPr anchor="ctr" marL="146304" marR="146304">
                    <a:solidFill>
                      <a:srgbClr val="F4F7FA"/>
                    </a:solidFill>
                  </a:tcPr>
                </a:tc>
              </a:tr>
              <a:tr h="620572">
                <a:tc>
                  <a:txBody>
                    <a:bodyPr wrap="square"/>
                    <a:lstStyle/>
                    <a:p>
                      <a:r>
                        <a:rPr sz="1439" b="1">
                          <a:solidFill>
                            <a:srgbClr val="156082"/>
                          </a:solidFill>
                          <a:latin typeface="Consolas"/>
                        </a:rPr>
                        <a:t>/visitas/:id</a:t>
                      </a:r>
                    </a:p>
                  </a:txBody>
                  <a:tcPr anchor="ctr" marL="146304" marR="146304">
                    <a:solidFill>
                      <a:srgbClr val="FFFFFF"/>
                    </a:solidFill>
                  </a:tcPr>
                </a:tc>
                <a:tc>
                  <a:txBody>
                    <a:bodyPr wrap="square"/>
                    <a:lstStyle/>
                    <a:p>
                      <a:r>
                        <a:rPr sz="1531" b="0">
                          <a:solidFill>
                            <a:srgbClr val="33475B"/>
                          </a:solidFill>
                          <a:latin typeface="Aptos"/>
                        </a:rPr>
                        <a:t>VisitaDetallePage</a:t>
                      </a:r>
                    </a:p>
                  </a:txBody>
                  <a:tcPr anchor="ctr" marL="146304" marR="146304">
                    <a:solidFill>
                      <a:srgbClr val="FFFFFF"/>
                    </a:solidFill>
                  </a:tcPr>
                </a:tc>
                <a:tc>
                  <a:txBody>
                    <a:bodyPr wrap="square"/>
                    <a:lstStyle/>
                    <a:p>
                      <a:r>
                        <a:rPr sz="1439" b="0">
                          <a:solidFill>
                            <a:srgbClr val="156082"/>
                          </a:solidFill>
                          <a:latin typeface="Consolas"/>
                        </a:rPr>
                        <a:t>id</a:t>
                      </a:r>
                      <a:r>
                        <a:rPr sz="1531" b="0">
                          <a:solidFill>
                            <a:srgbClr val="33475B"/>
                          </a:solidFill>
                          <a:latin typeface="Aptos"/>
                        </a:rPr>
                        <a:t> (texto)</a:t>
                      </a:r>
                    </a:p>
                  </a:txBody>
                  <a:tcPr anchor="ctr" marL="146304" marR="146304">
                    <a:solidFill>
                      <a:srgbClr val="FFFFFF"/>
                    </a:solidFill>
                  </a:tcPr>
                </a:tc>
                <a:tc>
                  <a:txBody>
                    <a:bodyPr wrap="square"/>
                    <a:lstStyle/>
                    <a:p>
                      <a:r>
                        <a:rPr sz="1531" b="0">
                          <a:solidFill>
                            <a:srgbClr val="33475B"/>
                          </a:solidFill>
                          <a:latin typeface="Aptos"/>
                        </a:rPr>
                        <a:t>Sí</a:t>
                      </a:r>
                    </a:p>
                  </a:txBody>
                  <a:tcPr anchor="ctr" marL="146304" marR="146304">
                    <a:solidFill>
                      <a:srgbClr val="FFFFFF"/>
                    </a:solidFill>
                  </a:tcPr>
                </a:tc>
              </a:tr>
              <a:tr h="620572">
                <a:tc>
                  <a:txBody>
                    <a:bodyPr wrap="square"/>
                    <a:lstStyle/>
                    <a:p>
                      <a:r>
                        <a:rPr sz="1439" b="1">
                          <a:solidFill>
                            <a:srgbClr val="156082"/>
                          </a:solidFill>
                          <a:latin typeface="Consolas"/>
                        </a:rPr>
                        <a:t>/ajustes</a:t>
                      </a:r>
                    </a:p>
                  </a:txBody>
                  <a:tcPr anchor="ctr" marL="146304" marR="146304">
                    <a:solidFill>
                      <a:srgbClr val="F4F7FA"/>
                    </a:solidFill>
                  </a:tcPr>
                </a:tc>
                <a:tc>
                  <a:txBody>
                    <a:bodyPr wrap="square"/>
                    <a:lstStyle/>
                    <a:p>
                      <a:r>
                        <a:rPr sz="1531" b="0">
                          <a:solidFill>
                            <a:srgbClr val="33475B"/>
                          </a:solidFill>
                          <a:latin typeface="Aptos"/>
                        </a:rPr>
                        <a:t>AjustesPage</a:t>
                      </a:r>
                    </a:p>
                  </a:txBody>
                  <a:tcPr anchor="ctr" marL="146304" marR="146304">
                    <a:solidFill>
                      <a:srgbClr val="F4F7FA"/>
                    </a:solidFill>
                  </a:tcPr>
                </a:tc>
                <a:tc>
                  <a:txBody>
                    <a:bodyPr wrap="square"/>
                    <a:lstStyle/>
                    <a:p>
                      <a:r>
                        <a:rPr sz="1531" b="0">
                          <a:solidFill>
                            <a:srgbClr val="33475B"/>
                          </a:solidFill>
                          <a:latin typeface="Aptos"/>
                        </a:rPr>
                        <a:t>—</a:t>
                      </a:r>
                    </a:p>
                  </a:txBody>
                  <a:tcPr anchor="ctr" marL="146304" marR="146304">
                    <a:solidFill>
                      <a:srgbClr val="F4F7FA"/>
                    </a:solidFill>
                  </a:tcPr>
                </a:tc>
                <a:tc>
                  <a:txBody>
                    <a:bodyPr wrap="square"/>
                    <a:lstStyle/>
                    <a:p>
                      <a:r>
                        <a:rPr sz="1531" b="0">
                          <a:solidFill>
                            <a:srgbClr val="33475B"/>
                          </a:solidFill>
                          <a:latin typeface="Aptos"/>
                        </a:rPr>
                        <a:t>Sí</a:t>
                      </a:r>
                    </a:p>
                  </a:txBody>
                  <a:tcPr anchor="ctr" marL="146304" marR="146304">
                    <a:solidFill>
                      <a:srgbClr val="F4F7FA"/>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48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Rutas y guard, en un solo lugar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40487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06" b="1">
                <a:solidFill>
                  <a:srgbClr val="E97132"/>
                </a:solidFill>
                <a:latin typeface="Aptos"/>
              </a:rPr>
              <a:t>APP.ROUTES.TS · EXTRACTO</a:t>
            </a:r>
          </a:p>
        </p:txBody>
      </p:sp>
      <p:sp>
        <p:nvSpPr>
          <p:cNvPr id="10" name="TextBox 9"/>
          <p:cNvSpPr txBox="1"/>
          <p:nvPr/>
        </p:nvSpPr>
        <p:spPr>
          <a:xfrm>
            <a:off x="877824" y="2139696"/>
            <a:ext cx="10515600" cy="1673352"/>
          </a:xfrm>
          <a:prstGeom prst="rect">
            <a:avLst/>
          </a:prstGeom>
          <a:noFill/>
        </p:spPr>
        <p:txBody>
          <a:bodyPr wrap="none" lIns="0" tIns="0">
            <a:spAutoFit/>
          </a:bodyPr>
          <a:lstStyle/>
          <a:p>
            <a:pPr>
              <a:lnSpc>
                <a:spcPct val="125000"/>
              </a:lnSpc>
            </a:pPr>
            <a:r>
              <a:rPr sz="1521">
                <a:solidFill>
                  <a:srgbClr val="E8E8E8"/>
                </a:solidFill>
                <a:latin typeface="Consolas"/>
              </a:rPr>
              <a:t>export const rutas: Routes = [</a:t>
            </a:r>
          </a:p>
          <a:p>
            <a:pPr>
              <a:lnSpc>
                <a:spcPct val="125000"/>
              </a:lnSpc>
            </a:pPr>
            <a:r>
              <a:rPr sz="1521">
                <a:solidFill>
                  <a:srgbClr val="E8E8E8"/>
                </a:solidFill>
                <a:latin typeface="Consolas"/>
              </a:rPr>
              <a:t>  { path: 'login', loadComponent: () =&gt; import('…/auth/presentation/login.page') },</a:t>
            </a:r>
          </a:p>
          <a:p>
            <a:pPr>
              <a:lnSpc>
                <a:spcPct val="125000"/>
              </a:lnSpc>
            </a:pPr>
            <a:r>
              <a:rPr sz="1521">
                <a:solidFill>
                  <a:srgbClr val="E8E8E8"/>
                </a:solidFill>
                <a:latin typeface="Consolas"/>
              </a:rPr>
              <a:t>  { path: 'visitas', canActivate: [sesionGuard], providers: visitasProviders, children: [</a:t>
            </a:r>
          </a:p>
          <a:p>
            <a:pPr>
              <a:lnSpc>
                <a:spcPct val="125000"/>
              </a:lnSpc>
            </a:pPr>
            <a:r>
              <a:rPr sz="1521">
                <a:solidFill>
                  <a:srgbClr val="E8E8E8"/>
                </a:solidFill>
                <a:latin typeface="Consolas"/>
              </a:rPr>
              <a:t>    { path: '', loadComponent: () =&gt; import('…/visitas/presentation/visitas-lista.page') },</a:t>
            </a:r>
          </a:p>
          <a:p>
            <a:pPr>
              <a:lnSpc>
                <a:spcPct val="125000"/>
              </a:lnSpc>
            </a:pPr>
            <a:r>
              <a:rPr sz="1521">
                <a:solidFill>
                  <a:srgbClr val="E8E8E8"/>
                </a:solidFill>
                <a:latin typeface="Consolas"/>
              </a:rPr>
              <a:t>    { path: ':id', loadComponent: () =&gt; import('…/visitas/presentation/visita-detalle.page') },</a:t>
            </a:r>
          </a:p>
          <a:p>
            <a:pPr>
              <a:lnSpc>
                <a:spcPct val="125000"/>
              </a:lnSpc>
            </a:pPr>
            <a:r>
              <a:rPr sz="1521">
                <a:solidFill>
                  <a:srgbClr val="E8E8E8"/>
                </a:solidFill>
                <a:latin typeface="Consolas"/>
              </a:rPr>
              <a:t>  ] }, { path: '**', redirectTo: 'visitas' } ];</a:t>
            </a:r>
          </a:p>
        </p:txBody>
      </p:sp>
      <p:sp>
        <p:nvSpPr>
          <p:cNvPr id="11" name="Rounded Rectangle 10"/>
          <p:cNvSpPr/>
          <p:nvPr/>
        </p:nvSpPr>
        <p:spPr>
          <a:xfrm>
            <a:off x="566928" y="4178808"/>
            <a:ext cx="11064240" cy="2148840"/>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39826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361688"/>
            <a:ext cx="7315200" cy="237744"/>
          </a:xfrm>
          <a:prstGeom prst="rect">
            <a:avLst/>
          </a:prstGeom>
          <a:noFill/>
        </p:spPr>
        <p:txBody>
          <a:bodyPr wrap="square" anchor="t" lIns="0" rIns="0" tIns="0" bIns="0">
            <a:spAutoFit/>
          </a:bodyPr>
          <a:lstStyle/>
          <a:p>
            <a:pPr algn="l"/>
            <a:r>
              <a:rPr sz="1206" b="1">
                <a:solidFill>
                  <a:srgbClr val="E97132"/>
                </a:solidFill>
                <a:latin typeface="Aptos"/>
              </a:rPr>
              <a:t>CORE/AUTH/SESION.GUARD.TS · LA VERIFICACIÓN VIVE EN UN LUGAR</a:t>
            </a:r>
          </a:p>
        </p:txBody>
      </p:sp>
      <p:sp>
        <p:nvSpPr>
          <p:cNvPr id="14" name="TextBox 13"/>
          <p:cNvSpPr txBox="1"/>
          <p:nvPr/>
        </p:nvSpPr>
        <p:spPr>
          <a:xfrm>
            <a:off x="877824" y="4745736"/>
            <a:ext cx="10515600" cy="1417320"/>
          </a:xfrm>
          <a:prstGeom prst="rect">
            <a:avLst/>
          </a:prstGeom>
          <a:noFill/>
        </p:spPr>
        <p:txBody>
          <a:bodyPr wrap="none" lIns="0" tIns="0">
            <a:spAutoFit/>
          </a:bodyPr>
          <a:lstStyle/>
          <a:p>
            <a:pPr>
              <a:lnSpc>
                <a:spcPct val="125000"/>
              </a:lnSpc>
            </a:pPr>
            <a:r>
              <a:rPr sz="1521">
                <a:solidFill>
                  <a:srgbClr val="E8E8E8"/>
                </a:solidFill>
                <a:latin typeface="Consolas"/>
              </a:rPr>
              <a:t>export const sesionGuard: CanActivateFn = (_ruta, estado) =&gt; {</a:t>
            </a:r>
          </a:p>
          <a:p>
            <a:pPr>
              <a:lnSpc>
                <a:spcPct val="125000"/>
              </a:lnSpc>
            </a:pPr>
            <a:r>
              <a:rPr sz="1521">
                <a:solidFill>
                  <a:srgbClr val="E8E8E8"/>
                </a:solidFill>
                <a:latin typeface="Consolas"/>
              </a:rPr>
              <a:t>  const sesion = inject(SesionService), router = inject(Router);</a:t>
            </a:r>
          </a:p>
          <a:p>
            <a:pPr>
              <a:lnSpc>
                <a:spcPct val="125000"/>
              </a:lnSpc>
            </a:pPr>
            <a:r>
              <a:rPr sz="1521">
                <a:solidFill>
                  <a:srgbClr val="E8E8E8"/>
                </a:solidFill>
                <a:latin typeface="Consolas"/>
              </a:rPr>
              <a:t>  return sesion.autenticado() ? true</a:t>
            </a:r>
          </a:p>
          <a:p>
            <a:pPr>
              <a:lnSpc>
                <a:spcPct val="125000"/>
              </a:lnSpc>
            </a:pPr>
            <a:r>
              <a:rPr sz="1521">
                <a:solidFill>
                  <a:srgbClr val="E8E8E8"/>
                </a:solidFill>
                <a:latin typeface="Consolas"/>
              </a:rPr>
              <a:t>    : router.createUrlTree(['/login'], { queryParams: { volver: estado.url } });</a:t>
            </a:r>
          </a:p>
          <a:p>
            <a:pPr>
              <a:lnSpc>
                <a:spcPct val="125000"/>
              </a:lnSpc>
            </a:pPr>
            <a:r>
              <a:rPr sz="1521">
                <a:solidFill>
                  <a:srgbClr val="E8E8E8"/>
                </a:solidFill>
                <a:latin typeface="Consolas"/>
              </a:rPr>
              <a:t>};</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48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Pasa ids: el deep link no trae objetos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3480816" cy="189097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3078480" cy="1177747"/>
          </a:xfrm>
          <a:prstGeom prst="rect">
            <a:avLst/>
          </a:prstGeom>
          <a:noFill/>
        </p:spPr>
        <p:txBody>
          <a:bodyPr wrap="square" anchor="t" lIns="0" rIns="0" tIns="0" bIns="0">
            <a:spAutoFit/>
          </a:bodyPr>
          <a:lstStyle/>
          <a:p>
            <a:pPr algn="l"/>
            <a:r>
              <a:rPr sz="1718" b="1">
                <a:solidFill>
                  <a:srgbClr val="0E2841"/>
                </a:solidFill>
                <a:latin typeface="Aptos Display"/>
              </a:rPr>
              <a:t>Se pierde</a:t>
            </a:r>
          </a:p>
          <a:p>
            <a:pPr algn="l">
              <a:lnSpc>
                <a:spcPct val="120000"/>
              </a:lnSpc>
              <a:spcBef>
                <a:spcPts val="700"/>
              </a:spcBef>
            </a:pPr>
            <a:r>
              <a:rPr sz="1314" b="0">
                <a:solidFill>
                  <a:srgbClr val="33475B"/>
                </a:solidFill>
                <a:latin typeface="Aptos"/>
              </a:rPr>
              <a:t>Con un deep link, una recarga o si el sistema mata y restaura la app</a:t>
            </a:r>
          </a:p>
        </p:txBody>
      </p:sp>
      <p:sp>
        <p:nvSpPr>
          <p:cNvPr id="10" name="Rounded Rectangle 9"/>
          <p:cNvSpPr/>
          <p:nvPr/>
        </p:nvSpPr>
        <p:spPr>
          <a:xfrm>
            <a:off x="4358640" y="1572768"/>
            <a:ext cx="3480816" cy="189097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084832"/>
            <a:ext cx="3078480" cy="1177747"/>
          </a:xfrm>
          <a:prstGeom prst="rect">
            <a:avLst/>
          </a:prstGeom>
          <a:noFill/>
        </p:spPr>
        <p:txBody>
          <a:bodyPr wrap="square" anchor="t" lIns="0" rIns="0" tIns="0" bIns="0">
            <a:spAutoFit/>
          </a:bodyPr>
          <a:lstStyle/>
          <a:p>
            <a:pPr algn="l"/>
            <a:r>
              <a:rPr sz="1718" b="1">
                <a:solidFill>
                  <a:srgbClr val="0E2841"/>
                </a:solidFill>
                <a:latin typeface="Aptos Display"/>
              </a:rPr>
              <a:t>Envejece</a:t>
            </a:r>
          </a:p>
          <a:p>
            <a:pPr algn="l">
              <a:lnSpc>
                <a:spcPct val="120000"/>
              </a:lnSpc>
              <a:spcBef>
                <a:spcPts val="700"/>
              </a:spcBef>
            </a:pPr>
            <a:r>
              <a:rPr sz="1314" b="0">
                <a:solidFill>
                  <a:srgbClr val="33475B"/>
                </a:solidFill>
                <a:latin typeface="Aptos"/>
              </a:rPr>
              <a:t>El detalle muestra la copia de la lista, no la versión actual</a:t>
            </a:r>
          </a:p>
        </p:txBody>
      </p:sp>
      <p:sp>
        <p:nvSpPr>
          <p:cNvPr id="13" name="Rounded Rectangle 12"/>
          <p:cNvSpPr/>
          <p:nvPr/>
        </p:nvSpPr>
        <p:spPr>
          <a:xfrm>
            <a:off x="8150352" y="1572768"/>
            <a:ext cx="3480816" cy="189097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084832"/>
            <a:ext cx="3078480" cy="1177747"/>
          </a:xfrm>
          <a:prstGeom prst="rect">
            <a:avLst/>
          </a:prstGeom>
          <a:noFill/>
        </p:spPr>
        <p:txBody>
          <a:bodyPr wrap="square" anchor="t" lIns="0" rIns="0" tIns="0" bIns="0">
            <a:spAutoFit/>
          </a:bodyPr>
          <a:lstStyle/>
          <a:p>
            <a:pPr algn="l"/>
            <a:r>
              <a:rPr sz="1718" b="1">
                <a:solidFill>
                  <a:srgbClr val="0E2841"/>
                </a:solidFill>
                <a:latin typeface="Aptos Display"/>
              </a:rPr>
              <a:t>Acopla</a:t>
            </a:r>
          </a:p>
          <a:p>
            <a:pPr algn="l">
              <a:lnSpc>
                <a:spcPct val="120000"/>
              </a:lnSpc>
              <a:spcBef>
                <a:spcPts val="700"/>
              </a:spcBef>
            </a:pPr>
            <a:r>
              <a:rPr sz="1314" b="0">
                <a:solidFill>
                  <a:srgbClr val="33475B"/>
                </a:solidFill>
                <a:latin typeface="Aptos"/>
              </a:rPr>
              <a:t>El detalle depende de la forma del objeto que le pasa la lista</a:t>
            </a:r>
          </a:p>
        </p:txBody>
      </p:sp>
      <p:sp>
        <p:nvSpPr>
          <p:cNvPr id="16" name="Rounded Rectangle 15"/>
          <p:cNvSpPr/>
          <p:nvPr/>
        </p:nvSpPr>
        <p:spPr>
          <a:xfrm>
            <a:off x="566928" y="3798070"/>
            <a:ext cx="2478024" cy="121318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798070"/>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113499"/>
            <a:ext cx="2185416" cy="824969"/>
          </a:xfrm>
          <a:prstGeom prst="rect">
            <a:avLst/>
          </a:prstGeom>
          <a:noFill/>
        </p:spPr>
        <p:txBody>
          <a:bodyPr wrap="square" anchor="t" lIns="0" rIns="0" tIns="0" bIns="0">
            <a:spAutoFit/>
          </a:bodyPr>
          <a:lstStyle/>
          <a:p>
            <a:pPr algn="ctr"/>
            <a:r>
              <a:rPr sz="1567" b="1">
                <a:solidFill>
                  <a:srgbClr val="0E2841"/>
                </a:solidFill>
                <a:latin typeface="Aptos Display"/>
              </a:rPr>
              <a:t>Notificación</a:t>
            </a:r>
          </a:p>
          <a:p>
            <a:pPr algn="ctr">
              <a:lnSpc>
                <a:spcPct val="120000"/>
              </a:lnSpc>
              <a:spcBef>
                <a:spcPts val="700"/>
              </a:spcBef>
            </a:pPr>
            <a:r>
              <a:rPr sz="1213" b="0">
                <a:solidFill>
                  <a:srgbClr val="7A8B9E"/>
                </a:solidFill>
                <a:latin typeface="Aptos"/>
              </a:rPr>
              <a:t>«Tienes una visita mañana»</a:t>
            </a:r>
          </a:p>
        </p:txBody>
      </p:sp>
      <p:sp>
        <p:nvSpPr>
          <p:cNvPr id="19" name="Chevron 18"/>
          <p:cNvSpPr/>
          <p:nvPr/>
        </p:nvSpPr>
        <p:spPr>
          <a:xfrm>
            <a:off x="3136392" y="4186290"/>
            <a:ext cx="201168" cy="43674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429000" y="3798070"/>
            <a:ext cx="2478024" cy="121318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29000" y="3798070"/>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75304" y="4113499"/>
            <a:ext cx="2185416" cy="824969"/>
          </a:xfrm>
          <a:prstGeom prst="rect">
            <a:avLst/>
          </a:prstGeom>
          <a:noFill/>
        </p:spPr>
        <p:txBody>
          <a:bodyPr wrap="square" anchor="t" lIns="0" rIns="0" tIns="0" bIns="0">
            <a:spAutoFit/>
          </a:bodyPr>
          <a:lstStyle/>
          <a:p>
            <a:pPr algn="ctr"/>
            <a:r>
              <a:rPr sz="1567" b="1">
                <a:solidFill>
                  <a:srgbClr val="0E2841"/>
                </a:solidFill>
                <a:latin typeface="Aptos Display"/>
              </a:rPr>
              <a:t>Plugin App</a:t>
            </a:r>
          </a:p>
          <a:p>
            <a:pPr algn="ctr">
              <a:lnSpc>
                <a:spcPct val="120000"/>
              </a:lnSpc>
              <a:spcBef>
                <a:spcPts val="700"/>
              </a:spcBef>
            </a:pPr>
            <a:r>
              <a:rPr sz="1213" b="0">
                <a:solidFill>
                  <a:srgbClr val="7A8B9E"/>
                </a:solidFill>
                <a:latin typeface="Aptos"/>
              </a:rPr>
              <a:t>evento appUrlOpen</a:t>
            </a:r>
          </a:p>
        </p:txBody>
      </p:sp>
      <p:sp>
        <p:nvSpPr>
          <p:cNvPr id="23" name="Chevron 22"/>
          <p:cNvSpPr/>
          <p:nvPr/>
        </p:nvSpPr>
        <p:spPr>
          <a:xfrm>
            <a:off x="5998464" y="4186290"/>
            <a:ext cx="201168" cy="43674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91072" y="3798070"/>
            <a:ext cx="2478024" cy="121318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91072" y="3798070"/>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7376" y="4113499"/>
            <a:ext cx="2185416" cy="824969"/>
          </a:xfrm>
          <a:prstGeom prst="rect">
            <a:avLst/>
          </a:prstGeom>
          <a:noFill/>
        </p:spPr>
        <p:txBody>
          <a:bodyPr wrap="square" anchor="t" lIns="0" rIns="0" tIns="0" bIns="0">
            <a:spAutoFit/>
          </a:bodyPr>
          <a:lstStyle/>
          <a:p>
            <a:pPr algn="ctr"/>
            <a:r>
              <a:rPr sz="1567" b="1">
                <a:solidFill>
                  <a:srgbClr val="0E2841"/>
                </a:solidFill>
                <a:latin typeface="Aptos Display"/>
              </a:rPr>
              <a:t>Adaptador en core/</a:t>
            </a:r>
          </a:p>
          <a:p>
            <a:pPr algn="ctr">
              <a:lnSpc>
                <a:spcPct val="120000"/>
              </a:lnSpc>
              <a:spcBef>
                <a:spcPts val="700"/>
              </a:spcBef>
            </a:pPr>
            <a:r>
              <a:rPr sz="1213" b="0">
                <a:solidFill>
                  <a:srgbClr val="7A8B9E"/>
                </a:solidFill>
                <a:latin typeface="Aptos"/>
              </a:rPr>
              <a:t>valida la ruta</a:t>
            </a:r>
          </a:p>
        </p:txBody>
      </p:sp>
      <p:sp>
        <p:nvSpPr>
          <p:cNvPr id="27" name="Chevron 26"/>
          <p:cNvSpPr/>
          <p:nvPr/>
        </p:nvSpPr>
        <p:spPr>
          <a:xfrm>
            <a:off x="8860536" y="4186290"/>
            <a:ext cx="201168" cy="436748"/>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53144" y="3798070"/>
            <a:ext cx="2478024" cy="1213189"/>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53144" y="3798070"/>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99448" y="4113499"/>
            <a:ext cx="2185416" cy="824969"/>
          </a:xfrm>
          <a:prstGeom prst="rect">
            <a:avLst/>
          </a:prstGeom>
          <a:noFill/>
        </p:spPr>
        <p:txBody>
          <a:bodyPr wrap="square" anchor="t" lIns="0" rIns="0" tIns="0" bIns="0">
            <a:spAutoFit/>
          </a:bodyPr>
          <a:lstStyle/>
          <a:p>
            <a:pPr algn="ctr"/>
            <a:r>
              <a:rPr sz="1567" b="1">
                <a:solidFill>
                  <a:srgbClr val="0E2841"/>
                </a:solidFill>
                <a:latin typeface="Aptos Display"/>
              </a:rPr>
              <a:t>Router</a:t>
            </a:r>
          </a:p>
          <a:p>
            <a:pPr algn="ctr">
              <a:lnSpc>
                <a:spcPct val="120000"/>
              </a:lnSpc>
              <a:spcBef>
                <a:spcPts val="700"/>
              </a:spcBef>
            </a:pPr>
            <a:r>
              <a:rPr sz="1213" b="0">
                <a:solidFill>
                  <a:srgbClr val="7A8B9E"/>
                </a:solidFill>
                <a:latin typeface="Aptos"/>
              </a:rPr>
              <a:t>navigateByUrl() sobre la misma tabla</a:t>
            </a:r>
          </a:p>
        </p:txBody>
      </p:sp>
      <p:sp>
        <p:nvSpPr>
          <p:cNvPr id="31" name="Oval 30"/>
          <p:cNvSpPr/>
          <p:nvPr/>
        </p:nvSpPr>
        <p:spPr>
          <a:xfrm>
            <a:off x="585216" y="554080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5345582"/>
            <a:ext cx="10698480" cy="491032"/>
          </a:xfrm>
          <a:prstGeom prst="rect">
            <a:avLst/>
          </a:prstGeom>
          <a:noFill/>
        </p:spPr>
        <p:txBody>
          <a:bodyPr wrap="square" anchor="ctr" lIns="0" rIns="0" tIns="0" bIns="0">
            <a:spAutoFit/>
          </a:bodyPr>
          <a:lstStyle/>
          <a:p>
            <a:pPr algn="l"/>
            <a:r>
              <a:rPr sz="1995" b="1">
                <a:solidFill>
                  <a:srgbClr val="156082"/>
                </a:solidFill>
                <a:latin typeface="Consolas"/>
              </a:rPr>
              <a:t>ion-back-button</a:t>
            </a:r>
            <a:r>
              <a:rPr sz="2123" b="1">
                <a:solidFill>
                  <a:srgbClr val="0E2841"/>
                </a:solidFill>
                <a:latin typeface="Aptos"/>
              </a:rPr>
              <a:t> con </a:t>
            </a:r>
            <a:r>
              <a:rPr sz="1995" b="1">
                <a:solidFill>
                  <a:srgbClr val="156082"/>
                </a:solidFill>
                <a:latin typeface="Consolas"/>
              </a:rPr>
              <a:t>defaultHref="/visitas"</a:t>
            </a:r>
          </a:p>
        </p:txBody>
      </p:sp>
      <p:sp>
        <p:nvSpPr>
          <p:cNvPr id="33" name="Oval 32"/>
          <p:cNvSpPr/>
          <p:nvPr/>
        </p:nvSpPr>
        <p:spPr>
          <a:xfrm>
            <a:off x="585216" y="603183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5836615"/>
            <a:ext cx="10698480" cy="491032"/>
          </a:xfrm>
          <a:prstGeom prst="rect">
            <a:avLst/>
          </a:prstGeom>
          <a:noFill/>
        </p:spPr>
        <p:txBody>
          <a:bodyPr wrap="square" anchor="ctr" lIns="0" rIns="0" tIns="0" bIns="0">
            <a:spAutoFit/>
          </a:bodyPr>
          <a:lstStyle/>
          <a:p>
            <a:pPr algn="l"/>
            <a:r>
              <a:rPr sz="2123" b="1">
                <a:solidFill>
                  <a:srgbClr val="0E2841"/>
                </a:solidFill>
                <a:latin typeface="Aptos"/>
              </a:rPr>
              <a:t>Botón atrás y gesto de borde: </a:t>
            </a:r>
            <a:r>
              <a:rPr sz="1995" b="1">
                <a:solidFill>
                  <a:srgbClr val="156082"/>
                </a:solidFill>
                <a:latin typeface="Consolas"/>
              </a:rPr>
              <a:t>ion-router-outlet</a:t>
            </a:r>
          </a:p>
        </p:txBody>
      </p:sp>
      <p:sp>
        <p:nvSpPr>
          <p:cNvPr id="35" name="TextBox 3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36" name="TextBox 3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48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El detalle recibe la visita completa en el estado de navegación. ¿Qué problema arquitectónico tiene?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Se pierde con un deep link o una recarga, y puede mostrar datos viejos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Rompe la regla de que el dominio no puede depender de Angular ni de Ionic</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Impide que el guard funcional proteja la ruta de detalle de la visita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Obliga a declarar la ruta con </a:t>
            </a:r>
            <a:r>
              <a:rPr sz="1974" b="0">
                <a:solidFill>
                  <a:srgbClr val="156082"/>
                </a:solidFill>
                <a:latin typeface="Consolas"/>
              </a:rPr>
              <a:t>loadChildren</a:t>
            </a:r>
            <a:r>
              <a:rPr sz="2100" b="0">
                <a:solidFill>
                  <a:srgbClr val="0E2841"/>
                </a:solidFill>
                <a:latin typeface="Aptos"/>
              </a:rPr>
              <a:t> y no con </a:t>
            </a:r>
            <a:r>
              <a:rPr sz="1974" b="0">
                <a:solidFill>
                  <a:srgbClr val="156082"/>
                </a:solidFill>
                <a:latin typeface="Consolas"/>
              </a:rPr>
              <a:t>loadComponent</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48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07</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7. Formularios y dominio</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Dónde vive cada validación</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validación vive en su capa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102860"/>
        </p:xfrm>
        <a:graphic>
          <a:graphicData uri="http://schemas.openxmlformats.org/drawingml/2006/table">
            <a:tbl>
              <a:tblPr firstRow="1">
                <a:tableStyleId>{5C22544A-7EE6-4342-B048-85BDC9FD1C3A}</a:tableStyleId>
              </a:tblPr>
              <a:tblGrid>
                <a:gridCol w="2766060"/>
                <a:gridCol w="2766060"/>
                <a:gridCol w="2766060"/>
                <a:gridCol w="2766060"/>
              </a:tblGrid>
              <a:tr h="620572">
                <a:tc>
                  <a:txBody>
                    <a:bodyPr wrap="square"/>
                    <a:lstStyle/>
                    <a:p>
                      <a:r>
                        <a:rPr sz="1641" b="1">
                          <a:solidFill>
                            <a:srgbClr val="FFFFFF"/>
                          </a:solidFill>
                          <a:latin typeface="Aptos"/>
                        </a:rPr>
                        <a:t>Tipo</a:t>
                      </a:r>
                    </a:p>
                  </a:txBody>
                  <a:tcPr anchor="ctr" marL="146304" marR="146304">
                    <a:solidFill>
                      <a:srgbClr val="156082"/>
                    </a:solidFill>
                  </a:tcPr>
                </a:tc>
                <a:tc>
                  <a:txBody>
                    <a:bodyPr wrap="square"/>
                    <a:lstStyle/>
                    <a:p>
                      <a:r>
                        <a:rPr sz="1641" b="1">
                          <a:solidFill>
                            <a:srgbClr val="FFFFFF"/>
                          </a:solidFill>
                          <a:latin typeface="Aptos"/>
                        </a:rPr>
                        <a:t>Ejemplo</a:t>
                      </a:r>
                    </a:p>
                  </a:txBody>
                  <a:tcPr anchor="ctr" marL="146304" marR="146304">
                    <a:solidFill>
                      <a:srgbClr val="156082"/>
                    </a:solidFill>
                  </a:tcPr>
                </a:tc>
                <a:tc>
                  <a:txBody>
                    <a:bodyPr wrap="square"/>
                    <a:lstStyle/>
                    <a:p>
                      <a:r>
                        <a:rPr sz="1641" b="1">
                          <a:solidFill>
                            <a:srgbClr val="FFFFFF"/>
                          </a:solidFill>
                          <a:latin typeface="Aptos"/>
                        </a:rPr>
                        <a:t>Dónde vive</a:t>
                      </a:r>
                    </a:p>
                  </a:txBody>
                  <a:tcPr anchor="ctr" marL="146304" marR="146304">
                    <a:solidFill>
                      <a:srgbClr val="156082"/>
                    </a:solidFill>
                  </a:tcPr>
                </a:tc>
                <a:tc>
                  <a:txBody>
                    <a:bodyPr wrap="square"/>
                    <a:lstStyle/>
                    <a:p>
                      <a:r>
                        <a:rPr sz="1641" b="1">
                          <a:solidFill>
                            <a:srgbClr val="FFFFFF"/>
                          </a:solidFill>
                          <a:latin typeface="Aptos"/>
                        </a:rPr>
                        <a:t>Cómo llega al usuario</a:t>
                      </a:r>
                    </a:p>
                  </a:txBody>
                  <a:tcPr anchor="ctr" marL="146304" marR="146304">
                    <a:solidFill>
                      <a:srgbClr val="156082"/>
                    </a:solidFill>
                  </a:tcPr>
                </a:tc>
              </a:tr>
              <a:tr h="620572">
                <a:tc>
                  <a:txBody>
                    <a:bodyPr wrap="square"/>
                    <a:lstStyle/>
                    <a:p>
                      <a:r>
                        <a:rPr sz="1531" b="1">
                          <a:solidFill>
                            <a:srgbClr val="33475B"/>
                          </a:solidFill>
                          <a:latin typeface="Aptos"/>
                        </a:rPr>
                        <a:t>Formato de entrada</a:t>
                      </a:r>
                    </a:p>
                  </a:txBody>
                  <a:tcPr anchor="ctr" marL="146304" marR="146304">
                    <a:solidFill>
                      <a:srgbClr val="FFFFFF"/>
                    </a:solidFill>
                  </a:tcPr>
                </a:tc>
                <a:tc>
                  <a:txBody>
                    <a:bodyPr wrap="square"/>
                    <a:lstStyle/>
                    <a:p>
                      <a:r>
                        <a:rPr sz="1531" b="0">
                          <a:solidFill>
                            <a:srgbClr val="33475B"/>
                          </a:solidFill>
                          <a:latin typeface="Aptos"/>
                        </a:rPr>
                        <a:t>Celular: 10 dígitos, empieza por 3</a:t>
                      </a:r>
                    </a:p>
                  </a:txBody>
                  <a:tcPr anchor="ctr" marL="146304" marR="146304">
                    <a:solidFill>
                      <a:srgbClr val="FFFFFF"/>
                    </a:solidFill>
                  </a:tcPr>
                </a:tc>
                <a:tc>
                  <a:txBody>
                    <a:bodyPr wrap="square"/>
                    <a:lstStyle/>
                    <a:p>
                      <a:r>
                        <a:rPr sz="1531" b="0">
                          <a:solidFill>
                            <a:srgbClr val="33475B"/>
                          </a:solidFill>
                          <a:latin typeface="Aptos"/>
                        </a:rPr>
                        <a:t>Presentación (</a:t>
                      </a:r>
                      <a:r>
                        <a:rPr sz="1439" b="0">
                          <a:solidFill>
                            <a:srgbClr val="156082"/>
                          </a:solidFill>
                          <a:latin typeface="Consolas"/>
                        </a:rPr>
                        <a:t>Validators</a:t>
                      </a:r>
                      <a:r>
                        <a:rPr sz="1531" b="0">
                          <a:solidFill>
                            <a:srgbClr val="33475B"/>
                          </a:solidFill>
                          <a:latin typeface="Aptos"/>
                        </a:rPr>
                        <a:t>)</a:t>
                      </a:r>
                    </a:p>
                  </a:txBody>
                  <a:tcPr anchor="ctr" marL="146304" marR="146304">
                    <a:solidFill>
                      <a:srgbClr val="FFFFFF"/>
                    </a:solidFill>
                  </a:tcPr>
                </a:tc>
                <a:tc>
                  <a:txBody>
                    <a:bodyPr wrap="square"/>
                    <a:lstStyle/>
                    <a:p>
                      <a:r>
                        <a:rPr sz="1531" b="0">
                          <a:solidFill>
                            <a:srgbClr val="33475B"/>
                          </a:solidFill>
                          <a:latin typeface="Aptos"/>
                        </a:rPr>
                        <a:t>Mensaje bajo el campo</a:t>
                      </a:r>
                    </a:p>
                  </a:txBody>
                  <a:tcPr anchor="ctr" marL="146304" marR="146304">
                    <a:solidFill>
                      <a:srgbClr val="FFFFFF"/>
                    </a:solidFill>
                  </a:tcPr>
                </a:tc>
              </a:tr>
              <a:tr h="620572">
                <a:tc>
                  <a:txBody>
                    <a:bodyPr wrap="square"/>
                    <a:lstStyle/>
                    <a:p>
                      <a:r>
                        <a:rPr sz="1531" b="1">
                          <a:solidFill>
                            <a:srgbClr val="33475B"/>
                          </a:solidFill>
                          <a:latin typeface="Aptos"/>
                        </a:rPr>
                        <a:t>Regla de negocio</a:t>
                      </a:r>
                    </a:p>
                  </a:txBody>
                  <a:tcPr anchor="ctr" marL="146304" marR="146304">
                    <a:solidFill>
                      <a:srgbClr val="F4F7FA"/>
                    </a:solidFill>
                  </a:tcPr>
                </a:tc>
                <a:tc>
                  <a:txBody>
                    <a:bodyPr wrap="square"/>
                    <a:lstStyle/>
                    <a:p>
                      <a:r>
                        <a:rPr sz="1531" b="0">
                          <a:solidFill>
                            <a:srgbClr val="33475B"/>
                          </a:solidFill>
                          <a:latin typeface="Aptos"/>
                        </a:rPr>
                        <a:t>Cancelada exige motivo de 10+ caracteres</a:t>
                      </a:r>
                    </a:p>
                  </a:txBody>
                  <a:tcPr anchor="ctr" marL="146304" marR="146304">
                    <a:solidFill>
                      <a:srgbClr val="F4F7FA"/>
                    </a:solidFill>
                  </a:tcPr>
                </a:tc>
                <a:tc>
                  <a:txBody>
                    <a:bodyPr wrap="square"/>
                    <a:lstStyle/>
                    <a:p>
                      <a:r>
                        <a:rPr sz="1531" b="0">
                          <a:solidFill>
                            <a:srgbClr val="33475B"/>
                          </a:solidFill>
                          <a:latin typeface="Aptos"/>
                        </a:rPr>
                        <a:t>Dominio (</a:t>
                      </a:r>
                      <a:r>
                        <a:rPr sz="1439" b="0">
                          <a:solidFill>
                            <a:srgbClr val="156082"/>
                          </a:solidFill>
                          <a:latin typeface="Consolas"/>
                        </a:rPr>
                        <a:t>validarVisita</a:t>
                      </a:r>
                      <a:r>
                        <a:rPr sz="1531" b="0">
                          <a:solidFill>
                            <a:srgbClr val="33475B"/>
                          </a:solidFill>
                          <a:latin typeface="Aptos"/>
                        </a:rPr>
                        <a:t>)</a:t>
                      </a:r>
                    </a:p>
                  </a:txBody>
                  <a:tcPr anchor="ctr" marL="146304" marR="146304">
                    <a:solidFill>
                      <a:srgbClr val="F4F7FA"/>
                    </a:solidFill>
                  </a:tcPr>
                </a:tc>
                <a:tc>
                  <a:txBody>
                    <a:bodyPr wrap="square"/>
                    <a:lstStyle/>
                    <a:p>
                      <a:r>
                        <a:rPr sz="1531" b="0">
                          <a:solidFill>
                            <a:srgbClr val="33475B"/>
                          </a:solidFill>
                          <a:latin typeface="Aptos"/>
                        </a:rPr>
                        <a:t>Validador de grupo que la reutiliza</a:t>
                      </a:r>
                    </a:p>
                  </a:txBody>
                  <a:tcPr anchor="ctr" marL="146304" marR="146304">
                    <a:solidFill>
                      <a:srgbClr val="F4F7FA"/>
                    </a:solidFill>
                  </a:tcPr>
                </a:tc>
              </a:tr>
              <a:tr h="620572">
                <a:tc>
                  <a:txBody>
                    <a:bodyPr wrap="square"/>
                    <a:lstStyle/>
                    <a:p>
                      <a:r>
                        <a:rPr sz="1531" b="1">
                          <a:solidFill>
                            <a:srgbClr val="33475B"/>
                          </a:solidFill>
                          <a:latin typeface="Aptos"/>
                        </a:rPr>
                        <a:t>Estado del servidor</a:t>
                      </a:r>
                    </a:p>
                  </a:txBody>
                  <a:tcPr anchor="ctr" marL="146304" marR="146304">
                    <a:solidFill>
                      <a:srgbClr val="FFFFFF"/>
                    </a:solidFill>
                  </a:tcPr>
                </a:tc>
                <a:tc>
                  <a:txBody>
                    <a:bodyPr wrap="square"/>
                    <a:lstStyle/>
                    <a:p>
                      <a:r>
                        <a:rPr sz="1531" b="0">
                          <a:solidFill>
                            <a:srgbClr val="33475B"/>
                          </a:solidFill>
                          <a:latin typeface="Aptos"/>
                        </a:rPr>
                        <a:t>El código de la visita ya existe</a:t>
                      </a:r>
                    </a:p>
                  </a:txBody>
                  <a:tcPr anchor="ctr" marL="146304" marR="146304">
                    <a:solidFill>
                      <a:srgbClr val="FFFFFF"/>
                    </a:solidFill>
                  </a:tcPr>
                </a:tc>
                <a:tc>
                  <a:txBody>
                    <a:bodyPr wrap="square"/>
                    <a:lstStyle/>
                    <a:p>
                      <a:r>
                        <a:rPr sz="1531" b="0">
                          <a:solidFill>
                            <a:srgbClr val="33475B"/>
                          </a:solidFill>
                          <a:latin typeface="Aptos"/>
                        </a:rPr>
                        <a:t>Backend</a:t>
                      </a:r>
                    </a:p>
                  </a:txBody>
                  <a:tcPr anchor="ctr" marL="146304" marR="146304">
                    <a:solidFill>
                      <a:srgbClr val="FFFFFF"/>
                    </a:solidFill>
                  </a:tcPr>
                </a:tc>
                <a:tc>
                  <a:txBody>
                    <a:bodyPr wrap="square"/>
                    <a:lstStyle/>
                    <a:p>
                      <a:r>
                        <a:rPr sz="1531" b="0">
                          <a:solidFill>
                            <a:srgbClr val="33475B"/>
                          </a:solidFill>
                          <a:latin typeface="Aptos"/>
                        </a:rPr>
                        <a:t>409 o 422 mapeado al campo</a:t>
                      </a:r>
                    </a:p>
                  </a:txBody>
                  <a:tcPr anchor="ctr" marL="146304" marR="146304">
                    <a:solidFill>
                      <a:srgbClr val="FFFFFF"/>
                    </a:solidFill>
                  </a:tcPr>
                </a:tc>
              </a:tr>
              <a:tr h="620572">
                <a:tc>
                  <a:txBody>
                    <a:bodyPr wrap="square"/>
                    <a:lstStyle/>
                    <a:p>
                      <a:r>
                        <a:rPr sz="1531" b="1">
                          <a:solidFill>
                            <a:srgbClr val="33475B"/>
                          </a:solidFill>
                          <a:latin typeface="Aptos"/>
                        </a:rPr>
                        <a:t>Autorización</a:t>
                      </a:r>
                    </a:p>
                  </a:txBody>
                  <a:tcPr anchor="ctr" marL="146304" marR="146304">
                    <a:solidFill>
                      <a:srgbClr val="F4F7FA"/>
                    </a:solidFill>
                  </a:tcPr>
                </a:tc>
                <a:tc>
                  <a:txBody>
                    <a:bodyPr wrap="square"/>
                    <a:lstStyle/>
                    <a:p>
                      <a:r>
                        <a:rPr sz="1531" b="0">
                          <a:solidFill>
                            <a:srgbClr val="33475B"/>
                          </a:solidFill>
                          <a:latin typeface="Aptos"/>
                        </a:rPr>
                        <a:t>Solo el técnico asignado edita</a:t>
                      </a:r>
                    </a:p>
                  </a:txBody>
                  <a:tcPr anchor="ctr" marL="146304" marR="146304">
                    <a:solidFill>
                      <a:srgbClr val="F4F7FA"/>
                    </a:solidFill>
                  </a:tcPr>
                </a:tc>
                <a:tc>
                  <a:txBody>
                    <a:bodyPr wrap="square"/>
                    <a:lstStyle/>
                    <a:p>
                      <a:r>
                        <a:rPr sz="1531" b="0">
                          <a:solidFill>
                            <a:srgbClr val="33475B"/>
                          </a:solidFill>
                          <a:latin typeface="Aptos"/>
                        </a:rPr>
                        <a:t>Backend</a:t>
                      </a:r>
                    </a:p>
                  </a:txBody>
                  <a:tcPr anchor="ctr" marL="146304" marR="146304">
                    <a:solidFill>
                      <a:srgbClr val="F4F7FA"/>
                    </a:solidFill>
                  </a:tcPr>
                </a:tc>
                <a:tc>
                  <a:txBody>
                    <a:bodyPr wrap="square"/>
                    <a:lstStyle/>
                    <a:p>
                      <a:r>
                        <a:rPr sz="1531" b="0">
                          <a:solidFill>
                            <a:srgbClr val="33475B"/>
                          </a:solidFill>
                          <a:latin typeface="Aptos"/>
                        </a:rPr>
                        <a:t>403 con mensaje accionable</a:t>
                      </a:r>
                    </a:p>
                  </a:txBody>
                  <a:tcPr anchor="ctr" marL="146304" marR="146304">
                    <a:solidFill>
                      <a:srgbClr val="F4F7FA"/>
                    </a:solidFill>
                  </a:tcPr>
                </a:tc>
              </a:tr>
            </a:tbl>
          </a:graphicData>
        </a:graphic>
      </p:graphicFrame>
      <p:sp>
        <p:nvSpPr>
          <p:cNvPr id="8" name="Rounded Rectangle 7"/>
          <p:cNvSpPr/>
          <p:nvPr/>
        </p:nvSpPr>
        <p:spPr>
          <a:xfrm>
            <a:off x="566928" y="4876800"/>
            <a:ext cx="11064240" cy="145084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931664"/>
            <a:ext cx="63500" cy="13411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76800"/>
            <a:ext cx="10378440" cy="1450848"/>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Duplicar «cancelada exige motivo» en el formulario y en el caso de uso garantiza que algún día digan cosas distintas.</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48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regla se escribe una vez</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66090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06" b="1">
                <a:solidFill>
                  <a:srgbClr val="E97132"/>
                </a:solidFill>
                <a:latin typeface="Aptos"/>
              </a:rPr>
              <a:t>DOMAIN/REGLAS-VISITA.TS · TYPESCRIPT PURO, SE PRUEBA SIN ANGULAR</a:t>
            </a:r>
          </a:p>
        </p:txBody>
      </p:sp>
      <p:sp>
        <p:nvSpPr>
          <p:cNvPr id="10" name="TextBox 9"/>
          <p:cNvSpPr txBox="1"/>
          <p:nvPr/>
        </p:nvSpPr>
        <p:spPr>
          <a:xfrm>
            <a:off x="877824" y="2139696"/>
            <a:ext cx="10515600" cy="1929384"/>
          </a:xfrm>
          <a:prstGeom prst="rect">
            <a:avLst/>
          </a:prstGeom>
          <a:noFill/>
        </p:spPr>
        <p:txBody>
          <a:bodyPr wrap="none" lIns="0" tIns="0">
            <a:spAutoFit/>
          </a:bodyPr>
          <a:lstStyle/>
          <a:p>
            <a:pPr>
              <a:lnSpc>
                <a:spcPct val="125000"/>
              </a:lnSpc>
            </a:pPr>
            <a:r>
              <a:rPr sz="1521">
                <a:solidFill>
                  <a:srgbClr val="E8E8E8"/>
                </a:solidFill>
                <a:latin typeface="Consolas"/>
              </a:rPr>
              <a:t>export function validarVisita(v: BorradorVisita, hoy: Date): ViolacionVisita[] {</a:t>
            </a:r>
          </a:p>
          <a:p>
            <a:pPr>
              <a:lnSpc>
                <a:spcPct val="125000"/>
              </a:lnSpc>
            </a:pPr>
            <a:r>
              <a:rPr sz="1521">
                <a:solidFill>
                  <a:srgbClr val="E8E8E8"/>
                </a:solidFill>
                <a:latin typeface="Consolas"/>
              </a:rPr>
              <a:t>  const r: ViolacionVisita[] = [];</a:t>
            </a:r>
          </a:p>
          <a:p>
            <a:pPr>
              <a:lnSpc>
                <a:spcPct val="125000"/>
              </a:lnSpc>
            </a:pPr>
            <a:r>
              <a:rPr sz="1521">
                <a:solidFill>
                  <a:srgbClr val="E8E8E8"/>
                </a:solidFill>
                <a:latin typeface="Consolas"/>
              </a:rPr>
              <a:t>  if (v.estado === 'realizada' &amp;&amp; v.fecha &gt; hoy) r.push('realizada-con-fecha-futura');</a:t>
            </a:r>
          </a:p>
          <a:p>
            <a:pPr>
              <a:lnSpc>
                <a:spcPct val="125000"/>
              </a:lnSpc>
            </a:pPr>
            <a:r>
              <a:rPr sz="1521">
                <a:solidFill>
                  <a:srgbClr val="E8E8E8"/>
                </a:solidFill>
                <a:latin typeface="Consolas"/>
              </a:rPr>
              <a:t>  if (v.estado === 'cancelada' &amp;&amp; v.motivo.trim().length &lt; 10)</a:t>
            </a:r>
          </a:p>
          <a:p>
            <a:pPr>
              <a:lnSpc>
                <a:spcPct val="125000"/>
              </a:lnSpc>
            </a:pPr>
            <a:r>
              <a:rPr sz="1521">
                <a:solidFill>
                  <a:srgbClr val="E8E8E8"/>
                </a:solidFill>
                <a:latin typeface="Consolas"/>
              </a:rPr>
              <a:t>    r.push('cancelada-sin-motivo');</a:t>
            </a:r>
          </a:p>
          <a:p>
            <a:pPr>
              <a:lnSpc>
                <a:spcPct val="125000"/>
              </a:lnSpc>
            </a:pPr>
            <a:r>
              <a:rPr sz="1521">
                <a:solidFill>
                  <a:srgbClr val="E8E8E8"/>
                </a:solidFill>
                <a:latin typeface="Consolas"/>
              </a:rPr>
              <a:t>  return r;</a:t>
            </a:r>
          </a:p>
          <a:p>
            <a:pPr>
              <a:lnSpc>
                <a:spcPct val="125000"/>
              </a:lnSpc>
            </a:pPr>
            <a:r>
              <a:rPr sz="1521">
                <a:solidFill>
                  <a:srgbClr val="E8E8E8"/>
                </a:solidFill>
                <a:latin typeface="Consolas"/>
              </a:rPr>
              <a:t>}</a:t>
            </a:r>
          </a:p>
        </p:txBody>
      </p:sp>
      <p:sp>
        <p:nvSpPr>
          <p:cNvPr id="11" name="Rounded Rectangle 10"/>
          <p:cNvSpPr/>
          <p:nvPr/>
        </p:nvSpPr>
        <p:spPr>
          <a:xfrm>
            <a:off x="566928" y="4434840"/>
            <a:ext cx="11064240" cy="1892808"/>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65429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617720"/>
            <a:ext cx="7315200" cy="237744"/>
          </a:xfrm>
          <a:prstGeom prst="rect">
            <a:avLst/>
          </a:prstGeom>
          <a:noFill/>
        </p:spPr>
        <p:txBody>
          <a:bodyPr wrap="square" anchor="t" lIns="0" rIns="0" tIns="0" bIns="0">
            <a:spAutoFit/>
          </a:bodyPr>
          <a:lstStyle/>
          <a:p>
            <a:pPr algn="l"/>
            <a:r>
              <a:rPr sz="1206" b="1">
                <a:solidFill>
                  <a:srgbClr val="E97132"/>
                </a:solidFill>
                <a:latin typeface="Aptos"/>
              </a:rPr>
              <a:t>ADAPTADOR: LA REGLA DEL DOMINIO COMO VALIDADOR DE ANGULAR (NO SE DUPLICA)</a:t>
            </a:r>
          </a:p>
        </p:txBody>
      </p:sp>
      <p:sp>
        <p:nvSpPr>
          <p:cNvPr id="14" name="TextBox 13"/>
          <p:cNvSpPr txBox="1"/>
          <p:nvPr/>
        </p:nvSpPr>
        <p:spPr>
          <a:xfrm>
            <a:off x="877824" y="5001768"/>
            <a:ext cx="10515600" cy="1161288"/>
          </a:xfrm>
          <a:prstGeom prst="rect">
            <a:avLst/>
          </a:prstGeom>
          <a:noFill/>
        </p:spPr>
        <p:txBody>
          <a:bodyPr wrap="none" lIns="0" tIns="0">
            <a:spAutoFit/>
          </a:bodyPr>
          <a:lstStyle/>
          <a:p>
            <a:pPr>
              <a:lnSpc>
                <a:spcPct val="125000"/>
              </a:lnSpc>
            </a:pPr>
            <a:r>
              <a:rPr sz="1521">
                <a:solidFill>
                  <a:srgbClr val="E8E8E8"/>
                </a:solidFill>
                <a:latin typeface="Consolas"/>
              </a:rPr>
              <a:t>const reglasDelDominio: ValidatorFn = control =&gt; {</a:t>
            </a:r>
          </a:p>
          <a:p>
            <a:pPr>
              <a:lnSpc>
                <a:spcPct val="125000"/>
              </a:lnSpc>
            </a:pPr>
            <a:r>
              <a:rPr sz="1521">
                <a:solidFill>
                  <a:srgbClr val="E8E8E8"/>
                </a:solidFill>
                <a:latin typeface="Consolas"/>
              </a:rPr>
              <a:t>  const violaciones = validarVisita(aBorrador(control.getRawValue()), new Date());</a:t>
            </a:r>
          </a:p>
          <a:p>
            <a:pPr>
              <a:lnSpc>
                <a:spcPct val="125000"/>
              </a:lnSpc>
            </a:pPr>
            <a:r>
              <a:rPr sz="1521">
                <a:solidFill>
                  <a:srgbClr val="E8E8E8"/>
                </a:solidFill>
                <a:latin typeface="Consolas"/>
              </a:rPr>
              <a:t>  return violaciones.length &gt; 0 ? { reglas: violaciones } : null;</a:t>
            </a:r>
          </a:p>
          <a:p>
            <a:pPr>
              <a:lnSpc>
                <a:spcPct val="125000"/>
              </a:lnSpc>
            </a:pPr>
            <a:r>
              <a:rPr sz="1521">
                <a:solidFill>
                  <a:srgbClr val="E8E8E8"/>
                </a:solidFill>
                <a:latin typeface="Consolas"/>
              </a:rPr>
              <a:t>};</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formulario valida, pero no guarda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32486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06" b="1">
                <a:solidFill>
                  <a:srgbClr val="E97132"/>
                </a:solidFill>
                <a:latin typeface="Aptos"/>
              </a:rPr>
              <a:t>FORMVISITACOMPONENT · EXTRACTO (FB = INJECT(NONNULLABLEFORMBUILDER))</a:t>
            </a:r>
          </a:p>
        </p:txBody>
      </p:sp>
      <p:sp>
        <p:nvSpPr>
          <p:cNvPr id="10" name="TextBox 9"/>
          <p:cNvSpPr txBox="1"/>
          <p:nvPr/>
        </p:nvSpPr>
        <p:spPr>
          <a:xfrm>
            <a:off x="877824" y="2139696"/>
            <a:ext cx="10515600" cy="1593342"/>
          </a:xfrm>
          <a:prstGeom prst="rect">
            <a:avLst/>
          </a:prstGeom>
          <a:noFill/>
        </p:spPr>
        <p:txBody>
          <a:bodyPr wrap="none" lIns="0" tIns="0">
            <a:spAutoFit/>
          </a:bodyPr>
          <a:lstStyle/>
          <a:p>
            <a:pPr>
              <a:lnSpc>
                <a:spcPct val="125000"/>
              </a:lnSpc>
            </a:pPr>
            <a:r>
              <a:rPr sz="1521">
                <a:solidFill>
                  <a:srgbClr val="E8E8E8"/>
                </a:solidFill>
                <a:latin typeface="Consolas"/>
              </a:rPr>
              <a:t>readonly form = this.fb.group({</a:t>
            </a:r>
          </a:p>
          <a:p>
            <a:pPr>
              <a:lnSpc>
                <a:spcPct val="125000"/>
              </a:lnSpc>
            </a:pPr>
            <a:r>
              <a:rPr sz="1521">
                <a:solidFill>
                  <a:srgbClr val="E8E8E8"/>
                </a:solidFill>
                <a:latin typeface="Consolas"/>
              </a:rPr>
              <a:t>  cliente: ['', [Validators.required, Validators.maxLength(80)]],</a:t>
            </a:r>
          </a:p>
          <a:p>
            <a:pPr>
              <a:lnSpc>
                <a:spcPct val="125000"/>
              </a:lnSpc>
            </a:pPr>
            <a:r>
              <a:rPr sz="1521">
                <a:solidFill>
                  <a:srgbClr val="E8E8E8"/>
                </a:solidFill>
                <a:latin typeface="Consolas"/>
              </a:rPr>
              <a:t>  estado: ['programada' as EstadoVisita, Validators.required],</a:t>
            </a:r>
          </a:p>
          <a:p>
            <a:pPr>
              <a:lnSpc>
                <a:spcPct val="125000"/>
              </a:lnSpc>
            </a:pPr>
            <a:r>
              <a:rPr sz="1521">
                <a:solidFill>
                  <a:srgbClr val="E8E8E8"/>
                </a:solidFill>
                <a:latin typeface="Consolas"/>
              </a:rPr>
              <a:t>  motivo: [{ value: '', disabled: true }, Validators.maxLength(500)], // solo si se cancela</a:t>
            </a:r>
          </a:p>
          <a:p>
            <a:pPr>
              <a:lnSpc>
                <a:spcPct val="125000"/>
              </a:lnSpc>
            </a:pPr>
            <a:r>
              <a:rPr sz="1521">
                <a:solidFill>
                  <a:srgbClr val="E8E8E8"/>
                </a:solidFill>
                <a:latin typeface="Consolas"/>
              </a:rPr>
              <a:t>  celularContacto: ['', Validators.pattern(/^3\d{9}$/)],</a:t>
            </a:r>
          </a:p>
          <a:p>
            <a:pPr>
              <a:lnSpc>
                <a:spcPct val="125000"/>
              </a:lnSpc>
            </a:pPr>
            <a:r>
              <a:rPr sz="1521">
                <a:solidFill>
                  <a:srgbClr val="E8E8E8"/>
                </a:solidFill>
                <a:latin typeface="Consolas"/>
              </a:rPr>
              <a:t>}, { validators: reglasDelDominio });</a:t>
            </a:r>
          </a:p>
        </p:txBody>
      </p:sp>
      <p:sp>
        <p:nvSpPr>
          <p:cNvPr id="11" name="Rounded Rectangle 10"/>
          <p:cNvSpPr/>
          <p:nvPr/>
        </p:nvSpPr>
        <p:spPr>
          <a:xfrm>
            <a:off x="566928" y="4098798"/>
            <a:ext cx="2532888" cy="222885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 y="435483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4610862"/>
            <a:ext cx="2130552" cy="1515618"/>
          </a:xfrm>
          <a:prstGeom prst="rect">
            <a:avLst/>
          </a:prstGeom>
          <a:noFill/>
        </p:spPr>
        <p:txBody>
          <a:bodyPr wrap="square" anchor="t" lIns="0" rIns="0" tIns="0" bIns="0">
            <a:spAutoFit/>
          </a:bodyPr>
          <a:lstStyle/>
          <a:p>
            <a:pPr algn="l"/>
            <a:r>
              <a:rPr sz="1783" b="1">
                <a:solidFill>
                  <a:srgbClr val="0E2841"/>
                </a:solidFill>
                <a:latin typeface="Aptos Display"/>
              </a:rPr>
              <a:t>Devuelve un borrador</a:t>
            </a:r>
          </a:p>
          <a:p>
            <a:pPr algn="l">
              <a:lnSpc>
                <a:spcPct val="120000"/>
              </a:lnSpc>
              <a:spcBef>
                <a:spcPts val="700"/>
              </a:spcBef>
            </a:pPr>
            <a:r>
              <a:rPr sz="1363" b="0">
                <a:solidFill>
                  <a:srgbClr val="33475B"/>
                </a:solidFill>
                <a:latin typeface="Aptos"/>
              </a:rPr>
              <a:t>El ViewModel invoca </a:t>
            </a:r>
            <a:r>
              <a:rPr sz="1281" b="0">
                <a:solidFill>
                  <a:srgbClr val="156082"/>
                </a:solidFill>
                <a:latin typeface="Consolas"/>
              </a:rPr>
              <a:t>RegistrarVisita</a:t>
            </a:r>
            <a:r>
              <a:rPr sz="1363" b="0">
                <a:solidFill>
                  <a:srgbClr val="33475B"/>
                </a:solidFill>
                <a:latin typeface="Aptos"/>
              </a:rPr>
              <a:t> con </a:t>
            </a:r>
            <a:r>
              <a:rPr sz="1281" b="0">
                <a:solidFill>
                  <a:srgbClr val="156082"/>
                </a:solidFill>
                <a:latin typeface="Consolas"/>
              </a:rPr>
              <a:t>exhaustMap</a:t>
            </a:r>
          </a:p>
        </p:txBody>
      </p:sp>
      <p:sp>
        <p:nvSpPr>
          <p:cNvPr id="14" name="Rounded Rectangle 13"/>
          <p:cNvSpPr/>
          <p:nvPr/>
        </p:nvSpPr>
        <p:spPr>
          <a:xfrm>
            <a:off x="3410712" y="4098798"/>
            <a:ext cx="2532888" cy="222885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11880" y="435483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4610862"/>
            <a:ext cx="2130552" cy="1515618"/>
          </a:xfrm>
          <a:prstGeom prst="rect">
            <a:avLst/>
          </a:prstGeom>
          <a:noFill/>
        </p:spPr>
        <p:txBody>
          <a:bodyPr wrap="square" anchor="t" lIns="0" rIns="0" tIns="0" bIns="0">
            <a:spAutoFit/>
          </a:bodyPr>
          <a:lstStyle/>
          <a:p>
            <a:pPr algn="l"/>
            <a:r>
              <a:rPr sz="1783" b="1">
                <a:solidFill>
                  <a:srgbClr val="0E2841"/>
                </a:solidFill>
                <a:latin typeface="Aptos Display"/>
              </a:rPr>
              <a:t>Errores del servidor</a:t>
            </a:r>
          </a:p>
          <a:p>
            <a:pPr algn="l">
              <a:lnSpc>
                <a:spcPct val="120000"/>
              </a:lnSpc>
              <a:spcBef>
                <a:spcPts val="700"/>
              </a:spcBef>
            </a:pPr>
            <a:r>
              <a:rPr sz="1363" b="0">
                <a:solidFill>
                  <a:srgbClr val="33475B"/>
                </a:solidFill>
                <a:latin typeface="Aptos"/>
              </a:rPr>
              <a:t>Un 409 o 422 trae los campos y vuelve al formulario</a:t>
            </a:r>
          </a:p>
        </p:txBody>
      </p:sp>
      <p:sp>
        <p:nvSpPr>
          <p:cNvPr id="17" name="Rounded Rectangle 16"/>
          <p:cNvSpPr/>
          <p:nvPr/>
        </p:nvSpPr>
        <p:spPr>
          <a:xfrm>
            <a:off x="6254496" y="4098798"/>
            <a:ext cx="2532888" cy="222885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55664" y="435483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5664" y="4610862"/>
            <a:ext cx="2130552" cy="1515618"/>
          </a:xfrm>
          <a:prstGeom prst="rect">
            <a:avLst/>
          </a:prstGeom>
          <a:noFill/>
        </p:spPr>
        <p:txBody>
          <a:bodyPr wrap="square" anchor="t" lIns="0" rIns="0" tIns="0" bIns="0">
            <a:spAutoFit/>
          </a:bodyPr>
          <a:lstStyle/>
          <a:p>
            <a:pPr algn="l"/>
            <a:r>
              <a:rPr sz="1783" b="1">
                <a:solidFill>
                  <a:srgbClr val="0E2841"/>
                </a:solidFill>
                <a:latin typeface="Aptos Display"/>
              </a:rPr>
              <a:t>Mensajes</a:t>
            </a:r>
          </a:p>
          <a:p>
            <a:pPr algn="l">
              <a:lnSpc>
                <a:spcPct val="120000"/>
              </a:lnSpc>
              <a:spcBef>
                <a:spcPts val="700"/>
              </a:spcBef>
            </a:pPr>
            <a:r>
              <a:rPr sz="1281" b="0">
                <a:solidFill>
                  <a:srgbClr val="156082"/>
                </a:solidFill>
                <a:latin typeface="Consolas"/>
              </a:rPr>
              <a:t>helperText</a:t>
            </a:r>
            <a:r>
              <a:rPr sz="1363" b="0">
                <a:solidFill>
                  <a:srgbClr val="33475B"/>
                </a:solidFill>
                <a:latin typeface="Aptos"/>
              </a:rPr>
              <a:t>, </a:t>
            </a:r>
            <a:r>
              <a:rPr sz="1281" b="0">
                <a:solidFill>
                  <a:srgbClr val="156082"/>
                </a:solidFill>
                <a:latin typeface="Consolas"/>
              </a:rPr>
              <a:t>errorText</a:t>
            </a:r>
            <a:r>
              <a:rPr sz="1363" b="0">
                <a:solidFill>
                  <a:srgbClr val="33475B"/>
                </a:solidFill>
                <a:latin typeface="Aptos"/>
              </a:rPr>
              <a:t> y un mapa de violaciones a textos</a:t>
            </a:r>
          </a:p>
        </p:txBody>
      </p:sp>
      <p:sp>
        <p:nvSpPr>
          <p:cNvPr id="20" name="Rounded Rectangle 19"/>
          <p:cNvSpPr/>
          <p:nvPr/>
        </p:nvSpPr>
        <p:spPr>
          <a:xfrm>
            <a:off x="9098280" y="4098798"/>
            <a:ext cx="2532888" cy="222885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299448" y="435483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9448" y="4610862"/>
            <a:ext cx="2130552" cy="1515618"/>
          </a:xfrm>
          <a:prstGeom prst="rect">
            <a:avLst/>
          </a:prstGeom>
          <a:noFill/>
        </p:spPr>
        <p:txBody>
          <a:bodyPr wrap="square" anchor="t" lIns="0" rIns="0" tIns="0" bIns="0">
            <a:spAutoFit/>
          </a:bodyPr>
          <a:lstStyle/>
          <a:p>
            <a:pPr algn="l"/>
            <a:r>
              <a:rPr sz="1783" b="1">
                <a:solidFill>
                  <a:srgbClr val="0E2841"/>
                </a:solidFill>
                <a:latin typeface="Aptos Display"/>
              </a:rPr>
              <a:t>Buenas prácticas</a:t>
            </a:r>
          </a:p>
          <a:p>
            <a:pPr algn="l">
              <a:lnSpc>
                <a:spcPct val="120000"/>
              </a:lnSpc>
              <a:spcBef>
                <a:spcPts val="700"/>
              </a:spcBef>
            </a:pPr>
            <a:r>
              <a:rPr sz="1363" b="0">
                <a:solidFill>
                  <a:srgbClr val="33475B"/>
                </a:solidFill>
                <a:latin typeface="Aptos"/>
              </a:rPr>
              <a:t>Control adecuado, campos agrupados, botón deshabilitado con errores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33 / 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¿Dónde debe vivir la regla «una visita cancelada exige un motivo de al menos 10 caracteres»?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En la plantilla, con un </a:t>
            </a:r>
            <a:r>
              <a:rPr sz="1974" b="0">
                <a:solidFill>
                  <a:srgbClr val="156082"/>
                </a:solidFill>
                <a:latin typeface="Consolas"/>
              </a:rPr>
              <a:t>@if</a:t>
            </a:r>
            <a:r>
              <a:rPr sz="2100" b="0">
                <a:solidFill>
                  <a:srgbClr val="0E2841"/>
                </a:solidFill>
                <a:latin typeface="Aptos"/>
              </a:rPr>
              <a:t> que muestre el mensaje de error</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En el interceptor HTTP que revisa el cuerpo antes de enviarlo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En el dominio, y el formulario la reutiliza como validador</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Solo en el backend, porque la app no debe validar reglas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34 / 48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08</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8. Un solo cliente HTTP</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Interceptores, reintentos y errores con contrato</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Siete reglas para hablar con la red</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3540824"/>
        </p:xfrm>
        <a:graphic>
          <a:graphicData uri="http://schemas.openxmlformats.org/drawingml/2006/table">
            <a:tbl>
              <a:tblPr firstRow="1">
                <a:tableStyleId>{5C22544A-7EE6-4342-B048-85BDC9FD1C3A}</a:tableStyleId>
              </a:tblPr>
              <a:tblGrid>
                <a:gridCol w="5532120"/>
                <a:gridCol w="5532120"/>
              </a:tblGrid>
              <a:tr h="442603">
                <a:tc>
                  <a:txBody>
                    <a:bodyPr wrap="square"/>
                    <a:lstStyle/>
                    <a:p>
                      <a:r>
                        <a:rPr sz="1396" b="1">
                          <a:solidFill>
                            <a:srgbClr val="FFFFFF"/>
                          </a:solidFill>
                          <a:latin typeface="Aptos"/>
                        </a:rPr>
                        <a:t>Regla del marco (sección 03)</a:t>
                      </a:r>
                    </a:p>
                  </a:txBody>
                  <a:tcPr anchor="ctr" marL="146304" marR="146304">
                    <a:solidFill>
                      <a:srgbClr val="156082"/>
                    </a:solidFill>
                  </a:tcPr>
                </a:tc>
                <a:tc>
                  <a:txBody>
                    <a:bodyPr wrap="square"/>
                    <a:lstStyle/>
                    <a:p>
                      <a:r>
                        <a:rPr sz="1396" b="1">
                          <a:solidFill>
                            <a:srgbClr val="FFFFFF"/>
                          </a:solidFill>
                          <a:latin typeface="Aptos"/>
                        </a:rPr>
                        <a:t>Qué evita</a:t>
                      </a:r>
                    </a:p>
                  </a:txBody>
                  <a:tcPr anchor="ctr" marL="146304" marR="146304">
                    <a:solidFill>
                      <a:srgbClr val="156082"/>
                    </a:solidFill>
                  </a:tcPr>
                </a:tc>
              </a:tr>
              <a:tr h="442603">
                <a:tc>
                  <a:txBody>
                    <a:bodyPr wrap="square"/>
                    <a:lstStyle/>
                    <a:p>
                      <a:r>
                        <a:rPr sz="1303" b="1">
                          <a:solidFill>
                            <a:srgbClr val="33475B"/>
                          </a:solidFill>
                          <a:latin typeface="Aptos"/>
                        </a:rPr>
                        <a:t>Un solo cliente configurado en </a:t>
                      </a:r>
                      <a:r>
                        <a:rPr sz="1224" b="1">
                          <a:solidFill>
                            <a:srgbClr val="156082"/>
                          </a:solidFill>
                          <a:latin typeface="Consolas"/>
                        </a:rPr>
                        <a:t>core/network/</a:t>
                      </a:r>
                    </a:p>
                  </a:txBody>
                  <a:tcPr anchor="ctr" marL="146304" marR="146304">
                    <a:solidFill>
                      <a:srgbClr val="FFFFFF"/>
                    </a:solidFill>
                  </a:tcPr>
                </a:tc>
                <a:tc>
                  <a:txBody>
                    <a:bodyPr wrap="square"/>
                    <a:lstStyle/>
                    <a:p>
                      <a:r>
                        <a:rPr sz="1303" b="0">
                          <a:solidFill>
                            <a:srgbClr val="33475B"/>
                          </a:solidFill>
                          <a:latin typeface="Aptos"/>
                        </a:rPr>
                        <a:t>Configuraciones repetidas que divergen</a:t>
                      </a:r>
                    </a:p>
                  </a:txBody>
                  <a:tcPr anchor="ctr" marL="146304" marR="146304">
                    <a:solidFill>
                      <a:srgbClr val="FFFFFF"/>
                    </a:solidFill>
                  </a:tcPr>
                </a:tc>
              </a:tr>
              <a:tr h="442603">
                <a:tc>
                  <a:txBody>
                    <a:bodyPr wrap="square"/>
                    <a:lstStyle/>
                    <a:p>
                      <a:r>
                        <a:rPr sz="1303" b="1">
                          <a:solidFill>
                            <a:srgbClr val="33475B"/>
                          </a:solidFill>
                          <a:latin typeface="Aptos"/>
                        </a:rPr>
                        <a:t>Tiempo máximo en toda petición</a:t>
                      </a:r>
                    </a:p>
                  </a:txBody>
                  <a:tcPr anchor="ctr" marL="146304" marR="146304">
                    <a:solidFill>
                      <a:srgbClr val="F4F7FA"/>
                    </a:solidFill>
                  </a:tcPr>
                </a:tc>
                <a:tc>
                  <a:txBody>
                    <a:bodyPr wrap="square"/>
                    <a:lstStyle/>
                    <a:p>
                      <a:r>
                        <a:rPr sz="1303" b="0">
                          <a:solidFill>
                            <a:srgbClr val="33475B"/>
                          </a:solidFill>
                          <a:latin typeface="Aptos"/>
                        </a:rPr>
                        <a:t>Pantallas que cargan para siempre</a:t>
                      </a:r>
                    </a:p>
                  </a:txBody>
                  <a:tcPr anchor="ctr" marL="146304" marR="146304">
                    <a:solidFill>
                      <a:srgbClr val="F4F7FA"/>
                    </a:solidFill>
                  </a:tcPr>
                </a:tc>
              </a:tr>
              <a:tr h="442603">
                <a:tc>
                  <a:txBody>
                    <a:bodyPr wrap="square"/>
                    <a:lstStyle/>
                    <a:p>
                      <a:r>
                        <a:rPr sz="1303" b="1">
                          <a:solidFill>
                            <a:srgbClr val="33475B"/>
                          </a:solidFill>
                          <a:latin typeface="Aptos"/>
                        </a:rPr>
                        <a:t>Reintentos solo en lecturas, con espera exponencial y tope</a:t>
                      </a:r>
                    </a:p>
                  </a:txBody>
                  <a:tcPr anchor="ctr" marL="146304" marR="146304">
                    <a:solidFill>
                      <a:srgbClr val="FFFFFF"/>
                    </a:solidFill>
                  </a:tcPr>
                </a:tc>
                <a:tc>
                  <a:txBody>
                    <a:bodyPr wrap="square"/>
                    <a:lstStyle/>
                    <a:p>
                      <a:r>
                        <a:rPr sz="1303" b="0">
                          <a:solidFill>
                            <a:srgbClr val="33475B"/>
                          </a:solidFill>
                          <a:latin typeface="Aptos"/>
                        </a:rPr>
                        <a:t>Escrituras duplicadas y servidores saturados</a:t>
                      </a:r>
                    </a:p>
                  </a:txBody>
                  <a:tcPr anchor="ctr" marL="146304" marR="146304">
                    <a:solidFill>
                      <a:srgbClr val="FFFFFF"/>
                    </a:solidFill>
                  </a:tcPr>
                </a:tc>
              </a:tr>
              <a:tr h="442603">
                <a:tc>
                  <a:txBody>
                    <a:bodyPr wrap="square"/>
                    <a:lstStyle/>
                    <a:p>
                      <a:r>
                        <a:rPr sz="1303" b="1">
                          <a:solidFill>
                            <a:srgbClr val="33475B"/>
                          </a:solidFill>
                          <a:latin typeface="Aptos"/>
                        </a:rPr>
                        <a:t>Identificador de correlación en cada petición</a:t>
                      </a:r>
                    </a:p>
                  </a:txBody>
                  <a:tcPr anchor="ctr" marL="146304" marR="146304">
                    <a:solidFill>
                      <a:srgbClr val="F4F7FA"/>
                    </a:solidFill>
                  </a:tcPr>
                </a:tc>
                <a:tc>
                  <a:txBody>
                    <a:bodyPr wrap="square"/>
                    <a:lstStyle/>
                    <a:p>
                      <a:r>
                        <a:rPr sz="1303" b="0">
                          <a:solidFill>
                            <a:srgbClr val="33475B"/>
                          </a:solidFill>
                          <a:latin typeface="Aptos"/>
                        </a:rPr>
                        <a:t>Fallas imposibles de rastrear</a:t>
                      </a:r>
                    </a:p>
                  </a:txBody>
                  <a:tcPr anchor="ctr" marL="146304" marR="146304">
                    <a:solidFill>
                      <a:srgbClr val="F4F7FA"/>
                    </a:solidFill>
                  </a:tcPr>
                </a:tc>
              </a:tr>
              <a:tr h="442603">
                <a:tc>
                  <a:txBody>
                    <a:bodyPr wrap="square"/>
                    <a:lstStyle/>
                    <a:p>
                      <a:r>
                        <a:rPr sz="1303" b="1">
                          <a:solidFill>
                            <a:srgbClr val="33475B"/>
                          </a:solidFill>
                          <a:latin typeface="Aptos"/>
                        </a:rPr>
                        <a:t>DTO → dominio en la capa de datos</a:t>
                      </a:r>
                    </a:p>
                  </a:txBody>
                  <a:tcPr anchor="ctr" marL="146304" marR="146304">
                    <a:solidFill>
                      <a:srgbClr val="FFFFFF"/>
                    </a:solidFill>
                  </a:tcPr>
                </a:tc>
                <a:tc>
                  <a:txBody>
                    <a:bodyPr wrap="square"/>
                    <a:lstStyle/>
                    <a:p>
                      <a:r>
                        <a:rPr sz="1303" b="0">
                          <a:solidFill>
                            <a:srgbClr val="33475B"/>
                          </a:solidFill>
                          <a:latin typeface="Aptos"/>
                        </a:rPr>
                        <a:t>Que el JSON del backend llegue a la UI</a:t>
                      </a:r>
                    </a:p>
                  </a:txBody>
                  <a:tcPr anchor="ctr" marL="146304" marR="146304">
                    <a:solidFill>
                      <a:srgbClr val="FFFFFF"/>
                    </a:solidFill>
                  </a:tcPr>
                </a:tc>
              </a:tr>
              <a:tr h="442603">
                <a:tc>
                  <a:txBody>
                    <a:bodyPr wrap="square"/>
                    <a:lstStyle/>
                    <a:p>
                      <a:r>
                        <a:rPr sz="1303" b="1">
                          <a:solidFill>
                            <a:srgbClr val="33475B"/>
                          </a:solidFill>
                          <a:latin typeface="Aptos"/>
                        </a:rPr>
                        <a:t>Falla ruidosa ante datos malformados</a:t>
                      </a:r>
                    </a:p>
                  </a:txBody>
                  <a:tcPr anchor="ctr" marL="146304" marR="146304">
                    <a:solidFill>
                      <a:srgbClr val="F4F7FA"/>
                    </a:solidFill>
                  </a:tcPr>
                </a:tc>
                <a:tc>
                  <a:txBody>
                    <a:bodyPr wrap="square"/>
                    <a:lstStyle/>
                    <a:p>
                      <a:r>
                        <a:rPr sz="1303" b="0">
                          <a:solidFill>
                            <a:srgbClr val="33475B"/>
                          </a:solidFill>
                          <a:latin typeface="Aptos"/>
                        </a:rPr>
                        <a:t>Adivinar una fecha o un estado desconocido</a:t>
                      </a:r>
                    </a:p>
                  </a:txBody>
                  <a:tcPr anchor="ctr" marL="146304" marR="146304">
                    <a:solidFill>
                      <a:srgbClr val="F4F7FA"/>
                    </a:solidFill>
                  </a:tcPr>
                </a:tc>
              </a:tr>
              <a:tr h="442603">
                <a:tc>
                  <a:txBody>
                    <a:bodyPr wrap="square"/>
                    <a:lstStyle/>
                    <a:p>
                      <a:r>
                        <a:rPr sz="1303" b="1">
                          <a:solidFill>
                            <a:srgbClr val="33475B"/>
                          </a:solidFill>
                          <a:latin typeface="Aptos"/>
                        </a:rPr>
                        <a:t>Nunca tokens ni datos personales en los logs</a:t>
                      </a:r>
                    </a:p>
                  </a:txBody>
                  <a:tcPr anchor="ctr" marL="146304" marR="146304">
                    <a:solidFill>
                      <a:srgbClr val="FFFFFF"/>
                    </a:solidFill>
                  </a:tcPr>
                </a:tc>
                <a:tc>
                  <a:txBody>
                    <a:bodyPr wrap="square"/>
                    <a:lstStyle/>
                    <a:p>
                      <a:r>
                        <a:rPr sz="1303" b="0">
                          <a:solidFill>
                            <a:srgbClr val="33475B"/>
                          </a:solidFill>
                          <a:latin typeface="Aptos"/>
                        </a:rPr>
                        <a:t>Secretos filtrados en registros</a:t>
                      </a:r>
                    </a:p>
                  </a:txBody>
                  <a:tcPr anchor="ctr" marL="146304" marR="146304">
                    <a:solidFill>
                      <a:srgbClr val="FFFFFF"/>
                    </a:solidFill>
                  </a:tcPr>
                </a:tc>
              </a:tr>
            </a:tbl>
          </a:graphicData>
        </a:graphic>
      </p:graphicFrame>
      <p:sp>
        <p:nvSpPr>
          <p:cNvPr id="8" name="Rounded Rectangle 7"/>
          <p:cNvSpPr/>
          <p:nvPr/>
        </p:nvSpPr>
        <p:spPr>
          <a:xfrm>
            <a:off x="566928" y="5314766"/>
            <a:ext cx="11064240" cy="101288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369630"/>
            <a:ext cx="63500" cy="90315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314766"/>
            <a:ext cx="10378440" cy="1012881"/>
          </a:xfrm>
          <a:prstGeom prst="rect">
            <a:avLst/>
          </a:prstGeom>
          <a:noFill/>
        </p:spPr>
        <p:txBody>
          <a:bodyPr wrap="square" anchor="ctr" lIns="0" rIns="0" tIns="0" bIns="0">
            <a:spAutoFit/>
          </a:bodyPr>
          <a:lstStyle/>
          <a:p>
            <a:pPr algn="l">
              <a:lnSpc>
                <a:spcPct val="125000"/>
              </a:lnSpc>
            </a:pPr>
            <a:r>
              <a:rPr sz="2047" b="1">
                <a:solidFill>
                  <a:srgbClr val="0E2841"/>
                </a:solidFill>
                <a:latin typeface="Aptos Display"/>
              </a:rPr>
              <a:t>Un </a:t>
            </a:r>
            <a:r>
              <a:rPr sz="1924" b="1">
                <a:solidFill>
                  <a:srgbClr val="156082"/>
                </a:solidFill>
                <a:latin typeface="Consolas"/>
              </a:rPr>
              <a:t>POST</a:t>
            </a:r>
            <a:r>
              <a:rPr sz="2047" b="1">
                <a:solidFill>
                  <a:srgbClr val="0E2841"/>
                </a:solidFill>
                <a:latin typeface="Aptos Display"/>
              </a:rPr>
              <a:t> solo se reenvía con una clave de idempotencia que el servidor reconozca; </a:t>
            </a:r>
            <a:r>
              <a:rPr sz="1924" b="1">
                <a:solidFill>
                  <a:srgbClr val="156082"/>
                </a:solidFill>
                <a:latin typeface="Consolas"/>
              </a:rPr>
              <a:t>PUT</a:t>
            </a:r>
            <a:r>
              <a:rPr sz="2047" b="1">
                <a:solidFill>
                  <a:srgbClr val="0E2841"/>
                </a:solidFill>
                <a:latin typeface="Aptos Display"/>
              </a:rPr>
              <a:t> y </a:t>
            </a:r>
            <a:r>
              <a:rPr sz="1924" b="1">
                <a:solidFill>
                  <a:srgbClr val="156082"/>
                </a:solidFill>
                <a:latin typeface="Consolas"/>
              </a:rPr>
              <a:t>DELETE</a:t>
            </a:r>
            <a:r>
              <a:rPr sz="2047" b="1">
                <a:solidFill>
                  <a:srgbClr val="0E2841"/>
                </a:solidFill>
                <a:latin typeface="Aptos Display"/>
              </a:rPr>
              <a:t> lo son solo si el backend lo cumple.</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35 / 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orden de los interceptores importa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59477"/>
            <a:ext cx="2478024"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59477"/>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01769"/>
            <a:ext cx="2185416" cy="1156766"/>
          </a:xfrm>
          <a:prstGeom prst="rect">
            <a:avLst/>
          </a:prstGeom>
          <a:noFill/>
        </p:spPr>
        <p:txBody>
          <a:bodyPr wrap="square" anchor="t" lIns="0" rIns="0" tIns="0" bIns="0">
            <a:spAutoFit/>
          </a:bodyPr>
          <a:lstStyle/>
          <a:p>
            <a:pPr algn="ctr"/>
            <a:r>
              <a:rPr sz="1689" b="1">
                <a:solidFill>
                  <a:srgbClr val="0E2841"/>
                </a:solidFill>
                <a:latin typeface="Aptos Display"/>
              </a:rPr>
              <a:t>correlacion</a:t>
            </a:r>
          </a:p>
          <a:p>
            <a:pPr algn="ctr">
              <a:lnSpc>
                <a:spcPct val="120000"/>
              </a:lnSpc>
              <a:spcBef>
                <a:spcPts val="700"/>
              </a:spcBef>
            </a:pPr>
            <a:r>
              <a:rPr sz="1308" b="0">
                <a:solidFill>
                  <a:srgbClr val="7A8B9E"/>
                </a:solidFill>
                <a:latin typeface="Aptos"/>
              </a:rPr>
              <a:t>X-Request-Id compartido por todos los reintentos</a:t>
            </a:r>
          </a:p>
        </p:txBody>
      </p:sp>
      <p:sp>
        <p:nvSpPr>
          <p:cNvPr id="10" name="Chevron 9"/>
          <p:cNvSpPr/>
          <p:nvPr/>
        </p:nvSpPr>
        <p:spPr>
          <a:xfrm>
            <a:off x="3136392" y="2303837"/>
            <a:ext cx="201168" cy="61240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759477"/>
            <a:ext cx="2478024"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759477"/>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201769"/>
            <a:ext cx="2185416" cy="1156766"/>
          </a:xfrm>
          <a:prstGeom prst="rect">
            <a:avLst/>
          </a:prstGeom>
          <a:noFill/>
        </p:spPr>
        <p:txBody>
          <a:bodyPr wrap="square" anchor="t" lIns="0" rIns="0" tIns="0" bIns="0">
            <a:spAutoFit/>
          </a:bodyPr>
          <a:lstStyle/>
          <a:p>
            <a:pPr algn="ctr"/>
            <a:r>
              <a:rPr sz="1689" b="1">
                <a:solidFill>
                  <a:srgbClr val="0E2841"/>
                </a:solidFill>
                <a:latin typeface="Aptos Display"/>
              </a:rPr>
              <a:t>auth</a:t>
            </a:r>
          </a:p>
          <a:p>
            <a:pPr algn="ctr">
              <a:lnSpc>
                <a:spcPct val="120000"/>
              </a:lnSpc>
              <a:spcBef>
                <a:spcPts val="700"/>
              </a:spcBef>
            </a:pPr>
            <a:r>
              <a:rPr sz="1308" b="0">
                <a:solidFill>
                  <a:srgbClr val="7A8B9E"/>
                </a:solidFill>
                <a:latin typeface="Aptos"/>
              </a:rPr>
              <a:t>envuelve a los reintentos: un 401 no se reintenta a ciegas</a:t>
            </a:r>
          </a:p>
        </p:txBody>
      </p:sp>
      <p:sp>
        <p:nvSpPr>
          <p:cNvPr id="14" name="Chevron 13"/>
          <p:cNvSpPr/>
          <p:nvPr/>
        </p:nvSpPr>
        <p:spPr>
          <a:xfrm>
            <a:off x="5998464" y="2303837"/>
            <a:ext cx="201168" cy="61240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759477"/>
            <a:ext cx="2478024"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759477"/>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201769"/>
            <a:ext cx="2185416" cy="1156766"/>
          </a:xfrm>
          <a:prstGeom prst="rect">
            <a:avLst/>
          </a:prstGeom>
          <a:noFill/>
        </p:spPr>
        <p:txBody>
          <a:bodyPr wrap="square" anchor="t" lIns="0" rIns="0" tIns="0" bIns="0">
            <a:spAutoFit/>
          </a:bodyPr>
          <a:lstStyle/>
          <a:p>
            <a:pPr algn="ctr"/>
            <a:r>
              <a:rPr sz="1689" b="1">
                <a:solidFill>
                  <a:srgbClr val="0E2841"/>
                </a:solidFill>
                <a:latin typeface="Aptos Display"/>
              </a:rPr>
              <a:t>tiempoYReintentos</a:t>
            </a:r>
          </a:p>
          <a:p>
            <a:pPr algn="ctr">
              <a:lnSpc>
                <a:spcPct val="120000"/>
              </a:lnSpc>
              <a:spcBef>
                <a:spcPts val="700"/>
              </a:spcBef>
            </a:pPr>
            <a:r>
              <a:rPr sz="1308" b="0">
                <a:solidFill>
                  <a:srgbClr val="7A8B9E"/>
                </a:solidFill>
                <a:latin typeface="Aptos"/>
              </a:rPr>
              <a:t>tiempo máximo y espera exponencial</a:t>
            </a:r>
          </a:p>
        </p:txBody>
      </p:sp>
      <p:sp>
        <p:nvSpPr>
          <p:cNvPr id="18" name="Chevron 17"/>
          <p:cNvSpPr/>
          <p:nvPr/>
        </p:nvSpPr>
        <p:spPr>
          <a:xfrm>
            <a:off x="8860536" y="2303837"/>
            <a:ext cx="201168" cy="61240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759477"/>
            <a:ext cx="2478024"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759477"/>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201769"/>
            <a:ext cx="2185416" cy="1156766"/>
          </a:xfrm>
          <a:prstGeom prst="rect">
            <a:avLst/>
          </a:prstGeom>
          <a:noFill/>
        </p:spPr>
        <p:txBody>
          <a:bodyPr wrap="square" anchor="t" lIns="0" rIns="0" tIns="0" bIns="0">
            <a:spAutoFit/>
          </a:bodyPr>
          <a:lstStyle/>
          <a:p>
            <a:pPr algn="ctr"/>
            <a:r>
              <a:rPr sz="1689" b="1">
                <a:solidFill>
                  <a:srgbClr val="0E2841"/>
                </a:solidFill>
                <a:latin typeface="Aptos Display"/>
              </a:rPr>
              <a:t>Backend</a:t>
            </a:r>
          </a:p>
        </p:txBody>
      </p:sp>
      <p:sp>
        <p:nvSpPr>
          <p:cNvPr id="22" name="Rounded Rectangle 21"/>
          <p:cNvSpPr/>
          <p:nvPr/>
        </p:nvSpPr>
        <p:spPr>
          <a:xfrm>
            <a:off x="566928" y="3848481"/>
            <a:ext cx="11064240" cy="247916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1248" y="4067937"/>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 y="4031361"/>
            <a:ext cx="7315200" cy="237744"/>
          </a:xfrm>
          <a:prstGeom prst="rect">
            <a:avLst/>
          </a:prstGeom>
          <a:noFill/>
        </p:spPr>
        <p:txBody>
          <a:bodyPr wrap="square" anchor="t" lIns="0" rIns="0" tIns="0" bIns="0">
            <a:spAutoFit/>
          </a:bodyPr>
          <a:lstStyle/>
          <a:p>
            <a:pPr algn="l"/>
            <a:r>
              <a:rPr sz="1253" b="1">
                <a:solidFill>
                  <a:srgbClr val="E97132"/>
                </a:solidFill>
                <a:latin typeface="Aptos"/>
              </a:rPr>
              <a:t>TIEMPOYREINTENTOSINTERCEPTOR · EXTRACTO</a:t>
            </a:r>
          </a:p>
        </p:txBody>
      </p:sp>
      <p:sp>
        <p:nvSpPr>
          <p:cNvPr id="25" name="TextBox 24"/>
          <p:cNvSpPr txBox="1"/>
          <p:nvPr/>
        </p:nvSpPr>
        <p:spPr>
          <a:xfrm>
            <a:off x="877824" y="4415409"/>
            <a:ext cx="10515600" cy="1747647"/>
          </a:xfrm>
          <a:prstGeom prst="rect">
            <a:avLst/>
          </a:prstGeom>
          <a:noFill/>
        </p:spPr>
        <p:txBody>
          <a:bodyPr wrap="none" lIns="0" tIns="0">
            <a:spAutoFit/>
          </a:bodyPr>
          <a:lstStyle/>
          <a:p>
            <a:pPr>
              <a:lnSpc>
                <a:spcPct val="125000"/>
              </a:lnSpc>
            </a:pPr>
            <a:r>
              <a:rPr sz="1580">
                <a:solidFill>
                  <a:srgbClr val="E8E8E8"/>
                </a:solidFill>
                <a:latin typeface="Consolas"/>
              </a:rPr>
              <a:t>const conLimite = next(req).pipe(timeout(TIEMPO_MAXIMO_MS));               // 10 s</a:t>
            </a:r>
          </a:p>
          <a:p>
            <a:pPr>
              <a:lnSpc>
                <a:spcPct val="125000"/>
              </a:lnSpc>
            </a:pPr>
            <a:r>
              <a:rPr sz="1580">
                <a:solidFill>
                  <a:srgbClr val="E8E8E8"/>
                </a:solidFill>
                <a:latin typeface="Consolas"/>
              </a:rPr>
              <a:t>if (req.method !== 'GET') return conLimite;          // escrituras: sin reintento automático</a:t>
            </a:r>
          </a:p>
          <a:p>
            <a:pPr>
              <a:lnSpc>
                <a:spcPct val="125000"/>
              </a:lnSpc>
            </a:pPr>
            <a:r>
              <a:rPr sz="1580">
                <a:solidFill>
                  <a:srgbClr val="E8E8E8"/>
                </a:solidFill>
                <a:latin typeface="Consolas"/>
              </a:rPr>
              <a:t>return conLimite.pipe(retry({ count: MAX_REINTENTOS,                       // 3</a:t>
            </a:r>
          </a:p>
          <a:p>
            <a:pPr>
              <a:lnSpc>
                <a:spcPct val="125000"/>
              </a:lnSpc>
            </a:pPr>
            <a:r>
              <a:rPr sz="1580">
                <a:solidFill>
                  <a:srgbClr val="E8E8E8"/>
                </a:solidFill>
                <a:latin typeface="Consolas"/>
              </a:rPr>
              <a:t>  delay: (error, intento) =&gt; esTransitorio(error)    // estado 0, 429, 5xx o tiempo agotado</a:t>
            </a:r>
          </a:p>
          <a:p>
            <a:pPr>
              <a:lnSpc>
                <a:spcPct val="125000"/>
              </a:lnSpc>
            </a:pPr>
            <a:r>
              <a:rPr sz="1580">
                <a:solidFill>
                  <a:srgbClr val="E8E8E8"/>
                </a:solidFill>
                <a:latin typeface="Consolas"/>
              </a:rPr>
              <a:t>    ? timer(ESPERA_BASE_MS * 2 ** (intento - 1) + Math.random() * 100)     // 300, 600, 1200 ms</a:t>
            </a:r>
          </a:p>
          <a:p>
            <a:pPr>
              <a:lnSpc>
                <a:spcPct val="125000"/>
              </a:lnSpc>
            </a:pPr>
            <a:r>
              <a:rPr sz="1580">
                <a:solidFill>
                  <a:srgbClr val="E8E8E8"/>
                </a:solidFill>
                <a:latin typeface="Consolas"/>
              </a:rPr>
              <a:t>    : throwError(() =&gt; error) }));</a:t>
            </a:r>
          </a:p>
        </p:txBody>
      </p:sp>
      <p:sp>
        <p:nvSpPr>
          <p:cNvPr id="26" name="TextBox 2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7" name="TextBox 2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36 / 48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tabla de errores es el contrato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486054">
                <a:tc>
                  <a:txBody>
                    <a:bodyPr wrap="square"/>
                    <a:lstStyle/>
                    <a:p>
                      <a:r>
                        <a:rPr sz="1513" b="1">
                          <a:solidFill>
                            <a:srgbClr val="FFFFFF"/>
                          </a:solidFill>
                          <a:latin typeface="Aptos"/>
                        </a:rPr>
                        <a:t>Respuesta</a:t>
                      </a:r>
                    </a:p>
                  </a:txBody>
                  <a:tcPr anchor="ctr" marL="146304" marR="146304">
                    <a:solidFill>
                      <a:srgbClr val="156082"/>
                    </a:solidFill>
                  </a:tcPr>
                </a:tc>
                <a:tc>
                  <a:txBody>
                    <a:bodyPr wrap="square"/>
                    <a:lstStyle/>
                    <a:p>
                      <a:r>
                        <a:rPr sz="1513" b="1">
                          <a:solidFill>
                            <a:srgbClr val="FFFFFF"/>
                          </a:solidFill>
                          <a:latin typeface="Aptos"/>
                        </a:rPr>
                        <a:t>Comportamiento de la app</a:t>
                      </a:r>
                    </a:p>
                  </a:txBody>
                  <a:tcPr anchor="ctr" marL="146304" marR="146304">
                    <a:solidFill>
                      <a:srgbClr val="156082"/>
                    </a:solidFill>
                  </a:tcPr>
                </a:tc>
                <a:tc>
                  <a:txBody>
                    <a:bodyPr wrap="square"/>
                    <a:lstStyle/>
                    <a:p>
                      <a:r>
                        <a:rPr sz="1513" b="1">
                          <a:solidFill>
                            <a:srgbClr val="FFFFFF"/>
                          </a:solidFill>
                          <a:latin typeface="Aptos"/>
                        </a:rPr>
                        <a:t>Lo que ve el usuario</a:t>
                      </a:r>
                    </a:p>
                  </a:txBody>
                  <a:tcPr anchor="ctr" marL="146304" marR="146304">
                    <a:solidFill>
                      <a:srgbClr val="156082"/>
                    </a:solidFill>
                  </a:tcPr>
                </a:tc>
              </a:tr>
              <a:tr h="486054">
                <a:tc>
                  <a:txBody>
                    <a:bodyPr wrap="square"/>
                    <a:lstStyle/>
                    <a:p>
                      <a:r>
                        <a:rPr sz="1412" b="1">
                          <a:solidFill>
                            <a:srgbClr val="33475B"/>
                          </a:solidFill>
                          <a:latin typeface="Aptos"/>
                        </a:rPr>
                        <a:t>2xx</a:t>
                      </a:r>
                    </a:p>
                  </a:txBody>
                  <a:tcPr anchor="ctr" marL="146304" marR="146304">
                    <a:solidFill>
                      <a:srgbClr val="FFFFFF"/>
                    </a:solidFill>
                  </a:tcPr>
                </a:tc>
                <a:tc>
                  <a:txBody>
                    <a:bodyPr wrap="square"/>
                    <a:lstStyle/>
                    <a:p>
                      <a:r>
                        <a:rPr sz="1412" b="0">
                          <a:solidFill>
                            <a:srgbClr val="33475B"/>
                          </a:solidFill>
                          <a:latin typeface="Aptos"/>
                        </a:rPr>
                        <a:t>Mapear DTO → entidad</a:t>
                      </a:r>
                    </a:p>
                  </a:txBody>
                  <a:tcPr anchor="ctr" marL="146304" marR="146304">
                    <a:solidFill>
                      <a:srgbClr val="FFFFFF"/>
                    </a:solidFill>
                  </a:tcPr>
                </a:tc>
                <a:tc>
                  <a:txBody>
                    <a:bodyPr wrap="square"/>
                    <a:lstStyle/>
                    <a:p>
                      <a:r>
                        <a:rPr sz="1327" b="0">
                          <a:solidFill>
                            <a:srgbClr val="156082"/>
                          </a:solidFill>
                          <a:latin typeface="Consolas"/>
                        </a:rPr>
                        <a:t>cargado</a:t>
                      </a:r>
                      <a:r>
                        <a:rPr sz="1412" b="0">
                          <a:solidFill>
                            <a:srgbClr val="33475B"/>
                          </a:solidFill>
                          <a:latin typeface="Aptos"/>
                        </a:rPr>
                        <a:t> o </a:t>
                      </a:r>
                      <a:r>
                        <a:rPr sz="1327" b="0">
                          <a:solidFill>
                            <a:srgbClr val="156082"/>
                          </a:solidFill>
                          <a:latin typeface="Consolas"/>
                        </a:rPr>
                        <a:t>vacio</a:t>
                      </a:r>
                    </a:p>
                  </a:txBody>
                  <a:tcPr anchor="ctr" marL="146304" marR="146304">
                    <a:solidFill>
                      <a:srgbClr val="FFFFFF"/>
                    </a:solidFill>
                  </a:tcPr>
                </a:tc>
              </a:tr>
              <a:tr h="486054">
                <a:tc>
                  <a:txBody>
                    <a:bodyPr wrap="square"/>
                    <a:lstStyle/>
                    <a:p>
                      <a:r>
                        <a:rPr sz="1412" b="1">
                          <a:solidFill>
                            <a:srgbClr val="33475B"/>
                          </a:solidFill>
                          <a:latin typeface="Aptos"/>
                        </a:rPr>
                        <a:t>Sin red (estado 0)</a:t>
                      </a:r>
                    </a:p>
                  </a:txBody>
                  <a:tcPr anchor="ctr" marL="146304" marR="146304">
                    <a:solidFill>
                      <a:srgbClr val="F4F7FA"/>
                    </a:solidFill>
                  </a:tcPr>
                </a:tc>
                <a:tc>
                  <a:txBody>
                    <a:bodyPr wrap="square"/>
                    <a:lstStyle/>
                    <a:p>
                      <a:r>
                        <a:rPr sz="1412" b="0">
                          <a:solidFill>
                            <a:srgbClr val="33475B"/>
                          </a:solidFill>
                          <a:latin typeface="Aptos"/>
                        </a:rPr>
                        <a:t>Servir la caché si existe</a:t>
                      </a:r>
                    </a:p>
                  </a:txBody>
                  <a:tcPr anchor="ctr" marL="146304" marR="146304">
                    <a:solidFill>
                      <a:srgbClr val="F4F7FA"/>
                    </a:solidFill>
                  </a:tcPr>
                </a:tc>
                <a:tc>
                  <a:txBody>
                    <a:bodyPr wrap="square"/>
                    <a:lstStyle/>
                    <a:p>
                      <a:r>
                        <a:rPr sz="1327" b="0">
                          <a:solidFill>
                            <a:srgbClr val="156082"/>
                          </a:solidFill>
                          <a:latin typeface="Consolas"/>
                        </a:rPr>
                        <a:t>cargado</a:t>
                      </a:r>
                      <a:r>
                        <a:rPr sz="1412" b="0">
                          <a:solidFill>
                            <a:srgbClr val="33475B"/>
                          </a:solidFill>
                          <a:latin typeface="Aptos"/>
                        </a:rPr>
                        <a:t> con aviso, u </a:t>
                      </a:r>
                      <a:r>
                        <a:rPr sz="1327" b="0">
                          <a:solidFill>
                            <a:srgbClr val="156082"/>
                          </a:solidFill>
                          <a:latin typeface="Consolas"/>
                        </a:rPr>
                        <a:t>offline</a:t>
                      </a:r>
                    </a:p>
                  </a:txBody>
                  <a:tcPr anchor="ctr" marL="146304" marR="146304">
                    <a:solidFill>
                      <a:srgbClr val="F4F7FA"/>
                    </a:solidFill>
                  </a:tcPr>
                </a:tc>
              </a:tr>
              <a:tr h="486054">
                <a:tc>
                  <a:txBody>
                    <a:bodyPr wrap="square"/>
                    <a:lstStyle/>
                    <a:p>
                      <a:r>
                        <a:rPr sz="1412" b="1">
                          <a:solidFill>
                            <a:srgbClr val="33475B"/>
                          </a:solidFill>
                          <a:latin typeface="Aptos"/>
                        </a:rPr>
                        <a:t>401 · token vencido</a:t>
                      </a:r>
                    </a:p>
                  </a:txBody>
                  <a:tcPr anchor="ctr" marL="146304" marR="146304">
                    <a:solidFill>
                      <a:srgbClr val="FFFFFF"/>
                    </a:solidFill>
                  </a:tcPr>
                </a:tc>
                <a:tc>
                  <a:txBody>
                    <a:bodyPr wrap="square"/>
                    <a:lstStyle/>
                    <a:p>
                      <a:r>
                        <a:rPr sz="1412" b="0">
                          <a:solidFill>
                            <a:srgbClr val="33475B"/>
                          </a:solidFill>
                          <a:latin typeface="Aptos"/>
                        </a:rPr>
                        <a:t>Refrescar y reintentar una vez</a:t>
                      </a:r>
                    </a:p>
                  </a:txBody>
                  <a:tcPr anchor="ctr" marL="146304" marR="146304">
                    <a:solidFill>
                      <a:srgbClr val="FFFFFF"/>
                    </a:solidFill>
                  </a:tcPr>
                </a:tc>
                <a:tc>
                  <a:txBody>
                    <a:bodyPr wrap="square"/>
                    <a:lstStyle/>
                    <a:p>
                      <a:r>
                        <a:rPr sz="1412" b="0">
                          <a:solidFill>
                            <a:srgbClr val="33475B"/>
                          </a:solidFill>
                          <a:latin typeface="Aptos"/>
                        </a:rPr>
                        <a:t>Vuelve a </a:t>
                      </a:r>
                      <a:r>
                        <a:rPr sz="1327" b="0">
                          <a:solidFill>
                            <a:srgbClr val="156082"/>
                          </a:solidFill>
                          <a:latin typeface="Consolas"/>
                        </a:rPr>
                        <a:t>/login</a:t>
                      </a:r>
                    </a:p>
                  </a:txBody>
                  <a:tcPr anchor="ctr" marL="146304" marR="146304">
                    <a:solidFill>
                      <a:srgbClr val="FFFFFF"/>
                    </a:solidFill>
                  </a:tcPr>
                </a:tc>
              </a:tr>
              <a:tr h="486054">
                <a:tc>
                  <a:txBody>
                    <a:bodyPr wrap="square"/>
                    <a:lstStyle/>
                    <a:p>
                      <a:r>
                        <a:rPr sz="1412" b="1">
                          <a:solidFill>
                            <a:srgbClr val="33475B"/>
                          </a:solidFill>
                          <a:latin typeface="Aptos"/>
                        </a:rPr>
                        <a:t>403 · sin permiso</a:t>
                      </a:r>
                    </a:p>
                  </a:txBody>
                  <a:tcPr anchor="ctr" marL="146304" marR="146304">
                    <a:solidFill>
                      <a:srgbClr val="F4F7FA"/>
                    </a:solidFill>
                  </a:tcPr>
                </a:tc>
                <a:tc>
                  <a:txBody>
                    <a:bodyPr wrap="square"/>
                    <a:lstStyle/>
                    <a:p>
                      <a:r>
                        <a:rPr sz="1412" b="0">
                          <a:solidFill>
                            <a:srgbClr val="33475B"/>
                          </a:solidFill>
                          <a:latin typeface="Aptos"/>
                        </a:rPr>
                        <a:t>No reintentar</a:t>
                      </a:r>
                    </a:p>
                  </a:txBody>
                  <a:tcPr anchor="ctr" marL="146304" marR="146304">
                    <a:solidFill>
                      <a:srgbClr val="F4F7FA"/>
                    </a:solidFill>
                  </a:tcPr>
                </a:tc>
                <a:tc>
                  <a:txBody>
                    <a:bodyPr wrap="square"/>
                    <a:lstStyle/>
                    <a:p>
                      <a:r>
                        <a:rPr sz="1412" b="0">
                          <a:solidFill>
                            <a:srgbClr val="33475B"/>
                          </a:solidFill>
                          <a:latin typeface="Aptos"/>
                        </a:rPr>
                        <a:t>Mensaje accionable</a:t>
                      </a:r>
                    </a:p>
                  </a:txBody>
                  <a:tcPr anchor="ctr" marL="146304" marR="146304">
                    <a:solidFill>
                      <a:srgbClr val="F4F7FA"/>
                    </a:solidFill>
                  </a:tcPr>
                </a:tc>
              </a:tr>
              <a:tr h="486054">
                <a:tc>
                  <a:txBody>
                    <a:bodyPr wrap="square"/>
                    <a:lstStyle/>
                    <a:p>
                      <a:r>
                        <a:rPr sz="1412" b="1">
                          <a:solidFill>
                            <a:srgbClr val="33475B"/>
                          </a:solidFill>
                          <a:latin typeface="Aptos"/>
                        </a:rPr>
                        <a:t>404 · no existe</a:t>
                      </a:r>
                    </a:p>
                  </a:txBody>
                  <a:tcPr anchor="ctr" marL="146304" marR="146304">
                    <a:solidFill>
                      <a:srgbClr val="FFFFFF"/>
                    </a:solidFill>
                  </a:tcPr>
                </a:tc>
                <a:tc>
                  <a:txBody>
                    <a:bodyPr wrap="square"/>
                    <a:lstStyle/>
                    <a:p>
                      <a:r>
                        <a:rPr sz="1412" b="0">
                          <a:solidFill>
                            <a:srgbClr val="33475B"/>
                          </a:solidFill>
                          <a:latin typeface="Aptos"/>
                        </a:rPr>
                        <a:t>No reintentar</a:t>
                      </a:r>
                    </a:p>
                  </a:txBody>
                  <a:tcPr anchor="ctr" marL="146304" marR="146304">
                    <a:solidFill>
                      <a:srgbClr val="FFFFFF"/>
                    </a:solidFill>
                  </a:tcPr>
                </a:tc>
                <a:tc>
                  <a:txBody>
                    <a:bodyPr wrap="square"/>
                    <a:lstStyle/>
                    <a:p>
                      <a:r>
                        <a:rPr sz="1412" b="0">
                          <a:solidFill>
                            <a:srgbClr val="33475B"/>
                          </a:solidFill>
                          <a:latin typeface="Aptos"/>
                        </a:rPr>
                        <a:t>Estado «no encontrado»</a:t>
                      </a:r>
                    </a:p>
                  </a:txBody>
                  <a:tcPr anchor="ctr" marL="146304" marR="146304">
                    <a:solidFill>
                      <a:srgbClr val="FFFFFF"/>
                    </a:solidFill>
                  </a:tcPr>
                </a:tc>
              </a:tr>
              <a:tr h="486054">
                <a:tc>
                  <a:txBody>
                    <a:bodyPr wrap="square"/>
                    <a:lstStyle/>
                    <a:p>
                      <a:r>
                        <a:rPr sz="1412" b="1">
                          <a:solidFill>
                            <a:srgbClr val="33475B"/>
                          </a:solidFill>
                          <a:latin typeface="Aptos"/>
                        </a:rPr>
                        <a:t>409 o 422 · conflicto</a:t>
                      </a:r>
                    </a:p>
                  </a:txBody>
                  <a:tcPr anchor="ctr" marL="146304" marR="146304">
                    <a:solidFill>
                      <a:srgbClr val="F4F7FA"/>
                    </a:solidFill>
                  </a:tcPr>
                </a:tc>
                <a:tc>
                  <a:txBody>
                    <a:bodyPr wrap="square"/>
                    <a:lstStyle/>
                    <a:p>
                      <a:r>
                        <a:rPr sz="1412" b="0">
                          <a:solidFill>
                            <a:srgbClr val="33475B"/>
                          </a:solidFill>
                          <a:latin typeface="Aptos"/>
                        </a:rPr>
                        <a:t>Error de dominio con los campos</a:t>
                      </a:r>
                    </a:p>
                  </a:txBody>
                  <a:tcPr anchor="ctr" marL="146304" marR="146304">
                    <a:solidFill>
                      <a:srgbClr val="F4F7FA"/>
                    </a:solidFill>
                  </a:tcPr>
                </a:tc>
                <a:tc>
                  <a:txBody>
                    <a:bodyPr wrap="square"/>
                    <a:lstStyle/>
                    <a:p>
                      <a:r>
                        <a:rPr sz="1412" b="0">
                          <a:solidFill>
                            <a:srgbClr val="33475B"/>
                          </a:solidFill>
                          <a:latin typeface="Aptos"/>
                        </a:rPr>
                        <a:t>Errores en el formulario</a:t>
                      </a:r>
                    </a:p>
                  </a:txBody>
                  <a:tcPr anchor="ctr" marL="146304" marR="146304">
                    <a:solidFill>
                      <a:srgbClr val="F4F7FA"/>
                    </a:solidFill>
                  </a:tcPr>
                </a:tc>
              </a:tr>
              <a:tr h="486054">
                <a:tc>
                  <a:txBody>
                    <a:bodyPr wrap="square"/>
                    <a:lstStyle/>
                    <a:p>
                      <a:r>
                        <a:rPr sz="1412" b="1">
                          <a:solidFill>
                            <a:srgbClr val="33475B"/>
                          </a:solidFill>
                          <a:latin typeface="Aptos"/>
                        </a:rPr>
                        <a:t>429 · demasiadas</a:t>
                      </a:r>
                    </a:p>
                  </a:txBody>
                  <a:tcPr anchor="ctr" marL="146304" marR="146304">
                    <a:solidFill>
                      <a:srgbClr val="FFFFFF"/>
                    </a:solidFill>
                  </a:tcPr>
                </a:tc>
                <a:tc>
                  <a:txBody>
                    <a:bodyPr wrap="square"/>
                    <a:lstStyle/>
                    <a:p>
                      <a:r>
                        <a:rPr sz="1412" b="0">
                          <a:solidFill>
                            <a:srgbClr val="33475B"/>
                          </a:solidFill>
                          <a:latin typeface="Aptos"/>
                        </a:rPr>
                        <a:t>Esperar lo que indique </a:t>
                      </a:r>
                      <a:r>
                        <a:rPr sz="1327" b="0">
                          <a:solidFill>
                            <a:srgbClr val="156082"/>
                          </a:solidFill>
                          <a:latin typeface="Consolas"/>
                        </a:rPr>
                        <a:t>Retry-After</a:t>
                      </a:r>
                    </a:p>
                  </a:txBody>
                  <a:tcPr anchor="ctr" marL="146304" marR="146304">
                    <a:solidFill>
                      <a:srgbClr val="FFFFFF"/>
                    </a:solidFill>
                  </a:tcPr>
                </a:tc>
                <a:tc>
                  <a:txBody>
                    <a:bodyPr wrap="square"/>
                    <a:lstStyle/>
                    <a:p>
                      <a:r>
                        <a:rPr sz="1412" b="0">
                          <a:solidFill>
                            <a:srgbClr val="33475B"/>
                          </a:solidFill>
                          <a:latin typeface="Aptos"/>
                        </a:rPr>
                        <a:t>Mensaje y reintento diferido</a:t>
                      </a:r>
                    </a:p>
                  </a:txBody>
                  <a:tcPr anchor="ctr" marL="146304" marR="146304">
                    <a:solidFill>
                      <a:srgbClr val="FFFFFF"/>
                    </a:solidFill>
                  </a:tcPr>
                </a:tc>
              </a:tr>
              <a:tr h="486054">
                <a:tc>
                  <a:txBody>
                    <a:bodyPr wrap="square"/>
                    <a:lstStyle/>
                    <a:p>
                      <a:r>
                        <a:rPr sz="1412" b="1">
                          <a:solidFill>
                            <a:srgbClr val="33475B"/>
                          </a:solidFill>
                          <a:latin typeface="Aptos"/>
                        </a:rPr>
                        <a:t>5xx o tiempo agotado</a:t>
                      </a:r>
                    </a:p>
                  </a:txBody>
                  <a:tcPr anchor="ctr" marL="146304" marR="146304">
                    <a:solidFill>
                      <a:srgbClr val="F4F7FA"/>
                    </a:solidFill>
                  </a:tcPr>
                </a:tc>
                <a:tc>
                  <a:txBody>
                    <a:bodyPr wrap="square"/>
                    <a:lstStyle/>
                    <a:p>
                      <a:r>
                        <a:rPr sz="1412" b="0">
                          <a:solidFill>
                            <a:srgbClr val="33475B"/>
                          </a:solidFill>
                          <a:latin typeface="Aptos"/>
                        </a:rPr>
                        <a:t>Espera exponencial solo en lectura</a:t>
                      </a:r>
                    </a:p>
                  </a:txBody>
                  <a:tcPr anchor="ctr" marL="146304" marR="146304">
                    <a:solidFill>
                      <a:srgbClr val="F4F7FA"/>
                    </a:solidFill>
                  </a:tcPr>
                </a:tc>
                <a:tc>
                  <a:txBody>
                    <a:bodyPr wrap="square"/>
                    <a:lstStyle/>
                    <a:p>
                      <a:r>
                        <a:rPr sz="1327" b="0">
                          <a:solidFill>
                            <a:srgbClr val="156082"/>
                          </a:solidFill>
                          <a:latin typeface="Consolas"/>
                        </a:rPr>
                        <a:t>error</a:t>
                      </a:r>
                      <a:r>
                        <a:rPr sz="1412" b="0">
                          <a:solidFill>
                            <a:srgbClr val="33475B"/>
                          </a:solidFill>
                          <a:latin typeface="Aptos"/>
                        </a:rPr>
                        <a:t> con «Reintentar»</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37 / 48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DTO nunca sale de la capa de datos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3015691"/>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63" b="1">
                <a:solidFill>
                  <a:srgbClr val="E97132"/>
                </a:solidFill>
                <a:latin typeface="Aptos"/>
              </a:rPr>
              <a:t>DATA/VISITASHTTPREPOSITORY · EXTRACTO</a:t>
            </a:r>
          </a:p>
        </p:txBody>
      </p:sp>
      <p:sp>
        <p:nvSpPr>
          <p:cNvPr id="10" name="TextBox 9"/>
          <p:cNvSpPr txBox="1"/>
          <p:nvPr/>
        </p:nvSpPr>
        <p:spPr>
          <a:xfrm>
            <a:off x="877824" y="2139696"/>
            <a:ext cx="10515600" cy="2284171"/>
          </a:xfrm>
          <a:prstGeom prst="rect">
            <a:avLst/>
          </a:prstGeom>
          <a:noFill/>
        </p:spPr>
        <p:txBody>
          <a:bodyPr wrap="none" lIns="0" tIns="0">
            <a:spAutoFit/>
          </a:bodyPr>
          <a:lstStyle/>
          <a:p>
            <a:pPr>
              <a:lnSpc>
                <a:spcPct val="125000"/>
              </a:lnSpc>
            </a:pPr>
            <a:r>
              <a:rPr sz="1592">
                <a:solidFill>
                  <a:srgbClr val="E8E8E8"/>
                </a:solidFill>
                <a:latin typeface="Consolas"/>
              </a:rPr>
              <a:t>export class VisitasHttpRepository extends VisitasRepository {</a:t>
            </a:r>
          </a:p>
          <a:p>
            <a:pPr>
              <a:lnSpc>
                <a:spcPct val="125000"/>
              </a:lnSpc>
            </a:pPr>
            <a:r>
              <a:rPr sz="1592">
                <a:solidFill>
                  <a:srgbClr val="E8E8E8"/>
                </a:solidFill>
                <a:latin typeface="Consolas"/>
              </a:rPr>
              <a:t>  private readonly http = inject(HttpClient);</a:t>
            </a:r>
          </a:p>
          <a:p>
            <a:pPr>
              <a:lnSpc>
                <a:spcPct val="125000"/>
              </a:lnSpc>
            </a:pPr>
            <a:r>
              <a:rPr sz="1592">
                <a:solidFill>
                  <a:srgbClr val="E8E8E8"/>
                </a:solidFill>
                <a:latin typeface="Consolas"/>
              </a:rPr>
              <a:t>  listar(): Observable&lt;Listado&lt;Visita&gt;&gt; {</a:t>
            </a:r>
          </a:p>
          <a:p>
            <a:pPr>
              <a:lnSpc>
                <a:spcPct val="125000"/>
              </a:lnSpc>
            </a:pPr>
            <a:r>
              <a:rPr sz="1592">
                <a:solidFill>
                  <a:srgbClr val="E8E8E8"/>
                </a:solidFill>
                <a:latin typeface="Consolas"/>
              </a:rPr>
              <a:t>    return this.http.get&lt;VisitaDto[]&gt;(this.base).pipe(</a:t>
            </a:r>
          </a:p>
          <a:p>
            <a:pPr>
              <a:lnSpc>
                <a:spcPct val="125000"/>
              </a:lnSpc>
            </a:pPr>
            <a:r>
              <a:rPr sz="1592">
                <a:solidFill>
                  <a:srgbClr val="E8E8E8"/>
                </a:solidFill>
                <a:latin typeface="Consolas"/>
              </a:rPr>
              <a:t>      map(dtos =&gt; ({ datos: dtos.map(aVisita), desactualizado: false })), // aVisita valida</a:t>
            </a:r>
          </a:p>
          <a:p>
            <a:pPr>
              <a:lnSpc>
                <a:spcPct val="125000"/>
              </a:lnSpc>
            </a:pPr>
            <a:r>
              <a:rPr sz="1592">
                <a:solidFill>
                  <a:srgbClr val="E8E8E8"/>
                </a:solidFill>
                <a:latin typeface="Consolas"/>
              </a:rPr>
              <a:t>      catchError(e =&gt; throwError(() =&gt; aErrorDeDatos(e))));               // HTTP no sale</a:t>
            </a:r>
          </a:p>
          <a:p>
            <a:pPr>
              <a:lnSpc>
                <a:spcPct val="125000"/>
              </a:lnSpc>
            </a:pPr>
            <a:r>
              <a:rPr sz="1592">
                <a:solidFill>
                  <a:srgbClr val="E8E8E8"/>
                </a:solidFill>
                <a:latin typeface="Consolas"/>
              </a:rPr>
              <a:t>  } }</a:t>
            </a:r>
          </a:p>
        </p:txBody>
      </p:sp>
      <p:sp>
        <p:nvSpPr>
          <p:cNvPr id="11" name="Rounded Rectangle 10"/>
          <p:cNvSpPr/>
          <p:nvPr/>
        </p:nvSpPr>
        <p:spPr>
          <a:xfrm>
            <a:off x="566928" y="4789627"/>
            <a:ext cx="11064240" cy="15380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4844491"/>
            <a:ext cx="63500" cy="14282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89627"/>
            <a:ext cx="10378440" cy="1538020"/>
          </a:xfrm>
          <a:prstGeom prst="rect">
            <a:avLst/>
          </a:prstGeom>
          <a:noFill/>
        </p:spPr>
        <p:txBody>
          <a:bodyPr wrap="square" anchor="ctr" lIns="0" rIns="0" tIns="0" bIns="0">
            <a:spAutoFit/>
          </a:bodyPr>
          <a:lstStyle/>
          <a:p>
            <a:pPr algn="l">
              <a:lnSpc>
                <a:spcPct val="125000"/>
              </a:lnSpc>
            </a:pPr>
            <a:r>
              <a:rPr sz="2416" b="1">
                <a:solidFill>
                  <a:srgbClr val="0E2841"/>
                </a:solidFill>
                <a:latin typeface="Aptos Display"/>
              </a:rPr>
              <a:t>CORS en el dispositivo: el WebView tiene su propio origen. O el backend lo acepta, o se activa </a:t>
            </a:r>
            <a:r>
              <a:rPr sz="2271" b="1">
                <a:solidFill>
                  <a:srgbClr val="156082"/>
                </a:solidFill>
                <a:latin typeface="Consolas"/>
              </a:rPr>
              <a:t>CapacitorHttp</a:t>
            </a:r>
            <a:r>
              <a:rPr sz="2416" b="1">
                <a:solidFill>
                  <a:srgbClr val="0E2841"/>
                </a:solidFill>
                <a:latin typeface="Aptos Display"/>
              </a:rPr>
              <a:t>. Decídelo por escrito.</a:t>
            </a:r>
          </a:p>
        </p:txBody>
      </p:sp>
      <p:sp>
        <p:nvSpPr>
          <p:cNvPr id="14" name="TextBox 13"/>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5" name="TextBox 14"/>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38 / 48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09</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9. Sesión y tokens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Dónde se guardan, quién los adjunta, qué pasa al vencer</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token tiene su lugar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2944368"/>
        </p:xfrm>
        <a:graphic>
          <a:graphicData uri="http://schemas.openxmlformats.org/drawingml/2006/table">
            <a:tbl>
              <a:tblPr firstRow="1">
                <a:tableStyleId>{5C22544A-7EE6-4342-B048-85BDC9FD1C3A}</a:tableStyleId>
              </a:tblPr>
              <a:tblGrid>
                <a:gridCol w="3688080"/>
                <a:gridCol w="3688080"/>
                <a:gridCol w="3688080"/>
              </a:tblGrid>
              <a:tr h="736092">
                <a:tc>
                  <a:txBody>
                    <a:bodyPr wrap="square"/>
                    <a:lstStyle/>
                    <a:p>
                      <a:r>
                        <a:rPr sz="1725" b="1">
                          <a:solidFill>
                            <a:srgbClr val="FFFFFF"/>
                          </a:solidFill>
                          <a:latin typeface="Aptos"/>
                        </a:rPr>
                        <a:t>Dato</a:t>
                      </a:r>
                    </a:p>
                  </a:txBody>
                  <a:tcPr anchor="ctr" marL="146304" marR="146304">
                    <a:solidFill>
                      <a:srgbClr val="156082"/>
                    </a:solidFill>
                  </a:tcPr>
                </a:tc>
                <a:tc>
                  <a:txBody>
                    <a:bodyPr wrap="square"/>
                    <a:lstStyle/>
                    <a:p>
                      <a:r>
                        <a:rPr sz="1725" b="1">
                          <a:solidFill>
                            <a:srgbClr val="FFFFFF"/>
                          </a:solidFill>
                          <a:latin typeface="Aptos"/>
                        </a:rPr>
                        <a:t>Dónde se guarda</a:t>
                      </a:r>
                    </a:p>
                  </a:txBody>
                  <a:tcPr anchor="ctr" marL="146304" marR="146304">
                    <a:solidFill>
                      <a:srgbClr val="156082"/>
                    </a:solidFill>
                  </a:tcPr>
                </a:tc>
                <a:tc>
                  <a:txBody>
                    <a:bodyPr wrap="square"/>
                    <a:lstStyle/>
                    <a:p>
                      <a:r>
                        <a:rPr sz="1725" b="1">
                          <a:solidFill>
                            <a:srgbClr val="FFFFFF"/>
                          </a:solidFill>
                          <a:latin typeface="Aptos"/>
                        </a:rPr>
                        <a:t>Por qué</a:t>
                      </a:r>
                    </a:p>
                  </a:txBody>
                  <a:tcPr anchor="ctr" marL="146304" marR="146304">
                    <a:solidFill>
                      <a:srgbClr val="156082"/>
                    </a:solidFill>
                  </a:tcPr>
                </a:tc>
              </a:tr>
              <a:tr h="736092">
                <a:tc>
                  <a:txBody>
                    <a:bodyPr wrap="square"/>
                    <a:lstStyle/>
                    <a:p>
                      <a:r>
                        <a:rPr sz="1609" b="1">
                          <a:solidFill>
                            <a:srgbClr val="33475B"/>
                          </a:solidFill>
                          <a:latin typeface="Aptos"/>
                        </a:rPr>
                        <a:t>Access token (vida corta)</a:t>
                      </a:r>
                    </a:p>
                  </a:txBody>
                  <a:tcPr anchor="ctr" marL="146304" marR="146304">
                    <a:solidFill>
                      <a:srgbClr val="FFFFFF"/>
                    </a:solidFill>
                  </a:tcPr>
                </a:tc>
                <a:tc>
                  <a:txBody>
                    <a:bodyPr wrap="square"/>
                    <a:lstStyle/>
                    <a:p>
                      <a:r>
                        <a:rPr sz="1609" b="0">
                          <a:solidFill>
                            <a:srgbClr val="33475B"/>
                          </a:solidFill>
                          <a:latin typeface="Aptos"/>
                        </a:rPr>
                        <a:t>En memoria, en un signal del servicio de sesión</a:t>
                      </a:r>
                    </a:p>
                  </a:txBody>
                  <a:tcPr anchor="ctr" marL="146304" marR="146304">
                    <a:solidFill>
                      <a:srgbClr val="FFFFFF"/>
                    </a:solidFill>
                  </a:tcPr>
                </a:tc>
                <a:tc>
                  <a:txBody>
                    <a:bodyPr wrap="square"/>
                    <a:lstStyle/>
                    <a:p>
                      <a:r>
                        <a:rPr sz="1609" b="0">
                          <a:solidFill>
                            <a:srgbClr val="33475B"/>
                          </a:solidFill>
                          <a:latin typeface="Aptos"/>
                        </a:rPr>
                        <a:t>El interceptor lo lee sin esperar al disco; muere con el proceso</a:t>
                      </a:r>
                    </a:p>
                  </a:txBody>
                  <a:tcPr anchor="ctr" marL="146304" marR="146304">
                    <a:solidFill>
                      <a:srgbClr val="FFFFFF"/>
                    </a:solidFill>
                  </a:tcPr>
                </a:tc>
              </a:tr>
              <a:tr h="736092">
                <a:tc>
                  <a:txBody>
                    <a:bodyPr wrap="square"/>
                    <a:lstStyle/>
                    <a:p>
                      <a:r>
                        <a:rPr sz="1609" b="1">
                          <a:solidFill>
                            <a:srgbClr val="33475B"/>
                          </a:solidFill>
                          <a:latin typeface="Aptos"/>
                        </a:rPr>
                        <a:t>Refresh token (vida larga)</a:t>
                      </a:r>
                    </a:p>
                  </a:txBody>
                  <a:tcPr anchor="ctr" marL="146304" marR="146304">
                    <a:solidFill>
                      <a:srgbClr val="F4F7FA"/>
                    </a:solidFill>
                  </a:tcPr>
                </a:tc>
                <a:tc>
                  <a:txBody>
                    <a:bodyPr wrap="square"/>
                    <a:lstStyle/>
                    <a:p>
                      <a:r>
                        <a:rPr sz="1609" b="0">
                          <a:solidFill>
                            <a:srgbClr val="33475B"/>
                          </a:solidFill>
                          <a:latin typeface="Aptos"/>
                        </a:rPr>
                        <a:t>Almacenamiento seguro: Keychain (iOS), Keystore (Android)</a:t>
                      </a:r>
                    </a:p>
                  </a:txBody>
                  <a:tcPr anchor="ctr" marL="146304" marR="146304">
                    <a:solidFill>
                      <a:srgbClr val="F4F7FA"/>
                    </a:solidFill>
                  </a:tcPr>
                </a:tc>
                <a:tc>
                  <a:txBody>
                    <a:bodyPr wrap="square"/>
                    <a:lstStyle/>
                    <a:p>
                      <a:r>
                        <a:rPr sz="1609" b="0">
                          <a:solidFill>
                            <a:srgbClr val="33475B"/>
                          </a:solidFill>
                          <a:latin typeface="Aptos"/>
                        </a:rPr>
                        <a:t>Cifrado por el sistema y ligado al dispositivo</a:t>
                      </a:r>
                    </a:p>
                  </a:txBody>
                  <a:tcPr anchor="ctr" marL="146304" marR="146304">
                    <a:solidFill>
                      <a:srgbClr val="F4F7FA"/>
                    </a:solidFill>
                  </a:tcPr>
                </a:tc>
              </a:tr>
              <a:tr h="736092">
                <a:tc>
                  <a:txBody>
                    <a:bodyPr wrap="square"/>
                    <a:lstStyle/>
                    <a:p>
                      <a:r>
                        <a:rPr sz="1609" b="1">
                          <a:solidFill>
                            <a:srgbClr val="33475B"/>
                          </a:solidFill>
                          <a:latin typeface="Aptos"/>
                        </a:rPr>
                        <a:t>Perfil y caché</a:t>
                      </a:r>
                    </a:p>
                  </a:txBody>
                  <a:tcPr anchor="ctr" marL="146304" marR="146304">
                    <a:solidFill>
                      <a:srgbClr val="FFFFFF"/>
                    </a:solidFill>
                  </a:tcPr>
                </a:tc>
                <a:tc>
                  <a:txBody>
                    <a:bodyPr wrap="square"/>
                    <a:lstStyle/>
                    <a:p>
                      <a:r>
                        <a:rPr sz="1609" b="0">
                          <a:solidFill>
                            <a:srgbClr val="33475B"/>
                          </a:solidFill>
                          <a:latin typeface="Aptos"/>
                        </a:rPr>
                        <a:t>Almacenamiento local, sin secretos</a:t>
                      </a:r>
                    </a:p>
                  </a:txBody>
                  <a:tcPr anchor="ctr" marL="146304" marR="146304">
                    <a:solidFill>
                      <a:srgbClr val="FFFFFF"/>
                    </a:solidFill>
                  </a:tcPr>
                </a:tc>
                <a:tc>
                  <a:txBody>
                    <a:bodyPr wrap="square"/>
                    <a:lstStyle/>
                    <a:p>
                      <a:r>
                        <a:rPr sz="1609" b="0">
                          <a:solidFill>
                            <a:srgbClr val="33475B"/>
                          </a:solidFill>
                          <a:latin typeface="Aptos"/>
                        </a:rPr>
                        <a:t>Se borran al cerrar sesión</a:t>
                      </a:r>
                    </a:p>
                  </a:txBody>
                  <a:tcPr anchor="ctr" marL="146304" marR="146304">
                    <a:solidFill>
                      <a:srgbClr val="FFFFFF"/>
                    </a:solidFill>
                  </a:tcPr>
                </a:tc>
              </a:tr>
            </a:tbl>
          </a:graphicData>
        </a:graphic>
      </p:graphicFrame>
      <p:sp>
        <p:nvSpPr>
          <p:cNvPr id="8" name="Rounded Rectangle 7"/>
          <p:cNvSpPr/>
          <p:nvPr/>
        </p:nvSpPr>
        <p:spPr>
          <a:xfrm>
            <a:off x="566928" y="4718304"/>
            <a:ext cx="11064240" cy="160934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4773168"/>
            <a:ext cx="63500" cy="149961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718304"/>
            <a:ext cx="10378440" cy="1609344"/>
          </a:xfrm>
          <a:prstGeom prst="rect">
            <a:avLst/>
          </a:prstGeom>
          <a:noFill/>
        </p:spPr>
        <p:txBody>
          <a:bodyPr wrap="square" anchor="ctr" lIns="0" rIns="0" tIns="0" bIns="0">
            <a:spAutoFit/>
          </a:bodyPr>
          <a:lstStyle/>
          <a:p>
            <a:pPr algn="l">
              <a:lnSpc>
                <a:spcPct val="125000"/>
              </a:lnSpc>
            </a:pPr>
            <a:r>
              <a:rPr sz="2529" b="1">
                <a:solidFill>
                  <a:srgbClr val="0E2841"/>
                </a:solidFill>
                <a:latin typeface="Aptos Display"/>
              </a:rPr>
              <a:t>Ni </a:t>
            </a:r>
            <a:r>
              <a:rPr sz="2378" b="1">
                <a:solidFill>
                  <a:srgbClr val="156082"/>
                </a:solidFill>
                <a:latin typeface="Consolas"/>
              </a:rPr>
              <a:t>localStorage</a:t>
            </a:r>
            <a:r>
              <a:rPr sz="2529" b="1">
                <a:solidFill>
                  <a:srgbClr val="0E2841"/>
                </a:solidFill>
                <a:latin typeface="Aptos Display"/>
              </a:rPr>
              <a:t> ni Capacitor Preferences son seguros: el primero lo lee cualquier script del WebView; el segundo guarda sin cifrar.</a:t>
            </a:r>
          </a:p>
        </p:txBody>
      </p:sp>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39 / 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401: un refresh, o se cierra sesión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41058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31" b="1">
                <a:solidFill>
                  <a:srgbClr val="E97132"/>
                </a:solidFill>
                <a:latin typeface="Aptos"/>
              </a:rPr>
              <a:t>AUTHINTERCEPTOR · NÚCLEO (SIN_AUTH: LOGIN Y REFRESH VAN SIN TOKEN)</a:t>
            </a:r>
          </a:p>
        </p:txBody>
      </p:sp>
      <p:sp>
        <p:nvSpPr>
          <p:cNvPr id="10" name="TextBox 9"/>
          <p:cNvSpPr txBox="1"/>
          <p:nvPr/>
        </p:nvSpPr>
        <p:spPr>
          <a:xfrm>
            <a:off x="877824" y="2139696"/>
            <a:ext cx="10515600" cy="1679067"/>
          </a:xfrm>
          <a:prstGeom prst="rect">
            <a:avLst/>
          </a:prstGeom>
          <a:noFill/>
        </p:spPr>
        <p:txBody>
          <a:bodyPr wrap="none" lIns="0" tIns="0">
            <a:spAutoFit/>
          </a:bodyPr>
          <a:lstStyle/>
          <a:p>
            <a:pPr>
              <a:lnSpc>
                <a:spcPct val="125000"/>
              </a:lnSpc>
            </a:pPr>
            <a:r>
              <a:rPr sz="1552">
                <a:solidFill>
                  <a:srgbClr val="E8E8E8"/>
                </a:solidFill>
                <a:latin typeface="Consolas"/>
              </a:rPr>
              <a:t>if (req.context.get(SIN_AUTH)) return next(req);</a:t>
            </a:r>
          </a:p>
          <a:p>
            <a:pPr>
              <a:lnSpc>
                <a:spcPct val="125000"/>
              </a:lnSpc>
            </a:pPr>
            <a:r>
              <a:rPr sz="1552">
                <a:solidFill>
                  <a:srgbClr val="E8E8E8"/>
                </a:solidFill>
                <a:latin typeface="Consolas"/>
              </a:rPr>
              <a:t>return next(conToken(sesion.accessToken())).pipe(catchError(e =&gt; {</a:t>
            </a:r>
          </a:p>
          <a:p>
            <a:pPr>
              <a:lnSpc>
                <a:spcPct val="125000"/>
              </a:lnSpc>
            </a:pPr>
            <a:r>
              <a:rPr sz="1552">
                <a:solidFill>
                  <a:srgbClr val="E8E8E8"/>
                </a:solidFill>
                <a:latin typeface="Consolas"/>
              </a:rPr>
              <a:t>  if (!(e instanceof HttpErrorResponse) || e.status !== 401) return throwError(() =&gt; e);</a:t>
            </a:r>
          </a:p>
          <a:p>
            <a:pPr>
              <a:lnSpc>
                <a:spcPct val="125000"/>
              </a:lnSpc>
            </a:pPr>
            <a:r>
              <a:rPr sz="1552">
                <a:solidFill>
                  <a:srgbClr val="E8E8E8"/>
                </a:solidFill>
                <a:latin typeface="Consolas"/>
              </a:rPr>
              <a:t>  return sesion.refrescar().pipe(switchMap(nuevo =&gt; next(conToken(nuevo))),  // reintento ÚNICO</a:t>
            </a:r>
          </a:p>
          <a:p>
            <a:pPr>
              <a:lnSpc>
                <a:spcPct val="125000"/>
              </a:lnSpc>
            </a:pPr>
            <a:r>
              <a:rPr sz="1552">
                <a:solidFill>
                  <a:srgbClr val="E8E8E8"/>
                </a:solidFill>
                <a:latin typeface="Consolas"/>
              </a:rPr>
              <a:t>    catchError(fallo =&gt; { void sesion.cerrar(); return throwError(() =&gt; fallo); }));</a:t>
            </a:r>
          </a:p>
          <a:p>
            <a:pPr>
              <a:lnSpc>
                <a:spcPct val="125000"/>
              </a:lnSpc>
            </a:pPr>
            <a:r>
              <a:rPr sz="1552">
                <a:solidFill>
                  <a:srgbClr val="E8E8E8"/>
                </a:solidFill>
                <a:latin typeface="Consolas"/>
              </a:rPr>
              <a:t>}));</a:t>
            </a:r>
          </a:p>
        </p:txBody>
      </p:sp>
      <p:sp>
        <p:nvSpPr>
          <p:cNvPr id="11" name="Rounded Rectangle 10"/>
          <p:cNvSpPr/>
          <p:nvPr/>
        </p:nvSpPr>
        <p:spPr>
          <a:xfrm>
            <a:off x="566928" y="4184523"/>
            <a:ext cx="2532888" cy="21431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68096" y="4019931"/>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401993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4" name="TextBox 13"/>
          <p:cNvSpPr txBox="1"/>
          <p:nvPr/>
        </p:nvSpPr>
        <p:spPr>
          <a:xfrm>
            <a:off x="768096" y="4660011"/>
            <a:ext cx="2130552" cy="1484757"/>
          </a:xfrm>
          <a:prstGeom prst="rect">
            <a:avLst/>
          </a:prstGeom>
          <a:noFill/>
        </p:spPr>
        <p:txBody>
          <a:bodyPr wrap="square" anchor="t" lIns="0" rIns="0" tIns="0" bIns="0">
            <a:spAutoFit/>
          </a:bodyPr>
          <a:lstStyle/>
          <a:p>
            <a:pPr algn="l"/>
            <a:r>
              <a:rPr sz="1766" b="1">
                <a:solidFill>
                  <a:srgbClr val="0E2841"/>
                </a:solidFill>
                <a:latin typeface="Aptos Display"/>
              </a:rPr>
              <a:t>Borra los tokens</a:t>
            </a:r>
          </a:p>
          <a:p>
            <a:pPr algn="l">
              <a:lnSpc>
                <a:spcPct val="120000"/>
              </a:lnSpc>
              <a:spcBef>
                <a:spcPts val="700"/>
              </a:spcBef>
            </a:pPr>
            <a:r>
              <a:rPr sz="1391" b="0">
                <a:solidFill>
                  <a:srgbClr val="33475B"/>
                </a:solidFill>
                <a:latin typeface="Aptos"/>
              </a:rPr>
              <a:t>Refresh del almacén seguro y access de la memoria</a:t>
            </a:r>
          </a:p>
        </p:txBody>
      </p:sp>
      <p:sp>
        <p:nvSpPr>
          <p:cNvPr id="15" name="Rounded Rectangle 14"/>
          <p:cNvSpPr/>
          <p:nvPr/>
        </p:nvSpPr>
        <p:spPr>
          <a:xfrm>
            <a:off x="3410712" y="4184523"/>
            <a:ext cx="2532888" cy="21431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11880" y="4019931"/>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401993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8" name="TextBox 17"/>
          <p:cNvSpPr txBox="1"/>
          <p:nvPr/>
        </p:nvSpPr>
        <p:spPr>
          <a:xfrm>
            <a:off x="3611880" y="4660011"/>
            <a:ext cx="2130552" cy="1484757"/>
          </a:xfrm>
          <a:prstGeom prst="rect">
            <a:avLst/>
          </a:prstGeom>
          <a:noFill/>
        </p:spPr>
        <p:txBody>
          <a:bodyPr wrap="square" anchor="t" lIns="0" rIns="0" tIns="0" bIns="0">
            <a:spAutoFit/>
          </a:bodyPr>
          <a:lstStyle/>
          <a:p>
            <a:pPr algn="l"/>
            <a:r>
              <a:rPr sz="1766" b="1">
                <a:solidFill>
                  <a:srgbClr val="0E2841"/>
                </a:solidFill>
                <a:latin typeface="Aptos Display"/>
              </a:rPr>
              <a:t>Borra la caché</a:t>
            </a:r>
          </a:p>
          <a:p>
            <a:pPr algn="l">
              <a:lnSpc>
                <a:spcPct val="120000"/>
              </a:lnSpc>
              <a:spcBef>
                <a:spcPts val="700"/>
              </a:spcBef>
            </a:pPr>
            <a:r>
              <a:rPr sz="1391" b="0">
                <a:solidFill>
                  <a:srgbClr val="33475B"/>
                </a:solidFill>
                <a:latin typeface="Aptos"/>
              </a:rPr>
              <a:t>Un teléfono compartido no muestra visitas de otro técnico</a:t>
            </a:r>
          </a:p>
        </p:txBody>
      </p:sp>
      <p:sp>
        <p:nvSpPr>
          <p:cNvPr id="19" name="Rounded Rectangle 18"/>
          <p:cNvSpPr/>
          <p:nvPr/>
        </p:nvSpPr>
        <p:spPr>
          <a:xfrm>
            <a:off x="6254496" y="4184523"/>
            <a:ext cx="2532888" cy="21431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5664" y="4019931"/>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01993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22" name="TextBox 21"/>
          <p:cNvSpPr txBox="1"/>
          <p:nvPr/>
        </p:nvSpPr>
        <p:spPr>
          <a:xfrm>
            <a:off x="6455664" y="4660011"/>
            <a:ext cx="2130552" cy="1484757"/>
          </a:xfrm>
          <a:prstGeom prst="rect">
            <a:avLst/>
          </a:prstGeom>
          <a:noFill/>
        </p:spPr>
        <p:txBody>
          <a:bodyPr wrap="square" anchor="t" lIns="0" rIns="0" tIns="0" bIns="0">
            <a:spAutoFit/>
          </a:bodyPr>
          <a:lstStyle/>
          <a:p>
            <a:pPr algn="l"/>
            <a:r>
              <a:rPr sz="1766" b="1">
                <a:solidFill>
                  <a:srgbClr val="0E2841"/>
                </a:solidFill>
                <a:latin typeface="Aptos Display"/>
              </a:rPr>
              <a:t>Cancela</a:t>
            </a:r>
          </a:p>
          <a:p>
            <a:pPr algn="l">
              <a:lnSpc>
                <a:spcPct val="120000"/>
              </a:lnSpc>
              <a:spcBef>
                <a:spcPts val="700"/>
              </a:spcBef>
            </a:pPr>
            <a:r>
              <a:rPr sz="1391" b="0">
                <a:solidFill>
                  <a:srgbClr val="33475B"/>
                </a:solidFill>
                <a:latin typeface="Aptos"/>
              </a:rPr>
              <a:t>Las peticiones autenticadas en curso</a:t>
            </a:r>
          </a:p>
        </p:txBody>
      </p:sp>
      <p:sp>
        <p:nvSpPr>
          <p:cNvPr id="23" name="Rounded Rectangle 22"/>
          <p:cNvSpPr/>
          <p:nvPr/>
        </p:nvSpPr>
        <p:spPr>
          <a:xfrm>
            <a:off x="9098280" y="4184523"/>
            <a:ext cx="2532888" cy="21431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299448" y="4019931"/>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9448" y="4019931"/>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6" name="TextBox 25"/>
          <p:cNvSpPr txBox="1"/>
          <p:nvPr/>
        </p:nvSpPr>
        <p:spPr>
          <a:xfrm>
            <a:off x="9299448" y="4660011"/>
            <a:ext cx="2130552" cy="1484757"/>
          </a:xfrm>
          <a:prstGeom prst="rect">
            <a:avLst/>
          </a:prstGeom>
          <a:noFill/>
        </p:spPr>
        <p:txBody>
          <a:bodyPr wrap="square" anchor="t" lIns="0" rIns="0" tIns="0" bIns="0">
            <a:spAutoFit/>
          </a:bodyPr>
          <a:lstStyle/>
          <a:p>
            <a:pPr algn="l"/>
            <a:r>
              <a:rPr sz="1766" b="1">
                <a:solidFill>
                  <a:srgbClr val="0E2841"/>
                </a:solidFill>
                <a:latin typeface="Aptos Display"/>
              </a:rPr>
              <a:t>Navega a /login</a:t>
            </a:r>
          </a:p>
          <a:p>
            <a:pPr algn="l">
              <a:lnSpc>
                <a:spcPct val="120000"/>
              </a:lnSpc>
              <a:spcBef>
                <a:spcPts val="700"/>
              </a:spcBef>
            </a:pPr>
            <a:r>
              <a:rPr sz="1391" b="0">
                <a:solidFill>
                  <a:srgbClr val="33475B"/>
                </a:solidFill>
                <a:latin typeface="Aptos"/>
              </a:rPr>
              <a:t>Reemplazando el historial</a:t>
            </a:r>
          </a:p>
        </p:txBody>
      </p:sp>
      <p:sp>
        <p:nvSpPr>
          <p:cNvPr id="27" name="TextBox 2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8" name="TextBox 2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40 / 48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Diez 401, un solo refresh</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48840"/>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06" b="1">
                <a:solidFill>
                  <a:srgbClr val="E97132"/>
                </a:solidFill>
                <a:latin typeface="Aptos"/>
              </a:rPr>
              <a:t>SESIONSERVICE.REFRESCAR() · EL PRIMERO LO CREA, LOS DEMÁS SE SUSCRIBEN</a:t>
            </a:r>
          </a:p>
        </p:txBody>
      </p:sp>
      <p:sp>
        <p:nvSpPr>
          <p:cNvPr id="10" name="TextBox 9"/>
          <p:cNvSpPr txBox="1"/>
          <p:nvPr/>
        </p:nvSpPr>
        <p:spPr>
          <a:xfrm>
            <a:off x="877824" y="2139696"/>
            <a:ext cx="10515600" cy="1417320"/>
          </a:xfrm>
          <a:prstGeom prst="rect">
            <a:avLst/>
          </a:prstGeom>
          <a:noFill/>
        </p:spPr>
        <p:txBody>
          <a:bodyPr wrap="none" lIns="0" tIns="0">
            <a:spAutoFit/>
          </a:bodyPr>
          <a:lstStyle/>
          <a:p>
            <a:pPr>
              <a:lnSpc>
                <a:spcPct val="125000"/>
              </a:lnSpc>
            </a:pPr>
            <a:r>
              <a:rPr sz="1521">
                <a:solidFill>
                  <a:srgbClr val="E8E8E8"/>
                </a:solidFill>
                <a:latin typeface="Consolas"/>
              </a:rPr>
              <a:t>refrescar(): Observable&lt;string&gt; {</a:t>
            </a:r>
          </a:p>
          <a:p>
            <a:pPr>
              <a:lnSpc>
                <a:spcPct val="125000"/>
              </a:lnSpc>
            </a:pPr>
            <a:r>
              <a:rPr sz="1521">
                <a:solidFill>
                  <a:srgbClr val="E8E8E8"/>
                </a:solidFill>
                <a:latin typeface="Consolas"/>
              </a:rPr>
              <a:t>  return this.refresco$ ??= from(this.almacen.leer('refresh')).pipe(</a:t>
            </a:r>
          </a:p>
          <a:p>
            <a:pPr>
              <a:lnSpc>
                <a:spcPct val="125000"/>
              </a:lnSpc>
            </a:pPr>
            <a:r>
              <a:rPr sz="1521">
                <a:solidFill>
                  <a:srgbClr val="E8E8E8"/>
                </a:solidFill>
                <a:latin typeface="Consolas"/>
              </a:rPr>
              <a:t>    switchMap(rt =&gt; rt ? this.api.refrescar(rt) : throwError(() =&gt; sesionExpirada())),</a:t>
            </a:r>
          </a:p>
          <a:p>
            <a:pPr>
              <a:lnSpc>
                <a:spcPct val="125000"/>
              </a:lnSpc>
            </a:pPr>
            <a:r>
              <a:rPr sz="1521">
                <a:solidFill>
                  <a:srgbClr val="E8E8E8"/>
                </a:solidFill>
                <a:latin typeface="Consolas"/>
              </a:rPr>
              <a:t>    switchMap(par =&gt; this.guardarRefresh(par)),     // guarda el refresh nuevo, da el access</a:t>
            </a:r>
          </a:p>
          <a:p>
            <a:pPr>
              <a:lnSpc>
                <a:spcPct val="125000"/>
              </a:lnSpc>
            </a:pPr>
            <a:r>
              <a:rPr sz="1521">
                <a:solidFill>
                  <a:srgbClr val="E8E8E8"/>
                </a:solidFill>
                <a:latin typeface="Consolas"/>
              </a:rPr>
              <a:t>    tap(at =&gt; this.token.set(at)), finalize(() =&gt; (this.refresco$ = null)), shareReplay(1)); }</a:t>
            </a:r>
          </a:p>
        </p:txBody>
      </p:sp>
      <p:sp>
        <p:nvSpPr>
          <p:cNvPr id="11" name="Rounded Rectangle 10"/>
          <p:cNvSpPr/>
          <p:nvPr/>
        </p:nvSpPr>
        <p:spPr>
          <a:xfrm>
            <a:off x="566928" y="3922776"/>
            <a:ext cx="11064240" cy="240487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4105656"/>
            <a:ext cx="10515600" cy="2057400"/>
          </a:xfrm>
          <a:prstGeom prst="rect">
            <a:avLst/>
          </a:prstGeom>
          <a:noFill/>
        </p:spPr>
        <p:txBody>
          <a:bodyPr wrap="none" lIns="0" tIns="0">
            <a:spAutoFit/>
          </a:bodyPr>
          <a:lstStyle/>
          <a:p>
            <a:pPr>
              <a:lnSpc>
                <a:spcPct val="125000"/>
              </a:lnSpc>
            </a:pPr>
            <a:r>
              <a:rPr sz="1521">
                <a:solidFill>
                  <a:srgbClr val="E8E8E8"/>
                </a:solidFill>
                <a:latin typeface="Consolas"/>
              </a:rPr>
              <a:t>  t0  GET /visitas  ──► 401 ┐</a:t>
            </a:r>
          </a:p>
          <a:p>
            <a:pPr>
              <a:lnSpc>
                <a:spcPct val="125000"/>
              </a:lnSpc>
            </a:pPr>
            <a:r>
              <a:rPr sz="1521">
                <a:solidFill>
                  <a:srgbClr val="E8E8E8"/>
                </a:solidFill>
                <a:latin typeface="Consolas"/>
              </a:rPr>
              <a:t>  t1  GET /clientes ──► 401 ├──► refrescar() ──► POST /auth/refresh   (UNA sola vez)</a:t>
            </a:r>
          </a:p>
          <a:p>
            <a:pPr>
              <a:lnSpc>
                <a:spcPct val="125000"/>
              </a:lnSpc>
            </a:pPr>
            <a:r>
              <a:rPr sz="1521">
                <a:solidFill>
                  <a:srgbClr val="E8E8E8"/>
                </a:solidFill>
                <a:latin typeface="Consolas"/>
              </a:rPr>
              <a:t>  t2  GET /perfil   ──► 401 ┘          │</a:t>
            </a:r>
          </a:p>
          <a:p>
            <a:pPr>
              <a:lnSpc>
                <a:spcPct val="125000"/>
              </a:lnSpc>
            </a:pPr>
            <a:r>
              <a:rPr sz="1521">
                <a:solidFill>
                  <a:srgbClr val="E8E8E8"/>
                </a:solidFill>
                <a:latin typeface="Consolas"/>
              </a:rPr>
              <a:t>                                       ▼  access token nuevo</a:t>
            </a:r>
          </a:p>
          <a:p>
            <a:pPr>
              <a:lnSpc>
                <a:spcPct val="125000"/>
              </a:lnSpc>
            </a:pPr>
            <a:r>
              <a:rPr sz="1521">
                <a:solidFill>
                  <a:srgbClr val="E8E8E8"/>
                </a:solidFill>
                <a:latin typeface="Consolas"/>
              </a:rPr>
              <a:t>       las tres peticiones se reintentan UNA vez con el token nuevo</a:t>
            </a:r>
          </a:p>
          <a:p>
            <a:pPr>
              <a:lnSpc>
                <a:spcPct val="125000"/>
              </a:lnSpc>
            </a:pPr>
            <a:r>
              <a:rPr sz="1521">
                <a:solidFill>
                  <a:srgbClr val="E8E8E8"/>
                </a:solidFill>
                <a:latin typeface="Consolas"/>
              </a:rPr>
              <a:t>       si el refresh falla → borrar tokens y caché → /login sin historial</a:t>
            </a:r>
          </a:p>
        </p:txBody>
      </p:sp>
      <p:sp>
        <p:nvSpPr>
          <p:cNvPr id="13" name="TextBox 1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4" name="TextBox 1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41 / 48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¿Qué combinación cumple el marco para manejar la sesión en una app Ionic + Capacitor?</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Tokens en Preferences y un refresh por cada petición que recibe 401</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Refresh token en Keychain o Keystore y un único refresh compartido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Tokens en </a:t>
            </a:r>
            <a:r>
              <a:rPr sz="1974" b="0">
                <a:solidFill>
                  <a:srgbClr val="156082"/>
                </a:solidFill>
                <a:latin typeface="Consolas"/>
              </a:rPr>
              <a:t>localStorage</a:t>
            </a:r>
            <a:r>
              <a:rPr sz="2100" b="0">
                <a:solidFill>
                  <a:srgbClr val="0E2841"/>
                </a:solidFill>
                <a:latin typeface="Aptos"/>
              </a:rPr>
              <a:t> y cierre de sesión ante cualquier error 401</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Tokens solo en memoria y un login nuevo cada vez que se abre la app</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42 / 48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10</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10. Persistencia y offline</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 campo, la señal es la excepción</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«Funciona offline» no es estrategia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2267712"/>
        </p:xfrm>
        <a:graphic>
          <a:graphicData uri="http://schemas.openxmlformats.org/drawingml/2006/table">
            <a:tbl>
              <a:tblPr firstRow="1">
                <a:tableStyleId>{5C22544A-7EE6-4342-B048-85BDC9FD1C3A}</a:tableStyleId>
              </a:tblPr>
              <a:tblGrid>
                <a:gridCol w="3688080"/>
                <a:gridCol w="3688080"/>
                <a:gridCol w="3688080"/>
              </a:tblGrid>
              <a:tr h="566928">
                <a:tc>
                  <a:txBody>
                    <a:bodyPr wrap="square"/>
                    <a:lstStyle/>
                    <a:p>
                      <a:r>
                        <a:rPr sz="1599" b="1">
                          <a:solidFill>
                            <a:srgbClr val="FFFFFF"/>
                          </a:solidFill>
                          <a:latin typeface="Aptos"/>
                        </a:rPr>
                        <a:t>Estrategia</a:t>
                      </a:r>
                    </a:p>
                  </a:txBody>
                  <a:tcPr anchor="ctr" marL="146304" marR="146304">
                    <a:solidFill>
                      <a:srgbClr val="156082"/>
                    </a:solidFill>
                  </a:tcPr>
                </a:tc>
                <a:tc>
                  <a:txBody>
                    <a:bodyPr wrap="square"/>
                    <a:lstStyle/>
                    <a:p>
                      <a:r>
                        <a:rPr sz="1599" b="1">
                          <a:solidFill>
                            <a:srgbClr val="FFFFFF"/>
                          </a:solidFill>
                          <a:latin typeface="Aptos"/>
                        </a:rPr>
                        <a:t>Cuándo usarla</a:t>
                      </a:r>
                    </a:p>
                  </a:txBody>
                  <a:tcPr anchor="ctr" marL="146304" marR="146304">
                    <a:solidFill>
                      <a:srgbClr val="156082"/>
                    </a:solidFill>
                  </a:tcPr>
                </a:tc>
                <a:tc>
                  <a:txBody>
                    <a:bodyPr wrap="square"/>
                    <a:lstStyle/>
                    <a:p>
                      <a:r>
                        <a:rPr sz="1599" b="1">
                          <a:solidFill>
                            <a:srgbClr val="FFFFFF"/>
                          </a:solidFill>
                          <a:latin typeface="Aptos"/>
                        </a:rPr>
                        <a:t>Feature de la Bitácora</a:t>
                      </a:r>
                    </a:p>
                  </a:txBody>
                  <a:tcPr anchor="ctr" marL="146304" marR="146304">
                    <a:solidFill>
                      <a:srgbClr val="156082"/>
                    </a:solidFill>
                  </a:tcPr>
                </a:tc>
              </a:tr>
              <a:tr h="566928">
                <a:tc>
                  <a:txBody>
                    <a:bodyPr wrap="square"/>
                    <a:lstStyle/>
                    <a:p>
                      <a:r>
                        <a:rPr sz="1492" b="1">
                          <a:solidFill>
                            <a:srgbClr val="33475B"/>
                          </a:solidFill>
                          <a:latin typeface="Aptos"/>
                        </a:rPr>
                        <a:t>Solo en línea</a:t>
                      </a:r>
                    </a:p>
                  </a:txBody>
                  <a:tcPr anchor="ctr" marL="146304" marR="146304">
                    <a:solidFill>
                      <a:srgbClr val="FFFFFF"/>
                    </a:solidFill>
                  </a:tcPr>
                </a:tc>
                <a:tc>
                  <a:txBody>
                    <a:bodyPr wrap="square"/>
                    <a:lstStyle/>
                    <a:p>
                      <a:r>
                        <a:rPr sz="1492" b="0">
                          <a:solidFill>
                            <a:srgbClr val="33475B"/>
                          </a:solidFill>
                          <a:latin typeface="Aptos"/>
                        </a:rPr>
                        <a:t>El dato debe ser fresco y no sirve sin red</a:t>
                      </a:r>
                    </a:p>
                  </a:txBody>
                  <a:tcPr anchor="ctr" marL="146304" marR="146304">
                    <a:solidFill>
                      <a:srgbClr val="FFFFFF"/>
                    </a:solidFill>
                  </a:tcPr>
                </a:tc>
                <a:tc>
                  <a:txBody>
                    <a:bodyPr wrap="square"/>
                    <a:lstStyle/>
                    <a:p>
                      <a:r>
                        <a:rPr sz="1492" b="0">
                          <a:solidFill>
                            <a:srgbClr val="33475B"/>
                          </a:solidFill>
                          <a:latin typeface="Aptos"/>
                        </a:rPr>
                        <a:t>Inicio de sesión, cambio de contraseña</a:t>
                      </a:r>
                    </a:p>
                  </a:txBody>
                  <a:tcPr anchor="ctr" marL="146304" marR="146304">
                    <a:solidFill>
                      <a:srgbClr val="FFFFFF"/>
                    </a:solidFill>
                  </a:tcPr>
                </a:tc>
              </a:tr>
              <a:tr h="566928">
                <a:tc>
                  <a:txBody>
                    <a:bodyPr wrap="square"/>
                    <a:lstStyle/>
                    <a:p>
                      <a:r>
                        <a:rPr sz="1492" b="1">
                          <a:solidFill>
                            <a:srgbClr val="33475B"/>
                          </a:solidFill>
                          <a:latin typeface="Aptos"/>
                        </a:rPr>
                        <a:t>Caché de lectura</a:t>
                      </a:r>
                    </a:p>
                  </a:txBody>
                  <a:tcPr anchor="ctr" marL="146304" marR="146304">
                    <a:solidFill>
                      <a:srgbClr val="F4F7FA"/>
                    </a:solidFill>
                  </a:tcPr>
                </a:tc>
                <a:tc>
                  <a:txBody>
                    <a:bodyPr wrap="square"/>
                    <a:lstStyle/>
                    <a:p>
                      <a:r>
                        <a:rPr sz="1492" b="0">
                          <a:solidFill>
                            <a:srgbClr val="33475B"/>
                          </a:solidFill>
                          <a:latin typeface="Aptos"/>
                        </a:rPr>
                        <a:t>Leer sin red; escribir solo con red</a:t>
                      </a:r>
                    </a:p>
                  </a:txBody>
                  <a:tcPr anchor="ctr" marL="146304" marR="146304">
                    <a:solidFill>
                      <a:srgbClr val="F4F7FA"/>
                    </a:solidFill>
                  </a:tcPr>
                </a:tc>
                <a:tc>
                  <a:txBody>
                    <a:bodyPr wrap="square"/>
                    <a:lstStyle/>
                    <a:p>
                      <a:r>
                        <a:rPr sz="1492" b="0">
                          <a:solidFill>
                            <a:srgbClr val="33475B"/>
                          </a:solidFill>
                          <a:latin typeface="Aptos"/>
                        </a:rPr>
                        <a:t>Lista y detalle (mínimo del ABP)</a:t>
                      </a:r>
                    </a:p>
                  </a:txBody>
                  <a:tcPr anchor="ctr" marL="146304" marR="146304">
                    <a:solidFill>
                      <a:srgbClr val="F4F7FA"/>
                    </a:solidFill>
                  </a:tcPr>
                </a:tc>
              </a:tr>
              <a:tr h="566928">
                <a:tc>
                  <a:txBody>
                    <a:bodyPr wrap="square"/>
                    <a:lstStyle/>
                    <a:p>
                      <a:r>
                        <a:rPr sz="1492" b="1">
                          <a:solidFill>
                            <a:srgbClr val="33475B"/>
                          </a:solidFill>
                          <a:latin typeface="Aptos"/>
                        </a:rPr>
                        <a:t>Offline primero</a:t>
                      </a:r>
                    </a:p>
                  </a:txBody>
                  <a:tcPr anchor="ctr" marL="146304" marR="146304">
                    <a:solidFill>
                      <a:srgbClr val="FFFFFF"/>
                    </a:solidFill>
                  </a:tcPr>
                </a:tc>
                <a:tc>
                  <a:txBody>
                    <a:bodyPr wrap="square"/>
                    <a:lstStyle/>
                    <a:p>
                      <a:r>
                        <a:rPr sz="1492" b="0">
                          <a:solidFill>
                            <a:srgbClr val="33475B"/>
                          </a:solidFill>
                          <a:latin typeface="Aptos"/>
                        </a:rPr>
                        <a:t>Leer y escribir sin red; sincronizar al reconectar</a:t>
                      </a:r>
                    </a:p>
                  </a:txBody>
                  <a:tcPr anchor="ctr" marL="146304" marR="146304">
                    <a:solidFill>
                      <a:srgbClr val="FFFFFF"/>
                    </a:solidFill>
                  </a:tcPr>
                </a:tc>
                <a:tc>
                  <a:txBody>
                    <a:bodyPr wrap="square"/>
                    <a:lstStyle/>
                    <a:p>
                      <a:r>
                        <a:rPr sz="1492" b="0">
                          <a:solidFill>
                            <a:srgbClr val="33475B"/>
                          </a:solidFill>
                          <a:latin typeface="Aptos"/>
                        </a:rPr>
                        <a:t>Registrar visita sin cobertura (futuro)</a:t>
                      </a:r>
                    </a:p>
                  </a:txBody>
                  <a:tcPr anchor="ctr" marL="146304" marR="146304">
                    <a:solidFill>
                      <a:srgbClr val="FFFFFF"/>
                    </a:solidFill>
                  </a:tcPr>
                </a:tc>
              </a:tr>
            </a:tbl>
          </a:graphicData>
        </a:graphic>
      </p:graphicFrame>
      <p:sp>
        <p:nvSpPr>
          <p:cNvPr id="8" name="Rounded Rectangle 7"/>
          <p:cNvSpPr/>
          <p:nvPr/>
        </p:nvSpPr>
        <p:spPr>
          <a:xfrm>
            <a:off x="566928" y="4041648"/>
            <a:ext cx="2532888" cy="22860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 y="429768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4553712"/>
            <a:ext cx="2130552" cy="1572768"/>
          </a:xfrm>
          <a:prstGeom prst="rect">
            <a:avLst/>
          </a:prstGeom>
          <a:noFill/>
        </p:spPr>
        <p:txBody>
          <a:bodyPr wrap="square" anchor="t" lIns="0" rIns="0" tIns="0" bIns="0">
            <a:spAutoFit/>
          </a:bodyPr>
          <a:lstStyle/>
          <a:p>
            <a:pPr algn="l"/>
            <a:r>
              <a:rPr sz="1812" b="1">
                <a:solidFill>
                  <a:srgbClr val="0E2841"/>
                </a:solidFill>
                <a:latin typeface="Aptos Display"/>
              </a:rPr>
              <a:t>Id del cliente</a:t>
            </a:r>
          </a:p>
          <a:p>
            <a:pPr algn="l">
              <a:lnSpc>
                <a:spcPct val="120000"/>
              </a:lnSpc>
              <a:spcBef>
                <a:spcPts val="700"/>
              </a:spcBef>
            </a:pPr>
            <a:r>
              <a:rPr sz="1386" b="0">
                <a:solidFill>
                  <a:srgbClr val="33475B"/>
                </a:solidFill>
                <a:latin typeface="Aptos"/>
              </a:rPr>
              <a:t>Cada mutación encolada lleva </a:t>
            </a:r>
            <a:r>
              <a:rPr sz="1302" b="0">
                <a:solidFill>
                  <a:srgbClr val="156082"/>
                </a:solidFill>
                <a:latin typeface="Consolas"/>
              </a:rPr>
              <a:t>crypto.randomUUID()</a:t>
            </a:r>
          </a:p>
        </p:txBody>
      </p:sp>
      <p:sp>
        <p:nvSpPr>
          <p:cNvPr id="11" name="Rounded Rectangle 10"/>
          <p:cNvSpPr/>
          <p:nvPr/>
        </p:nvSpPr>
        <p:spPr>
          <a:xfrm>
            <a:off x="3410712" y="4041648"/>
            <a:ext cx="2532888" cy="22860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11880" y="429768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4553712"/>
            <a:ext cx="2130552" cy="1572768"/>
          </a:xfrm>
          <a:prstGeom prst="rect">
            <a:avLst/>
          </a:prstGeom>
          <a:noFill/>
        </p:spPr>
        <p:txBody>
          <a:bodyPr wrap="square" anchor="t" lIns="0" rIns="0" tIns="0" bIns="0">
            <a:spAutoFit/>
          </a:bodyPr>
          <a:lstStyle/>
          <a:p>
            <a:pPr algn="l"/>
            <a:r>
              <a:rPr sz="1812" b="1">
                <a:solidFill>
                  <a:srgbClr val="0E2841"/>
                </a:solidFill>
                <a:latin typeface="Aptos Display"/>
              </a:rPr>
              <a:t>Idempotencia</a:t>
            </a:r>
          </a:p>
          <a:p>
            <a:pPr algn="l">
              <a:lnSpc>
                <a:spcPct val="120000"/>
              </a:lnSpc>
              <a:spcBef>
                <a:spcPts val="700"/>
              </a:spcBef>
            </a:pPr>
            <a:r>
              <a:rPr sz="1386" b="0">
                <a:solidFill>
                  <a:srgbClr val="33475B"/>
                </a:solidFill>
                <a:latin typeface="Aptos"/>
              </a:rPr>
              <a:t>Cada envío lleva </a:t>
            </a:r>
            <a:r>
              <a:rPr sz="1302" b="0">
                <a:solidFill>
                  <a:srgbClr val="156082"/>
                </a:solidFill>
                <a:latin typeface="Consolas"/>
              </a:rPr>
              <a:t>Idempotency-Key</a:t>
            </a:r>
            <a:r>
              <a:rPr sz="1386" b="0">
                <a:solidFill>
                  <a:srgbClr val="33475B"/>
                </a:solidFill>
                <a:latin typeface="Aptos"/>
              </a:rPr>
              <a:t>: reenviar no duplica</a:t>
            </a:r>
          </a:p>
        </p:txBody>
      </p:sp>
      <p:sp>
        <p:nvSpPr>
          <p:cNvPr id="14" name="Rounded Rectangle 13"/>
          <p:cNvSpPr/>
          <p:nvPr/>
        </p:nvSpPr>
        <p:spPr>
          <a:xfrm>
            <a:off x="6254496" y="4041648"/>
            <a:ext cx="2532888" cy="22860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55664" y="429768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4553712"/>
            <a:ext cx="2130552" cy="1572768"/>
          </a:xfrm>
          <a:prstGeom prst="rect">
            <a:avLst/>
          </a:prstGeom>
          <a:noFill/>
        </p:spPr>
        <p:txBody>
          <a:bodyPr wrap="square" anchor="t" lIns="0" rIns="0" tIns="0" bIns="0">
            <a:spAutoFit/>
          </a:bodyPr>
          <a:lstStyle/>
          <a:p>
            <a:pPr algn="l"/>
            <a:r>
              <a:rPr sz="1812" b="1">
                <a:solidFill>
                  <a:srgbClr val="0E2841"/>
                </a:solidFill>
                <a:latin typeface="Aptos Display"/>
              </a:rPr>
              <a:t>Conflictos</a:t>
            </a:r>
          </a:p>
          <a:p>
            <a:pPr algn="l">
              <a:lnSpc>
                <a:spcPct val="120000"/>
              </a:lnSpc>
              <a:spcBef>
                <a:spcPts val="700"/>
              </a:spcBef>
            </a:pPr>
            <a:r>
              <a:rPr sz="1386" b="0">
                <a:solidFill>
                  <a:srgbClr val="33475B"/>
                </a:solidFill>
                <a:latin typeface="Aptos"/>
              </a:rPr>
              <a:t>Política por entidad: estado del servidor, observaciones fusionadas</a:t>
            </a:r>
          </a:p>
        </p:txBody>
      </p:sp>
      <p:sp>
        <p:nvSpPr>
          <p:cNvPr id="17" name="Rounded Rectangle 16"/>
          <p:cNvSpPr/>
          <p:nvPr/>
        </p:nvSpPr>
        <p:spPr>
          <a:xfrm>
            <a:off x="9098280" y="4041648"/>
            <a:ext cx="2532888" cy="22860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99448" y="429768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9448" y="4553712"/>
            <a:ext cx="2130552" cy="1572768"/>
          </a:xfrm>
          <a:prstGeom prst="rect">
            <a:avLst/>
          </a:prstGeom>
          <a:noFill/>
        </p:spPr>
        <p:txBody>
          <a:bodyPr wrap="square" anchor="t" lIns="0" rIns="0" tIns="0" bIns="0">
            <a:spAutoFit/>
          </a:bodyPr>
          <a:lstStyle/>
          <a:p>
            <a:pPr algn="l"/>
            <a:r>
              <a:rPr sz="1812" b="1">
                <a:solidFill>
                  <a:srgbClr val="0E2841"/>
                </a:solidFill>
                <a:latin typeface="Aptos Display"/>
              </a:rPr>
              <a:t>Conectividad como flujo</a:t>
            </a:r>
          </a:p>
          <a:p>
            <a:pPr algn="l">
              <a:lnSpc>
                <a:spcPct val="120000"/>
              </a:lnSpc>
              <a:spcBef>
                <a:spcPts val="700"/>
              </a:spcBef>
            </a:pPr>
            <a:r>
              <a:rPr sz="1386" b="0">
                <a:solidFill>
                  <a:srgbClr val="33475B"/>
                </a:solidFill>
                <a:latin typeface="Aptos"/>
              </a:rPr>
              <a:t>Signal de </a:t>
            </a:r>
            <a:r>
              <a:rPr sz="1302" b="0">
                <a:solidFill>
                  <a:srgbClr val="156082"/>
                </a:solidFill>
                <a:latin typeface="Consolas"/>
              </a:rPr>
              <a:t>core/</a:t>
            </a:r>
            <a:r>
              <a:rPr sz="1386" b="0">
                <a:solidFill>
                  <a:srgbClr val="33475B"/>
                </a:solidFill>
                <a:latin typeface="Aptos"/>
              </a:rPr>
              <a:t> con el plugin Network; la cola sale con </a:t>
            </a:r>
            <a:r>
              <a:rPr sz="1302" b="0">
                <a:solidFill>
                  <a:srgbClr val="156082"/>
                </a:solidFill>
                <a:latin typeface="Consolas"/>
              </a:rPr>
              <a:t>concatMap</a:t>
            </a:r>
          </a:p>
        </p:txBody>
      </p:sp>
      <p:sp>
        <p:nvSpPr>
          <p:cNvPr id="20" name="TextBox 1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1" name="TextBox 2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43 / 48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caché envuelve al repositorio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769800"/>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22" b="1">
                <a:solidFill>
                  <a:srgbClr val="E97132"/>
                </a:solidFill>
                <a:latin typeface="Aptos"/>
              </a:rPr>
              <a:t>VISITASCONCACHEREPOSITORY · DECORADOR CON EL MISMO CONTRATO</a:t>
            </a:r>
          </a:p>
        </p:txBody>
      </p:sp>
      <p:sp>
        <p:nvSpPr>
          <p:cNvPr id="10" name="TextBox 9"/>
          <p:cNvSpPr txBox="1"/>
          <p:nvPr/>
        </p:nvSpPr>
        <p:spPr>
          <a:xfrm>
            <a:off x="877824" y="2139696"/>
            <a:ext cx="10515600" cy="2038280"/>
          </a:xfrm>
          <a:prstGeom prst="rect">
            <a:avLst/>
          </a:prstGeom>
          <a:noFill/>
        </p:spPr>
        <p:txBody>
          <a:bodyPr wrap="none" lIns="0" tIns="0">
            <a:spAutoFit/>
          </a:bodyPr>
          <a:lstStyle/>
          <a:p>
            <a:pPr>
              <a:lnSpc>
                <a:spcPct val="125000"/>
              </a:lnSpc>
            </a:pPr>
            <a:r>
              <a:rPr sz="1540">
                <a:solidFill>
                  <a:srgbClr val="E8E8E8"/>
                </a:solidFill>
                <a:latin typeface="Consolas"/>
              </a:rPr>
              <a:t>listar(): Observable&lt;Listado&lt;Visita&gt;&gt; {</a:t>
            </a:r>
          </a:p>
          <a:p>
            <a:pPr>
              <a:lnSpc>
                <a:spcPct val="125000"/>
              </a:lnSpc>
            </a:pPr>
            <a:r>
              <a:rPr sz="1540">
                <a:solidFill>
                  <a:srgbClr val="E8E8E8"/>
                </a:solidFill>
                <a:latin typeface="Consolas"/>
              </a:rPr>
              <a:t>  return this.remoto.listar().pipe(</a:t>
            </a:r>
          </a:p>
          <a:p>
            <a:pPr>
              <a:lnSpc>
                <a:spcPct val="125000"/>
              </a:lnSpc>
            </a:pPr>
            <a:r>
              <a:rPr sz="1540">
                <a:solidFill>
                  <a:srgbClr val="E8E8E8"/>
                </a:solidFill>
                <a:latin typeface="Consolas"/>
              </a:rPr>
              <a:t>    switchMap(l =&gt; from(this.cache.guardar(CLAVE, l.datos.map(aVisitaGuardada)))</a:t>
            </a:r>
          </a:p>
          <a:p>
            <a:pPr>
              <a:lnSpc>
                <a:spcPct val="125000"/>
              </a:lnSpc>
            </a:pPr>
            <a:r>
              <a:rPr sz="1540">
                <a:solidFill>
                  <a:srgbClr val="E8E8E8"/>
                </a:solidFill>
                <a:latin typeface="Consolas"/>
              </a:rPr>
              <a:t>      .pipe(map(() =&gt; l))),</a:t>
            </a:r>
          </a:p>
          <a:p>
            <a:pPr>
              <a:lnSpc>
                <a:spcPct val="125000"/>
              </a:lnSpc>
            </a:pPr>
            <a:r>
              <a:rPr sz="1540">
                <a:solidFill>
                  <a:srgbClr val="E8E8E8"/>
                </a:solidFill>
                <a:latin typeface="Consolas"/>
              </a:rPr>
              <a:t>    catchError(e =&gt; esSinConexion(e) ? this.desdeCache(e) : throwError(() =&gt; e)));</a:t>
            </a:r>
          </a:p>
          <a:p>
            <a:pPr>
              <a:lnSpc>
                <a:spcPct val="125000"/>
              </a:lnSpc>
            </a:pPr>
            <a:r>
              <a:rPr sz="1540">
                <a:solidFill>
                  <a:srgbClr val="E8E8E8"/>
                </a:solidFill>
                <a:latin typeface="Consolas"/>
              </a:rPr>
              <a:t>}</a:t>
            </a:r>
          </a:p>
          <a:p>
            <a:pPr>
              <a:lnSpc>
                <a:spcPct val="125000"/>
              </a:lnSpc>
            </a:pPr>
            <a:r>
              <a:rPr sz="1540">
                <a:solidFill>
                  <a:srgbClr val="E8E8E8"/>
                </a:solidFill>
                <a:latin typeface="Consolas"/>
              </a:rPr>
              <a:t>registrar(b: BorradorVisita) { return this.remoto.registrar(b); }   // escribir exige red</a:t>
            </a:r>
          </a:p>
        </p:txBody>
      </p:sp>
      <p:sp>
        <p:nvSpPr>
          <p:cNvPr id="11" name="Oval 10"/>
          <p:cNvSpPr/>
          <p:nvPr/>
        </p:nvSpPr>
        <p:spPr>
          <a:xfrm>
            <a:off x="585216" y="479076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4543736"/>
            <a:ext cx="10698480" cy="594637"/>
          </a:xfrm>
          <a:prstGeom prst="rect">
            <a:avLst/>
          </a:prstGeom>
          <a:noFill/>
        </p:spPr>
        <p:txBody>
          <a:bodyPr wrap="square" anchor="ctr" lIns="0" rIns="0" tIns="0" bIns="0">
            <a:spAutoFit/>
          </a:bodyPr>
          <a:lstStyle/>
          <a:p>
            <a:pPr algn="l"/>
            <a:r>
              <a:rPr sz="2231" b="1">
                <a:solidFill>
                  <a:srgbClr val="0E2841"/>
                </a:solidFill>
                <a:latin typeface="Aptos"/>
              </a:rPr>
              <a:t>Sin red: lo guardado, con </a:t>
            </a:r>
            <a:r>
              <a:rPr sz="2097" b="1">
                <a:solidFill>
                  <a:srgbClr val="156082"/>
                </a:solidFill>
                <a:latin typeface="Consolas"/>
              </a:rPr>
              <a:t>desactualizado: true</a:t>
            </a:r>
          </a:p>
        </p:txBody>
      </p:sp>
      <p:sp>
        <p:nvSpPr>
          <p:cNvPr id="13" name="Oval 12"/>
          <p:cNvSpPr/>
          <p:nvPr/>
        </p:nvSpPr>
        <p:spPr>
          <a:xfrm>
            <a:off x="585216" y="538539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5138373"/>
            <a:ext cx="10698480" cy="594637"/>
          </a:xfrm>
          <a:prstGeom prst="rect">
            <a:avLst/>
          </a:prstGeom>
          <a:noFill/>
        </p:spPr>
        <p:txBody>
          <a:bodyPr wrap="square" anchor="ctr" lIns="0" rIns="0" tIns="0" bIns="0">
            <a:spAutoFit/>
          </a:bodyPr>
          <a:lstStyle/>
          <a:p>
            <a:pPr algn="l"/>
            <a:r>
              <a:rPr sz="2097" b="1">
                <a:solidFill>
                  <a:srgbClr val="156082"/>
                </a:solidFill>
                <a:latin typeface="Consolas"/>
              </a:rPr>
              <a:t>VisitaGuardada</a:t>
            </a:r>
            <a:r>
              <a:rPr sz="2231" b="1">
                <a:solidFill>
                  <a:srgbClr val="0E2841"/>
                </a:solidFill>
                <a:latin typeface="Aptos"/>
              </a:rPr>
              <a:t> (fecha ISO) no es la entidad</a:t>
            </a:r>
          </a:p>
        </p:txBody>
      </p:sp>
      <p:sp>
        <p:nvSpPr>
          <p:cNvPr id="15" name="Oval 14"/>
          <p:cNvSpPr/>
          <p:nvPr/>
        </p:nvSpPr>
        <p:spPr>
          <a:xfrm>
            <a:off x="585216" y="598003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733010"/>
            <a:ext cx="10698480" cy="594637"/>
          </a:xfrm>
          <a:prstGeom prst="rect">
            <a:avLst/>
          </a:prstGeom>
          <a:noFill/>
        </p:spPr>
        <p:txBody>
          <a:bodyPr wrap="square" anchor="ctr" lIns="0" rIns="0" tIns="0" bIns="0">
            <a:spAutoFit/>
          </a:bodyPr>
          <a:lstStyle/>
          <a:p>
            <a:pPr algn="l"/>
            <a:r>
              <a:rPr sz="2231" b="1">
                <a:solidFill>
                  <a:srgbClr val="0E2841"/>
                </a:solidFill>
                <a:latin typeface="Aptos"/>
              </a:rPr>
              <a:t>Preferences si es pequeña; SQLite si crece</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44 / 48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Offline primero: ¿qué evita que una visita registrada sin señal se cree dos veces al reconectar?</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Reintentar el </a:t>
            </a:r>
            <a:r>
              <a:rPr sz="1974" b="0">
                <a:solidFill>
                  <a:srgbClr val="156082"/>
                </a:solidFill>
                <a:latin typeface="Consolas"/>
              </a:rPr>
              <a:t>POST</a:t>
            </a:r>
            <a:r>
              <a:rPr sz="2100" b="0">
                <a:solidFill>
                  <a:srgbClr val="0E2841"/>
                </a:solidFill>
                <a:latin typeface="Aptos"/>
              </a:rPr>
              <a:t> con espera exponencial hasta que responda 201</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Consultar la conectividad una sola vez, justo antes de cada envío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Un id generado en el cliente, enviado como clave de idempotencia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Guardar la visita en Preferences y borrarla cuando el servidor responda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45 / 48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11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11. Errores comunes y cierre</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Lo que cuesta caro y cómo se conecta con el H2</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Diez errores que cuestan caro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4754871"/>
        </p:xfrm>
        <a:graphic>
          <a:graphicData uri="http://schemas.openxmlformats.org/drawingml/2006/table">
            <a:tbl>
              <a:tblPr firstRow="1">
                <a:tableStyleId>{5C22544A-7EE6-4342-B048-85BDC9FD1C3A}</a:tableStyleId>
              </a:tblPr>
              <a:tblGrid>
                <a:gridCol w="5532120"/>
                <a:gridCol w="5532120"/>
              </a:tblGrid>
              <a:tr h="432261">
                <a:tc>
                  <a:txBody>
                    <a:bodyPr wrap="square"/>
                    <a:lstStyle/>
                    <a:p>
                      <a:r>
                        <a:rPr sz="1363" b="1">
                          <a:solidFill>
                            <a:srgbClr val="FFFFFF"/>
                          </a:solidFill>
                          <a:latin typeface="Aptos"/>
                        </a:rPr>
                        <a:t>Error</a:t>
                      </a:r>
                    </a:p>
                  </a:txBody>
                  <a:tcPr anchor="ctr" marL="146304" marR="146304">
                    <a:solidFill>
                      <a:srgbClr val="156082"/>
                    </a:solidFill>
                  </a:tcPr>
                </a:tc>
                <a:tc>
                  <a:txBody>
                    <a:bodyPr wrap="square"/>
                    <a:lstStyle/>
                    <a:p>
                      <a:r>
                        <a:rPr sz="1363" b="1">
                          <a:solidFill>
                            <a:srgbClr val="FFFFFF"/>
                          </a:solidFill>
                          <a:latin typeface="Aptos"/>
                        </a:rPr>
                        <a:t>Por qué falla</a:t>
                      </a:r>
                    </a:p>
                  </a:txBody>
                  <a:tcPr anchor="ctr" marL="146304" marR="146304">
                    <a:solidFill>
                      <a:srgbClr val="156082"/>
                    </a:solidFill>
                  </a:tcPr>
                </a:tc>
              </a:tr>
              <a:tr h="432261">
                <a:tc>
                  <a:txBody>
                    <a:bodyPr wrap="square"/>
                    <a:lstStyle/>
                    <a:p>
                      <a:r>
                        <a:rPr sz="1272" b="1">
                          <a:solidFill>
                            <a:srgbClr val="33475B"/>
                          </a:solidFill>
                          <a:latin typeface="Aptos"/>
                        </a:rPr>
                        <a:t>Lógica de negocio en plantilla o componente</a:t>
                      </a:r>
                    </a:p>
                  </a:txBody>
                  <a:tcPr anchor="ctr" marL="146304" marR="146304">
                    <a:solidFill>
                      <a:srgbClr val="FFFFFF"/>
                    </a:solidFill>
                  </a:tcPr>
                </a:tc>
                <a:tc>
                  <a:txBody>
                    <a:bodyPr wrap="square"/>
                    <a:lstStyle/>
                    <a:p>
                      <a:r>
                        <a:rPr sz="1272" b="0">
                          <a:solidFill>
                            <a:srgbClr val="33475B"/>
                          </a:solidFill>
                          <a:latin typeface="Aptos"/>
                        </a:rPr>
                        <a:t>Probar una regla exige renderizar una pantalla</a:t>
                      </a:r>
                    </a:p>
                  </a:txBody>
                  <a:tcPr anchor="ctr" marL="146304" marR="146304">
                    <a:solidFill>
                      <a:srgbClr val="FFFFFF"/>
                    </a:solidFill>
                  </a:tcPr>
                </a:tc>
              </a:tr>
              <a:tr h="432261">
                <a:tc>
                  <a:txBody>
                    <a:bodyPr wrap="square"/>
                    <a:lstStyle/>
                    <a:p>
                      <a:r>
                        <a:rPr sz="1196" b="1">
                          <a:solidFill>
                            <a:srgbClr val="156082"/>
                          </a:solidFill>
                          <a:latin typeface="Consolas"/>
                        </a:rPr>
                        <a:t>HttpClient</a:t>
                      </a:r>
                      <a:r>
                        <a:rPr sz="1272" b="1">
                          <a:solidFill>
                            <a:srgbClr val="33475B"/>
                          </a:solidFill>
                          <a:latin typeface="Aptos"/>
                        </a:rPr>
                        <a:t> inyectado en una página</a:t>
                      </a:r>
                    </a:p>
                  </a:txBody>
                  <a:tcPr anchor="ctr" marL="146304" marR="146304">
                    <a:solidFill>
                      <a:srgbClr val="F4F7FA"/>
                    </a:solidFill>
                  </a:tcPr>
                </a:tc>
                <a:tc>
                  <a:txBody>
                    <a:bodyPr wrap="square"/>
                    <a:lstStyle/>
                    <a:p>
                      <a:r>
                        <a:rPr sz="1272" b="0">
                          <a:solidFill>
                            <a:srgbClr val="33475B"/>
                          </a:solidFill>
                          <a:latin typeface="Aptos"/>
                        </a:rPr>
                        <a:t>No se prueba con un repositorio falso</a:t>
                      </a:r>
                    </a:p>
                  </a:txBody>
                  <a:tcPr anchor="ctr" marL="146304" marR="146304">
                    <a:solidFill>
                      <a:srgbClr val="F4F7FA"/>
                    </a:solidFill>
                  </a:tcPr>
                </a:tc>
              </a:tr>
              <a:tr h="432261">
                <a:tc>
                  <a:txBody>
                    <a:bodyPr wrap="square"/>
                    <a:lstStyle/>
                    <a:p>
                      <a:r>
                        <a:rPr sz="1196" b="1">
                          <a:solidFill>
                            <a:srgbClr val="156082"/>
                          </a:solidFill>
                          <a:latin typeface="Consolas"/>
                        </a:rPr>
                        <a:t>catchError</a:t>
                      </a:r>
                      <a:r>
                        <a:rPr sz="1272" b="1">
                          <a:solidFill>
                            <a:srgbClr val="33475B"/>
                          </a:solidFill>
                          <a:latin typeface="Aptos"/>
                        </a:rPr>
                        <a:t> fuera del </a:t>
                      </a:r>
                      <a:r>
                        <a:rPr sz="1196" b="1">
                          <a:solidFill>
                            <a:srgbClr val="156082"/>
                          </a:solidFill>
                          <a:latin typeface="Consolas"/>
                        </a:rPr>
                        <a:t>switchMap</a:t>
                      </a:r>
                    </a:p>
                  </a:txBody>
                  <a:tcPr anchor="ctr" marL="146304" marR="146304">
                    <a:solidFill>
                      <a:srgbClr val="FFFFFF"/>
                    </a:solidFill>
                  </a:tcPr>
                </a:tc>
                <a:tc>
                  <a:txBody>
                    <a:bodyPr wrap="square"/>
                    <a:lstStyle/>
                    <a:p>
                      <a:r>
                        <a:rPr sz="1272" b="0">
                          <a:solidFill>
                            <a:srgbClr val="33475B"/>
                          </a:solidFill>
                          <a:latin typeface="Aptos"/>
                        </a:rPr>
                        <a:t>El flujo se completa y «Reintentar» muere</a:t>
                      </a:r>
                    </a:p>
                  </a:txBody>
                  <a:tcPr anchor="ctr" marL="146304" marR="146304">
                    <a:solidFill>
                      <a:srgbClr val="FFFFFF"/>
                    </a:solidFill>
                  </a:tcPr>
                </a:tc>
              </a:tr>
              <a:tr h="432261">
                <a:tc>
                  <a:txBody>
                    <a:bodyPr wrap="square"/>
                    <a:lstStyle/>
                    <a:p>
                      <a:r>
                        <a:rPr sz="1196" b="1">
                          <a:solidFill>
                            <a:srgbClr val="156082"/>
                          </a:solidFill>
                          <a:latin typeface="Consolas"/>
                        </a:rPr>
                        <a:t>subscribe</a:t>
                      </a:r>
                      <a:r>
                        <a:rPr sz="1272" b="1">
                          <a:solidFill>
                            <a:srgbClr val="33475B"/>
                          </a:solidFill>
                          <a:latin typeface="Aptos"/>
                        </a:rPr>
                        <a:t> sin </a:t>
                      </a:r>
                      <a:r>
                        <a:rPr sz="1196" b="1">
                          <a:solidFill>
                            <a:srgbClr val="156082"/>
                          </a:solidFill>
                          <a:latin typeface="Consolas"/>
                        </a:rPr>
                        <a:t>takeUntilDestroyed</a:t>
                      </a:r>
                    </a:p>
                  </a:txBody>
                  <a:tcPr anchor="ctr" marL="146304" marR="146304">
                    <a:solidFill>
                      <a:srgbClr val="F4F7FA"/>
                    </a:solidFill>
                  </a:tcPr>
                </a:tc>
                <a:tc>
                  <a:txBody>
                    <a:bodyPr wrap="square"/>
                    <a:lstStyle/>
                    <a:p>
                      <a:r>
                        <a:rPr sz="1272" b="0">
                          <a:solidFill>
                            <a:srgbClr val="33475B"/>
                          </a:solidFill>
                          <a:latin typeface="Aptos"/>
                        </a:rPr>
                        <a:t>Fugas y peticiones duplicadas; </a:t>
                      </a:r>
                      <a:r>
                        <a:rPr sz="1196" b="0">
                          <a:solidFill>
                            <a:srgbClr val="156082"/>
                          </a:solidFill>
                          <a:latin typeface="Consolas"/>
                        </a:rPr>
                        <a:t>toSignal</a:t>
                      </a:r>
                      <a:r>
                        <a:rPr sz="1272" b="0">
                          <a:solidFill>
                            <a:srgbClr val="33475B"/>
                          </a:solidFill>
                          <a:latin typeface="Aptos"/>
                        </a:rPr>
                        <a:t> lo evita</a:t>
                      </a:r>
                    </a:p>
                  </a:txBody>
                  <a:tcPr anchor="ctr" marL="146304" marR="146304">
                    <a:solidFill>
                      <a:srgbClr val="F4F7FA"/>
                    </a:solidFill>
                  </a:tcPr>
                </a:tc>
              </a:tr>
              <a:tr h="432261">
                <a:tc>
                  <a:txBody>
                    <a:bodyPr wrap="square"/>
                    <a:lstStyle/>
                    <a:p>
                      <a:r>
                        <a:rPr sz="1272" b="1">
                          <a:solidFill>
                            <a:srgbClr val="33475B"/>
                          </a:solidFill>
                          <a:latin typeface="Aptos"/>
                        </a:rPr>
                        <a:t>Pasar el objeto completo entre rutas</a:t>
                      </a:r>
                    </a:p>
                  </a:txBody>
                  <a:tcPr anchor="ctr" marL="146304" marR="146304">
                    <a:solidFill>
                      <a:srgbClr val="FFFFFF"/>
                    </a:solidFill>
                  </a:tcPr>
                </a:tc>
                <a:tc>
                  <a:txBody>
                    <a:bodyPr wrap="square"/>
                    <a:lstStyle/>
                    <a:p>
                      <a:r>
                        <a:rPr sz="1272" b="0">
                          <a:solidFill>
                            <a:srgbClr val="33475B"/>
                          </a:solidFill>
                          <a:latin typeface="Aptos"/>
                        </a:rPr>
                        <a:t>Falla con deep link, recarga o restauración</a:t>
                      </a:r>
                    </a:p>
                  </a:txBody>
                  <a:tcPr anchor="ctr" marL="146304" marR="146304">
                    <a:solidFill>
                      <a:srgbClr val="FFFFFF"/>
                    </a:solidFill>
                  </a:tcPr>
                </a:tc>
              </a:tr>
              <a:tr h="432261">
                <a:tc>
                  <a:txBody>
                    <a:bodyPr wrap="square"/>
                    <a:lstStyle/>
                    <a:p>
                      <a:r>
                        <a:rPr sz="1272" b="1">
                          <a:solidFill>
                            <a:srgbClr val="33475B"/>
                          </a:solidFill>
                          <a:latin typeface="Aptos"/>
                        </a:rPr>
                        <a:t>Tokens en </a:t>
                      </a:r>
                      <a:r>
                        <a:rPr sz="1196" b="1">
                          <a:solidFill>
                            <a:srgbClr val="156082"/>
                          </a:solidFill>
                          <a:latin typeface="Consolas"/>
                        </a:rPr>
                        <a:t>localStorage</a:t>
                      </a:r>
                      <a:r>
                        <a:rPr sz="1272" b="1">
                          <a:solidFill>
                            <a:srgbClr val="33475B"/>
                          </a:solidFill>
                          <a:latin typeface="Aptos"/>
                        </a:rPr>
                        <a:t> o Preferences</a:t>
                      </a:r>
                    </a:p>
                  </a:txBody>
                  <a:tcPr anchor="ctr" marL="146304" marR="146304">
                    <a:solidFill>
                      <a:srgbClr val="F4F7FA"/>
                    </a:solidFill>
                  </a:tcPr>
                </a:tc>
                <a:tc>
                  <a:txBody>
                    <a:bodyPr wrap="square"/>
                    <a:lstStyle/>
                    <a:p>
                      <a:r>
                        <a:rPr sz="1272" b="0">
                          <a:solidFill>
                            <a:srgbClr val="33475B"/>
                          </a:solidFill>
                          <a:latin typeface="Aptos"/>
                        </a:rPr>
                        <a:t>Almacenes en claro: va en Keychain o Keystore</a:t>
                      </a:r>
                    </a:p>
                  </a:txBody>
                  <a:tcPr anchor="ctr" marL="146304" marR="146304">
                    <a:solidFill>
                      <a:srgbClr val="F4F7FA"/>
                    </a:solidFill>
                  </a:tcPr>
                </a:tc>
              </a:tr>
              <a:tr h="432261">
                <a:tc>
                  <a:txBody>
                    <a:bodyPr wrap="square"/>
                    <a:lstStyle/>
                    <a:p>
                      <a:r>
                        <a:rPr sz="1272" b="1">
                          <a:solidFill>
                            <a:srgbClr val="33475B"/>
                          </a:solidFill>
                          <a:latin typeface="Aptos"/>
                        </a:rPr>
                        <a:t>Reintentar un </a:t>
                      </a:r>
                      <a:r>
                        <a:rPr sz="1196" b="1">
                          <a:solidFill>
                            <a:srgbClr val="156082"/>
                          </a:solidFill>
                          <a:latin typeface="Consolas"/>
                        </a:rPr>
                        <a:t>POST</a:t>
                      </a:r>
                      <a:r>
                        <a:rPr sz="1272" b="1">
                          <a:solidFill>
                            <a:srgbClr val="33475B"/>
                          </a:solidFill>
                          <a:latin typeface="Aptos"/>
                        </a:rPr>
                        <a:t> automáticamente</a:t>
                      </a:r>
                    </a:p>
                  </a:txBody>
                  <a:tcPr anchor="ctr" marL="146304" marR="146304">
                    <a:solidFill>
                      <a:srgbClr val="FFFFFF"/>
                    </a:solidFill>
                  </a:tcPr>
                </a:tc>
                <a:tc>
                  <a:txBody>
                    <a:bodyPr wrap="square"/>
                    <a:lstStyle/>
                    <a:p>
                      <a:r>
                        <a:rPr sz="1272" b="0">
                          <a:solidFill>
                            <a:srgbClr val="33475B"/>
                          </a:solidFill>
                          <a:latin typeface="Aptos"/>
                        </a:rPr>
                        <a:t>Tiempo agotado no prueba que no llegó: duplica</a:t>
                      </a:r>
                    </a:p>
                  </a:txBody>
                  <a:tcPr anchor="ctr" marL="146304" marR="146304">
                    <a:solidFill>
                      <a:srgbClr val="FFFFFF"/>
                    </a:solidFill>
                  </a:tcPr>
                </a:tc>
              </a:tr>
              <a:tr h="432261">
                <a:tc>
                  <a:txBody>
                    <a:bodyPr wrap="square"/>
                    <a:lstStyle/>
                    <a:p>
                      <a:r>
                        <a:rPr sz="1272" b="1">
                          <a:solidFill>
                            <a:srgbClr val="33475B"/>
                          </a:solidFill>
                          <a:latin typeface="Aptos"/>
                        </a:rPr>
                        <a:t>Colores y tamaños a mano en pantallas</a:t>
                      </a:r>
                    </a:p>
                  </a:txBody>
                  <a:tcPr anchor="ctr" marL="146304" marR="146304">
                    <a:solidFill>
                      <a:srgbClr val="F4F7FA"/>
                    </a:solidFill>
                  </a:tcPr>
                </a:tc>
                <a:tc>
                  <a:txBody>
                    <a:bodyPr wrap="square"/>
                    <a:lstStyle/>
                    <a:p>
                      <a:r>
                        <a:rPr sz="1272" b="0">
                          <a:solidFill>
                            <a:srgbClr val="33475B"/>
                          </a:solidFill>
                          <a:latin typeface="Aptos"/>
                        </a:rPr>
                        <a:t>Modo oscuro y cambio de marca se rompen</a:t>
                      </a:r>
                    </a:p>
                  </a:txBody>
                  <a:tcPr anchor="ctr" marL="146304" marR="146304">
                    <a:solidFill>
                      <a:srgbClr val="F4F7FA"/>
                    </a:solidFill>
                  </a:tcPr>
                </a:tc>
              </a:tr>
              <a:tr h="432261">
                <a:tc>
                  <a:txBody>
                    <a:bodyPr wrap="square"/>
                    <a:lstStyle/>
                    <a:p>
                      <a:r>
                        <a:rPr sz="1272" b="1">
                          <a:solidFill>
                            <a:srgbClr val="33475B"/>
                          </a:solidFill>
                          <a:latin typeface="Aptos"/>
                        </a:rPr>
                        <a:t>Mezclar patrones de estado</a:t>
                      </a:r>
                    </a:p>
                  </a:txBody>
                  <a:tcPr anchor="ctr" marL="146304" marR="146304">
                    <a:solidFill>
                      <a:srgbClr val="FFFFFF"/>
                    </a:solidFill>
                  </a:tcPr>
                </a:tc>
                <a:tc>
                  <a:txBody>
                    <a:bodyPr wrap="square"/>
                    <a:lstStyle/>
                    <a:p>
                      <a:r>
                        <a:rPr sz="1272" b="0">
                          <a:solidFill>
                            <a:srgbClr val="33475B"/>
                          </a:solidFill>
                          <a:latin typeface="Aptos"/>
                        </a:rPr>
                        <a:t>Tres modelos mentales en la misma revisión</a:t>
                      </a:r>
                    </a:p>
                  </a:txBody>
                  <a:tcPr anchor="ctr" marL="146304" marR="146304">
                    <a:solidFill>
                      <a:srgbClr val="FFFFFF"/>
                    </a:solidFill>
                  </a:tcPr>
                </a:tc>
              </a:tr>
              <a:tr h="432261">
                <a:tc>
                  <a:txBody>
                    <a:bodyPr wrap="square"/>
                    <a:lstStyle/>
                    <a:p>
                      <a:r>
                        <a:rPr sz="1272" b="1">
                          <a:solidFill>
                            <a:srgbClr val="33475B"/>
                          </a:solidFill>
                          <a:latin typeface="Aptos"/>
                        </a:rPr>
                        <a:t>Modelar solo el camino feliz</a:t>
                      </a:r>
                    </a:p>
                  </a:txBody>
                  <a:tcPr anchor="ctr" marL="146304" marR="146304">
                    <a:solidFill>
                      <a:srgbClr val="F4F7FA"/>
                    </a:solidFill>
                  </a:tcPr>
                </a:tc>
                <a:tc>
                  <a:txBody>
                    <a:bodyPr wrap="square"/>
                    <a:lstStyle/>
                    <a:p>
                      <a:r>
                        <a:rPr sz="1272" b="0">
                          <a:solidFill>
                            <a:srgbClr val="33475B"/>
                          </a:solidFill>
                          <a:latin typeface="Aptos"/>
                        </a:rPr>
                        <a:t>Sin </a:t>
                      </a:r>
                      <a:r>
                        <a:rPr sz="1196" b="0">
                          <a:solidFill>
                            <a:srgbClr val="156082"/>
                          </a:solidFill>
                          <a:latin typeface="Consolas"/>
                        </a:rPr>
                        <a:t>vacio</a:t>
                      </a:r>
                      <a:r>
                        <a:rPr sz="1272" b="0">
                          <a:solidFill>
                            <a:srgbClr val="33475B"/>
                          </a:solidFill>
                          <a:latin typeface="Aptos"/>
                        </a:rPr>
                        <a:t>, </a:t>
                      </a:r>
                      <a:r>
                        <a:rPr sz="1196" b="0">
                          <a:solidFill>
                            <a:srgbClr val="156082"/>
                          </a:solidFill>
                          <a:latin typeface="Consolas"/>
                        </a:rPr>
                        <a:t>error</a:t>
                      </a:r>
                      <a:r>
                        <a:rPr sz="1272" b="0">
                          <a:solidFill>
                            <a:srgbClr val="33475B"/>
                          </a:solidFill>
                          <a:latin typeface="Aptos"/>
                        </a:rPr>
                        <a:t> y </a:t>
                      </a:r>
                      <a:r>
                        <a:rPr sz="1196" b="0">
                          <a:solidFill>
                            <a:srgbClr val="156082"/>
                          </a:solidFill>
                          <a:latin typeface="Consolas"/>
                        </a:rPr>
                        <a:t>offline</a:t>
                      </a:r>
                      <a:r>
                        <a:rPr sz="1272" b="0">
                          <a:solidFill>
                            <a:srgbClr val="33475B"/>
                          </a:solidFill>
                          <a:latin typeface="Aptos"/>
                        </a:rPr>
                        <a:t>: pantalla en blanco</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46 / 48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Del concepto al H2</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3688080"/>
                <a:gridCol w="3688080"/>
                <a:gridCol w="3688080"/>
              </a:tblGrid>
              <a:tr h="729081">
                <a:tc>
                  <a:txBody>
                    <a:bodyPr wrap="square"/>
                    <a:lstStyle/>
                    <a:p>
                      <a:r>
                        <a:rPr sz="1725" b="1">
                          <a:solidFill>
                            <a:srgbClr val="FFFFFF"/>
                          </a:solidFill>
                          <a:latin typeface="Aptos"/>
                        </a:rPr>
                        <a:t>Lo que pide la A2</a:t>
                      </a:r>
                    </a:p>
                  </a:txBody>
                  <a:tcPr anchor="ctr" marL="146304" marR="146304">
                    <a:solidFill>
                      <a:srgbClr val="156082"/>
                    </a:solidFill>
                  </a:tcPr>
                </a:tc>
                <a:tc>
                  <a:txBody>
                    <a:bodyPr wrap="square"/>
                    <a:lstStyle/>
                    <a:p>
                      <a:r>
                        <a:rPr sz="1725" b="1">
                          <a:solidFill>
                            <a:srgbClr val="FFFFFF"/>
                          </a:solidFill>
                          <a:latin typeface="Aptos"/>
                        </a:rPr>
                        <a:t>Dónde está en la OVA</a:t>
                      </a:r>
                    </a:p>
                  </a:txBody>
                  <a:tcPr anchor="ctr" marL="146304" marR="146304">
                    <a:solidFill>
                      <a:srgbClr val="156082"/>
                    </a:solidFill>
                  </a:tcPr>
                </a:tc>
                <a:tc>
                  <a:txBody>
                    <a:bodyPr wrap="square"/>
                    <a:lstStyle/>
                    <a:p>
                      <a:r>
                        <a:rPr sz="1725" b="1">
                          <a:solidFill>
                            <a:srgbClr val="FFFFFF"/>
                          </a:solidFill>
                          <a:latin typeface="Aptos"/>
                        </a:rPr>
                        <a:t>Documento del marco</a:t>
                      </a:r>
                    </a:p>
                  </a:txBody>
                  <a:tcPr anchor="ctr" marL="146304" marR="146304">
                    <a:solidFill>
                      <a:srgbClr val="156082"/>
                    </a:solidFill>
                  </a:tcPr>
                </a:tc>
              </a:tr>
              <a:tr h="729081">
                <a:tc>
                  <a:txBody>
                    <a:bodyPr wrap="square"/>
                    <a:lstStyle/>
                    <a:p>
                      <a:r>
                        <a:rPr sz="1609" b="1">
                          <a:solidFill>
                            <a:srgbClr val="33475B"/>
                          </a:solidFill>
                          <a:latin typeface="Aptos"/>
                        </a:rPr>
                        <a:t>Comparativa y elección justificada del stack</a:t>
                      </a:r>
                    </a:p>
                  </a:txBody>
                  <a:tcPr anchor="ctr" marL="146304" marR="146304">
                    <a:solidFill>
                      <a:srgbClr val="FFFFFF"/>
                    </a:solidFill>
                  </a:tcPr>
                </a:tc>
                <a:tc>
                  <a:txBody>
                    <a:bodyPr wrap="square"/>
                    <a:lstStyle/>
                    <a:p>
                      <a:r>
                        <a:rPr sz="1609" b="0">
                          <a:solidFill>
                            <a:srgbClr val="33475B"/>
                          </a:solidFill>
                          <a:latin typeface="Aptos"/>
                        </a:rPr>
                        <a:t>Secciones 1 y 4 (otros stacks)</a:t>
                      </a:r>
                    </a:p>
                  </a:txBody>
                  <a:tcPr anchor="ctr" marL="146304" marR="146304">
                    <a:solidFill>
                      <a:srgbClr val="FFFFFF"/>
                    </a:solidFill>
                  </a:tcPr>
                </a:tc>
                <a:tc>
                  <a:txBody>
                    <a:bodyPr wrap="square"/>
                    <a:lstStyle/>
                    <a:p>
                      <a:r>
                        <a:rPr sz="1609" b="0">
                          <a:solidFill>
                            <a:srgbClr val="33475B"/>
                          </a:solidFill>
                          <a:latin typeface="Aptos"/>
                        </a:rPr>
                        <a:t>ADR del stack (01 · decisiones)</a:t>
                      </a:r>
                    </a:p>
                  </a:txBody>
                  <a:tcPr anchor="ctr" marL="146304" marR="146304">
                    <a:solidFill>
                      <a:srgbClr val="FFFFFF"/>
                    </a:solidFill>
                  </a:tcPr>
                </a:tc>
              </a:tr>
              <a:tr h="729081">
                <a:tc>
                  <a:txBody>
                    <a:bodyPr wrap="square"/>
                    <a:lstStyle/>
                    <a:p>
                      <a:r>
                        <a:rPr sz="1609" b="1">
                          <a:solidFill>
                            <a:srgbClr val="33475B"/>
                          </a:solidFill>
                          <a:latin typeface="Aptos"/>
                        </a:rPr>
                        <a:t>Estructura de carpetas, estado y enrutamiento</a:t>
                      </a:r>
                    </a:p>
                  </a:txBody>
                  <a:tcPr anchor="ctr" marL="146304" marR="146304">
                    <a:solidFill>
                      <a:srgbClr val="F4F7FA"/>
                    </a:solidFill>
                  </a:tcPr>
                </a:tc>
                <a:tc>
                  <a:txBody>
                    <a:bodyPr wrap="square"/>
                    <a:lstStyle/>
                    <a:p>
                      <a:r>
                        <a:rPr sz="1609" b="0">
                          <a:solidFill>
                            <a:srgbClr val="33475B"/>
                          </a:solidFill>
                          <a:latin typeface="Aptos"/>
                        </a:rPr>
                        <a:t>Secciones 1, 4 y 5</a:t>
                      </a:r>
                    </a:p>
                  </a:txBody>
                  <a:tcPr anchor="ctr" marL="146304" marR="146304">
                    <a:solidFill>
                      <a:srgbClr val="F4F7FA"/>
                    </a:solidFill>
                  </a:tcPr>
                </a:tc>
                <a:tc>
                  <a:txBody>
                    <a:bodyPr wrap="square"/>
                    <a:lstStyle/>
                    <a:p>
                      <a:r>
                        <a:rPr sz="1609" b="0">
                          <a:solidFill>
                            <a:srgbClr val="33475B"/>
                          </a:solidFill>
                          <a:latin typeface="Aptos"/>
                        </a:rPr>
                        <a:t>01 · estructura, capas y estado, navegación</a:t>
                      </a:r>
                    </a:p>
                  </a:txBody>
                  <a:tcPr anchor="ctr" marL="146304" marR="146304">
                    <a:solidFill>
                      <a:srgbClr val="F4F7FA"/>
                    </a:solidFill>
                  </a:tcPr>
                </a:tc>
              </a:tr>
              <a:tr h="729081">
                <a:tc>
                  <a:txBody>
                    <a:bodyPr wrap="square"/>
                    <a:lstStyle/>
                    <a:p>
                      <a:r>
                        <a:rPr sz="1609" b="1">
                          <a:solidFill>
                            <a:srgbClr val="33475B"/>
                          </a:solidFill>
                          <a:latin typeface="Aptos"/>
                        </a:rPr>
                        <a:t>Principios de interfaz móvil</a:t>
                      </a:r>
                    </a:p>
                  </a:txBody>
                  <a:tcPr anchor="ctr" marL="146304" marR="146304">
                    <a:solidFill>
                      <a:srgbClr val="FFFFFF"/>
                    </a:solidFill>
                  </a:tcPr>
                </a:tc>
                <a:tc>
                  <a:txBody>
                    <a:bodyPr wrap="square"/>
                    <a:lstStyle/>
                    <a:p>
                      <a:r>
                        <a:rPr sz="1609" b="0">
                          <a:solidFill>
                            <a:srgbClr val="33475B"/>
                          </a:solidFill>
                          <a:latin typeface="Aptos"/>
                        </a:rPr>
                        <a:t>Secciones 2 y 3</a:t>
                      </a:r>
                    </a:p>
                  </a:txBody>
                  <a:tcPr anchor="ctr" marL="146304" marR="146304">
                    <a:solidFill>
                      <a:srgbClr val="FFFFFF"/>
                    </a:solidFill>
                  </a:tcPr>
                </a:tc>
                <a:tc>
                  <a:txBody>
                    <a:bodyPr wrap="square"/>
                    <a:lstStyle/>
                    <a:p>
                      <a:r>
                        <a:rPr sz="1609" b="0">
                          <a:solidFill>
                            <a:srgbClr val="33475B"/>
                          </a:solidFill>
                          <a:latin typeface="Aptos"/>
                        </a:rPr>
                        <a:t>02 · sistema de diseño y accesibilidad</a:t>
                      </a:r>
                    </a:p>
                  </a:txBody>
                  <a:tcPr anchor="ctr" marL="146304" marR="146304">
                    <a:solidFill>
                      <a:srgbClr val="FFFFFF"/>
                    </a:solidFill>
                  </a:tcPr>
                </a:tc>
              </a:tr>
              <a:tr h="729081">
                <a:tc>
                  <a:txBody>
                    <a:bodyPr wrap="square"/>
                    <a:lstStyle/>
                    <a:p>
                      <a:r>
                        <a:rPr sz="1609" b="1">
                          <a:solidFill>
                            <a:srgbClr val="33475B"/>
                          </a:solidFill>
                          <a:latin typeface="Aptos"/>
                        </a:rPr>
                        <a:t>APIs REST, tokens y almacenamiento seguro</a:t>
                      </a:r>
                    </a:p>
                  </a:txBody>
                  <a:tcPr anchor="ctr" marL="146304" marR="146304">
                    <a:solidFill>
                      <a:srgbClr val="F4F7FA"/>
                    </a:solidFill>
                  </a:tcPr>
                </a:tc>
                <a:tc>
                  <a:txBody>
                    <a:bodyPr wrap="square"/>
                    <a:lstStyle/>
                    <a:p>
                      <a:r>
                        <a:rPr sz="1609" b="0">
                          <a:solidFill>
                            <a:srgbClr val="33475B"/>
                          </a:solidFill>
                          <a:latin typeface="Aptos"/>
                        </a:rPr>
                        <a:t>Secciones 7, 8 y 9</a:t>
                      </a:r>
                    </a:p>
                  </a:txBody>
                  <a:tcPr anchor="ctr" marL="146304" marR="146304">
                    <a:solidFill>
                      <a:srgbClr val="F4F7FA"/>
                    </a:solidFill>
                  </a:tcPr>
                </a:tc>
                <a:tc>
                  <a:txBody>
                    <a:bodyPr wrap="square"/>
                    <a:lstStyle/>
                    <a:p>
                      <a:r>
                        <a:rPr sz="1609" b="0">
                          <a:solidFill>
                            <a:srgbClr val="33475B"/>
                          </a:solidFill>
                          <a:latin typeface="Aptos"/>
                        </a:rPr>
                        <a:t>03 · red, autenticación, persistencia y offline</a:t>
                      </a:r>
                    </a:p>
                  </a:txBody>
                  <a:tcPr anchor="ctr" marL="146304" marR="146304">
                    <a:solidFill>
                      <a:srgbClr val="F4F7FA"/>
                    </a:solidFill>
                  </a:tcPr>
                </a:tc>
              </a:tr>
              <a:tr h="729081">
                <a:tc>
                  <a:txBody>
                    <a:bodyPr wrap="square"/>
                    <a:lstStyle/>
                    <a:p>
                      <a:r>
                        <a:rPr sz="1609" b="1">
                          <a:solidFill>
                            <a:srgbClr val="33475B"/>
                          </a:solidFill>
                          <a:latin typeface="Aptos"/>
                        </a:rPr>
                        <a:t>Estrategia de pruebas</a:t>
                      </a:r>
                    </a:p>
                  </a:txBody>
                  <a:tcPr anchor="ctr" marL="146304" marR="146304">
                    <a:solidFill>
                      <a:srgbClr val="FFFFFF"/>
                    </a:solidFill>
                  </a:tcPr>
                </a:tc>
                <a:tc>
                  <a:txBody>
                    <a:bodyPr wrap="square"/>
                    <a:lstStyle/>
                    <a:p>
                      <a:r>
                        <a:rPr sz="1609" b="0">
                          <a:solidFill>
                            <a:srgbClr val="33475B"/>
                          </a:solidFill>
                          <a:latin typeface="Aptos"/>
                        </a:rPr>
                        <a:t>Casos de uso y ViewModels con repositorios falsos (sección 4)</a:t>
                      </a:r>
                    </a:p>
                  </a:txBody>
                  <a:tcPr anchor="ctr" marL="146304" marR="146304">
                    <a:solidFill>
                      <a:srgbClr val="FFFFFF"/>
                    </a:solidFill>
                  </a:tcPr>
                </a:tc>
                <a:tc>
                  <a:txBody>
                    <a:bodyPr wrap="square"/>
                    <a:lstStyle/>
                    <a:p>
                      <a:r>
                        <a:rPr sz="1609" b="0">
                          <a:solidFill>
                            <a:srgbClr val="33475B"/>
                          </a:solidFill>
                          <a:latin typeface="Aptos"/>
                        </a:rPr>
                        <a:t>04 · calidad (se amplía en la Unidad 3)</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47 / 48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2 · INTERFAZ, ESTADO Y DATOS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La pantalla dibuja</a:t>
            </a:r>
          </a:p>
          <a:p>
            <a:pPr algn="l">
              <a:lnSpc>
                <a:spcPct val="120000"/>
              </a:lnSpc>
              <a:spcBef>
                <a:spcPts val="700"/>
              </a:spcBef>
            </a:pPr>
            <a:r>
              <a:rPr sz="1518" b="0">
                <a:solidFill>
                  <a:srgbClr val="33475B"/>
                </a:solidFill>
                <a:latin typeface="Aptos"/>
              </a:rPr>
              <a:t>Un estado y emite intenciones; todo lo demás vive en otra capa</a:t>
            </a:r>
          </a:p>
        </p:txBody>
      </p:sp>
      <p:sp>
        <p:nvSpPr>
          <p:cNvPr id="10" name="Rounded Rectangle 9"/>
          <p:cNvSpPr/>
          <p:nvPr/>
        </p:nvSpPr>
        <p:spPr>
          <a:xfrm>
            <a:off x="4358640"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Una sola vez</a:t>
            </a:r>
          </a:p>
          <a:p>
            <a:pPr algn="l">
              <a:lnSpc>
                <a:spcPct val="120000"/>
              </a:lnSpc>
              <a:spcBef>
                <a:spcPts val="700"/>
              </a:spcBef>
            </a:pPr>
            <a:r>
              <a:rPr sz="1518" b="0">
                <a:solidFill>
                  <a:srgbClr val="33475B"/>
                </a:solidFill>
                <a:latin typeface="Aptos"/>
              </a:rPr>
              <a:t>Tema en tokens, reglas en el dominio, red y tokens en la capa de datos</a:t>
            </a:r>
          </a:p>
        </p:txBody>
      </p:sp>
      <p:sp>
        <p:nvSpPr>
          <p:cNvPr id="13" name="Rounded Rectangle 12"/>
          <p:cNvSpPr/>
          <p:nvPr/>
        </p:nvSpPr>
        <p:spPr>
          <a:xfrm>
            <a:off x="8150352" y="1572768"/>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084832"/>
            <a:ext cx="3078480" cy="2284693"/>
          </a:xfrm>
          <a:prstGeom prst="rect">
            <a:avLst/>
          </a:prstGeom>
          <a:noFill/>
        </p:spPr>
        <p:txBody>
          <a:bodyPr wrap="square" anchor="t" lIns="0" rIns="0" tIns="0" bIns="0">
            <a:spAutoFit/>
          </a:bodyPr>
          <a:lstStyle/>
          <a:p>
            <a:pPr algn="l"/>
            <a:r>
              <a:rPr sz="1986" b="1">
                <a:solidFill>
                  <a:srgbClr val="0E2841"/>
                </a:solidFill>
                <a:latin typeface="Aptos Display"/>
              </a:rPr>
              <a:t>Por escrito</a:t>
            </a:r>
          </a:p>
          <a:p>
            <a:pPr algn="l">
              <a:lnSpc>
                <a:spcPct val="120000"/>
              </a:lnSpc>
              <a:spcBef>
                <a:spcPts val="700"/>
              </a:spcBef>
            </a:pPr>
            <a:r>
              <a:rPr sz="1518" b="0">
                <a:solidFill>
                  <a:srgbClr val="33475B"/>
                </a:solidFill>
                <a:latin typeface="Aptos"/>
              </a:rPr>
              <a:t>Estado, modo md/ios, persistencia y offline se defienden en un ADR</a:t>
            </a:r>
          </a:p>
        </p:txBody>
      </p:sp>
      <p:sp>
        <p:nvSpPr>
          <p:cNvPr id="16" name="Rounded Rectangle 15"/>
          <p:cNvSpPr/>
          <p:nvPr/>
        </p:nvSpPr>
        <p:spPr>
          <a:xfrm>
            <a:off x="566928" y="4771861"/>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826725"/>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771861"/>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Esta semana: H1 vence el domingo 18; H2 (foro, dos respuestas y PDF) vence el domingo 25 de octubre, 11:59 p. m.</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  Unidad 2</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48 / 48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
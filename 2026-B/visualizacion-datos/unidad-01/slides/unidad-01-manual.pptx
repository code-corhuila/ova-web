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5"/>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notesMaster" Target="notesMasters/notesMaster1.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exactamente lo que pide la actividad A1 (15%). Anunciar que la sesión se sigue con Power BI abierto: no es una clase para tomar apuntes, es para hacer.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 cinco minutos aquí y recorrer el salón. Es el momento donde se cae la clase si alguien queda atrás. Preguntar en voz alta quién ya lo tiene abierto antes de seguir.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Identificar ahora quiénes están en Mac o Linux y emparejarlos con un compañero. En la Unidad 2 sí van a necesitar Desktop.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 señalen cada zona en su pantalla mientras se nombra. A la izquierda están las tres vistas: Informe, Tabla y Modelo; hoy se trabaja casi todo en Informe.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Detenerse en el tercer paso. Mostrar la vista previa y preguntar qué está mal antes de darle a Cargar. Si algo se ve raro, la respuesta es Transformar datos — y eso es la Unidad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 lo hagan solos. En 30 segundos todos tienen un gráfico. Aprovechar para decir la frase de la unidad: ya tienes un gráfico, ahora falta que sea confiable.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cuadro es el que van a volver a mirar toda la maestría. Pedirles que lo dejen abierto mientras trabajan. Hacer los cinco ajustes en vivo sobre el gráfico proyectado.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Mostrarlo en vivo: cambiar el inicio del eje a 90, dejar que reaccionen, y volver a 0. El impacto visual del cambio es el argumento; no hace falta explicarlo mucho más.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Regla práctica: si el gráfico se reenvía por correo sin ningún texto, ¿se entiende solo? Ese es el estándar.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tercer paso es donde se gana o se pierde la nota. La rúbrica no premia señalar el error, premia explicar qué le hace ese error a la percepción del lector.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no busquen la infografía más escandalosa. Un informe serio con un detalle discutible da mejor análisis que un meme.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Recalcar que conserven el .pbix. Cada semestre alguien entrega solo la captura y después no puede corregir nada.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Formato → Eje Y → Rango → Inicio. El rango del eje está en el panel Formato del propio visual.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Usar Transformar datos en vez de Cargar. Transformar datos abre Power Query, donde se corrige la estructura antes de cargar.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Nombrar la distorsión y explicar su efecto en quien lo lee. La rúbrica pide el efecto en la percepción, no solo señalar el error.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Proyectar esta lista y pedir que levanten la mano en el punto donde se quedaron. Los que falten se emparejan con quien ya terminó. La práctica opcional de la unidad es esta misma crítica, ampliada.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De cero a tu primer gráfico</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Visualización de Datos  ·  Jesús Ariel González Bonilla  ·  2026-B</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De cero a tu primer gráfico honesto en Power BI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Preparar el terreno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Al final de esta sesión vas a tener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Instalado</a:t>
            </a:r>
          </a:p>
          <a:p>
            <a:pPr algn="l">
              <a:lnSpc>
                <a:spcPct val="120000"/>
              </a:lnSpc>
              <a:spcBef>
                <a:spcPts val="700"/>
              </a:spcBef>
            </a:pPr>
            <a:r>
              <a:rPr sz="1560" b="0">
                <a:solidFill>
                  <a:srgbClr val="33475B"/>
                </a:solidFill>
                <a:latin typeface="Aptos"/>
              </a:rPr>
              <a:t>Power BI Desktop abriendo en tu equipo</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Cargado</a:t>
            </a:r>
          </a:p>
          <a:p>
            <a:pPr algn="l">
              <a:lnSpc>
                <a:spcPct val="120000"/>
              </a:lnSpc>
              <a:spcBef>
                <a:spcPts val="700"/>
              </a:spcBef>
            </a:pPr>
            <a:r>
              <a:rPr sz="1560" b="0">
                <a:solidFill>
                  <a:srgbClr val="33475B"/>
                </a:solidFill>
                <a:latin typeface="Aptos"/>
              </a:rPr>
              <a:t>Un archivo de datos con sus campos a la vista</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Graficado</a:t>
            </a:r>
          </a:p>
          <a:p>
            <a:pPr algn="l">
              <a:lnSpc>
                <a:spcPct val="120000"/>
              </a:lnSpc>
              <a:spcBef>
                <a:spcPts val="700"/>
              </a:spcBef>
            </a:pPr>
            <a:r>
              <a:rPr sz="1560" b="0">
                <a:solidFill>
                  <a:srgbClr val="33475B"/>
                </a:solidFill>
                <a:latin typeface="Aptos"/>
              </a:rPr>
              <a:t>Un gráfico de barras en el lienzo</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Verificado</a:t>
            </a:r>
          </a:p>
          <a:p>
            <a:pPr algn="l">
              <a:lnSpc>
                <a:spcPct val="120000"/>
              </a:lnSpc>
              <a:spcBef>
                <a:spcPts val="700"/>
              </a:spcBef>
            </a:pPr>
            <a:r>
              <a:rPr sz="1560" b="0">
                <a:solidFill>
                  <a:srgbClr val="33475B"/>
                </a:solidFill>
                <a:latin typeface="Aptos"/>
              </a:rPr>
              <a:t>Título, eje desde cero, unidades y fuente</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1 · Instala Power BI Desktop</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Abre la Store</a:t>
            </a:r>
          </a:p>
          <a:p>
            <a:pPr algn="l">
              <a:lnSpc>
                <a:spcPct val="120000"/>
              </a:lnSpc>
              <a:spcBef>
                <a:spcPts val="700"/>
              </a:spcBef>
            </a:pPr>
            <a:r>
              <a:rPr sz="1560" b="0">
                <a:solidFill>
                  <a:srgbClr val="33475B"/>
                </a:solidFill>
                <a:latin typeface="Aptos"/>
              </a:rPr>
              <a:t>Microsoft Store en Windows, busca "Power BI Desktop"</a:t>
            </a:r>
          </a:p>
        </p:txBody>
      </p:sp>
      <p:sp>
        <p:nvSpPr>
          <p:cNvPr id="11" name="Rounded Rectangle 10"/>
          <p:cNvSpPr/>
          <p:nvPr/>
        </p:nvSpPr>
        <p:spPr>
          <a:xfrm>
            <a:off x="4358640"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9808"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980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4559808"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Instala</a:t>
            </a:r>
          </a:p>
          <a:p>
            <a:pPr algn="l">
              <a:lnSpc>
                <a:spcPct val="120000"/>
              </a:lnSpc>
              <a:spcBef>
                <a:spcPts val="700"/>
              </a:spcBef>
            </a:pPr>
            <a:r>
              <a:rPr sz="1560" b="0">
                <a:solidFill>
                  <a:srgbClr val="33475B"/>
                </a:solidFill>
                <a:latin typeface="Aptos"/>
              </a:rPr>
              <a:t>Botón Obtener. Es gratuito</a:t>
            </a:r>
          </a:p>
        </p:txBody>
      </p:sp>
      <p:sp>
        <p:nvSpPr>
          <p:cNvPr id="15" name="Rounded Rectangle 14"/>
          <p:cNvSpPr/>
          <p:nvPr/>
        </p:nvSpPr>
        <p:spPr>
          <a:xfrm>
            <a:off x="8150352"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51520"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8351520"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Ábrelo</a:t>
            </a:r>
          </a:p>
          <a:p>
            <a:pPr algn="l">
              <a:lnSpc>
                <a:spcPct val="120000"/>
              </a:lnSpc>
              <a:spcBef>
                <a:spcPts val="700"/>
              </a:spcBef>
            </a:pPr>
            <a:r>
              <a:rPr sz="1560" b="0">
                <a:solidFill>
                  <a:srgbClr val="33475B"/>
                </a:solidFill>
                <a:latin typeface="Aptos"/>
              </a:rPr>
              <a:t>Puedes cerrar el aviso de inicio de sesión y trabajar sin cuenta</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¿No tienes Windows?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476195"/>
            <a:ext cx="11064240" cy="294802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531059"/>
            <a:ext cx="63500" cy="2838297"/>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76195"/>
            <a:ext cx="10378440" cy="2948025"/>
          </a:xfrm>
          <a:prstGeom prst="rect">
            <a:avLst/>
          </a:prstGeom>
          <a:noFill/>
        </p:spPr>
        <p:txBody>
          <a:bodyPr wrap="square" anchor="ctr" lIns="0" rIns="0" tIns="0" bIns="0">
            <a:spAutoFit/>
          </a:bodyPr>
          <a:lstStyle/>
          <a:p>
            <a:pPr algn="l">
              <a:lnSpc>
                <a:spcPct val="125000"/>
              </a:lnSpc>
            </a:pPr>
            <a:r>
              <a:rPr sz="3174" b="1">
                <a:solidFill>
                  <a:srgbClr val="0E2841"/>
                </a:solidFill>
                <a:latin typeface="Aptos Display"/>
              </a:rPr>
              <a:t>Power BI Desktop solo corre en Windows. Alternativas: el laboratorio de la universidad, una máquina virtual, o </a:t>
            </a:r>
            <a:r>
              <a:rPr sz="3174" b="1">
                <a:solidFill>
                  <a:srgbClr val="0E2841"/>
                </a:solidFill>
                <a:latin typeface="Aptos Display"/>
              </a:rPr>
              <a:t>Power BI Service</a:t>
            </a:r>
            <a:r>
              <a:rPr sz="3174" b="1">
                <a:solidFill>
                  <a:srgbClr val="0E2841"/>
                </a:solidFill>
                <a:latin typeface="Aptos Display"/>
              </a:rPr>
              <a:t> en el navegador — para esta unidad alcanza.</a:t>
            </a:r>
          </a:p>
        </p:txBody>
      </p:sp>
      <p:sp>
        <p:nvSpPr>
          <p:cNvPr id="10" name="TextBox 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11" name="TextBox 1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2 · Reconoce las cuatro zonas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Cinta</a:t>
            </a:r>
          </a:p>
          <a:p>
            <a:pPr algn="l">
              <a:lnSpc>
                <a:spcPct val="120000"/>
              </a:lnSpc>
              <a:spcBef>
                <a:spcPts val="700"/>
              </a:spcBef>
            </a:pPr>
            <a:r>
              <a:rPr sz="1560" b="0">
                <a:solidFill>
                  <a:srgbClr val="33475B"/>
                </a:solidFill>
                <a:latin typeface="Aptos"/>
              </a:rPr>
              <a:t>Las acciones: obtener datos, insertar, publicar</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Lienzo</a:t>
            </a:r>
          </a:p>
          <a:p>
            <a:pPr algn="l">
              <a:lnSpc>
                <a:spcPct val="120000"/>
              </a:lnSpc>
              <a:spcBef>
                <a:spcPts val="700"/>
              </a:spcBef>
            </a:pPr>
            <a:r>
              <a:rPr sz="1560" b="0">
                <a:solidFill>
                  <a:srgbClr val="33475B"/>
                </a:solidFill>
                <a:latin typeface="Aptos"/>
              </a:rPr>
              <a:t>El papel en blanco donde armas el informe</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Visualizaciones</a:t>
            </a:r>
          </a:p>
          <a:p>
            <a:pPr algn="l">
              <a:lnSpc>
                <a:spcPct val="120000"/>
              </a:lnSpc>
              <a:spcBef>
                <a:spcPts val="700"/>
              </a:spcBef>
            </a:pPr>
            <a:r>
              <a:rPr sz="1560" b="0">
                <a:solidFill>
                  <a:srgbClr val="33475B"/>
                </a:solidFill>
                <a:latin typeface="Aptos"/>
              </a:rPr>
              <a:t>El catálogo de gráficos</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Datos</a:t>
            </a:r>
          </a:p>
          <a:p>
            <a:pPr algn="l">
              <a:lnSpc>
                <a:spcPct val="120000"/>
              </a:lnSpc>
              <a:spcBef>
                <a:spcPts val="700"/>
              </a:spcBef>
            </a:pPr>
            <a:r>
              <a:rPr sz="1560" b="0">
                <a:solidFill>
                  <a:srgbClr val="33475B"/>
                </a:solidFill>
                <a:latin typeface="Aptos"/>
              </a:rPr>
              <a:t>Tus campos, los que se arrastran al gráfico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Construir el gráfico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3 · Carga tu primer archivo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Obtener datos</a:t>
            </a:r>
          </a:p>
          <a:p>
            <a:pPr algn="l">
              <a:lnSpc>
                <a:spcPct val="120000"/>
              </a:lnSpc>
              <a:spcBef>
                <a:spcPts val="700"/>
              </a:spcBef>
            </a:pPr>
            <a:r>
              <a:rPr sz="1560" b="0">
                <a:solidFill>
                  <a:srgbClr val="33475B"/>
                </a:solidFill>
                <a:latin typeface="Aptos"/>
              </a:rPr>
              <a:t>Inicio → Obtener datos → Texto/CSV</a:t>
            </a:r>
          </a:p>
        </p:txBody>
      </p:sp>
      <p:sp>
        <p:nvSpPr>
          <p:cNvPr id="11" name="Rounded Rectangle 10"/>
          <p:cNvSpPr/>
          <p:nvPr/>
        </p:nvSpPr>
        <p:spPr>
          <a:xfrm>
            <a:off x="3410712"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Elige el archivo</a:t>
            </a:r>
          </a:p>
          <a:p>
            <a:pPr algn="l">
              <a:lnSpc>
                <a:spcPct val="120000"/>
              </a:lnSpc>
              <a:spcBef>
                <a:spcPts val="700"/>
              </a:spcBef>
            </a:pPr>
            <a:r>
              <a:rPr sz="1560" b="0">
                <a:solidFill>
                  <a:srgbClr val="33475B"/>
                </a:solidFill>
                <a:latin typeface="Aptos"/>
              </a:rPr>
              <a:t>sales_data_raw.csv del aula, o uno tuyo</a:t>
            </a:r>
          </a:p>
        </p:txBody>
      </p:sp>
      <p:sp>
        <p:nvSpPr>
          <p:cNvPr id="15" name="Rounded Rectangle 14"/>
          <p:cNvSpPr/>
          <p:nvPr/>
        </p:nvSpPr>
        <p:spPr>
          <a:xfrm>
            <a:off x="6254496"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Revisa la vista previa</a:t>
            </a:r>
          </a:p>
          <a:p>
            <a:pPr algn="l">
              <a:lnSpc>
                <a:spcPct val="120000"/>
              </a:lnSpc>
              <a:spcBef>
                <a:spcPts val="700"/>
              </a:spcBef>
            </a:pPr>
            <a:r>
              <a:rPr sz="1560" b="0">
                <a:solidFill>
                  <a:srgbClr val="33475B"/>
                </a:solidFill>
                <a:latin typeface="Aptos"/>
              </a:rPr>
              <a:t>¿Encabezados bien? ¿Números como números?</a:t>
            </a:r>
          </a:p>
        </p:txBody>
      </p:sp>
      <p:sp>
        <p:nvSpPr>
          <p:cNvPr id="19" name="Rounded Rectangle 18"/>
          <p:cNvSpPr/>
          <p:nvPr/>
        </p:nvSpPr>
        <p:spPr>
          <a:xfrm>
            <a:off x="9098280"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Cargar</a:t>
            </a:r>
          </a:p>
          <a:p>
            <a:pPr algn="l">
              <a:lnSpc>
                <a:spcPct val="120000"/>
              </a:lnSpc>
              <a:spcBef>
                <a:spcPts val="700"/>
              </a:spcBef>
            </a:pPr>
            <a:r>
              <a:rPr sz="1560" b="0">
                <a:solidFill>
                  <a:srgbClr val="33475B"/>
                </a:solidFill>
                <a:latin typeface="Aptos"/>
              </a:rPr>
              <a:t>Los campos aparecen en el panel Datos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4 · Tres arrastres y ya hay gráfico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Elige el visual</a:t>
            </a:r>
          </a:p>
          <a:p>
            <a:pPr algn="l">
              <a:lnSpc>
                <a:spcPct val="120000"/>
              </a:lnSpc>
              <a:spcBef>
                <a:spcPts val="700"/>
              </a:spcBef>
            </a:pPr>
            <a:r>
              <a:rPr sz="1560" b="0">
                <a:solidFill>
                  <a:srgbClr val="33475B"/>
                </a:solidFill>
                <a:latin typeface="Aptos"/>
              </a:rPr>
              <a:t>Ícono de columnas agrupadas en Visualizaciones</a:t>
            </a:r>
          </a:p>
        </p:txBody>
      </p:sp>
      <p:sp>
        <p:nvSpPr>
          <p:cNvPr id="11" name="Rounded Rectangle 10"/>
          <p:cNvSpPr/>
          <p:nvPr/>
        </p:nvSpPr>
        <p:spPr>
          <a:xfrm>
            <a:off x="4358640"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9808"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980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4559808"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Categoría al Eje X</a:t>
            </a:r>
          </a:p>
          <a:p>
            <a:pPr algn="l">
              <a:lnSpc>
                <a:spcPct val="120000"/>
              </a:lnSpc>
              <a:spcBef>
                <a:spcPts val="700"/>
              </a:spcBef>
            </a:pPr>
            <a:r>
              <a:rPr sz="1560" b="0">
                <a:solidFill>
                  <a:srgbClr val="33475B"/>
                </a:solidFill>
                <a:latin typeface="Aptos"/>
              </a:rPr>
              <a:t>Arrastra Región o Producto</a:t>
            </a:r>
          </a:p>
        </p:txBody>
      </p:sp>
      <p:sp>
        <p:nvSpPr>
          <p:cNvPr id="15" name="Rounded Rectangle 14"/>
          <p:cNvSpPr/>
          <p:nvPr/>
        </p:nvSpPr>
        <p:spPr>
          <a:xfrm>
            <a:off x="8150352"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51520"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8351520"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Número al Eje Y</a:t>
            </a:r>
          </a:p>
          <a:p>
            <a:pPr algn="l">
              <a:lnSpc>
                <a:spcPct val="120000"/>
              </a:lnSpc>
              <a:spcBef>
                <a:spcPts val="700"/>
              </a:spcBef>
            </a:pPr>
            <a:r>
              <a:rPr sz="1560" b="0">
                <a:solidFill>
                  <a:srgbClr val="33475B"/>
                </a:solidFill>
                <a:latin typeface="Aptos"/>
              </a:rPr>
              <a:t>Arrastra Ventas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Hacerlo honesto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lista de la Unidad 1, convertida en clics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Verifica</a:t>
                      </a:r>
                    </a:p>
                  </a:txBody>
                  <a:tcPr anchor="ctr" marL="146304" marR="146304">
                    <a:solidFill>
                      <a:srgbClr val="156082"/>
                    </a:solidFill>
                  </a:tcPr>
                </a:tc>
                <a:tc>
                  <a:txBody>
                    <a:bodyPr wrap="square"/>
                    <a:lstStyle/>
                    <a:p>
                      <a:r>
                        <a:rPr sz="1725" b="1">
                          <a:solidFill>
                            <a:srgbClr val="FFFFFF"/>
                          </a:solidFill>
                          <a:latin typeface="Aptos"/>
                        </a:rPr>
                        <a:t>Dónde se ajusta</a:t>
                      </a:r>
                    </a:p>
                  </a:txBody>
                  <a:tcPr anchor="ctr" marL="146304" marR="146304">
                    <a:solidFill>
                      <a:srgbClr val="156082"/>
                    </a:solidFill>
                  </a:tcPr>
                </a:tc>
              </a:tr>
              <a:tr h="729081">
                <a:tc>
                  <a:txBody>
                    <a:bodyPr wrap="square"/>
                    <a:lstStyle/>
                    <a:p>
                      <a:r>
                        <a:rPr sz="1609" b="1">
                          <a:solidFill>
                            <a:srgbClr val="33475B"/>
                          </a:solidFill>
                          <a:latin typeface="Aptos"/>
                        </a:rPr>
                        <a:t>Título claro y descriptivo</a:t>
                      </a:r>
                    </a:p>
                  </a:txBody>
                  <a:tcPr anchor="ctr" marL="146304" marR="146304">
                    <a:solidFill>
                      <a:srgbClr val="FFFFFF"/>
                    </a:solidFill>
                  </a:tcPr>
                </a:tc>
                <a:tc>
                  <a:txBody>
                    <a:bodyPr wrap="square"/>
                    <a:lstStyle/>
                    <a:p>
                      <a:r>
                        <a:rPr sz="1609" b="0">
                          <a:solidFill>
                            <a:srgbClr val="33475B"/>
                          </a:solidFill>
                          <a:latin typeface="Aptos"/>
                        </a:rPr>
                        <a:t>Formato → General → Título</a:t>
                      </a:r>
                    </a:p>
                  </a:txBody>
                  <a:tcPr anchor="ctr" marL="146304" marR="146304">
                    <a:solidFill>
                      <a:srgbClr val="FFFFFF"/>
                    </a:solidFill>
                  </a:tcPr>
                </a:tc>
              </a:tr>
              <a:tr h="729081">
                <a:tc>
                  <a:txBody>
                    <a:bodyPr wrap="square"/>
                    <a:lstStyle/>
                    <a:p>
                      <a:r>
                        <a:rPr sz="1609" b="1">
                          <a:solidFill>
                            <a:srgbClr val="33475B"/>
                          </a:solidFill>
                          <a:latin typeface="Aptos"/>
                        </a:rPr>
                        <a:t>Eje Y desde 0</a:t>
                      </a:r>
                    </a:p>
                  </a:txBody>
                  <a:tcPr anchor="ctr" marL="146304" marR="146304">
                    <a:solidFill>
                      <a:srgbClr val="F4F7FA"/>
                    </a:solidFill>
                  </a:tcPr>
                </a:tc>
                <a:tc>
                  <a:txBody>
                    <a:bodyPr wrap="square"/>
                    <a:lstStyle/>
                    <a:p>
                      <a:r>
                        <a:rPr sz="1609" b="0">
                          <a:solidFill>
                            <a:srgbClr val="33475B"/>
                          </a:solidFill>
                          <a:latin typeface="Aptos"/>
                        </a:rPr>
                        <a:t>Formato → Eje Y → Rango → Inicio</a:t>
                      </a:r>
                    </a:p>
                  </a:txBody>
                  <a:tcPr anchor="ctr" marL="146304" marR="146304">
                    <a:solidFill>
                      <a:srgbClr val="F4F7FA"/>
                    </a:solidFill>
                  </a:tcPr>
                </a:tc>
              </a:tr>
              <a:tr h="729081">
                <a:tc>
                  <a:txBody>
                    <a:bodyPr wrap="square"/>
                    <a:lstStyle/>
                    <a:p>
                      <a:r>
                        <a:rPr sz="1609" b="1">
                          <a:solidFill>
                            <a:srgbClr val="33475B"/>
                          </a:solidFill>
                          <a:latin typeface="Aptos"/>
                        </a:rPr>
                        <a:t>Ejes con unidades</a:t>
                      </a:r>
                    </a:p>
                  </a:txBody>
                  <a:tcPr anchor="ctr" marL="146304" marR="146304">
                    <a:solidFill>
                      <a:srgbClr val="FFFFFF"/>
                    </a:solidFill>
                  </a:tcPr>
                </a:tc>
                <a:tc>
                  <a:txBody>
                    <a:bodyPr wrap="square"/>
                    <a:lstStyle/>
                    <a:p>
                      <a:r>
                        <a:rPr sz="1609" b="0">
                          <a:solidFill>
                            <a:srgbClr val="33475B"/>
                          </a:solidFill>
                          <a:latin typeface="Aptos"/>
                        </a:rPr>
                        <a:t>Formato → Eje X / Eje Y → Título</a:t>
                      </a:r>
                    </a:p>
                  </a:txBody>
                  <a:tcPr anchor="ctr" marL="146304" marR="146304">
                    <a:solidFill>
                      <a:srgbClr val="FFFFFF"/>
                    </a:solidFill>
                  </a:tcPr>
                </a:tc>
              </a:tr>
              <a:tr h="729081">
                <a:tc>
                  <a:txBody>
                    <a:bodyPr wrap="square"/>
                    <a:lstStyle/>
                    <a:p>
                      <a:r>
                        <a:rPr sz="1609" b="1">
                          <a:solidFill>
                            <a:srgbClr val="33475B"/>
                          </a:solidFill>
                          <a:latin typeface="Aptos"/>
                        </a:rPr>
                        <a:t>Fuente visible</a:t>
                      </a:r>
                    </a:p>
                  </a:txBody>
                  <a:tcPr anchor="ctr" marL="146304" marR="146304">
                    <a:solidFill>
                      <a:srgbClr val="F4F7FA"/>
                    </a:solidFill>
                  </a:tcPr>
                </a:tc>
                <a:tc>
                  <a:txBody>
                    <a:bodyPr wrap="square"/>
                    <a:lstStyle/>
                    <a:p>
                      <a:r>
                        <a:rPr sz="1609" b="0">
                          <a:solidFill>
                            <a:srgbClr val="33475B"/>
                          </a:solidFill>
                          <a:latin typeface="Aptos"/>
                        </a:rPr>
                        <a:t>Insertar → Cuadro de texto</a:t>
                      </a:r>
                    </a:p>
                  </a:txBody>
                  <a:tcPr anchor="ctr" marL="146304" marR="146304">
                    <a:solidFill>
                      <a:srgbClr val="F4F7FA"/>
                    </a:solidFill>
                  </a:tcPr>
                </a:tc>
              </a:tr>
              <a:tr h="729081">
                <a:tc>
                  <a:txBody>
                    <a:bodyPr wrap="square"/>
                    <a:lstStyle/>
                    <a:p>
                      <a:r>
                        <a:rPr sz="1609" b="1">
                          <a:solidFill>
                            <a:srgbClr val="33475B"/>
                          </a:solidFill>
                          <a:latin typeface="Aptos"/>
                        </a:rPr>
                        <a:t>Sin </a:t>
                      </a:r>
                      <a:r>
                        <a:rPr sz="1609" b="1" i="1">
                          <a:solidFill>
                            <a:srgbClr val="33475B"/>
                          </a:solidFill>
                          <a:latin typeface="Aptos"/>
                        </a:rPr>
                        <a:t>chartjunk</a:t>
                      </a:r>
                    </a:p>
                  </a:txBody>
                  <a:tcPr anchor="ctr" marL="146304" marR="146304">
                    <a:solidFill>
                      <a:srgbClr val="FFFFFF"/>
                    </a:solidFill>
                  </a:tcPr>
                </a:tc>
                <a:tc>
                  <a:txBody>
                    <a:bodyPr wrap="square"/>
                    <a:lstStyle/>
                    <a:p>
                      <a:r>
                        <a:rPr sz="1609" b="0">
                          <a:solidFill>
                            <a:srgbClr val="33475B"/>
                          </a:solidFill>
                          <a:latin typeface="Aptos"/>
                        </a:rPr>
                        <a:t>Formato → quitar fondo, borde y efectos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paso que más se salta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476195"/>
            <a:ext cx="11064240" cy="294802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531059"/>
            <a:ext cx="63500" cy="2838297"/>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76195"/>
            <a:ext cx="10378440" cy="2948025"/>
          </a:xfrm>
          <a:prstGeom prst="rect">
            <a:avLst/>
          </a:prstGeom>
          <a:noFill/>
        </p:spPr>
        <p:txBody>
          <a:bodyPr wrap="square" anchor="ctr" lIns="0" rIns="0" tIns="0" bIns="0">
            <a:spAutoFit/>
          </a:bodyPr>
          <a:lstStyle/>
          <a:p>
            <a:pPr algn="l">
              <a:lnSpc>
                <a:spcPct val="125000"/>
              </a:lnSpc>
            </a:pPr>
            <a:r>
              <a:rPr sz="3174" b="1">
                <a:solidFill>
                  <a:srgbClr val="0E2841"/>
                </a:solidFill>
                <a:latin typeface="Aptos Display"/>
              </a:rPr>
              <a:t>Un eje que empieza en 90 hace que 92 y 98 se vean como si uno triplicara al otro. Si la diferencia importa, señálala con una anotación, </a:t>
            </a:r>
            <a:r>
              <a:rPr sz="3174" b="1">
                <a:solidFill>
                  <a:srgbClr val="0E2841"/>
                </a:solidFill>
                <a:latin typeface="Aptos Display"/>
              </a:rPr>
              <a:t>no deformando el eje</a:t>
            </a:r>
            <a:r>
              <a:rPr sz="3174" b="1">
                <a:solidFill>
                  <a:srgbClr val="0E2841"/>
                </a:solidFill>
                <a:latin typeface="Aptos Display"/>
              </a:rPr>
              <a:t>.</a:t>
            </a:r>
          </a:p>
        </p:txBody>
      </p:sp>
      <p:sp>
        <p:nvSpPr>
          <p:cNvPr id="10" name="TextBox 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11" name="TextBox 1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Título: la diferencia está en el qué y el cuándo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Mal</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"Ventas"</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No dice de qué periodo</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No dice de qué unidad</a:t>
            </a:r>
          </a:p>
        </p:txBody>
      </p:sp>
      <p:sp>
        <p:nvSpPr>
          <p:cNvPr id="16" name="Oval 15"/>
          <p:cNvSpPr/>
          <p:nvPr/>
        </p:nvSpPr>
        <p:spPr>
          <a:xfrm>
            <a:off x="786384" y="49853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Obliga a preguntar</a:t>
            </a:r>
          </a:p>
        </p:txBody>
      </p:sp>
      <p:sp>
        <p:nvSpPr>
          <p:cNvPr id="18" name="Rounded Rectangle 17"/>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Bien</a:t>
            </a:r>
          </a:p>
        </p:txBody>
      </p:sp>
      <p:sp>
        <p:nvSpPr>
          <p:cNvPr id="21" name="Oval 20"/>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"Ventas por región – 2026"</a:t>
            </a:r>
          </a:p>
        </p:txBody>
      </p:sp>
      <p:sp>
        <p:nvSpPr>
          <p:cNvPr id="23" name="Oval 22"/>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Dice qué compara</a:t>
            </a:r>
          </a:p>
        </p:txBody>
      </p:sp>
      <p:sp>
        <p:nvSpPr>
          <p:cNvPr id="25" name="Oval 24"/>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Dice cuándo</a:t>
            </a:r>
          </a:p>
        </p:txBody>
      </p:sp>
      <p:sp>
        <p:nvSpPr>
          <p:cNvPr id="27" name="Oval 26"/>
          <p:cNvSpPr/>
          <p:nvPr/>
        </p:nvSpPr>
        <p:spPr>
          <a:xfrm>
            <a:off x="6483096" y="49853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Se entiende sin el autor al lado</a:t>
            </a:r>
          </a:p>
        </p:txBody>
      </p:sp>
      <p:sp>
        <p:nvSpPr>
          <p:cNvPr id="29" name="TextBox 2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30" name="TextBox 2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Entrenar el ojo crítico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5 · Critica un gráfico real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Busca</a:t>
            </a:r>
          </a:p>
          <a:p>
            <a:pPr algn="l">
              <a:lnSpc>
                <a:spcPct val="120000"/>
              </a:lnSpc>
              <a:spcBef>
                <a:spcPts val="700"/>
              </a:spcBef>
            </a:pPr>
            <a:r>
              <a:rPr sz="1560" b="0">
                <a:solidFill>
                  <a:srgbClr val="33475B"/>
                </a:solidFill>
                <a:latin typeface="Aptos"/>
              </a:rPr>
              <a:t>Un gráfico en prensa, un informe o redes. Guarda captura o enlace</a:t>
            </a:r>
          </a:p>
        </p:txBody>
      </p:sp>
      <p:sp>
        <p:nvSpPr>
          <p:cNvPr id="11" name="Rounded Rectangle 10"/>
          <p:cNvSpPr/>
          <p:nvPr/>
        </p:nvSpPr>
        <p:spPr>
          <a:xfrm>
            <a:off x="3410712"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Evalúa</a:t>
            </a:r>
          </a:p>
          <a:p>
            <a:pPr algn="l">
              <a:lnSpc>
                <a:spcPct val="120000"/>
              </a:lnSpc>
              <a:spcBef>
                <a:spcPts val="700"/>
              </a:spcBef>
            </a:pPr>
            <a:r>
              <a:rPr sz="1560" b="0">
                <a:solidFill>
                  <a:srgbClr val="33475B"/>
                </a:solidFill>
                <a:latin typeface="Aptos"/>
              </a:rPr>
              <a:t>Pásale la lista de verificación, criterio por criterio</a:t>
            </a:r>
          </a:p>
        </p:txBody>
      </p:sp>
      <p:sp>
        <p:nvSpPr>
          <p:cNvPr id="15" name="Rounded Rectangle 14"/>
          <p:cNvSpPr/>
          <p:nvPr/>
        </p:nvSpPr>
        <p:spPr>
          <a:xfrm>
            <a:off x="6254496"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Detecta</a:t>
            </a:r>
          </a:p>
          <a:p>
            <a:pPr algn="l">
              <a:lnSpc>
                <a:spcPct val="120000"/>
              </a:lnSpc>
              <a:spcBef>
                <a:spcPts val="700"/>
              </a:spcBef>
            </a:pPr>
            <a:r>
              <a:rPr sz="1560" b="0">
                <a:solidFill>
                  <a:srgbClr val="33475B"/>
                </a:solidFill>
                <a:latin typeface="Aptos"/>
              </a:rPr>
              <a:t>Al menos una distorsión, y explica su efecto en quien la lee</a:t>
            </a:r>
          </a:p>
        </p:txBody>
      </p:sp>
      <p:sp>
        <p:nvSpPr>
          <p:cNvPr id="19" name="Rounded Rectangle 18"/>
          <p:cNvSpPr/>
          <p:nvPr/>
        </p:nvSpPr>
        <p:spPr>
          <a:xfrm>
            <a:off x="9098280"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Corrige</a:t>
            </a:r>
          </a:p>
          <a:p>
            <a:pPr algn="l">
              <a:lnSpc>
                <a:spcPct val="120000"/>
              </a:lnSpc>
              <a:spcBef>
                <a:spcPts val="700"/>
              </a:spcBef>
            </a:pPr>
            <a:r>
              <a:rPr sz="1560" b="0">
                <a:solidFill>
                  <a:srgbClr val="33475B"/>
                </a:solidFill>
                <a:latin typeface="Aptos"/>
              </a:rPr>
              <a:t>Propón la versión corregida y justifica el cambio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distorsión no es el problema: su efecto sí</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5532120"/>
                <a:gridCol w="5532120"/>
              </a:tblGrid>
              <a:tr h="874897">
                <a:tc>
                  <a:txBody>
                    <a:bodyPr wrap="square"/>
                    <a:lstStyle/>
                    <a:p>
                      <a:r>
                        <a:rPr sz="1725" b="1">
                          <a:solidFill>
                            <a:srgbClr val="FFFFFF"/>
                          </a:solidFill>
                          <a:latin typeface="Aptos"/>
                        </a:rPr>
                        <a:t>Distorsión</a:t>
                      </a:r>
                    </a:p>
                  </a:txBody>
                  <a:tcPr anchor="ctr" marL="146304" marR="146304">
                    <a:solidFill>
                      <a:srgbClr val="156082"/>
                    </a:solidFill>
                  </a:tcPr>
                </a:tc>
                <a:tc>
                  <a:txBody>
                    <a:bodyPr wrap="square"/>
                    <a:lstStyle/>
                    <a:p>
                      <a:r>
                        <a:rPr sz="1725" b="1">
                          <a:solidFill>
                            <a:srgbClr val="FFFFFF"/>
                          </a:solidFill>
                          <a:latin typeface="Aptos"/>
                        </a:rPr>
                        <a:t>Efecto en el lector</a:t>
                      </a:r>
                    </a:p>
                  </a:txBody>
                  <a:tcPr anchor="ctr" marL="146304" marR="146304">
                    <a:solidFill>
                      <a:srgbClr val="156082"/>
                    </a:solidFill>
                  </a:tcPr>
                </a:tc>
              </a:tr>
              <a:tr h="874897">
                <a:tc>
                  <a:txBody>
                    <a:bodyPr wrap="square"/>
                    <a:lstStyle/>
                    <a:p>
                      <a:r>
                        <a:rPr sz="1609" b="1">
                          <a:solidFill>
                            <a:srgbClr val="33475B"/>
                          </a:solidFill>
                          <a:latin typeface="Aptos"/>
                        </a:rPr>
                        <a:t>Eje truncado</a:t>
                      </a:r>
                    </a:p>
                  </a:txBody>
                  <a:tcPr anchor="ctr" marL="146304" marR="146304">
                    <a:solidFill>
                      <a:srgbClr val="FFFFFF"/>
                    </a:solidFill>
                  </a:tcPr>
                </a:tc>
                <a:tc>
                  <a:txBody>
                    <a:bodyPr wrap="square"/>
                    <a:lstStyle/>
                    <a:p>
                      <a:r>
                        <a:rPr sz="1609" b="0">
                          <a:solidFill>
                            <a:srgbClr val="33475B"/>
                          </a:solidFill>
                          <a:latin typeface="Aptos"/>
                        </a:rPr>
                        <a:t>Ve diferencias grandes donde son pequeñas</a:t>
                      </a:r>
                    </a:p>
                  </a:txBody>
                  <a:tcPr anchor="ctr" marL="146304" marR="146304">
                    <a:solidFill>
                      <a:srgbClr val="FFFFFF"/>
                    </a:solidFill>
                  </a:tcPr>
                </a:tc>
              </a:tr>
              <a:tr h="874897">
                <a:tc>
                  <a:txBody>
                    <a:bodyPr wrap="square"/>
                    <a:lstStyle/>
                    <a:p>
                      <a:r>
                        <a:rPr sz="1609" b="1">
                          <a:solidFill>
                            <a:srgbClr val="33475B"/>
                          </a:solidFill>
                          <a:latin typeface="Aptos"/>
                        </a:rPr>
                        <a:t>Gráfico 3D</a:t>
                      </a:r>
                    </a:p>
                  </a:txBody>
                  <a:tcPr anchor="ctr" marL="146304" marR="146304">
                    <a:solidFill>
                      <a:srgbClr val="F4F7FA"/>
                    </a:solidFill>
                  </a:tcPr>
                </a:tc>
                <a:tc>
                  <a:txBody>
                    <a:bodyPr wrap="square"/>
                    <a:lstStyle/>
                    <a:p>
                      <a:r>
                        <a:rPr sz="1609" b="0">
                          <a:solidFill>
                            <a:srgbClr val="33475B"/>
                          </a:solidFill>
                          <a:latin typeface="Aptos"/>
                        </a:rPr>
                        <a:t>No puede leer el valor exacto</a:t>
                      </a:r>
                    </a:p>
                  </a:txBody>
                  <a:tcPr anchor="ctr" marL="146304" marR="146304">
                    <a:solidFill>
                      <a:srgbClr val="F4F7FA"/>
                    </a:solidFill>
                  </a:tcPr>
                </a:tc>
              </a:tr>
              <a:tr h="874897">
                <a:tc>
                  <a:txBody>
                    <a:bodyPr wrap="square"/>
                    <a:lstStyle/>
                    <a:p>
                      <a:r>
                        <a:rPr sz="1609" b="1">
                          <a:solidFill>
                            <a:srgbClr val="33475B"/>
                          </a:solidFill>
                          <a:latin typeface="Aptos"/>
                        </a:rPr>
                        <a:t>Exceso de colores</a:t>
                      </a:r>
                    </a:p>
                  </a:txBody>
                  <a:tcPr anchor="ctr" marL="146304" marR="146304">
                    <a:solidFill>
                      <a:srgbClr val="FFFFFF"/>
                    </a:solidFill>
                  </a:tcPr>
                </a:tc>
                <a:tc>
                  <a:txBody>
                    <a:bodyPr wrap="square"/>
                    <a:lstStyle/>
                    <a:p>
                      <a:r>
                        <a:rPr sz="1609" b="0">
                          <a:solidFill>
                            <a:srgbClr val="33475B"/>
                          </a:solidFill>
                          <a:latin typeface="Aptos"/>
                        </a:rPr>
                        <a:t>Pierde el mensaje principal</a:t>
                      </a:r>
                    </a:p>
                  </a:txBody>
                  <a:tcPr anchor="ctr" marL="146304" marR="146304">
                    <a:solidFill>
                      <a:srgbClr val="FFFFFF"/>
                    </a:solidFill>
                  </a:tcPr>
                </a:tc>
              </a:tr>
              <a:tr h="874897">
                <a:tc>
                  <a:txBody>
                    <a:bodyPr wrap="square"/>
                    <a:lstStyle/>
                    <a:p>
                      <a:r>
                        <a:rPr sz="1609" b="1">
                          <a:solidFill>
                            <a:srgbClr val="33475B"/>
                          </a:solidFill>
                          <a:latin typeface="Aptos"/>
                        </a:rPr>
                        <a:t>Torta con muchas categorías</a:t>
                      </a:r>
                    </a:p>
                  </a:txBody>
                  <a:tcPr anchor="ctr" marL="146304" marR="146304">
                    <a:solidFill>
                      <a:srgbClr val="F4F7FA"/>
                    </a:solidFill>
                  </a:tcPr>
                </a:tc>
                <a:tc>
                  <a:txBody>
                    <a:bodyPr wrap="square"/>
                    <a:lstStyle/>
                    <a:p>
                      <a:r>
                        <a:rPr sz="1609" b="0">
                          <a:solidFill>
                            <a:srgbClr val="33475B"/>
                          </a:solidFill>
                          <a:latin typeface="Aptos"/>
                        </a:rPr>
                        <a:t>No logra comparar magnitudes</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Paso 6 · Guarda y entrega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Guarda el .pbix</a:t>
            </a:r>
          </a:p>
          <a:p>
            <a:pPr algn="l">
              <a:lnSpc>
                <a:spcPct val="120000"/>
              </a:lnSpc>
              <a:spcBef>
                <a:spcPts val="700"/>
              </a:spcBef>
            </a:pPr>
            <a:r>
              <a:rPr sz="1560" b="0">
                <a:solidFill>
                  <a:srgbClr val="33475B"/>
                </a:solidFill>
                <a:latin typeface="Aptos"/>
              </a:rPr>
              <a:t>Archivo → Guardar como. Ese es tu proyecto editable</a:t>
            </a:r>
          </a:p>
        </p:txBody>
      </p:sp>
      <p:sp>
        <p:nvSpPr>
          <p:cNvPr id="11" name="Rounded Rectangle 10"/>
          <p:cNvSpPr/>
          <p:nvPr/>
        </p:nvSpPr>
        <p:spPr>
          <a:xfrm>
            <a:off x="4358640"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59808"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980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4559808"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Exporta la imagen</a:t>
            </a:r>
          </a:p>
          <a:p>
            <a:pPr algn="l">
              <a:lnSpc>
                <a:spcPct val="120000"/>
              </a:lnSpc>
              <a:spcBef>
                <a:spcPts val="700"/>
              </a:spcBef>
            </a:pPr>
            <a:r>
              <a:rPr sz="1560" b="0">
                <a:solidFill>
                  <a:srgbClr val="33475B"/>
                </a:solidFill>
                <a:latin typeface="Aptos"/>
              </a:rPr>
              <a:t>Archivo → Exportar → PDF, o una captura del lienzo</a:t>
            </a:r>
          </a:p>
        </p:txBody>
      </p:sp>
      <p:sp>
        <p:nvSpPr>
          <p:cNvPr id="15" name="Rounded Rectangle 14"/>
          <p:cNvSpPr/>
          <p:nvPr/>
        </p:nvSpPr>
        <p:spPr>
          <a:xfrm>
            <a:off x="8150352" y="2532888"/>
            <a:ext cx="3480816"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51520"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152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8351520" y="3008376"/>
            <a:ext cx="3078480" cy="2176272"/>
          </a:xfrm>
          <a:prstGeom prst="rect">
            <a:avLst/>
          </a:prstGeom>
          <a:noFill/>
        </p:spPr>
        <p:txBody>
          <a:bodyPr wrap="square" anchor="t" lIns="0" rIns="0" tIns="0" bIns="0">
            <a:spAutoFit/>
          </a:bodyPr>
          <a:lstStyle/>
          <a:p>
            <a:pPr algn="l"/>
            <a:r>
              <a:rPr sz="1980" b="1">
                <a:solidFill>
                  <a:srgbClr val="0E2841"/>
                </a:solidFill>
                <a:latin typeface="Aptos Display"/>
              </a:rPr>
              <a:t>Arma una página</a:t>
            </a:r>
          </a:p>
          <a:p>
            <a:pPr algn="l">
              <a:lnSpc>
                <a:spcPct val="120000"/>
              </a:lnSpc>
              <a:spcBef>
                <a:spcPts val="700"/>
              </a:spcBef>
            </a:pPr>
            <a:r>
              <a:rPr sz="1560" b="0">
                <a:solidFill>
                  <a:srgbClr val="33475B"/>
                </a:solidFill>
                <a:latin typeface="Aptos"/>
              </a:rPr>
              <a:t>Original, evaluación, distorsión con su efecto, versión corregida</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Verifiquemos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¿Dónde se ajusta que el eje Y empiece en cero?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199313"/>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199313"/>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1198229"/>
          </a:xfrm>
          <a:prstGeom prst="rect">
            <a:avLst/>
          </a:prstGeom>
          <a:noFill/>
        </p:spPr>
        <p:txBody>
          <a:bodyPr wrap="square" anchor="ctr" lIns="0" rIns="0" tIns="0" bIns="0">
            <a:spAutoFit/>
          </a:bodyPr>
          <a:lstStyle/>
          <a:p>
            <a:pPr algn="l"/>
            <a:r>
              <a:rPr sz="2187" b="0">
                <a:solidFill>
                  <a:srgbClr val="0E2841"/>
                </a:solidFill>
                <a:latin typeface="Aptos"/>
              </a:rPr>
              <a:t>Formato → Eje Y → Rango → Inicio</a:t>
            </a:r>
          </a:p>
        </p:txBody>
      </p:sp>
      <p:sp>
        <p:nvSpPr>
          <p:cNvPr id="11" name="Rounded Rectangle 10"/>
          <p:cNvSpPr/>
          <p:nvPr/>
        </p:nvSpPr>
        <p:spPr>
          <a:xfrm>
            <a:off x="566928" y="3236976"/>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625778"/>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625778"/>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3236976"/>
            <a:ext cx="9966960" cy="1198229"/>
          </a:xfrm>
          <a:prstGeom prst="rect">
            <a:avLst/>
          </a:prstGeom>
          <a:noFill/>
        </p:spPr>
        <p:txBody>
          <a:bodyPr wrap="square" anchor="ctr" lIns="0" rIns="0" tIns="0" bIns="0">
            <a:spAutoFit/>
          </a:bodyPr>
          <a:lstStyle/>
          <a:p>
            <a:pPr algn="l"/>
            <a:r>
              <a:rPr sz="2187" b="0">
                <a:solidFill>
                  <a:srgbClr val="0E2841"/>
                </a:solidFill>
                <a:latin typeface="Aptos"/>
              </a:rPr>
              <a:t>Insertar → Cuadro de texto</a:t>
            </a:r>
          </a:p>
        </p:txBody>
      </p:sp>
      <p:sp>
        <p:nvSpPr>
          <p:cNvPr id="15" name="Rounded Rectangle 14"/>
          <p:cNvSpPr/>
          <p:nvPr/>
        </p:nvSpPr>
        <p:spPr>
          <a:xfrm>
            <a:off x="566928" y="4663440"/>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505224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05224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4663440"/>
            <a:ext cx="9966960" cy="1198229"/>
          </a:xfrm>
          <a:prstGeom prst="rect">
            <a:avLst/>
          </a:prstGeom>
          <a:noFill/>
        </p:spPr>
        <p:txBody>
          <a:bodyPr wrap="square" anchor="ctr" lIns="0" rIns="0" tIns="0" bIns="0">
            <a:spAutoFit/>
          </a:bodyPr>
          <a:lstStyle/>
          <a:p>
            <a:pPr algn="l"/>
            <a:r>
              <a:rPr sz="2187" b="0">
                <a:solidFill>
                  <a:srgbClr val="0E2841"/>
                </a:solidFill>
                <a:latin typeface="Aptos"/>
              </a:rPr>
              <a:t>Modelado → Nueva medida</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2500" b="1">
                <a:solidFill>
                  <a:srgbClr val="0E2841"/>
                </a:solidFill>
                <a:latin typeface="Aptos Display"/>
              </a:rPr>
              <a:t>En la vista previa los encabezados quedaron en la fila equivocada. ¿Qué haces?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199313"/>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199313"/>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1198229"/>
          </a:xfrm>
          <a:prstGeom prst="rect">
            <a:avLst/>
          </a:prstGeom>
          <a:noFill/>
        </p:spPr>
        <p:txBody>
          <a:bodyPr wrap="square" anchor="ctr" lIns="0" rIns="0" tIns="0" bIns="0">
            <a:spAutoFit/>
          </a:bodyPr>
          <a:lstStyle/>
          <a:p>
            <a:pPr algn="l"/>
            <a:r>
              <a:rPr sz="2187" b="0">
                <a:solidFill>
                  <a:srgbClr val="0E2841"/>
                </a:solidFill>
                <a:latin typeface="Aptos"/>
              </a:rPr>
              <a:t>Cargar y arreglarlo después en el lienzo</a:t>
            </a:r>
          </a:p>
        </p:txBody>
      </p:sp>
      <p:sp>
        <p:nvSpPr>
          <p:cNvPr id="11" name="Rounded Rectangle 10"/>
          <p:cNvSpPr/>
          <p:nvPr/>
        </p:nvSpPr>
        <p:spPr>
          <a:xfrm>
            <a:off x="566928" y="3236976"/>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625778"/>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625778"/>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3236976"/>
            <a:ext cx="9966960" cy="1198229"/>
          </a:xfrm>
          <a:prstGeom prst="rect">
            <a:avLst/>
          </a:prstGeom>
          <a:noFill/>
        </p:spPr>
        <p:txBody>
          <a:bodyPr wrap="square" anchor="ctr" lIns="0" rIns="0" tIns="0" bIns="0">
            <a:spAutoFit/>
          </a:bodyPr>
          <a:lstStyle/>
          <a:p>
            <a:pPr algn="l"/>
            <a:r>
              <a:rPr sz="2187" b="0">
                <a:solidFill>
                  <a:srgbClr val="0E2841"/>
                </a:solidFill>
                <a:latin typeface="Aptos"/>
              </a:rPr>
              <a:t>Usar Transformar datos en vez de Cargar</a:t>
            </a:r>
          </a:p>
        </p:txBody>
      </p:sp>
      <p:sp>
        <p:nvSpPr>
          <p:cNvPr id="15" name="Rounded Rectangle 14"/>
          <p:cNvSpPr/>
          <p:nvPr/>
        </p:nvSpPr>
        <p:spPr>
          <a:xfrm>
            <a:off x="566928" y="4663440"/>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505224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05224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4663440"/>
            <a:ext cx="9966960" cy="1198229"/>
          </a:xfrm>
          <a:prstGeom prst="rect">
            <a:avLst/>
          </a:prstGeom>
          <a:noFill/>
        </p:spPr>
        <p:txBody>
          <a:bodyPr wrap="square" anchor="ctr" lIns="0" rIns="0" tIns="0" bIns="0">
            <a:spAutoFit/>
          </a:bodyPr>
          <a:lstStyle/>
          <a:p>
            <a:pPr algn="l"/>
            <a:r>
              <a:rPr sz="2187" b="0">
                <a:solidFill>
                  <a:srgbClr val="0E2841"/>
                </a:solidFill>
                <a:latin typeface="Aptos"/>
              </a:rPr>
              <a:t>Cambiar el tipo de gráfico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hace que la crítica de un gráfico esté completa?</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199313"/>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199313"/>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1198229"/>
          </a:xfrm>
          <a:prstGeom prst="rect">
            <a:avLst/>
          </a:prstGeom>
          <a:noFill/>
        </p:spPr>
        <p:txBody>
          <a:bodyPr wrap="square" anchor="ctr" lIns="0" rIns="0" tIns="0" bIns="0">
            <a:spAutoFit/>
          </a:bodyPr>
          <a:lstStyle/>
          <a:p>
            <a:pPr algn="l"/>
            <a:r>
              <a:rPr sz="2187" b="0">
                <a:solidFill>
                  <a:srgbClr val="0E2841"/>
                </a:solidFill>
                <a:latin typeface="Aptos"/>
              </a:rPr>
              <a:t>Nombrar la distorsión</a:t>
            </a:r>
          </a:p>
        </p:txBody>
      </p:sp>
      <p:sp>
        <p:nvSpPr>
          <p:cNvPr id="11" name="Rounded Rectangle 10"/>
          <p:cNvSpPr/>
          <p:nvPr/>
        </p:nvSpPr>
        <p:spPr>
          <a:xfrm>
            <a:off x="566928" y="3236976"/>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625778"/>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625778"/>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3236976"/>
            <a:ext cx="9966960" cy="1198229"/>
          </a:xfrm>
          <a:prstGeom prst="rect">
            <a:avLst/>
          </a:prstGeom>
          <a:noFill/>
        </p:spPr>
        <p:txBody>
          <a:bodyPr wrap="square" anchor="ctr" lIns="0" rIns="0" tIns="0" bIns="0">
            <a:spAutoFit/>
          </a:bodyPr>
          <a:lstStyle/>
          <a:p>
            <a:pPr algn="l"/>
            <a:r>
              <a:rPr sz="2187" b="0">
                <a:solidFill>
                  <a:srgbClr val="0E2841"/>
                </a:solidFill>
                <a:latin typeface="Aptos"/>
              </a:rPr>
              <a:t>Nombrar la distorsión y explicar su efecto en quien lo lee</a:t>
            </a:r>
          </a:p>
        </p:txBody>
      </p:sp>
      <p:sp>
        <p:nvSpPr>
          <p:cNvPr id="15" name="Rounded Rectangle 14"/>
          <p:cNvSpPr/>
          <p:nvPr/>
        </p:nvSpPr>
        <p:spPr>
          <a:xfrm>
            <a:off x="566928" y="4663440"/>
            <a:ext cx="11064240" cy="119822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505224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505224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4663440"/>
            <a:ext cx="9966960" cy="1198229"/>
          </a:xfrm>
          <a:prstGeom prst="rect">
            <a:avLst/>
          </a:prstGeom>
          <a:noFill/>
        </p:spPr>
        <p:txBody>
          <a:bodyPr wrap="square" anchor="ctr" lIns="0" rIns="0" tIns="0" bIns="0">
            <a:spAutoFit/>
          </a:bodyPr>
          <a:lstStyle/>
          <a:p>
            <a:pPr algn="l"/>
            <a:r>
              <a:rPr sz="2187" b="0">
                <a:solidFill>
                  <a:srgbClr val="0E2841"/>
                </a:solidFill>
                <a:latin typeface="Aptos"/>
              </a:rPr>
              <a:t>Decir que el gráfico es feo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MANUAL PASO A PASO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Antes de cerrar el computador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Power BI instalado y abriendo</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Un archivo cargado con sus campos visibles</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Un gráfico con título, eje desde 0, unidades y fuente</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Un gráfico real criticado y corregido</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El archivo </a:t>
            </a:r>
            <a:r>
              <a:rPr sz="2605" b="1">
                <a:solidFill>
                  <a:srgbClr val="156082"/>
                </a:solidFill>
                <a:latin typeface="Consolas"/>
              </a:rPr>
              <a:t>.pbix</a:t>
            </a:r>
            <a:r>
              <a:rPr sz="2772" b="1">
                <a:solidFill>
                  <a:srgbClr val="0E2841"/>
                </a:solidFill>
                <a:latin typeface="Aptos"/>
              </a:rPr>
              <a:t> guardado</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Visualización de Datos</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16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
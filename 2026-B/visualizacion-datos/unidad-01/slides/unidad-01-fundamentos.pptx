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4"/>
  </p:sldMasterIdLst>
  <p:sldIdLst>
    <p:sldId id="256" r:id="rId7"/>
    <p:sldId id="257" r:id="rId6"/>
    <p:sldId id="258" r:id="rId5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58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tres o cuatro respuestas antes de avanzar. Casi siempre salen gráficos de noticias, encuestas o informes de gestión. Sembrar la idea que sostiene toda la unidad: si un gráfico puede convencerte, también puede engañarte, y la diferencia no está en la herramienta sino en quién lo diseñó.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 los cuatro objetivos de la unidad. Anunciar que la Actividad 1 (15%) evalúa justamente la crítica de un gráfico real, no su construcción.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mismo dato admite muchas imágenes y no todas dicen lo mismo con la misma honestidad. Esa frase es la columna vertebral del curso: elegir la imagen es ya una decisión, no un paso decorativo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analogía funciona porque nadie estudia para leer el tablero del carro. Preguntar qué pasaría si el tablero mostrara 40 indicadores: exactamente el error más común en los dashboards corporativos.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lee como una noticia: titular, cuerpo, letra pequeña. Si quien lo abre no sabe qué mirar primero, el dashboard falló aunque los datos estén perfectos. Volveremos a esta estructura en la Unidad 2 al construir el de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Chartjunk es el término de Tufte para todo el ornamento que no aporta información: sombras, degradados, fondos, 3D. Proponer el test: si borras ese elemento y no se pierde información, sobraba.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cambio cuesta diez segundos y es el que más sube la calidad de una entrega. Advertir que lo vamos a exigir en las cuatro actividades del curso: un título que solo nombra ejes no pasa la rúbrica.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dos dashboards de ejemplo y preguntar qué miraron primero en cada uno. El que dirige la mirada está bien diseñado; el otro los obliga a buscar, y buscar cansa.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error típico es que cada gráfico salga con la paleta por defecto de la herramienta y la región Norte sea azul en uno y naranja en otro. El lector lo paga en carga mental, aunque no sepa nombrar el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Preguntar qué pasa con un daltónico frente a un semáforo rojo-verde: por eso el color nunca debe ser el único canal, siempre acompañado de posición, etiqueta o 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columna derecha es el inventario de lo que más aparece en las entregas. Anunciar que la rúbrica penaliza explícitamente el exceso de color y el 3D decorativo en las cuatro actividades.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Dibujarlo en el tablero con los datos del ejemplo: Región A = 92, Región B = 98. Preguntar quién habría aprobado un presupuesto distinto viendo el primero. Ese es el costo real de la distorsión.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Sobre la torta: el ojo compara longitudes mucho mejor que ángulos y áreas. No está prohibida, pero con más de tres porciones casi siempre una barra comunica mejor.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checklist que van a usar en la Actividad 1. Proponer que lo apliquen esta semana a un gráfico de prensa y lo traigan a la próxima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un gráfico de prensa reciente con eje truncado. Recoger dos o tres respuestas y cerrar con la que no suele aparecer: la distorsión también ocurre por descuido, no solo por mala fe, y eso no la hace menos grave.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Que el lector entienda algo verdadero más rápido. Lo estético está al servicio de la comprensión, no al revés.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Arriba, porque el ojo escanea primero esa zona. El ojo recorre la pantalla de arriba abajo; las métricas clave van donde primero se mira.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Exagera diferencias que en realidad son pequeñas. Es la distorsión más frecuente: dos valores parecidos se ven muy distintos.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Porque dificultan comparar magnitudes con precisión. El ojo compara ángulos y áreas peor que longitudes; para comparar, las barras ganan.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No deformar la percepción, ni siquiera por descuido. La forma en que se muestra el dato cambia lo que la gente entiende y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anunciando la Actividad 1 (15%): analizar un gráfico real con el checklist de las cuatro preguntas y proponer una versión corregida. Recordar que el OVA de la unidad y el manual paso a paso están publicados en el aula, y que el manual es el que los lleva de la mano a construir su primer gráfico honesto.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6517A-6E51-D8FF-5518-33DCF1BB8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5F916A-7D6A-E8AF-439A-8D6840C6F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6680D-0A49-4B54-F51B-03AA27F6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96F560-F0B8-AB29-82CA-A2DDE7D3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50BE2-EBBD-61B9-3E6C-B4C2BA98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876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836D1-D4F9-8F5A-DCDD-25408D7D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51DC57-A21A-5278-EC55-4C245B3FC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2E49EC-4920-0E2F-9C8B-0B674CB0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31254A-3742-246E-D797-82A0482F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15C84-0D5E-FBD8-F4A6-A48214F7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398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BBEC-EF89-8C3C-71B9-577DC266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7EF770-ACB6-2BA3-E667-9EBABFB4A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AD28F8-48D0-258C-AD9D-D166F7F2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8163DA-7927-EC0F-B832-B0D9CEF2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D2D961-09A6-F702-5A58-9A2E9D96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447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AE57A-7BC8-A4F0-8EC3-29FA071B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DB23D6-B010-B5CB-011A-B03D0B3E9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0C2A42-464D-5E30-A614-F5201EA43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7E369D-DA34-3508-5F83-FE255ACE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AF6228-C474-55C2-F2A3-A80C9ECB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2CA109-4F43-98C5-5BA6-85F5B496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90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ADADB-6CDF-BDB1-1300-FAEA2D84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7B4924-BB64-D547-A28B-666362350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7D8AA5-BF4A-D02D-E702-0FBE685A5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BC7471-CDF8-0C0F-6D28-4001FC283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3769A5-222B-5317-4503-6E9D363E2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7FE0D7-3EEC-E3E6-7C86-CF7C18AB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EFF3E5-4BD9-D039-6F0A-0A92B04A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F0DEE6-C861-6117-2772-892873D9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834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1AA1F-2C39-64AF-4C6F-BF1C4453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E135E8-59EC-9B87-4141-B4E0DEA1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565AFD-1683-D460-140D-9F48CBCB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11735-1F41-F218-7243-AC89EA54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15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88DA81-50FE-72AF-6F22-3D317B92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ADFFC1-222F-FA4F-F745-4AECF65C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B47231-DA7E-E86D-0ECA-3CD935CB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12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A5293-4CAF-8D46-B44D-99EAF11F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A782D5-A60C-369C-7F2E-20DC36F50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C7E45F-8F4D-4A4A-AD2B-580AA0500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49A9D3-41A6-5F05-3785-C76553A3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39118E-A5D9-04A8-223B-C952BE30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CCC82-59BC-CBA8-F9A5-1C4603AD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877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C677B-1ABC-81D6-857F-7E1F6785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FFF9DA-1F76-6604-0F69-D17DFFA8A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D3A44-53F9-E2AD-4B37-3C2CD8A25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A3A846-4373-5BFE-DCED-CDECAACA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137096-4AD9-8D1E-B119-EDDF0F3E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ADAE5B-0E78-C71A-B918-853E86CE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484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2BA9E-020E-BCD8-9EA9-9BDFB167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2EE6B7-CD7D-EA57-7B4D-87C2F63C8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BA0735-0CBD-5147-C06C-3B03006C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AF2C5-C162-2021-6EDC-A7164630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D3F66-F4A3-A221-BA4A-2F327442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59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4F149B-9E13-3157-0B62-971D8EB52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87BBD2-5343-3A5D-564E-2D534BC7D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2F397-0E8A-92C8-93C4-9018446E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6F7EEE-EA06-5E8F-8174-D1B755A7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7410F1-59DC-8093-6A75-33AE1285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931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D6B204-4AEE-9E74-8DF2-926D69ED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631246-8F97-5699-6653-D3A77D764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B2563-9278-5DCC-E5B5-CCE80A028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AD3EE7-759B-C8A2-7A15-CC1FFB801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BE85B8-1FF9-DDC6-E068-D7EEA7240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690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520440"/>
            <a:ext cx="11734800" cy="25146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395" y="548640"/>
            <a:ext cx="2503210" cy="228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3429000"/>
            <a:ext cx="11734800" cy="76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 Display"/>
              </a:rPr>
              <a:t>Leer un gráfico sin dejarse engañar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E8E8E8"/>
                </a:solidFill>
                <a:latin typeface="Aptos"/>
              </a:rPr>
              <a:t>Visualización de Datos  ·  Jesús Ariel González Bonilla  ·  2026-B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321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E8E8"/>
                </a:solidFill>
                <a:latin typeface="Aptos"/>
              </a:rPr>
              <a:t>Por qué la visualización importa y cómo leer un gráfico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Por qué esto no es un curso de hacer gráficos bonitos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1 · FUNDAMENTOS DE LA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Empecemos por una pregunta incómoda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704" b="1">
                <a:solidFill>
                  <a:srgbClr val="0E2841"/>
                </a:solidFill>
                <a:latin typeface="Aptos Display"/>
              </a:rPr>
              <a:t>¿Cuándo fue la última vez que un gráfico te hizo cambiar de opinión sobre algo? ¿Y cómo sabes que ese gráfico no te estaba mintiendo?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1 · FUNDAMENTOS DE LA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 que vas a poder hacer al terminar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Explicar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Qué es visualizar datos y qué es un dashboard, y por qué deciden mejor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304288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Identificar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Los elementos que hacen confiable una visualización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2304288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Criticar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Detectar eje truncado, 3D y exceso de color en un gráfico ajeno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99448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Responder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Asumir que la forma en que muestras el dato cambia lo que la gente entiende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1 · FUNDAMENTOS DE LA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Visualizar es traducir, y toda traducción decide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572768"/>
            <a:ext cx="11064240" cy="17830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63500" cy="167335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78440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45" b="1">
                <a:solidFill>
                  <a:srgbClr val="0E2841"/>
                </a:solidFill>
                <a:latin typeface="Aptos Display"/>
              </a:rPr>
              <a:t>Un buen gráfico no busca </a:t>
            </a:r>
            <a:r>
              <a:rPr sz="2545" b="1" i="1">
                <a:solidFill>
                  <a:srgbClr val="0E2841"/>
                </a:solidFill>
                <a:latin typeface="Aptos Display"/>
              </a:rPr>
              <a:t>verse bonito</a:t>
            </a:r>
            <a:r>
              <a:rPr sz="2545" b="1">
                <a:solidFill>
                  <a:srgbClr val="0E2841"/>
                </a:solidFill>
                <a:latin typeface="Aptos Display"/>
              </a:rPr>
              <a:t>: busca que el lector entienda algo </a:t>
            </a:r>
            <a:r>
              <a:rPr sz="2545" b="1">
                <a:solidFill>
                  <a:srgbClr val="0E2841"/>
                </a:solidFill>
                <a:latin typeface="Aptos Display"/>
              </a:rPr>
              <a:t>verdadero más rápido</a:t>
            </a:r>
            <a:r>
              <a:rPr sz="2545" b="1">
                <a:solidFill>
                  <a:srgbClr val="0E2841"/>
                </a:solidFill>
                <a:latin typeface="Aptos Display"/>
              </a:rPr>
              <a:t> que leyendo la tabla.</a:t>
            </a:r>
          </a:p>
        </p:txBody>
      </p:sp>
      <p:sp>
        <p:nvSpPr>
          <p:cNvPr id="10" name="Oval 9"/>
          <p:cNvSpPr/>
          <p:nvPr/>
        </p:nvSpPr>
        <p:spPr>
          <a:xfrm>
            <a:off x="585216" y="3853053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557016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Detectar patrones: picos, caídas, tendencias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" y="4545711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249674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Comunicar a quien no es experto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" y="5238369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942332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Decidir con evidencia, no con intuición</a:t>
            </a:r>
          </a:p>
        </p:txBody>
      </p:sp>
      <p:sp>
        <p:nvSpPr>
          <p:cNvPr id="16" name="Oval 15"/>
          <p:cNvSpPr/>
          <p:nvPr/>
        </p:nvSpPr>
        <p:spPr>
          <a:xfrm>
            <a:off x="585216" y="5931027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634990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Descubrir errores en los propios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Qué es un dashboard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1 · FUNDAMENTOS DE LA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tablero de tu carro ya es un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704" b="1">
                <a:solidFill>
                  <a:srgbClr val="0E2841"/>
                </a:solidFill>
                <a:latin typeface="Aptos Display"/>
              </a:rPr>
              <a:t>Velocidad, gasolina y fallas, todo de un vistazo y sin leer un manual. Un dashboard de datos hace lo mismo con ventas, pacientes o matrículas.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4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1 · FUNDAMENTOS DE LA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Un dashboard responde una pregunta, no muestra todo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11064240" cy="1143707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31212"/>
            <a:ext cx="63500" cy="997403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58060"/>
            <a:ext cx="11064240" cy="11437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62" b="1">
                <a:solidFill>
                  <a:srgbClr val="0E2841"/>
                </a:solidFill>
                <a:latin typeface="Aptos Display"/>
              </a:rPr>
              <a:t>KPI arriba  ·  los tres números que importan, lo primero que ve el ojo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" y="3252825"/>
            <a:ext cx="10058400" cy="1143707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9848" y="3325977"/>
            <a:ext cx="63500" cy="997403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252825"/>
            <a:ext cx="10058400" cy="11437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62" b="1">
                <a:solidFill>
                  <a:srgbClr val="0E2841"/>
                </a:solidFill>
                <a:latin typeface="Aptos Display"/>
              </a:rPr>
              <a:t>Tendencia y comparación  ·  el cuerpo del análisis, de lo general a lo particular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72768" y="4647590"/>
            <a:ext cx="9052560" cy="1143707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72768" y="4720742"/>
            <a:ext cx="63500" cy="997403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72768" y="4647590"/>
            <a:ext cx="9052560" cy="11437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62" b="1">
                <a:solidFill>
                  <a:srgbClr val="0E2841"/>
                </a:solidFill>
                <a:latin typeface="Aptos Display"/>
              </a:rPr>
              <a:t>Detalle filtrable  ·  la tabla, para quien quiera profundizar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5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Lo que hace confiable un gráfico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1 · FUNDAMENTOS DE LA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Cinco piezas que no pueden faltar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85216" y="2188158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0511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Título claro que dice qué muestra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3044037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666390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Ejes etiquetados, con sus unidades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3899915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522268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Escalas proporcionales, sin trucos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" y="4755794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378147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Fuente de los datos visible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" y="561167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234025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Diseño limpio, sin </a:t>
            </a:r>
            <a:r>
              <a:rPr sz="2772" b="1" i="1">
                <a:solidFill>
                  <a:srgbClr val="0E2841"/>
                </a:solidFill>
                <a:latin typeface="Aptos"/>
              </a:rPr>
              <a:t>chartjunk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6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1 · FUNDAMENTOS DE LA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título honesto dice el hallazgo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Título que describe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"Ventas por región"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Obliga al lector a sacar la conclusión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Sirve para un catálogo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263640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Título que afirma</a:t>
            </a:r>
          </a:p>
        </p:txBody>
      </p:sp>
      <p:sp>
        <p:nvSpPr>
          <p:cNvPr id="19" name="Oval 18"/>
          <p:cNvSpPr/>
          <p:nvPr/>
        </p:nvSpPr>
        <p:spPr>
          <a:xfrm>
            <a:off x="6483096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"El Norte cayó 18 % en el último trimestre"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Dice qué encontró el analista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Sirve para decidir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7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Diseñar es dirigir la mirada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1 · FUNDAMENTOS DE LA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ojo escanea arriba y al centro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704" b="1">
                <a:solidFill>
                  <a:srgbClr val="0E2841"/>
                </a:solidFill>
                <a:latin typeface="Aptos Display"/>
              </a:rPr>
              <a:t>La jerarquía visual no es estética: es la ruta por la que el lector recorre la pantalla. Lo importante arriba, el detalle abajo.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8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1 · FUNDAMENTOS DE LA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mismo color para la misma variable, siempre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85216" y="2473451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0511"/>
            <a:ext cx="10698480" cy="1426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35" b="1">
                <a:solidFill>
                  <a:srgbClr val="0E2841"/>
                </a:solidFill>
                <a:latin typeface="Aptos"/>
              </a:rPr>
              <a:t>Un color por significado, no por gráfico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3899916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236976"/>
            <a:ext cx="10698480" cy="1426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35" b="1">
                <a:solidFill>
                  <a:srgbClr val="0E2841"/>
                </a:solidFill>
                <a:latin typeface="Aptos"/>
              </a:rPr>
              <a:t>Máximo 3 tipos de letra en todo el tablero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532638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663440"/>
            <a:ext cx="10698480" cy="1426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35" b="1">
                <a:solidFill>
                  <a:srgbClr val="0E2841"/>
                </a:solidFill>
                <a:latin typeface="Aptos"/>
              </a:rPr>
              <a:t>Elementos alineados a una rejilla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9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1 · FUNDAMENTOS DE LA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color es un código, no decoración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Rojo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Alertas, caídas, lo que exige atención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304288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Verde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Crecimiento, cumplimiento de meta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2304288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Azul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Dato neutro, el valor de referencia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99448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Gris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contexto que no debe competir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10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1 · FUNDAMENTOS DE LA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Buenas prácticas y antipatrones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874897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Principio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Qué hacer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Qué evitar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Jerarquía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Lo importante arriba o al centro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Mezclar datos sin orden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De 2 a 4 colores con significado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Muchos colores sin sentido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Tipografía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Letras simples y legibles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Letras pequeñas o decorativas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Títulos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Decir qué muestra y de cuándo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No poner título o abreviar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11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Cuando el gráfico miente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1 · FUNDAMENTOS DE LA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truco más común: cortar el eje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Eje de 90 a 100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B parece triplicar a A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La diferencia real es de 6 puntos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Exagera lo pequeño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263640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Eje de 0 a 100</a:t>
            </a:r>
          </a:p>
        </p:txBody>
      </p:sp>
      <p:sp>
        <p:nvSpPr>
          <p:cNvPr id="19" name="Oval 18"/>
          <p:cNvSpPr/>
          <p:nvPr/>
        </p:nvSpPr>
        <p:spPr>
          <a:xfrm>
            <a:off x="6483096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A y B se ven casi iguales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La misma diferencia de 6 puntos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Muestra la proporción 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12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1 · FUNDAMENTOS DE LA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Las cuatro distorsiones que más vas a 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874897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Error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Consecuencia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Eje truncado, no empieza en 0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Infla diferencias pequeñas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Gráficos 3D innecesarios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Impiden leer el valor exacto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Exceso de colores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Desvía del mensaje principal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Torta con muchas porciones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No permite comparar con precisión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13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1 · FUNDAMENTOS DE LA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Las cuatro preguntas frente a cualquier gráfico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¿Tiene título y fuente?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Sin fuente, no hay forma de verificar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¿El eje empieza en cero?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Si no, mira cuánto es la diferencia real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¿La escala es proporcional?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área debe crecer como el dato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9448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¿El tipo permite esa comparación?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Torta para comparar es mala elección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14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1 · FUNDAMENTOS DE LA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Ahora júzgalo tú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704" b="1">
                <a:solidFill>
                  <a:srgbClr val="0E2841"/>
                </a:solidFill>
                <a:latin typeface="Aptos Display"/>
              </a:rPr>
              <a:t>Toma el gráfico que voy a proyectar. En parejas, cinco minutos: ¿qué dice?, ¿qué esconde?, ¿qué cambiarías?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15 /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Verifiquemos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¿Cuál es el propósito central de una visualización de datos?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Que el gráfico se vea decorado y llame la atención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Que el lector entienda algo verdadero más rápido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Reemplazar por completo el análisis numérico del informe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16 / 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Según la jerarquía visual, ¿dónde van los KPIs?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En la esquina inferior derecha, junto a los filtros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Arriba, porque el ojo escanea primero esa zona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Repartidos al azar, para generar interés visual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17 / 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Un eje Y que empieza en 90 en lugar de 0, ¿qué provoca?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Exagera diferencias que en realidad son pequeñas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Hace la comparación más honesta y más legible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No afecta la lectura mientras el título sea claro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18 / 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¿Por qué se critica el uso de gráficos de torta?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Porque están prohibidos en los informes académicos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Porque dificultan comparar magnitudes con precisión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Porque no admiten títulos, leyendas ni etiquetas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19 / 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¿Qué significa asumir la responsabilidad ética al visualizar?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Usar el eje truncado para resaltar mejor el mensaje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No deformar la percepción, ni siquiera por descuido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Omitir la fuente de los datos para no saturar el gráfico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20 / 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1 · FUNDAMENTOS DE LA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 que nos llevamos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Visualizar es traducir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y toda traducción decide qué se entiende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9808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980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808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Diseñar es dirigir la mirada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jerarquía, color con significado, título que afirma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0352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1520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152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520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Leer es auditar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cuatro preguntas antes de creerle a un gráfico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21 / 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780" y="914400"/>
            <a:ext cx="1902439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8E8E8"/>
                </a:solidFill>
                <a:latin typeface="Aptos"/>
              </a:rPr>
              <a:t>Jesús Ariel González Bonilla  ·  ariel5253@hotmail.com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7b9d0d2-0928-4bc7-b1e7-d815d07dd502" xsi:nil="true"/>
    <lcf76f155ced4ddcb4097134ff3c332f xmlns="3b21ab7c-7e7a-493b-a43f-a219844d5b0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6AC4B3079F3F14986B23BC4E8B1044F" ma:contentTypeVersion="16" ma:contentTypeDescription="Crear nuevo documento." ma:contentTypeScope="" ma:versionID="04f898694b3caf94c38805e82f5c0fb9">
  <xsd:schema xmlns:xsd="http://www.w3.org/2001/XMLSchema" xmlns:xs="http://www.w3.org/2001/XMLSchema" xmlns:p="http://schemas.microsoft.com/office/2006/metadata/properties" xmlns:ns2="3b21ab7c-7e7a-493b-a43f-a219844d5b04" xmlns:ns3="c7b9d0d2-0928-4bc7-b1e7-d815d07dd502" targetNamespace="http://schemas.microsoft.com/office/2006/metadata/properties" ma:root="true" ma:fieldsID="1d46ddd55854086af038f8f8e7145c9b" ns2:_="" ns3:_="">
    <xsd:import namespace="3b21ab7c-7e7a-493b-a43f-a219844d5b04"/>
    <xsd:import namespace="c7b9d0d2-0928-4bc7-b1e7-d815d07dd5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21ab7c-7e7a-493b-a43f-a219844d5b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c63f703e-4260-42db-90e1-1bf1f8b4f7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b9d0d2-0928-4bc7-b1e7-d815d07dd5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2966853-71d8-4c3c-a2a1-eb1a25e46692}" ma:internalName="TaxCatchAll" ma:showField="CatchAllData" ma:web="c7b9d0d2-0928-4bc7-b1e7-d815d07dd5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55C560-F379-4979-BDAB-85ADD41BF196}">
  <ds:schemaRefs>
    <ds:schemaRef ds:uri="http://schemas.microsoft.com/office/2006/metadata/properties"/>
    <ds:schemaRef ds:uri="http://schemas.microsoft.com/office/infopath/2007/PartnerControls"/>
    <ds:schemaRef ds:uri="c7b9d0d2-0928-4bc7-b1e7-d815d07dd502"/>
    <ds:schemaRef ds:uri="3b21ab7c-7e7a-493b-a43f-a219844d5b04"/>
  </ds:schemaRefs>
</ds:datastoreItem>
</file>

<file path=customXml/itemProps2.xml><?xml version="1.0" encoding="utf-8"?>
<ds:datastoreItem xmlns:ds="http://schemas.openxmlformats.org/officeDocument/2006/customXml" ds:itemID="{5203D28F-282C-474C-8EAC-7F31992D29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F9C096-F130-4ECE-8018-26CD4E103B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21ab7c-7e7a-493b-a43f-a219844d5b04"/>
    <ds:schemaRef ds:uri="c7b9d0d2-0928-4bc7-b1e7-d815d07dd5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acomunicaciones</dc:creator>
  <cp:lastModifiedBy>Oficina de Comunicaciones</cp:lastModifiedBy>
  <cp:revision>6</cp:revision>
  <dcterms:created xsi:type="dcterms:W3CDTF">2026-01-26T14:49:45Z</dcterms:created>
  <dcterms:modified xsi:type="dcterms:W3CDTF">2026-02-13T20:05:23Z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0x01010076AC4B3079F3F14986B23BC4E8B1044F</vt:lpwstr>
  </property>
</Properties>
</file>
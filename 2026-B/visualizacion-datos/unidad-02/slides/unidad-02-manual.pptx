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</p:sldMasterIdLst>
  <p:sldIdLst>
    <p:sldId id="256" r:id="rId7"/>
    <p:sldId id="257" r:id="rId6"/>
    <p:sldId id="258" r:id="rId5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94658"/>
  </p:normalViewPr>
  <p:slideViewPr>
    <p:cSldViewPr snapToGrid="0">
      <p:cViewPr varScale="1">
        <p:scale>
          <a:sx n="106" d="100"/>
          <a:sy n="106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Proyectar esto y dejarlo como referencia toda la sesión. Es también la estructura que exige la actividad A2 (25%), que cierra el domingo 13 de septiembre.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Volver a este slide cada vez que se termine un bloque, para que ubiquen dónde están. Nadie se pierde si sabe en qué paso 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Hacerlo mal a propósito primero: darle a Cargar y mostrar las columnas vacías y las fechas como texto. Después deshacer y hacerlo bien. El contraste es lo que se les queda.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 haciéndolo mientras lo leen. Detenerse en los tipos: mostrar el ícono a la izquierda del nombre de columna y cambiar uno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frase de la sesión. Preguntar cuánto tiempo al mes gastan repitiendo la misma limpieza en Excel. Ese es exactamente el tiempo que este panel devuelve.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Advertir de una vez lo de ordenar Mes por NumMes, o los meses saldrán en orden alfabético. Es la pregunta que llega siempre por WhatsApp esa misma noche.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Ir a la vista Modelo y arrastrar el campo en vivo. Mostrar el cuadro de cardinalidad y dirección. Si no deja crear la relación, casi siempre es que los tipos de dato no coinciden: se vuelve a Power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Escribirlas una por una y arrastrar la primera a una tarjeta enseguida, para que vean el resultado antes de escribir la segunda. Leer CALCULATE como una frase: suma esto, pero solo donde el año sea el 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 la regla práctica que resuelve el 90% de las dudas. Ejemplo de columna: la categoría de un producto. Ejemplo de medida: el total de ventas de esa categoría.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posición no es estética: el ojo escanea primero arriba. Y el título de la tarjeta debe decir qué mide y de cuándo, no "Suma de Monto".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prueba del tercer paso es diagnóstica: si las tarjetas no cambian al filtrar, la relación del paso 4 está mal. Es la forma más rápida de verificar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Vista → Tema fija la paleta de una vez. Recordar que la rúbrica de A2 penaliza explícitamente el exceso de color y el 3D decorativo.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Proyectar esta lista mientras trabajan los últimos minutos. Que cada uno se autoevalúe antes de subir.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A2 · Dashboard Completo, 25%. Abierta desde el martes 8 de septiembre, cierra el domingo 13 a las 23:59. La guía de creación de dashboards y los contenidos temáticos están en la Unidad 2 del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Transformar datos, para limpiar en Power Query antes de cargar. Transformar datos abre Power Query, donde la limpieza queda como pasos repetibles.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Las columnas de fecha tienen tipos de dato distintos. Power BI exige tipos compatibles; se corrige en Power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Ordenar la columna Mes por la columna NumMes. Sin "Ordenar por columna", Power BI ordena alfabéticamente el nombre del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Respuesta correcta: Porque el ojo escanea primero arriba: es jerarquía visual. La jerarquía visual pone lo más importante donde primero se mira.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Leerlos rápido al final. Anunciar que estos seis son los que se revisan primero al calificar A2.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6517A-6E51-D8FF-5518-33DCF1BB8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5F916A-7D6A-E8AF-439A-8D6840C6F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46680D-0A49-4B54-F51B-03AA27F6B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96F560-F0B8-AB29-82CA-A2DDE7D3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D50BE2-EBBD-61B9-3E6C-B4C2BA9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876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836D1-D4F9-8F5A-DCDD-25408D7D3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51DC57-A21A-5278-EC55-4C245B3F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2E49EC-4920-0E2F-9C8B-0B674CB07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31254A-3742-246E-D797-82A0482FE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15C84-0D5E-FBD8-F4A6-A48214F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3980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BBEC-EF89-8C3C-71B9-577DC266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7EF770-ACB6-2BA3-E667-9EBABFB4A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AD28F8-48D0-258C-AD9D-D166F7F2D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163DA-7927-EC0F-B832-B0D9CEF24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D2D961-09A6-F702-5A58-9A2E9D96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1447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AE57A-7BC8-A4F0-8EC3-29FA071B4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DB23D6-B010-B5CB-011A-B03D0B3E9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0C2A42-464D-5E30-A614-F5201EA43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B7E369D-DA34-3508-5F83-FE255ACE6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AF6228-C474-55C2-F2A3-A80C9ECB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2CA109-4F43-98C5-5BA6-85F5B496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908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ADADB-6CDF-BDB1-1300-FAEA2D84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7B4924-BB64-D547-A28B-666362350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7D8AA5-BF4A-D02D-E702-0FBE685A5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BC7471-CDF8-0C0F-6D28-4001FC283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33769A5-222B-5317-4503-6E9D363E2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7FE0D7-3EEC-E3E6-7C86-CF7C18AB6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8EFF3E5-4BD9-D039-6F0A-0A92B04A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F0DEE6-C861-6117-2772-892873D92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834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91AA1F-2C39-64AF-4C6F-BF1C44530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E135E8-59EC-9B87-4141-B4E0DEA1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565AFD-1683-D460-140D-9F48CBCB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711735-1F41-F218-7243-AC89EA54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115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88DA81-50FE-72AF-6F22-3D317B92F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ADFFC1-222F-FA4F-F745-4AECF65CE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B47231-DA7E-E86D-0ECA-3CD935CB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9125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6A5293-4CAF-8D46-B44D-99EAF11FD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A782D5-A60C-369C-7F2E-20DC36F50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C7E45F-8F4D-4A4A-AD2B-580AA0500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49A9D3-41A6-5F05-3785-C76553A3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39118E-A5D9-04A8-223B-C952BE30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FCCC82-59BC-CBA8-F9A5-1C4603AD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877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0C677B-1ABC-81D6-857F-7E1F6785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FFF9DA-1F76-6604-0F69-D17DFFA8A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FD3A44-53F9-E2AD-4B37-3C2CD8A25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A3A846-4373-5BFE-DCED-CDECAACAA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137096-4AD9-8D1E-B119-EDDF0F3E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ADAE5B-0E78-C71A-B918-853E86CE0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64844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2BA9E-020E-BCD8-9EA9-9BDFB167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D2EE6B7-CD7D-EA57-7B4D-87C2F63C8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BA0735-0CBD-5147-C06C-3B03006C1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AF2C5-C162-2021-6EDC-A7164630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AD3F66-F4A3-A221-BA4A-2F327442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61594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4F149B-9E13-3157-0B62-971D8EB52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87BBD2-5343-3A5D-564E-2D534BC7D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2F397-0E8A-92C8-93C4-9018446E3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6F7EEE-EA06-5E8F-8174-D1B755A7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7410F1-59DC-8093-6A75-33AE1285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3931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D6B204-4AEE-9E74-8DF2-926D69EDA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631246-8F97-5699-6653-D3A77D76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B2563-9278-5DCC-E5B5-CCE80A028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0EEB8-BE6E-8941-AA31-476C523FF41C}" type="datetimeFigureOut">
              <a:rPr lang="es-CO" smtClean="0"/>
              <a:t>13/02/2026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AD3EE7-759B-C8A2-7A15-CC1FFB801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9BE85B8-1FF9-DDC6-E068-D7EEA7240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8E7FD-F6A8-D246-986A-AA7D283E600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690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520440"/>
            <a:ext cx="11734800" cy="25146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4395" y="548640"/>
            <a:ext cx="2503210" cy="2286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3429000"/>
            <a:ext cx="11734800" cy="762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ptos Display"/>
              </a:rPr>
              <a:t>Construye tu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E8E8E8"/>
                </a:solidFill>
                <a:latin typeface="Aptos"/>
              </a:rPr>
              <a:t>Visualización de Datos  ·  Jesús Ariel González Bonilla  ·  2026-B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321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8E8E8"/>
                </a:solidFill>
                <a:latin typeface="Aptos"/>
              </a:rPr>
              <a:t>Construye tu dashboard en Power BI, clic a clic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Lo que vamos a armar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Una pantalla, cuatro piezas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58060"/>
            <a:ext cx="1106424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931212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58060"/>
            <a:ext cx="1106424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Tarjetas de KPI  ·  tres números arriba, lo primero que se 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2904134"/>
            <a:ext cx="1005840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69848" y="2977286"/>
            <a:ext cx="63500" cy="711476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2904134"/>
            <a:ext cx="1005840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Gráfico de barras  ·  la comparación principal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72768" y="3950208"/>
            <a:ext cx="905256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72768" y="4023360"/>
            <a:ext cx="63500" cy="711476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72768" y="3950208"/>
            <a:ext cx="905256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Segmentador  ·  el filtro, siempre a la vista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4996281"/>
            <a:ext cx="8046720" cy="85778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75688" y="5069433"/>
            <a:ext cx="63500" cy="71147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75688" y="4996281"/>
            <a:ext cx="8046720" cy="857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58" b="1">
                <a:solidFill>
                  <a:srgbClr val="0E2841"/>
                </a:solidFill>
                <a:latin typeface="Aptos Display"/>
              </a:rPr>
              <a:t>Tabla de detalle  ·  para quien quiera profundizar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El camino de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1905609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1613001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Obtener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paso 1</a:t>
            </a:r>
          </a:p>
        </p:txBody>
      </p:sp>
      <p:sp>
        <p:nvSpPr>
          <p:cNvPr id="10" name="Chevron 9"/>
          <p:cNvSpPr/>
          <p:nvPr/>
        </p:nvSpPr>
        <p:spPr>
          <a:xfrm>
            <a:off x="2563977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6585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6585" y="2624328"/>
            <a:ext cx="1905609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2889" y="3313785"/>
            <a:ext cx="1613001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Limpiar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pasos 2</a:t>
            </a:r>
          </a:p>
        </p:txBody>
      </p:sp>
      <p:sp>
        <p:nvSpPr>
          <p:cNvPr id="14" name="Chevron 13"/>
          <p:cNvSpPr/>
          <p:nvPr/>
        </p:nvSpPr>
        <p:spPr>
          <a:xfrm>
            <a:off x="4853634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46242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6242" y="2624328"/>
            <a:ext cx="1905609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2546" y="3313785"/>
            <a:ext cx="1613001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Modelar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pasos 3 y 4</a:t>
            </a:r>
          </a:p>
        </p:txBody>
      </p:sp>
      <p:sp>
        <p:nvSpPr>
          <p:cNvPr id="18" name="Chevron 17"/>
          <p:cNvSpPr/>
          <p:nvPr/>
        </p:nvSpPr>
        <p:spPr>
          <a:xfrm>
            <a:off x="7143291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35899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35899" y="2624328"/>
            <a:ext cx="1905609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2203" y="3313785"/>
            <a:ext cx="1613001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Medir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paso 5</a:t>
            </a:r>
          </a:p>
        </p:txBody>
      </p:sp>
      <p:sp>
        <p:nvSpPr>
          <p:cNvPr id="22" name="Chevron 21"/>
          <p:cNvSpPr/>
          <p:nvPr/>
        </p:nvSpPr>
        <p:spPr>
          <a:xfrm>
            <a:off x="9432948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25556" y="2624328"/>
            <a:ext cx="1905609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25556" y="2624328"/>
            <a:ext cx="1905609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1860" y="3313785"/>
            <a:ext cx="1613001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Diseñar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pasos 6 a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2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Obtener y limpiar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1 · Obtener sin cargar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Obtener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Inicio → Obtener datos → Texto/CSV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Elige el archivo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sales_data_raw.csv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Transformar datos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NO le des a Cargar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3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2 · Limpiar en Power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1683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Primera fila como encabezado, si hace falta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283006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23744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Revisar el </a:t>
            </a:r>
            <a:r>
              <a:rPr sz="2520" b="1">
                <a:solidFill>
                  <a:srgbClr val="0E2841"/>
                </a:solidFill>
                <a:latin typeface="Aptos"/>
              </a:rPr>
              <a:t>tipo</a:t>
            </a:r>
            <a:r>
              <a:rPr sz="2520" b="1">
                <a:solidFill>
                  <a:srgbClr val="0E2841"/>
                </a:solidFill>
                <a:latin typeface="Aptos"/>
              </a:rPr>
              <a:t> de cada columna: fecha y monto son los que más fallan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54330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236976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Quitar columnas vacías o que no se van a usar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25653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8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Quitar duplicados por la columna de identificador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496976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663440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Reemplazar valores: "Norte" y "norte" son la misma región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568299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376672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Inicio → </a:t>
            </a:r>
            <a:r>
              <a:rPr sz="2520" b="1">
                <a:solidFill>
                  <a:srgbClr val="0E2841"/>
                </a:solidFill>
                <a:latin typeface="Aptos"/>
              </a:rPr>
              <a:t>Cerrar y aplicar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4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La idea que hay que llevarse de Power Query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174" b="1">
                <a:solidFill>
                  <a:srgbClr val="0E2841"/>
                </a:solidFill>
                <a:latin typeface="Aptos Display"/>
              </a:rPr>
              <a:t>Cada cambio queda como un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paso aplicado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: se puede editar, reordenar o borrar, y se vuelve a ejecutar solo cuando llegue el archivo del mes entrante. No estás limpiando celdas, estás 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definiendo un proceso</a:t>
            </a:r>
            <a:r>
              <a:rPr sz="3174" b="1">
                <a:solidFill>
                  <a:srgbClr val="0E2841"/>
                </a:solidFill>
                <a:latin typeface="Aptos Display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5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Modelar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3 · La tabla de calendario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709928"/>
            <a:ext cx="11064240" cy="1909267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929384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92807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MODELADO → NUEVA TABLA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276856"/>
            <a:ext cx="10515600" cy="1177747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Calendario =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CALENDAR ( MIN ( Ventas[Fecha] ), MAX ( Ventas[Fecha] )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820363"/>
            <a:ext cx="11064240" cy="2370124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4039819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4003243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COLUMNAS DE APOYO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387291"/>
            <a:ext cx="10515600" cy="1638604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Año    = YEAR ( Calendario[Date] )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Mes    = FORMAT ( Calendario[Date], "MMM" )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NumMes = MONTH ( Calendario[Date]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6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4 · Relacionar las tablas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624328"/>
            <a:ext cx="34320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3432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313785"/>
            <a:ext cx="3139440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Calendario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la dimensión, campo Date</a:t>
            </a:r>
          </a:p>
        </p:txBody>
      </p:sp>
      <p:sp>
        <p:nvSpPr>
          <p:cNvPr id="10" name="Chevron 9"/>
          <p:cNvSpPr/>
          <p:nvPr/>
        </p:nvSpPr>
        <p:spPr>
          <a:xfrm>
            <a:off x="4090416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3024" y="2624328"/>
            <a:ext cx="34320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3024" y="2624328"/>
            <a:ext cx="3432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9328" y="3313785"/>
            <a:ext cx="3139440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Relación 1 a varios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dirección única</a:t>
            </a:r>
          </a:p>
        </p:txBody>
      </p:sp>
      <p:sp>
        <p:nvSpPr>
          <p:cNvPr id="14" name="Chevron 13"/>
          <p:cNvSpPr/>
          <p:nvPr/>
        </p:nvSpPr>
        <p:spPr>
          <a:xfrm>
            <a:off x="7906512" y="3472891"/>
            <a:ext cx="201168" cy="954633"/>
          </a:xfrm>
          <a:prstGeom prst="chevron">
            <a:avLst/>
          </a:prstGeom>
          <a:solidFill>
            <a:srgbClr val="D9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9120" y="2624328"/>
            <a:ext cx="3432048" cy="2651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99120" y="2624328"/>
            <a:ext cx="3432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5424" y="3313785"/>
            <a:ext cx="3139440" cy="1803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59" b="1">
                <a:solidFill>
                  <a:srgbClr val="0E2841"/>
                </a:solidFill>
                <a:latin typeface="Aptos Display"/>
              </a:rPr>
              <a:t>Ventas</a:t>
            </a:r>
          </a:p>
          <a:p>
            <a:pPr algn="ctr">
              <a:lnSpc>
                <a:spcPct val="120000"/>
              </a:lnSpc>
              <a:spcBef>
                <a:spcPts val="700"/>
              </a:spcBef>
            </a:pPr>
            <a:r>
              <a:rPr sz="1439" b="0">
                <a:solidFill>
                  <a:srgbClr val="7A8B9E"/>
                </a:solidFill>
                <a:latin typeface="Aptos"/>
              </a:rPr>
              <a:t>los hechos, campo Fecha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7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Medir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5 · Las tres medidas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762963"/>
            <a:ext cx="11064240" cy="4374489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>
            <a:noFill/>
          </a:ln>
          <a:effectLst>
            <a:outerShdw blurRad="203200" dist="50800" dir="5400000" rotWithShape="0">
              <a:srgbClr val="0E2841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982419"/>
            <a:ext cx="38100" cy="18288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945843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2" b="1">
                <a:solidFill>
                  <a:srgbClr val="E97132"/>
                </a:solidFill>
                <a:latin typeface="Aptos"/>
              </a:rPr>
              <a:t>MODELADO → NUEVA MEDIDA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329891"/>
            <a:ext cx="10515600" cy="3642969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Total Ventas    = SUM ( Ventas[Monto] )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Ticket Promedio = AVERAGE ( Ventas[Monto] )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Ventas Año Actual =</a:t>
            </a:r>
          </a:p>
          <a:p>
            <a:pPr>
              <a:lnSpc>
                <a:spcPct val="125000"/>
              </a:lnSpc>
            </a:pPr>
            <a:r>
              <a:rPr sz="1667">
                <a:solidFill>
                  <a:srgbClr val="E8E8E8"/>
                </a:solidFill>
                <a:latin typeface="Consolas"/>
              </a:rPr>
              <a:t>CALCULATE ( SUM ( Ventas[Monto] ), Calendario[Año] = YEAR ( TODAY () )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8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Medida o columna calculada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476195"/>
            <a:ext cx="11064240" cy="2948025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531059"/>
            <a:ext cx="63500" cy="2838297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76195"/>
            <a:ext cx="10378440" cy="29480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704" b="1">
                <a:solidFill>
                  <a:srgbClr val="0E2841"/>
                </a:solidFill>
                <a:latin typeface="Aptos Display"/>
              </a:rPr>
              <a:t>Si el número 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cambia según lo que el usuario filtre</a:t>
            </a:r>
            <a:r>
              <a:rPr sz="3704" b="1">
                <a:solidFill>
                  <a:srgbClr val="0E2841"/>
                </a:solidFill>
                <a:latin typeface="Aptos Display"/>
              </a:rPr>
              <a:t>, es una medida. Si es un atributo fijo de la fila, es una columna calculada.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9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Diseñar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6 · Las tarjetas de KPI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Inserta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Ícono de Tarjeta en Visualizaciones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11880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Arrastra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Una medida al pozo Campos, una tarjeta por KPI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5664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Ubica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Las tres en fila, en la parte superior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2532888"/>
            <a:ext cx="2532888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99448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944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08376"/>
            <a:ext cx="2130552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Formatea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Ajusta unidades para que no salga 1234567,89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10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Pasos 7 y 8 · Comparación y filtro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368296"/>
            <a:ext cx="475488" cy="47548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Gráfico de barras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Categoría al Eje X, Total Ventas al Eje Y, rango desde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640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9808" y="2368296"/>
            <a:ext cx="475488" cy="475488"/>
          </a:xfrm>
          <a:prstGeom prst="ellipse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9808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9808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Segmentador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Arrastra Año o Región, elige el estilo, déjalo siempre a la vista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0352" y="2532888"/>
            <a:ext cx="3480816" cy="2834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1520" y="2368296"/>
            <a:ext cx="475488" cy="47548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1520" y="236829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1520" y="3008376"/>
            <a:ext cx="3078480" cy="2176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80" b="1">
                <a:solidFill>
                  <a:srgbClr val="0E2841"/>
                </a:solidFill>
                <a:latin typeface="Aptos Display"/>
              </a:rPr>
              <a:t>Prueba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Haz clic en un año y comprueba que TODO reacciona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11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Paso 9 · Que se lea de un vistazo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62963"/>
          <a:ext cx="11064240" cy="437448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874897"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Haz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</a:rPr>
                        <a:t>Evita</a:t>
                      </a:r>
                    </a:p>
                  </a:txBody>
                  <a:tcPr anchor="ctr" marL="146304" marR="146304">
                    <a:solidFill>
                      <a:srgbClr val="156082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Máximo 4 colores, uno por significado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Un color distinto por barra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KPIs arriba, detalle abajo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Gráficos regados sin orden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Elementos alineados en rejilla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Cajas de tamaños arbitrarios</a:t>
                      </a:r>
                    </a:p>
                  </a:txBody>
                  <a:tcPr anchor="ctr" marL="146304" marR="146304">
                    <a:solidFill>
                      <a:srgbClr val="FFFFFF"/>
                    </a:solidFill>
                  </a:tcPr>
                </a:tc>
              </a:tr>
              <a:tr h="874897">
                <a:tc>
                  <a:txBody>
                    <a:bodyPr wrap="square"/>
                    <a:lstStyle/>
                    <a:p>
                      <a:r>
                        <a:rPr sz="1609" b="1">
                          <a:solidFill>
                            <a:srgbClr val="33475B"/>
                          </a:solidFill>
                          <a:latin typeface="Aptos"/>
                        </a:rPr>
                        <a:t>Títulos que dicen qué y cuándo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9" b="0">
                          <a:solidFill>
                            <a:srgbClr val="33475B"/>
                          </a:solidFill>
                          <a:latin typeface="Aptos"/>
                        </a:rPr>
                        <a:t>Los títulos por defecto de Power BI</a:t>
                      </a:r>
                    </a:p>
                  </a:txBody>
                  <a:tcPr anchor="ctr" marL="146304" marR="146304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12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Entregar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Revisa contra la rúbrica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1683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Datos limpios con los pasos aplicados visibles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283006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23744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Una relación correcta entre calendario y hechos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54330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236976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Tres KPIs justificados: relevante, cuantificable, comprensible, actualizable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25653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8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Al menos una medida DAX funcionando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496976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663440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Jerarquía visual y paleta de máximo 4 colores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568299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376672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Un segmentador que filtra todo el tablero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13 /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Qué se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2304288"/>
            <a:ext cx="384048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Captura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Imagen del dashboard terminado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808" y="2304288"/>
            <a:ext cx="384048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9808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Archivo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El .pbix, que es el proyecto editable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0352" y="2048256"/>
            <a:ext cx="3480816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51520" y="2304288"/>
            <a:ext cx="384048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1520" y="2560320"/>
            <a:ext cx="3078480" cy="2395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39" b="1">
                <a:solidFill>
                  <a:srgbClr val="0E2841"/>
                </a:solidFill>
                <a:latin typeface="Aptos Display"/>
              </a:rPr>
              <a:t>Nota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1560" b="0">
                <a:solidFill>
                  <a:srgbClr val="33475B"/>
                </a:solidFill>
                <a:latin typeface="Aptos"/>
              </a:rPr>
              <a:t>Media página explicando los 3 KPIs y la medida DAX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14 / 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60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60120"/>
            <a:ext cx="1219169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800" b="1">
                <a:solidFill>
                  <a:srgbClr val="0E2841"/>
                </a:solidFill>
                <a:latin typeface="Aptos Display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3127248"/>
            <a:ext cx="1828800" cy="635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 Display"/>
              </a:rPr>
              <a:t>Verifiquemos</a:t>
            </a:r>
          </a:p>
        </p:txBody>
      </p:sp>
      <p:pic>
        <p:nvPicPr>
          <p:cNvPr id="5" name="Picture 4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117" y="5943600"/>
            <a:ext cx="75096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Al abrir el CSV, ¿qué botón se usa?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Cargar, y se limpia después en el lienzo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Transformar datos, para limpiar en Power Query antes de cargar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Actualizar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15 / 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La relación entre Calendario y Ventas no se deja crear. ¿Causa más probable?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Faltan medidas DAX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Las columnas de fecha tienen tipos de dato distintos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El gráfico no está seleccionado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16 / 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0E2841"/>
                </a:solidFill>
                <a:latin typeface="Aptos Display"/>
              </a:rPr>
              <a:t>Los meses aparecen como abril, agosto, diciembre… ¿Qué falta?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Ordenar la columna Mes por la columna NumMes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Cambiar el tipo a texto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Crear otra medida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17 / 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9540"/>
                </a:solidFill>
                <a:latin typeface="Aptos"/>
              </a:rPr>
              <a:t>PREGUNTA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¿Por qué los KPIs van en la parte superior?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009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1810511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2199313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9931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0511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Power BI los coloca ahí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625778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62577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236976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el ojo escanea primero arriba: es jerarquía visual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663440"/>
            <a:ext cx="11064240" cy="11982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3EC"/>
            </a:solidFill>
          </a:ln>
          <a:effectLst>
            <a:outerShdw blurRad="152400" dist="38100" dir="5400000" rotWithShape="0">
              <a:srgbClr val="0E2841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5052242"/>
            <a:ext cx="420624" cy="420624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05224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663440"/>
            <a:ext cx="9966960" cy="1198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87" b="0">
                <a:solidFill>
                  <a:srgbClr val="0E2841"/>
                </a:solidFill>
                <a:latin typeface="Aptos"/>
              </a:rPr>
              <a:t>Porque ocupan menos espacio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18 / 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8686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97132"/>
                </a:solidFill>
                <a:latin typeface="Aptos"/>
              </a:rPr>
              <a:t>UNIDAD 2 · MANUAL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9052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E2841"/>
                </a:solidFill>
                <a:latin typeface="Aptos Display"/>
              </a:rPr>
              <a:t>Los errores que más se repiten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37160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CORHUIL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848" y="310896"/>
            <a:ext cx="713232" cy="71323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85216" y="2116835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10511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Cargar sin transformar y terminar parchando en el lienzo</a:t>
            </a:r>
          </a:p>
        </p:txBody>
      </p:sp>
      <p:sp>
        <p:nvSpPr>
          <p:cNvPr id="9" name="Oval 8"/>
          <p:cNvSpPr/>
          <p:nvPr/>
        </p:nvSpPr>
        <p:spPr>
          <a:xfrm>
            <a:off x="585216" y="2830068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523744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Fechas como texto: rompen la relación y el segmentador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3543300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236976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Meses en orden alfabético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" y="4256532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8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Columna calculada donde iba una medida, y el número no reacciona al filtro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4969764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663440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Doce colores porque Power BI los puso por defecto</a:t>
            </a:r>
          </a:p>
        </p:txBody>
      </p:sp>
      <p:sp>
        <p:nvSpPr>
          <p:cNvPr id="17" name="Oval 16"/>
          <p:cNvSpPr/>
          <p:nvPr/>
        </p:nvSpPr>
        <p:spPr>
          <a:xfrm>
            <a:off x="585216" y="5682996"/>
            <a:ext cx="100584" cy="10058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5376672"/>
            <a:ext cx="10698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20" b="1">
                <a:solidFill>
                  <a:srgbClr val="0E2841"/>
                </a:solidFill>
                <a:latin typeface="Aptos"/>
              </a:rPr>
              <a:t>Entregar solo la imagen, sin el </a:t>
            </a:r>
            <a:r>
              <a:rPr sz="2368" b="1">
                <a:solidFill>
                  <a:srgbClr val="156082"/>
                </a:solidFill>
                <a:latin typeface="Consolas"/>
              </a:rPr>
              <a:t>.pbix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465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7A8B9E"/>
                </a:solidFill>
                <a:latin typeface="Aptos"/>
              </a:rPr>
              <a:t>Visualización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7A8B9E"/>
                </a:solidFill>
                <a:latin typeface="Aptos"/>
              </a:rPr>
              <a:t>19 / 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Institucional-con-advertencia-Vigilado-Mineducacion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4780" y="914400"/>
            <a:ext cx="1902439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4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ptos Display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112745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E8E8E8"/>
                </a:solidFill>
                <a:latin typeface="Aptos"/>
              </a:rPr>
              <a:t>Jesús Ariel González Bonilla  ·  ariel5253@hotmail.com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7b9d0d2-0928-4bc7-b1e7-d815d07dd502" xsi:nil="true"/>
    <lcf76f155ced4ddcb4097134ff3c332f xmlns="3b21ab7c-7e7a-493b-a43f-a219844d5b0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6AC4B3079F3F14986B23BC4E8B1044F" ma:contentTypeVersion="16" ma:contentTypeDescription="Crear nuevo documento." ma:contentTypeScope="" ma:versionID="04f898694b3caf94c38805e82f5c0fb9">
  <xsd:schema xmlns:xsd="http://www.w3.org/2001/XMLSchema" xmlns:xs="http://www.w3.org/2001/XMLSchema" xmlns:p="http://schemas.microsoft.com/office/2006/metadata/properties" xmlns:ns2="3b21ab7c-7e7a-493b-a43f-a219844d5b04" xmlns:ns3="c7b9d0d2-0928-4bc7-b1e7-d815d07dd502" targetNamespace="http://schemas.microsoft.com/office/2006/metadata/properties" ma:root="true" ma:fieldsID="1d46ddd55854086af038f8f8e7145c9b" ns2:_="" ns3:_="">
    <xsd:import namespace="3b21ab7c-7e7a-493b-a43f-a219844d5b04"/>
    <xsd:import namespace="c7b9d0d2-0928-4bc7-b1e7-d815d07dd50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21ab7c-7e7a-493b-a43f-a219844d5b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c63f703e-4260-42db-90e1-1bf1f8b4f7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b9d0d2-0928-4bc7-b1e7-d815d07dd50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22966853-71d8-4c3c-a2a1-eb1a25e46692}" ma:internalName="TaxCatchAll" ma:showField="CatchAllData" ma:web="c7b9d0d2-0928-4bc7-b1e7-d815d07dd50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55C560-F379-4979-BDAB-85ADD41BF196}">
  <ds:schemaRefs>
    <ds:schemaRef ds:uri="http://schemas.microsoft.com/office/2006/metadata/properties"/>
    <ds:schemaRef ds:uri="http://schemas.microsoft.com/office/infopath/2007/PartnerControls"/>
    <ds:schemaRef ds:uri="c7b9d0d2-0928-4bc7-b1e7-d815d07dd502"/>
    <ds:schemaRef ds:uri="3b21ab7c-7e7a-493b-a43f-a219844d5b04"/>
  </ds:schemaRefs>
</ds:datastoreItem>
</file>

<file path=customXml/itemProps2.xml><?xml version="1.0" encoding="utf-8"?>
<ds:datastoreItem xmlns:ds="http://schemas.openxmlformats.org/officeDocument/2006/customXml" ds:itemID="{5203D28F-282C-474C-8EAC-7F31992D296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0F9C096-F130-4ECE-8018-26CD4E103B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b21ab7c-7e7a-493b-a43f-a219844d5b04"/>
    <ds:schemaRef ds:uri="c7b9d0d2-0928-4bc7-b1e7-d815d07dd50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0</Words>
  <Application>Microsoft Office PowerPoint</Application>
  <PresentationFormat>Panorámica</PresentationFormat>
  <Paragraphs>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acomunicaciones</dc:creator>
  <cp:lastModifiedBy>Oficina de Comunicaciones</cp:lastModifiedBy>
  <cp:revision>6</cp:revision>
  <dcterms:created xsi:type="dcterms:W3CDTF">2026-01-26T14:49:45Z</dcterms:created>
  <dcterms:modified xsi:type="dcterms:W3CDTF">2026-02-13T20:05:23Z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0x01010076AC4B3079F3F14986B23BC4E8B1044F</vt:lpwstr>
  </property>
</Properties>
</file>
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que levanten la mano quienes lo han vivido. La pregunta que queremos sembrar: ¿cuánto de ese trabajo es análisis y cuánto es repetir la misma limpieza? Power BI existe para que esa limpieza se haga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 los cuatro resultados de aprendizaje de la unidad. Anunciar que la Actividad 2 (25%) los evalúa: dashboard completo, cierra el domingo 13 de septiembre.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mapa de toda la unidad. Volveremos a este slide entre sección y sección para ubicarnos. Insistir en el orden: nadie visualiza bien lo que no modeló bien.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Preguntar de dónde salen los datos en su trabajo real. La mayoría dirá Excel; aprovechar para decir que el flujo es idéntico sea cual sea la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error de novato es darle a "Cargar" en vez de "Transformar datos". Mostrarlo en vivo con sales_data_raw.csv: cargar directo y ver el desastre, después volver por Transformar.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Hacerlo en vivo sobre el CSV de ventas. Que noten que no se toca el archivo original: Power Query guarda instrucciones, no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Aquí está la diferencia con limpiar en Excel. En Excel limpias datos; en Power Query defines un proceso. El mes entrante el reporte se actualiza con un clic. Esta es la idea más importante de la sección.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síntoma típico de un modelo mal armado no es un error rojo, es un número que no cuadra. Por eso el modelado se revisa antes de graficar.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Dibujar en el tablero Ventas al centro con Productos y Calendario alrededor. El nombre "estrella" viene de esa forma. Preguntar cuál sería la tabla de hechos en un dashboard de salud pública.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Tranquilizar: no es programar. Quien haya escrito una fórmula en Excel ya tiene la intuición. La diferencia es que DAX entiende el contexto del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Escribirlas en vivo y arrastrarlas a una tarjeta. Que vean que la misma medida cambia de valor al filtrar por región: eso es el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CALCULATE es la función que más van a usar en su vida con Power BI. Leerla como una frase: calcula esta suma, pero solo donde el año sea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 práctica para llevarse: si el número cambia según lo que el usuario filtre, es medida. Si es un atributo fijo de la fila, es columna.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Ejemplos que sí: porcentaje de cumplimiento de meta, tiempo promedio de respuesta, tasa de rotación. Ejemplo que no: total de registros en la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cuatro se cumplen a la vez o no es KPI. Usar el ejemplo de "número de reuniones realizadas": cuantificable y actualizable, pero rara vez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minutos en parejas, después dos o tres los exponen. Ir anotando en el tablero los que no pasan el filtro de "relevante" — suele ser el que más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los dos .pbix de ejemplo y preguntarles qué miran primero en cada uno. El que dirige la mirada está bien diseñado.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lee de arriba hacia abajo, de lo general al detalle. Es la misma lógica de una noticia: titular, cuerpo, letra pequeña.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columna derecha es la lista de lo que más aparece en las entregas. Anunciar que la rúbrica de la Actividad 2 penaliza explícitamente el exceso de color y el 3D decorativo.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clave no es qué gráfico es más bonito, sino qué pregunta responde cada visual. Este cuadro es el andamiaje para la Actividad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Obtener → Transformar → Modelar → Medir → Visualizar. Primero obtienes los datos, los limpias en Power Query, modelas relaciones, defines medidas DAX y por último visualizas.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Que el proceso es repetible: al actualizar la fuente se reaplican los pasos. Los pasos aplicados hacen la limpieza reproducible: puedes editarlos, reordenarlos y se vuelven a ejecutar al refrescar.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Para agregaciones que dependen del contexto, como una suma en el gráfico. Las medidas se evalúan al vuelo según el contexto del visual; las columnas calculadas se almacenan por fila.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Usar más de 6 colores distintos y gráficos 3D decorativos. El exceso de color, el 3D decorativo y las visualizaciones densas restan legibilidad.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Actividad de aprendizaje 2: Dashboard Completo, 25%, abierta desde el martes 8 de septiembre y cierra el domingo 13 a las 23:59. Recordar que la guía de creación de dashboards y los contenidos temáticos en PDF están en la Unidad 2 del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De los datos al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Visualización de Datos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De los datos al dashboard profesional con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Por qué un tablero y no una hoja de cálculo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Empecemos por una escena conocida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Te piden el reporte de ventas del mes. Abres el Excel: columnas vacías, fechas como texto, tres hojas que nadie sabe cómo se relacionan. Lo arreglas a mano. El mes entrante te lo vuelven a pedir.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vas a poder hacer al terminar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Recorrer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flujo completo: obtener, transformar, modelar, medir y visualizar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Calcular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Medidas DAX básicas, y saber cuándo va medida y cuándo columna calculada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Elegir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KPIs pertinentes al objetivo, no el número más grande disponible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Diseñar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Un dashboard con jerarquía visual, filtros y estética consistente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flujo de Power BI, de principio a fin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1905609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715768"/>
            <a:ext cx="1613001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Obtener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fuentes</a:t>
            </a:r>
          </a:p>
        </p:txBody>
      </p:sp>
      <p:sp>
        <p:nvSpPr>
          <p:cNvPr id="10" name="Chevron 9"/>
          <p:cNvSpPr/>
          <p:nvPr/>
        </p:nvSpPr>
        <p:spPr>
          <a:xfrm>
            <a:off x="2563977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6585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6585" y="2624328"/>
            <a:ext cx="1905609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2889" y="2715768"/>
            <a:ext cx="1613001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Transformar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Power Query</a:t>
            </a:r>
          </a:p>
        </p:txBody>
      </p:sp>
      <p:sp>
        <p:nvSpPr>
          <p:cNvPr id="14" name="Chevron 13"/>
          <p:cNvSpPr/>
          <p:nvPr/>
        </p:nvSpPr>
        <p:spPr>
          <a:xfrm>
            <a:off x="485363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46242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46242" y="2624328"/>
            <a:ext cx="1905609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2546" y="2715768"/>
            <a:ext cx="1613001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Modelar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relaciones</a:t>
            </a:r>
          </a:p>
        </p:txBody>
      </p:sp>
      <p:sp>
        <p:nvSpPr>
          <p:cNvPr id="18" name="Chevron 17"/>
          <p:cNvSpPr/>
          <p:nvPr/>
        </p:nvSpPr>
        <p:spPr>
          <a:xfrm>
            <a:off x="7143291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35899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35899" y="2624328"/>
            <a:ext cx="1905609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2203" y="2715768"/>
            <a:ext cx="1613001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Medir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DAX</a:t>
            </a:r>
          </a:p>
        </p:txBody>
      </p:sp>
      <p:sp>
        <p:nvSpPr>
          <p:cNvPr id="22" name="Chevron 21"/>
          <p:cNvSpPr/>
          <p:nvPr/>
        </p:nvSpPr>
        <p:spPr>
          <a:xfrm>
            <a:off x="9432948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25556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5556" y="2624328"/>
            <a:ext cx="1905609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1860" y="2715768"/>
            <a:ext cx="1613001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Visualizar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Obtener: conectarse a los datos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Power BI se conecta a casi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Archivos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Excel, CSV, TXT en tu equipo o en una carpeta compartida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Bases de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SQL Server, PostgreSQL, MySQL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Nube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SharePoint, Google Analytics, servicios en línea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Web y APIs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Páginas y servicios que devuelven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primer clic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Obtener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Botón de inicio, elige el tipo de fuente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Elegir el archivo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Power BI muestra una vista previa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Transformar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NO cargues directo: entra a Power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Transformar: la limpieza con Power Query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Power Query es donde se limpia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8815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Eliminar filas o columnas vacías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304403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666390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Cambiar tipos de datos: texto, número, fecha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89991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522268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Separar columnas por delimitador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75579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378147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Reemplazar valores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561167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234025"/>
            <a:ext cx="10698480" cy="8558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72" b="1">
                <a:solidFill>
                  <a:srgbClr val="0E2841"/>
                </a:solidFill>
                <a:latin typeface="Aptos"/>
              </a:rPr>
              <a:t>Crear columnas personalizadas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idea que cambia todo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Cada transformación queda registrada como un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paso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 en </a:t>
            </a:r>
            <a:r>
              <a:rPr sz="3174" b="1" i="1">
                <a:solidFill>
                  <a:srgbClr val="0E2841"/>
                </a:solidFill>
                <a:latin typeface="Aptos Display"/>
              </a:rPr>
              <a:t>Pasos aplicados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: se puede deshacer, editar o reordenar. Al actualizar la fuente, todos los pasos se vuelven a aplicar solos.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Modelar: cómo se conectan las tablas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Las tablas son piezas de Lego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2128723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2018995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21287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35" b="1">
                <a:solidFill>
                  <a:srgbClr val="0E2841"/>
                </a:solidFill>
                <a:latin typeface="Aptos Display"/>
              </a:rPr>
              <a:t>Si las conectas bien, todo encaja. Si las conectas mal, los totales mienten y nadie sabe por qué.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425653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902659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Las </a:t>
            </a:r>
            <a:r>
              <a:rPr sz="2610" b="1">
                <a:solidFill>
                  <a:srgbClr val="0E2841"/>
                </a:solidFill>
                <a:latin typeface="Aptos"/>
              </a:rPr>
              <a:t>claves primarias y foráneas</a:t>
            </a:r>
            <a:r>
              <a:rPr sz="2610" b="1">
                <a:solidFill>
                  <a:srgbClr val="0E2841"/>
                </a:solidFill>
                <a:latin typeface="Aptos"/>
              </a:rPr>
              <a:t> identifican y enlazan las tablas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506486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1098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Las relaciones </a:t>
            </a:r>
            <a:r>
              <a:rPr sz="2610" b="1">
                <a:solidFill>
                  <a:srgbClr val="0E2841"/>
                </a:solidFill>
                <a:latin typeface="Aptos"/>
              </a:rPr>
              <a:t>uno a muchos</a:t>
            </a:r>
            <a:r>
              <a:rPr sz="2610" b="1">
                <a:solidFill>
                  <a:srgbClr val="0E2841"/>
                </a:solidFill>
                <a:latin typeface="Aptos"/>
              </a:rPr>
              <a:t> son las más comunes: una fecha, muchas ventas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87319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519318"/>
            <a:ext cx="10698480" cy="8083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10" b="1">
                <a:solidFill>
                  <a:srgbClr val="0E2841"/>
                </a:solidFill>
                <a:latin typeface="Aptos"/>
              </a:rPr>
              <a:t>Evita las relaciones circulares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Hechos y dimensiones: el modelo en estrella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66928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Tabla de hechos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174796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Guarda los eventos que se miden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778300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Ventas, matrículas, atenciones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381804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Muchas filas, crece con el tiempo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4985308"/>
            <a:ext cx="91440" cy="9144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72927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Es la que se suma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58060"/>
            <a:ext cx="5367528" cy="4184294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6263640" y="1858060"/>
            <a:ext cx="5367528" cy="566928"/>
          </a:xfrm>
          <a:prstGeom prst="round2SameRect">
            <a:avLst>
              <a:gd name="adj1" fmla="val 14000"/>
              <a:gd name="adj2" fmla="val 0"/>
            </a:avLst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58060"/>
            <a:ext cx="500176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54" b="1">
                <a:solidFill>
                  <a:srgbClr val="FFFFFF"/>
                </a:solidFill>
                <a:latin typeface="Aptos Display"/>
              </a:rPr>
              <a:t>Tablas de dimensión</a:t>
            </a:r>
          </a:p>
        </p:txBody>
      </p:sp>
      <p:sp>
        <p:nvSpPr>
          <p:cNvPr id="21" name="Oval 20"/>
          <p:cNvSpPr/>
          <p:nvPr/>
        </p:nvSpPr>
        <p:spPr>
          <a:xfrm>
            <a:off x="6483096" y="3174796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918764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Describen el contexto</a:t>
            </a:r>
          </a:p>
        </p:txBody>
      </p:sp>
      <p:sp>
        <p:nvSpPr>
          <p:cNvPr id="23" name="Oval 22"/>
          <p:cNvSpPr/>
          <p:nvPr/>
        </p:nvSpPr>
        <p:spPr>
          <a:xfrm>
            <a:off x="6483096" y="3778300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3522268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Productos, Calendario, Clientes</a:t>
            </a:r>
          </a:p>
        </p:txBody>
      </p:sp>
      <p:sp>
        <p:nvSpPr>
          <p:cNvPr id="25" name="Oval 24"/>
          <p:cNvSpPr/>
          <p:nvPr/>
        </p:nvSpPr>
        <p:spPr>
          <a:xfrm>
            <a:off x="6483096" y="4381804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2577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Pocas filas, cambian poco</a:t>
            </a:r>
          </a:p>
        </p:txBody>
      </p:sp>
      <p:sp>
        <p:nvSpPr>
          <p:cNvPr id="27" name="Oval 26"/>
          <p:cNvSpPr/>
          <p:nvPr/>
        </p:nvSpPr>
        <p:spPr>
          <a:xfrm>
            <a:off x="6483096" y="4985308"/>
            <a:ext cx="91440" cy="91440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729276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9" b="0">
                <a:solidFill>
                  <a:srgbClr val="33475B"/>
                </a:solidFill>
                <a:latin typeface="Aptos"/>
              </a:rPr>
              <a:t>Son las que filtran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Medir: los primeros pasos con DAX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DAX en una frase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DAX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es el lenguaje con el que le pides a Power BI que calcule algo. Empieza por medidas simples antes de las fórmulas complejas.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Tus primeras medidas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762963"/>
            <a:ext cx="11064240" cy="4374489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982419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45843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MEDIDAS BÁSICAS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29891"/>
            <a:ext cx="10515600" cy="364296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Total Ventas = SUM(Ventas[Valor])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Promedio por Cliente = AVERAGE(Ventas[Monto])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Medir con filtro: CALCULATE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762963"/>
            <a:ext cx="11064240" cy="4374489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982419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45843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UNA MEDIDA ACOTADA A UN 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29891"/>
            <a:ext cx="10515600" cy="364296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Ventas 2024 = CALCULATE(SUM(Ventas[Monto]), Ventas[Año] = 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¿Medida o columna calculada?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1093622">
                <a:tc>
                  <a:txBody>
                    <a:bodyPr wrap="square"/>
                    <a:lstStyle/>
                    <a:p/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Medida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Columna calculada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Se calcula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Al vuelo, según el contexto del gráfico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Fila por fila al cargar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Ocupa memoria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Sí, se almacena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1093622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Úsala para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Sumas, promedios, porcentajes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Categorías y banderas por fila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KPIs: qué vale la pena medir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número grande no es un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Un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KPI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 es una métrica estratégica que indica si se está alcanzando un objetivo. Si nadie toma una decisión distinta al verlo, no es un KPI: es un adorno.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Los cuatro criterios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Relevante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Responde al objetivo del análisis, no a lo que es fácil de medir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Cuantificable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Se expresa en un número comparable en el tiempo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5664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Comprensible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usuario final lo entiende sin que se lo expliquen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048256"/>
            <a:ext cx="253288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99448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560320"/>
            <a:ext cx="2130552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Actualizable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Se puede refrescar con la periodicidad que exige la 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Ejercicio en clase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Elige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3 KPIs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 para un dashboard de atención en salud pública y justifica, uno por uno, por qué cumple los cuatro criterios.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Diseñar: el dashboard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 dashboard no es un collage de gráficos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572768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63500" cy="1673352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10378440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45" b="1">
                <a:solidFill>
                  <a:srgbClr val="0E2841"/>
                </a:solidFill>
                <a:latin typeface="Aptos Display"/>
              </a:rPr>
              <a:t>Es una respuesta visual a una pregunta de negocio. Si el que lo abre no sabe qué mirar primero, el dashboard falló.</a:t>
            </a:r>
          </a:p>
        </p:txBody>
      </p:sp>
      <p:sp>
        <p:nvSpPr>
          <p:cNvPr id="10" name="Oval 9"/>
          <p:cNvSpPr/>
          <p:nvPr/>
        </p:nvSpPr>
        <p:spPr>
          <a:xfrm>
            <a:off x="585216" y="3853053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557016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Un </a:t>
            </a:r>
            <a:r>
              <a:rPr sz="2429" b="1">
                <a:solidFill>
                  <a:srgbClr val="0E2841"/>
                </a:solidFill>
                <a:latin typeface="Aptos"/>
              </a:rPr>
              <a:t>resumen</a:t>
            </a:r>
            <a:r>
              <a:rPr sz="2429" b="1">
                <a:solidFill>
                  <a:srgbClr val="0E2841"/>
                </a:solidFill>
                <a:latin typeface="Aptos"/>
              </a:rPr>
              <a:t> que se ve de primero</a:t>
            </a:r>
          </a:p>
        </p:txBody>
      </p:sp>
      <p:sp>
        <p:nvSpPr>
          <p:cNvPr id="12" name="Oval 11"/>
          <p:cNvSpPr/>
          <p:nvPr/>
        </p:nvSpPr>
        <p:spPr>
          <a:xfrm>
            <a:off x="585216" y="4545711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249674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Jerarquía visual</a:t>
            </a:r>
            <a:r>
              <a:rPr sz="2429" b="1">
                <a:solidFill>
                  <a:srgbClr val="0E2841"/>
                </a:solidFill>
                <a:latin typeface="Aptos"/>
              </a:rPr>
              <a:t>: lo importante arriba y a la izquierda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" y="5238369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942332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Filtros accesibles</a:t>
            </a:r>
            <a:r>
              <a:rPr sz="2429" b="1">
                <a:solidFill>
                  <a:srgbClr val="0E2841"/>
                </a:solidFill>
                <a:latin typeface="Aptos"/>
              </a:rPr>
              <a:t>: fecha, región, categoría</a:t>
            </a:r>
          </a:p>
        </p:txBody>
      </p:sp>
      <p:sp>
        <p:nvSpPr>
          <p:cNvPr id="16" name="Oval 15"/>
          <p:cNvSpPr/>
          <p:nvPr/>
        </p:nvSpPr>
        <p:spPr>
          <a:xfrm>
            <a:off x="585216" y="5931027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634990"/>
            <a:ext cx="10698480" cy="6926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29" b="1">
                <a:solidFill>
                  <a:srgbClr val="0E2841"/>
                </a:solidFill>
                <a:latin typeface="Aptos"/>
              </a:rPr>
              <a:t>Estética consistente</a:t>
            </a:r>
            <a:r>
              <a:rPr sz="2429" b="1">
                <a:solidFill>
                  <a:srgbClr val="0E2841"/>
                </a:solidFill>
                <a:latin typeface="Aptos"/>
              </a:rPr>
              <a:t> en todo el tablero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estructura que funciona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1106424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1212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8060"/>
            <a:ext cx="1106424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Tarjetas de resumen  ·  los KPI, lo primero que se 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2904134"/>
            <a:ext cx="1005840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2977286"/>
            <a:ext cx="63500" cy="711476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904134"/>
            <a:ext cx="1005840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Gráfico de barras  ·  la comparación principal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3950208"/>
            <a:ext cx="905256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2768" y="4023360"/>
            <a:ext cx="63500" cy="71147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3950208"/>
            <a:ext cx="905256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Segmentadores  ·  los filtros, siempre a la vista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4996281"/>
            <a:ext cx="804672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75688" y="5069433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4996281"/>
            <a:ext cx="804672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Mapa o matriz  ·  el detalle, para quien quiera profundizar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Buenas prácticas y antipatrones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Sí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Evita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Títulos claros: </a:t>
                      </a:r>
                      <a:r>
                        <a:rPr sz="1609" b="1" i="1">
                          <a:solidFill>
                            <a:srgbClr val="33475B"/>
                          </a:solidFill>
                          <a:latin typeface="Aptos"/>
                        </a:rPr>
                        <a:t>"Ventas por producto – 2023"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Más de 6 colores distintos en un gráfico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Paleta de colores coherente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Gráficos 3D o decorativos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Elementos alineados en rejilla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Visualizaciones densas de 4 dimensiones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Segmentadores y gráficos combinados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Gráficos que nadie usa ocupando espacio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Caso aplicado: dashboard de control de proyectos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Necesidad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Visual recomendada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Totales: proyectos activos, avance %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Tarjetas</a:t>
                      </a:r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 de KPI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Comparación entre departamentos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Gráfico de columnas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Filtrar por departamento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Segmentadores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Detectar proyectos retrasados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Tabla con formato condicional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20 / 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Verifiquemos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¿Cuál es el orden correcto del flujo de trabajo en Power BI?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Visualizar → Modelar → Obtener → Transformar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Obtener → Transformar → Modelar → Medir → Visualizar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Transformar → Visualizar → Obtener → Medir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21 /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¿Qué ventaja tiene que cada transformación quede como un "paso aplicado"?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archivo pesa menos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el proceso es repetible: al actualizar la fuente se reaplican los pasos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Que se eliminan las relaciones del modelo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22 / 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¿Cuándo conviene una MEDIDA en lugar de una columna calculada?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Para almacenar una categoría fija por cada fila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Para agregaciones que dependen del contexto, como una suma en el gráfico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Para guardar una bandera verdadero/falso por registro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23 / 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¿Cuál es un antipatrón de diseño de dashboards?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Usar títulos claros y una paleta coherente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Usar más de 6 colores distintos y gráficos 3D decorativos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Alinear los elementos en una rejilla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24 / 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POWER BI DE PRINCIPIO A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 que nos llevamos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Limpiar es definir un proceso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no arreglar celdas; por eso Power Query manda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Modelar antes de graficar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un modelo malo produce números que mienten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Diseñar es dirigir la mirada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dashboard responde una pregunta, no muestra todo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25 / 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
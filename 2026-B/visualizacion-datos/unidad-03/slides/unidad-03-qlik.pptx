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sldIdLst>
    <p:sldId id="256" r:id="rId7"/>
    <p:sldId id="257" r:id="rId6"/>
    <p:sldId id="258" r:id="rId5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intenten responder. La mayoría piensa en filtros y tablas dinámicas, que solo muestran lo existente. Esa incomodidad es la puerta de entrada al modelo asociativo: hoy la respuesta se llama el color gris.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cuatro objetivos de la unidad. Aclarar de una vez el reparto: lo que se califica en A3 (25%) es la transformación en Power Query; Qlik y la narrativa son la preparación del cierre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Ninguno es mejor en abstracto. El explícito da control y es lo que exige un modelo en estrella; el asociativo da velocidad de exploración cuando todavía no sabes qué estás buscando. Los van a usar en momentos distintos del análisis.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Hacerlo en vivo: seleccionar una región y señalar con el cursor los productos que se van a gris. Preguntar qué significa en el negocio ese producto gris antes de dar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Insistir: Qlik no solo responde preguntas, ayuda a encontrar las que no sabías que debías hacer. Pedir un ejemplo del sector de cada quien —salud, educación, comercio— de un gris que sería relevante.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Comparar con Power BI: allá todo vive en un .pbix; aquí la app se abre en el navegador y la narrativa es una pestaña más, no un PowerPoint aparte. Esa diferencia es justamente el argumento del último bloque de hoy.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vivo la carga del archivo limpio de la Unidad 2. El mensaje: la carga toma dos minutos, la exploración toma la sesión. Quien pase directo a graficar se salta lo único que esta herramienta hace mejor que las otras.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panel de filtrado no es un adorno: es donde se ve el semáforo. En Qlik el filtro es a la vez control y hallazgo, y por eso va siempre visible, no escondido en un menú.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 cuántos han recibido un informe de 40 gráficos sin una sola conclusión. Ese es el problema que resuelve la narrativa: no es un formato bonito, es la diferencia entre entregar datos y entregar una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Advertir el error clásico: si después editan el gráfico, el snapshot no se actualiza solo. Hay que tomar otro. Lo van a descubrir en el manual y prefiero que lo oigan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la misma estructura de un argumento: dónde estamos, qué encontré, qué propongo. Anotar que en la Unidad 4 pasa de tres a cuatro actos al separar exploración y descubrimiento.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Recorrerlo en voz alta como si fuera la presentación al comité. Que noten que cada paso responde una pregunta que abre el anterior; si un paso no responde nada nuevo, sobra en la historia.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prueba se aplica en dos minutos y es la que más corrige entregas. Pedirles que la usen sobre el esbozo de narrativa de la práctica opcional antes de subirlo.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el bucle con la Unidad 2: limpiar no es arreglar celdas, es definir un proceso. El manual paso a paso de esta unidad los lleva clic a clic por las cinco transformaciones y por la narrativa en Qlik.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Permite explorar y ver qué está asociado y qué no. Al seleccionar un valor resalta lo relacionado y atenúa lo excluido, lo que habilita la exploración.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Atenuados en gris: señalan huecos inesperados. Ese gris es la señal que revela lo que no ocurre junto con la selección.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Una imagen del gráfico con sus filtros de ese momento. Congela un estado filtrado concreto para usarlo como diapositiva de la narrativa.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Los KPIs en tarjetas, para dar el contexto. Contexto primero; el detalle y la recomendación vienen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Porque la narrativa se apoya en datos limpios. La calidad del dato sostiene todo el análisis posterior; por eso A3 evalúa la transformación.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A3 (25%): transformación en Power Query con 4 transformaciones, pasos documentados y la prueba de repetibilidad. Recordar que el OVA y el manual paso a paso de la unidad están publicados, y que el manual trae la tabla de diagnóstico con los diez errores más frecuentes.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6517A-6E51-D8FF-5518-33DCF1BB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5F916A-7D6A-E8AF-439A-8D6840C6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6680D-0A49-4B54-F51B-03AA27F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6F560-F0B8-AB29-82CA-A2DDE7D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50BE2-EBBD-61B9-3E6C-B4C2BA9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876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836D1-D4F9-8F5A-DCDD-25408D7D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1DC57-A21A-5278-EC55-4C245B3F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E49EC-4920-0E2F-9C8B-0B674CB0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31254A-3742-246E-D797-82A0482F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15C84-0D5E-FBD8-F4A6-A48214F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398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BBEC-EF89-8C3C-71B9-577DC266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7EF770-ACB6-2BA3-E667-9EBABFB4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D28F8-48D0-258C-AD9D-D166F7F2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163DA-7927-EC0F-B832-B0D9CEF2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2D961-09A6-F702-5A58-9A2E9D96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47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AE57A-7BC8-A4F0-8EC3-29FA071B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B23D6-B010-B5CB-011A-B03D0B3E9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0C2A42-464D-5E30-A614-F5201EA4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369D-DA34-3508-5F83-FE255ACE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AF6228-C474-55C2-F2A3-A80C9ECB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2CA109-4F43-98C5-5BA6-85F5B496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0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ADADB-6CDF-BDB1-1300-FAEA2D84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B4924-BB64-D547-A28B-6663623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7D8AA5-BF4A-D02D-E702-0FBE685A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BC7471-CDF8-0C0F-6D28-4001FC283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3769A5-222B-5317-4503-6E9D363E2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7FE0D7-3EEC-E3E6-7C86-CF7C18AB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EFF3E5-4BD9-D039-6F0A-0A92B04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F0DEE6-C861-6117-2772-892873D9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834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AA1F-2C39-64AF-4C6F-BF1C4453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E135E8-59EC-9B87-4141-B4E0DEA1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65AFD-1683-D460-140D-9F48CBC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11735-1F41-F218-7243-AC89EA5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1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88DA81-50FE-72AF-6F22-3D317B92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ADFFC1-222F-FA4F-F745-4AECF65C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B47231-DA7E-E86D-0ECA-3CD935CB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12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A5293-4CAF-8D46-B44D-99EAF11F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782D5-A60C-369C-7F2E-20DC36F50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C7E45F-8F4D-4A4A-AD2B-580AA0500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49A9D3-41A6-5F05-3785-C76553A3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39118E-A5D9-04A8-223B-C952BE30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CCC82-59BC-CBA8-F9A5-1C4603AD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87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C677B-1ABC-81D6-857F-7E1F6785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FFF9DA-1F76-6604-0F69-D17DFFA8A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3A44-53F9-E2AD-4B37-3C2CD8A25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A3A846-4373-5BFE-DCED-CDECAACA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137096-4AD9-8D1E-B119-EDDF0F3E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ADAE5B-0E78-C71A-B918-853E86CE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48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BA9E-020E-BCD8-9EA9-9BDFB167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2EE6B7-CD7D-EA57-7B4D-87C2F63C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A0735-0CBD-5147-C06C-3B03006C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AF2C5-C162-2021-6EDC-A7164630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3F66-F4A3-A221-BA4A-2F327442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5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F149B-9E13-3157-0B62-971D8EB52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7BBD2-5343-3A5D-564E-2D534BC7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2F397-0E8A-92C8-93C4-9018446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F7EEE-EA06-5E8F-8174-D1B755A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410F1-59DC-8093-6A75-33AE128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31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D6B204-4AEE-9E74-8DF2-926D69ED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631246-8F97-5699-6653-D3A77D76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B2563-9278-5DCC-E5B5-CCE80A028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D3EE7-759B-C8A2-7A15-CC1FFB801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E85B8-1FF9-DDC6-E068-D7EEA724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90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520440"/>
            <a:ext cx="11734800" cy="25146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395" y="548640"/>
            <a:ext cx="2503210" cy="228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3429000"/>
            <a:ext cx="11734800" cy="76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 Display"/>
              </a:rPr>
              <a:t>Explorar datos y contar la historia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E8E8E8"/>
                </a:solidFill>
                <a:latin typeface="Aptos"/>
              </a:rPr>
              <a:t>Visualización de Datos  ·  Jesús Ariel González Bonilla  ·  2026-B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E8E8"/>
                </a:solidFill>
                <a:latin typeface="Aptos"/>
              </a:rPr>
              <a:t>Exploración asociativa y narrativa visual con Qlik Sense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La pregunta que no sabías que tenías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Empecemos por lo que no está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74" b="1">
                <a:solidFill>
                  <a:srgbClr val="0E2841"/>
                </a:solidFill>
                <a:latin typeface="Aptos Display"/>
              </a:rPr>
              <a:t>Un dashboard te muestra lo que hay. ¿Qué herramienta te muestra lo que 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falta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: el producto que ninguna tienda del Norte vendió, el mes sin registros, el cliente que dejó de comprar?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 que vas a poder hacer al terminar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Explicar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Qué es el modelo asociativo y en qué se diferencia de las relaciones explícitas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Explorar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Cargar datos en una app y detectar huecos con la selección asociativa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Narrar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Armar una historia con snapshots y la función 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99448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Conectar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Llegar con datos limpios de Power Query, que es lo que evalúa 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Dos maneras de conectar los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Relaciones explícitas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Defines tú qué tabla se une con cuál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El motor responde lo que preguntaste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Power BI, 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Modelo asociativo</a:t>
            </a:r>
          </a:p>
        </p:txBody>
      </p:sp>
      <p:sp>
        <p:nvSpPr>
          <p:cNvPr id="19" name="Oval 18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El motor asocia por campos con el mismo nombre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Te muestra además lo que no está asociado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Qlik Sense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El semáforo que revela huecos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Verde, blanco y gris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74897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Significa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Te dice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Verde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El valor que seleccionaste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Dónde estás parado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Blanco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Asociado a tu selección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Lo que sí ocurre junto con eso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Gris claro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Existe, pero no asociado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El hueco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Gris oscuro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Excluido por otra selección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Algo previo lo bloquea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4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gris es un hallazgo, no un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74" b="1">
                <a:solidFill>
                  <a:srgbClr val="0E2841"/>
                </a:solidFill>
                <a:latin typeface="Aptos Display"/>
              </a:rPr>
              <a:t>Seleccionas Región = Norte y el producto Panela se va a gris. No es que falte el dato: es que 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nadie lo vendió ahí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. Esa es una pregunta de negocio que nadie había formulado.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5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Dónde vive cada cosa en Qlik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Apps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contenedor: datos, hojas y narrativas de un análisis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Editor de carga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código de importación, cuando la carga es compleja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Hojas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lienzo donde van gráficos y paneles de filtrado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99448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Narrativas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Las historias hechas con snapshots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6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De la exploración al tablero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Cargar es el paso corto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Crear app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Botón Crear nueva app, ponle nombre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Agregar datos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Arrastra el archivo, Qlik detecta los campos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Cargar datos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Qlik propone las asociaciones automáticas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Explorar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Aquí empieza el trabajo de verdad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7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Cada visual responde una pregunta distinta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729081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Necesitas…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Visual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Comparar categorías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Barras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Ver evolución en el tiempo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Líneas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Ubicar geográficamente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Mapa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Mostrar una métrica clave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KPI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Filtrar y ver asociaciones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Panel de filtrado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8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Contar historias, no mostrar datos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"Las ventas bajaron" no es una historia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Una 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narrativa visual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 es una secuencia de visualizaciones con un hilo conductor que explica 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por qué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 pasó, 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dónde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 pasó y 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qué hacer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 con eso.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9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snapshot congela la evidencia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Aplica la selección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Deja el gráfico en el estado que quieres mostrar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9808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80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808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Clic derecho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Tomar instantánea, ponle nombre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0352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Úsala en la narrativa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snapshot conserva ese filtro exacto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10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La estructura de tres actos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1093622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Etapa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Visual sugerido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Propósito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1093622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Introducción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KPIs en tarjetas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Dar el contexto general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1093622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Cuerpo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Comparativos y evolutivos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Desarrollar el análisis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1093622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Cierre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Resumen + recomendación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Cerrar con una acción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11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Ejemplo trabajado: desempeño por región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KPI del año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el contexto</a:t>
            </a:r>
          </a:p>
        </p:txBody>
      </p:sp>
      <p:sp>
        <p:nvSpPr>
          <p:cNvPr id="10" name="Chevron 9"/>
          <p:cNvSpPr/>
          <p:nvPr/>
        </p:nvSpPr>
        <p:spPr>
          <a:xfrm>
            <a:off x="3136392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624328"/>
            <a:ext cx="2478024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Comparación regional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quién se mueve</a:t>
            </a:r>
          </a:p>
        </p:txBody>
      </p:sp>
      <p:sp>
        <p:nvSpPr>
          <p:cNvPr id="14" name="Chevron 13"/>
          <p:cNvSpPr/>
          <p:nvPr/>
        </p:nvSpPr>
        <p:spPr>
          <a:xfrm>
            <a:off x="5998464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2624328"/>
            <a:ext cx="2478024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Mapa de calor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dónde y en qué producto</a:t>
            </a:r>
          </a:p>
        </p:txBody>
      </p:sp>
      <p:sp>
        <p:nvSpPr>
          <p:cNvPr id="18" name="Chevron 17"/>
          <p:cNvSpPr/>
          <p:nvPr/>
        </p:nvSpPr>
        <p:spPr>
          <a:xfrm>
            <a:off x="8860536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53144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Recomendación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reasignar presupuesto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12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La prueba de los títulos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74" b="1">
                <a:solidFill>
                  <a:srgbClr val="0E2841"/>
                </a:solidFill>
                <a:latin typeface="Aptos Display"/>
              </a:rPr>
              <a:t>Lee tus tres títulos seguidos, sin ver los gráficos. Si ya cuentan qué pasó y qué hacer, la narrativa está armada. Si dicen </a:t>
            </a:r>
            <a:r>
              <a:rPr sz="3174" b="1" i="1">
                <a:solidFill>
                  <a:srgbClr val="0E2841"/>
                </a:solidFill>
                <a:latin typeface="Aptos Display"/>
              </a:rPr>
              <a:t>"Ventas"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, </a:t>
            </a:r>
            <a:r>
              <a:rPr sz="3174" b="1" i="1">
                <a:solidFill>
                  <a:srgbClr val="0E2841"/>
                </a:solidFill>
                <a:latin typeface="Aptos Display"/>
              </a:rPr>
              <a:t>"Gráfico 2"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 y </a:t>
            </a:r>
            <a:r>
              <a:rPr sz="3174" b="1" i="1">
                <a:solidFill>
                  <a:srgbClr val="0E2841"/>
                </a:solidFill>
                <a:latin typeface="Aptos Display"/>
              </a:rPr>
              <a:t>"Conclusiones"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, todavía 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13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El puente con la actividad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Sin datos limpios no hay historia confiable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216712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20574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2167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3" b="1">
                <a:solidFill>
                  <a:srgbClr val="0E2841"/>
                </a:solidFill>
                <a:latin typeface="Aptos Display"/>
              </a:rPr>
              <a:t>Antes de contar nada, asegura el dato: tipos correctos, sin duplicados, columnas separadas y valores normalizados. Eso es exactamente lo que evalúa </a:t>
            </a:r>
            <a:r>
              <a:rPr sz="2603" b="1">
                <a:solidFill>
                  <a:srgbClr val="0E2841"/>
                </a:solidFill>
                <a:latin typeface="Aptos Display"/>
              </a:rPr>
              <a:t>A3 (25%)</a:t>
            </a:r>
            <a:r>
              <a:rPr sz="2603" b="1">
                <a:solidFill>
                  <a:srgbClr val="0E2841"/>
                </a:solidFill>
                <a:latin typeface="Aptos Display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585216" y="4288536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941064"/>
            <a:ext cx="10698480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85" b="1">
                <a:solidFill>
                  <a:srgbClr val="0E2841"/>
                </a:solidFill>
                <a:latin typeface="Aptos"/>
              </a:rPr>
              <a:t>4 transformaciones distintas en Power Query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" y="5084064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736592"/>
            <a:ext cx="10698480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85" b="1">
                <a:solidFill>
                  <a:srgbClr val="0E2841"/>
                </a:solidFill>
                <a:latin typeface="Aptos"/>
              </a:rPr>
              <a:t>Pasos aplicados documentados y renombrados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587959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532120"/>
            <a:ext cx="10698480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85" b="1">
                <a:solidFill>
                  <a:srgbClr val="0E2841"/>
                </a:solidFill>
                <a:latin typeface="Aptos"/>
              </a:rPr>
              <a:t>La prueba de </a:t>
            </a:r>
            <a:r>
              <a:rPr sz="2485" b="1" i="1">
                <a:solidFill>
                  <a:srgbClr val="0E2841"/>
                </a:solidFill>
                <a:latin typeface="Aptos"/>
              </a:rPr>
              <a:t>Actualizar</a:t>
            </a:r>
            <a:r>
              <a:rPr sz="2485" b="1">
                <a:solidFill>
                  <a:srgbClr val="0E2841"/>
                </a:solidFill>
                <a:latin typeface="Aptos"/>
              </a:rPr>
              <a:t>: el proceso se reaplica solo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14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Verifiquemos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¿Qué distingue al modelo asociativo de Qlik Sense?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Exige definir con código todas las relaciones antes de explorar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Permite explorar y ver qué está asociado y qué 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Solo funciona con una única tabla cargada en la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15 / 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Al seleccionar un valor, los datos NO asociados aparecen…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Resaltados en verde junto al valor seleccionado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Atenuados en gris: señalan huecos inesperados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Eliminados de la app de manera permanente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16 / 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¿Qué es un snapshot en la función Story?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Una copia de seguridad completa de la app y sus hojas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Una imagen del gráfico con sus filtros de ese momento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Un tipo de relación entre dos tablas ya cargadas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17 / 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Según la estructura de tres actos, ¿qué va en la introducción?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El mapa de calor detallado por producto y por 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Los KPIs en tarjetas, para dar el contexto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La recomendación final con la acción a tomar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18 /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¿Por qué importa transformar bien los datos antes de narrar?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Qlik no admite campos numéricos sin formato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la narrativa se apoya en datos limpios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los snapshots exigen datos sin transformar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19 / 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QLIK SENSE Y NARRATIVA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 que nos llevamos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El gris es información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lo que no está asociado es una pregunta de negocio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9808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80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808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Narrar es ordenar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contexto, hallazgo y acción, en ese orden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0352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Limpiar sostiene todo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la historia vale lo que valen los datos que la respaldan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20 / 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780" y="914400"/>
            <a:ext cx="1902439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8E8E8"/>
                </a:solidFill>
                <a:latin typeface="Aptos"/>
              </a:rPr>
              <a:t>Jesús Ariel González Bonilla  ·  ariel5253@hotmail.com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b9d0d2-0928-4bc7-b1e7-d815d07dd502" xsi:nil="true"/>
    <lcf76f155ced4ddcb4097134ff3c332f xmlns="3b21ab7c-7e7a-493b-a43f-a219844d5b0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AC4B3079F3F14986B23BC4E8B1044F" ma:contentTypeVersion="16" ma:contentTypeDescription="Crear nuevo documento." ma:contentTypeScope="" ma:versionID="04f898694b3caf94c38805e82f5c0fb9">
  <xsd:schema xmlns:xsd="http://www.w3.org/2001/XMLSchema" xmlns:xs="http://www.w3.org/2001/XMLSchema" xmlns:p="http://schemas.microsoft.com/office/2006/metadata/properties" xmlns:ns2="3b21ab7c-7e7a-493b-a43f-a219844d5b04" xmlns:ns3="c7b9d0d2-0928-4bc7-b1e7-d815d07dd502" targetNamespace="http://schemas.microsoft.com/office/2006/metadata/properties" ma:root="true" ma:fieldsID="1d46ddd55854086af038f8f8e7145c9b" ns2:_="" ns3:_="">
    <xsd:import namespace="3b21ab7c-7e7a-493b-a43f-a219844d5b04"/>
    <xsd:import namespace="c7b9d0d2-0928-4bc7-b1e7-d815d07dd5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1ab7c-7e7a-493b-a43f-a219844d5b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c63f703e-4260-42db-90e1-1bf1f8b4f7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9d0d2-0928-4bc7-b1e7-d815d07dd5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966853-71d8-4c3c-a2a1-eb1a25e46692}" ma:internalName="TaxCatchAll" ma:showField="CatchAllData" ma:web="c7b9d0d2-0928-4bc7-b1e7-d815d07dd5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55C560-F379-4979-BDAB-85ADD41BF196}">
  <ds:schemaRefs>
    <ds:schemaRef ds:uri="http://schemas.microsoft.com/office/2006/metadata/properties"/>
    <ds:schemaRef ds:uri="http://schemas.microsoft.com/office/infopath/2007/PartnerControls"/>
    <ds:schemaRef ds:uri="c7b9d0d2-0928-4bc7-b1e7-d815d07dd502"/>
    <ds:schemaRef ds:uri="3b21ab7c-7e7a-493b-a43f-a219844d5b04"/>
  </ds:schemaRefs>
</ds:datastoreItem>
</file>

<file path=customXml/itemProps2.xml><?xml version="1.0" encoding="utf-8"?>
<ds:datastoreItem xmlns:ds="http://schemas.openxmlformats.org/officeDocument/2006/customXml" ds:itemID="{5203D28F-282C-474C-8EAC-7F31992D29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F9C096-F130-4ECE-8018-26CD4E103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21ab7c-7e7a-493b-a43f-a219844d5b04"/>
    <ds:schemaRef ds:uri="c7b9d0d2-0928-4bc7-b1e7-d815d07dd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acomunicaciones</dc:creator>
  <cp:lastModifiedBy>Oficina de Comunicaciones</cp:lastModifiedBy>
  <cp:revision>6</cp:revision>
  <dcterms:created xsi:type="dcterms:W3CDTF">2026-01-26T14:49:45Z</dcterms:created>
  <dcterms:modified xsi:type="dcterms:W3CDTF">2026-02-13T20:05:23Z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0x01010076AC4B3079F3F14986B23BC4E8B1044F</vt:lpwstr>
  </property>
</Properties>
</file>
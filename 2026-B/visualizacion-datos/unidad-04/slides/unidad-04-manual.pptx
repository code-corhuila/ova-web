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4"/>
  </p:sldMasterIdLst>
  <p:sldIdLst>
    <p:sldId id="256" r:id="rId7"/>
    <p:sldId id="257" r:id="rId6"/>
    <p:sldId id="258" r:id="rId5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94658"/>
  </p:normalViewPr>
  <p:slideViewPr>
    <p:cSldViewPr snapToGrid="0">
      <p:cViewPr varScale="1">
        <p:scale>
          <a:sx n="106" d="100"/>
          <a:sy n="106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3.xml"/><Relationship Id="rId6" Type="http://schemas.openxmlformats.org/officeDocument/2006/relationships/slide" Target="slides/slide2.xml"/><Relationship Id="rId7" Type="http://schemas.openxmlformats.org/officeDocument/2006/relationships/slide" Target="slides/slide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slide" Target="slides/slide23.xml"/><Relationship Id="rId33" Type="http://schemas.openxmlformats.org/officeDocument/2006/relationships/slide" Target="slides/slide24.xml"/><Relationship Id="rId34" Type="http://schemas.openxmlformats.org/officeDocument/2006/relationships/slide" Target="slides/slide25.xml"/><Relationship Id="rId35" Type="http://schemas.openxmlformats.org/officeDocument/2006/relationships/slide" Target="slides/slide26.xml"/><Relationship Id="rId36" Type="http://schemas.openxmlformats.org/officeDocument/2006/relationships/slide" Target="slides/slide27.xml"/><Relationship Id="rId37" Type="http://schemas.openxmlformats.org/officeDocument/2006/relationships/slide" Target="slides/slide28.xml"/><Relationship Id="rId38" Type="http://schemas.openxmlformats.org/officeDocument/2006/relationships/slide" Target="slides/slide29.xml"/><Relationship Id="rId39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por qué dos herramientas: DAX solo existe en Power BI y los story points solo en Tableau. Quien prefiera quedarse en Power BI tiene la ruta de marcadores en el paso 10.1 del manual.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Los pasos 8 y 9 son donde más se atascan: el dashboard que no filtra y la historia sin hilo conductor. Reservar tiempo real para esos dos y no correr al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Decirlo antes de que alguien suba la nómina de su entidad. Para esta entrega: dataset del curso o datos anonimizados. Quien necesite datos sensibles hace esta parte en Power BI con marcadores.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 hay muchos arreglos por hacer, devolverlos a Power Query: Tableau limpia, pero no es su oficio. Es el mismo principio de A3 aplicado a la cuarta herramienta.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regla que hay que repetir hoy tres veces: si quieren otra forma, mueven el campo de estante; si quieren otro aspecto, lo llevan a Marcas. Casi todos los atascos del día salen de confundir las 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cambio de título cuesta diez segundos y es lo que más sube la nota. Recordar la Unidad 1: el título dice el hallazgo, no la categoría del eje.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Cuando salga el aviso de "N desconocidos", mostrar Editar ubicaciones: casi siempre son tildes y variantes como "Bogota D.C." contra "Bogotá". Es el argumento perfecto para volver a insistir en la normalización de A3.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primer bloque agrupa todos los mayos de todos los años: sirve para estacionalidad, no para una serie temporal. Elegirlo por error es la causa clásica de una línea que no tiene sentido y nadie sabe por qué.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Punto de control del bloque. Si alguien tiene tres variantes del mismo gráfico de barras, no tiene tres hojas: tiene una repetida, y el dashboard no va a contar nada.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Hacerlo primero sin el embudo para que vean que el clic no hace nada, y después con él. El ícono se ve hundido cuando está activo; si no reacciona, es eso en el 90 % de los casos.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Cuatro puntos con el mismo estado son la misma diapositiva repetida y la rúbrica lo penaliza en el criterio de enfoque. Pedirles que escriban los cuatro títulos antes de armar los puntos: ordena el trabajo.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 dos rutas valen lo mismo para la nota. La de marcadores es la salida para quien no puede publicar datos en internet, y de paso les muestra que la narrativa es un concepto, no un botón de una marca.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Escribirlas en vivo sobre el modelo de la Unidad 2. Insistir en DIVIDE: si una región no tuvo ventas el año pasado, la barra "/" rompe el visual y DIVIDE devuelve un blanco.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inteligencia de tiempo exige una tabla de fechas continua y marcada. Si el calendario se creó con CALENDAR(MIN, MAX) en la Unidad 2 ya es continua; solo falta marcarla, y ese es el 90 % de los vacíos inexplicables.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Respuesta correcta: Activar el embudo: Usar como filtro en ese gráfico. La interacción entre hojas de un dashboard no viene encendida por defecto.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Respuesta correcta: Le asignas el rol geográfico con clic derecho. Sin rol geográfico Tableau no genera Longitud ni Latitud.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Respuesta correcta: El filtro o el enfoque, para preguntar algo nuevo. El filtro por punto es lo que convierte la secuencia en un argumento.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Respuesta correcta: Porque devuelve un blanco si el denominador es cero. Maneja la división por cero sin romper el visual en plena presentación.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Respuesta correcta: Que Calendario esté marcada como tabla de fechas. La inteligencia de tiempo exige una tabla de fechas marcada como 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manual publicado trae la tabla completa con diez síntomas, entre Tableau y Power BI. Recordarles que está en el aula y que lo consulten antes de escribir preguntando.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Cerrar con A4 (35%), la nota más alta del curso: dashboard, cuatro story points con filtro propio y la medida que sostiene la recomendación. Y el cierre del semestre: una visualización sirve cuando comunica algo verdadero más rápido; lo demás es decoración.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C6517A-6E51-D8FF-5518-33DCF1BB83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A5F916A-7D6A-E8AF-439A-8D6840C6F0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846680D-0A49-4B54-F51B-03AA27F6B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396F560-F0B8-AB29-82CA-A2DDE7D35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5D50BE2-EBBD-61B9-3E6C-B4C2BA988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68766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8836D1-D4F9-8F5A-DCDD-25408D7D3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551DC57-A21A-5278-EC55-4C245B3FC0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02E49EC-4920-0E2F-9C8B-0B674CB07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F31254A-3742-246E-D797-82A0482FE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2D15C84-0D5E-FBD8-F4A6-A48214F7C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53980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5FBBEC-EF89-8C3C-71B9-577DC2668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B7EF770-ACB6-2BA3-E667-9EBABFB4AE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DAD28F8-48D0-258C-AD9D-D166F7F2D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8163DA-7927-EC0F-B832-B0D9CEF24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7D2D961-09A6-F702-5A58-9A2E9D96B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14478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EAE57A-7BC8-A4F0-8EC3-29FA071B4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6DB23D6-B010-B5CB-011A-B03D0B3E9D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80C2A42-464D-5E30-A614-F5201EA431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B7E369D-DA34-3508-5F83-FE255ACE6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FAF6228-C474-55C2-F2A3-A80C9ECB9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E2CA109-4F43-98C5-5BA6-85F5B496E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5908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3ADADB-6CDF-BDB1-1300-FAEA2D84B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7B4924-BB64-D547-A28B-666362350C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07D8AA5-BF4A-D02D-E702-0FBE685A50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6BC7471-CDF8-0C0F-6D28-4001FC2838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33769A5-222B-5317-4503-6E9D363E28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17FE0D7-3EEC-E3E6-7C86-CF7C18AB6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8EFF3E5-4BD9-D039-6F0A-0A92B04A1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DF0DEE6-C861-6117-2772-892873D92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48347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91AA1F-2C39-64AF-4C6F-BF1C44530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0E135E8-59EC-9B87-4141-B4E0DEA15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2565AFD-1683-D460-140D-9F48CBCBA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711735-1F41-F218-7243-AC89EA548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61154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188DA81-50FE-72AF-6F22-3D317B92F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DADFFC1-222F-FA4F-F745-4AECF65CE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FB47231-DA7E-E86D-0ECA-3CD935CB1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69125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6A5293-4CAF-8D46-B44D-99EAF11FD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AA782D5-A60C-369C-7F2E-20DC36F50E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3C7E45F-8F4D-4A4A-AD2B-580AA0500F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E49A9D3-41A6-5F05-3785-C76553A32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339118E-A5D9-04A8-223B-C952BE301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AFCCC82-59BC-CBA8-F9A5-1C4603AD8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28771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0C677B-1ABC-81D6-857F-7E1F6785C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8FFF9DA-1F76-6604-0F69-D17DFFA8AD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4FD3A44-53F9-E2AD-4B37-3C2CD8A250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EA3A846-4373-5BFE-DCED-CDECAACAA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0137096-4AD9-8D1E-B119-EDDF0F3EA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7ADAE5B-0E78-C71A-B918-853E86CE0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64844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A2BA9E-020E-BCD8-9EA9-9BDFB1673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D2EE6B7-CD7D-EA57-7B4D-87C2F63C8D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6BA0735-0CBD-5147-C06C-3B03006C1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CCAF2C5-C162-2021-6EDC-A71646303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AD3F66-F4A3-A221-BA4A-2F3274427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61594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64F149B-9E13-3157-0B62-971D8EB526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F87BBD2-5343-3A5D-564E-2D534BC7D0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CB2F397-0E8A-92C8-93C4-9018446E3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16F7EEE-EA06-5E8F-8174-D1B755A7B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D7410F1-59DC-8093-6A75-33AE1285C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0393169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1D6B204-4AEE-9E74-8DF2-926D69EDA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E631246-8F97-5699-6653-D3A77D7644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73B2563-9278-5DCC-E5B5-CCE80A0280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4AD3EE7-759B-C8A2-7A15-CC1FFB8018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9BE85B8-1FF9-DDC6-E068-D7EEA7240D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66904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8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9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520440"/>
            <a:ext cx="11734800" cy="25146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Institucional-con-advertencia-Vigilado-Mineducacion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4395" y="548640"/>
            <a:ext cx="2503210" cy="2286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3429000"/>
            <a:ext cx="11734800" cy="762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703320"/>
            <a:ext cx="108813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Aptos Display"/>
              </a:rPr>
              <a:t>Arma tu historia y ciérrala con una cifra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2920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E8E8E8"/>
                </a:solidFill>
                <a:latin typeface="Aptos"/>
              </a:rPr>
              <a:t>Visualización de Datos  ·  Jesús Ariel González Bonilla  ·  2026-B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532120"/>
            <a:ext cx="9418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E8E8E8"/>
                </a:solidFill>
                <a:latin typeface="Aptos"/>
              </a:rPr>
              <a:t>Arma tu historia en Tableau y ciérrala con DAX, clic a clic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60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960120"/>
            <a:ext cx="1219169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800" b="1">
                <a:solidFill>
                  <a:srgbClr val="0E2841"/>
                </a:solidFill>
                <a:latin typeface="Aptos Display"/>
              </a:rPr>
              <a:t>01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4648" y="3127248"/>
            <a:ext cx="1828800" cy="635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29000"/>
            <a:ext cx="10698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ptos Display"/>
              </a:rPr>
              <a:t>Lo que vamos a armar</a:t>
            </a:r>
          </a:p>
        </p:txBody>
      </p:sp>
      <p:pic>
        <p:nvPicPr>
          <p:cNvPr id="5" name="Picture 4" descr="Logo-Institucional-con-advertencia-Vigilado-Mineducacion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8117" y="5943600"/>
            <a:ext cx="750963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4 · MANUAL PASO A PASO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Dos herramientas, una sola entrega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1858060"/>
            <a:ext cx="5367528" cy="4184294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 Same Side Corner Rectangle 7"/>
          <p:cNvSpPr/>
          <p:nvPr/>
        </p:nvSpPr>
        <p:spPr>
          <a:xfrm>
            <a:off x="566928" y="1858060"/>
            <a:ext cx="5367528" cy="566928"/>
          </a:xfrm>
          <a:prstGeom prst="round2SameRect">
            <a:avLst>
              <a:gd name="adj1" fmla="val 14000"/>
              <a:gd name="adj2" fmla="val 0"/>
            </a:avLst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858060"/>
            <a:ext cx="500176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54" b="1">
                <a:solidFill>
                  <a:srgbClr val="FFFFFF"/>
                </a:solidFill>
                <a:latin typeface="Aptos Display"/>
              </a:rPr>
              <a:t>Parte A · Tableau Public</a:t>
            </a:r>
          </a:p>
        </p:txBody>
      </p:sp>
      <p:sp>
        <p:nvSpPr>
          <p:cNvPr id="10" name="Oval 9"/>
          <p:cNvSpPr/>
          <p:nvPr/>
        </p:nvSpPr>
        <p:spPr>
          <a:xfrm>
            <a:off x="786384" y="3174796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918764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Tres hojas, un dashboard y cuatro story points</a:t>
            </a:r>
          </a:p>
        </p:txBody>
      </p:sp>
      <p:sp>
        <p:nvSpPr>
          <p:cNvPr id="12" name="Oval 11"/>
          <p:cNvSpPr/>
          <p:nvPr/>
        </p:nvSpPr>
        <p:spPr>
          <a:xfrm>
            <a:off x="786384" y="3778300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522268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Pasos 1 a 10</a:t>
            </a:r>
          </a:p>
        </p:txBody>
      </p:sp>
      <p:sp>
        <p:nvSpPr>
          <p:cNvPr id="14" name="Oval 13"/>
          <p:cNvSpPr/>
          <p:nvPr/>
        </p:nvSpPr>
        <p:spPr>
          <a:xfrm>
            <a:off x="786384" y="4381804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4125772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La narrativa de A4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858060"/>
            <a:ext cx="5367528" cy="4184294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>
            <a:off x="6263640" y="1858060"/>
            <a:ext cx="5367528" cy="566928"/>
          </a:xfrm>
          <a:prstGeom prst="round2SameRect">
            <a:avLst>
              <a:gd name="adj1" fmla="val 14000"/>
              <a:gd name="adj2" fmla="val 0"/>
            </a:avLst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858060"/>
            <a:ext cx="500176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54" b="1">
                <a:solidFill>
                  <a:srgbClr val="FFFFFF"/>
                </a:solidFill>
                <a:latin typeface="Aptos Display"/>
              </a:rPr>
              <a:t>Parte B · Power BI</a:t>
            </a:r>
          </a:p>
        </p:txBody>
      </p:sp>
      <p:sp>
        <p:nvSpPr>
          <p:cNvPr id="19" name="Oval 18"/>
          <p:cNvSpPr/>
          <p:nvPr/>
        </p:nvSpPr>
        <p:spPr>
          <a:xfrm>
            <a:off x="6483096" y="3174796"/>
            <a:ext cx="91440" cy="91440"/>
          </a:xfrm>
          <a:prstGeom prst="ellipse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2918764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La medida DAX de variación</a:t>
            </a:r>
          </a:p>
        </p:txBody>
      </p:sp>
      <p:sp>
        <p:nvSpPr>
          <p:cNvPr id="21" name="Oval 20"/>
          <p:cNvSpPr/>
          <p:nvPr/>
        </p:nvSpPr>
        <p:spPr>
          <a:xfrm>
            <a:off x="6483096" y="3778300"/>
            <a:ext cx="91440" cy="91440"/>
          </a:xfrm>
          <a:prstGeom prst="ellipse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3522268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Pasos 11 y 12</a:t>
            </a:r>
          </a:p>
        </p:txBody>
      </p:sp>
      <p:sp>
        <p:nvSpPr>
          <p:cNvPr id="23" name="Oval 22"/>
          <p:cNvSpPr/>
          <p:nvPr/>
        </p:nvSpPr>
        <p:spPr>
          <a:xfrm>
            <a:off x="6483096" y="4381804"/>
            <a:ext cx="91440" cy="91440"/>
          </a:xfrm>
          <a:prstGeom prst="ellipse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4125772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La cifra que sostiene la recomendación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1 / 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4 · MANUAL PASO A PASO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El recorrido de hoy, en cinco movimientos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762963"/>
          <a:ext cx="11064240" cy="437448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729081"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</a:rPr>
                        <a:t>Movimiento</a:t>
                      </a:r>
                    </a:p>
                  </a:txBody>
                  <a:tcPr anchor="ctr" marL="146304" marR="146304">
                    <a:solidFill>
                      <a:srgbClr val="1560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</a:rPr>
                        <a:t>Pasos</a:t>
                      </a:r>
                    </a:p>
                  </a:txBody>
                  <a:tcPr anchor="ctr" marL="146304" marR="146304">
                    <a:solidFill>
                      <a:srgbClr val="1560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</a:rPr>
                        <a:t>Dónde ocurre</a:t>
                      </a:r>
                    </a:p>
                  </a:txBody>
                  <a:tcPr anchor="ctr" marL="146304" marR="146304">
                    <a:solidFill>
                      <a:srgbClr val="156082"/>
                    </a:solidFill>
                  </a:tcPr>
                </a:tc>
              </a:tr>
              <a:tr h="729081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Conectar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1 y 2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Página de inicio de Tableau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</a:tr>
              <a:tr h="729081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Visualizar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3 a 7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Hojas de trabajo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</a:tr>
              <a:tr h="729081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Ensamblar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Pestaña Dashboard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</a:tr>
              <a:tr h="729081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Narrar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9 y 10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Pestaña Story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</a:tr>
              <a:tr h="729081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Cuantificar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11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Barra de fórmulas DAX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2 / 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60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960120"/>
            <a:ext cx="1219169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800" b="1">
                <a:solidFill>
                  <a:srgbClr val="0E2841"/>
                </a:solidFill>
                <a:latin typeface="Aptos Display"/>
              </a:rPr>
              <a:t>02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4648" y="3127248"/>
            <a:ext cx="1828800" cy="635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29000"/>
            <a:ext cx="10698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ptos Display"/>
              </a:rPr>
              <a:t>Conectar</a:t>
            </a:r>
          </a:p>
        </p:txBody>
      </p:sp>
      <p:pic>
        <p:nvPicPr>
          <p:cNvPr id="5" name="Picture 4" descr="Logo-Institucional-con-advertencia-Vigilado-Mineducacion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8117" y="5943600"/>
            <a:ext cx="750963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4 · MANUAL PASO A PASO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Paso 1 · Tableau Public es gratis, pero es público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2476195"/>
            <a:ext cx="11064240" cy="2948025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531059"/>
            <a:ext cx="63500" cy="2838297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76195"/>
            <a:ext cx="10378440" cy="29480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174" b="1">
                <a:solidFill>
                  <a:srgbClr val="0E2841"/>
                </a:solidFill>
                <a:latin typeface="Aptos Display"/>
              </a:rPr>
              <a:t>La versión gratuita </a:t>
            </a:r>
            <a:r>
              <a:rPr sz="3174" b="1">
                <a:solidFill>
                  <a:srgbClr val="0E2841"/>
                </a:solidFill>
                <a:latin typeface="Aptos Display"/>
              </a:rPr>
              <a:t>no guarda en tu disco</a:t>
            </a:r>
            <a:r>
              <a:rPr sz="3174" b="1">
                <a:solidFill>
                  <a:srgbClr val="0E2841"/>
                </a:solidFill>
                <a:latin typeface="Aptos Display"/>
              </a:rPr>
              <a:t>: guarda en tu perfil público de internet. Nada de datos reales de la empresa, nombres de clientes ni cifras confidenciales.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3 / 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4 · MANUAL PASO A PASO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Paso 2 · Conectar y revisar los tipos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2532888"/>
            <a:ext cx="2532888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68096" y="2368296"/>
            <a:ext cx="475488" cy="47548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3008376"/>
            <a:ext cx="2130552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Panel Conectar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Archivo de texto para CSV, Microsoft Excel para xlsx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0712" y="2532888"/>
            <a:ext cx="2532888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11880" y="2368296"/>
            <a:ext cx="475488" cy="475488"/>
          </a:xfrm>
          <a:prstGeom prst="ellipse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3008376"/>
            <a:ext cx="2130552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Revisa la vista previa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Nombres de campo y tipos detectados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54496" y="2532888"/>
            <a:ext cx="2532888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55664" y="2368296"/>
            <a:ext cx="475488" cy="47548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5664" y="3008376"/>
            <a:ext cx="2130552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Hoja 1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Pestaña de abajo, entras al entorno de trabajo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2532888"/>
            <a:ext cx="2532888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299448" y="2368296"/>
            <a:ext cx="475488" cy="47548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99448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9448" y="3008376"/>
            <a:ext cx="2130552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Arregla lo que falte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Clic derecho en el campo, Cambiar tipo de datos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4 /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60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960120"/>
            <a:ext cx="1219169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800" b="1">
                <a:solidFill>
                  <a:srgbClr val="0E2841"/>
                </a:solidFill>
                <a:latin typeface="Aptos Display"/>
              </a:rPr>
              <a:t>03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4648" y="3127248"/>
            <a:ext cx="1828800" cy="635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29000"/>
            <a:ext cx="10698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ptos Display"/>
              </a:rPr>
              <a:t>Visualizar</a:t>
            </a:r>
          </a:p>
        </p:txBody>
      </p:sp>
      <p:pic>
        <p:nvPicPr>
          <p:cNvPr id="5" name="Picture 4" descr="Logo-Institucional-con-advertencia-Vigilado-Mineducacion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8117" y="5943600"/>
            <a:ext cx="750963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4 · MANUAL PASO A PASO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Paso 3 · Las cuatro piezas del entorno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2048256"/>
            <a:ext cx="2532888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2304288"/>
            <a:ext cx="384048" cy="508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560320"/>
            <a:ext cx="2130552" cy="2395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39" b="1">
                <a:solidFill>
                  <a:srgbClr val="0E2841"/>
                </a:solidFill>
                <a:latin typeface="Aptos Display"/>
              </a:rPr>
              <a:t>Dimensiones (azul)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Las categorías: región, producto, fecha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0712" y="2048256"/>
            <a:ext cx="2532888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11880" y="2304288"/>
            <a:ext cx="384048" cy="50800"/>
          </a:xfrm>
          <a:prstGeom prst="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2560320"/>
            <a:ext cx="2130552" cy="2395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39" b="1">
                <a:solidFill>
                  <a:srgbClr val="0E2841"/>
                </a:solidFill>
                <a:latin typeface="Aptos Display"/>
              </a:rPr>
              <a:t>Medidas (verde)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Los números que se agregan: monto, unidades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54496" y="2048256"/>
            <a:ext cx="2532888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55664" y="2304288"/>
            <a:ext cx="384048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5664" y="2560320"/>
            <a:ext cx="2130552" cy="2395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39" b="1">
                <a:solidFill>
                  <a:srgbClr val="0E2841"/>
                </a:solidFill>
                <a:latin typeface="Aptos Display"/>
              </a:rPr>
              <a:t>Columnas y Filas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La estructura, qué va en cada eje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2048256"/>
            <a:ext cx="2532888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299448" y="2304288"/>
            <a:ext cx="384048" cy="508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9448" y="2560320"/>
            <a:ext cx="2130552" cy="2395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39" b="1">
                <a:solidFill>
                  <a:srgbClr val="0E2841"/>
                </a:solidFill>
                <a:latin typeface="Aptos Display"/>
              </a:rPr>
              <a:t>Tarjeta Marcas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El estilo: color, tamaño, etiqueta, forma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5 / 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4 · MANUAL PASO A PASO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Paso 4 · Hoja 1, y un título que afirme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2532888"/>
            <a:ext cx="2532888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68096" y="2368296"/>
            <a:ext cx="475488" cy="47548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3008376"/>
            <a:ext cx="2130552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Dimensión a Columnas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Región o Producto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0712" y="2532888"/>
            <a:ext cx="2532888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11880" y="2368296"/>
            <a:ext cx="475488" cy="475488"/>
          </a:xfrm>
          <a:prstGeom prst="ellipse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3008376"/>
            <a:ext cx="2130552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Medida a Filas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Monto, y ordena de mayor a menor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54496" y="2532888"/>
            <a:ext cx="2532888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55664" y="2368296"/>
            <a:ext cx="475488" cy="47548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5664" y="3008376"/>
            <a:ext cx="2130552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Título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Doble clic: "El Norte concentra el 38 %", no "Ventas por región"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2532888"/>
            <a:ext cx="2532888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299448" y="2368296"/>
            <a:ext cx="475488" cy="47548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99448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9448" y="3008376"/>
            <a:ext cx="2130552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Renombra la hoja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Barras-Region, abajo en la pestaña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6 / 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4 · MANUAL PASO A PASO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Paso 5 · Hoja 2, el mapa y el rol geográfico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2532888"/>
            <a:ext cx="2532888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68096" y="2368296"/>
            <a:ext cx="475488" cy="47548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3008376"/>
            <a:ext cx="2130552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Hoja nueva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Busca el campo con ícono de globo terráqueo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0712" y="2532888"/>
            <a:ext cx="2532888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11880" y="2368296"/>
            <a:ext cx="475488" cy="475488"/>
          </a:xfrm>
          <a:prstGeom prst="ellipse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3008376"/>
            <a:ext cx="2130552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Doble clic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Tableau genera Longitud y Latitud solo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54496" y="2532888"/>
            <a:ext cx="2532888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55664" y="2368296"/>
            <a:ext cx="475488" cy="47548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5664" y="3008376"/>
            <a:ext cx="2130552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Marcas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Arrastra la medida a Tamaño y también a Color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2532888"/>
            <a:ext cx="2532888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299448" y="2368296"/>
            <a:ext cx="475488" cy="47548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99448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9448" y="3008376"/>
            <a:ext cx="2130552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Si no hay globo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Clic derecho, Rol geográfico, País o Ciudad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7 / 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4 · MANUAL PASO A PASO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Paso 6 · Hoja 3, y la trampa de los dos "mayo"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2532888"/>
            <a:ext cx="2532888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68096" y="2368296"/>
            <a:ext cx="475488" cy="47548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3008376"/>
            <a:ext cx="2130552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Fecha a Columnas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Tableau la pone como AÑO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0712" y="2532888"/>
            <a:ext cx="2532888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11880" y="2368296"/>
            <a:ext cx="475488" cy="475488"/>
          </a:xfrm>
          <a:prstGeom prst="ellipse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3008376"/>
            <a:ext cx="2130552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Abre la flecha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Elige Mes, pero el del SEGUNDO bloque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54496" y="2532888"/>
            <a:ext cx="2532888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55664" y="2368296"/>
            <a:ext cx="475488" cy="47548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5664" y="3008376"/>
            <a:ext cx="2130552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Segundo bloque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Dice "mayo 2026", respeta la línea de tiempo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2532888"/>
            <a:ext cx="2532888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299448" y="2368296"/>
            <a:ext cx="475488" cy="47548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99448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9448" y="3008376"/>
            <a:ext cx="2130552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Color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Arrastra Región a Color, una línea por región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8 / 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4 · MANUAL PASO A PASO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Deberías estar viendo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2476195"/>
            <a:ext cx="11064240" cy="2948025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531059"/>
            <a:ext cx="63500" cy="2838297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76195"/>
            <a:ext cx="10378440" cy="29480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704" b="1">
                <a:solidFill>
                  <a:srgbClr val="0E2841"/>
                </a:solidFill>
                <a:latin typeface="Aptos Display"/>
              </a:rPr>
              <a:t>Tres hojas renombradas, cada una respondiendo una pregunta distinta: quién vende más, dónde está, y cómo evolucionó.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9 / 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60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960120"/>
            <a:ext cx="1219169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800" b="1">
                <a:solidFill>
                  <a:srgbClr val="0E2841"/>
                </a:solidFill>
                <a:latin typeface="Aptos Display"/>
              </a:rPr>
              <a:t>04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4648" y="3127248"/>
            <a:ext cx="1828800" cy="635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29000"/>
            <a:ext cx="10698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ptos Display"/>
              </a:rPr>
              <a:t>Ensamblar</a:t>
            </a:r>
          </a:p>
        </p:txBody>
      </p:sp>
      <p:pic>
        <p:nvPicPr>
          <p:cNvPr id="5" name="Picture 4" descr="Logo-Institucional-con-advertencia-Vigilado-Mineducacion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8117" y="5943600"/>
            <a:ext cx="750963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4 · MANUAL PASO A PASO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Paso 8 · El dashboard y el embudo que todos olvidan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2532888"/>
            <a:ext cx="2532888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68096" y="2368296"/>
            <a:ext cx="475488" cy="47548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3008376"/>
            <a:ext cx="2130552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Nuevo dashboard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Tamaño: cambia Fijo por Automático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0712" y="2532888"/>
            <a:ext cx="2532888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11880" y="2368296"/>
            <a:ext cx="475488" cy="475488"/>
          </a:xfrm>
          <a:prstGeom prst="ellipse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3008376"/>
            <a:ext cx="2130552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Arrastra las hojas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La banda gris muestra dónde van a caer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54496" y="2532888"/>
            <a:ext cx="2532888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55664" y="2368296"/>
            <a:ext cx="475488" cy="47548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5664" y="3008376"/>
            <a:ext cx="2130552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Selecciona un gráfico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Clic en el ícono de embudo, Usar como filtro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2532888"/>
            <a:ext cx="2532888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299448" y="2368296"/>
            <a:ext cx="475488" cy="47548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99448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9448" y="3008376"/>
            <a:ext cx="2130552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Comprueba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Clic en una barra y los demás deben reaccionar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10 / 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60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960120"/>
            <a:ext cx="1219169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800" b="1">
                <a:solidFill>
                  <a:srgbClr val="0E2841"/>
                </a:solidFill>
                <a:latin typeface="Aptos Display"/>
              </a:rPr>
              <a:t>05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4648" y="3127248"/>
            <a:ext cx="1828800" cy="635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29000"/>
            <a:ext cx="10698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ptos Display"/>
              </a:rPr>
              <a:t>Narrar</a:t>
            </a:r>
          </a:p>
        </p:txBody>
      </p:sp>
      <p:pic>
        <p:nvPicPr>
          <p:cNvPr id="5" name="Picture 4" descr="Logo-Institucional-con-advertencia-Vigilado-Mineducacion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8117" y="5943600"/>
            <a:ext cx="750963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4 · MANUAL PASO A PASO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Paso 9 · Cuatro puntos, cuatro filtros distintos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762963"/>
          <a:ext cx="11064240" cy="437448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874897"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</a:rPr>
                        <a:t>Punto</a:t>
                      </a:r>
                    </a:p>
                  </a:txBody>
                  <a:tcPr anchor="ctr" marL="146304" marR="146304">
                    <a:solidFill>
                      <a:srgbClr val="1560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</a:rPr>
                        <a:t>Qué muestra</a:t>
                      </a:r>
                    </a:p>
                  </a:txBody>
                  <a:tcPr anchor="ctr" marL="146304" marR="146304">
                    <a:solidFill>
                      <a:srgbClr val="1560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</a:rPr>
                        <a:t>Filtro</a:t>
                      </a:r>
                    </a:p>
                  </a:txBody>
                  <a:tcPr anchor="ctr" marL="146304" marR="146304">
                    <a:solidFill>
                      <a:srgbClr val="156082"/>
                    </a:solidFill>
                  </a:tcPr>
                </a:tc>
              </a:tr>
              <a:tr h="874897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Contexto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El dashboard completo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Ninguno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</a:tr>
              <a:tr h="874897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Exploración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Mapa o barras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Por región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</a:tr>
              <a:tr h="874897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Descubrimiento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Línea de tiempo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Solo la región que cae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</a:tr>
              <a:tr h="874897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Acción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Resumen + texto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El segmento de la decisión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11 / 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4 · MANUAL PASO A PASO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Paso 10 · Publicar, o quedarse en Power BI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1858060"/>
            <a:ext cx="5367528" cy="4184294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 Same Side Corner Rectangle 7"/>
          <p:cNvSpPr/>
          <p:nvPr/>
        </p:nvSpPr>
        <p:spPr>
          <a:xfrm>
            <a:off x="566928" y="1858060"/>
            <a:ext cx="5367528" cy="566928"/>
          </a:xfrm>
          <a:prstGeom prst="round2SameRect">
            <a:avLst>
              <a:gd name="adj1" fmla="val 14000"/>
              <a:gd name="adj2" fmla="val 0"/>
            </a:avLst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858060"/>
            <a:ext cx="500176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54" b="1">
                <a:solidFill>
                  <a:srgbClr val="FFFFFF"/>
                </a:solidFill>
                <a:latin typeface="Aptos Display"/>
              </a:rPr>
              <a:t>Tableau Public</a:t>
            </a:r>
          </a:p>
        </p:txBody>
      </p:sp>
      <p:sp>
        <p:nvSpPr>
          <p:cNvPr id="10" name="Oval 9"/>
          <p:cNvSpPr/>
          <p:nvPr/>
        </p:nvSpPr>
        <p:spPr>
          <a:xfrm>
            <a:off x="786384" y="3174796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918764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Archivo, Guardar en Tableau Public</a:t>
            </a:r>
          </a:p>
        </p:txBody>
      </p:sp>
      <p:sp>
        <p:nvSpPr>
          <p:cNvPr id="12" name="Oval 11"/>
          <p:cNvSpPr/>
          <p:nvPr/>
        </p:nvSpPr>
        <p:spPr>
          <a:xfrm>
            <a:off x="786384" y="3778300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522268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Copia la URL, es parte de la entrega</a:t>
            </a:r>
          </a:p>
        </p:txBody>
      </p:sp>
      <p:sp>
        <p:nvSpPr>
          <p:cNvPr id="14" name="Oval 13"/>
          <p:cNvSpPr/>
          <p:nvPr/>
        </p:nvSpPr>
        <p:spPr>
          <a:xfrm>
            <a:off x="786384" y="4381804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4125772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Exporta también el PDF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858060"/>
            <a:ext cx="5367528" cy="4184294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>
            <a:off x="6263640" y="1858060"/>
            <a:ext cx="5367528" cy="566928"/>
          </a:xfrm>
          <a:prstGeom prst="round2SameRect">
            <a:avLst>
              <a:gd name="adj1" fmla="val 14000"/>
              <a:gd name="adj2" fmla="val 0"/>
            </a:avLst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858060"/>
            <a:ext cx="500176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54" b="1">
                <a:solidFill>
                  <a:srgbClr val="FFFFFF"/>
                </a:solidFill>
                <a:latin typeface="Aptos Display"/>
              </a:rPr>
              <a:t>Power BI con marcadores</a:t>
            </a:r>
          </a:p>
        </p:txBody>
      </p:sp>
      <p:sp>
        <p:nvSpPr>
          <p:cNvPr id="19" name="Oval 18"/>
          <p:cNvSpPr/>
          <p:nvPr/>
        </p:nvSpPr>
        <p:spPr>
          <a:xfrm>
            <a:off x="6483096" y="3174796"/>
            <a:ext cx="91440" cy="91440"/>
          </a:xfrm>
          <a:prstGeom prst="ellipse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2918764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Vista, panel Marcadores, uno por punto</a:t>
            </a:r>
          </a:p>
        </p:txBody>
      </p:sp>
      <p:sp>
        <p:nvSpPr>
          <p:cNvPr id="21" name="Oval 20"/>
          <p:cNvSpPr/>
          <p:nvPr/>
        </p:nvSpPr>
        <p:spPr>
          <a:xfrm>
            <a:off x="6483096" y="3778300"/>
            <a:ext cx="91440" cy="91440"/>
          </a:xfrm>
          <a:prstGeom prst="ellipse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3522268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Insertar, Botones, Navegador de marcadores</a:t>
            </a:r>
          </a:p>
        </p:txBody>
      </p:sp>
      <p:sp>
        <p:nvSpPr>
          <p:cNvPr id="23" name="Oval 22"/>
          <p:cNvSpPr/>
          <p:nvPr/>
        </p:nvSpPr>
        <p:spPr>
          <a:xfrm>
            <a:off x="6483096" y="4381804"/>
            <a:ext cx="91440" cy="91440"/>
          </a:xfrm>
          <a:prstGeom prst="ellipse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4125772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Vista de presentación para recorrerla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12 / 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60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960120"/>
            <a:ext cx="1219169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800" b="1">
                <a:solidFill>
                  <a:srgbClr val="0E2841"/>
                </a:solidFill>
                <a:latin typeface="Aptos Display"/>
              </a:rPr>
              <a:t>06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4648" y="3127248"/>
            <a:ext cx="1828800" cy="635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29000"/>
            <a:ext cx="10698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ptos Display"/>
              </a:rPr>
              <a:t>Cuantificar</a:t>
            </a:r>
          </a:p>
        </p:txBody>
      </p:sp>
      <p:pic>
        <p:nvPicPr>
          <p:cNvPr id="5" name="Picture 4" descr="Logo-Institucional-con-advertencia-Vigilado-Mineducacion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8117" y="5943600"/>
            <a:ext cx="750963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4 · MANUAL PASO A PASO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Paso 11 · Las dos medidas del cierre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1940356"/>
            <a:ext cx="11064240" cy="1909267"/>
          </a:xfrm>
          <a:prstGeom prst="roundRect">
            <a:avLst>
              <a:gd name="adj" fmla="val 5000"/>
            </a:avLst>
          </a:prstGeom>
          <a:solidFill>
            <a:srgbClr val="0E2841"/>
          </a:solidFill>
          <a:ln>
            <a:noFill/>
          </a:ln>
          <a:effectLst>
            <a:outerShdw blurRad="203200" dist="50800" dir="5400000" rotWithShape="0">
              <a:srgbClr val="0E2841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2159812"/>
            <a:ext cx="38100" cy="18288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123236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22" b="1">
                <a:solidFill>
                  <a:srgbClr val="E97132"/>
                </a:solidFill>
                <a:latin typeface="Aptos"/>
              </a:rPr>
              <a:t>1 · AÑO ANTERIOR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507284"/>
            <a:ext cx="10515600" cy="1177747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lnSpc>
                <a:spcPct val="125000"/>
              </a:lnSpc>
            </a:pPr>
            <a:r>
              <a:rPr sz="1667">
                <a:solidFill>
                  <a:srgbClr val="E8E8E8"/>
                </a:solidFill>
                <a:latin typeface="Consolas"/>
              </a:rPr>
              <a:t>Ventas Año Anterior =</a:t>
            </a:r>
          </a:p>
          <a:p>
            <a:pPr>
              <a:lnSpc>
                <a:spcPct val="125000"/>
              </a:lnSpc>
            </a:pPr>
            <a:r>
              <a:rPr sz="1667">
                <a:solidFill>
                  <a:srgbClr val="E8E8E8"/>
                </a:solidFill>
                <a:latin typeface="Consolas"/>
              </a:rPr>
              <a:t>CALCULATE ( [Total Ventas], DATEADD ( Calendario[Date], -1, YEAR ) 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050792"/>
            <a:ext cx="11064240" cy="1909267"/>
          </a:xfrm>
          <a:prstGeom prst="roundRect">
            <a:avLst>
              <a:gd name="adj" fmla="val 5000"/>
            </a:avLst>
          </a:prstGeom>
          <a:solidFill>
            <a:srgbClr val="0E2841"/>
          </a:solidFill>
          <a:ln>
            <a:noFill/>
          </a:ln>
          <a:effectLst>
            <a:outerShdw blurRad="203200" dist="50800" dir="5400000" rotWithShape="0">
              <a:srgbClr val="0E2841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1248" y="4270248"/>
            <a:ext cx="38100" cy="18288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4233672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22" b="1">
                <a:solidFill>
                  <a:srgbClr val="E97132"/>
                </a:solidFill>
                <a:latin typeface="Aptos"/>
              </a:rPr>
              <a:t>2 · VARIACIÓN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4617720"/>
            <a:ext cx="10515600" cy="1177747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lnSpc>
                <a:spcPct val="125000"/>
              </a:lnSpc>
            </a:pPr>
            <a:r>
              <a:rPr sz="1667">
                <a:solidFill>
                  <a:srgbClr val="E8E8E8"/>
                </a:solidFill>
                <a:latin typeface="Consolas"/>
              </a:rPr>
              <a:t>Variación % =</a:t>
            </a:r>
          </a:p>
          <a:p>
            <a:pPr>
              <a:lnSpc>
                <a:spcPct val="125000"/>
              </a:lnSpc>
            </a:pPr>
            <a:r>
              <a:rPr sz="1667">
                <a:solidFill>
                  <a:srgbClr val="E8E8E8"/>
                </a:solidFill>
                <a:latin typeface="Consolas"/>
              </a:rPr>
              <a:t>DIVIDE ( [Total Ventas] - [Ventas Año Anterior], [Ventas Año Anterior] 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13 / 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4 · MANUAL PASO A PASO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Paso 11.3 y 11.4 · Formato y tabla de fechas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2532888"/>
            <a:ext cx="2532888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68096" y="2368296"/>
            <a:ext cx="475488" cy="47548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3008376"/>
            <a:ext cx="2130552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Selecciona la medida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Herramientas de medidas, Formato: Porcentaje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0712" y="2532888"/>
            <a:ext cx="2532888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11880" y="2368296"/>
            <a:ext cx="475488" cy="475488"/>
          </a:xfrm>
          <a:prstGeom prst="ellipse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3008376"/>
            <a:ext cx="2130552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Un decimal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Debe verse -18,4 %, no -0,184234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54496" y="2532888"/>
            <a:ext cx="2532888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55664" y="2368296"/>
            <a:ext cx="475488" cy="47548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5664" y="3008376"/>
            <a:ext cx="2130552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Si DATEADD da vacío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Clic derecho en Calendario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2532888"/>
            <a:ext cx="2532888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299448" y="2368296"/>
            <a:ext cx="475488" cy="47548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99448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9448" y="3008376"/>
            <a:ext cx="2130552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Marcar como tabla de fechas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Elige la columna Date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14 /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60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960120"/>
            <a:ext cx="1219169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800" b="1">
                <a:solidFill>
                  <a:srgbClr val="0E2841"/>
                </a:solidFill>
                <a:latin typeface="Aptos Display"/>
              </a:rPr>
              <a:t>07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4648" y="3127248"/>
            <a:ext cx="1828800" cy="635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29000"/>
            <a:ext cx="10698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ptos Display"/>
              </a:rPr>
              <a:t>Verifiquemos</a:t>
            </a:r>
          </a:p>
        </p:txBody>
      </p:sp>
      <p:pic>
        <p:nvPicPr>
          <p:cNvPr id="5" name="Picture 4" descr="Logo-Institucional-con-advertencia-Vigilado-Mineducacion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8117" y="5943600"/>
            <a:ext cx="750963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9540"/>
                </a:solidFill>
                <a:latin typeface="Aptos"/>
              </a:rPr>
              <a:t>PREGUNTA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0E2841"/>
                </a:solidFill>
                <a:latin typeface="Aptos Display"/>
              </a:rPr>
              <a:t>Haces clic en una barra del dashboard y nada reacciona. ¿Qué falta?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1810511"/>
            <a:ext cx="11064240" cy="119822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86384" y="2199313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199313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810511"/>
            <a:ext cx="9966960" cy="1198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87" b="0">
                <a:solidFill>
                  <a:srgbClr val="0E2841"/>
                </a:solidFill>
                <a:latin typeface="Aptos"/>
              </a:rPr>
              <a:t>Publicar primero el libro en Tableau Public y recargar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36976"/>
            <a:ext cx="11064240" cy="119822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86384" y="3625778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3625778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236976"/>
            <a:ext cx="9966960" cy="1198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87" b="0">
                <a:solidFill>
                  <a:srgbClr val="0E2841"/>
                </a:solidFill>
                <a:latin typeface="Aptos"/>
              </a:rPr>
              <a:t>Activar el embudo: Usar como filtro en ese gráfico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663440"/>
            <a:ext cx="11064240" cy="119822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86384" y="5052242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505224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4663440"/>
            <a:ext cx="9966960" cy="1198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87" b="0">
                <a:solidFill>
                  <a:srgbClr val="0E2841"/>
                </a:solidFill>
                <a:latin typeface="Aptos"/>
              </a:rPr>
              <a:t>Crear una relación entre las hojas en el origen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15 / 21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9540"/>
                </a:solidFill>
                <a:latin typeface="Aptos"/>
              </a:rPr>
              <a:t>PREGUNTA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0E2841"/>
                </a:solidFill>
                <a:latin typeface="Aptos Display"/>
              </a:rPr>
              <a:t>Tu campo de ciudad no genera mapa al hacer doble clic. ¿Qué haces?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1810511"/>
            <a:ext cx="11064240" cy="119822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86384" y="2199313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199313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810511"/>
            <a:ext cx="9966960" cy="1198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87" b="0">
                <a:solidFill>
                  <a:srgbClr val="0E2841"/>
                </a:solidFill>
                <a:latin typeface="Aptos"/>
              </a:rPr>
              <a:t>Creas un campo calculado con la latitud escrita a mano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36976"/>
            <a:ext cx="11064240" cy="119822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86384" y="3625778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3625778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236976"/>
            <a:ext cx="9966960" cy="1198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87" b="0">
                <a:solidFill>
                  <a:srgbClr val="0E2841"/>
                </a:solidFill>
                <a:latin typeface="Aptos"/>
              </a:rPr>
              <a:t>Le asignas el rol geográfico con clic derecho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663440"/>
            <a:ext cx="11064240" cy="119822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86384" y="5052242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505224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4663440"/>
            <a:ext cx="9966960" cy="1198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87" b="0">
                <a:solidFill>
                  <a:srgbClr val="0E2841"/>
                </a:solidFill>
                <a:latin typeface="Aptos"/>
              </a:rPr>
              <a:t>Cambias el tipo de dato del campo a número decimal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16 / 21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9540"/>
                </a:solidFill>
                <a:latin typeface="Aptos"/>
              </a:rPr>
              <a:t>PREGUNTA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¿Qué debe cambiar entre un story point y el siguiente?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1810511"/>
            <a:ext cx="11064240" cy="119822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86384" y="2199313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199313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810511"/>
            <a:ext cx="9966960" cy="1198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87" b="0">
                <a:solidFill>
                  <a:srgbClr val="0E2841"/>
                </a:solidFill>
                <a:latin typeface="Aptos"/>
              </a:rPr>
              <a:t>La fuente de datos conectada al libro de trabajo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36976"/>
            <a:ext cx="11064240" cy="119822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86384" y="3625778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3625778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236976"/>
            <a:ext cx="9966960" cy="1198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87" b="0">
                <a:solidFill>
                  <a:srgbClr val="0E2841"/>
                </a:solidFill>
                <a:latin typeface="Aptos"/>
              </a:rPr>
              <a:t>El filtro o el enfoque, para preguntar algo nuevo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663440"/>
            <a:ext cx="11064240" cy="119822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86384" y="5052242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505224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4663440"/>
            <a:ext cx="9966960" cy="1198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87" b="0">
                <a:solidFill>
                  <a:srgbClr val="0E2841"/>
                </a:solidFill>
                <a:latin typeface="Aptos"/>
              </a:rPr>
              <a:t>Solo el color de fondo de cada diapositiva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17 / 21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9540"/>
                </a:solidFill>
                <a:latin typeface="Aptos"/>
              </a:rPr>
              <a:t>PREGUNTA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¿Por qué usar DIVIDE en lugar del operador "/"?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1810511"/>
            <a:ext cx="11064240" cy="119822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86384" y="2199313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199313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810511"/>
            <a:ext cx="9966960" cy="1198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87" b="0">
                <a:solidFill>
                  <a:srgbClr val="0E2841"/>
                </a:solidFill>
                <a:latin typeface="Aptos"/>
              </a:rPr>
              <a:t>Porque calcula más rápido en modelos de muchas filas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36976"/>
            <a:ext cx="11064240" cy="119822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86384" y="3625778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3625778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236976"/>
            <a:ext cx="9966960" cy="1198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87" b="0">
                <a:solidFill>
                  <a:srgbClr val="0E2841"/>
                </a:solidFill>
                <a:latin typeface="Aptos"/>
              </a:rPr>
              <a:t>Porque devuelve un blanco si el denominador es cero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663440"/>
            <a:ext cx="11064240" cy="119822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86384" y="5052242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505224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4663440"/>
            <a:ext cx="9966960" cy="1198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87" b="0">
                <a:solidFill>
                  <a:srgbClr val="0E2841"/>
                </a:solidFill>
                <a:latin typeface="Aptos"/>
              </a:rPr>
              <a:t>Porque "/" no existe en el lenguaje DAX de Power BI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18 / 21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9540"/>
                </a:solidFill>
                <a:latin typeface="Aptos"/>
              </a:rPr>
              <a:t>PREGUNTA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DATEADD te devuelve valores en blanco. ¿Qué revisas?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1810511"/>
            <a:ext cx="11064240" cy="119822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86384" y="2199313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199313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810511"/>
            <a:ext cx="9966960" cy="1198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87" b="0">
                <a:solidFill>
                  <a:srgbClr val="0E2841"/>
                </a:solidFill>
                <a:latin typeface="Aptos"/>
              </a:rPr>
              <a:t>Que la medida tenga aplicado el formato de moneda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36976"/>
            <a:ext cx="11064240" cy="119822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86384" y="3625778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3625778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236976"/>
            <a:ext cx="9966960" cy="1198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87" b="0">
                <a:solidFill>
                  <a:srgbClr val="0E2841"/>
                </a:solidFill>
                <a:latin typeface="Aptos"/>
              </a:rPr>
              <a:t>Que Calendario esté marcada como tabla de fechas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663440"/>
            <a:ext cx="11064240" cy="119822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86384" y="5052242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505224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4663440"/>
            <a:ext cx="9966960" cy="1198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87" b="0">
                <a:solidFill>
                  <a:srgbClr val="0E2841"/>
                </a:solidFill>
                <a:latin typeface="Aptos"/>
              </a:rPr>
              <a:t>Que el gráfico tenga activada la leyenda de color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19 / 21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4 · MANUAL PASO A PASO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Si algo sale mal, empieza por aquí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762963"/>
          <a:ext cx="11064240" cy="437448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729081"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</a:rPr>
                        <a:t>Síntoma</a:t>
                      </a:r>
                    </a:p>
                  </a:txBody>
                  <a:tcPr anchor="ctr" marL="146304" marR="146304">
                    <a:solidFill>
                      <a:srgbClr val="1560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</a:rPr>
                        <a:t>Solución</a:t>
                      </a:r>
                    </a:p>
                  </a:txBody>
                  <a:tcPr anchor="ctr" marL="146304" marR="146304">
                    <a:solidFill>
                      <a:srgbClr val="156082"/>
                    </a:solidFill>
                  </a:tcPr>
                </a:tc>
              </a:tr>
              <a:tr h="729081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Aparece "N desconocidos" en el mapa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Clic en el aviso, Editar ubicaciones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</a:tr>
              <a:tr h="729081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La serie de tiempo mezcla los años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Usa el mes del segundo bloque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</a:tr>
              <a:tr h="729081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El dashboard se ve cortado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Panel Tamaño: Automático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</a:tr>
              <a:tr h="729081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No encuentro dónde guardar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Tableau Public solo guarda en la nube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</a:tr>
              <a:tr h="729081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La variación sale como 0,184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Herramientas de medidas, Formato: Porcentaje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20 / 21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4 · MANUAL PASO A PASO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Lo que entregas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585216" y="2295143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810511"/>
            <a:ext cx="10698480" cy="10698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35" b="1">
                <a:solidFill>
                  <a:srgbClr val="0E2841"/>
                </a:solidFill>
                <a:latin typeface="Aptos"/>
              </a:rPr>
              <a:t>Enlace de Tableau Public o PDF de la historia</a:t>
            </a:r>
          </a:p>
        </p:txBody>
      </p:sp>
      <p:sp>
        <p:nvSpPr>
          <p:cNvPr id="9" name="Oval 8"/>
          <p:cNvSpPr/>
          <p:nvPr/>
        </p:nvSpPr>
        <p:spPr>
          <a:xfrm>
            <a:off x="585216" y="3364992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880360"/>
            <a:ext cx="10698480" cy="10698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64" b="1">
                <a:solidFill>
                  <a:srgbClr val="156082"/>
                </a:solidFill>
                <a:latin typeface="Consolas"/>
              </a:rPr>
              <a:t>.pbix</a:t>
            </a:r>
            <a:r>
              <a:rPr sz="2835" b="1">
                <a:solidFill>
                  <a:srgbClr val="0E2841"/>
                </a:solidFill>
                <a:latin typeface="Aptos"/>
              </a:rPr>
              <a:t> con la medida DAX y su formato</a:t>
            </a:r>
          </a:p>
        </p:txBody>
      </p:sp>
      <p:sp>
        <p:nvSpPr>
          <p:cNvPr id="11" name="Oval 10"/>
          <p:cNvSpPr/>
          <p:nvPr/>
        </p:nvSpPr>
        <p:spPr>
          <a:xfrm>
            <a:off x="585216" y="4434840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3950208"/>
            <a:ext cx="10698480" cy="10698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35" b="1">
                <a:solidFill>
                  <a:srgbClr val="0E2841"/>
                </a:solidFill>
                <a:latin typeface="Aptos"/>
              </a:rPr>
              <a:t>Nota de una página: qué pregunta responde el tablero y cuál es la recomendación</a:t>
            </a:r>
          </a:p>
        </p:txBody>
      </p:sp>
      <p:sp>
        <p:nvSpPr>
          <p:cNvPr id="13" name="Oval 12"/>
          <p:cNvSpPr/>
          <p:nvPr/>
        </p:nvSpPr>
        <p:spPr>
          <a:xfrm>
            <a:off x="585216" y="5504688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5020056"/>
            <a:ext cx="10698480" cy="10698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35" b="1">
                <a:solidFill>
                  <a:srgbClr val="0E2841"/>
                </a:solidFill>
                <a:latin typeface="Aptos"/>
              </a:rPr>
              <a:t>Los cuatro títulos que, leídos seguidos, cuentan la historia completa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21 / 21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Institucional-con-advertencia-Vigilado-Mineducacion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4780" y="914400"/>
            <a:ext cx="1902439" cy="1737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200400"/>
            <a:ext cx="1127455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ptos Display"/>
              </a:rPr>
              <a:t>¿Preguntas?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09160"/>
            <a:ext cx="112745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E8E8E8"/>
                </a:solidFill>
                <a:latin typeface="Aptos"/>
              </a:rPr>
              <a:t>Jesús Ariel González Bonilla  ·  ariel5253@hotmail.com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7b9d0d2-0928-4bc7-b1e7-d815d07dd502" xsi:nil="true"/>
    <lcf76f155ced4ddcb4097134ff3c332f xmlns="3b21ab7c-7e7a-493b-a43f-a219844d5b04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6AC4B3079F3F14986B23BC4E8B1044F" ma:contentTypeVersion="16" ma:contentTypeDescription="Crear nuevo documento." ma:contentTypeScope="" ma:versionID="04f898694b3caf94c38805e82f5c0fb9">
  <xsd:schema xmlns:xsd="http://www.w3.org/2001/XMLSchema" xmlns:xs="http://www.w3.org/2001/XMLSchema" xmlns:p="http://schemas.microsoft.com/office/2006/metadata/properties" xmlns:ns2="3b21ab7c-7e7a-493b-a43f-a219844d5b04" xmlns:ns3="c7b9d0d2-0928-4bc7-b1e7-d815d07dd502" targetNamespace="http://schemas.microsoft.com/office/2006/metadata/properties" ma:root="true" ma:fieldsID="1d46ddd55854086af038f8f8e7145c9b" ns2:_="" ns3:_="">
    <xsd:import namespace="3b21ab7c-7e7a-493b-a43f-a219844d5b04"/>
    <xsd:import namespace="c7b9d0d2-0928-4bc7-b1e7-d815d07dd50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21ab7c-7e7a-493b-a43f-a219844d5b0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Etiquetas de imagen" ma:readOnly="false" ma:fieldId="{5cf76f15-5ced-4ddc-b409-7134ff3c332f}" ma:taxonomyMulti="true" ma:sspId="c63f703e-4260-42db-90e1-1bf1f8b4f72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b9d0d2-0928-4bc7-b1e7-d815d07dd50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22966853-71d8-4c3c-a2a1-eb1a25e46692}" ma:internalName="TaxCatchAll" ma:showField="CatchAllData" ma:web="c7b9d0d2-0928-4bc7-b1e7-d815d07dd50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A55C560-F379-4979-BDAB-85ADD41BF196}">
  <ds:schemaRefs>
    <ds:schemaRef ds:uri="http://schemas.microsoft.com/office/2006/metadata/properties"/>
    <ds:schemaRef ds:uri="http://schemas.microsoft.com/office/infopath/2007/PartnerControls"/>
    <ds:schemaRef ds:uri="c7b9d0d2-0928-4bc7-b1e7-d815d07dd502"/>
    <ds:schemaRef ds:uri="3b21ab7c-7e7a-493b-a43f-a219844d5b04"/>
  </ds:schemaRefs>
</ds:datastoreItem>
</file>

<file path=customXml/itemProps2.xml><?xml version="1.0" encoding="utf-8"?>
<ds:datastoreItem xmlns:ds="http://schemas.openxmlformats.org/officeDocument/2006/customXml" ds:itemID="{5203D28F-282C-474C-8EAC-7F31992D296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0F9C096-F130-4ECE-8018-26CD4E103B0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b21ab7c-7e7a-493b-a43f-a219844d5b04"/>
    <ds:schemaRef ds:uri="c7b9d0d2-0928-4bc7-b1e7-d815d07dd50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Words>0</Words>
  <Application>Microsoft Office PowerPoint</Application>
  <PresentationFormat>Panorámica</PresentationFormat>
  <Paragraphs>0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acomunicaciones</dc:creator>
  <cp:lastModifiedBy>Oficina de Comunicaciones</cp:lastModifiedBy>
  <cp:revision>6</cp:revision>
  <dcterms:created xsi:type="dcterms:W3CDTF">2026-01-26T14:49:45Z</dcterms:created>
  <dcterms:modified xsi:type="dcterms:W3CDTF">2026-02-13T20:05:23Z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0x01010076AC4B3079F3F14986B23BC4E8B1044F</vt:lpwstr>
  </property>
</Properties>
</file>
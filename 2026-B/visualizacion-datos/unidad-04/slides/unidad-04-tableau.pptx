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4"/>
  </p:sldMasterIdLst>
  <p:sldIdLst>
    <p:sldId id="256" r:id="rId7"/>
    <p:sldId id="257" r:id="rId6"/>
    <p:sldId id="258" r:id="rId5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58"/>
  </p:normalViewPr>
  <p:slideViewPr>
    <p:cSldViewPr snapToGrid="0">
      <p:cViewPr varScale="1">
        <p:scale>
          <a:sx n="106" d="100"/>
          <a:sy n="106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Recoger respuestas. La mayoría dirá "por el resumen", y ahí está el punto: un tablero no se presenta, se recorre. Hoy vamos a construir ese recorrido. Es también la diferencia entre A2, que pedía un dashboard, y A4, que pide una historia.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cuatro objetivos de la unidad, y también los cuatro criterios de A4 (35%), la nota más alta del curso. Anunciar que el manual paso a paso los lleva clic a clic por los cuatro.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curso no es de tres herramientas, es de una competencia con tres acentos. Quien entiende jerarquía visual, modelo y narrativa cambia de herramienta en una tarde; quien solo memorizó botones, 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en vivo lo rápido que sale un gráfico. Luego preguntar qué gráfico deberían haber hecho: ahí aparece la diferencia entre producir gráficos y hacer análisis.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arrastran una dimensión a Filas obtienen una lista; si arrastran una medida obtienen una barra. Todo el vocabulario de Tableau se sostiene en esa distinción, y es idéntica a la de hechos y dimensiones de la Unidad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error de novato es meter todo a Marcas y preguntarse por qué el gráfico no cambia. Regla: si quieres otra forma, mueve el campo de estante; si quieres otro aspecto, llévalo a Marcas.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*Mostrarme* propone según lo que haya en los estantes, pero propone por forma del dato, no por pregunta de negocio. Recordar la Unidad 1: la torta sigue siendo mala idea aunque Tableau la ofrezca.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paso 2 es el que más se olvida y el que separa un collage de un tablero. Hacerlo en vivo: primero sin el embudo, para que vean que el clic no hace nada, y después con él.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Enlazar con A3: quien llegue aquí con el archivo crudo va a pelear con nombres de ciudad que el mapa no reconoce. Es el mismo principio de las tres unidades anteriores, ahora en la cuarta herramienta.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Cuatro puntos con el mismo estado son la misma diapositiva cuatro veces, y la rúbrica lo penaliza. El filtro por punto es lo que convierte la secuencia en argumento.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 la estructura de tres actos de la Unidad 3, con el cuerpo partido en dos: lo que se observa y lo que se descubre. Esa separación es la que hace que la recomendación final no parezca sacada de la manga.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Leer la columna derecha de corrido: es una historia completa sin ver un solo gráfico. Esa es la prueba que deben aplicar a su entrega antes de subirla.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Mismo dato, cuatro preguntas distintas. Preguntar qué pasaría si se invierte el orden y se abre con el ROI: se pierde la tensión y la audiencia no entiende de dónde sale la cifra.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Aquí se cierra el curso: la visualización comunica, pero la medida es la que convierte la impresión en evidencia. Es lo que separa una presentación bonita de un argumento que resiste preguntas del comité.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Escribirlas en vivo sobre el modelo de la Unidad 2 y arrastrar la segunda a una tarjeta. Recordar que DATEADD exige la tabla Calendario marcada como tabla de fechas: si devuelve vacío, ese es el motivo casi siempre.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 un detalle de dos caracteres que decide si el tablero sobrevive a la presentación. Aprovechar para insistir: en producción, lo que falla no es la fórmula compleja, es el caso borde que nadie probó.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Columnas cambia la estructura; Color solo el estilo. Los estantes definen estructura; la tarjeta Marcas define estilo.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Dimensiones, que agrupan, de medidas, que se agregan. Azul es dimensión, la categoría; verde es medida, el número que se suma.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Activar el embudo: Usar como filtro en ese gráfico. La interacción entre hojas no viene activada por defecto.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El filtro o el enfoque, para preguntar algo nuevo. Sin cambio de foco, son cuatro copias de la misma diapositiva.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Porque devuelve un blanco si el denominador es cero. DIVIDE maneja la división por cero sin romper el visual.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con A4 (35%): dashboard final, historia de cuatro puntos y la medida DAX que respalda la recomendación. El manual paso a paso trae las dos rutas —Tableau Public y marcadores de Power BI— y la tabla de diagnóstico con los diez errores más frecuentes. Y el cierre del curso: una visualización sirve cuando comunica algo verdadero más rápido; todo lo demás es decoración.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C6517A-6E51-D8FF-5518-33DCF1BB8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5F916A-7D6A-E8AF-439A-8D6840C6F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46680D-0A49-4B54-F51B-03AA27F6B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96F560-F0B8-AB29-82CA-A2DDE7D35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D50BE2-EBBD-61B9-3E6C-B4C2BA988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68766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8836D1-D4F9-8F5A-DCDD-25408D7D3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51DC57-A21A-5278-EC55-4C245B3FC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2E49EC-4920-0E2F-9C8B-0B674CB07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31254A-3742-246E-D797-82A0482FE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D15C84-0D5E-FBD8-F4A6-A48214F7C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53980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5FBBEC-EF89-8C3C-71B9-577DC2668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7EF770-ACB6-2BA3-E667-9EBABFB4A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AD28F8-48D0-258C-AD9D-D166F7F2D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8163DA-7927-EC0F-B832-B0D9CEF24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D2D961-09A6-F702-5A58-9A2E9D96B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14478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EAE57A-7BC8-A4F0-8EC3-29FA071B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DB23D6-B010-B5CB-011A-B03D0B3E9D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80C2A42-464D-5E30-A614-F5201EA43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B7E369D-DA34-3508-5F83-FE255ACE6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FAF6228-C474-55C2-F2A3-A80C9ECB9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E2CA109-4F43-98C5-5BA6-85F5B496E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908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ADADB-6CDF-BDB1-1300-FAEA2D84B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7B4924-BB64-D547-A28B-666362350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07D8AA5-BF4A-D02D-E702-0FBE685A5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6BC7471-CDF8-0C0F-6D28-4001FC283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33769A5-222B-5317-4503-6E9D363E28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17FE0D7-3EEC-E3E6-7C86-CF7C18AB6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8EFF3E5-4BD9-D039-6F0A-0A92B04A1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DF0DEE6-C861-6117-2772-892873D92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48347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91AA1F-2C39-64AF-4C6F-BF1C44530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0E135E8-59EC-9B87-4141-B4E0DEA15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2565AFD-1683-D460-140D-9F48CBCBA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711735-1F41-F218-7243-AC89EA548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61154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188DA81-50FE-72AF-6F22-3D317B92F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ADFFC1-222F-FA4F-F745-4AECF65CE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FB47231-DA7E-E86D-0ECA-3CD935CB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9125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6A5293-4CAF-8D46-B44D-99EAF11FD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A782D5-A60C-369C-7F2E-20DC36F50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C7E45F-8F4D-4A4A-AD2B-580AA0500F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49A9D3-41A6-5F05-3785-C76553A32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339118E-A5D9-04A8-223B-C952BE301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AFCCC82-59BC-CBA8-F9A5-1C4603AD8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28771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0C677B-1ABC-81D6-857F-7E1F6785C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8FFF9DA-1F76-6604-0F69-D17DFFA8AD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FD3A44-53F9-E2AD-4B37-3C2CD8A25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A3A846-4373-5BFE-DCED-CDECAACAA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0137096-4AD9-8D1E-B119-EDDF0F3EA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7ADAE5B-0E78-C71A-B918-853E86CE0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64844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A2BA9E-020E-BCD8-9EA9-9BDFB1673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D2EE6B7-CD7D-EA57-7B4D-87C2F63C8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BA0735-0CBD-5147-C06C-3B03006C1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CAF2C5-C162-2021-6EDC-A71646303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AD3F66-F4A3-A221-BA4A-2F3274427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61594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64F149B-9E13-3157-0B62-971D8EB526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87BBD2-5343-3A5D-564E-2D534BC7D0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B2F397-0E8A-92C8-93C4-9018446E3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6F7EEE-EA06-5E8F-8174-D1B755A7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7410F1-59DC-8093-6A75-33AE1285C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39316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1D6B204-4AEE-9E74-8DF2-926D69EDA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631246-8F97-5699-6653-D3A77D764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3B2563-9278-5DCC-E5B5-CCE80A0280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AD3EE7-759B-C8A2-7A15-CC1FFB801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BE85B8-1FF9-DDC6-E068-D7EEA7240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6904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520440"/>
            <a:ext cx="11734800" cy="25146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4395" y="548640"/>
            <a:ext cx="2503210" cy="2286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3429000"/>
            <a:ext cx="11734800" cy="76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703320"/>
            <a:ext cx="10881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Aptos Display"/>
              </a:rPr>
              <a:t>Del dato a la decisión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E8E8E8"/>
                </a:solidFill>
                <a:latin typeface="Aptos"/>
              </a:rPr>
              <a:t>Visualización de Datos  ·  Jesús Ariel González Bonilla  ·  2026-B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5321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8E8E8"/>
                </a:solidFill>
                <a:latin typeface="Aptos"/>
              </a:rPr>
              <a:t>Visualización profesional y narrativas de datos con Tableau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Cerrar el curso donde empezó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4 · TABLEAU Y NARRATIVAS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Empecemos por el momento de la verdad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476195"/>
            <a:ext cx="11064240" cy="2948025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531059"/>
            <a:ext cx="63500" cy="2838297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76195"/>
            <a:ext cx="10378440" cy="29480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704" b="1">
                <a:solidFill>
                  <a:srgbClr val="0E2841"/>
                </a:solidFill>
                <a:latin typeface="Aptos Display"/>
              </a:rPr>
              <a:t>Tienes ocho minutos frente al comité que decide el presupuesto del próximo año. Llevas un tablero con doce gráficos. ¿Por dónde empiezas?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4 · TABLEAU Y NARRATIVAS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Lo que vas a poder hacer al terminar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2304288"/>
            <a:ext cx="384048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Construir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Visualizaciones en Tableau con estantes y la tarjeta Marcas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2304288"/>
            <a:ext cx="384048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Ensamblar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Un dashboard donde un gráfico filtra a los demás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55664" y="2304288"/>
            <a:ext cx="384048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Narrar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Cuatro story points de contexto a acción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99448" y="2304288"/>
            <a:ext cx="384048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Cuantificar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Una medida DAX que sostenga la recomendación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4 · TABLEAU Y NARRATIVAS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Tres herramientas, una sola idea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58060"/>
            <a:ext cx="3468624" cy="418429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566928" y="1858060"/>
            <a:ext cx="3468624" cy="566928"/>
          </a:xfrm>
          <a:prstGeom prst="round2SameRect">
            <a:avLst>
              <a:gd name="adj1" fmla="val 14000"/>
              <a:gd name="adj2" fmla="val 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58060"/>
            <a:ext cx="310286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54" b="1">
                <a:solidFill>
                  <a:srgbClr val="FFFFFF"/>
                </a:solidFill>
                <a:latin typeface="Aptos Display"/>
              </a:rPr>
              <a:t>Power BI</a:t>
            </a:r>
          </a:p>
        </p:txBody>
      </p:sp>
      <p:sp>
        <p:nvSpPr>
          <p:cNvPr id="10" name="Oval 9"/>
          <p:cNvSpPr/>
          <p:nvPr/>
        </p:nvSpPr>
        <p:spPr>
          <a:xfrm>
            <a:off x="786384" y="3174796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918764"/>
            <a:ext cx="2810256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Modelo explícito y DAX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3778300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22268"/>
            <a:ext cx="2810256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Fuerte para medir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" y="4381804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125772"/>
            <a:ext cx="2810256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Unidad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4736" y="1858060"/>
            <a:ext cx="3468624" cy="418429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>
            <a:off x="4364736" y="1858060"/>
            <a:ext cx="3468624" cy="566928"/>
          </a:xfrm>
          <a:prstGeom prst="round2SameRect">
            <a:avLst>
              <a:gd name="adj1" fmla="val 14000"/>
              <a:gd name="adj2" fmla="val 0"/>
            </a:avLst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7616" y="1858060"/>
            <a:ext cx="310286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54" b="1">
                <a:solidFill>
                  <a:srgbClr val="FFFFFF"/>
                </a:solidFill>
                <a:latin typeface="Aptos Display"/>
              </a:rPr>
              <a:t>Qlik Sense</a:t>
            </a:r>
          </a:p>
        </p:txBody>
      </p:sp>
      <p:sp>
        <p:nvSpPr>
          <p:cNvPr id="19" name="Oval 18"/>
          <p:cNvSpPr/>
          <p:nvPr/>
        </p:nvSpPr>
        <p:spPr>
          <a:xfrm>
            <a:off x="4584192" y="3174796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21936" y="2918764"/>
            <a:ext cx="2810256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Motor asociativo</a:t>
            </a:r>
          </a:p>
        </p:txBody>
      </p:sp>
      <p:sp>
        <p:nvSpPr>
          <p:cNvPr id="21" name="Oval 20"/>
          <p:cNvSpPr/>
          <p:nvPr/>
        </p:nvSpPr>
        <p:spPr>
          <a:xfrm>
            <a:off x="4584192" y="3778300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21936" y="3522268"/>
            <a:ext cx="2810256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Fuerte para explorar</a:t>
            </a:r>
          </a:p>
        </p:txBody>
      </p:sp>
      <p:sp>
        <p:nvSpPr>
          <p:cNvPr id="23" name="Oval 22"/>
          <p:cNvSpPr/>
          <p:nvPr/>
        </p:nvSpPr>
        <p:spPr>
          <a:xfrm>
            <a:off x="4584192" y="4381804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21936" y="4125772"/>
            <a:ext cx="2810256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Unidad 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62544" y="1858060"/>
            <a:ext cx="3468624" cy="418429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>
            <a:off x="8162544" y="1858060"/>
            <a:ext cx="3468624" cy="566928"/>
          </a:xfrm>
          <a:prstGeom prst="round2SameRect">
            <a:avLst>
              <a:gd name="adj1" fmla="val 14000"/>
              <a:gd name="adj2" fmla="val 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5424" y="1858060"/>
            <a:ext cx="310286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54" b="1">
                <a:solidFill>
                  <a:srgbClr val="FFFFFF"/>
                </a:solidFill>
                <a:latin typeface="Aptos Display"/>
              </a:rPr>
              <a:t>Tableau</a:t>
            </a:r>
          </a:p>
        </p:txBody>
      </p:sp>
      <p:sp>
        <p:nvSpPr>
          <p:cNvPr id="28" name="Oval 27"/>
          <p:cNvSpPr/>
          <p:nvPr/>
        </p:nvSpPr>
        <p:spPr>
          <a:xfrm>
            <a:off x="8382000" y="3174796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19744" y="2918764"/>
            <a:ext cx="2810256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Arrastrar y soltar</a:t>
            </a:r>
          </a:p>
        </p:txBody>
      </p:sp>
      <p:sp>
        <p:nvSpPr>
          <p:cNvPr id="30" name="Oval 29"/>
          <p:cNvSpPr/>
          <p:nvPr/>
        </p:nvSpPr>
        <p:spPr>
          <a:xfrm>
            <a:off x="8382000" y="3778300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19744" y="3522268"/>
            <a:ext cx="2810256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Fuerte para visualizar y narrar</a:t>
            </a:r>
          </a:p>
        </p:txBody>
      </p:sp>
      <p:sp>
        <p:nvSpPr>
          <p:cNvPr id="32" name="Oval 31"/>
          <p:cNvSpPr/>
          <p:nvPr/>
        </p:nvSpPr>
        <p:spPr>
          <a:xfrm>
            <a:off x="8382000" y="4381804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19744" y="4125772"/>
            <a:ext cx="2810256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Unidad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3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Arrastrar y soltar, con criterio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4 · TABLEAU Y NARRATIVAS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Tableau no te pide programar, te pide decidir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476195"/>
            <a:ext cx="11064240" cy="2948025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531059"/>
            <a:ext cx="63500" cy="2838297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76195"/>
            <a:ext cx="10378440" cy="29480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704" b="1">
                <a:solidFill>
                  <a:srgbClr val="0E2841"/>
                </a:solidFill>
                <a:latin typeface="Aptos Display"/>
              </a:rPr>
              <a:t>Su filosofía es que construyas el análisis arrastrando campos de forma lógica. Lo difícil nunca fue la sintaxis: es saber qué pregunta estás respondiendo.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4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4 · TABLEAU Y NARRATIVAS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Azul y verde: la primera decisión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58060"/>
            <a:ext cx="5367528" cy="418429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566928" y="1858060"/>
            <a:ext cx="5367528" cy="566928"/>
          </a:xfrm>
          <a:prstGeom prst="round2SameRect">
            <a:avLst>
              <a:gd name="adj1" fmla="val 14000"/>
              <a:gd name="adj2" fmla="val 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58060"/>
            <a:ext cx="50017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54" b="1">
                <a:solidFill>
                  <a:srgbClr val="FFFFFF"/>
                </a:solidFill>
                <a:latin typeface="Aptos Display"/>
              </a:rPr>
              <a:t>Dimensiones (azul)</a:t>
            </a:r>
          </a:p>
        </p:txBody>
      </p:sp>
      <p:sp>
        <p:nvSpPr>
          <p:cNvPr id="10" name="Oval 9"/>
          <p:cNvSpPr/>
          <p:nvPr/>
        </p:nvSpPr>
        <p:spPr>
          <a:xfrm>
            <a:off x="786384" y="3174796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918764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Categorías: región, producto, fecha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3778300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22268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Responden "por cuál grupo"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" y="4381804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125772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Agrupan y dividen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858060"/>
            <a:ext cx="5367528" cy="418429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>
            <a:off x="6263640" y="1858060"/>
            <a:ext cx="5367528" cy="566928"/>
          </a:xfrm>
          <a:prstGeom prst="round2SameRect">
            <a:avLst>
              <a:gd name="adj1" fmla="val 14000"/>
              <a:gd name="adj2" fmla="val 0"/>
            </a:avLst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858060"/>
            <a:ext cx="50017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54" b="1">
                <a:solidFill>
                  <a:srgbClr val="FFFFFF"/>
                </a:solidFill>
                <a:latin typeface="Aptos Display"/>
              </a:rPr>
              <a:t>Medidas (verde)</a:t>
            </a:r>
          </a:p>
        </p:txBody>
      </p:sp>
      <p:sp>
        <p:nvSpPr>
          <p:cNvPr id="19" name="Oval 18"/>
          <p:cNvSpPr/>
          <p:nvPr/>
        </p:nvSpPr>
        <p:spPr>
          <a:xfrm>
            <a:off x="6483096" y="3174796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2918764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Números que se agregan: monto, unidades</a:t>
            </a:r>
          </a:p>
        </p:txBody>
      </p:sp>
      <p:sp>
        <p:nvSpPr>
          <p:cNvPr id="21" name="Oval 20"/>
          <p:cNvSpPr/>
          <p:nvPr/>
        </p:nvSpPr>
        <p:spPr>
          <a:xfrm>
            <a:off x="6483096" y="3778300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3522268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Responden "cuánto"</a:t>
            </a:r>
          </a:p>
        </p:txBody>
      </p:sp>
      <p:sp>
        <p:nvSpPr>
          <p:cNvPr id="23" name="Oval 22"/>
          <p:cNvSpPr/>
          <p:nvPr/>
        </p:nvSpPr>
        <p:spPr>
          <a:xfrm>
            <a:off x="6483096" y="4381804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4125772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Se suman o promedian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5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4 · TABLEAU Y NARRATIVAS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Estructura y estilo son dos decisiones separadas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62963"/>
          <a:ext cx="11064240" cy="437448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874897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Elemento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Controla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Ejemplo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Columnas / Filas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La estructura del gráfico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Mes en el eje X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Filtros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Qué datos entran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Solo 2026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Páginas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Cómo cambia en el tiempo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Animar por mes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Tarjeta Marcas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El estilo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Color por región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6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4 · TABLEAU Y NARRATIVAS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Mostrarme sugiere, tú decides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62963"/>
          <a:ext cx="11064240" cy="437448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729081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Necesitas…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Gráfico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Comparar categorías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Barras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Ubicación geográfica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Mapa automático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Relación entre dos variables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Dispersión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Duración de tareas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Gantt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Dos medidas a la vez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Combinado línea y barra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7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Del gráfico al tablero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4 · TABLEAU Y NARRATIVAS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Un dashboard es un gráfico que conversa con otro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532888"/>
            <a:ext cx="3480816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008376"/>
            <a:ext cx="3078480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Arrastra las hojas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La banda gris muestra dónde van a caer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8640" y="2532888"/>
            <a:ext cx="3480816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59808" y="2368296"/>
            <a:ext cx="475488" cy="475488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9808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9808" y="3008376"/>
            <a:ext cx="3078480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Usa como filtro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El ícono del embudo en cada gráfico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0352" y="2532888"/>
            <a:ext cx="3480816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51520" y="2368296"/>
            <a:ext cx="475488" cy="47548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1520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1520" y="3008376"/>
            <a:ext cx="3078480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Comprueba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Clic en una barra y los demás deben reaccionar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8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4 · TABLEAU Y NARRATIVAS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Llega con los datos limpios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476195"/>
            <a:ext cx="11064240" cy="2948025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531059"/>
            <a:ext cx="63500" cy="2838297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76195"/>
            <a:ext cx="10378440" cy="29480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704" b="1">
                <a:solidFill>
                  <a:srgbClr val="0E2841"/>
                </a:solidFill>
                <a:latin typeface="Aptos Display"/>
              </a:rPr>
              <a:t>Tableau permite algunas transformaciones, pero no es su oficio. Lo que se limpia en Power Query se limpia una vez y se reaplica solo.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9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La historia en cuatro actos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4 · TABLEAU Y NARRATIVAS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Un story point no es una captura de pantalla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476195"/>
            <a:ext cx="11064240" cy="2948025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531059"/>
            <a:ext cx="63500" cy="2838297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76195"/>
            <a:ext cx="10378440" cy="29480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704" b="1">
                <a:solidFill>
                  <a:srgbClr val="0E2841"/>
                </a:solidFill>
                <a:latin typeface="Aptos Display"/>
              </a:rPr>
              <a:t>Es una parada del recorrido: muestra una hoja o un dashboard </a:t>
            </a:r>
            <a:r>
              <a:rPr sz="3704" b="1">
                <a:solidFill>
                  <a:srgbClr val="0E2841"/>
                </a:solidFill>
                <a:latin typeface="Aptos Display"/>
              </a:rPr>
              <a:t>con su propio filtro</a:t>
            </a:r>
            <a:r>
              <a:rPr sz="3704" b="1">
                <a:solidFill>
                  <a:srgbClr val="0E2841"/>
                </a:solidFill>
                <a:latin typeface="Aptos Display"/>
              </a:rPr>
              <a:t>, para responder una pregunta que la parada anterior dejó abierta.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10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4 · TABLEAU Y NARRATIVAS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El recorrido completo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624328"/>
            <a:ext cx="2478024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624328"/>
            <a:ext cx="2478024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313785"/>
            <a:ext cx="2185416" cy="1803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Contexto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dónde estamos</a:t>
            </a:r>
          </a:p>
        </p:txBody>
      </p:sp>
      <p:sp>
        <p:nvSpPr>
          <p:cNvPr id="10" name="Chevron 9"/>
          <p:cNvSpPr/>
          <p:nvPr/>
        </p:nvSpPr>
        <p:spPr>
          <a:xfrm>
            <a:off x="3136392" y="3472891"/>
            <a:ext cx="201168" cy="954633"/>
          </a:xfrm>
          <a:prstGeom prst="chevron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0" y="2624328"/>
            <a:ext cx="2478024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2624328"/>
            <a:ext cx="2478024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5304" y="3313785"/>
            <a:ext cx="2185416" cy="1803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Exploración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qué se ve</a:t>
            </a:r>
          </a:p>
        </p:txBody>
      </p:sp>
      <p:sp>
        <p:nvSpPr>
          <p:cNvPr id="14" name="Chevron 13"/>
          <p:cNvSpPr/>
          <p:nvPr/>
        </p:nvSpPr>
        <p:spPr>
          <a:xfrm>
            <a:off x="5998464" y="3472891"/>
            <a:ext cx="201168" cy="954633"/>
          </a:xfrm>
          <a:prstGeom prst="chevron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91072" y="2624328"/>
            <a:ext cx="2478024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91072" y="2624328"/>
            <a:ext cx="2478024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3313785"/>
            <a:ext cx="2185416" cy="1803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Descubrimiento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qué encontré</a:t>
            </a:r>
          </a:p>
        </p:txBody>
      </p:sp>
      <p:sp>
        <p:nvSpPr>
          <p:cNvPr id="18" name="Chevron 17"/>
          <p:cNvSpPr/>
          <p:nvPr/>
        </p:nvSpPr>
        <p:spPr>
          <a:xfrm>
            <a:off x="8860536" y="3472891"/>
            <a:ext cx="201168" cy="954633"/>
          </a:xfrm>
          <a:prstGeom prst="chevron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53144" y="2624328"/>
            <a:ext cx="2478024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53144" y="2624328"/>
            <a:ext cx="2478024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3313785"/>
            <a:ext cx="2185416" cy="1803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Acción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qué propongo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11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4 · TABLEAU Y NARRATIVAS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Qué va exactamente en cada punto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62963"/>
          <a:ext cx="11064240" cy="437448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874897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Punto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Visual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Qué afirma el título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Contexto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Dashboard sin filtros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"2026 cerró en 1 240 M"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Exploración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Mapa o barras filtradas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"Cuatro regiones crecen, una cae"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Descubrimiento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Línea de la región que cae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"El Norte cae desde agosto"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Acción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Resumen + texto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"Reasignar el 15 % del presupuesto"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12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4 · TABLEAU Y NARRATIVAS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Ejemplo trabajado: campaña en redes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Alcance total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tarjetas de KPI, el contexto de la campaña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11880" y="2368296"/>
            <a:ext cx="475488" cy="475488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Costo por clic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barras por red social, dónde se fue la plata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368296"/>
            <a:ext cx="475488" cy="47548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Evolución del CTR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línea de tiempo, cuándo se cayó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99448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ROI y conclusión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texto y tabla, qué hacer el próximo trimestre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13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Cerrar con una cifra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4 · TABLEAU Y NARRATIVAS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"Parece que bajó" no sostiene una decisión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476195"/>
            <a:ext cx="11064240" cy="2948025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531059"/>
            <a:ext cx="63500" cy="2838297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76195"/>
            <a:ext cx="10378440" cy="29480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704" b="1">
                <a:solidFill>
                  <a:srgbClr val="0E2841"/>
                </a:solidFill>
                <a:latin typeface="Aptos Display"/>
              </a:rPr>
              <a:t>Un número solo no dice nada. </a:t>
            </a:r>
            <a:r>
              <a:rPr sz="3704" b="1" i="1">
                <a:solidFill>
                  <a:srgbClr val="0E2841"/>
                </a:solidFill>
                <a:latin typeface="Aptos Display"/>
              </a:rPr>
              <a:t>1 240 M</a:t>
            </a:r>
            <a:r>
              <a:rPr sz="3704" b="1">
                <a:solidFill>
                  <a:srgbClr val="0E2841"/>
                </a:solidFill>
                <a:latin typeface="Aptos Display"/>
              </a:rPr>
              <a:t> no es bueno ni malo hasta que sabes contra qué se compara.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14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4 · TABLEAU Y NARRATIVAS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La variación, en dos medidas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940356"/>
            <a:ext cx="11064240" cy="1909267"/>
          </a:xfrm>
          <a:prstGeom prst="roundRect">
            <a:avLst>
              <a:gd name="adj" fmla="val 5000"/>
            </a:avLst>
          </a:prstGeom>
          <a:solidFill>
            <a:srgbClr val="0E2841"/>
          </a:solidFill>
          <a:ln>
            <a:noFill/>
          </a:ln>
          <a:effectLst>
            <a:outerShdw blurRad="203200" dist="50800" dir="5400000" rotWithShape="0">
              <a:srgbClr val="0E284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2159812"/>
            <a:ext cx="38100" cy="1828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12323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22" b="1">
                <a:solidFill>
                  <a:srgbClr val="E97132"/>
                </a:solidFill>
                <a:latin typeface="Aptos"/>
              </a:rPr>
              <a:t>1 · AÑO ANTERIOR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507284"/>
            <a:ext cx="10515600" cy="1177747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667">
                <a:solidFill>
                  <a:srgbClr val="E8E8E8"/>
                </a:solidFill>
                <a:latin typeface="Consolas"/>
              </a:rPr>
              <a:t>Ventas Año Anterior =</a:t>
            </a:r>
          </a:p>
          <a:p>
            <a:pPr>
              <a:lnSpc>
                <a:spcPct val="125000"/>
              </a:lnSpc>
            </a:pPr>
            <a:r>
              <a:rPr sz="1667">
                <a:solidFill>
                  <a:srgbClr val="E8E8E8"/>
                </a:solidFill>
                <a:latin typeface="Consolas"/>
              </a:rPr>
              <a:t>CALCULATE ( [Total Ventas], DATEADD ( Calendario[Date], -1, YEAR ) 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050792"/>
            <a:ext cx="11064240" cy="1909267"/>
          </a:xfrm>
          <a:prstGeom prst="roundRect">
            <a:avLst>
              <a:gd name="adj" fmla="val 5000"/>
            </a:avLst>
          </a:prstGeom>
          <a:solidFill>
            <a:srgbClr val="0E2841"/>
          </a:solidFill>
          <a:ln>
            <a:noFill/>
          </a:ln>
          <a:effectLst>
            <a:outerShdw blurRad="203200" dist="50800" dir="5400000" rotWithShape="0">
              <a:srgbClr val="0E284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4270248"/>
            <a:ext cx="38100" cy="1828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4233672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22" b="1">
                <a:solidFill>
                  <a:srgbClr val="E97132"/>
                </a:solidFill>
                <a:latin typeface="Aptos"/>
              </a:rPr>
              <a:t>2 · VARIACIÓN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4617720"/>
            <a:ext cx="10515600" cy="1177747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667">
                <a:solidFill>
                  <a:srgbClr val="E8E8E8"/>
                </a:solidFill>
                <a:latin typeface="Consolas"/>
              </a:rPr>
              <a:t>Variación % =</a:t>
            </a:r>
          </a:p>
          <a:p>
            <a:pPr>
              <a:lnSpc>
                <a:spcPct val="125000"/>
              </a:lnSpc>
            </a:pPr>
            <a:r>
              <a:rPr sz="1667">
                <a:solidFill>
                  <a:srgbClr val="E8E8E8"/>
                </a:solidFill>
                <a:latin typeface="Consolas"/>
              </a:rPr>
              <a:t>DIVIDE ( [Total Ventas] - [Ventas Año Anterior], [Ventas Año Anterior] 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15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4 · TABLEAU Y NARRATIVAS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Usa DIVIDE, no la barra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476195"/>
            <a:ext cx="11064240" cy="2948025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531059"/>
            <a:ext cx="63500" cy="2838297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76195"/>
            <a:ext cx="10378440" cy="29480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704" b="1">
                <a:solidFill>
                  <a:srgbClr val="0E2841"/>
                </a:solidFill>
                <a:latin typeface="Aptos Display"/>
              </a:rPr>
              <a:t>Si una región no tuvo ventas el año pasado, el denominador es cero: </a:t>
            </a:r>
            <a:r>
              <a:rPr sz="3481" b="1">
                <a:solidFill>
                  <a:srgbClr val="156082"/>
                </a:solidFill>
                <a:latin typeface="Consolas"/>
              </a:rPr>
              <a:t>/</a:t>
            </a:r>
            <a:r>
              <a:rPr sz="3704" b="1">
                <a:solidFill>
                  <a:srgbClr val="0E2841"/>
                </a:solidFill>
                <a:latin typeface="Aptos Display"/>
              </a:rPr>
              <a:t> rompe el visual con un error, </a:t>
            </a:r>
            <a:r>
              <a:rPr sz="3481" b="1">
                <a:solidFill>
                  <a:srgbClr val="156082"/>
                </a:solidFill>
                <a:latin typeface="Consolas"/>
              </a:rPr>
              <a:t>DIVIDE</a:t>
            </a:r>
            <a:r>
              <a:rPr sz="3704" b="1">
                <a:solidFill>
                  <a:srgbClr val="0E2841"/>
                </a:solidFill>
                <a:latin typeface="Aptos Display"/>
              </a:rPr>
              <a:t> devuelve un blanco y el tablero sigue en pie.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16 /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06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Verifiquemos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E2841"/>
                </a:solidFill>
                <a:latin typeface="Aptos Display"/>
              </a:rPr>
              <a:t>¿Qué diferencia hay entre arrastrar un campo a Columnas y llevarlo a Color?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199313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9931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Columnas es para medidas y Color solo para dimensiones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36976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625778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62577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36976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Columnas cambia la estructura; Color solo el estilo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63440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505224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505224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663440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Ninguna: Tableau interpreta los dos estantes igual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17 / 22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En el panel Datos, azul y verde distinguen…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199313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9931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Campos ordenados de campos sin ordenar en la vista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36976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625778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62577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36976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Dimensiones, que agrupan, de medidas, que se agregan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63440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505224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505224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663440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Campos del archivo de campos calculados por fórmula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18 / 22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E2841"/>
                </a:solidFill>
                <a:latin typeface="Aptos Display"/>
              </a:rPr>
              <a:t>Haces clic en una barra del dashboard y nada reacciona. ¿Qué falta?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199313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9931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Publicar primero el libro en Tableau Public y recargar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36976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625778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62577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36976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Activar el embudo: Usar como filtro en ese gráfico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63440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505224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505224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663440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Crear una relación entre las hojas en el origen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19 / 22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¿Qué debe cambiar entre un story point y el siguiente?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199313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9931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La fuente de datos conectada al libro de trabajo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36976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625778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62577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36976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El filtro o el enfoque, para preguntar algo nuevo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63440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505224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505224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663440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Solo el color de fondo de cada diapositiva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20 / 22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¿Por qué la variación se escribe con DIVIDE y no con "/"?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199313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9931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Porque calcula más rápido en modelos de muchas filas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36976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625778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62577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36976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Porque devuelve un blanco si el denominador es cero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63440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505224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505224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663440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Porque el operador "/" no existe en el lenguaje DAX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21 / 22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4 · TABLEAU Y NARRATIVAS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Lo que nos llevamos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532888"/>
            <a:ext cx="3480816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008376"/>
            <a:ext cx="3078480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Estructura y estilo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dos decisiones distintas, no un solo paso de formato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8640" y="2532888"/>
            <a:ext cx="3480816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59808" y="2368296"/>
            <a:ext cx="475488" cy="475488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9808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9808" y="3008376"/>
            <a:ext cx="3078480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Una historia no es un tablero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cuatro paradas, cada una con su filtro y su pregunta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0352" y="2532888"/>
            <a:ext cx="3480816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51520" y="2368296"/>
            <a:ext cx="475488" cy="47548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1520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1520" y="3008376"/>
            <a:ext cx="3078480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La cifra sostiene la decisión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la medida convierte la impresión en evidencia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22 / 22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780" y="914400"/>
            <a:ext cx="1902439" cy="1737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ptos Display"/>
              </a:rPr>
              <a:t>¿Preguntas?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09160"/>
            <a:ext cx="112745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E8E8E8"/>
                </a:solidFill>
                <a:latin typeface="Aptos"/>
              </a:rPr>
              <a:t>Jesús Ariel González Bonilla  ·  ariel5253@hotmail.com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7b9d0d2-0928-4bc7-b1e7-d815d07dd502" xsi:nil="true"/>
    <lcf76f155ced4ddcb4097134ff3c332f xmlns="3b21ab7c-7e7a-493b-a43f-a219844d5b04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6AC4B3079F3F14986B23BC4E8B1044F" ma:contentTypeVersion="16" ma:contentTypeDescription="Crear nuevo documento." ma:contentTypeScope="" ma:versionID="04f898694b3caf94c38805e82f5c0fb9">
  <xsd:schema xmlns:xsd="http://www.w3.org/2001/XMLSchema" xmlns:xs="http://www.w3.org/2001/XMLSchema" xmlns:p="http://schemas.microsoft.com/office/2006/metadata/properties" xmlns:ns2="3b21ab7c-7e7a-493b-a43f-a219844d5b04" xmlns:ns3="c7b9d0d2-0928-4bc7-b1e7-d815d07dd502" targetNamespace="http://schemas.microsoft.com/office/2006/metadata/properties" ma:root="true" ma:fieldsID="1d46ddd55854086af038f8f8e7145c9b" ns2:_="" ns3:_="">
    <xsd:import namespace="3b21ab7c-7e7a-493b-a43f-a219844d5b04"/>
    <xsd:import namespace="c7b9d0d2-0928-4bc7-b1e7-d815d07dd50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21ab7c-7e7a-493b-a43f-a219844d5b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c63f703e-4260-42db-90e1-1bf1f8b4f72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b9d0d2-0928-4bc7-b1e7-d815d07dd50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22966853-71d8-4c3c-a2a1-eb1a25e46692}" ma:internalName="TaxCatchAll" ma:showField="CatchAllData" ma:web="c7b9d0d2-0928-4bc7-b1e7-d815d07dd50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55C560-F379-4979-BDAB-85ADD41BF196}">
  <ds:schemaRefs>
    <ds:schemaRef ds:uri="http://schemas.microsoft.com/office/2006/metadata/properties"/>
    <ds:schemaRef ds:uri="http://schemas.microsoft.com/office/infopath/2007/PartnerControls"/>
    <ds:schemaRef ds:uri="c7b9d0d2-0928-4bc7-b1e7-d815d07dd502"/>
    <ds:schemaRef ds:uri="3b21ab7c-7e7a-493b-a43f-a219844d5b04"/>
  </ds:schemaRefs>
</ds:datastoreItem>
</file>

<file path=customXml/itemProps2.xml><?xml version="1.0" encoding="utf-8"?>
<ds:datastoreItem xmlns:ds="http://schemas.openxmlformats.org/officeDocument/2006/customXml" ds:itemID="{5203D28F-282C-474C-8EAC-7F31992D296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0F9C096-F130-4ECE-8018-26CD4E103B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b21ab7c-7e7a-493b-a43f-a219844d5b04"/>
    <ds:schemaRef ds:uri="c7b9d0d2-0928-4bc7-b1e7-d815d07dd5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0</Words>
  <Application>Microsoft Office PowerPoint</Application>
  <PresentationFormat>Panorámica</PresentationFormat>
  <Paragraphs>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acomunicaciones</dc:creator>
  <cp:lastModifiedBy>Oficina de Comunicaciones</cp:lastModifiedBy>
  <cp:revision>6</cp:revision>
  <dcterms:created xsi:type="dcterms:W3CDTF">2026-01-26T14:49:45Z</dcterms:created>
  <dcterms:modified xsi:type="dcterms:W3CDTF">2026-02-13T20:05:23Z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0x01010076AC4B3079F3F14986B23BC4E8B1044F</vt:lpwstr>
  </property>
</Properties>
</file>
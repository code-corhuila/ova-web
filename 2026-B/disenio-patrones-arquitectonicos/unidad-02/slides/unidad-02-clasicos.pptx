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 (min 0-3). Lanzar la pregunta y pedir dos o tres respuestas concretas: el ERP de la empresa, la aplicación web del trabajo, el sistema de la universidad. Casi todos describirán cliente-servidor por fuera y capas por dentro sin saberlo. Esa es la idea de la unidad: los clásicos no son historia, son la estructura interna de lo que se usa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Material de apoyo de la unidad completa, no el guion de la hora. Recorrido sugerido en vivo (50 min): apertura, la tabla de los cinco, capas y MVC a fondo (secciones 2 y 4), la comparación de la sección 7, el caso Mercado Campesino y el Hito 2. Cliente-servidor, pipes and filters y P2P quedan para estudiar con la 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Tomado del material institucional de la Unidad 2 (sección 1.1, propósito y utilidad). Añadir un uso que el material destaca: sirven para enseñar principios como el desacoplamiento y la cohesión, que siguen vigentes en microservicios y serverless.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Esta tabla es el mapa de la unidad. Volver a ella al final, en la sección 7, para comparar costos. Pregunta rápida: ¿cuál de los cinco no tiene un centro? (P2P).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Dos principios según el material de la unidad: separación de preocupaciones (la capa de datos no tiene lógica de negocio) y abstracción (cada capa oculta su interior y expone una interfaz). Ejemplo para lanzar: si cambia el motor de base de datos, ¿cuántas capas deberían enterarse? Solo la de persistencia.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El error típico: un controlador que consulta la base de datos «porque es más rápido». Así nace el túnel anti-patrón que menciona el material. En la v1 del proyecto, estas reglas deben quedar escritas en el README y respetarse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Fragmento del caso Mercado Campesino. El controlador solo traduce; la regla de cierre de pedidos (jueves 6 p. m.) vive en el servicio; la persistencia queda detrás de una interfaz. El material de la unidad trae ejemplos completos en Java y Python (sección 2.6 y 2.7).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Del material: un exceso de capas aumenta la curva de aprendizaje y el riesgo de errores; una solicitud que atraviesa cinco capas se vuelve lenta. Regla práctica: tantas capas como responsabilidades reales, no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Tres principios del material: separación de responsabilidades (el cliente pide, el servidor gestiona negocio, datos y seguridad), comunicación por protocolos estándar y recursos centralizados. Cliente y servidor pueden estar en lenguajes y sistemas operativos distintos.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Las cachés y los balanceadores permiten que el modelo solicitud-respuesta atienda millones de peticiones, según el material. Conectar con el reto RutaSur: la temporada alta exige escalar horizontalmente.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Un servidor REST puede atender a la vez clientes web, móviles y de escritorio: esa es su fuerza. Su debilidad es simétrica: si cae, caen todos.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Punto único de fallo. En cliente-servidor los recursos están centralizados: si el servidor falla, todos los clientes pierden acceso. Se mitiga con réplicas y balanceadores.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El modelo no sabe nada de la vista ni del controlador. La vista solo muestra y delega. El controlador decide qué modelo usar y qué vista mostrar; en web suele implementarse con rutas (por ejemplo, /pedidos lleva a PedidoController).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el flujo que describe el material: el usuario interactúa con la vista, la vista notifica al controlador, el controlador actualiza el modelo y el modelo notifica a la vista. Un mismo modelo puede alimentar una web y una app móvil sin cambiar su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La Clase digital 2 trae una infografía de capas frente a MVC: proyectarla si hay tiempo. Error frecuente en los informes: describir MVC como si fuera toda la arquitectura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El costo más caro es el acoplamiento inadvertido: cuando el controlador empieza a tener reglas de negocio, se pierde la separación y con ella la posibilidad de probar el modelo aislado.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Separación de responsabilidades. Las reglas de negocio pertenecen al modelo. Un controlador con lógica de negocio acopla la presentación a las reglas y vuelve difícil probarlas.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Es la base de las tuberías de Unix (grep, sort unidos con |) y de los frameworks de procesamiento de datos, según el material. Conectar con el reto AquaBetania: la ingesta de lecturas de sensores es un pipeline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Un filtro puede ser activo (procesa en cuanto llegan datos, como un stream) o pasivo (espera el lote completo). Las tuberías funcionan como búferes y permiten que los filtros trabajen a velocidades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Cada filtro se prueba aislado y el orden se cambia editando una sola lista. El material de la unidad trae la versión en Java y en Python (secciones 5.6 y 5.7).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Dos costos que el material subraya: cambiar el formato de los datos obliga a tocar todos los filtros, y un error en un filtro puede propagarse a toda la tubería.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todos los filtros dependen del formato común de la tubería. La independencia de los filtros descansa en un formato común. Cambiarlo afecta a cada filtro que lee o escribe en la tubería.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El material menciona las tablas hash distribuidas (DHT) para que los nodos se encuentren, el protocolo Kademlia en BitTorrent y el consenso distribuido de Bitcoin. Pregunta: ¿cuál de los retos del catálogo necesitaría P2P? Normalmente ninguno, y eso también es una conclusión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Otros dos costos del material: latencia variable y, en algunos usos como el intercambio de archivos, riesgos legales de propiedad intelectual.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la tabla que el informe de la A1 y el documento de la A2 deben contrastar con los atributos de calidad del reto. Insistir: ningún patrón es el mejor; cada uno favorece algo y castiga otra cosa.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Este es el puente entre el Hito 1 (diagnóstico, vence el domingo 18) y el Hito 2 (versión 1, vence el domingo 25). La elección de la v1 no se improvisa: sale del diagnóstico.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Al describir la v1 en la A2, nombrar el patrón dominante y los secundarios. Un informe que dice solo «usamos MVC» suele estar describiendo nada más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Cliente-servidor por fuera, capas por dentro y MVC en la presentación. Los sistemas reales combinan patrones. El navegador y el servidor forman cliente-servidor; el servidor se organiza en capas; la presentación usa MVC.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 el ejemplo trabajado del curso (no se puede elegir como reto). El diagnóstico de la U1 mostró que el dolor era la falta de capas: las reglas de precios vivían en las páginas. La v1 corrige eso. El manual de la unidad la construye en Java con Spring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Estas reglas son verificables en el código y deben quedar escritas en el README del repositorio. En la A3 se comparará cuántos archivos hay que tocar en la v1 y en la v2 para un mismo cambio: estas reglas son las que hacen posible esa medición.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Este recorrido es el diagrama de secuencia que pide la A2. Cada flecha debe corresponder a una llamada real en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Documento de 1.500 a 2.000 palabras, Arial 12, interlineado 1.5, normas APA, más el enlace al repositorio con instrucciones de ejecución. En equipo. Vence el domingo 25 de octubre a las 11:59 p. m. El enunciado también pide participar en el foro de arquitecturas clásicas que el docente habilita en el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Tres diagramas bastan si son coherentes entre sí y con el código. Un diagrama que no coincide con el repositorio resta más de lo que suma.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VIVO. La etiqueta permite ejecutar la v1 cuando la v2 ya exista. Las contribuciones visibles en los commits sostienen la tabla de contribución por integrante del documento técnico (Anexo 2 del informe FO-IV-159).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Son los errores más frecuentes en talleres de este tipo. El segundo y el tercero se detectan en minutos al abrir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Etiquetar la v1 en git para poder ejecutarla después. La etiqueta deja la v1 identificada y ejecutable con un comando. Es lo que hace reproducible la comparación de la Actividad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VIVO (cierre). Próximos pasos: la A1 (diagnóstico) vence el domingo 18 de octubre; la A2 (versión 1) vence el domingo 25. Próximo encuentro: martes 20 de octubre, patrones modernos y cómo decidir la migración.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CONSULTA. La base es el material institucional de la Unidad 2 (CORHUILA), que trae código en Java y Python para cada patrón. Referencias completas en la OVA de la unidad. Buschmann et al., Pattern-Oriented Software Architecture, vol. 1, es la fuente clásica de capas, pipes and filters y MVC como patrones arquitectónicos.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Patrones arquitectónicos clásicos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Diseño y Patrones Arquitectónicos  ·  Jesús Ariel González Bonilla  ·  2026-B  ·  Corte 1  · 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Patrones arquitectónicos clásicos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Cinco patrones sostienen casi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2872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1899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28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35" b="1">
                <a:solidFill>
                  <a:srgbClr val="0E2841"/>
                </a:solidFill>
                <a:latin typeface="Aptos Display"/>
              </a:rPr>
              <a:t>¿Qué patrón usa el sistema con el que usted trabaja hoy? Probablemente más de uno de los cinco de esta unidad.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5653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02659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Surgieron entre 1970 y 1990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6486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1098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Siguen dentro de los sistemas modernos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319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1931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Un microservicio por dentro suele ser clásico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podrá hacer al terminar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8815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Explicar los cinco patrones clásicos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0440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66390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Comparar ventajas y costos de cada uno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89991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522268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Distinguir MVC de la arquitectura en capas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75579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378147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Elegir el patrón de la versión 1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561167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234025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Preparar el Hito 2 del proyecto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1. Qué tienen en común los clásicos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Soluciones probadas, vocabulario común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55578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44605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5557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70" b="1">
                <a:solidFill>
                  <a:srgbClr val="0E2841"/>
                </a:solidFill>
                <a:latin typeface="Aptos Display"/>
              </a:rPr>
              <a:t>Un patrón clásico define la organización fundamental del sistema: cómo interactúan los componentes, cómo se reparten y cómo fluyen los 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29722"/>
            <a:ext cx="2532888" cy="29979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" y="3585754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841786"/>
            <a:ext cx="2130552" cy="2284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6" b="1">
                <a:solidFill>
                  <a:srgbClr val="0E2841"/>
                </a:solidFill>
                <a:latin typeface="Aptos Display"/>
              </a:rPr>
              <a:t>Reducir incertidumbre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18" b="0">
                <a:solidFill>
                  <a:srgbClr val="33475B"/>
                </a:solidFill>
                <a:latin typeface="Aptos"/>
              </a:rPr>
              <a:t>esquemas predecibles para diseñar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3329722"/>
            <a:ext cx="2532888" cy="29979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3585754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841786"/>
            <a:ext cx="2130552" cy="2284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6" b="1">
                <a:solidFill>
                  <a:srgbClr val="0E2841"/>
                </a:solidFill>
                <a:latin typeface="Aptos Display"/>
              </a:rPr>
              <a:t>Mantenibilidad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18" b="0">
                <a:solidFill>
                  <a:srgbClr val="33475B"/>
                </a:solidFill>
                <a:latin typeface="Aptos"/>
              </a:rPr>
              <a:t>separar preocupaciones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329722"/>
            <a:ext cx="2532888" cy="29979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55664" y="3585754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841786"/>
            <a:ext cx="2130552" cy="2284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6" b="1">
                <a:solidFill>
                  <a:srgbClr val="0E2841"/>
                </a:solidFill>
                <a:latin typeface="Aptos Display"/>
              </a:rPr>
              <a:t>Escalabilidad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18" b="0">
                <a:solidFill>
                  <a:srgbClr val="33475B"/>
                </a:solidFill>
                <a:latin typeface="Aptos"/>
              </a:rPr>
              <a:t>dividir responsabilidades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329722"/>
            <a:ext cx="2532888" cy="29979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9448" y="3585754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841786"/>
            <a:ext cx="2130552" cy="22846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6" b="1">
                <a:solidFill>
                  <a:srgbClr val="0E2841"/>
                </a:solidFill>
                <a:latin typeface="Aptos Display"/>
              </a:rPr>
              <a:t>Portabilidad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18" b="0">
                <a:solidFill>
                  <a:srgbClr val="33475B"/>
                </a:solidFill>
                <a:latin typeface="Aptos"/>
              </a:rPr>
              <a:t>abstraer detalles en capas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Los cinco de un vistazo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Patrón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Organiza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Comunicación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Favorece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Capas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Niveles apilados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Hacia la capa de abajo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Mantenibilidad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Cliente-servidor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Quien pide y quien provee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Solicitud y respuesta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Centralización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MVC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Modelo, vista y controlador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Eventos del usuario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Varias vistas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Pipes and filters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Etapas de procesamiento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Tuberías en un sentido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Reutilizar etapas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Peer-to-peer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Nodos iguales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Directa entre pares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Resiliencia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2. Arquitectura por capas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Cada capa, una responsabilidad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1106424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1212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8060"/>
            <a:ext cx="1106424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Presentación  ·  muestra datos y captura acciones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2904134"/>
            <a:ext cx="1005840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977286"/>
            <a:ext cx="63500" cy="711476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904134"/>
            <a:ext cx="1005840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Negocio  ·  reglas y casos de uso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3950208"/>
            <a:ext cx="905256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4023360"/>
            <a:ext cx="63500" cy="71147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950208"/>
            <a:ext cx="905256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Persistencia  ·  acceso a datos detrás de interfaces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4996281"/>
            <a:ext cx="804672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5688" y="5069433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4996281"/>
            <a:ext cx="804672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Datos  ·  base de datos y almacenamiento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Las dependencias bajan, nunca suben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6733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45" b="1">
                <a:solidFill>
                  <a:srgbClr val="0E2841"/>
                </a:solidFill>
                <a:latin typeface="Aptos Display"/>
              </a:rPr>
              <a:t>En capas estrictas cada capa habla solo con la inmediata inferior. En capas relajadas puede saltar niveles, pero con reglas escritas.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385305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6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Superior depende de inferior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54571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49674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La inferior no conoce la superior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238369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42332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Sin ciclos de dependencia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593102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34990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Saltos solo con regla explícita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Capas en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880360"/>
            <a:ext cx="11064240" cy="2139696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3099816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63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8" b="1">
                <a:solidFill>
                  <a:srgbClr val="E97132"/>
                </a:solidFill>
                <a:latin typeface="Aptos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47288"/>
            <a:ext cx="10515600" cy="140817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class PedidoController {   // presentación: solo traduce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  Pedido crear(PedidoDto d) { return servicio.registrar(d); } }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class PedidoService {      // negocio: precios y cierre del jueves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  Pedido registrar(PedidoDto d) { validarCierre(d); return repo.guardar(d); } }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interface PedidoRepository { Pedido guardar(PedidoDto d); }   //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Ventajas y costos de las capas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Ventajas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Cambios localizados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Escalar una capa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Reutilizar capas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498530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Equipos en paralelo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Costos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Latencia al cruzar capas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Exceso de capas y reglas</a:t>
            </a:r>
          </a:p>
        </p:txBody>
      </p:sp>
      <p:sp>
        <p:nvSpPr>
          <p:cNvPr id="25" name="Oval 24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Túneles entre capas lejanas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3. Cliente-servidor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Uno pide, otro provee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Cliente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inicia la solicitud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Protocolo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HTTP con GET o POST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Servidor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procesa y responde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Recurso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datos centralizados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Escalar el servidor de dos formas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Vertical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Más CPU y memoria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Simple de hacer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Tiene techo físico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Horizontal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Más servidores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Balanceador de carga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Más complejo de operar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Ventajas y costos del cliente-servidor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Ventajas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Datos centralizados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Seguridad en un punto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Lógica sin tocar clientes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498530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Varios tipos de cliente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Costos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Punto único de fallo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Cuellos de botella</a:t>
            </a:r>
          </a:p>
        </p:txBody>
      </p:sp>
      <p:sp>
        <p:nvSpPr>
          <p:cNvPr id="25" name="Oval 24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Depende de la red</a:t>
            </a:r>
          </a:p>
        </p:txBody>
      </p:sp>
      <p:sp>
        <p:nvSpPr>
          <p:cNvPr id="27" name="Oval 26"/>
          <p:cNvSpPr/>
          <p:nvPr/>
        </p:nvSpPr>
        <p:spPr>
          <a:xfrm>
            <a:off x="6483096" y="4985308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Despliegue especializado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Si el servidor se cae, ningún cliente tiene servicio. ¿Qué desventaja ilustra?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Acoplamiento de formatos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Punto único de fallo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Túneles entre capas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Dependencia de la participación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4. Modelo-Vista-Controlador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Tres roles que no se mezclan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Modelo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datos y reglas de negocio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808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808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Vista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muestra y captura; es pasiva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0352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1520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Controlador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coordina modelo y vista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ciclo de una interacción MVC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Usuario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actúa en la vista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Controlador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interpreta el evento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Modelo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actualiza el estado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Vista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se refresca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MVC y capas no son lo mismo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2872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1899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28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35" b="1">
                <a:solidFill>
                  <a:srgbClr val="0E2841"/>
                </a:solidFill>
                <a:latin typeface="Aptos Display"/>
              </a:rPr>
              <a:t>MVC organiza la presentación; las capas organizan todo el sistema. Lo habitual es MVC dentro de la capa de presentación.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5653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02659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Capas: sistema completo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6486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1098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MVC: interfaz de usuario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319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1931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Se combinan, no compiten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Ventajas y costos de MVC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Ventajas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Cambiar la vista sin tocar reglas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Probar el modelo sin interfaz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Varias vistas, un modelo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Costos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Excesivo en proyectos pequeños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Controladores con lógica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Curva de aprendizaje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Un controlador calcula impuestos y descuentos. ¿Qué principio de MVC se rompe?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Comunicación por protocolos estándar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Separación de responsabilidades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Descentralización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Flujo unidireccional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5. Pipes and filters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Datos que fluyen por filtros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Leer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archivo de lecturas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Limpiar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quita registros vacíos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Validar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aplica umbrales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Cargar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guarda en la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Cuatro principios 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Etapas atómicas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una responsabilidad por filtro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Un solo sentido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entrada, filtro, salida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Independencia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filtro no conoce a sus vecinos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Formato común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texto, JSON o 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pipeline en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880360"/>
            <a:ext cx="11064240" cy="2139696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3099816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06324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8" b="1">
                <a:solidFill>
                  <a:srgbClr val="E97132"/>
                </a:solidFill>
                <a:latin typeface="Aptos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47288"/>
            <a:ext cx="10515600" cy="140817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interface Filtro&lt;T&gt; { List&lt;T&gt; procesar(List&lt;T&gt; entrada); }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var pipeline = List.of(new Limpiar(), new Validar(), new Normalizar());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List&lt;Lectura&gt; datos = leer("lecturas.csv");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for (Filtro&lt;Lectura&gt; f : pipeline) datos = f.procesar(datos);</a:t>
            </a:r>
          </a:p>
          <a:p>
            <a:pPr>
              <a:lnSpc>
                <a:spcPct val="125000"/>
              </a:lnSpc>
            </a:pPr>
            <a:r>
              <a:rPr sz="1548">
                <a:solidFill>
                  <a:srgbClr val="E8E8E8"/>
                </a:solidFill>
                <a:latin typeface="Consolas"/>
              </a:rPr>
              <a:t>guardar(datos);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Ventajas y costos 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Ventajas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Escalar un filtro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Cambiar un filtro aislado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Probar cada etapa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498530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Reordenar etapas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Costos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Serializar entre etapas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Formato atado a todos</a:t>
            </a:r>
          </a:p>
        </p:txBody>
      </p:sp>
      <p:sp>
        <p:nvSpPr>
          <p:cNvPr id="25" name="Oval 24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Malo con bifurcaciones</a:t>
            </a:r>
          </a:p>
        </p:txBody>
      </p:sp>
      <p:sp>
        <p:nvSpPr>
          <p:cNvPr id="27" name="Oval 26"/>
          <p:cNvSpPr/>
          <p:nvPr/>
        </p:nvSpPr>
        <p:spPr>
          <a:xfrm>
            <a:off x="6483096" y="4985308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Un filtro lento frena todo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¿Por qué cambiar el formato de los datos es costoso en un pipeline de filtros?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Porque obliga a reiniciar el servidor central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Porque los filtros comparten estado global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Porque todos los filtros dependen del formato común de la tubería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Porque los filtros conocen a sus vecinos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22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6. Peer-to-peer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Todos son cliente y servidor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6733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45" b="1">
                <a:solidFill>
                  <a:srgbClr val="0E2841"/>
                </a:solidFill>
                <a:latin typeface="Aptos Display"/>
              </a:rPr>
              <a:t>Cada nodo pide y a la vez provee. No hay una entidad central que controle la red.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385305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6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Descentralización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54571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49674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Autonomía de cada nodo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238369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42332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Cooperación para un objetivo común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593102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34990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Descubrimiento sin intermediarios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23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P2P resiste, pero cuesta coordinar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Ventajas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Sin punto central de fallo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Descarga de varias fuentes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Bajo costo de servidores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Costos</a:t>
            </a:r>
          </a:p>
        </p:txBody>
      </p:sp>
      <p:sp>
        <p:nvSpPr>
          <p:cNvPr id="19" name="Oval 18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Seguridad difícil de imponer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Consistencia sin servidor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Depende de que todos compartan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24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7. Comparar y elegir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Los cinco frente a frente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Patrón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Favorece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Cuesta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Conviene cuando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Capas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Mantenibilidad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Latencia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Hay reglas de negocio que cambian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Cliente-servidor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Centralización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Punto único de fallo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Varios clientes usan los mismos datos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MVC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Varias vistas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Complejidad inicial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La interfaz cambia más que las reglas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Pipes and filters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Reutilizar etapas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Formato rígido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problema es transformar datos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Peer-to-peer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Resiliencia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Consistencia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No puede haber un centro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25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Elegir parte del diagnóstico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Atributo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que manda en el reto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1955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3123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123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123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Candidatos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los tres del diagnóstico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6982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1815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815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8150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Descarte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que castiga ese atributo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2009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93177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3177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3177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Elección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patrón dominante y secundario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7036" y="2532888"/>
            <a:ext cx="1964131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68204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6820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8204" y="3008376"/>
            <a:ext cx="1561795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Registro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 decisión y su porqué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26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Combinar es lo normal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496099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386371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496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71" b="1">
                <a:solidFill>
                  <a:srgbClr val="0E2841"/>
                </a:solidFill>
                <a:latin typeface="Aptos Display"/>
              </a:rPr>
              <a:t>La mayoría de los sistemas web son cliente-servidor por fuera, capas por dentro y MVC en la presentación.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70035"/>
            <a:ext cx="11064240" cy="83574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343187"/>
            <a:ext cx="63500" cy="689443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70035"/>
            <a:ext cx="11064240" cy="83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3" b="1">
                <a:solidFill>
                  <a:srgbClr val="0E2841"/>
                </a:solidFill>
                <a:latin typeface="Aptos Display"/>
              </a:rPr>
              <a:t>Cliente-servidor  ·  navegador y servidor por HTTP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9848" y="4289239"/>
            <a:ext cx="10058400" cy="83574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69848" y="4362391"/>
            <a:ext cx="63500" cy="689443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289239"/>
            <a:ext cx="10058400" cy="83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3" b="1">
                <a:solidFill>
                  <a:srgbClr val="0E2841"/>
                </a:solidFill>
                <a:latin typeface="Aptos Display"/>
              </a:rPr>
              <a:t>Capas  ·  presentación, negocio y datos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5308443"/>
            <a:ext cx="9052560" cy="835747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72768" y="5381595"/>
            <a:ext cx="63500" cy="689443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5308443"/>
            <a:ext cx="9052560" cy="8357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3" b="1">
                <a:solidFill>
                  <a:srgbClr val="0E2841"/>
                </a:solidFill>
                <a:latin typeface="Aptos Display"/>
              </a:rPr>
              <a:t>MVC  ·  dentro de la presentación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27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¿Qué combinación de patrones describe mejor una aplicación web típica?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Peer-to-peer con pipes and filters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Cliente-servidor por fuera, capas por dentro y MVC en la presentación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Solo MVC para todo el sistema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Pipes and filters para la interfaz de usuario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28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8. Mercado Campesino: la versión 1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v1 de Mercado Campesino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1106424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1212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8060"/>
            <a:ext cx="1106424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Presentación (MVC)  ·  controladores y vistas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2904134"/>
            <a:ext cx="1005840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977286"/>
            <a:ext cx="63500" cy="711476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904134"/>
            <a:ext cx="1005840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Negocio  ·  precios, pedidos y cierre del jueves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3950208"/>
            <a:ext cx="905256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4023360"/>
            <a:ext cx="63500" cy="71147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950208"/>
            <a:ext cx="905256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Persistencia  ·  repositorios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4996281"/>
            <a:ext cx="804672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5688" y="5069433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4996281"/>
            <a:ext cx="804672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Datos  ·  base de datos relacional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29 /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Reglas que el código respeta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29514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Controladores sin reglas de negocio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3649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80360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El negocio no conoce la base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443484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50208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Dependencias solo hacia abajo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550468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20056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Una prueba por regla de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30 / 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caso de uso de punta a punta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Cliente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hace el pedido</a:t>
            </a:r>
          </a:p>
        </p:txBody>
      </p:sp>
      <p:sp>
        <p:nvSpPr>
          <p:cNvPr id="10" name="Chevron 9"/>
          <p:cNvSpPr/>
          <p:nvPr/>
        </p:nvSpPr>
        <p:spPr>
          <a:xfrm>
            <a:off x="313639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624328"/>
            <a:ext cx="2478024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Controlador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valida la forma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2624328"/>
            <a:ext cx="2478024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Servicio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aplica precios y cierre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053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3144" y="2624328"/>
            <a:ext cx="2478024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53144" y="2624328"/>
            <a:ext cx="2478024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3313785"/>
            <a:ext cx="2185416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Repositorio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guarda el pedido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31 /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9. Hito 2 del proyecto de aula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Qué entrega la Actividad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729081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Pide el enunciado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Con su reto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Selección del problema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El reto del equipo, delimitado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Diseño UML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Componentes, clases y una secuencia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Prototipo (MVP)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La v1 en un repositorio que se ejecuta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Análisis de decisiones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Por qué ese patrón y no los otros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729081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Reflexión crítica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Qué límites ya muestra la v1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32 / 38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Componentes, clases y secuencia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Componentes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piezas y dependencias permitidas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808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808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Clases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modelo del dominio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0352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1520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Secuencia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 caso de uso de punta a punta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33 / 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Antes de la v2, etiquete la v1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6733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45" b="1">
                <a:solidFill>
                  <a:srgbClr val="0E2841"/>
                </a:solidFill>
                <a:latin typeface="Aptos Display"/>
              </a:rPr>
              <a:t>La Actividad 3 compara la v2 contra esta v1. Si la v1 no se puede ejecutar, no hay comparación.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385305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6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git tag v1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54571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49674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git push --tags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238369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42332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README con instrucciones de ejecución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593102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34990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Commits de todos los integrantes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34 / 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Errores que cuestan nota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29514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Controladores con reglas de negocio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36499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880360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Capas que se saltan sin regla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443484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950208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UML que no coincide con el código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550468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020056"/>
            <a:ext cx="10698480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35" b="1">
                <a:solidFill>
                  <a:srgbClr val="0E2841"/>
                </a:solidFill>
                <a:latin typeface="Aptos"/>
              </a:rPr>
              <a:t>Repositorio sin instrucciones de ejecución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35 / 38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¿Qué hacer antes de empezar la v2?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049535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49535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Borrar la v1 para no confundir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119384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1193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80360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Crear un repositorio nuevo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50208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418923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18923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50208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Etiquetar la v1 en git para poder ejecutarla después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20056"/>
            <a:ext cx="11064240" cy="898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5259080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2590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20056"/>
            <a:ext cx="9966960" cy="898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0">
                <a:solidFill>
                  <a:srgbClr val="0E2841"/>
                </a:solidFill>
                <a:latin typeface="Aptos"/>
              </a:rPr>
              <a:t>Copiar la v1 en una carpeta llamada 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36 /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Tres ideas para llevarse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Cada patrón favorece algo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y castiga otra cosa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808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808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Se combinan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cliente-servidor, capas y MVC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0352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1520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La v1 se etiqueta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es la base de la comparación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37 / 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PATRONES CLÁSICOS · POSGRADO FACULTAD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Bibliografía de la unidad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8815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Buschmann et al. (1996)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0440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66390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Shaw y Garlan (1996)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89991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522268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Bass, Clements y Kazman (2021)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75579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378147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Fowler (2002)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561167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234025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Richards y Ford (2020)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Diseño y Patrones Arquitectónicos  ·  Unidad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38 / 38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
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4"/>
  </p:sldMasterIdLst>
  <p:sldIdLst>
    <p:sldId id="256" r:id="rId7"/>
    <p:sldId id="257" r:id="rId6"/>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94658"/>
  </p:normalViewPr>
  <p:slideViewPr>
    <p:cSldViewPr snapToGrid="0">
      <p:cViewPr varScale="1">
        <p:scale>
          <a:sx n="106" d="100"/>
          <a:sy n="106"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2.xml"/><Relationship Id="rId7" Type="http://schemas.openxmlformats.org/officeDocument/2006/relationships/slide" Target="slides/slide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0-3). Abrir con la pregunta y esperar respuestas: casi todos trabajan y tienen un caso. Anotar las palabras que usen —«frágil», «enredado», «monstruo»— porque son síntomas que al final de la unidad sabrán nombrar con precisión. Idea que se instala desde el principio: que un sistema funcione y que esté bien organizado son dos preguntas distintas. La segunda es la arquitectura.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Leerlo como capacidades. Aclarar qué es este documento: material de apoyo de la unidad completa, no el guion de la hora. Recorrido en vivo de hoy (50 min): apertura, sección 1, el escenario de calidad (2), la clasificación (4), el caso Mercado Campesino (6) y el lanzamiento del proyecto de aula (7). El resto queda para estudiar con la OVA. Objetivo adicional de la OVA: analizar beneficios y desafíos de un patrón (sección 5 de este deck).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Definición de Bass, Clements y Kazman (2021). Tres ideas: es plural (un diagrama no la agota), sirve para razonar (si no ayuda a predecir si escala o si es fácil de cambiar, no es arquitectónica) e incluye propiedades: «pagos responde en menos de 300 ms» también es arquitectura. Preguntar: en su sistema actual, ¿cuál de las tres estructuras conocen peor? Suele ser el despliegue.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Criterio práctico: cuánto costaría cambiarla después. Provocar: «elegir el framework web, ¿es arquitectura?». Depende de cuánto código quede atado a él. Error clásico en sustentaciones de posgrado: traer un diagrama de clases y llamarlo arquitectura.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(mencionarla en vivo en una frase). Esta ley es la que se evalúa en todo el curso: en la A1, en el foro y en la comparación v1/v2 de la A3, la pregunta no es qué patrón es mejor sino qué se sacrificó y por qué valió la pena.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Que revertirla después sea costoso o afecte a todo el sistema. La arquitectura agrupa las decisiones caras de cambiar después. El costo de reversión, no el formato ni el cargo de quien decide, separa arquitectura de diseño detallado.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Ejemplo de restricción: «la capa de presentación nunca accede a la base de datos». Las restricciones son lo que hace que un patrón sea ese patrón: sin la regla de dependencias en un sentido, unas «capas» son solo carpetas.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solo la idea). Los requisitos funcionales casi nunca eligen la arquitectura: un sistema de pedidos se puede hacer con cualquier patrón. Lo que decide es cómo de bien tiene que hacerlo. La OVA agrega interoperabilidad y facilidad de prueba, que también aparecen en los retos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Escenario de atributo de calidad de Bass et al. (2021): seis partes. La que importa es la última. Regla para el Hito 1: si no puedes escribir la medida, todavía no entiendes el atributo; cada atributo del diagnóstico de su reto debe llevar su escenario. Mercado Campesino es el reto de demostración del curso: lo usan los manuales y no se puede elegir.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Con 300 usuarios a la vez, el 95 % de los pedidos se confirma en menos de 2 s. Solo la tercera tiene estímulo, entorno y una medida de respuesta verificable. Las demás no permiten decidir nada.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Los patrones clásicos introdujeron estos principios y los modernos los llevan al extremo. Cuando en la Unidad 3 vean microservicios, pregunten: ¿qué principio está llevando al límite? Casi siempre es modularidad más bajo acoplamiento.</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Definición de Buschmann et al. (1996), Pattern-Oriented Software Architecture. Un patrón sin contexto es una receta fuera de lugar: capas en un sistema de streaming de sensores, por ejemplo, suele ser mala idea.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Capas, microservicios o event-driven son del primer nivel. Strategy, Observer o Factory (Gamma et al., 1994) son del segundo. try-with-resources en Java es del tercero. Equivocarse en el primero cuesta el sistema; en el tercero, unas líneas.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Muchos autores los usan como sinónimos y en el curso los tratamos así. Lo que no se negocia es no confundirlos con los patrones de diseño.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Error frecuente en los informes de la A1: decir «MVC» sin aclarar si se habla de toda la aplicación o de una pantalla. Pedir que lo precisen.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Patrones de diseño que organizan clases dentro de un componente. Son patrones de diseño (Gamma et al., 1994). Su alcance es un módulo, no el sistema completo.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Surgieron entre 1970 y 1990 (contenidos de la Unidad 2). Se profundizan uno por uno en la Unidad 2, con código en Java y Python. Hoy basta con reconocerlos.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Tomado de las características representativas del material institucional de la Unidad 2. Funcionan además como herramienta pedagógica para principios que siguen vigentes en los modernos.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Los seis modernos de la Unidad 3 en dos grupos para que se recuerden: estos tres deciden cómo se reparte y se ejecuta el sistema.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Estos tres deciden cómo se organiza la lógica y cómo fluyen los datos. Varios se combinan: event-driven con CQRS es muy común.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Características representativas del material de la Unidad 3. Se apoyan en DevOps, infraestructura como código y APIs.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Es una tendencia, no una ley: hay clásicos asíncronos (pipes and filters) y modernos desplegados juntos (hexagonal en un monolito). Útil para ubicar, no para clasificar a ciegas.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Puente directo al proyecto de aula: la v1 (A2) es clásica, la v2 (A3) moderna, y la comparación entre ambas es la evidencia de la A3.</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Pipes and filters. Cada paso es un filtro independiente y los datos fluyen de uno a otro por tuberías. Se pueden reordenar o reutilizar los pasos.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Que se apoyan en infraestructura elástica y asincronía para escalar y resistir fallos. Llevan al extremo los mismos principios y se apoyan en la nube, la asincronía y la automatización. No reemplazan a los clásicos.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Esta tabla es la columna «beneficios y limitaciones» que pide el análisis práctico de la A1: para cada patrón candidato del reto, un beneficio concreto y el desafío que trae.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Ambos aparecen en la introducción de la Unidad 3. El segundo es el corazón del teorema CAP, que se trabaja en la Unidad 3 con event-driven y CQRS.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(un minuto). Las tres viñetas son parte de las falacias de la computación distribuida (Deutsch): supuestos cómodos que dejan de valer al distribuir. Muchos fracasos con microservicios vienen de ignorarlas.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Más complejidad operativa y datos difíciles de mantener consistentes. Ganar despliegue y escalado independientes tiene un precio: más piezas que operar y datos repartidos que mantener consistentes.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En este orden. La quinta casi nunca tiene una sola respuesta: los sistemas reales combinan patrones. Es el método del análisis práctico de la A1.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Contar el caso como historia: el administrador exporta los pedidos a una hoja de cálculo para armar las rutas, y cada semana cambian precios y productos. Pedir al grupo que aplique las cinco preguntas antes de pasar al siguiente slide.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Diagnóstico: el dolor es cambiar precios cada semana, y eso obliga a tocar páginas porque no hay capas. La respuesta de moda (microservicios) no ataca ese dolor. Esto es exactamente lo que se espera del Hito 1: partir del dolor, no de la moda.</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Esta es la v1 que construyen los manuales del curso con Java y Spring Boot. En la Unidad 3 la misma aplicación se lleva a un patrón moderno y se compara.</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Capas: las reglas viven mezcladas con las páginas. El diagnóstico parte de lo que duele (cambiar precios obliga a tocar páginas). Una arquitectura en capas lo resuelve antes que cualquier patrón moderno.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Sistemas de referencia para el análisis práctico de la A1, que pide patrones «en sistemas reales». Las plataformas de gran escala de comercio y streaming son el ejemplo típico de microservicios.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35-45). Las cuatro evaluaciones trabajan sobre el mismo sistema, el del reto que elige el equipo. A1 (20 %) es el diagnóstico, individual. A2 (20 %) la v1 con un patrón clásico, en equipo. El foro de la Unidad 3 (20 %) la decisión de migración, individual. A3 (40 %) la v2 moderna, el informe del proyecto de aula (FO-IV-159) con sus anexos y la sustentación del 3 de noviembre, en equipo. Antes de todo, el H0: equipo y reto el 13 de octubre.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Este es el porqué del proyecto de aula. Criterios medibles sugeridos en la Guía: costo de un cambio (archivos y líneas tocadas para la misma funcionalidad), acoplamiento, despliegue independiente, rendimiento, tolerancia a fallos y facilidad de prueba. Comando: git tag v1 y git push --tags.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Detalle completo (actores, requisitos mínimos, atributos de calidad) en la Guía del proyecto de aula, enlazada en el Inicio del aula. Mercado Campesino no se puede elegir: es el ejemplo de los manuales. Si dos equipos eligen el mismo reto, cada uno delimita un alcance distinto. Se puede proponer un reto propio con aprobación del tutor en el H0.</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El cierre es el Informe de Proyectos de Aula, formato institucional FO-IV-159 (Gestión de Investigación e Innovación): título, resumen de máximo 800 caracteres, planteamiento del problema, pregunta de investigación, justificación, objetivos, metodología, resultados, productos y bibliografía, más la pestaña ESTUDIANTE. No es una nota nueva: se califica dentro de la Actividad 3. El documento técnico que ya pide la A3 (mínimo 2.000 palabras: diagnóstico, v1, decisión, v2, comparación medida y contribución por integrante) va como Anexo 2 · Productos, con el repositorio y la presentación. La pestaña ESTUDIANTE lleva números de identificación: el informe se sube solo al aula, nunca al repositorio. Se sustenta el martes 3 de noviembre (8 minutos por equipo) y se entrega el domingo 8.</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(cierre de la sección). Este es el H0. Se puede cambiar de reto solo hasta el 13 de octubre. Recordar que la A1 es individual aunque el reto sea del equipo: cada integrante escribe su propio diagnóstico.</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(en vivo, solo la fecha). La A1 vence el domingo 18 de octubre a las 11:59 p. m. Forma: 1.500 a 2.000 palabras, 3 fuentes académicas en APA, Arial 12, interlineado 1.5, márgenes de 2.5 cm. El manual paso a paso de la Unidad 1 (publicado a más tardar el sábado 10) lleva del reto al informe con plantillas.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Son los cuatro errores comunes de la OVA. El primero es el más frecuente: un informe que copia definiciones de capas, MVC y cliente-servidor sin decir qué significan para su reto no es un diagnóstico.</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Respuesta correcta: Un diagnóstico arquitectónico individual del reto del equipo. La A1 es el Hito 1: cada integrante escribe su diagnóstico del reto. La v1 llega en la A2 y el informe FO-IV-159 en la A3.</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VIVO (min 45-50). Síntesis y próximos pasos: (1) equipo y reto para el martes 13; (2) la OVA de la Unidad 1 y la Guía del proyecto de aula están enlazadas en el aula; (3) la A1 vence el domingo 18. Próximo encuentro: martes 13 de octubre, patrones clásicos a fondo.</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CONSULTA. Referencias completas en APA en la sección 9 de la OVA, que además incluye a Shaw y Garlan (1996). Las tres primeras son la bibliografía destacada de la Clase digital 1 del aula. Recordar que para la A1 cuentan como fuentes académicas: libros, artículos y conferencias; no blogs.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C6517A-6E51-D8FF-5518-33DCF1BB8315}"/>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BA5F916A-7D6A-E8AF-439A-8D6840C6F01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C846680D-0A49-4B54-F51B-03AA27F6B2C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5396F560-F0B8-AB29-82CA-A2DDE7D35682}"/>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5D50BE2-EBBD-61B9-3E6C-B4C2BA988EB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168766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8836D1-D4F9-8F5A-DCDD-25408D7D36DF}"/>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551DC57-A21A-5278-EC55-4C245B3FC0B5}"/>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002E49EC-4920-0E2F-9C8B-0B674CB0720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F31254A-3742-246E-D797-82A0482FE251}"/>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2D15C84-0D5E-FBD8-F4A6-A48214F7CB87}"/>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553980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75FBBEC-EF89-8C3C-71B9-577DC2668ABA}"/>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6B7EF770-ACB6-2BA3-E667-9EBABFB4AEB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9DAD28F8-48D0-258C-AD9D-D166F7F2D745}"/>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68163DA-7927-EC0F-B832-B0D9CEF24215}"/>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47D2D961-09A6-F702-5A58-9A2E9D96BDE2}"/>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7144780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CEAE57A-7BC8-A4F0-8EC3-29FA071B4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66DB23D6-B010-B5CB-011A-B03D0B3E9DF7}"/>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180C2A42-464D-5E30-A614-F5201EA43188}"/>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6B7E369D-DA34-3508-5F83-FE255ACE6A7E}"/>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5FAF6228-C474-55C2-F2A3-A80C9ECB9BE4}"/>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E2CA109-4F43-98C5-5BA6-85F5B496EC33}"/>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215908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3ADADB-6CDF-BDB1-1300-FAEA2D84BEEF}"/>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07B4924-BB64-D547-A28B-666362350C9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07D8AA5-BF4A-D02D-E702-0FBE685A508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26BC7471-CDF8-0C0F-6D28-4001FC2838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33769A5-222B-5317-4503-6E9D363E28B6}"/>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A17FE0D7-3EEC-E3E6-7C86-CF7C18AB6C98}"/>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8" name="Marcador de pie de página 7">
            <a:extLst>
              <a:ext uri="{FF2B5EF4-FFF2-40B4-BE49-F238E27FC236}">
                <a16:creationId xmlns:a16="http://schemas.microsoft.com/office/drawing/2014/main" id="{C8EFF3E5-4BD9-D039-6F0A-0A92B04A1CBC}"/>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8DF0DEE6-C861-6117-2772-892873D92EA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4483474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91AA1F-2C39-64AF-4C6F-BF1C44530D3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F0E135E8-59EC-9B87-4141-B4E0DEA152F1}"/>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4" name="Marcador de pie de página 3">
            <a:extLst>
              <a:ext uri="{FF2B5EF4-FFF2-40B4-BE49-F238E27FC236}">
                <a16:creationId xmlns:a16="http://schemas.microsoft.com/office/drawing/2014/main" id="{22565AFD-1683-D460-140D-9F48CBCBAB0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3E711735-1F41-F218-7243-AC89EA548BC9}"/>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12611542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6188DA81-50FE-72AF-6F22-3D317B92F3B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3" name="Marcador de pie de página 2">
            <a:extLst>
              <a:ext uri="{FF2B5EF4-FFF2-40B4-BE49-F238E27FC236}">
                <a16:creationId xmlns:a16="http://schemas.microsoft.com/office/drawing/2014/main" id="{4DADFFC1-222F-FA4F-F745-4AECF65CE087}"/>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AFB47231-DA7E-E86D-0ECA-3CD935CB1700}"/>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4691259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86A5293-4CAF-8D46-B44D-99EAF11FD55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5AA782D5-A60C-369C-7F2E-20DC36F50E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53C7E45F-8F4D-4A4A-AD2B-580AA0500F5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E49A9D3-41A6-5F05-3785-C76553A3237C}"/>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F339118E-A5D9-04A8-223B-C952BE30109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0AFCCC82-59BC-CBA8-F9A5-1C4603AD8128}"/>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328771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0C677B-1ABC-81D6-857F-7E1F6785CB19}"/>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B8FFF9DA-1F76-6604-0F69-D17DFFA8AD8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94FD3A44-53F9-E2AD-4B37-3C2CD8A25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EA3A846-4373-5BFE-DCED-CDECAACAAD8F}"/>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6" name="Marcador de pie de página 5">
            <a:extLst>
              <a:ext uri="{FF2B5EF4-FFF2-40B4-BE49-F238E27FC236}">
                <a16:creationId xmlns:a16="http://schemas.microsoft.com/office/drawing/2014/main" id="{C0137096-4AD9-8D1E-B119-EDDF0F3EA803}"/>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A7ADAE5B-0E78-C71A-B918-853E86CE07AC}"/>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4648443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9A2BA9E-020E-BCD8-9EA9-9BDFB1673E5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9D2EE6B7-CD7D-EA57-7B4D-87C2F63C8D63}"/>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6BA0735-0CBD-5147-C06C-3B03006C1423}"/>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8CCAF2C5-C162-2021-6EDC-A716463031D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6AD3F66-F4A3-A221-BA4A-2F327442751D}"/>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1615940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64F149B-9E13-3157-0B62-971D8EB526CD}"/>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F87BBD2-5343-3A5D-564E-2D534BC7D0FB}"/>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3CB2F397-0E8A-92C8-93C4-9018446E3819}"/>
              </a:ext>
            </a:extLst>
          </p:cNvPr>
          <p:cNvSpPr>
            <a:spLocks noGrp="1"/>
          </p:cNvSpPr>
          <p:nvPr>
            <p:ph type="dt" sz="half" idx="10"/>
          </p:nvPr>
        </p:nvSpPr>
        <p:spPr/>
        <p:txBody>
          <a:body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216F7EEE-EA06-5E8F-8174-D1B755A7BBE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ED7410F1-59DC-8093-6A75-33AE1285CCFE}"/>
              </a:ext>
            </a:extLst>
          </p:cNvPr>
          <p:cNvSpPr>
            <a:spLocks noGrp="1"/>
          </p:cNvSpPr>
          <p:nvPr>
            <p:ph type="sldNum" sz="quarter" idx="12"/>
          </p:nvPr>
        </p:nvSpPr>
        <p:spPr/>
        <p:txBody>
          <a:bodyPr/>
          <a:lstStyle/>
          <a:p>
            <a:fld id="{4908E7FD-F6A8-D246-986A-AA7D283E6007}" type="slidenum">
              <a:rPr lang="es-CO" smtClean="0"/>
              <a:t>‹Nº›</a:t>
            </a:fld>
            <a:endParaRPr lang="es-CO"/>
          </a:p>
        </p:txBody>
      </p:sp>
    </p:spTree>
    <p:extLst>
      <p:ext uri="{BB962C8B-B14F-4D97-AF65-F5344CB8AC3E}">
        <p14:creationId xmlns:p14="http://schemas.microsoft.com/office/powerpoint/2010/main" val="370393169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31D6B204-4AEE-9E74-8DF2-926D69EDA9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8E631246-8F97-5699-6653-D3A77D7644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73B2563-9278-5DCC-E5B5-CCE80A0280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20EEB8-BE6E-8941-AA31-476C523FF41C}" type="datetimeFigureOut">
              <a:rPr lang="es-CO" smtClean="0"/>
              <a:t>13/02/2026</a:t>
            </a:fld>
            <a:endParaRPr lang="es-CO"/>
          </a:p>
        </p:txBody>
      </p:sp>
      <p:sp>
        <p:nvSpPr>
          <p:cNvPr id="5" name="Marcador de pie de página 4">
            <a:extLst>
              <a:ext uri="{FF2B5EF4-FFF2-40B4-BE49-F238E27FC236}">
                <a16:creationId xmlns:a16="http://schemas.microsoft.com/office/drawing/2014/main" id="{74AD3EE7-759B-C8A2-7A15-CC1FFB8018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CO"/>
          </a:p>
        </p:txBody>
      </p:sp>
      <p:sp>
        <p:nvSpPr>
          <p:cNvPr id="6" name="Marcador de número de diapositiva 5">
            <a:extLst>
              <a:ext uri="{FF2B5EF4-FFF2-40B4-BE49-F238E27FC236}">
                <a16:creationId xmlns:a16="http://schemas.microsoft.com/office/drawing/2014/main" id="{99BE85B8-1FF9-DDC6-E068-D7EEA7240D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08E7FD-F6A8-D246-986A-AA7D283E6007}" type="slidenum">
              <a:rPr lang="es-CO" smtClean="0"/>
              <a:t>‹Nº›</a:t>
            </a:fld>
            <a:endParaRPr lang="es-CO"/>
          </a:p>
        </p:txBody>
      </p:sp>
    </p:spTree>
    <p:extLst>
      <p:ext uri="{BB962C8B-B14F-4D97-AF65-F5344CB8AC3E}">
        <p14:creationId xmlns:p14="http://schemas.microsoft.com/office/powerpoint/2010/main" val="1966904716"/>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520440"/>
            <a:ext cx="11734800" cy="25146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Institucional-con-advertencia-Vigilado-Mineducacion-Blanco.png"/>
          <p:cNvPicPr>
            <a:picLocks noChangeAspect="1"/>
          </p:cNvPicPr>
          <p:nvPr/>
        </p:nvPicPr>
        <p:blipFill>
          <a:blip r:embed="rId2"/>
          <a:stretch>
            <a:fillRect/>
          </a:stretch>
        </p:blipFill>
        <p:spPr>
          <a:xfrm>
            <a:off x="4844395" y="548640"/>
            <a:ext cx="2503210" cy="2286000"/>
          </a:xfrm>
          <a:prstGeom prst="rect">
            <a:avLst/>
          </a:prstGeom>
        </p:spPr>
      </p:pic>
      <p:sp>
        <p:nvSpPr>
          <p:cNvPr id="5" name="Rectangle 4"/>
          <p:cNvSpPr/>
          <p:nvPr/>
        </p:nvSpPr>
        <p:spPr>
          <a:xfrm>
            <a:off x="457200" y="3429000"/>
            <a:ext cx="11734800" cy="762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3703320"/>
            <a:ext cx="10881360" cy="1280160"/>
          </a:xfrm>
          <a:prstGeom prst="rect">
            <a:avLst/>
          </a:prstGeom>
          <a:noFill/>
        </p:spPr>
        <p:txBody>
          <a:bodyPr wrap="square" anchor="t" lIns="0" rIns="0" tIns="0" bIns="0">
            <a:spAutoFit/>
          </a:bodyPr>
          <a:lstStyle/>
          <a:p>
            <a:pPr algn="ctr"/>
            <a:r>
              <a:rPr sz="3800" b="1">
                <a:solidFill>
                  <a:srgbClr val="FFFFFF"/>
                </a:solidFill>
                <a:latin typeface="Aptos Display"/>
              </a:rPr>
              <a:t>Patrones arquitectónicos: fundamentos</a:t>
            </a:r>
          </a:p>
        </p:txBody>
      </p:sp>
      <p:sp>
        <p:nvSpPr>
          <p:cNvPr id="7" name="TextBox 6"/>
          <p:cNvSpPr txBox="1"/>
          <p:nvPr/>
        </p:nvSpPr>
        <p:spPr>
          <a:xfrm>
            <a:off x="640080" y="5029200"/>
            <a:ext cx="10881360" cy="457200"/>
          </a:xfrm>
          <a:prstGeom prst="rect">
            <a:avLst/>
          </a:prstGeom>
          <a:noFill/>
        </p:spPr>
        <p:txBody>
          <a:bodyPr wrap="square" anchor="t" lIns="0" rIns="0" tIns="0" bIns="0">
            <a:spAutoFit/>
          </a:bodyPr>
          <a:lstStyle/>
          <a:p>
            <a:pPr algn="ctr"/>
            <a:r>
              <a:rPr sz="1500" b="0">
                <a:solidFill>
                  <a:srgbClr val="E8E8E8"/>
                </a:solidFill>
                <a:latin typeface="Aptos"/>
              </a:rPr>
              <a:t>Diseño y Patrones Arquitectónicos  ·  Jesús Ariel González Bonilla  ·  2026-B  ·  Corte 1  ·  Unidad 1</a:t>
            </a:r>
          </a:p>
        </p:txBody>
      </p:sp>
      <p:sp>
        <p:nvSpPr>
          <p:cNvPr id="8" name="TextBox 7"/>
          <p:cNvSpPr txBox="1"/>
          <p:nvPr/>
        </p:nvSpPr>
        <p:spPr>
          <a:xfrm>
            <a:off x="1371600" y="5532120"/>
            <a:ext cx="9418320" cy="457200"/>
          </a:xfrm>
          <a:prstGeom prst="rect">
            <a:avLst/>
          </a:prstGeom>
          <a:noFill/>
        </p:spPr>
        <p:txBody>
          <a:bodyPr wrap="square" anchor="t" lIns="0" rIns="0" tIns="0" bIns="0">
            <a:spAutoFit/>
          </a:bodyPr>
          <a:lstStyle/>
          <a:p>
            <a:pPr algn="ctr"/>
            <a:r>
              <a:rPr sz="1300" b="0">
                <a:solidFill>
                  <a:srgbClr val="E8E8E8"/>
                </a:solidFill>
                <a:latin typeface="Aptos"/>
              </a:rPr>
              <a:t>Fundamentos de patrones arquitectónicos y su clasificación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sistema funciona y nadie lo toca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12872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2018995"/>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2128723"/>
          </a:xfrm>
          <a:prstGeom prst="rect">
            <a:avLst/>
          </a:prstGeom>
          <a:noFill/>
        </p:spPr>
        <p:txBody>
          <a:bodyPr wrap="square" anchor="ctr" lIns="0" rIns="0" tIns="0" bIns="0">
            <a:spAutoFit/>
          </a:bodyPr>
          <a:lstStyle/>
          <a:p>
            <a:pPr algn="l">
              <a:lnSpc>
                <a:spcPct val="125000"/>
              </a:lnSpc>
            </a:pPr>
            <a:r>
              <a:rPr sz="2735" b="1">
                <a:solidFill>
                  <a:srgbClr val="0E2841"/>
                </a:solidFill>
                <a:latin typeface="Aptos Display"/>
              </a:rPr>
              <a:t>¿Cuántos sistemas conocen que cumplen todo lo que piden… y que nadie se atreve a modificar?</a:t>
            </a:r>
          </a:p>
        </p:txBody>
      </p:sp>
      <p:sp>
        <p:nvSpPr>
          <p:cNvPr id="10" name="Oval 9"/>
          <p:cNvSpPr/>
          <p:nvPr/>
        </p:nvSpPr>
        <p:spPr>
          <a:xfrm>
            <a:off x="585216" y="4256531"/>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902659"/>
            <a:ext cx="10698480" cy="808329"/>
          </a:xfrm>
          <a:prstGeom prst="rect">
            <a:avLst/>
          </a:prstGeom>
          <a:noFill/>
        </p:spPr>
        <p:txBody>
          <a:bodyPr wrap="square" anchor="ctr" lIns="0" rIns="0" tIns="0" bIns="0">
            <a:spAutoFit/>
          </a:bodyPr>
          <a:lstStyle/>
          <a:p>
            <a:pPr algn="l"/>
            <a:r>
              <a:rPr sz="2610" b="1">
                <a:solidFill>
                  <a:srgbClr val="0E2841"/>
                </a:solidFill>
                <a:latin typeface="Aptos"/>
              </a:rPr>
              <a:t>Cumple los requisitos funcionales</a:t>
            </a:r>
          </a:p>
        </p:txBody>
      </p:sp>
      <p:sp>
        <p:nvSpPr>
          <p:cNvPr id="12" name="Oval 11"/>
          <p:cNvSpPr/>
          <p:nvPr/>
        </p:nvSpPr>
        <p:spPr>
          <a:xfrm>
            <a:off x="585216" y="506486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4710988"/>
            <a:ext cx="10698480" cy="808329"/>
          </a:xfrm>
          <a:prstGeom prst="rect">
            <a:avLst/>
          </a:prstGeom>
          <a:noFill/>
        </p:spPr>
        <p:txBody>
          <a:bodyPr wrap="square" anchor="ctr" lIns="0" rIns="0" tIns="0" bIns="0">
            <a:spAutoFit/>
          </a:bodyPr>
          <a:lstStyle/>
          <a:p>
            <a:pPr algn="l"/>
            <a:r>
              <a:rPr sz="2610" b="1">
                <a:solidFill>
                  <a:srgbClr val="0E2841"/>
                </a:solidFill>
                <a:latin typeface="Aptos"/>
              </a:rPr>
              <a:t>Un cambio pequeño toma semanas</a:t>
            </a:r>
          </a:p>
        </p:txBody>
      </p:sp>
      <p:sp>
        <p:nvSpPr>
          <p:cNvPr id="14" name="Oval 13"/>
          <p:cNvSpPr/>
          <p:nvPr/>
        </p:nvSpPr>
        <p:spPr>
          <a:xfrm>
            <a:off x="585216" y="587319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519318"/>
            <a:ext cx="10698480" cy="808329"/>
          </a:xfrm>
          <a:prstGeom prst="rect">
            <a:avLst/>
          </a:prstGeom>
          <a:noFill/>
        </p:spPr>
        <p:txBody>
          <a:bodyPr wrap="square" anchor="ctr" lIns="0" rIns="0" tIns="0" bIns="0">
            <a:spAutoFit/>
          </a:bodyPr>
          <a:lstStyle/>
          <a:p>
            <a:pPr algn="l"/>
            <a:r>
              <a:rPr sz="2610" b="1">
                <a:solidFill>
                  <a:srgbClr val="0E2841"/>
                </a:solidFill>
                <a:latin typeface="Aptos"/>
              </a:rPr>
              <a:t>Nadie quiere desplegar un viernes</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 / 45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 que vas a poder hacer al terminar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Oval 6"/>
          <p:cNvSpPr/>
          <p:nvPr/>
        </p:nvSpPr>
        <p:spPr>
          <a:xfrm>
            <a:off x="585216" y="218815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810511"/>
            <a:ext cx="10698480" cy="855878"/>
          </a:xfrm>
          <a:prstGeom prst="rect">
            <a:avLst/>
          </a:prstGeom>
          <a:noFill/>
        </p:spPr>
        <p:txBody>
          <a:bodyPr wrap="square" anchor="ctr" lIns="0" rIns="0" tIns="0" bIns="0">
            <a:spAutoFit/>
          </a:bodyPr>
          <a:lstStyle/>
          <a:p>
            <a:pPr algn="l"/>
            <a:r>
              <a:rPr sz="2772" b="1">
                <a:solidFill>
                  <a:srgbClr val="0E2841"/>
                </a:solidFill>
                <a:latin typeface="Aptos"/>
              </a:rPr>
              <a:t>Explicar por qué la arquitectura decide</a:t>
            </a:r>
          </a:p>
        </p:txBody>
      </p:sp>
      <p:sp>
        <p:nvSpPr>
          <p:cNvPr id="9" name="Oval 8"/>
          <p:cNvSpPr/>
          <p:nvPr/>
        </p:nvSpPr>
        <p:spPr>
          <a:xfrm>
            <a:off x="585216" y="3044037"/>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666390"/>
            <a:ext cx="10698480" cy="855878"/>
          </a:xfrm>
          <a:prstGeom prst="rect">
            <a:avLst/>
          </a:prstGeom>
          <a:noFill/>
        </p:spPr>
        <p:txBody>
          <a:bodyPr wrap="square" anchor="ctr" lIns="0" rIns="0" tIns="0" bIns="0">
            <a:spAutoFit/>
          </a:bodyPr>
          <a:lstStyle/>
          <a:p>
            <a:pPr algn="l"/>
            <a:r>
              <a:rPr sz="2772" b="1">
                <a:solidFill>
                  <a:srgbClr val="0E2841"/>
                </a:solidFill>
                <a:latin typeface="Aptos"/>
              </a:rPr>
              <a:t>Escribir atributos de calidad con medida</a:t>
            </a:r>
          </a:p>
        </p:txBody>
      </p:sp>
      <p:sp>
        <p:nvSpPr>
          <p:cNvPr id="11" name="Oval 10"/>
          <p:cNvSpPr/>
          <p:nvPr/>
        </p:nvSpPr>
        <p:spPr>
          <a:xfrm>
            <a:off x="585216" y="3899915"/>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3522268"/>
            <a:ext cx="10698480" cy="855878"/>
          </a:xfrm>
          <a:prstGeom prst="rect">
            <a:avLst/>
          </a:prstGeom>
          <a:noFill/>
        </p:spPr>
        <p:txBody>
          <a:bodyPr wrap="square" anchor="ctr" lIns="0" rIns="0" tIns="0" bIns="0">
            <a:spAutoFit/>
          </a:bodyPr>
          <a:lstStyle/>
          <a:p>
            <a:pPr algn="l"/>
            <a:r>
              <a:rPr sz="2772" b="1">
                <a:solidFill>
                  <a:srgbClr val="0E2841"/>
                </a:solidFill>
                <a:latin typeface="Aptos"/>
              </a:rPr>
              <a:t>Separar patrón arquitectónico de diseño</a:t>
            </a:r>
          </a:p>
        </p:txBody>
      </p:sp>
      <p:sp>
        <p:nvSpPr>
          <p:cNvPr id="13" name="Oval 12"/>
          <p:cNvSpPr/>
          <p:nvPr/>
        </p:nvSpPr>
        <p:spPr>
          <a:xfrm>
            <a:off x="585216" y="475579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4378147"/>
            <a:ext cx="10698480" cy="855878"/>
          </a:xfrm>
          <a:prstGeom prst="rect">
            <a:avLst/>
          </a:prstGeom>
          <a:noFill/>
        </p:spPr>
        <p:txBody>
          <a:bodyPr wrap="square" anchor="ctr" lIns="0" rIns="0" tIns="0" bIns="0">
            <a:spAutoFit/>
          </a:bodyPr>
          <a:lstStyle/>
          <a:p>
            <a:pPr algn="l"/>
            <a:r>
              <a:rPr sz="2772" b="1">
                <a:solidFill>
                  <a:srgbClr val="0E2841"/>
                </a:solidFill>
                <a:latin typeface="Aptos"/>
              </a:rPr>
              <a:t>Clasificar patrones clásicos y modernos</a:t>
            </a:r>
          </a:p>
        </p:txBody>
      </p:sp>
      <p:sp>
        <p:nvSpPr>
          <p:cNvPr id="15" name="Oval 14"/>
          <p:cNvSpPr/>
          <p:nvPr/>
        </p:nvSpPr>
        <p:spPr>
          <a:xfrm>
            <a:off x="585216" y="561167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234025"/>
            <a:ext cx="10698480" cy="855878"/>
          </a:xfrm>
          <a:prstGeom prst="rect">
            <a:avLst/>
          </a:prstGeom>
          <a:noFill/>
        </p:spPr>
        <p:txBody>
          <a:bodyPr wrap="square" anchor="ctr" lIns="0" rIns="0" tIns="0" bIns="0">
            <a:spAutoFit/>
          </a:bodyPr>
          <a:lstStyle/>
          <a:p>
            <a:pPr algn="l"/>
            <a:r>
              <a:rPr sz="2772" b="1">
                <a:solidFill>
                  <a:srgbClr val="0E2841"/>
                </a:solidFill>
                <a:latin typeface="Aptos"/>
              </a:rPr>
              <a:t>Diagnosticar el reto de tu equipo</a:t>
            </a:r>
          </a:p>
        </p:txBody>
      </p:sp>
      <p:sp>
        <p:nvSpPr>
          <p:cNvPr id="17" name="TextBox 16"/>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18" name="TextBox 17"/>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 / 45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01</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1. Por qué la arquitectura decide</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arquitectura es plural</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555786"/>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446058"/>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555786"/>
          </a:xfrm>
          <a:prstGeom prst="rect">
            <a:avLst/>
          </a:prstGeom>
          <a:noFill/>
        </p:spPr>
        <p:txBody>
          <a:bodyPr wrap="square" anchor="ctr" lIns="0" rIns="0" tIns="0" bIns="0">
            <a:spAutoFit/>
          </a:bodyPr>
          <a:lstStyle/>
          <a:p>
            <a:pPr algn="l">
              <a:lnSpc>
                <a:spcPct val="125000"/>
              </a:lnSpc>
            </a:pPr>
            <a:r>
              <a:rPr sz="2570" b="1">
                <a:solidFill>
                  <a:srgbClr val="0E2841"/>
                </a:solidFill>
                <a:latin typeface="Aptos Display"/>
              </a:rPr>
              <a:t>Arquitectura: las estructuras necesarias para razonar sobre el sistema, sus elementos, relaciones y propiedades.</a:t>
            </a:r>
          </a:p>
        </p:txBody>
      </p:sp>
      <p:sp>
        <p:nvSpPr>
          <p:cNvPr id="10" name="Rounded Rectangle 9"/>
          <p:cNvSpPr/>
          <p:nvPr/>
        </p:nvSpPr>
        <p:spPr>
          <a:xfrm>
            <a:off x="566928" y="3329722"/>
            <a:ext cx="3480816"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8096" y="3585754"/>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8096" y="3841786"/>
            <a:ext cx="3078480" cy="2284693"/>
          </a:xfrm>
          <a:prstGeom prst="rect">
            <a:avLst/>
          </a:prstGeom>
          <a:noFill/>
        </p:spPr>
        <p:txBody>
          <a:bodyPr wrap="square" anchor="t" lIns="0" rIns="0" tIns="0" bIns="0">
            <a:spAutoFit/>
          </a:bodyPr>
          <a:lstStyle/>
          <a:p>
            <a:pPr algn="l"/>
            <a:r>
              <a:rPr sz="1986" b="1">
                <a:solidFill>
                  <a:srgbClr val="0E2841"/>
                </a:solidFill>
                <a:latin typeface="Aptos Display"/>
              </a:rPr>
              <a:t>Módulos</a:t>
            </a:r>
          </a:p>
          <a:p>
            <a:pPr algn="l">
              <a:lnSpc>
                <a:spcPct val="120000"/>
              </a:lnSpc>
              <a:spcBef>
                <a:spcPts val="700"/>
              </a:spcBef>
            </a:pPr>
            <a:r>
              <a:rPr sz="1518" b="0">
                <a:solidFill>
                  <a:srgbClr val="33475B"/>
                </a:solidFill>
                <a:latin typeface="Aptos"/>
              </a:rPr>
              <a:t>cómo se divide el código</a:t>
            </a:r>
          </a:p>
        </p:txBody>
      </p:sp>
      <p:sp>
        <p:nvSpPr>
          <p:cNvPr id="13" name="Rounded Rectangle 12"/>
          <p:cNvSpPr/>
          <p:nvPr/>
        </p:nvSpPr>
        <p:spPr>
          <a:xfrm>
            <a:off x="4358640" y="3329722"/>
            <a:ext cx="3480816"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59808" y="3585754"/>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9808" y="3841786"/>
            <a:ext cx="3078480" cy="2284693"/>
          </a:xfrm>
          <a:prstGeom prst="rect">
            <a:avLst/>
          </a:prstGeom>
          <a:noFill/>
        </p:spPr>
        <p:txBody>
          <a:bodyPr wrap="square" anchor="t" lIns="0" rIns="0" tIns="0" bIns="0">
            <a:spAutoFit/>
          </a:bodyPr>
          <a:lstStyle/>
          <a:p>
            <a:pPr algn="l"/>
            <a:r>
              <a:rPr sz="1986" b="1">
                <a:solidFill>
                  <a:srgbClr val="0E2841"/>
                </a:solidFill>
                <a:latin typeface="Aptos Display"/>
              </a:rPr>
              <a:t>Componentes</a:t>
            </a:r>
          </a:p>
          <a:p>
            <a:pPr algn="l">
              <a:lnSpc>
                <a:spcPct val="120000"/>
              </a:lnSpc>
              <a:spcBef>
                <a:spcPts val="700"/>
              </a:spcBef>
            </a:pPr>
            <a:r>
              <a:rPr sz="1518" b="0">
                <a:solidFill>
                  <a:srgbClr val="33475B"/>
                </a:solidFill>
                <a:latin typeface="Aptos"/>
              </a:rPr>
              <a:t>qué corre y cómo se comunica</a:t>
            </a:r>
          </a:p>
        </p:txBody>
      </p:sp>
      <p:sp>
        <p:nvSpPr>
          <p:cNvPr id="16" name="Rounded Rectangle 15"/>
          <p:cNvSpPr/>
          <p:nvPr/>
        </p:nvSpPr>
        <p:spPr>
          <a:xfrm>
            <a:off x="8150352" y="3329722"/>
            <a:ext cx="3480816" cy="2997925"/>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51520" y="3585754"/>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51520" y="3841786"/>
            <a:ext cx="3078480" cy="2284693"/>
          </a:xfrm>
          <a:prstGeom prst="rect">
            <a:avLst/>
          </a:prstGeom>
          <a:noFill/>
        </p:spPr>
        <p:txBody>
          <a:bodyPr wrap="square" anchor="t" lIns="0" rIns="0" tIns="0" bIns="0">
            <a:spAutoFit/>
          </a:bodyPr>
          <a:lstStyle/>
          <a:p>
            <a:pPr algn="l"/>
            <a:r>
              <a:rPr sz="1986" b="1">
                <a:solidFill>
                  <a:srgbClr val="0E2841"/>
                </a:solidFill>
                <a:latin typeface="Aptos Display"/>
              </a:rPr>
              <a:t>Despliegue</a:t>
            </a:r>
          </a:p>
          <a:p>
            <a:pPr algn="l">
              <a:lnSpc>
                <a:spcPct val="120000"/>
              </a:lnSpc>
              <a:spcBef>
                <a:spcPts val="700"/>
              </a:spcBef>
            </a:pPr>
            <a:r>
              <a:rPr sz="1518" b="0">
                <a:solidFill>
                  <a:srgbClr val="33475B"/>
                </a:solidFill>
                <a:latin typeface="Aptos"/>
              </a:rPr>
              <a:t>dónde corre cada parte</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 / 45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Arquitectura es lo caro de revertir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5"/>
        </p:xfrm>
        <a:graphic>
          <a:graphicData uri="http://schemas.openxmlformats.org/drawingml/2006/table">
            <a:tbl>
              <a:tblPr firstRow="1">
                <a:tableStyleId>{5C22544A-7EE6-4342-B048-85BDC9FD1C3A}</a:tableStyleId>
              </a:tblPr>
              <a:tblGrid>
                <a:gridCol w="3688080"/>
                <a:gridCol w="3688080"/>
                <a:gridCol w="3688080"/>
              </a:tblGrid>
              <a:tr h="874897">
                <a:tc>
                  <a:txBody>
                    <a:bodyPr wrap="square"/>
                    <a:lstStyle/>
                    <a:p>
                      <a:r>
                        <a:rPr sz="1725" b="1">
                          <a:solidFill>
                            <a:srgbClr val="FFFFFF"/>
                          </a:solidFill>
                          <a:latin typeface="Aptos"/>
                        </a:rPr>
                        <a:t>Decisión</a:t>
                      </a:r>
                    </a:p>
                  </a:txBody>
                  <a:tcPr anchor="ctr" marL="146304" marR="146304">
                    <a:solidFill>
                      <a:srgbClr val="156082"/>
                    </a:solidFill>
                  </a:tcPr>
                </a:tc>
                <a:tc>
                  <a:txBody>
                    <a:bodyPr wrap="square"/>
                    <a:lstStyle/>
                    <a:p>
                      <a:r>
                        <a:rPr sz="1725" b="1">
                          <a:solidFill>
                            <a:srgbClr val="FFFFFF"/>
                          </a:solidFill>
                          <a:latin typeface="Aptos"/>
                        </a:rPr>
                        <a:t>¿Arquitectónica?</a:t>
                      </a:r>
                    </a:p>
                  </a:txBody>
                  <a:tcPr anchor="ctr" marL="146304" marR="146304">
                    <a:solidFill>
                      <a:srgbClr val="156082"/>
                    </a:solidFill>
                  </a:tcPr>
                </a:tc>
                <a:tc>
                  <a:txBody>
                    <a:bodyPr wrap="square"/>
                    <a:lstStyle/>
                    <a:p>
                      <a:r>
                        <a:rPr sz="1725" b="1">
                          <a:solidFill>
                            <a:srgbClr val="FFFFFF"/>
                          </a:solidFill>
                          <a:latin typeface="Aptos"/>
                        </a:rPr>
                        <a:t>Por qué</a:t>
                      </a:r>
                    </a:p>
                  </a:txBody>
                  <a:tcPr anchor="ctr" marL="146304" marR="146304">
                    <a:solidFill>
                      <a:srgbClr val="156082"/>
                    </a:solidFill>
                  </a:tcPr>
                </a:tc>
              </a:tr>
              <a:tr h="874897">
                <a:tc>
                  <a:txBody>
                    <a:bodyPr wrap="square"/>
                    <a:lstStyle/>
                    <a:p>
                      <a:r>
                        <a:rPr sz="1609" b="1">
                          <a:solidFill>
                            <a:srgbClr val="33475B"/>
                          </a:solidFill>
                          <a:latin typeface="Aptos"/>
                        </a:rPr>
                        <a:t>Tres capas con dependencias en un sentido</a:t>
                      </a:r>
                    </a:p>
                  </a:txBody>
                  <a:tcPr anchor="ctr" marL="146304" marR="146304">
                    <a:solidFill>
                      <a:srgbClr val="FFFFFF"/>
                    </a:solidFill>
                  </a:tcPr>
                </a:tc>
                <a:tc>
                  <a:txBody>
                    <a:bodyPr wrap="square"/>
                    <a:lstStyle/>
                    <a:p>
                      <a:r>
                        <a:rPr sz="1609" b="0">
                          <a:solidFill>
                            <a:srgbClr val="33475B"/>
                          </a:solidFill>
                          <a:latin typeface="Aptos"/>
                        </a:rPr>
                        <a:t>Sí</a:t>
                      </a:r>
                    </a:p>
                  </a:txBody>
                  <a:tcPr anchor="ctr" marL="146304" marR="146304">
                    <a:solidFill>
                      <a:srgbClr val="FFFFFF"/>
                    </a:solidFill>
                  </a:tcPr>
                </a:tc>
                <a:tc>
                  <a:txBody>
                    <a:bodyPr wrap="square"/>
                    <a:lstStyle/>
                    <a:p>
                      <a:r>
                        <a:rPr sz="1609" b="0">
                          <a:solidFill>
                            <a:srgbClr val="33475B"/>
                          </a:solidFill>
                          <a:latin typeface="Aptos"/>
                        </a:rPr>
                        <a:t>Cambiarla reorganiza todo el código</a:t>
                      </a:r>
                    </a:p>
                  </a:txBody>
                  <a:tcPr anchor="ctr" marL="146304" marR="146304">
                    <a:solidFill>
                      <a:srgbClr val="FFFFFF"/>
                    </a:solidFill>
                  </a:tcPr>
                </a:tc>
              </a:tr>
              <a:tr h="874897">
                <a:tc>
                  <a:txBody>
                    <a:bodyPr wrap="square"/>
                    <a:lstStyle/>
                    <a:p>
                      <a:r>
                        <a:rPr sz="1609" b="1">
                          <a:solidFill>
                            <a:srgbClr val="33475B"/>
                          </a:solidFill>
                          <a:latin typeface="Aptos"/>
                        </a:rPr>
                        <a:t>Eventos asíncronos en vez de llamadas</a:t>
                      </a:r>
                    </a:p>
                  </a:txBody>
                  <a:tcPr anchor="ctr" marL="146304" marR="146304">
                    <a:solidFill>
                      <a:srgbClr val="F4F7FA"/>
                    </a:solidFill>
                  </a:tcPr>
                </a:tc>
                <a:tc>
                  <a:txBody>
                    <a:bodyPr wrap="square"/>
                    <a:lstStyle/>
                    <a:p>
                      <a:r>
                        <a:rPr sz="1609" b="0">
                          <a:solidFill>
                            <a:srgbClr val="33475B"/>
                          </a:solidFill>
                          <a:latin typeface="Aptos"/>
                        </a:rPr>
                        <a:t>Sí</a:t>
                      </a:r>
                    </a:p>
                  </a:txBody>
                  <a:tcPr anchor="ctr" marL="146304" marR="146304">
                    <a:solidFill>
                      <a:srgbClr val="F4F7FA"/>
                    </a:solidFill>
                  </a:tcPr>
                </a:tc>
                <a:tc>
                  <a:txBody>
                    <a:bodyPr wrap="square"/>
                    <a:lstStyle/>
                    <a:p>
                      <a:r>
                        <a:rPr sz="1609" b="0">
                          <a:solidFill>
                            <a:srgbClr val="33475B"/>
                          </a:solidFill>
                          <a:latin typeface="Aptos"/>
                        </a:rPr>
                        <a:t>Cambia errores, consistencia y despliegue</a:t>
                      </a:r>
                    </a:p>
                  </a:txBody>
                  <a:tcPr anchor="ctr" marL="146304" marR="146304">
                    <a:solidFill>
                      <a:srgbClr val="F4F7FA"/>
                    </a:solidFill>
                  </a:tcPr>
                </a:tc>
              </a:tr>
              <a:tr h="874897">
                <a:tc>
                  <a:txBody>
                    <a:bodyPr wrap="square"/>
                    <a:lstStyle/>
                    <a:p>
                      <a:r>
                        <a:rPr sz="1609" b="1">
                          <a:solidFill>
                            <a:srgbClr val="33475B"/>
                          </a:solidFill>
                          <a:latin typeface="Aptos"/>
                        </a:rPr>
                        <a:t>Un for o un stream en una lista</a:t>
                      </a:r>
                    </a:p>
                  </a:txBody>
                  <a:tcPr anchor="ctr" marL="146304" marR="146304">
                    <a:solidFill>
                      <a:srgbClr val="FFFFFF"/>
                    </a:solidFill>
                  </a:tcPr>
                </a:tc>
                <a:tc>
                  <a:txBody>
                    <a:bodyPr wrap="square"/>
                    <a:lstStyle/>
                    <a:p>
                      <a:r>
                        <a:rPr sz="1609" b="0">
                          <a:solidFill>
                            <a:srgbClr val="33475B"/>
                          </a:solidFill>
                          <a:latin typeface="Aptos"/>
                        </a:rPr>
                        <a:t>No</a:t>
                      </a:r>
                    </a:p>
                  </a:txBody>
                  <a:tcPr anchor="ctr" marL="146304" marR="146304">
                    <a:solidFill>
                      <a:srgbClr val="FFFFFF"/>
                    </a:solidFill>
                  </a:tcPr>
                </a:tc>
                <a:tc>
                  <a:txBody>
                    <a:bodyPr wrap="square"/>
                    <a:lstStyle/>
                    <a:p>
                      <a:r>
                        <a:rPr sz="1609" b="0">
                          <a:solidFill>
                            <a:srgbClr val="33475B"/>
                          </a:solidFill>
                          <a:latin typeface="Aptos"/>
                        </a:rPr>
                        <a:t>Se cambia en minutos</a:t>
                      </a:r>
                    </a:p>
                  </a:txBody>
                  <a:tcPr anchor="ctr" marL="146304" marR="146304">
                    <a:solidFill>
                      <a:srgbClr val="FFFFFF"/>
                    </a:solidFill>
                  </a:tcPr>
                </a:tc>
              </a:tr>
              <a:tr h="874897">
                <a:tc>
                  <a:txBody>
                    <a:bodyPr wrap="square"/>
                    <a:lstStyle/>
                    <a:p>
                      <a:r>
                        <a:rPr sz="1609" b="1">
                          <a:solidFill>
                            <a:srgbClr val="33475B"/>
                          </a:solidFill>
                          <a:latin typeface="Aptos"/>
                        </a:rPr>
                        <a:t>Nombre de una clase interna</a:t>
                      </a:r>
                    </a:p>
                  </a:txBody>
                  <a:tcPr anchor="ctr" marL="146304" marR="146304">
                    <a:solidFill>
                      <a:srgbClr val="F4F7FA"/>
                    </a:solidFill>
                  </a:tcPr>
                </a:tc>
                <a:tc>
                  <a:txBody>
                    <a:bodyPr wrap="square"/>
                    <a:lstStyle/>
                    <a:p>
                      <a:r>
                        <a:rPr sz="1609" b="0">
                          <a:solidFill>
                            <a:srgbClr val="33475B"/>
                          </a:solidFill>
                          <a:latin typeface="Aptos"/>
                        </a:rPr>
                        <a:t>No</a:t>
                      </a:r>
                    </a:p>
                  </a:txBody>
                  <a:tcPr anchor="ctr" marL="146304" marR="146304">
                    <a:solidFill>
                      <a:srgbClr val="F4F7FA"/>
                    </a:solidFill>
                  </a:tcPr>
                </a:tc>
                <a:tc>
                  <a:txBody>
                    <a:bodyPr wrap="square"/>
                    <a:lstStyle/>
                    <a:p>
                      <a:r>
                        <a:rPr sz="1609" b="0">
                          <a:solidFill>
                            <a:srgbClr val="33475B"/>
                          </a:solidFill>
                          <a:latin typeface="Aptos"/>
                        </a:rPr>
                        <a:t>Un refactor local lo resuelve</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 / 45</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Todo en arquitectura es un compromiso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78308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67335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783080"/>
          </a:xfrm>
          <a:prstGeom prst="rect">
            <a:avLst/>
          </a:prstGeom>
          <a:noFill/>
        </p:spPr>
        <p:txBody>
          <a:bodyPr wrap="square" anchor="ctr" lIns="0" rIns="0" tIns="0" bIns="0">
            <a:spAutoFit/>
          </a:bodyPr>
          <a:lstStyle/>
          <a:p>
            <a:pPr algn="l">
              <a:lnSpc>
                <a:spcPct val="125000"/>
              </a:lnSpc>
            </a:pPr>
            <a:r>
              <a:rPr sz="2545" b="1">
                <a:solidFill>
                  <a:srgbClr val="0E2841"/>
                </a:solidFill>
                <a:latin typeface="Aptos Display"/>
              </a:rPr>
              <a:t>Primera ley de Richards y Ford (2020): en arquitectura de software, todo es un compromiso.</a:t>
            </a:r>
          </a:p>
        </p:txBody>
      </p:sp>
      <p:sp>
        <p:nvSpPr>
          <p:cNvPr id="10" name="Oval 9"/>
          <p:cNvSpPr/>
          <p:nvPr/>
        </p:nvSpPr>
        <p:spPr>
          <a:xfrm>
            <a:off x="585216" y="3853053"/>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557016"/>
            <a:ext cx="10698480" cy="692658"/>
          </a:xfrm>
          <a:prstGeom prst="rect">
            <a:avLst/>
          </a:prstGeom>
          <a:noFill/>
        </p:spPr>
        <p:txBody>
          <a:bodyPr wrap="square" anchor="ctr" lIns="0" rIns="0" tIns="0" bIns="0">
            <a:spAutoFit/>
          </a:bodyPr>
          <a:lstStyle/>
          <a:p>
            <a:pPr algn="l"/>
            <a:r>
              <a:rPr sz="2429" b="1">
                <a:solidFill>
                  <a:srgbClr val="0E2841"/>
                </a:solidFill>
                <a:latin typeface="Aptos"/>
              </a:rPr>
              <a:t>Ningún patrón es «el mejor»</a:t>
            </a:r>
          </a:p>
        </p:txBody>
      </p:sp>
      <p:sp>
        <p:nvSpPr>
          <p:cNvPr id="12" name="Oval 11"/>
          <p:cNvSpPr/>
          <p:nvPr/>
        </p:nvSpPr>
        <p:spPr>
          <a:xfrm>
            <a:off x="585216" y="4545711"/>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4249674"/>
            <a:ext cx="10698480" cy="692658"/>
          </a:xfrm>
          <a:prstGeom prst="rect">
            <a:avLst/>
          </a:prstGeom>
          <a:noFill/>
        </p:spPr>
        <p:txBody>
          <a:bodyPr wrap="square" anchor="ctr" lIns="0" rIns="0" tIns="0" bIns="0">
            <a:spAutoFit/>
          </a:bodyPr>
          <a:lstStyle/>
          <a:p>
            <a:pPr algn="l"/>
            <a:r>
              <a:rPr sz="2429" b="1">
                <a:solidFill>
                  <a:srgbClr val="0E2841"/>
                </a:solidFill>
                <a:latin typeface="Aptos"/>
              </a:rPr>
              <a:t>Cada uno favorece unos atributos</a:t>
            </a:r>
          </a:p>
        </p:txBody>
      </p:sp>
      <p:sp>
        <p:nvSpPr>
          <p:cNvPr id="14" name="Oval 13"/>
          <p:cNvSpPr/>
          <p:nvPr/>
        </p:nvSpPr>
        <p:spPr>
          <a:xfrm>
            <a:off x="585216" y="5238369"/>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942332"/>
            <a:ext cx="10698480" cy="692658"/>
          </a:xfrm>
          <a:prstGeom prst="rect">
            <a:avLst/>
          </a:prstGeom>
          <a:noFill/>
        </p:spPr>
        <p:txBody>
          <a:bodyPr wrap="square" anchor="ctr" lIns="0" rIns="0" tIns="0" bIns="0">
            <a:spAutoFit/>
          </a:bodyPr>
          <a:lstStyle/>
          <a:p>
            <a:pPr algn="l"/>
            <a:r>
              <a:rPr sz="2429" b="1">
                <a:solidFill>
                  <a:srgbClr val="0E2841"/>
                </a:solidFill>
                <a:latin typeface="Aptos"/>
              </a:rPr>
              <a:t>Y castiga otros a cambio</a:t>
            </a:r>
          </a:p>
        </p:txBody>
      </p:sp>
      <p:sp>
        <p:nvSpPr>
          <p:cNvPr id="16" name="Oval 15"/>
          <p:cNvSpPr/>
          <p:nvPr/>
        </p:nvSpPr>
        <p:spPr>
          <a:xfrm>
            <a:off x="585216" y="5931027"/>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634990"/>
            <a:ext cx="10698480" cy="692658"/>
          </a:xfrm>
          <a:prstGeom prst="rect">
            <a:avLst/>
          </a:prstGeom>
          <a:noFill/>
        </p:spPr>
        <p:txBody>
          <a:bodyPr wrap="square" anchor="ctr" lIns="0" rIns="0" tIns="0" bIns="0">
            <a:spAutoFit/>
          </a:bodyPr>
          <a:lstStyle/>
          <a:p>
            <a:pPr algn="l"/>
            <a:r>
              <a:rPr sz="2429" b="1">
                <a:solidFill>
                  <a:srgbClr val="0E2841"/>
                </a:solidFill>
                <a:latin typeface="Aptos"/>
              </a:rPr>
              <a:t>Tu trabajo: qué sacrificar y por qué</a:t>
            </a:r>
          </a:p>
        </p:txBody>
      </p:sp>
      <p:sp>
        <p:nvSpPr>
          <p:cNvPr id="18" name="TextBox 1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19" name="TextBox 1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5 / 45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hace arquitectónica una decisión?</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Que aparezca en un diagrama UML del proyecto</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Que revertirla después sea costoso o afecte a todo el sistema</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Que la tome el arquitecto y no el equipo</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Que involucre elegir un lenguaje de programación</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6 / 45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02</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2. Conceptos fundamentales</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Componentes, conectores y reglas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Componente</a:t>
            </a:r>
          </a:p>
          <a:p>
            <a:pPr algn="l">
              <a:lnSpc>
                <a:spcPct val="120000"/>
              </a:lnSpc>
              <a:spcBef>
                <a:spcPts val="700"/>
              </a:spcBef>
            </a:pPr>
            <a:r>
              <a:rPr sz="1560" b="0">
                <a:solidFill>
                  <a:srgbClr val="33475B"/>
                </a:solidFill>
                <a:latin typeface="Aptos"/>
              </a:rPr>
              <a:t>unidad con una responsabilidad</a:t>
            </a:r>
          </a:p>
        </p:txBody>
      </p:sp>
      <p:sp>
        <p:nvSpPr>
          <p:cNvPr id="10" name="Rounded Rectangle 9"/>
          <p:cNvSpPr/>
          <p:nvPr/>
        </p:nvSpPr>
        <p:spPr>
          <a:xfrm>
            <a:off x="3410712"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Conector</a:t>
            </a:r>
          </a:p>
          <a:p>
            <a:pPr algn="l">
              <a:lnSpc>
                <a:spcPct val="120000"/>
              </a:lnSpc>
              <a:spcBef>
                <a:spcPts val="700"/>
              </a:spcBef>
            </a:pPr>
            <a:r>
              <a:rPr sz="1560" b="0">
                <a:solidFill>
                  <a:srgbClr val="33475B"/>
                </a:solidFill>
                <a:latin typeface="Aptos"/>
              </a:rPr>
              <a:t>HTTP, cola de mensajes, tubería</a:t>
            </a:r>
          </a:p>
        </p:txBody>
      </p:sp>
      <p:sp>
        <p:nvSpPr>
          <p:cNvPr id="13" name="Rounded Rectangle 12"/>
          <p:cNvSpPr/>
          <p:nvPr/>
        </p:nvSpPr>
        <p:spPr>
          <a:xfrm>
            <a:off x="6254496"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Configuración</a:t>
            </a:r>
          </a:p>
          <a:p>
            <a:pPr algn="l">
              <a:lnSpc>
                <a:spcPct val="120000"/>
              </a:lnSpc>
              <a:spcBef>
                <a:spcPts val="700"/>
              </a:spcBef>
            </a:pPr>
            <a:r>
              <a:rPr sz="1560" b="0">
                <a:solidFill>
                  <a:srgbClr val="33475B"/>
                </a:solidFill>
                <a:latin typeface="Aptos"/>
              </a:rPr>
              <a:t>cómo se conectan entre sí</a:t>
            </a:r>
          </a:p>
        </p:txBody>
      </p:sp>
      <p:sp>
        <p:nvSpPr>
          <p:cNvPr id="16" name="Rounded Rectangle 15"/>
          <p:cNvSpPr/>
          <p:nvPr/>
        </p:nvSpPr>
        <p:spPr>
          <a:xfrm>
            <a:off x="9098280"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Restricción</a:t>
            </a:r>
          </a:p>
          <a:p>
            <a:pPr algn="l">
              <a:lnSpc>
                <a:spcPct val="120000"/>
              </a:lnSpc>
              <a:spcBef>
                <a:spcPts val="700"/>
              </a:spcBef>
            </a:pPr>
            <a:r>
              <a:rPr sz="1560" b="0">
                <a:solidFill>
                  <a:srgbClr val="33475B"/>
                </a:solidFill>
                <a:latin typeface="Aptos"/>
              </a:rPr>
              <a:t>regla que la arquitectura impone</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7 / 45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Los atributos de calidad eligen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9"/>
        </p:xfrm>
        <a:graphic>
          <a:graphicData uri="http://schemas.openxmlformats.org/drawingml/2006/table">
            <a:tbl>
              <a:tblPr firstRow="1">
                <a:tableStyleId>{5C22544A-7EE6-4342-B048-85BDC9FD1C3A}</a:tableStyleId>
              </a:tblPr>
              <a:tblGrid>
                <a:gridCol w="5532120"/>
                <a:gridCol w="5532120"/>
              </a:tblGrid>
              <a:tr h="624927">
                <a:tc>
                  <a:txBody>
                    <a:bodyPr wrap="square"/>
                    <a:lstStyle/>
                    <a:p>
                      <a:r>
                        <a:rPr sz="1688" b="1">
                          <a:solidFill>
                            <a:srgbClr val="FFFFFF"/>
                          </a:solidFill>
                          <a:latin typeface="Aptos"/>
                        </a:rPr>
                        <a:t>Atributo</a:t>
                      </a:r>
                    </a:p>
                  </a:txBody>
                  <a:tcPr anchor="ctr" marL="146304" marR="146304">
                    <a:solidFill>
                      <a:srgbClr val="156082"/>
                    </a:solidFill>
                  </a:tcPr>
                </a:tc>
                <a:tc>
                  <a:txBody>
                    <a:bodyPr wrap="square"/>
                    <a:lstStyle/>
                    <a:p>
                      <a:r>
                        <a:rPr sz="1688" b="1">
                          <a:solidFill>
                            <a:srgbClr val="FFFFFF"/>
                          </a:solidFill>
                          <a:latin typeface="Aptos"/>
                        </a:rPr>
                        <a:t>Pregunta que responde</a:t>
                      </a:r>
                    </a:p>
                  </a:txBody>
                  <a:tcPr anchor="ctr" marL="146304" marR="146304">
                    <a:solidFill>
                      <a:srgbClr val="156082"/>
                    </a:solidFill>
                  </a:tcPr>
                </a:tc>
              </a:tr>
              <a:tr h="624927">
                <a:tc>
                  <a:txBody>
                    <a:bodyPr wrap="square"/>
                    <a:lstStyle/>
                    <a:p>
                      <a:r>
                        <a:rPr sz="1576" b="1">
                          <a:solidFill>
                            <a:srgbClr val="33475B"/>
                          </a:solidFill>
                          <a:latin typeface="Aptos"/>
                        </a:rPr>
                        <a:t>Rendimiento</a:t>
                      </a:r>
                    </a:p>
                  </a:txBody>
                  <a:tcPr anchor="ctr" marL="146304" marR="146304">
                    <a:solidFill>
                      <a:srgbClr val="FFFFFF"/>
                    </a:solidFill>
                  </a:tcPr>
                </a:tc>
                <a:tc>
                  <a:txBody>
                    <a:bodyPr wrap="square"/>
                    <a:lstStyle/>
                    <a:p>
                      <a:r>
                        <a:rPr sz="1576" b="0">
                          <a:solidFill>
                            <a:srgbClr val="33475B"/>
                          </a:solidFill>
                          <a:latin typeface="Aptos"/>
                        </a:rPr>
                        <a:t>¿Responde a tiempo bajo la carga esperada?</a:t>
                      </a:r>
                    </a:p>
                  </a:txBody>
                  <a:tcPr anchor="ctr" marL="146304" marR="146304">
                    <a:solidFill>
                      <a:srgbClr val="FFFFFF"/>
                    </a:solidFill>
                  </a:tcPr>
                </a:tc>
              </a:tr>
              <a:tr h="624927">
                <a:tc>
                  <a:txBody>
                    <a:bodyPr wrap="square"/>
                    <a:lstStyle/>
                    <a:p>
                      <a:r>
                        <a:rPr sz="1576" b="1">
                          <a:solidFill>
                            <a:srgbClr val="33475B"/>
                          </a:solidFill>
                          <a:latin typeface="Aptos"/>
                        </a:rPr>
                        <a:t>Escalabilidad</a:t>
                      </a:r>
                    </a:p>
                  </a:txBody>
                  <a:tcPr anchor="ctr" marL="146304" marR="146304">
                    <a:solidFill>
                      <a:srgbClr val="F4F7FA"/>
                    </a:solidFill>
                  </a:tcPr>
                </a:tc>
                <a:tc>
                  <a:txBody>
                    <a:bodyPr wrap="square"/>
                    <a:lstStyle/>
                    <a:p>
                      <a:r>
                        <a:rPr sz="1576" b="0">
                          <a:solidFill>
                            <a:srgbClr val="33475B"/>
                          </a:solidFill>
                          <a:latin typeface="Aptos"/>
                        </a:rPr>
                        <a:t>¿Soporta más usuarios agregando recursos?</a:t>
                      </a:r>
                    </a:p>
                  </a:txBody>
                  <a:tcPr anchor="ctr" marL="146304" marR="146304">
                    <a:solidFill>
                      <a:srgbClr val="F4F7FA"/>
                    </a:solidFill>
                  </a:tcPr>
                </a:tc>
              </a:tr>
              <a:tr h="624927">
                <a:tc>
                  <a:txBody>
                    <a:bodyPr wrap="square"/>
                    <a:lstStyle/>
                    <a:p>
                      <a:r>
                        <a:rPr sz="1576" b="1">
                          <a:solidFill>
                            <a:srgbClr val="33475B"/>
                          </a:solidFill>
                          <a:latin typeface="Aptos"/>
                        </a:rPr>
                        <a:t>Disponibilidad</a:t>
                      </a:r>
                    </a:p>
                  </a:txBody>
                  <a:tcPr anchor="ctr" marL="146304" marR="146304">
                    <a:solidFill>
                      <a:srgbClr val="FFFFFF"/>
                    </a:solidFill>
                  </a:tcPr>
                </a:tc>
                <a:tc>
                  <a:txBody>
                    <a:bodyPr wrap="square"/>
                    <a:lstStyle/>
                    <a:p>
                      <a:r>
                        <a:rPr sz="1576" b="0">
                          <a:solidFill>
                            <a:srgbClr val="33475B"/>
                          </a:solidFill>
                          <a:latin typeface="Aptos"/>
                        </a:rPr>
                        <a:t>¿Está operativo cuando se necesita?</a:t>
                      </a:r>
                    </a:p>
                  </a:txBody>
                  <a:tcPr anchor="ctr" marL="146304" marR="146304">
                    <a:solidFill>
                      <a:srgbClr val="FFFFFF"/>
                    </a:solidFill>
                  </a:tcPr>
                </a:tc>
              </a:tr>
              <a:tr h="624927">
                <a:tc>
                  <a:txBody>
                    <a:bodyPr wrap="square"/>
                    <a:lstStyle/>
                    <a:p>
                      <a:r>
                        <a:rPr sz="1576" b="1">
                          <a:solidFill>
                            <a:srgbClr val="33475B"/>
                          </a:solidFill>
                          <a:latin typeface="Aptos"/>
                        </a:rPr>
                        <a:t>Modificabilidad</a:t>
                      </a:r>
                    </a:p>
                  </a:txBody>
                  <a:tcPr anchor="ctr" marL="146304" marR="146304">
                    <a:solidFill>
                      <a:srgbClr val="F4F7FA"/>
                    </a:solidFill>
                  </a:tcPr>
                </a:tc>
                <a:tc>
                  <a:txBody>
                    <a:bodyPr wrap="square"/>
                    <a:lstStyle/>
                    <a:p>
                      <a:r>
                        <a:rPr sz="1576" b="0">
                          <a:solidFill>
                            <a:srgbClr val="33475B"/>
                          </a:solidFill>
                          <a:latin typeface="Aptos"/>
                        </a:rPr>
                        <a:t>¿Cuánto cuesta cambiarlo?</a:t>
                      </a:r>
                    </a:p>
                  </a:txBody>
                  <a:tcPr anchor="ctr" marL="146304" marR="146304">
                    <a:solidFill>
                      <a:srgbClr val="F4F7FA"/>
                    </a:solidFill>
                  </a:tcPr>
                </a:tc>
              </a:tr>
              <a:tr h="624927">
                <a:tc>
                  <a:txBody>
                    <a:bodyPr wrap="square"/>
                    <a:lstStyle/>
                    <a:p>
                      <a:r>
                        <a:rPr sz="1576" b="1">
                          <a:solidFill>
                            <a:srgbClr val="33475B"/>
                          </a:solidFill>
                          <a:latin typeface="Aptos"/>
                        </a:rPr>
                        <a:t>Seguridad</a:t>
                      </a:r>
                    </a:p>
                  </a:txBody>
                  <a:tcPr anchor="ctr" marL="146304" marR="146304">
                    <a:solidFill>
                      <a:srgbClr val="FFFFFF"/>
                    </a:solidFill>
                  </a:tcPr>
                </a:tc>
                <a:tc>
                  <a:txBody>
                    <a:bodyPr wrap="square"/>
                    <a:lstStyle/>
                    <a:p>
                      <a:r>
                        <a:rPr sz="1576" b="0">
                          <a:solidFill>
                            <a:srgbClr val="33475B"/>
                          </a:solidFill>
                          <a:latin typeface="Aptos"/>
                        </a:rPr>
                        <a:t>¿Resiste usos no autorizados?</a:t>
                      </a:r>
                    </a:p>
                  </a:txBody>
                  <a:tcPr anchor="ctr" marL="146304" marR="146304">
                    <a:solidFill>
                      <a:srgbClr val="FFFFFF"/>
                    </a:solidFill>
                  </a:tcPr>
                </a:tc>
              </a:tr>
              <a:tr h="624927">
                <a:tc>
                  <a:txBody>
                    <a:bodyPr wrap="square"/>
                    <a:lstStyle/>
                    <a:p>
                      <a:r>
                        <a:rPr sz="1576" b="1">
                          <a:solidFill>
                            <a:srgbClr val="33475B"/>
                          </a:solidFill>
                          <a:latin typeface="Aptos"/>
                        </a:rPr>
                        <a:t>Desplegabilidad</a:t>
                      </a:r>
                    </a:p>
                  </a:txBody>
                  <a:tcPr anchor="ctr" marL="146304" marR="146304">
                    <a:solidFill>
                      <a:srgbClr val="F4F7FA"/>
                    </a:solidFill>
                  </a:tcPr>
                </a:tc>
                <a:tc>
                  <a:txBody>
                    <a:bodyPr wrap="square"/>
                    <a:lstStyle/>
                    <a:p>
                      <a:r>
                        <a:rPr sz="1576" b="0">
                          <a:solidFill>
                            <a:srgbClr val="33475B"/>
                          </a:solidFill>
                          <a:latin typeface="Aptos"/>
                        </a:rPr>
                        <a:t>¿Sale a producción seguido y con poco riesgo?</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8 / 45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«Que sea rápido» no decide nada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9"/>
        </p:xfrm>
        <a:graphic>
          <a:graphicData uri="http://schemas.openxmlformats.org/drawingml/2006/table">
            <a:tbl>
              <a:tblPr firstRow="1">
                <a:tableStyleId>{5C22544A-7EE6-4342-B048-85BDC9FD1C3A}</a:tableStyleId>
              </a:tblPr>
              <a:tblGrid>
                <a:gridCol w="5532120"/>
                <a:gridCol w="5532120"/>
              </a:tblGrid>
              <a:tr h="624927">
                <a:tc>
                  <a:txBody>
                    <a:bodyPr wrap="square"/>
                    <a:lstStyle/>
                    <a:p>
                      <a:r>
                        <a:rPr sz="1688" b="1">
                          <a:solidFill>
                            <a:srgbClr val="FFFFFF"/>
                          </a:solidFill>
                          <a:latin typeface="Aptos"/>
                        </a:rPr>
                        <a:t>Parte del escenario</a:t>
                      </a:r>
                    </a:p>
                  </a:txBody>
                  <a:tcPr anchor="ctr" marL="146304" marR="146304">
                    <a:solidFill>
                      <a:srgbClr val="156082"/>
                    </a:solidFill>
                  </a:tcPr>
                </a:tc>
                <a:tc>
                  <a:txBody>
                    <a:bodyPr wrap="square"/>
                    <a:lstStyle/>
                    <a:p>
                      <a:r>
                        <a:rPr sz="1688" b="1">
                          <a:solidFill>
                            <a:srgbClr val="FFFFFF"/>
                          </a:solidFill>
                          <a:latin typeface="Aptos"/>
                        </a:rPr>
                        <a:t>Ejemplo: Mercado Campesino</a:t>
                      </a:r>
                    </a:p>
                  </a:txBody>
                  <a:tcPr anchor="ctr" marL="146304" marR="146304">
                    <a:solidFill>
                      <a:srgbClr val="156082"/>
                    </a:solidFill>
                  </a:tcPr>
                </a:tc>
              </a:tr>
              <a:tr h="624927">
                <a:tc>
                  <a:txBody>
                    <a:bodyPr wrap="square"/>
                    <a:lstStyle/>
                    <a:p>
                      <a:r>
                        <a:rPr sz="1576" b="1">
                          <a:solidFill>
                            <a:srgbClr val="33475B"/>
                          </a:solidFill>
                          <a:latin typeface="Aptos"/>
                        </a:rPr>
                        <a:t>Fuente</a:t>
                      </a:r>
                    </a:p>
                  </a:txBody>
                  <a:tcPr anchor="ctr" marL="146304" marR="146304">
                    <a:solidFill>
                      <a:srgbClr val="FFFFFF"/>
                    </a:solidFill>
                  </a:tcPr>
                </a:tc>
                <a:tc>
                  <a:txBody>
                    <a:bodyPr wrap="square"/>
                    <a:lstStyle/>
                    <a:p>
                      <a:r>
                        <a:rPr sz="1576" b="0">
                          <a:solidFill>
                            <a:srgbClr val="33475B"/>
                          </a:solidFill>
                          <a:latin typeface="Aptos"/>
                        </a:rPr>
                        <a:t>300 clientes</a:t>
                      </a:r>
                    </a:p>
                  </a:txBody>
                  <a:tcPr anchor="ctr" marL="146304" marR="146304">
                    <a:solidFill>
                      <a:srgbClr val="FFFFFF"/>
                    </a:solidFill>
                  </a:tcPr>
                </a:tc>
              </a:tr>
              <a:tr h="624927">
                <a:tc>
                  <a:txBody>
                    <a:bodyPr wrap="square"/>
                    <a:lstStyle/>
                    <a:p>
                      <a:r>
                        <a:rPr sz="1576" b="1">
                          <a:solidFill>
                            <a:srgbClr val="33475B"/>
                          </a:solidFill>
                          <a:latin typeface="Aptos"/>
                        </a:rPr>
                        <a:t>Estímulo</a:t>
                      </a:r>
                    </a:p>
                  </a:txBody>
                  <a:tcPr anchor="ctr" marL="146304" marR="146304">
                    <a:solidFill>
                      <a:srgbClr val="F4F7FA"/>
                    </a:solidFill>
                  </a:tcPr>
                </a:tc>
                <a:tc>
                  <a:txBody>
                    <a:bodyPr wrap="square"/>
                    <a:lstStyle/>
                    <a:p>
                      <a:r>
                        <a:rPr sz="1576" b="0">
                          <a:solidFill>
                            <a:srgbClr val="33475B"/>
                          </a:solidFill>
                          <a:latin typeface="Aptos"/>
                        </a:rPr>
                        <a:t>Piden al mismo tiempo el jueves antes del cierre</a:t>
                      </a:r>
                    </a:p>
                  </a:txBody>
                  <a:tcPr anchor="ctr" marL="146304" marR="146304">
                    <a:solidFill>
                      <a:srgbClr val="F4F7FA"/>
                    </a:solidFill>
                  </a:tcPr>
                </a:tc>
              </a:tr>
              <a:tr h="624927">
                <a:tc>
                  <a:txBody>
                    <a:bodyPr wrap="square"/>
                    <a:lstStyle/>
                    <a:p>
                      <a:r>
                        <a:rPr sz="1576" b="1">
                          <a:solidFill>
                            <a:srgbClr val="33475B"/>
                          </a:solidFill>
                          <a:latin typeface="Aptos"/>
                        </a:rPr>
                        <a:t>Artefacto</a:t>
                      </a:r>
                    </a:p>
                  </a:txBody>
                  <a:tcPr anchor="ctr" marL="146304" marR="146304">
                    <a:solidFill>
                      <a:srgbClr val="FFFFFF"/>
                    </a:solidFill>
                  </a:tcPr>
                </a:tc>
                <a:tc>
                  <a:txBody>
                    <a:bodyPr wrap="square"/>
                    <a:lstStyle/>
                    <a:p>
                      <a:r>
                        <a:rPr sz="1576" b="0">
                          <a:solidFill>
                            <a:srgbClr val="33475B"/>
                          </a:solidFill>
                          <a:latin typeface="Aptos"/>
                        </a:rPr>
                        <a:t>Servicio de pedidos</a:t>
                      </a:r>
                    </a:p>
                  </a:txBody>
                  <a:tcPr anchor="ctr" marL="146304" marR="146304">
                    <a:solidFill>
                      <a:srgbClr val="FFFFFF"/>
                    </a:solidFill>
                  </a:tcPr>
                </a:tc>
              </a:tr>
              <a:tr h="624927">
                <a:tc>
                  <a:txBody>
                    <a:bodyPr wrap="square"/>
                    <a:lstStyle/>
                    <a:p>
                      <a:r>
                        <a:rPr sz="1576" b="1">
                          <a:solidFill>
                            <a:srgbClr val="33475B"/>
                          </a:solidFill>
                          <a:latin typeface="Aptos"/>
                        </a:rPr>
                        <a:t>Entorno</a:t>
                      </a:r>
                    </a:p>
                  </a:txBody>
                  <a:tcPr anchor="ctr" marL="146304" marR="146304">
                    <a:solidFill>
                      <a:srgbClr val="F4F7FA"/>
                    </a:solidFill>
                  </a:tcPr>
                </a:tc>
                <a:tc>
                  <a:txBody>
                    <a:bodyPr wrap="square"/>
                    <a:lstStyle/>
                    <a:p>
                      <a:r>
                        <a:rPr sz="1576" b="0">
                          <a:solidFill>
                            <a:srgbClr val="33475B"/>
                          </a:solidFill>
                          <a:latin typeface="Aptos"/>
                        </a:rPr>
                        <a:t>Operación normal, día de cierre de pedidos</a:t>
                      </a:r>
                    </a:p>
                  </a:txBody>
                  <a:tcPr anchor="ctr" marL="146304" marR="146304">
                    <a:solidFill>
                      <a:srgbClr val="F4F7FA"/>
                    </a:solidFill>
                  </a:tcPr>
                </a:tc>
              </a:tr>
              <a:tr h="624927">
                <a:tc>
                  <a:txBody>
                    <a:bodyPr wrap="square"/>
                    <a:lstStyle/>
                    <a:p>
                      <a:r>
                        <a:rPr sz="1576" b="1">
                          <a:solidFill>
                            <a:srgbClr val="33475B"/>
                          </a:solidFill>
                          <a:latin typeface="Aptos"/>
                        </a:rPr>
                        <a:t>Respuesta</a:t>
                      </a:r>
                    </a:p>
                  </a:txBody>
                  <a:tcPr anchor="ctr" marL="146304" marR="146304">
                    <a:solidFill>
                      <a:srgbClr val="FFFFFF"/>
                    </a:solidFill>
                  </a:tcPr>
                </a:tc>
                <a:tc>
                  <a:txBody>
                    <a:bodyPr wrap="square"/>
                    <a:lstStyle/>
                    <a:p>
                      <a:r>
                        <a:rPr sz="1576" b="0">
                          <a:solidFill>
                            <a:srgbClr val="33475B"/>
                          </a:solidFill>
                          <a:latin typeface="Aptos"/>
                        </a:rPr>
                        <a:t>Cada pedido se registra y confirma</a:t>
                      </a:r>
                    </a:p>
                  </a:txBody>
                  <a:tcPr anchor="ctr" marL="146304" marR="146304">
                    <a:solidFill>
                      <a:srgbClr val="FFFFFF"/>
                    </a:solidFill>
                  </a:tcPr>
                </a:tc>
              </a:tr>
              <a:tr h="624927">
                <a:tc>
                  <a:txBody>
                    <a:bodyPr wrap="square"/>
                    <a:lstStyle/>
                    <a:p>
                      <a:r>
                        <a:rPr sz="1576" b="1">
                          <a:solidFill>
                            <a:srgbClr val="33475B"/>
                          </a:solidFill>
                          <a:latin typeface="Aptos"/>
                        </a:rPr>
                        <a:t>Medida</a:t>
                      </a:r>
                    </a:p>
                  </a:txBody>
                  <a:tcPr anchor="ctr" marL="146304" marR="146304">
                    <a:solidFill>
                      <a:srgbClr val="F4F7FA"/>
                    </a:solidFill>
                  </a:tcPr>
                </a:tc>
                <a:tc>
                  <a:txBody>
                    <a:bodyPr wrap="square"/>
                    <a:lstStyle/>
                    <a:p>
                      <a:r>
                        <a:rPr sz="1576" b="0">
                          <a:solidFill>
                            <a:srgbClr val="33475B"/>
                          </a:solidFill>
                          <a:latin typeface="Aptos"/>
                        </a:rPr>
                        <a:t>El 95 % se confirma en menos de 2 s</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9 / 45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¿Cuál es un escenario de calidad útil?</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El sistema debe ser rápido y escalable</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El sistema debe usar microservicios</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Con 300 usuarios a la vez, el 95 % de los pedidos se confirma en menos de 2 s</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El sistema debe tener la mejor arquitectura posible</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10 / 45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Cinco principios que no envejecen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5532120"/>
                <a:gridCol w="5532120"/>
              </a:tblGrid>
              <a:tr h="729081">
                <a:tc>
                  <a:txBody>
                    <a:bodyPr wrap="square"/>
                    <a:lstStyle/>
                    <a:p>
                      <a:r>
                        <a:rPr sz="1725" b="1">
                          <a:solidFill>
                            <a:srgbClr val="FFFFFF"/>
                          </a:solidFill>
                          <a:latin typeface="Aptos"/>
                        </a:rPr>
                        <a:t>Principio</a:t>
                      </a:r>
                    </a:p>
                  </a:txBody>
                  <a:tcPr anchor="ctr" marL="146304" marR="146304">
                    <a:solidFill>
                      <a:srgbClr val="156082"/>
                    </a:solidFill>
                  </a:tcPr>
                </a:tc>
                <a:tc>
                  <a:txBody>
                    <a:bodyPr wrap="square"/>
                    <a:lstStyle/>
                    <a:p>
                      <a:r>
                        <a:rPr sz="1725" b="1">
                          <a:solidFill>
                            <a:srgbClr val="FFFFFF"/>
                          </a:solidFill>
                          <a:latin typeface="Aptos"/>
                        </a:rPr>
                        <a:t>Qué evita</a:t>
                      </a:r>
                    </a:p>
                  </a:txBody>
                  <a:tcPr anchor="ctr" marL="146304" marR="146304">
                    <a:solidFill>
                      <a:srgbClr val="156082"/>
                    </a:solidFill>
                  </a:tcPr>
                </a:tc>
              </a:tr>
              <a:tr h="729081">
                <a:tc>
                  <a:txBody>
                    <a:bodyPr wrap="square"/>
                    <a:lstStyle/>
                    <a:p>
                      <a:r>
                        <a:rPr sz="1609" b="1">
                          <a:solidFill>
                            <a:srgbClr val="33475B"/>
                          </a:solidFill>
                          <a:latin typeface="Aptos"/>
                        </a:rPr>
                        <a:t>Separación de responsabilidades</a:t>
                      </a:r>
                    </a:p>
                  </a:txBody>
                  <a:tcPr anchor="ctr" marL="146304" marR="146304">
                    <a:solidFill>
                      <a:srgbClr val="FFFFFF"/>
                    </a:solidFill>
                  </a:tcPr>
                </a:tc>
                <a:tc>
                  <a:txBody>
                    <a:bodyPr wrap="square"/>
                    <a:lstStyle/>
                    <a:p>
                      <a:r>
                        <a:rPr sz="1609" b="0">
                          <a:solidFill>
                            <a:srgbClr val="33475B"/>
                          </a:solidFill>
                          <a:latin typeface="Aptos"/>
                        </a:rPr>
                        <a:t>Que la interfaz arrastre reglas de negocio</a:t>
                      </a:r>
                    </a:p>
                  </a:txBody>
                  <a:tcPr anchor="ctr" marL="146304" marR="146304">
                    <a:solidFill>
                      <a:srgbClr val="FFFFFF"/>
                    </a:solidFill>
                  </a:tcPr>
                </a:tc>
              </a:tr>
              <a:tr h="729081">
                <a:tc>
                  <a:txBody>
                    <a:bodyPr wrap="square"/>
                    <a:lstStyle/>
                    <a:p>
                      <a:r>
                        <a:rPr sz="1609" b="1">
                          <a:solidFill>
                            <a:srgbClr val="33475B"/>
                          </a:solidFill>
                          <a:latin typeface="Aptos"/>
                        </a:rPr>
                        <a:t>Modularidad</a:t>
                      </a:r>
                    </a:p>
                  </a:txBody>
                  <a:tcPr anchor="ctr" marL="146304" marR="146304">
                    <a:solidFill>
                      <a:srgbClr val="F4F7FA"/>
                    </a:solidFill>
                  </a:tcPr>
                </a:tc>
                <a:tc>
                  <a:txBody>
                    <a:bodyPr wrap="square"/>
                    <a:lstStyle/>
                    <a:p>
                      <a:r>
                        <a:rPr sz="1609" b="0">
                          <a:solidFill>
                            <a:srgbClr val="33475B"/>
                          </a:solidFill>
                          <a:latin typeface="Aptos"/>
                        </a:rPr>
                        <a:t>Que todo dependa de todo</a:t>
                      </a:r>
                    </a:p>
                  </a:txBody>
                  <a:tcPr anchor="ctr" marL="146304" marR="146304">
                    <a:solidFill>
                      <a:srgbClr val="F4F7FA"/>
                    </a:solidFill>
                  </a:tcPr>
                </a:tc>
              </a:tr>
              <a:tr h="729081">
                <a:tc>
                  <a:txBody>
                    <a:bodyPr wrap="square"/>
                    <a:lstStyle/>
                    <a:p>
                      <a:r>
                        <a:rPr sz="1609" b="1">
                          <a:solidFill>
                            <a:srgbClr val="33475B"/>
                          </a:solidFill>
                          <a:latin typeface="Aptos"/>
                        </a:rPr>
                        <a:t>Bajo acoplamiento</a:t>
                      </a:r>
                    </a:p>
                  </a:txBody>
                  <a:tcPr anchor="ctr" marL="146304" marR="146304">
                    <a:solidFill>
                      <a:srgbClr val="FFFFFF"/>
                    </a:solidFill>
                  </a:tcPr>
                </a:tc>
                <a:tc>
                  <a:txBody>
                    <a:bodyPr wrap="square"/>
                    <a:lstStyle/>
                    <a:p>
                      <a:r>
                        <a:rPr sz="1609" b="0">
                          <a:solidFill>
                            <a:srgbClr val="33475B"/>
                          </a:solidFill>
                          <a:latin typeface="Aptos"/>
                        </a:rPr>
                        <a:t>Cambios en cascada</a:t>
                      </a:r>
                    </a:p>
                  </a:txBody>
                  <a:tcPr anchor="ctr" marL="146304" marR="146304">
                    <a:solidFill>
                      <a:srgbClr val="FFFFFF"/>
                    </a:solidFill>
                  </a:tcPr>
                </a:tc>
              </a:tr>
              <a:tr h="729081">
                <a:tc>
                  <a:txBody>
                    <a:bodyPr wrap="square"/>
                    <a:lstStyle/>
                    <a:p>
                      <a:r>
                        <a:rPr sz="1609" b="1">
                          <a:solidFill>
                            <a:srgbClr val="33475B"/>
                          </a:solidFill>
                          <a:latin typeface="Aptos"/>
                        </a:rPr>
                        <a:t>Alta cohesión</a:t>
                      </a:r>
                    </a:p>
                  </a:txBody>
                  <a:tcPr anchor="ctr" marL="146304" marR="146304">
                    <a:solidFill>
                      <a:srgbClr val="F4F7FA"/>
                    </a:solidFill>
                  </a:tcPr>
                </a:tc>
                <a:tc>
                  <a:txBody>
                    <a:bodyPr wrap="square"/>
                    <a:lstStyle/>
                    <a:p>
                      <a:r>
                        <a:rPr sz="1609" b="0">
                          <a:solidFill>
                            <a:srgbClr val="33475B"/>
                          </a:solidFill>
                          <a:latin typeface="Aptos"/>
                        </a:rPr>
                        <a:t>Una función repartida en diez lugares</a:t>
                      </a:r>
                    </a:p>
                  </a:txBody>
                  <a:tcPr anchor="ctr" marL="146304" marR="146304">
                    <a:solidFill>
                      <a:srgbClr val="F4F7FA"/>
                    </a:solidFill>
                  </a:tcPr>
                </a:tc>
              </a:tr>
              <a:tr h="729081">
                <a:tc>
                  <a:txBody>
                    <a:bodyPr wrap="square"/>
                    <a:lstStyle/>
                    <a:p>
                      <a:r>
                        <a:rPr sz="1609" b="1">
                          <a:solidFill>
                            <a:srgbClr val="33475B"/>
                          </a:solidFill>
                          <a:latin typeface="Aptos"/>
                        </a:rPr>
                        <a:t>Abstracción y ocultamiento</a:t>
                      </a:r>
                    </a:p>
                  </a:txBody>
                  <a:tcPr anchor="ctr" marL="146304" marR="146304">
                    <a:solidFill>
                      <a:srgbClr val="FFFFFF"/>
                    </a:solidFill>
                  </a:tcPr>
                </a:tc>
                <a:tc>
                  <a:txBody>
                    <a:bodyPr wrap="square"/>
                    <a:lstStyle/>
                    <a:p>
                      <a:r>
                        <a:rPr sz="1609" b="0">
                          <a:solidFill>
                            <a:srgbClr val="33475B"/>
                          </a:solidFill>
                          <a:latin typeface="Aptos"/>
                        </a:rPr>
                        <a:t>Detalles técnicos filtrados a todo el código</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11 / 45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03</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3. Patrón, estilo y patrón de diseño</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Contexto, problema y solución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71907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60934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719072"/>
          </a:xfrm>
          <a:prstGeom prst="rect">
            <a:avLst/>
          </a:prstGeom>
          <a:noFill/>
        </p:spPr>
        <p:txBody>
          <a:bodyPr wrap="square" anchor="ctr" lIns="0" rIns="0" tIns="0" bIns="0">
            <a:spAutoFit/>
          </a:bodyPr>
          <a:lstStyle/>
          <a:p>
            <a:pPr algn="l">
              <a:lnSpc>
                <a:spcPct val="125000"/>
              </a:lnSpc>
            </a:pPr>
            <a:r>
              <a:rPr sz="2640" b="1">
                <a:solidFill>
                  <a:srgbClr val="0E2841"/>
                </a:solidFill>
                <a:latin typeface="Aptos Display"/>
              </a:rPr>
              <a:t>Un patrón arquitectónico es una solución probada a un problema recurrente de organización del sistema completo.</a:t>
            </a:r>
          </a:p>
        </p:txBody>
      </p:sp>
      <p:sp>
        <p:nvSpPr>
          <p:cNvPr id="10" name="Rounded Rectangle 9"/>
          <p:cNvSpPr/>
          <p:nvPr/>
        </p:nvSpPr>
        <p:spPr>
          <a:xfrm>
            <a:off x="566928" y="3748126"/>
            <a:ext cx="3432048"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3748126"/>
            <a:ext cx="3432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4352471"/>
            <a:ext cx="3139440" cy="1580595"/>
          </a:xfrm>
          <a:prstGeom prst="rect">
            <a:avLst/>
          </a:prstGeom>
          <a:noFill/>
        </p:spPr>
        <p:txBody>
          <a:bodyPr wrap="square" anchor="t" lIns="0" rIns="0" tIns="0" bIns="0">
            <a:spAutoFit/>
          </a:bodyPr>
          <a:lstStyle/>
          <a:p>
            <a:pPr algn="ctr"/>
            <a:r>
              <a:rPr sz="1859" b="1">
                <a:solidFill>
                  <a:srgbClr val="0E2841"/>
                </a:solidFill>
                <a:latin typeface="Aptos Display"/>
              </a:rPr>
              <a:t>Contexto</a:t>
            </a:r>
          </a:p>
          <a:p>
            <a:pPr algn="ctr">
              <a:lnSpc>
                <a:spcPct val="120000"/>
              </a:lnSpc>
              <a:spcBef>
                <a:spcPts val="700"/>
              </a:spcBef>
            </a:pPr>
            <a:r>
              <a:rPr sz="1439" b="0">
                <a:solidFill>
                  <a:srgbClr val="7A8B9E"/>
                </a:solidFill>
                <a:latin typeface="Aptos"/>
              </a:rPr>
              <a:t>dónde aparece el problema</a:t>
            </a:r>
          </a:p>
        </p:txBody>
      </p:sp>
      <p:sp>
        <p:nvSpPr>
          <p:cNvPr id="13" name="Chevron 12"/>
          <p:cNvSpPr/>
          <p:nvPr/>
        </p:nvSpPr>
        <p:spPr>
          <a:xfrm>
            <a:off x="4090416" y="449193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83024" y="3748126"/>
            <a:ext cx="3432048"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3024" y="3748126"/>
            <a:ext cx="3432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9328" y="4352471"/>
            <a:ext cx="3139440" cy="1580595"/>
          </a:xfrm>
          <a:prstGeom prst="rect">
            <a:avLst/>
          </a:prstGeom>
          <a:noFill/>
        </p:spPr>
        <p:txBody>
          <a:bodyPr wrap="square" anchor="t" lIns="0" rIns="0" tIns="0" bIns="0">
            <a:spAutoFit/>
          </a:bodyPr>
          <a:lstStyle/>
          <a:p>
            <a:pPr algn="ctr"/>
            <a:r>
              <a:rPr sz="1859" b="1">
                <a:solidFill>
                  <a:srgbClr val="0E2841"/>
                </a:solidFill>
                <a:latin typeface="Aptos Display"/>
              </a:rPr>
              <a:t>Problema</a:t>
            </a:r>
          </a:p>
          <a:p>
            <a:pPr algn="ctr">
              <a:lnSpc>
                <a:spcPct val="120000"/>
              </a:lnSpc>
              <a:spcBef>
                <a:spcPts val="700"/>
              </a:spcBef>
            </a:pPr>
            <a:r>
              <a:rPr sz="1439" b="0">
                <a:solidFill>
                  <a:srgbClr val="7A8B9E"/>
                </a:solidFill>
                <a:latin typeface="Aptos"/>
              </a:rPr>
              <a:t>qué fuerzas hay que equilibrar</a:t>
            </a:r>
          </a:p>
        </p:txBody>
      </p:sp>
      <p:sp>
        <p:nvSpPr>
          <p:cNvPr id="17" name="Chevron 16"/>
          <p:cNvSpPr/>
          <p:nvPr/>
        </p:nvSpPr>
        <p:spPr>
          <a:xfrm>
            <a:off x="7906512" y="449193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99120" y="3748126"/>
            <a:ext cx="3432048"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99120" y="3748126"/>
            <a:ext cx="3432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45424" y="4352471"/>
            <a:ext cx="3139440" cy="1580595"/>
          </a:xfrm>
          <a:prstGeom prst="rect">
            <a:avLst/>
          </a:prstGeom>
          <a:noFill/>
        </p:spPr>
        <p:txBody>
          <a:bodyPr wrap="square" anchor="t" lIns="0" rIns="0" tIns="0" bIns="0">
            <a:spAutoFit/>
          </a:bodyPr>
          <a:lstStyle/>
          <a:p>
            <a:pPr algn="ctr"/>
            <a:r>
              <a:rPr sz="1859" b="1">
                <a:solidFill>
                  <a:srgbClr val="0E2841"/>
                </a:solidFill>
                <a:latin typeface="Aptos Display"/>
              </a:rPr>
              <a:t>Solución</a:t>
            </a:r>
          </a:p>
          <a:p>
            <a:pPr algn="ctr">
              <a:lnSpc>
                <a:spcPct val="120000"/>
              </a:lnSpc>
              <a:spcBef>
                <a:spcPts val="700"/>
              </a:spcBef>
            </a:pPr>
            <a:r>
              <a:rPr sz="1439" b="0">
                <a:solidFill>
                  <a:srgbClr val="7A8B9E"/>
                </a:solidFill>
                <a:latin typeface="Aptos"/>
              </a:rPr>
              <a:t>organización probada y reutilizable</a:t>
            </a:r>
          </a:p>
        </p:txBody>
      </p:sp>
      <p:sp>
        <p:nvSpPr>
          <p:cNvPr id="21" name="TextBox 20"/>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2" name="TextBox 21"/>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12 / 45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Tres niveles, tres alcances de error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58060"/>
            <a:ext cx="11064240" cy="114370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931212"/>
            <a:ext cx="63500" cy="997403"/>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858060"/>
            <a:ext cx="11064240" cy="1143707"/>
          </a:xfrm>
          <a:prstGeom prst="rect">
            <a:avLst/>
          </a:prstGeom>
          <a:noFill/>
        </p:spPr>
        <p:txBody>
          <a:bodyPr wrap="square" anchor="ctr" lIns="0" rIns="0" tIns="0" bIns="0">
            <a:spAutoFit/>
          </a:bodyPr>
          <a:lstStyle/>
          <a:p>
            <a:pPr algn="ctr"/>
            <a:r>
              <a:rPr sz="2062" b="1">
                <a:solidFill>
                  <a:srgbClr val="0E2841"/>
                </a:solidFill>
                <a:latin typeface="Aptos Display"/>
              </a:rPr>
              <a:t>Patrón arquitectónico  ·  organiza el sistema completo</a:t>
            </a:r>
          </a:p>
        </p:txBody>
      </p:sp>
      <p:sp>
        <p:nvSpPr>
          <p:cNvPr id="10" name="Rounded Rectangle 9"/>
          <p:cNvSpPr/>
          <p:nvPr/>
        </p:nvSpPr>
        <p:spPr>
          <a:xfrm>
            <a:off x="1069848" y="3252825"/>
            <a:ext cx="10058400" cy="114370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9848" y="3325977"/>
            <a:ext cx="63500" cy="997403"/>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 y="3252825"/>
            <a:ext cx="10058400" cy="1143707"/>
          </a:xfrm>
          <a:prstGeom prst="rect">
            <a:avLst/>
          </a:prstGeom>
          <a:noFill/>
        </p:spPr>
        <p:txBody>
          <a:bodyPr wrap="square" anchor="ctr" lIns="0" rIns="0" tIns="0" bIns="0">
            <a:spAutoFit/>
          </a:bodyPr>
          <a:lstStyle/>
          <a:p>
            <a:pPr algn="ctr"/>
            <a:r>
              <a:rPr sz="2062" b="1">
                <a:solidFill>
                  <a:srgbClr val="0E2841"/>
                </a:solidFill>
                <a:latin typeface="Aptos Display"/>
              </a:rPr>
              <a:t>Patrón de diseño  ·  organiza clases dentro de un componente</a:t>
            </a:r>
          </a:p>
        </p:txBody>
      </p:sp>
      <p:sp>
        <p:nvSpPr>
          <p:cNvPr id="13" name="Rounded Rectangle 12"/>
          <p:cNvSpPr/>
          <p:nvPr/>
        </p:nvSpPr>
        <p:spPr>
          <a:xfrm>
            <a:off x="1572768" y="4647590"/>
            <a:ext cx="9052560" cy="114370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572768" y="4720742"/>
            <a:ext cx="63500" cy="99740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72768" y="4647590"/>
            <a:ext cx="9052560" cy="1143707"/>
          </a:xfrm>
          <a:prstGeom prst="rect">
            <a:avLst/>
          </a:prstGeom>
          <a:noFill/>
        </p:spPr>
        <p:txBody>
          <a:bodyPr wrap="square" anchor="ctr" lIns="0" rIns="0" tIns="0" bIns="0">
            <a:spAutoFit/>
          </a:bodyPr>
          <a:lstStyle/>
          <a:p>
            <a:pPr algn="ctr"/>
            <a:r>
              <a:rPr sz="2062" b="1">
                <a:solidFill>
                  <a:srgbClr val="0E2841"/>
                </a:solidFill>
                <a:latin typeface="Aptos Display"/>
              </a:rPr>
              <a:t>Idioma  ·  organiza unas líneas en un lenguaje</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13 / 45</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Estilo y patrón: casi sinónimos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66928" y="1858060"/>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Estilo</a:t>
            </a:r>
          </a:p>
        </p:txBody>
      </p:sp>
      <p:sp>
        <p:nvSpPr>
          <p:cNvPr id="10" name="Oval 9"/>
          <p:cNvSpPr/>
          <p:nvPr/>
        </p:nvSpPr>
        <p:spPr>
          <a:xfrm>
            <a:off x="786384" y="3174796"/>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Familia de organización</a:t>
            </a:r>
          </a:p>
        </p:txBody>
      </p:sp>
      <p:sp>
        <p:nvSpPr>
          <p:cNvPr id="12" name="Oval 11"/>
          <p:cNvSpPr/>
          <p:nvPr/>
        </p:nvSpPr>
        <p:spPr>
          <a:xfrm>
            <a:off x="786384" y="3778300"/>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Elementos y restricciones</a:t>
            </a:r>
          </a:p>
        </p:txBody>
      </p:sp>
      <p:sp>
        <p:nvSpPr>
          <p:cNvPr id="14" name="Oval 13"/>
          <p:cNvSpPr/>
          <p:nvPr/>
        </p:nvSpPr>
        <p:spPr>
          <a:xfrm>
            <a:off x="786384" y="438180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125772"/>
            <a:ext cx="4709160" cy="603504"/>
          </a:xfrm>
          <a:prstGeom prst="rect">
            <a:avLst/>
          </a:prstGeom>
          <a:noFill/>
        </p:spPr>
        <p:txBody>
          <a:bodyPr wrap="square" anchor="ctr" lIns="0" rIns="0" tIns="0" bIns="0">
            <a:spAutoFit/>
          </a:bodyPr>
          <a:lstStyle/>
          <a:p>
            <a:pPr algn="l"/>
            <a:r>
              <a:rPr sz="1609" b="0">
                <a:solidFill>
                  <a:srgbClr val="33475B"/>
                </a:solidFill>
                <a:latin typeface="Aptos"/>
              </a:rPr>
              <a:t>Shaw y Garlan (1996)</a:t>
            </a:r>
          </a:p>
        </p:txBody>
      </p:sp>
      <p:sp>
        <p:nvSpPr>
          <p:cNvPr id="16" name="Rounded Rectangle 15"/>
          <p:cNvSpPr/>
          <p:nvPr/>
        </p:nvSpPr>
        <p:spPr>
          <a:xfrm>
            <a:off x="6263640"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 Same Side Corner Rectangle 16"/>
          <p:cNvSpPr/>
          <p:nvPr/>
        </p:nvSpPr>
        <p:spPr>
          <a:xfrm>
            <a:off x="6263640" y="1858060"/>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Patrón</a:t>
            </a:r>
          </a:p>
        </p:txBody>
      </p:sp>
      <p:sp>
        <p:nvSpPr>
          <p:cNvPr id="19" name="Oval 18"/>
          <p:cNvSpPr/>
          <p:nvPr/>
        </p:nvSpPr>
        <p:spPr>
          <a:xfrm>
            <a:off x="6483096" y="3174796"/>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20840"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Solución en un contexto</a:t>
            </a:r>
          </a:p>
        </p:txBody>
      </p:sp>
      <p:sp>
        <p:nvSpPr>
          <p:cNvPr id="21" name="Oval 20"/>
          <p:cNvSpPr/>
          <p:nvPr/>
        </p:nvSpPr>
        <p:spPr>
          <a:xfrm>
            <a:off x="6483096" y="3778300"/>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Contexto, problema, solución</a:t>
            </a:r>
          </a:p>
        </p:txBody>
      </p:sp>
      <p:sp>
        <p:nvSpPr>
          <p:cNvPr id="23" name="Oval 22"/>
          <p:cNvSpPr/>
          <p:nvPr/>
        </p:nvSpPr>
        <p:spPr>
          <a:xfrm>
            <a:off x="6483096" y="438180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4125772"/>
            <a:ext cx="4709160" cy="603504"/>
          </a:xfrm>
          <a:prstGeom prst="rect">
            <a:avLst/>
          </a:prstGeom>
          <a:noFill/>
        </p:spPr>
        <p:txBody>
          <a:bodyPr wrap="square" anchor="ctr" lIns="0" rIns="0" tIns="0" bIns="0">
            <a:spAutoFit/>
          </a:bodyPr>
          <a:lstStyle/>
          <a:p>
            <a:pPr algn="l"/>
            <a:r>
              <a:rPr sz="1609" b="0">
                <a:solidFill>
                  <a:srgbClr val="33475B"/>
                </a:solidFill>
                <a:latin typeface="Aptos"/>
              </a:rPr>
              <a:t>Buschmann et al. (1996)</a:t>
            </a:r>
          </a:p>
        </p:txBody>
      </p:sp>
      <p:sp>
        <p:nvSpPr>
          <p:cNvPr id="25" name="TextBox 2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6" name="TextBox 2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14 / 45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MVC vive en dos niveles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93705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282732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2937052"/>
          </a:xfrm>
          <a:prstGeom prst="rect">
            <a:avLst/>
          </a:prstGeom>
          <a:noFill/>
        </p:spPr>
        <p:txBody>
          <a:bodyPr wrap="square" anchor="ctr" lIns="0" rIns="0" tIns="0" bIns="0">
            <a:spAutoFit/>
          </a:bodyPr>
          <a:lstStyle/>
          <a:p>
            <a:pPr algn="l">
              <a:lnSpc>
                <a:spcPct val="125000"/>
              </a:lnSpc>
            </a:pPr>
            <a:r>
              <a:rPr sz="2970" b="1">
                <a:solidFill>
                  <a:srgbClr val="0E2841"/>
                </a:solidFill>
                <a:latin typeface="Aptos Display"/>
              </a:rPr>
              <a:t>Como patrón arquitectónico, MVC organiza la presentación de toda la aplicación. Como patrón de diseño, tres objetos que colaboran.</a:t>
            </a:r>
          </a:p>
        </p:txBody>
      </p:sp>
      <p:sp>
        <p:nvSpPr>
          <p:cNvPr id="10" name="Oval 9"/>
          <p:cNvSpPr/>
          <p:nvPr/>
        </p:nvSpPr>
        <p:spPr>
          <a:xfrm>
            <a:off x="585216" y="506486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4710988"/>
            <a:ext cx="10698480" cy="808329"/>
          </a:xfrm>
          <a:prstGeom prst="rect">
            <a:avLst/>
          </a:prstGeom>
          <a:noFill/>
        </p:spPr>
        <p:txBody>
          <a:bodyPr wrap="square" anchor="ctr" lIns="0" rIns="0" tIns="0" bIns="0">
            <a:spAutoFit/>
          </a:bodyPr>
          <a:lstStyle/>
          <a:p>
            <a:pPr algn="l"/>
            <a:r>
              <a:rPr sz="2835" b="1">
                <a:solidFill>
                  <a:srgbClr val="0E2841"/>
                </a:solidFill>
                <a:latin typeface="Aptos"/>
              </a:rPr>
              <a:t>Su origen está en Smalltalk</a:t>
            </a:r>
          </a:p>
        </p:txBody>
      </p:sp>
      <p:sp>
        <p:nvSpPr>
          <p:cNvPr id="12" name="Oval 11"/>
          <p:cNvSpPr/>
          <p:nvPr/>
        </p:nvSpPr>
        <p:spPr>
          <a:xfrm>
            <a:off x="585216" y="587319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5519318"/>
            <a:ext cx="10698480" cy="808329"/>
          </a:xfrm>
          <a:prstGeom prst="rect">
            <a:avLst/>
          </a:prstGeom>
          <a:noFill/>
        </p:spPr>
        <p:txBody>
          <a:bodyPr wrap="square" anchor="ctr" lIns="0" rIns="0" tIns="0" bIns="0">
            <a:spAutoFit/>
          </a:bodyPr>
          <a:lstStyle/>
          <a:p>
            <a:pPr algn="l"/>
            <a:r>
              <a:rPr sz="2835" b="1">
                <a:solidFill>
                  <a:srgbClr val="0E2841"/>
                </a:solidFill>
                <a:latin typeface="Aptos"/>
              </a:rPr>
              <a:t>En un informe, aclara el nivel</a:t>
            </a:r>
          </a:p>
        </p:txBody>
      </p:sp>
      <p:sp>
        <p:nvSpPr>
          <p:cNvPr id="14" name="TextBox 13"/>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15" name="TextBox 14"/>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15 / 45</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Strategy, Observer y Factory son:</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Patrones arquitectónicos clásicos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Patrones arquitectónicos modernos</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Patrones de diseño que organizan clases dentro de un componente</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Estilos arquitectónicos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16 / 45</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04</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4. Clasificación: clásicos y modernos</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Cinco patrones clásicos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2766060"/>
                <a:gridCol w="2766060"/>
                <a:gridCol w="2766060"/>
                <a:gridCol w="2766060"/>
              </a:tblGrid>
              <a:tr h="729081">
                <a:tc>
                  <a:txBody>
                    <a:bodyPr wrap="square"/>
                    <a:lstStyle/>
                    <a:p>
                      <a:r>
                        <a:rPr sz="1725" b="1">
                          <a:solidFill>
                            <a:srgbClr val="FFFFFF"/>
                          </a:solidFill>
                          <a:latin typeface="Aptos"/>
                        </a:rPr>
                        <a:t>Patrón</a:t>
                      </a:r>
                    </a:p>
                  </a:txBody>
                  <a:tcPr anchor="ctr" marL="146304" marR="146304">
                    <a:solidFill>
                      <a:srgbClr val="156082"/>
                    </a:solidFill>
                  </a:tcPr>
                </a:tc>
                <a:tc>
                  <a:txBody>
                    <a:bodyPr wrap="square"/>
                    <a:lstStyle/>
                    <a:p>
                      <a:r>
                        <a:rPr sz="1725" b="1">
                          <a:solidFill>
                            <a:srgbClr val="FFFFFF"/>
                          </a:solidFill>
                          <a:latin typeface="Aptos"/>
                        </a:rPr>
                        <a:t>Idea central</a:t>
                      </a:r>
                    </a:p>
                  </a:txBody>
                  <a:tcPr anchor="ctr" marL="146304" marR="146304">
                    <a:solidFill>
                      <a:srgbClr val="156082"/>
                    </a:solidFill>
                  </a:tcPr>
                </a:tc>
                <a:tc>
                  <a:txBody>
                    <a:bodyPr wrap="square"/>
                    <a:lstStyle/>
                    <a:p>
                      <a:r>
                        <a:rPr sz="1725" b="1">
                          <a:solidFill>
                            <a:srgbClr val="FFFFFF"/>
                          </a:solidFill>
                          <a:latin typeface="Aptos"/>
                        </a:rPr>
                        <a:t>Favorece</a:t>
                      </a:r>
                    </a:p>
                  </a:txBody>
                  <a:tcPr anchor="ctr" marL="146304" marR="146304">
                    <a:solidFill>
                      <a:srgbClr val="156082"/>
                    </a:solidFill>
                  </a:tcPr>
                </a:tc>
                <a:tc>
                  <a:txBody>
                    <a:bodyPr wrap="square"/>
                    <a:lstStyle/>
                    <a:p>
                      <a:r>
                        <a:rPr sz="1725" b="1">
                          <a:solidFill>
                            <a:srgbClr val="FFFFFF"/>
                          </a:solidFill>
                          <a:latin typeface="Aptos"/>
                        </a:rPr>
                        <a:t>Cuesta</a:t>
                      </a:r>
                    </a:p>
                  </a:txBody>
                  <a:tcPr anchor="ctr" marL="146304" marR="146304">
                    <a:solidFill>
                      <a:srgbClr val="156082"/>
                    </a:solidFill>
                  </a:tcPr>
                </a:tc>
              </a:tr>
              <a:tr h="729081">
                <a:tc>
                  <a:txBody>
                    <a:bodyPr wrap="square"/>
                    <a:lstStyle/>
                    <a:p>
                      <a:r>
                        <a:rPr sz="1609" b="1">
                          <a:solidFill>
                            <a:srgbClr val="33475B"/>
                          </a:solidFill>
                          <a:latin typeface="Aptos"/>
                        </a:rPr>
                        <a:t>Capas</a:t>
                      </a:r>
                    </a:p>
                  </a:txBody>
                  <a:tcPr anchor="ctr" marL="146304" marR="146304">
                    <a:solidFill>
                      <a:srgbClr val="FFFFFF"/>
                    </a:solidFill>
                  </a:tcPr>
                </a:tc>
                <a:tc>
                  <a:txBody>
                    <a:bodyPr wrap="square"/>
                    <a:lstStyle/>
                    <a:p>
                      <a:r>
                        <a:rPr sz="1609" b="0">
                          <a:solidFill>
                            <a:srgbClr val="33475B"/>
                          </a:solidFill>
                          <a:latin typeface="Aptos"/>
                        </a:rPr>
                        <a:t>Niveles apilados; cada uno usa el de abajo</a:t>
                      </a:r>
                    </a:p>
                  </a:txBody>
                  <a:tcPr anchor="ctr" marL="146304" marR="146304">
                    <a:solidFill>
                      <a:srgbClr val="FFFFFF"/>
                    </a:solidFill>
                  </a:tcPr>
                </a:tc>
                <a:tc>
                  <a:txBody>
                    <a:bodyPr wrap="square"/>
                    <a:lstStyle/>
                    <a:p>
                      <a:r>
                        <a:rPr sz="1609" b="0">
                          <a:solidFill>
                            <a:srgbClr val="33475B"/>
                          </a:solidFill>
                          <a:latin typeface="Aptos"/>
                        </a:rPr>
                        <a:t>Mantenibilidad</a:t>
                      </a:r>
                    </a:p>
                  </a:txBody>
                  <a:tcPr anchor="ctr" marL="146304" marR="146304">
                    <a:solidFill>
                      <a:srgbClr val="FFFFFF"/>
                    </a:solidFill>
                  </a:tcPr>
                </a:tc>
                <a:tc>
                  <a:txBody>
                    <a:bodyPr wrap="square"/>
                    <a:lstStyle/>
                    <a:p>
                      <a:r>
                        <a:rPr sz="1609" b="0">
                          <a:solidFill>
                            <a:srgbClr val="33475B"/>
                          </a:solidFill>
                          <a:latin typeface="Aptos"/>
                        </a:rPr>
                        <a:t>Latencia entre capas</a:t>
                      </a:r>
                    </a:p>
                  </a:txBody>
                  <a:tcPr anchor="ctr" marL="146304" marR="146304">
                    <a:solidFill>
                      <a:srgbClr val="FFFFFF"/>
                    </a:solidFill>
                  </a:tcPr>
                </a:tc>
              </a:tr>
              <a:tr h="729081">
                <a:tc>
                  <a:txBody>
                    <a:bodyPr wrap="square"/>
                    <a:lstStyle/>
                    <a:p>
                      <a:r>
                        <a:rPr sz="1609" b="1">
                          <a:solidFill>
                            <a:srgbClr val="33475B"/>
                          </a:solidFill>
                          <a:latin typeface="Aptos"/>
                        </a:rPr>
                        <a:t>Cliente-servidor</a:t>
                      </a:r>
                    </a:p>
                  </a:txBody>
                  <a:tcPr anchor="ctr" marL="146304" marR="146304">
                    <a:solidFill>
                      <a:srgbClr val="F4F7FA"/>
                    </a:solidFill>
                  </a:tcPr>
                </a:tc>
                <a:tc>
                  <a:txBody>
                    <a:bodyPr wrap="square"/>
                    <a:lstStyle/>
                    <a:p>
                      <a:r>
                        <a:rPr sz="1609" b="0">
                          <a:solidFill>
                            <a:srgbClr val="33475B"/>
                          </a:solidFill>
                          <a:latin typeface="Aptos"/>
                        </a:rPr>
                        <a:t>El cliente pide, el servidor provee</a:t>
                      </a:r>
                    </a:p>
                  </a:txBody>
                  <a:tcPr anchor="ctr" marL="146304" marR="146304">
                    <a:solidFill>
                      <a:srgbClr val="F4F7FA"/>
                    </a:solidFill>
                  </a:tcPr>
                </a:tc>
                <a:tc>
                  <a:txBody>
                    <a:bodyPr wrap="square"/>
                    <a:lstStyle/>
                    <a:p>
                      <a:r>
                        <a:rPr sz="1609" b="0">
                          <a:solidFill>
                            <a:srgbClr val="33475B"/>
                          </a:solidFill>
                          <a:latin typeface="Aptos"/>
                        </a:rPr>
                        <a:t>Centralización, seguridad</a:t>
                      </a:r>
                    </a:p>
                  </a:txBody>
                  <a:tcPr anchor="ctr" marL="146304" marR="146304">
                    <a:solidFill>
                      <a:srgbClr val="F4F7FA"/>
                    </a:solidFill>
                  </a:tcPr>
                </a:tc>
                <a:tc>
                  <a:txBody>
                    <a:bodyPr wrap="square"/>
                    <a:lstStyle/>
                    <a:p>
                      <a:r>
                        <a:rPr sz="1609" b="0">
                          <a:solidFill>
                            <a:srgbClr val="33475B"/>
                          </a:solidFill>
                          <a:latin typeface="Aptos"/>
                        </a:rPr>
                        <a:t>Punto único de fallo</a:t>
                      </a:r>
                    </a:p>
                  </a:txBody>
                  <a:tcPr anchor="ctr" marL="146304" marR="146304">
                    <a:solidFill>
                      <a:srgbClr val="F4F7FA"/>
                    </a:solidFill>
                  </a:tcPr>
                </a:tc>
              </a:tr>
              <a:tr h="729081">
                <a:tc>
                  <a:txBody>
                    <a:bodyPr wrap="square"/>
                    <a:lstStyle/>
                    <a:p>
                      <a:r>
                        <a:rPr sz="1609" b="1">
                          <a:solidFill>
                            <a:srgbClr val="33475B"/>
                          </a:solidFill>
                          <a:latin typeface="Aptos"/>
                        </a:rPr>
                        <a:t>MVC</a:t>
                      </a:r>
                    </a:p>
                  </a:txBody>
                  <a:tcPr anchor="ctr" marL="146304" marR="146304">
                    <a:solidFill>
                      <a:srgbClr val="FFFFFF"/>
                    </a:solidFill>
                  </a:tcPr>
                </a:tc>
                <a:tc>
                  <a:txBody>
                    <a:bodyPr wrap="square"/>
                    <a:lstStyle/>
                    <a:p>
                      <a:r>
                        <a:rPr sz="1609" b="0">
                          <a:solidFill>
                            <a:srgbClr val="33475B"/>
                          </a:solidFill>
                          <a:latin typeface="Aptos"/>
                        </a:rPr>
                        <a:t>Modelo, vista y controlador separados</a:t>
                      </a:r>
                    </a:p>
                  </a:txBody>
                  <a:tcPr anchor="ctr" marL="146304" marR="146304">
                    <a:solidFill>
                      <a:srgbClr val="FFFFFF"/>
                    </a:solidFill>
                  </a:tcPr>
                </a:tc>
                <a:tc>
                  <a:txBody>
                    <a:bodyPr wrap="square"/>
                    <a:lstStyle/>
                    <a:p>
                      <a:r>
                        <a:rPr sz="1609" b="0">
                          <a:solidFill>
                            <a:srgbClr val="33475B"/>
                          </a:solidFill>
                          <a:latin typeface="Aptos"/>
                        </a:rPr>
                        <a:t>Varias vistas, pruebas</a:t>
                      </a:r>
                    </a:p>
                  </a:txBody>
                  <a:tcPr anchor="ctr" marL="146304" marR="146304">
                    <a:solidFill>
                      <a:srgbClr val="FFFFFF"/>
                    </a:solidFill>
                  </a:tcPr>
                </a:tc>
                <a:tc>
                  <a:txBody>
                    <a:bodyPr wrap="square"/>
                    <a:lstStyle/>
                    <a:p>
                      <a:r>
                        <a:rPr sz="1609" b="0">
                          <a:solidFill>
                            <a:srgbClr val="33475B"/>
                          </a:solidFill>
                          <a:latin typeface="Aptos"/>
                        </a:rPr>
                        <a:t>Piezas de más en lo simple</a:t>
                      </a:r>
                    </a:p>
                  </a:txBody>
                  <a:tcPr anchor="ctr" marL="146304" marR="146304">
                    <a:solidFill>
                      <a:srgbClr val="FFFFFF"/>
                    </a:solidFill>
                  </a:tcPr>
                </a:tc>
              </a:tr>
              <a:tr h="729081">
                <a:tc>
                  <a:txBody>
                    <a:bodyPr wrap="square"/>
                    <a:lstStyle/>
                    <a:p>
                      <a:r>
                        <a:rPr sz="1609" b="1">
                          <a:solidFill>
                            <a:srgbClr val="33475B"/>
                          </a:solidFill>
                          <a:latin typeface="Aptos"/>
                        </a:rPr>
                        <a:t>Pipes and filters</a:t>
                      </a:r>
                    </a:p>
                  </a:txBody>
                  <a:tcPr anchor="ctr" marL="146304" marR="146304">
                    <a:solidFill>
                      <a:srgbClr val="F4F7FA"/>
                    </a:solidFill>
                  </a:tcPr>
                </a:tc>
                <a:tc>
                  <a:txBody>
                    <a:bodyPr wrap="square"/>
                    <a:lstStyle/>
                    <a:p>
                      <a:r>
                        <a:rPr sz="1609" b="0">
                          <a:solidFill>
                            <a:srgbClr val="33475B"/>
                          </a:solidFill>
                          <a:latin typeface="Aptos"/>
                        </a:rPr>
                        <a:t>Datos que fluyen por filtros</a:t>
                      </a:r>
                    </a:p>
                  </a:txBody>
                  <a:tcPr anchor="ctr" marL="146304" marR="146304">
                    <a:solidFill>
                      <a:srgbClr val="F4F7FA"/>
                    </a:solidFill>
                  </a:tcPr>
                </a:tc>
                <a:tc>
                  <a:txBody>
                    <a:bodyPr wrap="square"/>
                    <a:lstStyle/>
                    <a:p>
                      <a:r>
                        <a:rPr sz="1609" b="0">
                          <a:solidFill>
                            <a:srgbClr val="33475B"/>
                          </a:solidFill>
                          <a:latin typeface="Aptos"/>
                        </a:rPr>
                        <a:t>Reordenar y reutilizar pasos</a:t>
                      </a:r>
                    </a:p>
                  </a:txBody>
                  <a:tcPr anchor="ctr" marL="146304" marR="146304">
                    <a:solidFill>
                      <a:srgbClr val="F4F7FA"/>
                    </a:solidFill>
                  </a:tcPr>
                </a:tc>
                <a:tc>
                  <a:txBody>
                    <a:bodyPr wrap="square"/>
                    <a:lstStyle/>
                    <a:p>
                      <a:r>
                        <a:rPr sz="1609" b="0">
                          <a:solidFill>
                            <a:srgbClr val="33475B"/>
                          </a:solidFill>
                          <a:latin typeface="Aptos"/>
                        </a:rPr>
                        <a:t>Poco interactivo</a:t>
                      </a:r>
                    </a:p>
                  </a:txBody>
                  <a:tcPr anchor="ctr" marL="146304" marR="146304">
                    <a:solidFill>
                      <a:srgbClr val="F4F7FA"/>
                    </a:solidFill>
                  </a:tcPr>
                </a:tc>
              </a:tr>
              <a:tr h="729081">
                <a:tc>
                  <a:txBody>
                    <a:bodyPr wrap="square"/>
                    <a:lstStyle/>
                    <a:p>
                      <a:r>
                        <a:rPr sz="1609" b="1">
                          <a:solidFill>
                            <a:srgbClr val="33475B"/>
                          </a:solidFill>
                          <a:latin typeface="Aptos"/>
                        </a:rPr>
                        <a:t>Peer-to-peer</a:t>
                      </a:r>
                    </a:p>
                  </a:txBody>
                  <a:tcPr anchor="ctr" marL="146304" marR="146304">
                    <a:solidFill>
                      <a:srgbClr val="FFFFFF"/>
                    </a:solidFill>
                  </a:tcPr>
                </a:tc>
                <a:tc>
                  <a:txBody>
                    <a:bodyPr wrap="square"/>
                    <a:lstStyle/>
                    <a:p>
                      <a:r>
                        <a:rPr sz="1609" b="0">
                          <a:solidFill>
                            <a:srgbClr val="33475B"/>
                          </a:solidFill>
                          <a:latin typeface="Aptos"/>
                        </a:rPr>
                        <a:t>Nodos iguales: cliente y servidor</a:t>
                      </a:r>
                    </a:p>
                  </a:txBody>
                  <a:tcPr anchor="ctr" marL="146304" marR="146304">
                    <a:solidFill>
                      <a:srgbClr val="FFFFFF"/>
                    </a:solidFill>
                  </a:tcPr>
                </a:tc>
                <a:tc>
                  <a:txBody>
                    <a:bodyPr wrap="square"/>
                    <a:lstStyle/>
                    <a:p>
                      <a:r>
                        <a:rPr sz="1609" b="0">
                          <a:solidFill>
                            <a:srgbClr val="33475B"/>
                          </a:solidFill>
                          <a:latin typeface="Aptos"/>
                        </a:rPr>
                        <a:t>Escalar sin centro</a:t>
                      </a:r>
                    </a:p>
                  </a:txBody>
                  <a:tcPr anchor="ctr" marL="146304" marR="146304">
                    <a:solidFill>
                      <a:srgbClr val="FFFFFF"/>
                    </a:solidFill>
                  </a:tcPr>
                </a:tc>
                <a:tc>
                  <a:txBody>
                    <a:bodyPr wrap="square"/>
                    <a:lstStyle/>
                    <a:p>
                      <a:r>
                        <a:rPr sz="1609" b="0">
                          <a:solidFill>
                            <a:srgbClr val="33475B"/>
                          </a:solidFill>
                          <a:latin typeface="Aptos"/>
                        </a:rPr>
                        <a:t>Seguridad y consistencia</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17 / 45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Los clásicos comparten cuatro rasgos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Desacoplamiento</a:t>
            </a:r>
          </a:p>
          <a:p>
            <a:pPr algn="l">
              <a:lnSpc>
                <a:spcPct val="120000"/>
              </a:lnSpc>
              <a:spcBef>
                <a:spcPts val="700"/>
              </a:spcBef>
            </a:pPr>
            <a:r>
              <a:rPr sz="1560" b="0">
                <a:solidFill>
                  <a:srgbClr val="33475B"/>
                </a:solidFill>
                <a:latin typeface="Aptos"/>
              </a:rPr>
              <a:t>partes independientes con interacciones definidas</a:t>
            </a:r>
          </a:p>
        </p:txBody>
      </p:sp>
      <p:sp>
        <p:nvSpPr>
          <p:cNvPr id="10" name="Rounded Rectangle 9"/>
          <p:cNvSpPr/>
          <p:nvPr/>
        </p:nvSpPr>
        <p:spPr>
          <a:xfrm>
            <a:off x="3410712"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11880"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11880"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Organización modular</a:t>
            </a:r>
          </a:p>
          <a:p>
            <a:pPr algn="l">
              <a:lnSpc>
                <a:spcPct val="120000"/>
              </a:lnSpc>
              <a:spcBef>
                <a:spcPts val="700"/>
              </a:spcBef>
            </a:pPr>
            <a:r>
              <a:rPr sz="1560" b="0">
                <a:solidFill>
                  <a:srgbClr val="33475B"/>
                </a:solidFill>
                <a:latin typeface="Aptos"/>
              </a:rPr>
              <a:t>capas o módulos con una responsabilidad</a:t>
            </a:r>
          </a:p>
        </p:txBody>
      </p:sp>
      <p:sp>
        <p:nvSpPr>
          <p:cNvPr id="13" name="Rounded Rectangle 12"/>
          <p:cNvSpPr/>
          <p:nvPr/>
        </p:nvSpPr>
        <p:spPr>
          <a:xfrm>
            <a:off x="6254496"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55664"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55664"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Protocolos claros</a:t>
            </a:r>
          </a:p>
          <a:p>
            <a:pPr algn="l">
              <a:lnSpc>
                <a:spcPct val="120000"/>
              </a:lnSpc>
              <a:spcBef>
                <a:spcPts val="700"/>
              </a:spcBef>
            </a:pPr>
            <a:r>
              <a:rPr sz="1560" b="0">
                <a:solidFill>
                  <a:srgbClr val="33475B"/>
                </a:solidFill>
                <a:latin typeface="Aptos"/>
              </a:rPr>
              <a:t>HTTP, tuberías unidireccionales</a:t>
            </a:r>
          </a:p>
        </p:txBody>
      </p:sp>
      <p:sp>
        <p:nvSpPr>
          <p:cNvPr id="16" name="Rounded Rectangle 15"/>
          <p:cNvSpPr/>
          <p:nvPr/>
        </p:nvSpPr>
        <p:spPr>
          <a:xfrm>
            <a:off x="9098280" y="2048256"/>
            <a:ext cx="2532888"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299448"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9448" y="2560320"/>
            <a:ext cx="2130552" cy="2395728"/>
          </a:xfrm>
          <a:prstGeom prst="rect">
            <a:avLst/>
          </a:prstGeom>
          <a:noFill/>
        </p:spPr>
        <p:txBody>
          <a:bodyPr wrap="square" anchor="t" lIns="0" rIns="0" tIns="0" bIns="0">
            <a:spAutoFit/>
          </a:bodyPr>
          <a:lstStyle/>
          <a:p>
            <a:pPr algn="l"/>
            <a:r>
              <a:rPr sz="2039" b="1">
                <a:solidFill>
                  <a:srgbClr val="0E2841"/>
                </a:solidFill>
                <a:latin typeface="Aptos Display"/>
              </a:rPr>
              <a:t>Reusabilidad</a:t>
            </a:r>
          </a:p>
          <a:p>
            <a:pPr algn="l">
              <a:lnSpc>
                <a:spcPct val="120000"/>
              </a:lnSpc>
              <a:spcBef>
                <a:spcPts val="700"/>
              </a:spcBef>
            </a:pPr>
            <a:r>
              <a:rPr sz="1560" b="0">
                <a:solidFill>
                  <a:srgbClr val="33475B"/>
                </a:solidFill>
                <a:latin typeface="Aptos"/>
              </a:rPr>
              <a:t>se aplican en muchos dominios</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18 / 45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Modernos: cómo se reparte el sistema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8"/>
        </p:xfrm>
        <a:graphic>
          <a:graphicData uri="http://schemas.openxmlformats.org/drawingml/2006/table">
            <a:tbl>
              <a:tblPr firstRow="1">
                <a:tableStyleId>{5C22544A-7EE6-4342-B048-85BDC9FD1C3A}</a:tableStyleId>
              </a:tblPr>
              <a:tblGrid>
                <a:gridCol w="2766060"/>
                <a:gridCol w="2766060"/>
                <a:gridCol w="2766060"/>
                <a:gridCol w="2766060"/>
              </a:tblGrid>
              <a:tr h="1093622">
                <a:tc>
                  <a:txBody>
                    <a:bodyPr wrap="square"/>
                    <a:lstStyle/>
                    <a:p>
                      <a:r>
                        <a:rPr sz="1725" b="1">
                          <a:solidFill>
                            <a:srgbClr val="FFFFFF"/>
                          </a:solidFill>
                          <a:latin typeface="Aptos"/>
                        </a:rPr>
                        <a:t>Patrón</a:t>
                      </a:r>
                    </a:p>
                  </a:txBody>
                  <a:tcPr anchor="ctr" marL="146304" marR="146304">
                    <a:solidFill>
                      <a:srgbClr val="156082"/>
                    </a:solidFill>
                  </a:tcPr>
                </a:tc>
                <a:tc>
                  <a:txBody>
                    <a:bodyPr wrap="square"/>
                    <a:lstStyle/>
                    <a:p>
                      <a:r>
                        <a:rPr sz="1725" b="1">
                          <a:solidFill>
                            <a:srgbClr val="FFFFFF"/>
                          </a:solidFill>
                          <a:latin typeface="Aptos"/>
                        </a:rPr>
                        <a:t>Idea central</a:t>
                      </a:r>
                    </a:p>
                  </a:txBody>
                  <a:tcPr anchor="ctr" marL="146304" marR="146304">
                    <a:solidFill>
                      <a:srgbClr val="156082"/>
                    </a:solidFill>
                  </a:tcPr>
                </a:tc>
                <a:tc>
                  <a:txBody>
                    <a:bodyPr wrap="square"/>
                    <a:lstStyle/>
                    <a:p>
                      <a:r>
                        <a:rPr sz="1725" b="1">
                          <a:solidFill>
                            <a:srgbClr val="FFFFFF"/>
                          </a:solidFill>
                          <a:latin typeface="Aptos"/>
                        </a:rPr>
                        <a:t>Favorece</a:t>
                      </a:r>
                    </a:p>
                  </a:txBody>
                  <a:tcPr anchor="ctr" marL="146304" marR="146304">
                    <a:solidFill>
                      <a:srgbClr val="156082"/>
                    </a:solidFill>
                  </a:tcPr>
                </a:tc>
                <a:tc>
                  <a:txBody>
                    <a:bodyPr wrap="square"/>
                    <a:lstStyle/>
                    <a:p>
                      <a:r>
                        <a:rPr sz="1725" b="1">
                          <a:solidFill>
                            <a:srgbClr val="FFFFFF"/>
                          </a:solidFill>
                          <a:latin typeface="Aptos"/>
                        </a:rPr>
                        <a:t>Cuesta</a:t>
                      </a:r>
                    </a:p>
                  </a:txBody>
                  <a:tcPr anchor="ctr" marL="146304" marR="146304">
                    <a:solidFill>
                      <a:srgbClr val="156082"/>
                    </a:solidFill>
                  </a:tcPr>
                </a:tc>
              </a:tr>
              <a:tr h="1093622">
                <a:tc>
                  <a:txBody>
                    <a:bodyPr wrap="square"/>
                    <a:lstStyle/>
                    <a:p>
                      <a:r>
                        <a:rPr sz="1609" b="1">
                          <a:solidFill>
                            <a:srgbClr val="33475B"/>
                          </a:solidFill>
                          <a:latin typeface="Aptos"/>
                        </a:rPr>
                        <a:t>Microservicios</a:t>
                      </a:r>
                    </a:p>
                  </a:txBody>
                  <a:tcPr anchor="ctr" marL="146304" marR="146304">
                    <a:solidFill>
                      <a:srgbClr val="FFFFFF"/>
                    </a:solidFill>
                  </a:tcPr>
                </a:tc>
                <a:tc>
                  <a:txBody>
                    <a:bodyPr wrap="square"/>
                    <a:lstStyle/>
                    <a:p>
                      <a:r>
                        <a:rPr sz="1609" b="0">
                          <a:solidFill>
                            <a:srgbClr val="33475B"/>
                          </a:solidFill>
                          <a:latin typeface="Aptos"/>
                        </a:rPr>
                        <a:t>Servicios autónomos con datos propios</a:t>
                      </a:r>
                    </a:p>
                  </a:txBody>
                  <a:tcPr anchor="ctr" marL="146304" marR="146304">
                    <a:solidFill>
                      <a:srgbClr val="FFFFFF"/>
                    </a:solidFill>
                  </a:tcPr>
                </a:tc>
                <a:tc>
                  <a:txBody>
                    <a:bodyPr wrap="square"/>
                    <a:lstStyle/>
                    <a:p>
                      <a:r>
                        <a:rPr sz="1609" b="0">
                          <a:solidFill>
                            <a:srgbClr val="33475B"/>
                          </a:solidFill>
                          <a:latin typeface="Aptos"/>
                        </a:rPr>
                        <a:t>Desplegar y escalar por partes</a:t>
                      </a:r>
                    </a:p>
                  </a:txBody>
                  <a:tcPr anchor="ctr" marL="146304" marR="146304">
                    <a:solidFill>
                      <a:srgbClr val="FFFFFF"/>
                    </a:solidFill>
                  </a:tcPr>
                </a:tc>
                <a:tc>
                  <a:txBody>
                    <a:bodyPr wrap="square"/>
                    <a:lstStyle/>
                    <a:p>
                      <a:r>
                        <a:rPr sz="1609" b="0">
                          <a:solidFill>
                            <a:srgbClr val="33475B"/>
                          </a:solidFill>
                          <a:latin typeface="Aptos"/>
                        </a:rPr>
                        <a:t>Operación y consistencia</a:t>
                      </a:r>
                    </a:p>
                  </a:txBody>
                  <a:tcPr anchor="ctr" marL="146304" marR="146304">
                    <a:solidFill>
                      <a:srgbClr val="FFFFFF"/>
                    </a:solidFill>
                  </a:tcPr>
                </a:tc>
              </a:tr>
              <a:tr h="1093622">
                <a:tc>
                  <a:txBody>
                    <a:bodyPr wrap="square"/>
                    <a:lstStyle/>
                    <a:p>
                      <a:r>
                        <a:rPr sz="1609" b="1">
                          <a:solidFill>
                            <a:srgbClr val="33475B"/>
                          </a:solidFill>
                          <a:latin typeface="Aptos"/>
                        </a:rPr>
                        <a:t>Serverless</a:t>
                      </a:r>
                    </a:p>
                  </a:txBody>
                  <a:tcPr anchor="ctr" marL="146304" marR="146304">
                    <a:solidFill>
                      <a:srgbClr val="F4F7FA"/>
                    </a:solidFill>
                  </a:tcPr>
                </a:tc>
                <a:tc>
                  <a:txBody>
                    <a:bodyPr wrap="square"/>
                    <a:lstStyle/>
                    <a:p>
                      <a:r>
                        <a:rPr sz="1609" b="0">
                          <a:solidFill>
                            <a:srgbClr val="33475B"/>
                          </a:solidFill>
                          <a:latin typeface="Aptos"/>
                        </a:rPr>
                        <a:t>Funciones que el proveedor ejecuta</a:t>
                      </a:r>
                    </a:p>
                  </a:txBody>
                  <a:tcPr anchor="ctr" marL="146304" marR="146304">
                    <a:solidFill>
                      <a:srgbClr val="F4F7FA"/>
                    </a:solidFill>
                  </a:tcPr>
                </a:tc>
                <a:tc>
                  <a:txBody>
                    <a:bodyPr wrap="square"/>
                    <a:lstStyle/>
                    <a:p>
                      <a:r>
                        <a:rPr sz="1609" b="0">
                          <a:solidFill>
                            <a:srgbClr val="33475B"/>
                          </a:solidFill>
                          <a:latin typeface="Aptos"/>
                        </a:rPr>
                        <a:t>Pagar solo por uso</a:t>
                      </a:r>
                    </a:p>
                  </a:txBody>
                  <a:tcPr anchor="ctr" marL="146304" marR="146304">
                    <a:solidFill>
                      <a:srgbClr val="F4F7FA"/>
                    </a:solidFill>
                  </a:tcPr>
                </a:tc>
                <a:tc>
                  <a:txBody>
                    <a:bodyPr wrap="square"/>
                    <a:lstStyle/>
                    <a:p>
                      <a:r>
                        <a:rPr sz="1609" b="0">
                          <a:solidFill>
                            <a:srgbClr val="33475B"/>
                          </a:solidFill>
                          <a:latin typeface="Aptos"/>
                        </a:rPr>
                        <a:t>Arranque en frío, dependencia</a:t>
                      </a:r>
                    </a:p>
                  </a:txBody>
                  <a:tcPr anchor="ctr" marL="146304" marR="146304">
                    <a:solidFill>
                      <a:srgbClr val="F4F7FA"/>
                    </a:solidFill>
                  </a:tcPr>
                </a:tc>
              </a:tr>
              <a:tr h="1093622">
                <a:tc>
                  <a:txBody>
                    <a:bodyPr wrap="square"/>
                    <a:lstStyle/>
                    <a:p>
                      <a:r>
                        <a:rPr sz="1609" b="1">
                          <a:solidFill>
                            <a:srgbClr val="33475B"/>
                          </a:solidFill>
                          <a:latin typeface="Aptos"/>
                        </a:rPr>
                        <a:t>Cloud-native</a:t>
                      </a:r>
                    </a:p>
                  </a:txBody>
                  <a:tcPr anchor="ctr" marL="146304" marR="146304">
                    <a:solidFill>
                      <a:srgbClr val="FFFFFF"/>
                    </a:solidFill>
                  </a:tcPr>
                </a:tc>
                <a:tc>
                  <a:txBody>
                    <a:bodyPr wrap="square"/>
                    <a:lstStyle/>
                    <a:p>
                      <a:r>
                        <a:rPr sz="1609" b="0">
                          <a:solidFill>
                            <a:srgbClr val="33475B"/>
                          </a:solidFill>
                          <a:latin typeface="Aptos"/>
                        </a:rPr>
                        <a:t>Contenedores, orquestación, autoescalado</a:t>
                      </a:r>
                    </a:p>
                  </a:txBody>
                  <a:tcPr anchor="ctr" marL="146304" marR="146304">
                    <a:solidFill>
                      <a:srgbClr val="FFFFFF"/>
                    </a:solidFill>
                  </a:tcPr>
                </a:tc>
                <a:tc>
                  <a:txBody>
                    <a:bodyPr wrap="square"/>
                    <a:lstStyle/>
                    <a:p>
                      <a:r>
                        <a:rPr sz="1609" b="0">
                          <a:solidFill>
                            <a:srgbClr val="33475B"/>
                          </a:solidFill>
                          <a:latin typeface="Aptos"/>
                        </a:rPr>
                        <a:t>Elasticidad, autorreparación</a:t>
                      </a:r>
                    </a:p>
                  </a:txBody>
                  <a:tcPr anchor="ctr" marL="146304" marR="146304">
                    <a:solidFill>
                      <a:srgbClr val="FFFFFF"/>
                    </a:solidFill>
                  </a:tcPr>
                </a:tc>
                <a:tc>
                  <a:txBody>
                    <a:bodyPr wrap="square"/>
                    <a:lstStyle/>
                    <a:p>
                      <a:r>
                        <a:rPr sz="1609" b="0">
                          <a:solidFill>
                            <a:srgbClr val="33475B"/>
                          </a:solidFill>
                          <a:latin typeface="Aptos"/>
                        </a:rPr>
                        <a:t>Curva y costo de plataforma</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19 / 45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Modernos: cómo se organiza la lógica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8"/>
        </p:xfrm>
        <a:graphic>
          <a:graphicData uri="http://schemas.openxmlformats.org/drawingml/2006/table">
            <a:tbl>
              <a:tblPr firstRow="1">
                <a:tableStyleId>{5C22544A-7EE6-4342-B048-85BDC9FD1C3A}</a:tableStyleId>
              </a:tblPr>
              <a:tblGrid>
                <a:gridCol w="2766060"/>
                <a:gridCol w="2766060"/>
                <a:gridCol w="2766060"/>
                <a:gridCol w="2766060"/>
              </a:tblGrid>
              <a:tr h="1093622">
                <a:tc>
                  <a:txBody>
                    <a:bodyPr wrap="square"/>
                    <a:lstStyle/>
                    <a:p>
                      <a:r>
                        <a:rPr sz="1725" b="1">
                          <a:solidFill>
                            <a:srgbClr val="FFFFFF"/>
                          </a:solidFill>
                          <a:latin typeface="Aptos"/>
                        </a:rPr>
                        <a:t>Patrón</a:t>
                      </a:r>
                    </a:p>
                  </a:txBody>
                  <a:tcPr anchor="ctr" marL="146304" marR="146304">
                    <a:solidFill>
                      <a:srgbClr val="156082"/>
                    </a:solidFill>
                  </a:tcPr>
                </a:tc>
                <a:tc>
                  <a:txBody>
                    <a:bodyPr wrap="square"/>
                    <a:lstStyle/>
                    <a:p>
                      <a:r>
                        <a:rPr sz="1725" b="1">
                          <a:solidFill>
                            <a:srgbClr val="FFFFFF"/>
                          </a:solidFill>
                          <a:latin typeface="Aptos"/>
                        </a:rPr>
                        <a:t>Idea central</a:t>
                      </a:r>
                    </a:p>
                  </a:txBody>
                  <a:tcPr anchor="ctr" marL="146304" marR="146304">
                    <a:solidFill>
                      <a:srgbClr val="156082"/>
                    </a:solidFill>
                  </a:tcPr>
                </a:tc>
                <a:tc>
                  <a:txBody>
                    <a:bodyPr wrap="square"/>
                    <a:lstStyle/>
                    <a:p>
                      <a:r>
                        <a:rPr sz="1725" b="1">
                          <a:solidFill>
                            <a:srgbClr val="FFFFFF"/>
                          </a:solidFill>
                          <a:latin typeface="Aptos"/>
                        </a:rPr>
                        <a:t>Favorece</a:t>
                      </a:r>
                    </a:p>
                  </a:txBody>
                  <a:tcPr anchor="ctr" marL="146304" marR="146304">
                    <a:solidFill>
                      <a:srgbClr val="156082"/>
                    </a:solidFill>
                  </a:tcPr>
                </a:tc>
                <a:tc>
                  <a:txBody>
                    <a:bodyPr wrap="square"/>
                    <a:lstStyle/>
                    <a:p>
                      <a:r>
                        <a:rPr sz="1725" b="1">
                          <a:solidFill>
                            <a:srgbClr val="FFFFFF"/>
                          </a:solidFill>
                          <a:latin typeface="Aptos"/>
                        </a:rPr>
                        <a:t>Cuesta</a:t>
                      </a:r>
                    </a:p>
                  </a:txBody>
                  <a:tcPr anchor="ctr" marL="146304" marR="146304">
                    <a:solidFill>
                      <a:srgbClr val="156082"/>
                    </a:solidFill>
                  </a:tcPr>
                </a:tc>
              </a:tr>
              <a:tr h="1093622">
                <a:tc>
                  <a:txBody>
                    <a:bodyPr wrap="square"/>
                    <a:lstStyle/>
                    <a:p>
                      <a:r>
                        <a:rPr sz="1609" b="1">
                          <a:solidFill>
                            <a:srgbClr val="33475B"/>
                          </a:solidFill>
                          <a:latin typeface="Aptos"/>
                        </a:rPr>
                        <a:t>Hexagonal</a:t>
                      </a:r>
                    </a:p>
                  </a:txBody>
                  <a:tcPr anchor="ctr" marL="146304" marR="146304">
                    <a:solidFill>
                      <a:srgbClr val="FFFFFF"/>
                    </a:solidFill>
                  </a:tcPr>
                </a:tc>
                <a:tc>
                  <a:txBody>
                    <a:bodyPr wrap="square"/>
                    <a:lstStyle/>
                    <a:p>
                      <a:r>
                        <a:rPr sz="1609" b="0">
                          <a:solidFill>
                            <a:srgbClr val="33475B"/>
                          </a:solidFill>
                          <a:latin typeface="Aptos"/>
                        </a:rPr>
                        <a:t>El dominio al centro, lo externo por puertos</a:t>
                      </a:r>
                    </a:p>
                  </a:txBody>
                  <a:tcPr anchor="ctr" marL="146304" marR="146304">
                    <a:solidFill>
                      <a:srgbClr val="FFFFFF"/>
                    </a:solidFill>
                  </a:tcPr>
                </a:tc>
                <a:tc>
                  <a:txBody>
                    <a:bodyPr wrap="square"/>
                    <a:lstStyle/>
                    <a:p>
                      <a:r>
                        <a:rPr sz="1609" b="0">
                          <a:solidFill>
                            <a:srgbClr val="33475B"/>
                          </a:solidFill>
                          <a:latin typeface="Aptos"/>
                        </a:rPr>
                        <a:t>Probar, cambiar tecnología</a:t>
                      </a:r>
                    </a:p>
                  </a:txBody>
                  <a:tcPr anchor="ctr" marL="146304" marR="146304">
                    <a:solidFill>
                      <a:srgbClr val="FFFFFF"/>
                    </a:solidFill>
                  </a:tcPr>
                </a:tc>
                <a:tc>
                  <a:txBody>
                    <a:bodyPr wrap="square"/>
                    <a:lstStyle/>
                    <a:p>
                      <a:r>
                        <a:rPr sz="1609" b="0">
                          <a:solidFill>
                            <a:srgbClr val="33475B"/>
                          </a:solidFill>
                          <a:latin typeface="Aptos"/>
                        </a:rPr>
                        <a:t>Interfaces y mapeos</a:t>
                      </a:r>
                    </a:p>
                  </a:txBody>
                  <a:tcPr anchor="ctr" marL="146304" marR="146304">
                    <a:solidFill>
                      <a:srgbClr val="FFFFFF"/>
                    </a:solidFill>
                  </a:tcPr>
                </a:tc>
              </a:tr>
              <a:tr h="1093622">
                <a:tc>
                  <a:txBody>
                    <a:bodyPr wrap="square"/>
                    <a:lstStyle/>
                    <a:p>
                      <a:r>
                        <a:rPr sz="1609" b="1">
                          <a:solidFill>
                            <a:srgbClr val="33475B"/>
                          </a:solidFill>
                          <a:latin typeface="Aptos"/>
                        </a:rPr>
                        <a:t>Event-driven</a:t>
                      </a:r>
                    </a:p>
                  </a:txBody>
                  <a:tcPr anchor="ctr" marL="146304" marR="146304">
                    <a:solidFill>
                      <a:srgbClr val="F4F7FA"/>
                    </a:solidFill>
                  </a:tcPr>
                </a:tc>
                <a:tc>
                  <a:txBody>
                    <a:bodyPr wrap="square"/>
                    <a:lstStyle/>
                    <a:p>
                      <a:r>
                        <a:rPr sz="1609" b="0">
                          <a:solidFill>
                            <a:srgbClr val="33475B"/>
                          </a:solidFill>
                          <a:latin typeface="Aptos"/>
                        </a:rPr>
                        <a:t>Componentes que reaccionan a eventos</a:t>
                      </a:r>
                    </a:p>
                  </a:txBody>
                  <a:tcPr anchor="ctr" marL="146304" marR="146304">
                    <a:solidFill>
                      <a:srgbClr val="F4F7FA"/>
                    </a:solidFill>
                  </a:tcPr>
                </a:tc>
                <a:tc>
                  <a:txBody>
                    <a:bodyPr wrap="square"/>
                    <a:lstStyle/>
                    <a:p>
                      <a:r>
                        <a:rPr sz="1609" b="0">
                          <a:solidFill>
                            <a:srgbClr val="33475B"/>
                          </a:solidFill>
                          <a:latin typeface="Aptos"/>
                        </a:rPr>
                        <a:t>Desacoplar en el tiempo</a:t>
                      </a:r>
                    </a:p>
                  </a:txBody>
                  <a:tcPr anchor="ctr" marL="146304" marR="146304">
                    <a:solidFill>
                      <a:srgbClr val="F4F7FA"/>
                    </a:solidFill>
                  </a:tcPr>
                </a:tc>
                <a:tc>
                  <a:txBody>
                    <a:bodyPr wrap="square"/>
                    <a:lstStyle/>
                    <a:p>
                      <a:r>
                        <a:rPr sz="1609" b="0">
                          <a:solidFill>
                            <a:srgbClr val="33475B"/>
                          </a:solidFill>
                          <a:latin typeface="Aptos"/>
                        </a:rPr>
                        <a:t>Flujo difícil de seguir</a:t>
                      </a:r>
                    </a:p>
                  </a:txBody>
                  <a:tcPr anchor="ctr" marL="146304" marR="146304">
                    <a:solidFill>
                      <a:srgbClr val="F4F7FA"/>
                    </a:solidFill>
                  </a:tcPr>
                </a:tc>
              </a:tr>
              <a:tr h="1093622">
                <a:tc>
                  <a:txBody>
                    <a:bodyPr wrap="square"/>
                    <a:lstStyle/>
                    <a:p>
                      <a:r>
                        <a:rPr sz="1609" b="1">
                          <a:solidFill>
                            <a:srgbClr val="33475B"/>
                          </a:solidFill>
                          <a:latin typeface="Aptos"/>
                        </a:rPr>
                        <a:t>CQRS</a:t>
                      </a:r>
                    </a:p>
                  </a:txBody>
                  <a:tcPr anchor="ctr" marL="146304" marR="146304">
                    <a:solidFill>
                      <a:srgbClr val="FFFFFF"/>
                    </a:solidFill>
                  </a:tcPr>
                </a:tc>
                <a:tc>
                  <a:txBody>
                    <a:bodyPr wrap="square"/>
                    <a:lstStyle/>
                    <a:p>
                      <a:r>
                        <a:rPr sz="1609" b="0">
                          <a:solidFill>
                            <a:srgbClr val="33475B"/>
                          </a:solidFill>
                          <a:latin typeface="Aptos"/>
                        </a:rPr>
                        <a:t>Modelos separados para escribir y leer</a:t>
                      </a:r>
                    </a:p>
                  </a:txBody>
                  <a:tcPr anchor="ctr" marL="146304" marR="146304">
                    <a:solidFill>
                      <a:srgbClr val="FFFFFF"/>
                    </a:solidFill>
                  </a:tcPr>
                </a:tc>
                <a:tc>
                  <a:txBody>
                    <a:bodyPr wrap="square"/>
                    <a:lstStyle/>
                    <a:p>
                      <a:r>
                        <a:rPr sz="1609" b="0">
                          <a:solidFill>
                            <a:srgbClr val="33475B"/>
                          </a:solidFill>
                          <a:latin typeface="Aptos"/>
                        </a:rPr>
                        <a:t>Lecturas rápidas</a:t>
                      </a:r>
                    </a:p>
                  </a:txBody>
                  <a:tcPr anchor="ctr" marL="146304" marR="146304">
                    <a:solidFill>
                      <a:srgbClr val="FFFFFF"/>
                    </a:solidFill>
                  </a:tcPr>
                </a:tc>
                <a:tc>
                  <a:txBody>
                    <a:bodyPr wrap="square"/>
                    <a:lstStyle/>
                    <a:p>
                      <a:r>
                        <a:rPr sz="1609" b="0">
                          <a:solidFill>
                            <a:srgbClr val="33475B"/>
                          </a:solidFill>
                          <a:latin typeface="Aptos"/>
                        </a:rPr>
                        <a:t>Dos modelos que sincronizar</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20 / 45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Los modernos llevan todo al extremo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Modularidad extrema</a:t>
            </a:r>
          </a:p>
          <a:p>
            <a:pPr algn="l">
              <a:lnSpc>
                <a:spcPct val="120000"/>
              </a:lnSpc>
              <a:spcBef>
                <a:spcPts val="700"/>
              </a:spcBef>
            </a:pPr>
            <a:r>
              <a:rPr sz="1560" b="0">
                <a:solidFill>
                  <a:srgbClr val="33475B"/>
                </a:solidFill>
                <a:latin typeface="Aptos"/>
              </a:rPr>
              <a:t>actualizar una parte sin tocar el resto</a:t>
            </a:r>
          </a:p>
        </p:txBody>
      </p:sp>
      <p:sp>
        <p:nvSpPr>
          <p:cNvPr id="10" name="Rounded Rectangle 9"/>
          <p:cNvSpPr/>
          <p:nvPr/>
        </p:nvSpPr>
        <p:spPr>
          <a:xfrm>
            <a:off x="4358640"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59808"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9808"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Elasticidad</a:t>
            </a:r>
          </a:p>
          <a:p>
            <a:pPr algn="l">
              <a:lnSpc>
                <a:spcPct val="120000"/>
              </a:lnSpc>
              <a:spcBef>
                <a:spcPts val="700"/>
              </a:spcBef>
            </a:pPr>
            <a:r>
              <a:rPr sz="1560" b="0">
                <a:solidFill>
                  <a:srgbClr val="33475B"/>
                </a:solidFill>
                <a:latin typeface="Aptos"/>
              </a:rPr>
              <a:t>escalar solo con la carga</a:t>
            </a:r>
          </a:p>
        </p:txBody>
      </p:sp>
      <p:sp>
        <p:nvSpPr>
          <p:cNvPr id="13" name="Rounded Rectangle 12"/>
          <p:cNvSpPr/>
          <p:nvPr/>
        </p:nvSpPr>
        <p:spPr>
          <a:xfrm>
            <a:off x="8150352"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51520"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1520"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Asincronía</a:t>
            </a:r>
          </a:p>
          <a:p>
            <a:pPr algn="l">
              <a:lnSpc>
                <a:spcPct val="120000"/>
              </a:lnSpc>
              <a:spcBef>
                <a:spcPts val="700"/>
              </a:spcBef>
            </a:pPr>
            <a:r>
              <a:rPr sz="1560" b="0">
                <a:solidFill>
                  <a:srgbClr val="33475B"/>
                </a:solidFill>
                <a:latin typeface="Aptos"/>
              </a:rPr>
              <a:t>eventos en vez de esperas</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21 / 45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Clásicos frente a modernos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 Same Side Corner Rectangle 7"/>
          <p:cNvSpPr/>
          <p:nvPr/>
        </p:nvSpPr>
        <p:spPr>
          <a:xfrm>
            <a:off x="566928" y="1858060"/>
            <a:ext cx="5367528" cy="566928"/>
          </a:xfrm>
          <a:prstGeom prst="round2SameRect">
            <a:avLst>
              <a:gd name="adj1" fmla="val 14000"/>
              <a:gd name="adj2" fmla="val 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Clásicos</a:t>
            </a:r>
          </a:p>
        </p:txBody>
      </p:sp>
      <p:sp>
        <p:nvSpPr>
          <p:cNvPr id="10" name="Oval 9"/>
          <p:cNvSpPr/>
          <p:nvPr/>
        </p:nvSpPr>
        <p:spPr>
          <a:xfrm>
            <a:off x="786384" y="3174796"/>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24128"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Se despliega junto</a:t>
            </a:r>
          </a:p>
        </p:txBody>
      </p:sp>
      <p:sp>
        <p:nvSpPr>
          <p:cNvPr id="12" name="Oval 11"/>
          <p:cNvSpPr/>
          <p:nvPr/>
        </p:nvSpPr>
        <p:spPr>
          <a:xfrm>
            <a:off x="786384" y="3778300"/>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24128"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Comunicación síncrona</a:t>
            </a:r>
          </a:p>
        </p:txBody>
      </p:sp>
      <p:sp>
        <p:nvSpPr>
          <p:cNvPr id="14" name="Oval 13"/>
          <p:cNvSpPr/>
          <p:nvPr/>
        </p:nvSpPr>
        <p:spPr>
          <a:xfrm>
            <a:off x="786384" y="4381804"/>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24128" y="4125772"/>
            <a:ext cx="4709160" cy="603504"/>
          </a:xfrm>
          <a:prstGeom prst="rect">
            <a:avLst/>
          </a:prstGeom>
          <a:noFill/>
        </p:spPr>
        <p:txBody>
          <a:bodyPr wrap="square" anchor="ctr" lIns="0" rIns="0" tIns="0" bIns="0">
            <a:spAutoFit/>
          </a:bodyPr>
          <a:lstStyle/>
          <a:p>
            <a:pPr algn="l"/>
            <a:r>
              <a:rPr sz="1609" b="0">
                <a:solidFill>
                  <a:srgbClr val="33475B"/>
                </a:solidFill>
                <a:latin typeface="Aptos"/>
              </a:rPr>
              <a:t>Infraestructura fija</a:t>
            </a:r>
          </a:p>
        </p:txBody>
      </p:sp>
      <p:sp>
        <p:nvSpPr>
          <p:cNvPr id="16" name="Oval 15"/>
          <p:cNvSpPr/>
          <p:nvPr/>
        </p:nvSpPr>
        <p:spPr>
          <a:xfrm>
            <a:off x="786384" y="4985308"/>
            <a:ext cx="91440" cy="91440"/>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24128" y="4729276"/>
            <a:ext cx="4709160" cy="603504"/>
          </a:xfrm>
          <a:prstGeom prst="rect">
            <a:avLst/>
          </a:prstGeom>
          <a:noFill/>
        </p:spPr>
        <p:txBody>
          <a:bodyPr wrap="square" anchor="ctr" lIns="0" rIns="0" tIns="0" bIns="0">
            <a:spAutoFit/>
          </a:bodyPr>
          <a:lstStyle/>
          <a:p>
            <a:pPr algn="l"/>
            <a:r>
              <a:rPr sz="1609" b="0">
                <a:solidFill>
                  <a:srgbClr val="33475B"/>
                </a:solidFill>
                <a:latin typeface="Aptos"/>
              </a:rPr>
              <a:t>Un fallo tumba el sistema</a:t>
            </a:r>
          </a:p>
        </p:txBody>
      </p:sp>
      <p:sp>
        <p:nvSpPr>
          <p:cNvPr id="18" name="Rounded Rectangle 17"/>
          <p:cNvSpPr/>
          <p:nvPr/>
        </p:nvSpPr>
        <p:spPr>
          <a:xfrm>
            <a:off x="6263640" y="1858060"/>
            <a:ext cx="5367528" cy="4184294"/>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 Same Side Corner Rectangle 18"/>
          <p:cNvSpPr/>
          <p:nvPr/>
        </p:nvSpPr>
        <p:spPr>
          <a:xfrm>
            <a:off x="6263640" y="1858060"/>
            <a:ext cx="5367528" cy="566928"/>
          </a:xfrm>
          <a:prstGeom prst="round2SameRect">
            <a:avLst>
              <a:gd name="adj1" fmla="val 14000"/>
              <a:gd name="adj2" fmla="val 0"/>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1858060"/>
            <a:ext cx="5001768" cy="566928"/>
          </a:xfrm>
          <a:prstGeom prst="rect">
            <a:avLst/>
          </a:prstGeom>
          <a:noFill/>
        </p:spPr>
        <p:txBody>
          <a:bodyPr wrap="square" anchor="ctr" lIns="0" rIns="0" tIns="0" bIns="0">
            <a:spAutoFit/>
          </a:bodyPr>
          <a:lstStyle/>
          <a:p>
            <a:pPr algn="l"/>
            <a:r>
              <a:rPr sz="1954" b="1">
                <a:solidFill>
                  <a:srgbClr val="FFFFFF"/>
                </a:solidFill>
                <a:latin typeface="Aptos Display"/>
              </a:rPr>
              <a:t>Modernos</a:t>
            </a:r>
          </a:p>
        </p:txBody>
      </p:sp>
      <p:sp>
        <p:nvSpPr>
          <p:cNvPr id="21" name="Oval 20"/>
          <p:cNvSpPr/>
          <p:nvPr/>
        </p:nvSpPr>
        <p:spPr>
          <a:xfrm>
            <a:off x="6483096" y="3174796"/>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720840" y="2918764"/>
            <a:ext cx="4709160" cy="603504"/>
          </a:xfrm>
          <a:prstGeom prst="rect">
            <a:avLst/>
          </a:prstGeom>
          <a:noFill/>
        </p:spPr>
        <p:txBody>
          <a:bodyPr wrap="square" anchor="ctr" lIns="0" rIns="0" tIns="0" bIns="0">
            <a:spAutoFit/>
          </a:bodyPr>
          <a:lstStyle/>
          <a:p>
            <a:pPr algn="l"/>
            <a:r>
              <a:rPr sz="1609" b="0">
                <a:solidFill>
                  <a:srgbClr val="33475B"/>
                </a:solidFill>
                <a:latin typeface="Aptos"/>
              </a:rPr>
              <a:t>Se despliega por partes</a:t>
            </a:r>
          </a:p>
        </p:txBody>
      </p:sp>
      <p:sp>
        <p:nvSpPr>
          <p:cNvPr id="23" name="Oval 22"/>
          <p:cNvSpPr/>
          <p:nvPr/>
        </p:nvSpPr>
        <p:spPr>
          <a:xfrm>
            <a:off x="6483096" y="3778300"/>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20840" y="3522268"/>
            <a:ext cx="4709160" cy="603504"/>
          </a:xfrm>
          <a:prstGeom prst="rect">
            <a:avLst/>
          </a:prstGeom>
          <a:noFill/>
        </p:spPr>
        <p:txBody>
          <a:bodyPr wrap="square" anchor="ctr" lIns="0" rIns="0" tIns="0" bIns="0">
            <a:spAutoFit/>
          </a:bodyPr>
          <a:lstStyle/>
          <a:p>
            <a:pPr algn="l"/>
            <a:r>
              <a:rPr sz="1609" b="0">
                <a:solidFill>
                  <a:srgbClr val="33475B"/>
                </a:solidFill>
                <a:latin typeface="Aptos"/>
              </a:rPr>
              <a:t>Comunicación asíncrona</a:t>
            </a:r>
          </a:p>
        </p:txBody>
      </p:sp>
      <p:sp>
        <p:nvSpPr>
          <p:cNvPr id="25" name="Oval 24"/>
          <p:cNvSpPr/>
          <p:nvPr/>
        </p:nvSpPr>
        <p:spPr>
          <a:xfrm>
            <a:off x="6483096" y="4381804"/>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20840" y="4125772"/>
            <a:ext cx="4709160" cy="603504"/>
          </a:xfrm>
          <a:prstGeom prst="rect">
            <a:avLst/>
          </a:prstGeom>
          <a:noFill/>
        </p:spPr>
        <p:txBody>
          <a:bodyPr wrap="square" anchor="ctr" lIns="0" rIns="0" tIns="0" bIns="0">
            <a:spAutoFit/>
          </a:bodyPr>
          <a:lstStyle/>
          <a:p>
            <a:pPr algn="l"/>
            <a:r>
              <a:rPr sz="1609" b="0">
                <a:solidFill>
                  <a:srgbClr val="33475B"/>
                </a:solidFill>
                <a:latin typeface="Aptos"/>
              </a:rPr>
              <a:t>Infraestructura elástica</a:t>
            </a:r>
          </a:p>
        </p:txBody>
      </p:sp>
      <p:sp>
        <p:nvSpPr>
          <p:cNvPr id="27" name="Oval 26"/>
          <p:cNvSpPr/>
          <p:nvPr/>
        </p:nvSpPr>
        <p:spPr>
          <a:xfrm>
            <a:off x="6483096" y="4985308"/>
            <a:ext cx="91440" cy="91440"/>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20840" y="4729276"/>
            <a:ext cx="4709160" cy="603504"/>
          </a:xfrm>
          <a:prstGeom prst="rect">
            <a:avLst/>
          </a:prstGeom>
          <a:noFill/>
        </p:spPr>
        <p:txBody>
          <a:bodyPr wrap="square" anchor="ctr" lIns="0" rIns="0" tIns="0" bIns="0">
            <a:spAutoFit/>
          </a:bodyPr>
          <a:lstStyle/>
          <a:p>
            <a:pPr algn="l"/>
            <a:r>
              <a:rPr sz="1609" b="0">
                <a:solidFill>
                  <a:srgbClr val="33475B"/>
                </a:solidFill>
                <a:latin typeface="Aptos"/>
              </a:rPr>
              <a:t>Un fallo degrada una parte</a:t>
            </a:r>
          </a:p>
        </p:txBody>
      </p:sp>
      <p:sp>
        <p:nvSpPr>
          <p:cNvPr id="29" name="TextBox 2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30" name="TextBox 2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22 / 45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Lo moderno no reemplaza lo clásico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496099"/>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386371"/>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496099"/>
          </a:xfrm>
          <a:prstGeom prst="rect">
            <a:avLst/>
          </a:prstGeom>
          <a:noFill/>
        </p:spPr>
        <p:txBody>
          <a:bodyPr wrap="square" anchor="ctr" lIns="0" rIns="0" tIns="0" bIns="0">
            <a:spAutoFit/>
          </a:bodyPr>
          <a:lstStyle/>
          <a:p>
            <a:pPr algn="l">
              <a:lnSpc>
                <a:spcPct val="125000"/>
              </a:lnSpc>
            </a:pPr>
            <a:r>
              <a:rPr sz="2471" b="1">
                <a:solidFill>
                  <a:srgbClr val="0E2841"/>
                </a:solidFill>
                <a:latin typeface="Aptos Display"/>
              </a:rPr>
              <a:t>Un microservicio por dentro suele ser capas o hexagonal. Por eso en el proyecto primero haces una v1 clásica.</a:t>
            </a:r>
          </a:p>
        </p:txBody>
      </p:sp>
      <p:sp>
        <p:nvSpPr>
          <p:cNvPr id="10" name="Rounded Rectangle 9"/>
          <p:cNvSpPr/>
          <p:nvPr/>
        </p:nvSpPr>
        <p:spPr>
          <a:xfrm>
            <a:off x="566928" y="3270035"/>
            <a:ext cx="11064240" cy="83574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3343187"/>
            <a:ext cx="63500" cy="689443"/>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66928" y="3270035"/>
            <a:ext cx="11064240" cy="835747"/>
          </a:xfrm>
          <a:prstGeom prst="rect">
            <a:avLst/>
          </a:prstGeom>
          <a:noFill/>
        </p:spPr>
        <p:txBody>
          <a:bodyPr wrap="square" anchor="ctr" lIns="0" rIns="0" tIns="0" bIns="0">
            <a:spAutoFit/>
          </a:bodyPr>
          <a:lstStyle/>
          <a:p>
            <a:pPr algn="ctr"/>
            <a:r>
              <a:rPr sz="1853" b="1">
                <a:solidFill>
                  <a:srgbClr val="0E2841"/>
                </a:solidFill>
                <a:latin typeface="Aptos Display"/>
              </a:rPr>
              <a:t>Microservicio  ·  la frontera de despliegue</a:t>
            </a:r>
          </a:p>
        </p:txBody>
      </p:sp>
      <p:sp>
        <p:nvSpPr>
          <p:cNvPr id="13" name="Rounded Rectangle 12"/>
          <p:cNvSpPr/>
          <p:nvPr/>
        </p:nvSpPr>
        <p:spPr>
          <a:xfrm>
            <a:off x="1069848" y="4289239"/>
            <a:ext cx="10058400" cy="83574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069848" y="4362391"/>
            <a:ext cx="63500" cy="689443"/>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69848" y="4289239"/>
            <a:ext cx="10058400" cy="835747"/>
          </a:xfrm>
          <a:prstGeom prst="rect">
            <a:avLst/>
          </a:prstGeom>
          <a:noFill/>
        </p:spPr>
        <p:txBody>
          <a:bodyPr wrap="square" anchor="ctr" lIns="0" rIns="0" tIns="0" bIns="0">
            <a:spAutoFit/>
          </a:bodyPr>
          <a:lstStyle/>
          <a:p>
            <a:pPr algn="ctr"/>
            <a:r>
              <a:rPr sz="1853" b="1">
                <a:solidFill>
                  <a:srgbClr val="0E2841"/>
                </a:solidFill>
                <a:latin typeface="Aptos Display"/>
              </a:rPr>
              <a:t>Capas o hexagonal  ·  la organización interna</a:t>
            </a:r>
          </a:p>
        </p:txBody>
      </p:sp>
      <p:sp>
        <p:nvSpPr>
          <p:cNvPr id="16" name="Rounded Rectangle 15"/>
          <p:cNvSpPr/>
          <p:nvPr/>
        </p:nvSpPr>
        <p:spPr>
          <a:xfrm>
            <a:off x="1572768" y="5308443"/>
            <a:ext cx="9052560" cy="83574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572768" y="5381595"/>
            <a:ext cx="63500" cy="68944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572768" y="5308443"/>
            <a:ext cx="9052560" cy="835747"/>
          </a:xfrm>
          <a:prstGeom prst="rect">
            <a:avLst/>
          </a:prstGeom>
          <a:noFill/>
        </p:spPr>
        <p:txBody>
          <a:bodyPr wrap="square" anchor="ctr" lIns="0" rIns="0" tIns="0" bIns="0">
            <a:spAutoFit/>
          </a:bodyPr>
          <a:lstStyle/>
          <a:p>
            <a:pPr algn="ctr"/>
            <a:r>
              <a:rPr sz="1853" b="1">
                <a:solidFill>
                  <a:srgbClr val="0E2841"/>
                </a:solidFill>
                <a:latin typeface="Aptos Display"/>
              </a:rPr>
              <a:t>Base de datos propia  ·  los datos del servicio</a:t>
            </a:r>
          </a:p>
        </p:txBody>
      </p:sp>
      <p:sp>
        <p:nvSpPr>
          <p:cNvPr id="19" name="TextBox 18"/>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0" name="TextBox 19"/>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23 / 45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Leer, limpiar, validar y cargar es…</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Cliente-servidor</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Pipes and filters</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Peer-to-peer</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MVC</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24 / 45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distingue a los modernos?</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Que no usan principios como el bajo acoplamiento</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Que se apoyan en infraestructura elástica y asincronía para escalar y resistir fallos</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Que siempre son más eficientes que los clásicos</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Que reemplazan por completo a los clásicos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25 / 45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05</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5. Beneficios y desafíos</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Cada beneficio trae su desafío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5532120"/>
                <a:gridCol w="5532120"/>
              </a:tblGrid>
              <a:tr h="729081">
                <a:tc>
                  <a:txBody>
                    <a:bodyPr wrap="square"/>
                    <a:lstStyle/>
                    <a:p>
                      <a:r>
                        <a:rPr sz="1725" b="1">
                          <a:solidFill>
                            <a:srgbClr val="FFFFFF"/>
                          </a:solidFill>
                          <a:latin typeface="Aptos"/>
                        </a:rPr>
                        <a:t>Beneficio que se busca</a:t>
                      </a:r>
                    </a:p>
                  </a:txBody>
                  <a:tcPr anchor="ctr" marL="146304" marR="146304">
                    <a:solidFill>
                      <a:srgbClr val="156082"/>
                    </a:solidFill>
                  </a:tcPr>
                </a:tc>
                <a:tc>
                  <a:txBody>
                    <a:bodyPr wrap="square"/>
                    <a:lstStyle/>
                    <a:p>
                      <a:r>
                        <a:rPr sz="1725" b="1">
                          <a:solidFill>
                            <a:srgbClr val="FFFFFF"/>
                          </a:solidFill>
                          <a:latin typeface="Aptos"/>
                        </a:rPr>
                        <a:t>Desafío que aparece</a:t>
                      </a:r>
                    </a:p>
                  </a:txBody>
                  <a:tcPr anchor="ctr" marL="146304" marR="146304">
                    <a:solidFill>
                      <a:srgbClr val="156082"/>
                    </a:solidFill>
                  </a:tcPr>
                </a:tc>
              </a:tr>
              <a:tr h="729081">
                <a:tc>
                  <a:txBody>
                    <a:bodyPr wrap="square"/>
                    <a:lstStyle/>
                    <a:p>
                      <a:r>
                        <a:rPr sz="1609" b="1">
                          <a:solidFill>
                            <a:srgbClr val="33475B"/>
                          </a:solidFill>
                          <a:latin typeface="Aptos"/>
                        </a:rPr>
                        <a:t>Separar para cambiar más rápido</a:t>
                      </a:r>
                    </a:p>
                  </a:txBody>
                  <a:tcPr anchor="ctr" marL="146304" marR="146304">
                    <a:solidFill>
                      <a:srgbClr val="FFFFFF"/>
                    </a:solidFill>
                  </a:tcPr>
                </a:tc>
                <a:tc>
                  <a:txBody>
                    <a:bodyPr wrap="square"/>
                    <a:lstStyle/>
                    <a:p>
                      <a:r>
                        <a:rPr sz="1609" b="0">
                          <a:solidFill>
                            <a:srgbClr val="33475B"/>
                          </a:solidFill>
                          <a:latin typeface="Aptos"/>
                        </a:rPr>
                        <a:t>Más piezas e interfaces</a:t>
                      </a:r>
                    </a:p>
                  </a:txBody>
                  <a:tcPr anchor="ctr" marL="146304" marR="146304">
                    <a:solidFill>
                      <a:srgbClr val="FFFFFF"/>
                    </a:solidFill>
                  </a:tcPr>
                </a:tc>
              </a:tr>
              <a:tr h="729081">
                <a:tc>
                  <a:txBody>
                    <a:bodyPr wrap="square"/>
                    <a:lstStyle/>
                    <a:p>
                      <a:r>
                        <a:rPr sz="1609" b="1">
                          <a:solidFill>
                            <a:srgbClr val="33475B"/>
                          </a:solidFill>
                          <a:latin typeface="Aptos"/>
                        </a:rPr>
                        <a:t>Escalar solo una parte</a:t>
                      </a:r>
                    </a:p>
                  </a:txBody>
                  <a:tcPr anchor="ctr" marL="146304" marR="146304">
                    <a:solidFill>
                      <a:srgbClr val="F4F7FA"/>
                    </a:solidFill>
                  </a:tcPr>
                </a:tc>
                <a:tc>
                  <a:txBody>
                    <a:bodyPr wrap="square"/>
                    <a:lstStyle/>
                    <a:p>
                      <a:r>
                        <a:rPr sz="1609" b="0">
                          <a:solidFill>
                            <a:srgbClr val="33475B"/>
                          </a:solidFill>
                          <a:latin typeface="Aptos"/>
                        </a:rPr>
                        <a:t>Latencia, fallos parciales, seguridad</a:t>
                      </a:r>
                    </a:p>
                  </a:txBody>
                  <a:tcPr anchor="ctr" marL="146304" marR="146304">
                    <a:solidFill>
                      <a:srgbClr val="F4F7FA"/>
                    </a:solidFill>
                  </a:tcPr>
                </a:tc>
              </a:tr>
              <a:tr h="729081">
                <a:tc>
                  <a:txBody>
                    <a:bodyPr wrap="square"/>
                    <a:lstStyle/>
                    <a:p>
                      <a:r>
                        <a:rPr sz="1609" b="1">
                          <a:solidFill>
                            <a:srgbClr val="33475B"/>
                          </a:solidFill>
                          <a:latin typeface="Aptos"/>
                        </a:rPr>
                        <a:t>Desplegar sin coordinar</a:t>
                      </a:r>
                    </a:p>
                  </a:txBody>
                  <a:tcPr anchor="ctr" marL="146304" marR="146304">
                    <a:solidFill>
                      <a:srgbClr val="FFFFFF"/>
                    </a:solidFill>
                  </a:tcPr>
                </a:tc>
                <a:tc>
                  <a:txBody>
                    <a:bodyPr wrap="square"/>
                    <a:lstStyle/>
                    <a:p>
                      <a:r>
                        <a:rPr sz="1609" b="0">
                          <a:solidFill>
                            <a:srgbClr val="33475B"/>
                          </a:solidFill>
                          <a:latin typeface="Aptos"/>
                        </a:rPr>
                        <a:t>Versionar contratos entre servicios</a:t>
                      </a:r>
                    </a:p>
                  </a:txBody>
                  <a:tcPr anchor="ctr" marL="146304" marR="146304">
                    <a:solidFill>
                      <a:srgbClr val="FFFFFF"/>
                    </a:solidFill>
                  </a:tcPr>
                </a:tc>
              </a:tr>
              <a:tr h="729081">
                <a:tc>
                  <a:txBody>
                    <a:bodyPr wrap="square"/>
                    <a:lstStyle/>
                    <a:p>
                      <a:r>
                        <a:rPr sz="1609" b="1">
                          <a:solidFill>
                            <a:srgbClr val="33475B"/>
                          </a:solidFill>
                          <a:latin typeface="Aptos"/>
                        </a:rPr>
                        <a:t>Desacoplar con eventos</a:t>
                      </a:r>
                    </a:p>
                  </a:txBody>
                  <a:tcPr anchor="ctr" marL="146304" marR="146304">
                    <a:solidFill>
                      <a:srgbClr val="F4F7FA"/>
                    </a:solidFill>
                  </a:tcPr>
                </a:tc>
                <a:tc>
                  <a:txBody>
                    <a:bodyPr wrap="square"/>
                    <a:lstStyle/>
                    <a:p>
                      <a:r>
                        <a:rPr sz="1609" b="0">
                          <a:solidFill>
                            <a:srgbClr val="33475B"/>
                          </a:solidFill>
                          <a:latin typeface="Aptos"/>
                        </a:rPr>
                        <a:t>Consistencia eventual, depuración difícil</a:t>
                      </a:r>
                    </a:p>
                  </a:txBody>
                  <a:tcPr anchor="ctr" marL="146304" marR="146304">
                    <a:solidFill>
                      <a:srgbClr val="F4F7FA"/>
                    </a:solidFill>
                  </a:tcPr>
                </a:tc>
              </a:tr>
              <a:tr h="729081">
                <a:tc>
                  <a:txBody>
                    <a:bodyPr wrap="square"/>
                    <a:lstStyle/>
                    <a:p>
                      <a:r>
                        <a:rPr sz="1609" b="1">
                          <a:solidFill>
                            <a:srgbClr val="33475B"/>
                          </a:solidFill>
                          <a:latin typeface="Aptos"/>
                        </a:rPr>
                        <a:t>Pagar solo por uso</a:t>
                      </a:r>
                    </a:p>
                  </a:txBody>
                  <a:tcPr anchor="ctr" marL="146304" marR="146304">
                    <a:solidFill>
                      <a:srgbClr val="FFFFFF"/>
                    </a:solidFill>
                  </a:tcPr>
                </a:tc>
                <a:tc>
                  <a:txBody>
                    <a:bodyPr wrap="square"/>
                    <a:lstStyle/>
                    <a:p>
                      <a:r>
                        <a:rPr sz="1609" b="0">
                          <a:solidFill>
                            <a:srgbClr val="33475B"/>
                          </a:solidFill>
                          <a:latin typeface="Aptos"/>
                        </a:rPr>
                        <a:t>Dependencia del proveedor</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26 / 45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Dos compromisos que siempre vuelven</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9"/>
        </p:xfrm>
        <a:graphic>
          <a:graphicData uri="http://schemas.openxmlformats.org/drawingml/2006/table">
            <a:tbl>
              <a:tblPr firstRow="1">
                <a:tableStyleId>{5C22544A-7EE6-4342-B048-85BDC9FD1C3A}</a:tableStyleId>
              </a:tblPr>
              <a:tblGrid>
                <a:gridCol w="3688080"/>
                <a:gridCol w="3688080"/>
                <a:gridCol w="3688080"/>
              </a:tblGrid>
              <a:tr h="1458163">
                <a:tc>
                  <a:txBody>
                    <a:bodyPr wrap="square"/>
                    <a:lstStyle/>
                    <a:p>
                      <a:r>
                        <a:rPr sz="1725" b="1">
                          <a:solidFill>
                            <a:srgbClr val="FFFFFF"/>
                          </a:solidFill>
                          <a:latin typeface="Aptos"/>
                        </a:rPr>
                        <a:t>Compromiso</a:t>
                      </a:r>
                    </a:p>
                  </a:txBody>
                  <a:tcPr anchor="ctr" marL="146304" marR="146304">
                    <a:solidFill>
                      <a:srgbClr val="156082"/>
                    </a:solidFill>
                  </a:tcPr>
                </a:tc>
                <a:tc>
                  <a:txBody>
                    <a:bodyPr wrap="square"/>
                    <a:lstStyle/>
                    <a:p>
                      <a:r>
                        <a:rPr sz="1725" b="1">
                          <a:solidFill>
                            <a:srgbClr val="FFFFFF"/>
                          </a:solidFill>
                          <a:latin typeface="Aptos"/>
                        </a:rPr>
                        <a:t>Si priorizas lo primero</a:t>
                      </a:r>
                    </a:p>
                  </a:txBody>
                  <a:tcPr anchor="ctr" marL="146304" marR="146304">
                    <a:solidFill>
                      <a:srgbClr val="156082"/>
                    </a:solidFill>
                  </a:tcPr>
                </a:tc>
                <a:tc>
                  <a:txBody>
                    <a:bodyPr wrap="square"/>
                    <a:lstStyle/>
                    <a:p>
                      <a:r>
                        <a:rPr sz="1725" b="1">
                          <a:solidFill>
                            <a:srgbClr val="FFFFFF"/>
                          </a:solidFill>
                          <a:latin typeface="Aptos"/>
                        </a:rPr>
                        <a:t>Si priorizas lo segundo</a:t>
                      </a:r>
                    </a:p>
                  </a:txBody>
                  <a:tcPr anchor="ctr" marL="146304" marR="146304">
                    <a:solidFill>
                      <a:srgbClr val="156082"/>
                    </a:solidFill>
                  </a:tcPr>
                </a:tc>
              </a:tr>
              <a:tr h="1458163">
                <a:tc>
                  <a:txBody>
                    <a:bodyPr wrap="square"/>
                    <a:lstStyle/>
                    <a:p>
                      <a:r>
                        <a:rPr sz="1609" b="1">
                          <a:solidFill>
                            <a:srgbClr val="33475B"/>
                          </a:solidFill>
                          <a:latin typeface="Aptos"/>
                        </a:rPr>
                        <a:t>Acoplamiento o flexibilidad</a:t>
                      </a:r>
                    </a:p>
                  </a:txBody>
                  <a:tcPr anchor="ctr" marL="146304" marR="146304">
                    <a:solidFill>
                      <a:srgbClr val="FFFFFF"/>
                    </a:solidFill>
                  </a:tcPr>
                </a:tc>
                <a:tc>
                  <a:txBody>
                    <a:bodyPr wrap="square"/>
                    <a:lstStyle/>
                    <a:p>
                      <a:r>
                        <a:rPr sz="1609" b="0">
                          <a:solidFill>
                            <a:srgbClr val="33475B"/>
                          </a:solidFill>
                          <a:latin typeface="Aptos"/>
                        </a:rPr>
                        <a:t>Menos piezas, cambios en cascada</a:t>
                      </a:r>
                    </a:p>
                  </a:txBody>
                  <a:tcPr anchor="ctr" marL="146304" marR="146304">
                    <a:solidFill>
                      <a:srgbClr val="FFFFFF"/>
                    </a:solidFill>
                  </a:tcPr>
                </a:tc>
                <a:tc>
                  <a:txBody>
                    <a:bodyPr wrap="square"/>
                    <a:lstStyle/>
                    <a:p>
                      <a:r>
                        <a:rPr sz="1609" b="0">
                          <a:solidFill>
                            <a:srgbClr val="33475B"/>
                          </a:solidFill>
                          <a:latin typeface="Aptos"/>
                        </a:rPr>
                        <a:t>Más piezas, cambios aislados</a:t>
                      </a:r>
                    </a:p>
                  </a:txBody>
                  <a:tcPr anchor="ctr" marL="146304" marR="146304">
                    <a:solidFill>
                      <a:srgbClr val="FFFFFF"/>
                    </a:solidFill>
                  </a:tcPr>
                </a:tc>
              </a:tr>
              <a:tr h="1458163">
                <a:tc>
                  <a:txBody>
                    <a:bodyPr wrap="square"/>
                    <a:lstStyle/>
                    <a:p>
                      <a:r>
                        <a:rPr sz="1609" b="1">
                          <a:solidFill>
                            <a:srgbClr val="33475B"/>
                          </a:solidFill>
                          <a:latin typeface="Aptos"/>
                        </a:rPr>
                        <a:t>Consistencia o disponibilidad</a:t>
                      </a:r>
                    </a:p>
                  </a:txBody>
                  <a:tcPr anchor="ctr" marL="146304" marR="146304">
                    <a:solidFill>
                      <a:srgbClr val="F4F7FA"/>
                    </a:solidFill>
                  </a:tcPr>
                </a:tc>
                <a:tc>
                  <a:txBody>
                    <a:bodyPr wrap="square"/>
                    <a:lstStyle/>
                    <a:p>
                      <a:r>
                        <a:rPr sz="1609" b="0">
                          <a:solidFill>
                            <a:srgbClr val="33475B"/>
                          </a:solidFill>
                          <a:latin typeface="Aptos"/>
                        </a:rPr>
                        <a:t>Datos siempre al día, más esperas</a:t>
                      </a:r>
                    </a:p>
                  </a:txBody>
                  <a:tcPr anchor="ctr" marL="146304" marR="146304">
                    <a:solidFill>
                      <a:srgbClr val="F4F7FA"/>
                    </a:solidFill>
                  </a:tcPr>
                </a:tc>
                <a:tc>
                  <a:txBody>
                    <a:bodyPr wrap="square"/>
                    <a:lstStyle/>
                    <a:p>
                      <a:r>
                        <a:rPr sz="1609" b="0">
                          <a:solidFill>
                            <a:srgbClr val="33475B"/>
                          </a:solidFill>
                          <a:latin typeface="Aptos"/>
                        </a:rPr>
                        <a:t>Respuesta siempre, datos que tardan</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27 / 45</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Moderno no es sinónimo de mejor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783080"/>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673352"/>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783080"/>
          </a:xfrm>
          <a:prstGeom prst="rect">
            <a:avLst/>
          </a:prstGeom>
          <a:noFill/>
        </p:spPr>
        <p:txBody>
          <a:bodyPr wrap="square" anchor="ctr" lIns="0" rIns="0" tIns="0" bIns="0">
            <a:spAutoFit/>
          </a:bodyPr>
          <a:lstStyle/>
          <a:p>
            <a:pPr algn="l">
              <a:lnSpc>
                <a:spcPct val="125000"/>
              </a:lnSpc>
            </a:pPr>
            <a:r>
              <a:rPr sz="2545" b="1">
                <a:solidFill>
                  <a:srgbClr val="0E2841"/>
                </a:solidFill>
                <a:latin typeface="Aptos Display"/>
              </a:rPr>
              <a:t>Un patrón moderno en un sistema pequeño, con un equipo pequeño, suele costar más de lo que aporta.</a:t>
            </a:r>
          </a:p>
        </p:txBody>
      </p:sp>
      <p:sp>
        <p:nvSpPr>
          <p:cNvPr id="10" name="Oval 9"/>
          <p:cNvSpPr/>
          <p:nvPr/>
        </p:nvSpPr>
        <p:spPr>
          <a:xfrm>
            <a:off x="585216" y="3853053"/>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557016"/>
            <a:ext cx="10698480" cy="692658"/>
          </a:xfrm>
          <a:prstGeom prst="rect">
            <a:avLst/>
          </a:prstGeom>
          <a:noFill/>
        </p:spPr>
        <p:txBody>
          <a:bodyPr wrap="square" anchor="ctr" lIns="0" rIns="0" tIns="0" bIns="0">
            <a:spAutoFit/>
          </a:bodyPr>
          <a:lstStyle/>
          <a:p>
            <a:pPr algn="l"/>
            <a:r>
              <a:rPr sz="2429" b="1">
                <a:solidFill>
                  <a:srgbClr val="0E2841"/>
                </a:solidFill>
                <a:latin typeface="Aptos"/>
              </a:rPr>
              <a:t>La red no es confiable</a:t>
            </a:r>
          </a:p>
        </p:txBody>
      </p:sp>
      <p:sp>
        <p:nvSpPr>
          <p:cNvPr id="12" name="Oval 11"/>
          <p:cNvSpPr/>
          <p:nvPr/>
        </p:nvSpPr>
        <p:spPr>
          <a:xfrm>
            <a:off x="585216" y="4545711"/>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4249674"/>
            <a:ext cx="10698480" cy="692658"/>
          </a:xfrm>
          <a:prstGeom prst="rect">
            <a:avLst/>
          </a:prstGeom>
          <a:noFill/>
        </p:spPr>
        <p:txBody>
          <a:bodyPr wrap="square" anchor="ctr" lIns="0" rIns="0" tIns="0" bIns="0">
            <a:spAutoFit/>
          </a:bodyPr>
          <a:lstStyle/>
          <a:p>
            <a:pPr algn="l"/>
            <a:r>
              <a:rPr sz="2429" b="1">
                <a:solidFill>
                  <a:srgbClr val="0E2841"/>
                </a:solidFill>
                <a:latin typeface="Aptos"/>
              </a:rPr>
              <a:t>La latencia no es cero</a:t>
            </a:r>
          </a:p>
        </p:txBody>
      </p:sp>
      <p:sp>
        <p:nvSpPr>
          <p:cNvPr id="14" name="Oval 13"/>
          <p:cNvSpPr/>
          <p:nvPr/>
        </p:nvSpPr>
        <p:spPr>
          <a:xfrm>
            <a:off x="585216" y="5238369"/>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4942332"/>
            <a:ext cx="10698480" cy="692658"/>
          </a:xfrm>
          <a:prstGeom prst="rect">
            <a:avLst/>
          </a:prstGeom>
          <a:noFill/>
        </p:spPr>
        <p:txBody>
          <a:bodyPr wrap="square" anchor="ctr" lIns="0" rIns="0" tIns="0" bIns="0">
            <a:spAutoFit/>
          </a:bodyPr>
          <a:lstStyle/>
          <a:p>
            <a:pPr algn="l"/>
            <a:r>
              <a:rPr sz="2429" b="1">
                <a:solidFill>
                  <a:srgbClr val="0E2841"/>
                </a:solidFill>
                <a:latin typeface="Aptos"/>
              </a:rPr>
              <a:t>El ancho de banda se acaba</a:t>
            </a:r>
          </a:p>
        </p:txBody>
      </p:sp>
      <p:sp>
        <p:nvSpPr>
          <p:cNvPr id="16" name="Oval 15"/>
          <p:cNvSpPr/>
          <p:nvPr/>
        </p:nvSpPr>
        <p:spPr>
          <a:xfrm>
            <a:off x="585216" y="5931027"/>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5634990"/>
            <a:ext cx="10698480" cy="692658"/>
          </a:xfrm>
          <a:prstGeom prst="rect">
            <a:avLst/>
          </a:prstGeom>
          <a:noFill/>
        </p:spPr>
        <p:txBody>
          <a:bodyPr wrap="square" anchor="ctr" lIns="0" rIns="0" tIns="0" bIns="0">
            <a:spAutoFit/>
          </a:bodyPr>
          <a:lstStyle/>
          <a:p>
            <a:pPr algn="l"/>
            <a:r>
              <a:rPr sz="2429" b="1">
                <a:solidFill>
                  <a:srgbClr val="0E2841"/>
                </a:solidFill>
                <a:latin typeface="Aptos"/>
              </a:rPr>
              <a:t>Pregunta: ¿qué atributo justifica el costo?</a:t>
            </a:r>
          </a:p>
        </p:txBody>
      </p:sp>
      <p:sp>
        <p:nvSpPr>
          <p:cNvPr id="18" name="TextBox 1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19" name="TextBox 1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28 / 45</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 costo típico de los microservicios:</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No permiten escalar componentes por separado</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Más complejidad operativa y datos difíciles de mantener consistentes</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Obligan a desplegar todo el sistema junto</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Impiden usar bases de datos</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29 / 45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06</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6. Cómo leer un sistema real</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Cinco preguntas para clasificar</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532888"/>
            <a:ext cx="1964131"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1</a:t>
            </a:r>
          </a:p>
        </p:txBody>
      </p:sp>
      <p:sp>
        <p:nvSpPr>
          <p:cNvPr id="10" name="TextBox 9"/>
          <p:cNvSpPr txBox="1"/>
          <p:nvPr/>
        </p:nvSpPr>
        <p:spPr>
          <a:xfrm>
            <a:off x="768096" y="3008376"/>
            <a:ext cx="1561795" cy="2176272"/>
          </a:xfrm>
          <a:prstGeom prst="rect">
            <a:avLst/>
          </a:prstGeom>
          <a:noFill/>
        </p:spPr>
        <p:txBody>
          <a:bodyPr wrap="square" anchor="t" lIns="0" rIns="0" tIns="0" bIns="0">
            <a:spAutoFit/>
          </a:bodyPr>
          <a:lstStyle/>
          <a:p>
            <a:pPr algn="l"/>
            <a:r>
              <a:rPr sz="1980" b="1">
                <a:solidFill>
                  <a:srgbClr val="0E2841"/>
                </a:solidFill>
                <a:latin typeface="Aptos Display"/>
              </a:rPr>
              <a:t>Piezas</a:t>
            </a:r>
          </a:p>
          <a:p>
            <a:pPr algn="l">
              <a:lnSpc>
                <a:spcPct val="120000"/>
              </a:lnSpc>
              <a:spcBef>
                <a:spcPts val="700"/>
              </a:spcBef>
            </a:pPr>
            <a:r>
              <a:rPr sz="1560" b="0">
                <a:solidFill>
                  <a:srgbClr val="33475B"/>
                </a:solidFill>
                <a:latin typeface="Aptos"/>
              </a:rPr>
              <a:t>componentes y conectores</a:t>
            </a:r>
          </a:p>
        </p:txBody>
      </p:sp>
      <p:sp>
        <p:nvSpPr>
          <p:cNvPr id="11" name="Rounded Rectangle 10"/>
          <p:cNvSpPr/>
          <p:nvPr/>
        </p:nvSpPr>
        <p:spPr>
          <a:xfrm>
            <a:off x="2841955" y="2532888"/>
            <a:ext cx="1964131"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043123" y="2368296"/>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43123"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2</a:t>
            </a:r>
          </a:p>
        </p:txBody>
      </p:sp>
      <p:sp>
        <p:nvSpPr>
          <p:cNvPr id="14" name="TextBox 13"/>
          <p:cNvSpPr txBox="1"/>
          <p:nvPr/>
        </p:nvSpPr>
        <p:spPr>
          <a:xfrm>
            <a:off x="3043123" y="3008376"/>
            <a:ext cx="1561795" cy="2176272"/>
          </a:xfrm>
          <a:prstGeom prst="rect">
            <a:avLst/>
          </a:prstGeom>
          <a:noFill/>
        </p:spPr>
        <p:txBody>
          <a:bodyPr wrap="square" anchor="t" lIns="0" rIns="0" tIns="0" bIns="0">
            <a:spAutoFit/>
          </a:bodyPr>
          <a:lstStyle/>
          <a:p>
            <a:pPr algn="l"/>
            <a:r>
              <a:rPr sz="1980" b="1">
                <a:solidFill>
                  <a:srgbClr val="0E2841"/>
                </a:solidFill>
                <a:latin typeface="Aptos Display"/>
              </a:rPr>
              <a:t>Lógica</a:t>
            </a:r>
          </a:p>
          <a:p>
            <a:pPr algn="l">
              <a:lnSpc>
                <a:spcPct val="120000"/>
              </a:lnSpc>
              <a:spcBef>
                <a:spcPts val="700"/>
              </a:spcBef>
            </a:pPr>
            <a:r>
              <a:rPr sz="1560" b="0">
                <a:solidFill>
                  <a:srgbClr val="33475B"/>
                </a:solidFill>
                <a:latin typeface="Aptos"/>
              </a:rPr>
              <a:t>dónde vive el negocio</a:t>
            </a:r>
          </a:p>
        </p:txBody>
      </p:sp>
      <p:sp>
        <p:nvSpPr>
          <p:cNvPr id="15" name="Rounded Rectangle 14"/>
          <p:cNvSpPr/>
          <p:nvPr/>
        </p:nvSpPr>
        <p:spPr>
          <a:xfrm>
            <a:off x="5116982" y="2532888"/>
            <a:ext cx="1964131"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5318150" y="2368296"/>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18150"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3</a:t>
            </a:r>
          </a:p>
        </p:txBody>
      </p:sp>
      <p:sp>
        <p:nvSpPr>
          <p:cNvPr id="18" name="TextBox 17"/>
          <p:cNvSpPr txBox="1"/>
          <p:nvPr/>
        </p:nvSpPr>
        <p:spPr>
          <a:xfrm>
            <a:off x="5318150" y="3008376"/>
            <a:ext cx="1561795" cy="2176272"/>
          </a:xfrm>
          <a:prstGeom prst="rect">
            <a:avLst/>
          </a:prstGeom>
          <a:noFill/>
        </p:spPr>
        <p:txBody>
          <a:bodyPr wrap="square" anchor="t" lIns="0" rIns="0" tIns="0" bIns="0">
            <a:spAutoFit/>
          </a:bodyPr>
          <a:lstStyle/>
          <a:p>
            <a:pPr algn="l"/>
            <a:r>
              <a:rPr sz="1980" b="1">
                <a:solidFill>
                  <a:srgbClr val="0E2841"/>
                </a:solidFill>
                <a:latin typeface="Aptos Display"/>
              </a:rPr>
              <a:t>Despliegue</a:t>
            </a:r>
          </a:p>
          <a:p>
            <a:pPr algn="l">
              <a:lnSpc>
                <a:spcPct val="120000"/>
              </a:lnSpc>
              <a:spcBef>
                <a:spcPts val="700"/>
              </a:spcBef>
            </a:pPr>
            <a:r>
              <a:rPr sz="1560" b="0">
                <a:solidFill>
                  <a:srgbClr val="33475B"/>
                </a:solidFill>
                <a:latin typeface="Aptos"/>
              </a:rPr>
              <a:t>una unidad o varias</a:t>
            </a:r>
          </a:p>
        </p:txBody>
      </p:sp>
      <p:sp>
        <p:nvSpPr>
          <p:cNvPr id="19" name="Rounded Rectangle 18"/>
          <p:cNvSpPr/>
          <p:nvPr/>
        </p:nvSpPr>
        <p:spPr>
          <a:xfrm>
            <a:off x="7392009" y="2532888"/>
            <a:ext cx="1964131"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593177"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93177"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4</a:t>
            </a:r>
          </a:p>
        </p:txBody>
      </p:sp>
      <p:sp>
        <p:nvSpPr>
          <p:cNvPr id="22" name="TextBox 21"/>
          <p:cNvSpPr txBox="1"/>
          <p:nvPr/>
        </p:nvSpPr>
        <p:spPr>
          <a:xfrm>
            <a:off x="7593177" y="3008376"/>
            <a:ext cx="1561795" cy="2176272"/>
          </a:xfrm>
          <a:prstGeom prst="rect">
            <a:avLst/>
          </a:prstGeom>
          <a:noFill/>
        </p:spPr>
        <p:txBody>
          <a:bodyPr wrap="square" anchor="t" lIns="0" rIns="0" tIns="0" bIns="0">
            <a:spAutoFit/>
          </a:bodyPr>
          <a:lstStyle/>
          <a:p>
            <a:pPr algn="l"/>
            <a:r>
              <a:rPr sz="1980" b="1">
                <a:solidFill>
                  <a:srgbClr val="0E2841"/>
                </a:solidFill>
                <a:latin typeface="Aptos Display"/>
              </a:rPr>
              <a:t>Atributo</a:t>
            </a:r>
          </a:p>
          <a:p>
            <a:pPr algn="l">
              <a:lnSpc>
                <a:spcPct val="120000"/>
              </a:lnSpc>
              <a:spcBef>
                <a:spcPts val="700"/>
              </a:spcBef>
            </a:pPr>
            <a:r>
              <a:rPr sz="1560" b="0">
                <a:solidFill>
                  <a:srgbClr val="33475B"/>
                </a:solidFill>
                <a:latin typeface="Aptos"/>
              </a:rPr>
              <a:t>el que más castiga un error</a:t>
            </a:r>
          </a:p>
        </p:txBody>
      </p:sp>
      <p:sp>
        <p:nvSpPr>
          <p:cNvPr id="23" name="Rounded Rectangle 22"/>
          <p:cNvSpPr/>
          <p:nvPr/>
        </p:nvSpPr>
        <p:spPr>
          <a:xfrm>
            <a:off x="9667036" y="2532888"/>
            <a:ext cx="1964131"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868204" y="2368296"/>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68204"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5</a:t>
            </a:r>
          </a:p>
        </p:txBody>
      </p:sp>
      <p:sp>
        <p:nvSpPr>
          <p:cNvPr id="26" name="TextBox 25"/>
          <p:cNvSpPr txBox="1"/>
          <p:nvPr/>
        </p:nvSpPr>
        <p:spPr>
          <a:xfrm>
            <a:off x="9868204" y="3008376"/>
            <a:ext cx="1561795" cy="2176272"/>
          </a:xfrm>
          <a:prstGeom prst="rect">
            <a:avLst/>
          </a:prstGeom>
          <a:noFill/>
        </p:spPr>
        <p:txBody>
          <a:bodyPr wrap="square" anchor="t" lIns="0" rIns="0" tIns="0" bIns="0">
            <a:spAutoFit/>
          </a:bodyPr>
          <a:lstStyle/>
          <a:p>
            <a:pPr algn="l"/>
            <a:r>
              <a:rPr sz="1980" b="1">
                <a:solidFill>
                  <a:srgbClr val="0E2841"/>
                </a:solidFill>
                <a:latin typeface="Aptos Display"/>
              </a:rPr>
              <a:t>Patrones</a:t>
            </a:r>
          </a:p>
          <a:p>
            <a:pPr algn="l">
              <a:lnSpc>
                <a:spcPct val="120000"/>
              </a:lnSpc>
              <a:spcBef>
                <a:spcPts val="700"/>
              </a:spcBef>
            </a:pPr>
            <a:r>
              <a:rPr sz="1560" b="0">
                <a:solidFill>
                  <a:srgbClr val="33475B"/>
                </a:solidFill>
                <a:latin typeface="Aptos"/>
              </a:rPr>
              <a:t>el dominante y los que acompañan</a:t>
            </a:r>
          </a:p>
        </p:txBody>
      </p:sp>
      <p:sp>
        <p:nvSpPr>
          <p:cNvPr id="27" name="TextBox 26"/>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8" name="TextBox 27"/>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30 / 45</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Mercado Campesino: el caso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1719072"/>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160934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1719072"/>
          </a:xfrm>
          <a:prstGeom prst="rect">
            <a:avLst/>
          </a:prstGeom>
          <a:noFill/>
        </p:spPr>
        <p:txBody>
          <a:bodyPr wrap="square" anchor="ctr" lIns="0" rIns="0" tIns="0" bIns="0">
            <a:spAutoFit/>
          </a:bodyPr>
          <a:lstStyle/>
          <a:p>
            <a:pPr algn="l">
              <a:lnSpc>
                <a:spcPct val="125000"/>
              </a:lnSpc>
            </a:pPr>
            <a:r>
              <a:rPr sz="2640" b="1">
                <a:solidFill>
                  <a:srgbClr val="0E2841"/>
                </a:solidFill>
                <a:latin typeface="Aptos Display"/>
              </a:rPr>
              <a:t>Una asociación de productores de Neiva recibe pedidos por la web y entrega dos veces por semana.</a:t>
            </a:r>
          </a:p>
        </p:txBody>
      </p:sp>
      <p:sp>
        <p:nvSpPr>
          <p:cNvPr id="10" name="Rounded Rectangle 9"/>
          <p:cNvSpPr/>
          <p:nvPr/>
        </p:nvSpPr>
        <p:spPr>
          <a:xfrm>
            <a:off x="566928" y="374812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3748126"/>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435247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Navegador</a:t>
            </a:r>
          </a:p>
        </p:txBody>
      </p:sp>
      <p:sp>
        <p:nvSpPr>
          <p:cNvPr id="13" name="Chevron 12"/>
          <p:cNvSpPr/>
          <p:nvPr/>
        </p:nvSpPr>
        <p:spPr>
          <a:xfrm>
            <a:off x="3136392" y="449193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29000" y="374812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429000" y="3748126"/>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5304" y="435247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Aplicación web</a:t>
            </a:r>
          </a:p>
          <a:p>
            <a:pPr algn="ctr">
              <a:lnSpc>
                <a:spcPct val="120000"/>
              </a:lnSpc>
              <a:spcBef>
                <a:spcPts val="700"/>
              </a:spcBef>
            </a:pPr>
            <a:r>
              <a:rPr sz="1439" b="0">
                <a:solidFill>
                  <a:srgbClr val="7A8B9E"/>
                </a:solidFill>
                <a:latin typeface="Aptos"/>
              </a:rPr>
              <a:t>páginas y lógica mezcladas</a:t>
            </a:r>
          </a:p>
        </p:txBody>
      </p:sp>
      <p:sp>
        <p:nvSpPr>
          <p:cNvPr id="17" name="Chevron 16"/>
          <p:cNvSpPr/>
          <p:nvPr/>
        </p:nvSpPr>
        <p:spPr>
          <a:xfrm>
            <a:off x="5998464" y="449193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91072" y="374812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91072" y="3748126"/>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37376" y="435247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Base de datos</a:t>
            </a:r>
          </a:p>
        </p:txBody>
      </p:sp>
      <p:sp>
        <p:nvSpPr>
          <p:cNvPr id="21" name="Chevron 20"/>
          <p:cNvSpPr/>
          <p:nvPr/>
        </p:nvSpPr>
        <p:spPr>
          <a:xfrm>
            <a:off x="8860536" y="4491935"/>
            <a:ext cx="201168" cy="836785"/>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153144" y="3748126"/>
            <a:ext cx="2478024" cy="2324404"/>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53144" y="3748126"/>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99448" y="4352471"/>
            <a:ext cx="2185416" cy="1580595"/>
          </a:xfrm>
          <a:prstGeom prst="rect">
            <a:avLst/>
          </a:prstGeom>
          <a:noFill/>
        </p:spPr>
        <p:txBody>
          <a:bodyPr wrap="square" anchor="t" lIns="0" rIns="0" tIns="0" bIns="0">
            <a:spAutoFit/>
          </a:bodyPr>
          <a:lstStyle/>
          <a:p>
            <a:pPr algn="ctr"/>
            <a:r>
              <a:rPr sz="1859" b="1">
                <a:solidFill>
                  <a:srgbClr val="0E2841"/>
                </a:solidFill>
                <a:latin typeface="Aptos Display"/>
              </a:rPr>
              <a:t>Hoja de cálculo</a:t>
            </a:r>
          </a:p>
          <a:p>
            <a:pPr algn="ctr">
              <a:lnSpc>
                <a:spcPct val="120000"/>
              </a:lnSpc>
              <a:spcBef>
                <a:spcPts val="700"/>
              </a:spcBef>
            </a:pPr>
            <a:r>
              <a:rPr sz="1439" b="0">
                <a:solidFill>
                  <a:srgbClr val="7A8B9E"/>
                </a:solidFill>
                <a:latin typeface="Aptos"/>
              </a:rPr>
              <a:t>rutas a mano</a:t>
            </a:r>
          </a:p>
        </p:txBody>
      </p:sp>
      <p:sp>
        <p:nvSpPr>
          <p:cNvPr id="25" name="TextBox 2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6" name="TextBox 2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31 / 45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problema no son los microservicios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5532120"/>
                <a:gridCol w="5532120"/>
              </a:tblGrid>
              <a:tr h="729081">
                <a:tc>
                  <a:txBody>
                    <a:bodyPr wrap="square"/>
                    <a:lstStyle/>
                    <a:p>
                      <a:r>
                        <a:rPr sz="1725" b="1">
                          <a:solidFill>
                            <a:srgbClr val="FFFFFF"/>
                          </a:solidFill>
                          <a:latin typeface="Aptos"/>
                        </a:rPr>
                        <a:t>Pregunta</a:t>
                      </a:r>
                    </a:p>
                  </a:txBody>
                  <a:tcPr anchor="ctr" marL="146304" marR="146304">
                    <a:solidFill>
                      <a:srgbClr val="156082"/>
                    </a:solidFill>
                  </a:tcPr>
                </a:tc>
                <a:tc>
                  <a:txBody>
                    <a:bodyPr wrap="square"/>
                    <a:lstStyle/>
                    <a:p>
                      <a:r>
                        <a:rPr sz="1725" b="1">
                          <a:solidFill>
                            <a:srgbClr val="FFFFFF"/>
                          </a:solidFill>
                          <a:latin typeface="Aptos"/>
                        </a:rPr>
                        <a:t>Respuesta</a:t>
                      </a:r>
                    </a:p>
                  </a:txBody>
                  <a:tcPr anchor="ctr" marL="146304" marR="146304">
                    <a:solidFill>
                      <a:srgbClr val="156082"/>
                    </a:solidFill>
                  </a:tcPr>
                </a:tc>
              </a:tr>
              <a:tr h="729081">
                <a:tc>
                  <a:txBody>
                    <a:bodyPr wrap="square"/>
                    <a:lstStyle/>
                    <a:p>
                      <a:r>
                        <a:rPr sz="1609" b="1">
                          <a:solidFill>
                            <a:srgbClr val="33475B"/>
                          </a:solidFill>
                          <a:latin typeface="Aptos"/>
                        </a:rPr>
                        <a:t>Piezas</a:t>
                      </a:r>
                    </a:p>
                  </a:txBody>
                  <a:tcPr anchor="ctr" marL="146304" marR="146304">
                    <a:solidFill>
                      <a:srgbClr val="FFFFFF"/>
                    </a:solidFill>
                  </a:tcPr>
                </a:tc>
                <a:tc>
                  <a:txBody>
                    <a:bodyPr wrap="square"/>
                    <a:lstStyle/>
                    <a:p>
                      <a:r>
                        <a:rPr sz="1609" b="0">
                          <a:solidFill>
                            <a:srgbClr val="33475B"/>
                          </a:solidFill>
                          <a:latin typeface="Aptos"/>
                        </a:rPr>
                        <a:t>Navegador, aplicación web, base de datos</a:t>
                      </a:r>
                    </a:p>
                  </a:txBody>
                  <a:tcPr anchor="ctr" marL="146304" marR="146304">
                    <a:solidFill>
                      <a:srgbClr val="FFFFFF"/>
                    </a:solidFill>
                  </a:tcPr>
                </a:tc>
              </a:tr>
              <a:tr h="729081">
                <a:tc>
                  <a:txBody>
                    <a:bodyPr wrap="square"/>
                    <a:lstStyle/>
                    <a:p>
                      <a:r>
                        <a:rPr sz="1609" b="1">
                          <a:solidFill>
                            <a:srgbClr val="33475B"/>
                          </a:solidFill>
                          <a:latin typeface="Aptos"/>
                        </a:rPr>
                        <a:t>Lógica</a:t>
                      </a:r>
                    </a:p>
                  </a:txBody>
                  <a:tcPr anchor="ctr" marL="146304" marR="146304">
                    <a:solidFill>
                      <a:srgbClr val="F4F7FA"/>
                    </a:solidFill>
                  </a:tcPr>
                </a:tc>
                <a:tc>
                  <a:txBody>
                    <a:bodyPr wrap="square"/>
                    <a:lstStyle/>
                    <a:p>
                      <a:r>
                        <a:rPr sz="1609" b="0">
                          <a:solidFill>
                            <a:srgbClr val="33475B"/>
                          </a:solidFill>
                          <a:latin typeface="Aptos"/>
                        </a:rPr>
                        <a:t>En el servidor, mezclada con las páginas</a:t>
                      </a:r>
                    </a:p>
                  </a:txBody>
                  <a:tcPr anchor="ctr" marL="146304" marR="146304">
                    <a:solidFill>
                      <a:srgbClr val="F4F7FA"/>
                    </a:solidFill>
                  </a:tcPr>
                </a:tc>
              </a:tr>
              <a:tr h="729081">
                <a:tc>
                  <a:txBody>
                    <a:bodyPr wrap="square"/>
                    <a:lstStyle/>
                    <a:p>
                      <a:r>
                        <a:rPr sz="1609" b="1">
                          <a:solidFill>
                            <a:srgbClr val="33475B"/>
                          </a:solidFill>
                          <a:latin typeface="Aptos"/>
                        </a:rPr>
                        <a:t>Despliegue</a:t>
                      </a:r>
                    </a:p>
                  </a:txBody>
                  <a:tcPr anchor="ctr" marL="146304" marR="146304">
                    <a:solidFill>
                      <a:srgbClr val="FFFFFF"/>
                    </a:solidFill>
                  </a:tcPr>
                </a:tc>
                <a:tc>
                  <a:txBody>
                    <a:bodyPr wrap="square"/>
                    <a:lstStyle/>
                    <a:p>
                      <a:r>
                        <a:rPr sz="1609" b="0">
                          <a:solidFill>
                            <a:srgbClr val="33475B"/>
                          </a:solidFill>
                          <a:latin typeface="Aptos"/>
                        </a:rPr>
                        <a:t>Una sola unidad</a:t>
                      </a:r>
                    </a:p>
                  </a:txBody>
                  <a:tcPr anchor="ctr" marL="146304" marR="146304">
                    <a:solidFill>
                      <a:srgbClr val="FFFFFF"/>
                    </a:solidFill>
                  </a:tcPr>
                </a:tc>
              </a:tr>
              <a:tr h="729081">
                <a:tc>
                  <a:txBody>
                    <a:bodyPr wrap="square"/>
                    <a:lstStyle/>
                    <a:p>
                      <a:r>
                        <a:rPr sz="1609" b="1">
                          <a:solidFill>
                            <a:srgbClr val="33475B"/>
                          </a:solidFill>
                          <a:latin typeface="Aptos"/>
                        </a:rPr>
                        <a:t>Atributo que manda</a:t>
                      </a:r>
                    </a:p>
                  </a:txBody>
                  <a:tcPr anchor="ctr" marL="146304" marR="146304">
                    <a:solidFill>
                      <a:srgbClr val="F4F7FA"/>
                    </a:solidFill>
                  </a:tcPr>
                </a:tc>
                <a:tc>
                  <a:txBody>
                    <a:bodyPr wrap="square"/>
                    <a:lstStyle/>
                    <a:p>
                      <a:r>
                        <a:rPr sz="1609" b="0">
                          <a:solidFill>
                            <a:srgbClr val="33475B"/>
                          </a:solidFill>
                          <a:latin typeface="Aptos"/>
                        </a:rPr>
                        <a:t>Modificabilidad y disponibilidad el día de pedidos</a:t>
                      </a:r>
                    </a:p>
                  </a:txBody>
                  <a:tcPr anchor="ctr" marL="146304" marR="146304">
                    <a:solidFill>
                      <a:srgbClr val="F4F7FA"/>
                    </a:solidFill>
                  </a:tcPr>
                </a:tc>
              </a:tr>
              <a:tr h="729081">
                <a:tc>
                  <a:txBody>
                    <a:bodyPr wrap="square"/>
                    <a:lstStyle/>
                    <a:p>
                      <a:r>
                        <a:rPr sz="1609" b="1">
                          <a:solidFill>
                            <a:srgbClr val="33475B"/>
                          </a:solidFill>
                          <a:latin typeface="Aptos"/>
                        </a:rPr>
                        <a:t>Patrones</a:t>
                      </a:r>
                    </a:p>
                  </a:txBody>
                  <a:tcPr anchor="ctr" marL="146304" marR="146304">
                    <a:solidFill>
                      <a:srgbClr val="FFFFFF"/>
                    </a:solidFill>
                  </a:tcPr>
                </a:tc>
                <a:tc>
                  <a:txBody>
                    <a:bodyPr wrap="square"/>
                    <a:lstStyle/>
                    <a:p>
                      <a:r>
                        <a:rPr sz="1609" b="0">
                          <a:solidFill>
                            <a:srgbClr val="33475B"/>
                          </a:solidFill>
                          <a:latin typeface="Aptos"/>
                        </a:rPr>
                        <a:t>Cliente-servidor; MVC incompleto; sin capas</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32 / 45</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Una v1 en capas resuelve lo urgente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58060"/>
            <a:ext cx="11064240" cy="114370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931212"/>
            <a:ext cx="63500" cy="997403"/>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1858060"/>
            <a:ext cx="11064240" cy="1143707"/>
          </a:xfrm>
          <a:prstGeom prst="rect">
            <a:avLst/>
          </a:prstGeom>
          <a:noFill/>
        </p:spPr>
        <p:txBody>
          <a:bodyPr wrap="square" anchor="ctr" lIns="0" rIns="0" tIns="0" bIns="0">
            <a:spAutoFit/>
          </a:bodyPr>
          <a:lstStyle/>
          <a:p>
            <a:pPr algn="ctr"/>
            <a:r>
              <a:rPr sz="2062" b="1">
                <a:solidFill>
                  <a:srgbClr val="0E2841"/>
                </a:solidFill>
                <a:latin typeface="Aptos Display"/>
              </a:rPr>
              <a:t>Presentación (MVC)  ·  páginas y controladores</a:t>
            </a:r>
          </a:p>
        </p:txBody>
      </p:sp>
      <p:sp>
        <p:nvSpPr>
          <p:cNvPr id="10" name="Rounded Rectangle 9"/>
          <p:cNvSpPr/>
          <p:nvPr/>
        </p:nvSpPr>
        <p:spPr>
          <a:xfrm>
            <a:off x="1069848" y="3252825"/>
            <a:ext cx="10058400" cy="114370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69848" y="3325977"/>
            <a:ext cx="63500" cy="997403"/>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 y="3252825"/>
            <a:ext cx="10058400" cy="1143707"/>
          </a:xfrm>
          <a:prstGeom prst="rect">
            <a:avLst/>
          </a:prstGeom>
          <a:noFill/>
        </p:spPr>
        <p:txBody>
          <a:bodyPr wrap="square" anchor="ctr" lIns="0" rIns="0" tIns="0" bIns="0">
            <a:spAutoFit/>
          </a:bodyPr>
          <a:lstStyle/>
          <a:p>
            <a:pPr algn="ctr"/>
            <a:r>
              <a:rPr sz="2062" b="1">
                <a:solidFill>
                  <a:srgbClr val="0E2841"/>
                </a:solidFill>
                <a:latin typeface="Aptos Display"/>
              </a:rPr>
              <a:t>Negocio  ·  precios, pedidos y rutas</a:t>
            </a:r>
          </a:p>
        </p:txBody>
      </p:sp>
      <p:sp>
        <p:nvSpPr>
          <p:cNvPr id="13" name="Rounded Rectangle 12"/>
          <p:cNvSpPr/>
          <p:nvPr/>
        </p:nvSpPr>
        <p:spPr>
          <a:xfrm>
            <a:off x="1572768" y="4647590"/>
            <a:ext cx="9052560" cy="1143707"/>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572768" y="4720742"/>
            <a:ext cx="63500" cy="997403"/>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572768" y="4647590"/>
            <a:ext cx="9052560" cy="1143707"/>
          </a:xfrm>
          <a:prstGeom prst="rect">
            <a:avLst/>
          </a:prstGeom>
          <a:noFill/>
        </p:spPr>
        <p:txBody>
          <a:bodyPr wrap="square" anchor="ctr" lIns="0" rIns="0" tIns="0" bIns="0">
            <a:spAutoFit/>
          </a:bodyPr>
          <a:lstStyle/>
          <a:p>
            <a:pPr algn="ctr"/>
            <a:r>
              <a:rPr sz="2062" b="1">
                <a:solidFill>
                  <a:srgbClr val="0E2841"/>
                </a:solidFill>
                <a:latin typeface="Aptos Display"/>
              </a:rPr>
              <a:t>Datos  ·  repositorios y base de datos</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33 / 45</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le falta a Mercado Campesino?</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Microservicios</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Despliegue en la nube</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Capas: las reglas viven mezcladas con las páginas</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Una base de datos no relacional</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34 / 45</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Patrones en sistemas que ya usas</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8"/>
        </p:xfrm>
        <a:graphic>
          <a:graphicData uri="http://schemas.openxmlformats.org/drawingml/2006/table">
            <a:tbl>
              <a:tblPr firstRow="1">
                <a:tableStyleId>{5C22544A-7EE6-4342-B048-85BDC9FD1C3A}</a:tableStyleId>
              </a:tblPr>
              <a:tblGrid>
                <a:gridCol w="5532120"/>
                <a:gridCol w="5532120"/>
              </a:tblGrid>
              <a:tr h="546811">
                <a:tc>
                  <a:txBody>
                    <a:bodyPr wrap="square"/>
                    <a:lstStyle/>
                    <a:p>
                      <a:r>
                        <a:rPr sz="1590" b="1">
                          <a:solidFill>
                            <a:srgbClr val="FFFFFF"/>
                          </a:solidFill>
                          <a:latin typeface="Aptos"/>
                        </a:rPr>
                        <a:t>Sistema real</a:t>
                      </a:r>
                    </a:p>
                  </a:txBody>
                  <a:tcPr anchor="ctr" marL="146304" marR="146304">
                    <a:solidFill>
                      <a:srgbClr val="156082"/>
                    </a:solidFill>
                  </a:tcPr>
                </a:tc>
                <a:tc>
                  <a:txBody>
                    <a:bodyPr wrap="square"/>
                    <a:lstStyle/>
                    <a:p>
                      <a:r>
                        <a:rPr sz="1590" b="1">
                          <a:solidFill>
                            <a:srgbClr val="FFFFFF"/>
                          </a:solidFill>
                          <a:latin typeface="Aptos"/>
                        </a:rPr>
                        <a:t>Patrón dominante</a:t>
                      </a:r>
                    </a:p>
                  </a:txBody>
                  <a:tcPr anchor="ctr" marL="146304" marR="146304">
                    <a:solidFill>
                      <a:srgbClr val="156082"/>
                    </a:solidFill>
                  </a:tcPr>
                </a:tc>
              </a:tr>
              <a:tr h="546811">
                <a:tc>
                  <a:txBody>
                    <a:bodyPr wrap="square"/>
                    <a:lstStyle/>
                    <a:p>
                      <a:r>
                        <a:rPr sz="1484" b="1">
                          <a:solidFill>
                            <a:srgbClr val="33475B"/>
                          </a:solidFill>
                          <a:latin typeface="Aptos"/>
                        </a:rPr>
                        <a:t>Navegador y servidor web</a:t>
                      </a:r>
                    </a:p>
                  </a:txBody>
                  <a:tcPr anchor="ctr" marL="146304" marR="146304">
                    <a:solidFill>
                      <a:srgbClr val="FFFFFF"/>
                    </a:solidFill>
                  </a:tcPr>
                </a:tc>
                <a:tc>
                  <a:txBody>
                    <a:bodyPr wrap="square"/>
                    <a:lstStyle/>
                    <a:p>
                      <a:r>
                        <a:rPr sz="1484" b="0">
                          <a:solidFill>
                            <a:srgbClr val="33475B"/>
                          </a:solidFill>
                          <a:latin typeface="Aptos"/>
                        </a:rPr>
                        <a:t>Cliente-servidor</a:t>
                      </a:r>
                    </a:p>
                  </a:txBody>
                  <a:tcPr anchor="ctr" marL="146304" marR="146304">
                    <a:solidFill>
                      <a:srgbClr val="FFFFFF"/>
                    </a:solidFill>
                  </a:tcPr>
                </a:tc>
              </a:tr>
              <a:tr h="546811">
                <a:tc>
                  <a:txBody>
                    <a:bodyPr wrap="square"/>
                    <a:lstStyle/>
                    <a:p>
                      <a:r>
                        <a:rPr sz="1484" b="1">
                          <a:solidFill>
                            <a:srgbClr val="33475B"/>
                          </a:solidFill>
                          <a:latin typeface="Aptos"/>
                        </a:rPr>
                        <a:t>Compilador; tuberías de Unix</a:t>
                      </a:r>
                    </a:p>
                  </a:txBody>
                  <a:tcPr anchor="ctr" marL="146304" marR="146304">
                    <a:solidFill>
                      <a:srgbClr val="F4F7FA"/>
                    </a:solidFill>
                  </a:tcPr>
                </a:tc>
                <a:tc>
                  <a:txBody>
                    <a:bodyPr wrap="square"/>
                    <a:lstStyle/>
                    <a:p>
                      <a:r>
                        <a:rPr sz="1484" b="0">
                          <a:solidFill>
                            <a:srgbClr val="33475B"/>
                          </a:solidFill>
                          <a:latin typeface="Aptos"/>
                        </a:rPr>
                        <a:t>Pipes and filters</a:t>
                      </a:r>
                    </a:p>
                  </a:txBody>
                  <a:tcPr anchor="ctr" marL="146304" marR="146304">
                    <a:solidFill>
                      <a:srgbClr val="F4F7FA"/>
                    </a:solidFill>
                  </a:tcPr>
                </a:tc>
              </a:tr>
              <a:tr h="546811">
                <a:tc>
                  <a:txBody>
                    <a:bodyPr wrap="square"/>
                    <a:lstStyle/>
                    <a:p>
                      <a:r>
                        <a:rPr sz="1484" b="1">
                          <a:solidFill>
                            <a:srgbClr val="33475B"/>
                          </a:solidFill>
                          <a:latin typeface="Aptos"/>
                        </a:rPr>
                        <a:t>BitTorrent</a:t>
                      </a:r>
                    </a:p>
                  </a:txBody>
                  <a:tcPr anchor="ctr" marL="146304" marR="146304">
                    <a:solidFill>
                      <a:srgbClr val="FFFFFF"/>
                    </a:solidFill>
                  </a:tcPr>
                </a:tc>
                <a:tc>
                  <a:txBody>
                    <a:bodyPr wrap="square"/>
                    <a:lstStyle/>
                    <a:p>
                      <a:r>
                        <a:rPr sz="1484" b="0">
                          <a:solidFill>
                            <a:srgbClr val="33475B"/>
                          </a:solidFill>
                          <a:latin typeface="Aptos"/>
                        </a:rPr>
                        <a:t>Peer-to-peer</a:t>
                      </a:r>
                    </a:p>
                  </a:txBody>
                  <a:tcPr anchor="ctr" marL="146304" marR="146304">
                    <a:solidFill>
                      <a:srgbClr val="FFFFFF"/>
                    </a:solidFill>
                  </a:tcPr>
                </a:tc>
              </a:tr>
              <a:tr h="546811">
                <a:tc>
                  <a:txBody>
                    <a:bodyPr wrap="square"/>
                    <a:lstStyle/>
                    <a:p>
                      <a:r>
                        <a:rPr sz="1484" b="1">
                          <a:solidFill>
                            <a:srgbClr val="33475B"/>
                          </a:solidFill>
                          <a:latin typeface="Aptos"/>
                        </a:rPr>
                        <a:t>Spring MVC, Django, Rails</a:t>
                      </a:r>
                    </a:p>
                  </a:txBody>
                  <a:tcPr anchor="ctr" marL="146304" marR="146304">
                    <a:solidFill>
                      <a:srgbClr val="F4F7FA"/>
                    </a:solidFill>
                  </a:tcPr>
                </a:tc>
                <a:tc>
                  <a:txBody>
                    <a:bodyPr wrap="square"/>
                    <a:lstStyle/>
                    <a:p>
                      <a:r>
                        <a:rPr sz="1484" b="0">
                          <a:solidFill>
                            <a:srgbClr val="33475B"/>
                          </a:solidFill>
                          <a:latin typeface="Aptos"/>
                        </a:rPr>
                        <a:t>MVC sobre capas</a:t>
                      </a:r>
                    </a:p>
                  </a:txBody>
                  <a:tcPr anchor="ctr" marL="146304" marR="146304">
                    <a:solidFill>
                      <a:srgbClr val="F4F7FA"/>
                    </a:solidFill>
                  </a:tcPr>
                </a:tc>
              </a:tr>
              <a:tr h="546811">
                <a:tc>
                  <a:txBody>
                    <a:bodyPr wrap="square"/>
                    <a:lstStyle/>
                    <a:p>
                      <a:r>
                        <a:rPr sz="1484" b="1">
                          <a:solidFill>
                            <a:srgbClr val="33475B"/>
                          </a:solidFill>
                          <a:latin typeface="Aptos"/>
                        </a:rPr>
                        <a:t>ERP en tres capas</a:t>
                      </a:r>
                    </a:p>
                  </a:txBody>
                  <a:tcPr anchor="ctr" marL="146304" marR="146304">
                    <a:solidFill>
                      <a:srgbClr val="FFFFFF"/>
                    </a:solidFill>
                  </a:tcPr>
                </a:tc>
                <a:tc>
                  <a:txBody>
                    <a:bodyPr wrap="square"/>
                    <a:lstStyle/>
                    <a:p>
                      <a:r>
                        <a:rPr sz="1484" b="0">
                          <a:solidFill>
                            <a:srgbClr val="33475B"/>
                          </a:solidFill>
                          <a:latin typeface="Aptos"/>
                        </a:rPr>
                        <a:t>Capas</a:t>
                      </a:r>
                    </a:p>
                  </a:txBody>
                  <a:tcPr anchor="ctr" marL="146304" marR="146304">
                    <a:solidFill>
                      <a:srgbClr val="FFFFFF"/>
                    </a:solidFill>
                  </a:tcPr>
                </a:tc>
              </a:tr>
              <a:tr h="546811">
                <a:tc>
                  <a:txBody>
                    <a:bodyPr wrap="square"/>
                    <a:lstStyle/>
                    <a:p>
                      <a:r>
                        <a:rPr sz="1484" b="1">
                          <a:solidFill>
                            <a:srgbClr val="33475B"/>
                          </a:solidFill>
                          <a:latin typeface="Aptos"/>
                        </a:rPr>
                        <a:t>Funciones en la nube (AWS Lambda)</a:t>
                      </a:r>
                    </a:p>
                  </a:txBody>
                  <a:tcPr anchor="ctr" marL="146304" marR="146304">
                    <a:solidFill>
                      <a:srgbClr val="F4F7FA"/>
                    </a:solidFill>
                  </a:tcPr>
                </a:tc>
                <a:tc>
                  <a:txBody>
                    <a:bodyPr wrap="square"/>
                    <a:lstStyle/>
                    <a:p>
                      <a:r>
                        <a:rPr sz="1484" b="0">
                          <a:solidFill>
                            <a:srgbClr val="33475B"/>
                          </a:solidFill>
                          <a:latin typeface="Aptos"/>
                        </a:rPr>
                        <a:t>Serverless</a:t>
                      </a:r>
                    </a:p>
                  </a:txBody>
                  <a:tcPr anchor="ctr" marL="146304" marR="146304">
                    <a:solidFill>
                      <a:srgbClr val="F4F7FA"/>
                    </a:solidFill>
                  </a:tcPr>
                </a:tc>
              </a:tr>
              <a:tr h="546811">
                <a:tc>
                  <a:txBody>
                    <a:bodyPr wrap="square"/>
                    <a:lstStyle/>
                    <a:p>
                      <a:r>
                        <a:rPr sz="1484" b="1">
                          <a:solidFill>
                            <a:srgbClr val="33475B"/>
                          </a:solidFill>
                          <a:latin typeface="Aptos"/>
                        </a:rPr>
                        <a:t>Streaming de eventos (Apache Kafka)</a:t>
                      </a:r>
                    </a:p>
                  </a:txBody>
                  <a:tcPr anchor="ctr" marL="146304" marR="146304">
                    <a:solidFill>
                      <a:srgbClr val="FFFFFF"/>
                    </a:solidFill>
                  </a:tcPr>
                </a:tc>
                <a:tc>
                  <a:txBody>
                    <a:bodyPr wrap="square"/>
                    <a:lstStyle/>
                    <a:p>
                      <a:r>
                        <a:rPr sz="1484" b="0">
                          <a:solidFill>
                            <a:srgbClr val="33475B"/>
                          </a:solidFill>
                          <a:latin typeface="Aptos"/>
                        </a:rPr>
                        <a:t>Event-driven</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35 / 45</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07</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7. El proyecto de aula del curso</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Cuatro actividades, un solo proyecto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02922"/>
            <a:ext cx="2478024" cy="2096963"/>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802922"/>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2348132"/>
            <a:ext cx="2185416" cy="1425935"/>
          </a:xfrm>
          <a:prstGeom prst="rect">
            <a:avLst/>
          </a:prstGeom>
          <a:noFill/>
        </p:spPr>
        <p:txBody>
          <a:bodyPr wrap="square" anchor="t" lIns="0" rIns="0" tIns="0" bIns="0">
            <a:spAutoFit/>
          </a:bodyPr>
          <a:lstStyle/>
          <a:p>
            <a:pPr algn="ctr"/>
            <a:r>
              <a:rPr sz="1829" b="1">
                <a:solidFill>
                  <a:srgbClr val="0E2841"/>
                </a:solidFill>
                <a:latin typeface="Aptos Display"/>
              </a:rPr>
              <a:t>H1 Análisis</a:t>
            </a:r>
          </a:p>
          <a:p>
            <a:pPr algn="ctr">
              <a:lnSpc>
                <a:spcPct val="120000"/>
              </a:lnSpc>
              <a:spcBef>
                <a:spcPts val="700"/>
              </a:spcBef>
            </a:pPr>
            <a:r>
              <a:rPr sz="1416" b="0">
                <a:solidFill>
                  <a:srgbClr val="7A8B9E"/>
                </a:solidFill>
                <a:latin typeface="Aptos"/>
              </a:rPr>
              <a:t>A1 · 18-oct</a:t>
            </a:r>
          </a:p>
        </p:txBody>
      </p:sp>
      <p:sp>
        <p:nvSpPr>
          <p:cNvPr id="10" name="Chevron 9"/>
          <p:cNvSpPr/>
          <p:nvPr/>
        </p:nvSpPr>
        <p:spPr>
          <a:xfrm>
            <a:off x="3136392" y="2473950"/>
            <a:ext cx="201168" cy="754906"/>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29000" y="1802922"/>
            <a:ext cx="2478024" cy="2096963"/>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29000" y="1802922"/>
            <a:ext cx="2478024"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4" y="2348132"/>
            <a:ext cx="2185416" cy="1425935"/>
          </a:xfrm>
          <a:prstGeom prst="rect">
            <a:avLst/>
          </a:prstGeom>
          <a:noFill/>
        </p:spPr>
        <p:txBody>
          <a:bodyPr wrap="square" anchor="t" lIns="0" rIns="0" tIns="0" bIns="0">
            <a:spAutoFit/>
          </a:bodyPr>
          <a:lstStyle/>
          <a:p>
            <a:pPr algn="ctr"/>
            <a:r>
              <a:rPr sz="1829" b="1">
                <a:solidFill>
                  <a:srgbClr val="0E2841"/>
                </a:solidFill>
                <a:latin typeface="Aptos Display"/>
              </a:rPr>
              <a:t>H2 v1 clásica</a:t>
            </a:r>
          </a:p>
          <a:p>
            <a:pPr algn="ctr">
              <a:lnSpc>
                <a:spcPct val="120000"/>
              </a:lnSpc>
              <a:spcBef>
                <a:spcPts val="700"/>
              </a:spcBef>
            </a:pPr>
            <a:r>
              <a:rPr sz="1416" b="0">
                <a:solidFill>
                  <a:srgbClr val="7A8B9E"/>
                </a:solidFill>
                <a:latin typeface="Aptos"/>
              </a:rPr>
              <a:t>A2 · 25-oct</a:t>
            </a:r>
          </a:p>
        </p:txBody>
      </p:sp>
      <p:sp>
        <p:nvSpPr>
          <p:cNvPr id="14" name="Chevron 13"/>
          <p:cNvSpPr/>
          <p:nvPr/>
        </p:nvSpPr>
        <p:spPr>
          <a:xfrm>
            <a:off x="5998464" y="2473950"/>
            <a:ext cx="201168" cy="754906"/>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91072" y="1802922"/>
            <a:ext cx="2478024" cy="2096963"/>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91072" y="1802922"/>
            <a:ext cx="2478024"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37376" y="2348132"/>
            <a:ext cx="2185416" cy="1425935"/>
          </a:xfrm>
          <a:prstGeom prst="rect">
            <a:avLst/>
          </a:prstGeom>
          <a:noFill/>
        </p:spPr>
        <p:txBody>
          <a:bodyPr wrap="square" anchor="t" lIns="0" rIns="0" tIns="0" bIns="0">
            <a:spAutoFit/>
          </a:bodyPr>
          <a:lstStyle/>
          <a:p>
            <a:pPr algn="ctr"/>
            <a:r>
              <a:rPr sz="1829" b="1">
                <a:solidFill>
                  <a:srgbClr val="0E2841"/>
                </a:solidFill>
                <a:latin typeface="Aptos Display"/>
              </a:rPr>
              <a:t>H3 Decisión</a:t>
            </a:r>
          </a:p>
          <a:p>
            <a:pPr algn="ctr">
              <a:lnSpc>
                <a:spcPct val="120000"/>
              </a:lnSpc>
              <a:spcBef>
                <a:spcPts val="700"/>
              </a:spcBef>
            </a:pPr>
            <a:r>
              <a:rPr sz="1416" b="0">
                <a:solidFill>
                  <a:srgbClr val="7A8B9E"/>
                </a:solidFill>
                <a:latin typeface="Aptos"/>
              </a:rPr>
              <a:t>foro · 1-nov</a:t>
            </a:r>
          </a:p>
        </p:txBody>
      </p:sp>
      <p:sp>
        <p:nvSpPr>
          <p:cNvPr id="18" name="Chevron 17"/>
          <p:cNvSpPr/>
          <p:nvPr/>
        </p:nvSpPr>
        <p:spPr>
          <a:xfrm>
            <a:off x="8860536" y="2473950"/>
            <a:ext cx="201168" cy="754906"/>
          </a:xfrm>
          <a:prstGeom prst="chevron">
            <a:avLst/>
          </a:prstGeom>
          <a:solidFill>
            <a:srgbClr val="D9E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153144" y="1802922"/>
            <a:ext cx="2478024" cy="2096963"/>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53144" y="1802922"/>
            <a:ext cx="2478024"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2348132"/>
            <a:ext cx="2185416" cy="1425935"/>
          </a:xfrm>
          <a:prstGeom prst="rect">
            <a:avLst/>
          </a:prstGeom>
          <a:noFill/>
        </p:spPr>
        <p:txBody>
          <a:bodyPr wrap="square" anchor="t" lIns="0" rIns="0" tIns="0" bIns="0">
            <a:spAutoFit/>
          </a:bodyPr>
          <a:lstStyle/>
          <a:p>
            <a:pPr algn="ctr"/>
            <a:r>
              <a:rPr sz="1829" b="1">
                <a:solidFill>
                  <a:srgbClr val="0E2841"/>
                </a:solidFill>
                <a:latin typeface="Aptos Display"/>
              </a:rPr>
              <a:t>H4 v2 moderna</a:t>
            </a:r>
          </a:p>
          <a:p>
            <a:pPr algn="ctr">
              <a:lnSpc>
                <a:spcPct val="120000"/>
              </a:lnSpc>
              <a:spcBef>
                <a:spcPts val="700"/>
              </a:spcBef>
            </a:pPr>
            <a:r>
              <a:rPr sz="1416" b="0">
                <a:solidFill>
                  <a:srgbClr val="7A8B9E"/>
                </a:solidFill>
                <a:latin typeface="Aptos"/>
              </a:rPr>
              <a:t>A3 · 8-nov</a:t>
            </a:r>
          </a:p>
        </p:txBody>
      </p:sp>
      <p:sp>
        <p:nvSpPr>
          <p:cNvPr id="22" name="Oval 21"/>
          <p:cNvSpPr/>
          <p:nvPr/>
        </p:nvSpPr>
        <p:spPr>
          <a:xfrm>
            <a:off x="585216" y="461365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9536" y="4331208"/>
            <a:ext cx="10698480" cy="665480"/>
          </a:xfrm>
          <a:prstGeom prst="rect">
            <a:avLst/>
          </a:prstGeom>
          <a:noFill/>
        </p:spPr>
        <p:txBody>
          <a:bodyPr wrap="square" anchor="ctr" lIns="0" rIns="0" tIns="0" bIns="0">
            <a:spAutoFit/>
          </a:bodyPr>
          <a:lstStyle/>
          <a:p>
            <a:pPr algn="l"/>
            <a:r>
              <a:rPr sz="2478" b="1">
                <a:solidFill>
                  <a:srgbClr val="0E2841"/>
                </a:solidFill>
                <a:latin typeface="Aptos"/>
              </a:rPr>
              <a:t>Mismo reto en todo el curso</a:t>
            </a:r>
          </a:p>
        </p:txBody>
      </p:sp>
      <p:sp>
        <p:nvSpPr>
          <p:cNvPr id="24" name="Oval 23"/>
          <p:cNvSpPr/>
          <p:nvPr/>
        </p:nvSpPr>
        <p:spPr>
          <a:xfrm>
            <a:off x="585216" y="527913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 y="4996688"/>
            <a:ext cx="10698480" cy="665480"/>
          </a:xfrm>
          <a:prstGeom prst="rect">
            <a:avLst/>
          </a:prstGeom>
          <a:noFill/>
        </p:spPr>
        <p:txBody>
          <a:bodyPr wrap="square" anchor="ctr" lIns="0" rIns="0" tIns="0" bIns="0">
            <a:spAutoFit/>
          </a:bodyPr>
          <a:lstStyle/>
          <a:p>
            <a:pPr algn="l"/>
            <a:r>
              <a:rPr sz="2478" b="1">
                <a:solidFill>
                  <a:srgbClr val="0E2841"/>
                </a:solidFill>
                <a:latin typeface="Aptos"/>
              </a:rPr>
              <a:t>Ninguna actividad del aula cambia</a:t>
            </a:r>
          </a:p>
        </p:txBody>
      </p:sp>
      <p:sp>
        <p:nvSpPr>
          <p:cNvPr id="26" name="Oval 25"/>
          <p:cNvSpPr/>
          <p:nvPr/>
        </p:nvSpPr>
        <p:spPr>
          <a:xfrm>
            <a:off x="585216" y="5944616"/>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5662168"/>
            <a:ext cx="10698480" cy="665480"/>
          </a:xfrm>
          <a:prstGeom prst="rect">
            <a:avLst/>
          </a:prstGeom>
          <a:noFill/>
        </p:spPr>
        <p:txBody>
          <a:bodyPr wrap="square" anchor="ctr" lIns="0" rIns="0" tIns="0" bIns="0">
            <a:spAutoFit/>
          </a:bodyPr>
          <a:lstStyle/>
          <a:p>
            <a:pPr algn="l"/>
            <a:r>
              <a:rPr sz="2478" b="1">
                <a:solidFill>
                  <a:srgbClr val="0E2841"/>
                </a:solidFill>
                <a:latin typeface="Aptos"/>
              </a:rPr>
              <a:t>La Guía del proyecto de aula lo explica</a:t>
            </a:r>
          </a:p>
        </p:txBody>
      </p:sp>
      <p:sp>
        <p:nvSpPr>
          <p:cNvPr id="28" name="TextBox 2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9" name="TextBox 2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36 / 45</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La v2 se compara con tu v1</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572768"/>
            <a:ext cx="11064240" cy="2128723"/>
          </a:xfrm>
          <a:prstGeom prst="roundRect">
            <a:avLst>
              <a:gd name="adj" fmla="val 5000"/>
            </a:avLst>
          </a:prstGeom>
          <a:solidFill>
            <a:srgbClr val="F4F7FA"/>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63500" cy="2018995"/>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378440" cy="2128723"/>
          </a:xfrm>
          <a:prstGeom prst="rect">
            <a:avLst/>
          </a:prstGeom>
          <a:noFill/>
        </p:spPr>
        <p:txBody>
          <a:bodyPr wrap="square" anchor="ctr" lIns="0" rIns="0" tIns="0" bIns="0">
            <a:spAutoFit/>
          </a:bodyPr>
          <a:lstStyle/>
          <a:p>
            <a:pPr algn="l">
              <a:lnSpc>
                <a:spcPct val="125000"/>
              </a:lnSpc>
            </a:pPr>
            <a:r>
              <a:rPr sz="2735" b="1">
                <a:solidFill>
                  <a:srgbClr val="0E2841"/>
                </a:solidFill>
                <a:latin typeface="Aptos Display"/>
              </a:rPr>
              <a:t>La pregunta difícil de la A3 —compara con otras alternativas— solo tiene buena respuesta si la alternativa existe.</a:t>
            </a:r>
          </a:p>
        </p:txBody>
      </p:sp>
      <p:sp>
        <p:nvSpPr>
          <p:cNvPr id="10" name="Oval 9"/>
          <p:cNvSpPr/>
          <p:nvPr/>
        </p:nvSpPr>
        <p:spPr>
          <a:xfrm>
            <a:off x="585216" y="4256531"/>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9536" y="3902659"/>
            <a:ext cx="10698480" cy="808329"/>
          </a:xfrm>
          <a:prstGeom prst="rect">
            <a:avLst/>
          </a:prstGeom>
          <a:noFill/>
        </p:spPr>
        <p:txBody>
          <a:bodyPr wrap="square" anchor="ctr" lIns="0" rIns="0" tIns="0" bIns="0">
            <a:spAutoFit/>
          </a:bodyPr>
          <a:lstStyle/>
          <a:p>
            <a:pPr algn="l"/>
            <a:r>
              <a:rPr sz="2610" b="1">
                <a:solidFill>
                  <a:srgbClr val="0E2841"/>
                </a:solidFill>
                <a:latin typeface="Aptos"/>
              </a:rPr>
              <a:t>Tu v1 existe y se ejecuta</a:t>
            </a:r>
          </a:p>
        </p:txBody>
      </p:sp>
      <p:sp>
        <p:nvSpPr>
          <p:cNvPr id="12" name="Oval 11"/>
          <p:cNvSpPr/>
          <p:nvPr/>
        </p:nvSpPr>
        <p:spPr>
          <a:xfrm>
            <a:off x="585216" y="506486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 y="4710988"/>
            <a:ext cx="10698480" cy="808329"/>
          </a:xfrm>
          <a:prstGeom prst="rect">
            <a:avLst/>
          </a:prstGeom>
          <a:noFill/>
        </p:spPr>
        <p:txBody>
          <a:bodyPr wrap="square" anchor="ctr" lIns="0" rIns="0" tIns="0" bIns="0">
            <a:spAutoFit/>
          </a:bodyPr>
          <a:lstStyle/>
          <a:p>
            <a:pPr algn="l"/>
            <a:r>
              <a:rPr sz="2610" b="1">
                <a:solidFill>
                  <a:srgbClr val="0E2841"/>
                </a:solidFill>
                <a:latin typeface="Aptos"/>
              </a:rPr>
              <a:t>Etiquétala en git antes de la v2</a:t>
            </a:r>
          </a:p>
        </p:txBody>
      </p:sp>
      <p:sp>
        <p:nvSpPr>
          <p:cNvPr id="14" name="Oval 13"/>
          <p:cNvSpPr/>
          <p:nvPr/>
        </p:nvSpPr>
        <p:spPr>
          <a:xfrm>
            <a:off x="585216" y="587319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9536" y="5519318"/>
            <a:ext cx="10698480" cy="808329"/>
          </a:xfrm>
          <a:prstGeom prst="rect">
            <a:avLst/>
          </a:prstGeom>
          <a:noFill/>
        </p:spPr>
        <p:txBody>
          <a:bodyPr wrap="square" anchor="ctr" lIns="0" rIns="0" tIns="0" bIns="0">
            <a:spAutoFit/>
          </a:bodyPr>
          <a:lstStyle/>
          <a:p>
            <a:pPr algn="l"/>
            <a:r>
              <a:rPr sz="2610" b="1">
                <a:solidFill>
                  <a:srgbClr val="0E2841"/>
                </a:solidFill>
                <a:latin typeface="Aptos"/>
              </a:rPr>
              <a:t>Mide al menos tres criterios</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37 / 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Cinco retos del Huila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6"/>
        </p:xfrm>
        <a:graphic>
          <a:graphicData uri="http://schemas.openxmlformats.org/drawingml/2006/table">
            <a:tbl>
              <a:tblPr firstRow="1">
                <a:tableStyleId>{5C22544A-7EE6-4342-B048-85BDC9FD1C3A}</a:tableStyleId>
              </a:tblPr>
              <a:tblGrid>
                <a:gridCol w="2766060"/>
                <a:gridCol w="2766060"/>
                <a:gridCol w="2766060"/>
                <a:gridCol w="2766060"/>
              </a:tblGrid>
              <a:tr h="729081">
                <a:tc>
                  <a:txBody>
                    <a:bodyPr wrap="square"/>
                    <a:lstStyle/>
                    <a:p>
                      <a:r>
                        <a:rPr sz="1725" b="1">
                          <a:solidFill>
                            <a:srgbClr val="FFFFFF"/>
                          </a:solidFill>
                          <a:latin typeface="Aptos"/>
                        </a:rPr>
                        <a:t>Reto</a:t>
                      </a:r>
                    </a:p>
                  </a:txBody>
                  <a:tcPr anchor="ctr" marL="146304" marR="146304">
                    <a:solidFill>
                      <a:srgbClr val="156082"/>
                    </a:solidFill>
                  </a:tcPr>
                </a:tc>
                <a:tc>
                  <a:txBody>
                    <a:bodyPr wrap="square"/>
                    <a:lstStyle/>
                    <a:p>
                      <a:r>
                        <a:rPr sz="1725" b="1">
                          <a:solidFill>
                            <a:srgbClr val="FFFFFF"/>
                          </a:solidFill>
                          <a:latin typeface="Aptos"/>
                        </a:rPr>
                        <a:t>Problema</a:t>
                      </a:r>
                    </a:p>
                  </a:txBody>
                  <a:tcPr anchor="ctr" marL="146304" marR="146304">
                    <a:solidFill>
                      <a:srgbClr val="156082"/>
                    </a:solidFill>
                  </a:tcPr>
                </a:tc>
                <a:tc>
                  <a:txBody>
                    <a:bodyPr wrap="square"/>
                    <a:lstStyle/>
                    <a:p>
                      <a:r>
                        <a:rPr sz="1725" b="1">
                          <a:solidFill>
                            <a:srgbClr val="FFFFFF"/>
                          </a:solidFill>
                          <a:latin typeface="Aptos"/>
                        </a:rPr>
                        <a:t>v1 sugerida</a:t>
                      </a:r>
                    </a:p>
                  </a:txBody>
                  <a:tcPr anchor="ctr" marL="146304" marR="146304">
                    <a:solidFill>
                      <a:srgbClr val="156082"/>
                    </a:solidFill>
                  </a:tcPr>
                </a:tc>
                <a:tc>
                  <a:txBody>
                    <a:bodyPr wrap="square"/>
                    <a:lstStyle/>
                    <a:p>
                      <a:r>
                        <a:rPr sz="1725" b="1">
                          <a:solidFill>
                            <a:srgbClr val="FFFFFF"/>
                          </a:solidFill>
                          <a:latin typeface="Aptos"/>
                        </a:rPr>
                        <a:t>v2 candidatas</a:t>
                      </a:r>
                    </a:p>
                  </a:txBody>
                  <a:tcPr anchor="ctr" marL="146304" marR="146304">
                    <a:solidFill>
                      <a:srgbClr val="156082"/>
                    </a:solidFill>
                  </a:tcPr>
                </a:tc>
              </a:tr>
              <a:tr h="729081">
                <a:tc>
                  <a:txBody>
                    <a:bodyPr wrap="square"/>
                    <a:lstStyle/>
                    <a:p>
                      <a:r>
                        <a:rPr sz="1609" b="1">
                          <a:solidFill>
                            <a:srgbClr val="33475B"/>
                          </a:solidFill>
                          <a:latin typeface="Aptos"/>
                        </a:rPr>
                        <a:t>TrazaCafé</a:t>
                      </a:r>
                    </a:p>
                  </a:txBody>
                  <a:tcPr anchor="ctr" marL="146304" marR="146304">
                    <a:solidFill>
                      <a:srgbClr val="FFFFFF"/>
                    </a:solidFill>
                  </a:tcPr>
                </a:tc>
                <a:tc>
                  <a:txBody>
                    <a:bodyPr wrap="square"/>
                    <a:lstStyle/>
                    <a:p>
                      <a:r>
                        <a:rPr sz="1609" b="0">
                          <a:solidFill>
                            <a:srgbClr val="33475B"/>
                          </a:solidFill>
                          <a:latin typeface="Aptos"/>
                        </a:rPr>
                        <a:t>Trazabilidad de café especial</a:t>
                      </a:r>
                    </a:p>
                  </a:txBody>
                  <a:tcPr anchor="ctr" marL="146304" marR="146304">
                    <a:solidFill>
                      <a:srgbClr val="FFFFFF"/>
                    </a:solidFill>
                  </a:tcPr>
                </a:tc>
                <a:tc>
                  <a:txBody>
                    <a:bodyPr wrap="square"/>
                    <a:lstStyle/>
                    <a:p>
                      <a:r>
                        <a:rPr sz="1609" b="0">
                          <a:solidFill>
                            <a:srgbClr val="33475B"/>
                          </a:solidFill>
                          <a:latin typeface="Aptos"/>
                        </a:rPr>
                        <a:t>Capas</a:t>
                      </a:r>
                    </a:p>
                  </a:txBody>
                  <a:tcPr anchor="ctr" marL="146304" marR="146304">
                    <a:solidFill>
                      <a:srgbClr val="FFFFFF"/>
                    </a:solidFill>
                  </a:tcPr>
                </a:tc>
                <a:tc>
                  <a:txBody>
                    <a:bodyPr wrap="square"/>
                    <a:lstStyle/>
                    <a:p>
                      <a:r>
                        <a:rPr sz="1609" b="0">
                          <a:solidFill>
                            <a:srgbClr val="33475B"/>
                          </a:solidFill>
                          <a:latin typeface="Aptos"/>
                        </a:rPr>
                        <a:t>Event-driven, CQRS</a:t>
                      </a:r>
                    </a:p>
                  </a:txBody>
                  <a:tcPr anchor="ctr" marL="146304" marR="146304">
                    <a:solidFill>
                      <a:srgbClr val="FFFFFF"/>
                    </a:solidFill>
                  </a:tcPr>
                </a:tc>
              </a:tr>
              <a:tr h="729081">
                <a:tc>
                  <a:txBody>
                    <a:bodyPr wrap="square"/>
                    <a:lstStyle/>
                    <a:p>
                      <a:r>
                        <a:rPr sz="1609" b="1">
                          <a:solidFill>
                            <a:srgbClr val="33475B"/>
                          </a:solidFill>
                          <a:latin typeface="Aptos"/>
                        </a:rPr>
                        <a:t>RutaSur</a:t>
                      </a:r>
                    </a:p>
                  </a:txBody>
                  <a:tcPr anchor="ctr" marL="146304" marR="146304">
                    <a:solidFill>
                      <a:srgbClr val="F4F7FA"/>
                    </a:solidFill>
                  </a:tcPr>
                </a:tc>
                <a:tc>
                  <a:txBody>
                    <a:bodyPr wrap="square"/>
                    <a:lstStyle/>
                    <a:p>
                      <a:r>
                        <a:rPr sz="1609" b="0">
                          <a:solidFill>
                            <a:srgbClr val="33475B"/>
                          </a:solidFill>
                          <a:latin typeface="Aptos"/>
                        </a:rPr>
                        <a:t>Reservas de turismo regional</a:t>
                      </a:r>
                    </a:p>
                  </a:txBody>
                  <a:tcPr anchor="ctr" marL="146304" marR="146304">
                    <a:solidFill>
                      <a:srgbClr val="F4F7FA"/>
                    </a:solidFill>
                  </a:tcPr>
                </a:tc>
                <a:tc>
                  <a:txBody>
                    <a:bodyPr wrap="square"/>
                    <a:lstStyle/>
                    <a:p>
                      <a:r>
                        <a:rPr sz="1609" b="0">
                          <a:solidFill>
                            <a:srgbClr val="33475B"/>
                          </a:solidFill>
                          <a:latin typeface="Aptos"/>
                        </a:rPr>
                        <a:t>MVC sobre capas</a:t>
                      </a:r>
                    </a:p>
                  </a:txBody>
                  <a:tcPr anchor="ctr" marL="146304" marR="146304">
                    <a:solidFill>
                      <a:srgbClr val="F4F7FA"/>
                    </a:solidFill>
                  </a:tcPr>
                </a:tc>
                <a:tc>
                  <a:txBody>
                    <a:bodyPr wrap="square"/>
                    <a:lstStyle/>
                    <a:p>
                      <a:r>
                        <a:rPr sz="1609" b="0">
                          <a:solidFill>
                            <a:srgbClr val="33475B"/>
                          </a:solidFill>
                          <a:latin typeface="Aptos"/>
                        </a:rPr>
                        <a:t>Microservicios, eventos</a:t>
                      </a:r>
                    </a:p>
                  </a:txBody>
                  <a:tcPr anchor="ctr" marL="146304" marR="146304">
                    <a:solidFill>
                      <a:srgbClr val="F4F7FA"/>
                    </a:solidFill>
                  </a:tcPr>
                </a:tc>
              </a:tr>
              <a:tr h="729081">
                <a:tc>
                  <a:txBody>
                    <a:bodyPr wrap="square"/>
                    <a:lstStyle/>
                    <a:p>
                      <a:r>
                        <a:rPr sz="1609" b="1">
                          <a:solidFill>
                            <a:srgbClr val="33475B"/>
                          </a:solidFill>
                          <a:latin typeface="Aptos"/>
                        </a:rPr>
                        <a:t>AquaBetania</a:t>
                      </a:r>
                    </a:p>
                  </a:txBody>
                  <a:tcPr anchor="ctr" marL="146304" marR="146304">
                    <a:solidFill>
                      <a:srgbClr val="FFFFFF"/>
                    </a:solidFill>
                  </a:tcPr>
                </a:tc>
                <a:tc>
                  <a:txBody>
                    <a:bodyPr wrap="square"/>
                    <a:lstStyle/>
                    <a:p>
                      <a:r>
                        <a:rPr sz="1609" b="0">
                          <a:solidFill>
                            <a:srgbClr val="33475B"/>
                          </a:solidFill>
                          <a:latin typeface="Aptos"/>
                        </a:rPr>
                        <a:t>Sensores en estanques piscícolas</a:t>
                      </a:r>
                    </a:p>
                  </a:txBody>
                  <a:tcPr anchor="ctr" marL="146304" marR="146304">
                    <a:solidFill>
                      <a:srgbClr val="FFFFFF"/>
                    </a:solidFill>
                  </a:tcPr>
                </a:tc>
                <a:tc>
                  <a:txBody>
                    <a:bodyPr wrap="square"/>
                    <a:lstStyle/>
                    <a:p>
                      <a:r>
                        <a:rPr sz="1609" b="0">
                          <a:solidFill>
                            <a:srgbClr val="33475B"/>
                          </a:solidFill>
                          <a:latin typeface="Aptos"/>
                        </a:rPr>
                        <a:t>Pipes and filters</a:t>
                      </a:r>
                    </a:p>
                  </a:txBody>
                  <a:tcPr anchor="ctr" marL="146304" marR="146304">
                    <a:solidFill>
                      <a:srgbClr val="FFFFFF"/>
                    </a:solidFill>
                  </a:tcPr>
                </a:tc>
                <a:tc>
                  <a:txBody>
                    <a:bodyPr wrap="square"/>
                    <a:lstStyle/>
                    <a:p>
                      <a:r>
                        <a:rPr sz="1609" b="0">
                          <a:solidFill>
                            <a:srgbClr val="33475B"/>
                          </a:solidFill>
                          <a:latin typeface="Aptos"/>
                        </a:rPr>
                        <a:t>Event-driven, serverless</a:t>
                      </a:r>
                    </a:p>
                  </a:txBody>
                  <a:tcPr anchor="ctr" marL="146304" marR="146304">
                    <a:solidFill>
                      <a:srgbClr val="FFFFFF"/>
                    </a:solidFill>
                  </a:tcPr>
                </a:tc>
              </a:tr>
              <a:tr h="729081">
                <a:tc>
                  <a:txBody>
                    <a:bodyPr wrap="square"/>
                    <a:lstStyle/>
                    <a:p>
                      <a:r>
                        <a:rPr sz="1609" b="1">
                          <a:solidFill>
                            <a:srgbClr val="33475B"/>
                          </a:solidFill>
                          <a:latin typeface="Aptos"/>
                        </a:rPr>
                        <a:t>CitaSalud</a:t>
                      </a:r>
                    </a:p>
                  </a:txBody>
                  <a:tcPr anchor="ctr" marL="146304" marR="146304">
                    <a:solidFill>
                      <a:srgbClr val="F4F7FA"/>
                    </a:solidFill>
                  </a:tcPr>
                </a:tc>
                <a:tc>
                  <a:txBody>
                    <a:bodyPr wrap="square"/>
                    <a:lstStyle/>
                    <a:p>
                      <a:r>
                        <a:rPr sz="1609" b="0">
                          <a:solidFill>
                            <a:srgbClr val="33475B"/>
                          </a:solidFill>
                          <a:latin typeface="Aptos"/>
                        </a:rPr>
                        <a:t>Citas en una red de IPS</a:t>
                      </a:r>
                    </a:p>
                  </a:txBody>
                  <a:tcPr anchor="ctr" marL="146304" marR="146304">
                    <a:solidFill>
                      <a:srgbClr val="F4F7FA"/>
                    </a:solidFill>
                  </a:tcPr>
                </a:tc>
                <a:tc>
                  <a:txBody>
                    <a:bodyPr wrap="square"/>
                    <a:lstStyle/>
                    <a:p>
                      <a:r>
                        <a:rPr sz="1609" b="0">
                          <a:solidFill>
                            <a:srgbClr val="33475B"/>
                          </a:solidFill>
                          <a:latin typeface="Aptos"/>
                        </a:rPr>
                        <a:t>Capas con MVC</a:t>
                      </a:r>
                    </a:p>
                  </a:txBody>
                  <a:tcPr anchor="ctr" marL="146304" marR="146304">
                    <a:solidFill>
                      <a:srgbClr val="F4F7FA"/>
                    </a:solidFill>
                  </a:tcPr>
                </a:tc>
                <a:tc>
                  <a:txBody>
                    <a:bodyPr wrap="square"/>
                    <a:lstStyle/>
                    <a:p>
                      <a:r>
                        <a:rPr sz="1609" b="0">
                          <a:solidFill>
                            <a:srgbClr val="33475B"/>
                          </a:solidFill>
                          <a:latin typeface="Aptos"/>
                        </a:rPr>
                        <a:t>Hexagonal, CQRS</a:t>
                      </a:r>
                    </a:p>
                  </a:txBody>
                  <a:tcPr anchor="ctr" marL="146304" marR="146304">
                    <a:solidFill>
                      <a:srgbClr val="F4F7FA"/>
                    </a:solidFill>
                  </a:tcPr>
                </a:tc>
              </a:tr>
              <a:tr h="729081">
                <a:tc>
                  <a:txBody>
                    <a:bodyPr wrap="square"/>
                    <a:lstStyle/>
                    <a:p>
                      <a:r>
                        <a:rPr sz="1609" b="1">
                          <a:solidFill>
                            <a:srgbClr val="33475B"/>
                          </a:solidFill>
                          <a:latin typeface="Aptos"/>
                        </a:rPr>
                        <a:t>PQRS Ciudadana</a:t>
                      </a:r>
                    </a:p>
                  </a:txBody>
                  <a:tcPr anchor="ctr" marL="146304" marR="146304">
                    <a:solidFill>
                      <a:srgbClr val="FFFFFF"/>
                    </a:solidFill>
                  </a:tcPr>
                </a:tc>
                <a:tc>
                  <a:txBody>
                    <a:bodyPr wrap="square"/>
                    <a:lstStyle/>
                    <a:p>
                      <a:r>
                        <a:rPr sz="1609" b="0">
                          <a:solidFill>
                            <a:srgbClr val="33475B"/>
                          </a:solidFill>
                          <a:latin typeface="Aptos"/>
                        </a:rPr>
                        <a:t>Peticiones de una alcaldía</a:t>
                      </a:r>
                    </a:p>
                  </a:txBody>
                  <a:tcPr anchor="ctr" marL="146304" marR="146304">
                    <a:solidFill>
                      <a:srgbClr val="FFFFFF"/>
                    </a:solidFill>
                  </a:tcPr>
                </a:tc>
                <a:tc>
                  <a:txBody>
                    <a:bodyPr wrap="square"/>
                    <a:lstStyle/>
                    <a:p>
                      <a:r>
                        <a:rPr sz="1609" b="0">
                          <a:solidFill>
                            <a:srgbClr val="33475B"/>
                          </a:solidFill>
                          <a:latin typeface="Aptos"/>
                        </a:rPr>
                        <a:t>MVC sobre capas</a:t>
                      </a:r>
                    </a:p>
                  </a:txBody>
                  <a:tcPr anchor="ctr" marL="146304" marR="146304">
                    <a:solidFill>
                      <a:srgbClr val="FFFFFF"/>
                    </a:solidFill>
                  </a:tcPr>
                </a:tc>
                <a:tc>
                  <a:txBody>
                    <a:bodyPr wrap="square"/>
                    <a:lstStyle/>
                    <a:p>
                      <a:r>
                        <a:rPr sz="1609" b="0">
                          <a:solidFill>
                            <a:srgbClr val="33475B"/>
                          </a:solidFill>
                          <a:latin typeface="Aptos"/>
                        </a:rPr>
                        <a:t>Hexagonal, eventos</a:t>
                      </a:r>
                    </a:p>
                  </a:txBody>
                  <a:tcPr anchor="ctr" marL="146304" marR="146304">
                    <a:solidFill>
                      <a:srgbClr val="FFFFFF"/>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38 / 45</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El FO-IV-159 cierra el proyecto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Oval 6"/>
          <p:cNvSpPr/>
          <p:nvPr/>
        </p:nvSpPr>
        <p:spPr>
          <a:xfrm>
            <a:off x="585216" y="218815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810511"/>
            <a:ext cx="10698480" cy="855878"/>
          </a:xfrm>
          <a:prstGeom prst="rect">
            <a:avLst/>
          </a:prstGeom>
          <a:noFill/>
        </p:spPr>
        <p:txBody>
          <a:bodyPr wrap="square" anchor="ctr" lIns="0" rIns="0" tIns="0" bIns="0">
            <a:spAutoFit/>
          </a:bodyPr>
          <a:lstStyle/>
          <a:p>
            <a:pPr algn="l"/>
            <a:r>
              <a:rPr sz="2772" b="1">
                <a:solidFill>
                  <a:srgbClr val="0E2841"/>
                </a:solidFill>
                <a:latin typeface="Aptos"/>
              </a:rPr>
              <a:t>Un informe por equipo</a:t>
            </a:r>
          </a:p>
        </p:txBody>
      </p:sp>
      <p:sp>
        <p:nvSpPr>
          <p:cNvPr id="9" name="Oval 8"/>
          <p:cNvSpPr/>
          <p:nvPr/>
        </p:nvSpPr>
        <p:spPr>
          <a:xfrm>
            <a:off x="585216" y="3044037"/>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666390"/>
            <a:ext cx="10698480" cy="855878"/>
          </a:xfrm>
          <a:prstGeom prst="rect">
            <a:avLst/>
          </a:prstGeom>
          <a:noFill/>
        </p:spPr>
        <p:txBody>
          <a:bodyPr wrap="square" anchor="ctr" lIns="0" rIns="0" tIns="0" bIns="0">
            <a:spAutoFit/>
          </a:bodyPr>
          <a:lstStyle/>
          <a:p>
            <a:pPr algn="l"/>
            <a:r>
              <a:rPr sz="2772" b="1">
                <a:solidFill>
                  <a:srgbClr val="0E2841"/>
                </a:solidFill>
                <a:latin typeface="Aptos"/>
              </a:rPr>
              <a:t>Cuenta en el 40 % de la A3</a:t>
            </a:r>
          </a:p>
        </p:txBody>
      </p:sp>
      <p:sp>
        <p:nvSpPr>
          <p:cNvPr id="11" name="Oval 10"/>
          <p:cNvSpPr/>
          <p:nvPr/>
        </p:nvSpPr>
        <p:spPr>
          <a:xfrm>
            <a:off x="585216" y="3899915"/>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3522268"/>
            <a:ext cx="10698480" cy="855878"/>
          </a:xfrm>
          <a:prstGeom prst="rect">
            <a:avLst/>
          </a:prstGeom>
          <a:noFill/>
        </p:spPr>
        <p:txBody>
          <a:bodyPr wrap="square" anchor="ctr" lIns="0" rIns="0" tIns="0" bIns="0">
            <a:spAutoFit/>
          </a:bodyPr>
          <a:lstStyle/>
          <a:p>
            <a:pPr algn="l"/>
            <a:r>
              <a:rPr sz="2772" b="1">
                <a:solidFill>
                  <a:srgbClr val="0E2841"/>
                </a:solidFill>
                <a:latin typeface="Aptos"/>
              </a:rPr>
              <a:t>Anexo 2: documento técnico y repositorio</a:t>
            </a:r>
          </a:p>
        </p:txBody>
      </p:sp>
      <p:sp>
        <p:nvSpPr>
          <p:cNvPr id="13" name="Oval 12"/>
          <p:cNvSpPr/>
          <p:nvPr/>
        </p:nvSpPr>
        <p:spPr>
          <a:xfrm>
            <a:off x="585216" y="475579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4378147"/>
            <a:ext cx="10698480" cy="855878"/>
          </a:xfrm>
          <a:prstGeom prst="rect">
            <a:avLst/>
          </a:prstGeom>
          <a:noFill/>
        </p:spPr>
        <p:txBody>
          <a:bodyPr wrap="square" anchor="ctr" lIns="0" rIns="0" tIns="0" bIns="0">
            <a:spAutoFit/>
          </a:bodyPr>
          <a:lstStyle/>
          <a:p>
            <a:pPr algn="l"/>
            <a:r>
              <a:rPr sz="2772" b="1">
                <a:solidFill>
                  <a:srgbClr val="0E2841"/>
                </a:solidFill>
                <a:latin typeface="Aptos"/>
              </a:rPr>
              <a:t>Identificaciones solo en el aula</a:t>
            </a:r>
          </a:p>
        </p:txBody>
      </p:sp>
      <p:sp>
        <p:nvSpPr>
          <p:cNvPr id="15" name="Oval 14"/>
          <p:cNvSpPr/>
          <p:nvPr/>
        </p:nvSpPr>
        <p:spPr>
          <a:xfrm>
            <a:off x="585216" y="561167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234025"/>
            <a:ext cx="10698480" cy="855878"/>
          </a:xfrm>
          <a:prstGeom prst="rect">
            <a:avLst/>
          </a:prstGeom>
          <a:noFill/>
        </p:spPr>
        <p:txBody>
          <a:bodyPr wrap="square" anchor="ctr" lIns="0" rIns="0" tIns="0" bIns="0">
            <a:spAutoFit/>
          </a:bodyPr>
          <a:lstStyle/>
          <a:p>
            <a:pPr algn="l"/>
            <a:r>
              <a:rPr sz="2772" b="1">
                <a:solidFill>
                  <a:srgbClr val="0E2841"/>
                </a:solidFill>
                <a:latin typeface="Aptos"/>
              </a:rPr>
              <a:t>Formato y plantilla en la Guía</a:t>
            </a:r>
          </a:p>
        </p:txBody>
      </p:sp>
      <p:sp>
        <p:nvSpPr>
          <p:cNvPr id="17" name="TextBox 16"/>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18" name="TextBox 17"/>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39 / 45</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Para el martes 13: equipo y reto</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68096"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1</a:t>
            </a:r>
          </a:p>
        </p:txBody>
      </p:sp>
      <p:sp>
        <p:nvSpPr>
          <p:cNvPr id="10" name="TextBox 9"/>
          <p:cNvSpPr txBox="1"/>
          <p:nvPr/>
        </p:nvSpPr>
        <p:spPr>
          <a:xfrm>
            <a:off x="768096"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Formar equipo</a:t>
            </a:r>
          </a:p>
          <a:p>
            <a:pPr algn="l">
              <a:lnSpc>
                <a:spcPct val="120000"/>
              </a:lnSpc>
              <a:spcBef>
                <a:spcPts val="700"/>
              </a:spcBef>
            </a:pPr>
            <a:r>
              <a:rPr sz="1560" b="0">
                <a:solidFill>
                  <a:srgbClr val="33475B"/>
                </a:solidFill>
                <a:latin typeface="Aptos"/>
              </a:rPr>
              <a:t>2 o 3 integrantes</a:t>
            </a:r>
          </a:p>
        </p:txBody>
      </p:sp>
      <p:sp>
        <p:nvSpPr>
          <p:cNvPr id="11" name="Rounded Rectangle 10"/>
          <p:cNvSpPr/>
          <p:nvPr/>
        </p:nvSpPr>
        <p:spPr>
          <a:xfrm>
            <a:off x="3410712"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3611880" y="2368296"/>
            <a:ext cx="475488" cy="475488"/>
          </a:xfrm>
          <a:prstGeom prst="ellipse">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2</a:t>
            </a:r>
          </a:p>
        </p:txBody>
      </p:sp>
      <p:sp>
        <p:nvSpPr>
          <p:cNvPr id="14" name="TextBox 13"/>
          <p:cNvSpPr txBox="1"/>
          <p:nvPr/>
        </p:nvSpPr>
        <p:spPr>
          <a:xfrm>
            <a:off x="3611880"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Elegir reto</a:t>
            </a:r>
          </a:p>
          <a:p>
            <a:pPr algn="l">
              <a:lnSpc>
                <a:spcPct val="120000"/>
              </a:lnSpc>
              <a:spcBef>
                <a:spcPts val="700"/>
              </a:spcBef>
            </a:pPr>
            <a:r>
              <a:rPr sz="1560" b="0">
                <a:solidFill>
                  <a:srgbClr val="33475B"/>
                </a:solidFill>
                <a:latin typeface="Aptos"/>
              </a:rPr>
              <a:t>uno del catálogo</a:t>
            </a:r>
          </a:p>
        </p:txBody>
      </p:sp>
      <p:sp>
        <p:nvSpPr>
          <p:cNvPr id="15" name="Rounded Rectangle 14"/>
          <p:cNvSpPr/>
          <p:nvPr/>
        </p:nvSpPr>
        <p:spPr>
          <a:xfrm>
            <a:off x="6254496"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455664" y="2368296"/>
            <a:ext cx="475488" cy="475488"/>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55664"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3</a:t>
            </a:r>
          </a:p>
        </p:txBody>
      </p:sp>
      <p:sp>
        <p:nvSpPr>
          <p:cNvPr id="18" name="TextBox 17"/>
          <p:cNvSpPr txBox="1"/>
          <p:nvPr/>
        </p:nvSpPr>
        <p:spPr>
          <a:xfrm>
            <a:off x="6455664"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Delimitar alcance</a:t>
            </a:r>
          </a:p>
          <a:p>
            <a:pPr algn="l">
              <a:lnSpc>
                <a:spcPct val="120000"/>
              </a:lnSpc>
              <a:spcBef>
                <a:spcPts val="700"/>
              </a:spcBef>
            </a:pPr>
            <a:r>
              <a:rPr sz="1560" b="0">
                <a:solidFill>
                  <a:srgbClr val="33475B"/>
                </a:solidFill>
                <a:latin typeface="Aptos"/>
              </a:rPr>
              <a:t>si el reto se repite</a:t>
            </a:r>
          </a:p>
        </p:txBody>
      </p:sp>
      <p:sp>
        <p:nvSpPr>
          <p:cNvPr id="19" name="Rounded Rectangle 18"/>
          <p:cNvSpPr/>
          <p:nvPr/>
        </p:nvSpPr>
        <p:spPr>
          <a:xfrm>
            <a:off x="9098280" y="2532888"/>
            <a:ext cx="2532888" cy="283464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9299448" y="2368296"/>
            <a:ext cx="475488" cy="475488"/>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9448" y="2368296"/>
            <a:ext cx="475488" cy="475488"/>
          </a:xfrm>
          <a:prstGeom prst="rect">
            <a:avLst/>
          </a:prstGeom>
          <a:noFill/>
        </p:spPr>
        <p:txBody>
          <a:bodyPr wrap="square" anchor="ctr" lIns="0" rIns="0" tIns="0" bIns="0">
            <a:spAutoFit/>
          </a:bodyPr>
          <a:lstStyle/>
          <a:p>
            <a:pPr algn="ctr"/>
            <a:r>
              <a:rPr sz="1700" b="1">
                <a:solidFill>
                  <a:srgbClr val="FFFFFF"/>
                </a:solidFill>
                <a:latin typeface="Aptos Display"/>
              </a:rPr>
              <a:t>4</a:t>
            </a:r>
          </a:p>
        </p:txBody>
      </p:sp>
      <p:sp>
        <p:nvSpPr>
          <p:cNvPr id="22" name="TextBox 21"/>
          <p:cNvSpPr txBox="1"/>
          <p:nvPr/>
        </p:nvSpPr>
        <p:spPr>
          <a:xfrm>
            <a:off x="9299448" y="3008376"/>
            <a:ext cx="2130552" cy="2176272"/>
          </a:xfrm>
          <a:prstGeom prst="rect">
            <a:avLst/>
          </a:prstGeom>
          <a:noFill/>
        </p:spPr>
        <p:txBody>
          <a:bodyPr wrap="square" anchor="t" lIns="0" rIns="0" tIns="0" bIns="0">
            <a:spAutoFit/>
          </a:bodyPr>
          <a:lstStyle/>
          <a:p>
            <a:pPr algn="l"/>
            <a:r>
              <a:rPr sz="1980" b="1">
                <a:solidFill>
                  <a:srgbClr val="0E2841"/>
                </a:solidFill>
                <a:latin typeface="Aptos Display"/>
              </a:rPr>
              <a:t>Avisar al tutor</a:t>
            </a:r>
          </a:p>
          <a:p>
            <a:pPr algn="l">
              <a:lnSpc>
                <a:spcPct val="120000"/>
              </a:lnSpc>
              <a:spcBef>
                <a:spcPts val="700"/>
              </a:spcBef>
            </a:pPr>
            <a:r>
              <a:rPr sz="1560" b="0">
                <a:solidFill>
                  <a:srgbClr val="33475B"/>
                </a:solidFill>
                <a:latin typeface="Aptos"/>
              </a:rPr>
              <a:t>mensaje por el aula</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40 / 45</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56082"/>
        </a:solidFill>
        <a:effectLst/>
      </p:bgPr>
    </p:bg>
    <p:spTree>
      <p:nvGrpSpPr>
        <p:cNvPr id="1" name=""/>
        <p:cNvGrpSpPr/>
        <p:nvPr/>
      </p:nvGrpSpPr>
      <p:grpSpPr/>
      <p:sp>
        <p:nvSpPr>
          <p:cNvPr id="2" name="TextBox 1"/>
          <p:cNvSpPr txBox="1"/>
          <p:nvPr/>
        </p:nvSpPr>
        <p:spPr>
          <a:xfrm>
            <a:off x="0" y="960120"/>
            <a:ext cx="12191695" cy="2011680"/>
          </a:xfrm>
          <a:prstGeom prst="rect">
            <a:avLst/>
          </a:prstGeom>
          <a:noFill/>
        </p:spPr>
        <p:txBody>
          <a:bodyPr wrap="square" anchor="t" lIns="0" rIns="0" tIns="0" bIns="0">
            <a:spAutoFit/>
          </a:bodyPr>
          <a:lstStyle/>
          <a:p>
            <a:pPr algn="ctr"/>
            <a:r>
              <a:rPr sz="12800" b="1">
                <a:solidFill>
                  <a:srgbClr val="0E2841"/>
                </a:solidFill>
                <a:latin typeface="Aptos Display"/>
              </a:rPr>
              <a:t>08</a:t>
            </a:r>
          </a:p>
        </p:txBody>
      </p:sp>
      <p:sp>
        <p:nvSpPr>
          <p:cNvPr id="3" name="Rectangle 2"/>
          <p:cNvSpPr/>
          <p:nvPr/>
        </p:nvSpPr>
        <p:spPr>
          <a:xfrm>
            <a:off x="5184648" y="3127248"/>
            <a:ext cx="1828800" cy="635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3429000"/>
            <a:ext cx="10698480" cy="1097280"/>
          </a:xfrm>
          <a:prstGeom prst="rect">
            <a:avLst/>
          </a:prstGeom>
          <a:noFill/>
        </p:spPr>
        <p:txBody>
          <a:bodyPr wrap="square" anchor="t" lIns="0" rIns="0" tIns="0" bIns="0">
            <a:spAutoFit/>
          </a:bodyPr>
          <a:lstStyle/>
          <a:p>
            <a:pPr algn="ctr"/>
            <a:r>
              <a:rPr sz="4000" b="1">
                <a:solidFill>
                  <a:srgbClr val="FFFFFF"/>
                </a:solidFill>
                <a:latin typeface="Aptos Display"/>
              </a:rPr>
              <a:t>8. Cierre</a:t>
            </a:r>
          </a:p>
        </p:txBody>
      </p:sp>
      <p:pic>
        <p:nvPicPr>
          <p:cNvPr id="5" name="Picture 4" descr="Logo-Institucional-con-advertencia-Vigilado-Mineducacion-Blanco.png"/>
          <p:cNvPicPr>
            <a:picLocks noChangeAspect="1"/>
          </p:cNvPicPr>
          <p:nvPr/>
        </p:nvPicPr>
        <p:blipFill>
          <a:blip r:embed="rId2"/>
          <a:stretch>
            <a:fillRect/>
          </a:stretch>
        </p:blipFill>
        <p:spPr>
          <a:xfrm>
            <a:off x="10938117" y="5943600"/>
            <a:ext cx="750963" cy="685800"/>
          </a:xfrm>
          <a:prstGeom prst="rect">
            <a:avLst/>
          </a:prstGeom>
        </p:spPr>
      </p:pic>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Del concepto al Hito 1</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graphicFrame>
        <p:nvGraphicFramePr>
          <p:cNvPr id="7" name="Table 6"/>
          <p:cNvGraphicFramePr>
            <a:graphicFrameLocks noGrp="1"/>
          </p:cNvGraphicFramePr>
          <p:nvPr/>
        </p:nvGraphicFramePr>
        <p:xfrm>
          <a:off x="566928" y="1762963"/>
          <a:ext cx="11064240" cy="4374485"/>
        </p:xfrm>
        <a:graphic>
          <a:graphicData uri="http://schemas.openxmlformats.org/drawingml/2006/table">
            <a:tbl>
              <a:tblPr firstRow="1">
                <a:tableStyleId>{5C22544A-7EE6-4342-B048-85BDC9FD1C3A}</a:tableStyleId>
              </a:tblPr>
              <a:tblGrid>
                <a:gridCol w="5532120"/>
                <a:gridCol w="5532120"/>
              </a:tblGrid>
              <a:tr h="874897">
                <a:tc>
                  <a:txBody>
                    <a:bodyPr wrap="square"/>
                    <a:lstStyle/>
                    <a:p>
                      <a:r>
                        <a:rPr sz="1725" b="1">
                          <a:solidFill>
                            <a:srgbClr val="FFFFFF"/>
                          </a:solidFill>
                          <a:latin typeface="Aptos"/>
                        </a:rPr>
                        <a:t>La A1 pide</a:t>
                      </a:r>
                    </a:p>
                  </a:txBody>
                  <a:tcPr anchor="ctr" marL="146304" marR="146304">
                    <a:solidFill>
                      <a:srgbClr val="156082"/>
                    </a:solidFill>
                  </a:tcPr>
                </a:tc>
                <a:tc>
                  <a:txBody>
                    <a:bodyPr wrap="square"/>
                    <a:lstStyle/>
                    <a:p>
                      <a:r>
                        <a:rPr sz="1725" b="1">
                          <a:solidFill>
                            <a:srgbClr val="FFFFFF"/>
                          </a:solidFill>
                          <a:latin typeface="Aptos"/>
                        </a:rPr>
                        <a:t>Con tu reto</a:t>
                      </a:r>
                    </a:p>
                  </a:txBody>
                  <a:tcPr anchor="ctr" marL="146304" marR="146304">
                    <a:solidFill>
                      <a:srgbClr val="156082"/>
                    </a:solidFill>
                  </a:tcPr>
                </a:tc>
              </a:tr>
              <a:tr h="874897">
                <a:tc>
                  <a:txBody>
                    <a:bodyPr wrap="square"/>
                    <a:lstStyle/>
                    <a:p>
                      <a:r>
                        <a:rPr sz="1609" b="1">
                          <a:solidFill>
                            <a:srgbClr val="33475B"/>
                          </a:solidFill>
                          <a:latin typeface="Aptos"/>
                        </a:rPr>
                        <a:t>Introducción</a:t>
                      </a:r>
                    </a:p>
                  </a:txBody>
                  <a:tcPr anchor="ctr" marL="146304" marR="146304">
                    <a:solidFill>
                      <a:srgbClr val="FFFFFF"/>
                    </a:solidFill>
                  </a:tcPr>
                </a:tc>
                <a:tc>
                  <a:txBody>
                    <a:bodyPr wrap="square"/>
                    <a:lstStyle/>
                    <a:p>
                      <a:r>
                        <a:rPr sz="1609" b="0">
                          <a:solidFill>
                            <a:srgbClr val="33475B"/>
                          </a:solidFill>
                          <a:latin typeface="Aptos"/>
                        </a:rPr>
                        <a:t>Por qué la arquitectura decide en este reto</a:t>
                      </a:r>
                    </a:p>
                  </a:txBody>
                  <a:tcPr anchor="ctr" marL="146304" marR="146304">
                    <a:solidFill>
                      <a:srgbClr val="FFFFFF"/>
                    </a:solidFill>
                  </a:tcPr>
                </a:tc>
              </a:tr>
              <a:tr h="874897">
                <a:tc>
                  <a:txBody>
                    <a:bodyPr wrap="square"/>
                    <a:lstStyle/>
                    <a:p>
                      <a:r>
                        <a:rPr sz="1609" b="1">
                          <a:solidFill>
                            <a:srgbClr val="33475B"/>
                          </a:solidFill>
                          <a:latin typeface="Aptos"/>
                        </a:rPr>
                        <a:t>Definición y clasificación</a:t>
                      </a:r>
                    </a:p>
                  </a:txBody>
                  <a:tcPr anchor="ctr" marL="146304" marR="146304">
                    <a:solidFill>
                      <a:srgbClr val="F4F7FA"/>
                    </a:solidFill>
                  </a:tcPr>
                </a:tc>
                <a:tc>
                  <a:txBody>
                    <a:bodyPr wrap="square"/>
                    <a:lstStyle/>
                    <a:p>
                      <a:r>
                        <a:rPr sz="1609" b="0">
                          <a:solidFill>
                            <a:srgbClr val="33475B"/>
                          </a:solidFill>
                          <a:latin typeface="Aptos"/>
                        </a:rPr>
                        <a:t>Clásicos vs modernos frente a sus atributos</a:t>
                      </a:r>
                    </a:p>
                  </a:txBody>
                  <a:tcPr anchor="ctr" marL="146304" marR="146304">
                    <a:solidFill>
                      <a:srgbClr val="F4F7FA"/>
                    </a:solidFill>
                  </a:tcPr>
                </a:tc>
              </a:tr>
              <a:tr h="874897">
                <a:tc>
                  <a:txBody>
                    <a:bodyPr wrap="square"/>
                    <a:lstStyle/>
                    <a:p>
                      <a:r>
                        <a:rPr sz="1609" b="1">
                          <a:solidFill>
                            <a:srgbClr val="33475B"/>
                          </a:solidFill>
                          <a:latin typeface="Aptos"/>
                        </a:rPr>
                        <a:t>Análisis de tres clásicos</a:t>
                      </a:r>
                    </a:p>
                  </a:txBody>
                  <a:tcPr anchor="ctr" marL="146304" marR="146304">
                    <a:solidFill>
                      <a:srgbClr val="FFFFFF"/>
                    </a:solidFill>
                  </a:tcPr>
                </a:tc>
                <a:tc>
                  <a:txBody>
                    <a:bodyPr wrap="square"/>
                    <a:lstStyle/>
                    <a:p>
                      <a:r>
                        <a:rPr sz="1609" b="0">
                          <a:solidFill>
                            <a:srgbClr val="33475B"/>
                          </a:solidFill>
                          <a:latin typeface="Aptos"/>
                        </a:rPr>
                        <a:t>Tres candidatos con sistema real de referencia</a:t>
                      </a:r>
                    </a:p>
                  </a:txBody>
                  <a:tcPr anchor="ctr" marL="146304" marR="146304">
                    <a:solidFill>
                      <a:srgbClr val="FFFFFF"/>
                    </a:solidFill>
                  </a:tcPr>
                </a:tc>
              </a:tr>
              <a:tr h="874897">
                <a:tc>
                  <a:txBody>
                    <a:bodyPr wrap="square"/>
                    <a:lstStyle/>
                    <a:p>
                      <a:r>
                        <a:rPr sz="1609" b="1">
                          <a:solidFill>
                            <a:srgbClr val="33475B"/>
                          </a:solidFill>
                          <a:latin typeface="Aptos"/>
                        </a:rPr>
                        <a:t>Reflexión final</a:t>
                      </a:r>
                    </a:p>
                  </a:txBody>
                  <a:tcPr anchor="ctr" marL="146304" marR="146304">
                    <a:solidFill>
                      <a:srgbClr val="F4F7FA"/>
                    </a:solidFill>
                  </a:tcPr>
                </a:tc>
                <a:tc>
                  <a:txBody>
                    <a:bodyPr wrap="square"/>
                    <a:lstStyle/>
                    <a:p>
                      <a:r>
                        <a:rPr sz="1609" b="0">
                          <a:solidFill>
                            <a:srgbClr val="33475B"/>
                          </a:solidFill>
                          <a:latin typeface="Aptos"/>
                        </a:rPr>
                        <a:t>Qué patrón para la v1 y qué riesgos</a:t>
                      </a:r>
                    </a:p>
                  </a:txBody>
                  <a:tcPr anchor="ctr" marL="146304" marR="146304">
                    <a:solidFill>
                      <a:srgbClr val="F4F7FA"/>
                    </a:solidFill>
                  </a:tcPr>
                </a:tc>
              </a:tr>
            </a:tbl>
          </a:graphicData>
        </a:graphic>
      </p:graphicFrame>
      <p:sp>
        <p:nvSpPr>
          <p:cNvPr id="8" name="TextBox 7"/>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9" name="TextBox 8"/>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41 / 45</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Cuatro errores que cuestan nota</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Oval 6"/>
          <p:cNvSpPr/>
          <p:nvPr/>
        </p:nvSpPr>
        <p:spPr>
          <a:xfrm>
            <a:off x="585216" y="2295143"/>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810511"/>
            <a:ext cx="10698480" cy="1069848"/>
          </a:xfrm>
          <a:prstGeom prst="rect">
            <a:avLst/>
          </a:prstGeom>
          <a:noFill/>
        </p:spPr>
        <p:txBody>
          <a:bodyPr wrap="square" anchor="ctr" lIns="0" rIns="0" tIns="0" bIns="0">
            <a:spAutoFit/>
          </a:bodyPr>
          <a:lstStyle/>
          <a:p>
            <a:pPr algn="l"/>
            <a:r>
              <a:rPr sz="2835" b="1">
                <a:solidFill>
                  <a:srgbClr val="0E2841"/>
                </a:solidFill>
                <a:latin typeface="Aptos"/>
              </a:rPr>
              <a:t>Definir sin aplicar al reto</a:t>
            </a:r>
          </a:p>
        </p:txBody>
      </p:sp>
      <p:sp>
        <p:nvSpPr>
          <p:cNvPr id="9" name="Oval 8"/>
          <p:cNvSpPr/>
          <p:nvPr/>
        </p:nvSpPr>
        <p:spPr>
          <a:xfrm>
            <a:off x="585216" y="336499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880360"/>
            <a:ext cx="10698480" cy="1069848"/>
          </a:xfrm>
          <a:prstGeom prst="rect">
            <a:avLst/>
          </a:prstGeom>
          <a:noFill/>
        </p:spPr>
        <p:txBody>
          <a:bodyPr wrap="square" anchor="ctr" lIns="0" rIns="0" tIns="0" bIns="0">
            <a:spAutoFit/>
          </a:bodyPr>
          <a:lstStyle/>
          <a:p>
            <a:pPr algn="l"/>
            <a:r>
              <a:rPr sz="2835" b="1">
                <a:solidFill>
                  <a:srgbClr val="0E2841"/>
                </a:solidFill>
                <a:latin typeface="Aptos"/>
              </a:rPr>
              <a:t>Atributos de calidad sin medida</a:t>
            </a:r>
          </a:p>
        </p:txBody>
      </p:sp>
      <p:sp>
        <p:nvSpPr>
          <p:cNvPr id="11" name="Oval 10"/>
          <p:cNvSpPr/>
          <p:nvPr/>
        </p:nvSpPr>
        <p:spPr>
          <a:xfrm>
            <a:off x="585216" y="4434840"/>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3950208"/>
            <a:ext cx="10698480" cy="1069848"/>
          </a:xfrm>
          <a:prstGeom prst="rect">
            <a:avLst/>
          </a:prstGeom>
          <a:noFill/>
        </p:spPr>
        <p:txBody>
          <a:bodyPr wrap="square" anchor="ctr" lIns="0" rIns="0" tIns="0" bIns="0">
            <a:spAutoFit/>
          </a:bodyPr>
          <a:lstStyle/>
          <a:p>
            <a:pPr algn="l"/>
            <a:r>
              <a:rPr sz="2835" b="1">
                <a:solidFill>
                  <a:srgbClr val="0E2841"/>
                </a:solidFill>
                <a:latin typeface="Aptos"/>
              </a:rPr>
              <a:t>Un solo patrón para todo</a:t>
            </a:r>
          </a:p>
        </p:txBody>
      </p:sp>
      <p:sp>
        <p:nvSpPr>
          <p:cNvPr id="13" name="Oval 12"/>
          <p:cNvSpPr/>
          <p:nvPr/>
        </p:nvSpPr>
        <p:spPr>
          <a:xfrm>
            <a:off x="585216" y="550468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5020056"/>
            <a:ext cx="10698480" cy="1069848"/>
          </a:xfrm>
          <a:prstGeom prst="rect">
            <a:avLst/>
          </a:prstGeom>
          <a:noFill/>
        </p:spPr>
        <p:txBody>
          <a:bodyPr wrap="square" anchor="ctr" lIns="0" rIns="0" tIns="0" bIns="0">
            <a:spAutoFit/>
          </a:bodyPr>
          <a:lstStyle/>
          <a:p>
            <a:pPr algn="l"/>
            <a:r>
              <a:rPr sz="2835" b="1">
                <a:solidFill>
                  <a:srgbClr val="0E2841"/>
                </a:solidFill>
                <a:latin typeface="Aptos"/>
              </a:rPr>
              <a:t>Blogs contados como fuente académica</a:t>
            </a:r>
          </a:p>
        </p:txBody>
      </p:sp>
      <p:sp>
        <p:nvSpPr>
          <p:cNvPr id="15" name="TextBox 14"/>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16" name="TextBox 15"/>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42 / 45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009540"/>
                </a:solidFill>
                <a:latin typeface="Aptos"/>
              </a:rPr>
              <a:t>PREGUNTA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¿Qué es la A1 dentro del proyecto?</a:t>
            </a:r>
          </a:p>
        </p:txBody>
      </p:sp>
      <p:sp>
        <p:nvSpPr>
          <p:cNvPr id="5" name="Rectangle 4"/>
          <p:cNvSpPr/>
          <p:nvPr/>
        </p:nvSpPr>
        <p:spPr>
          <a:xfrm>
            <a:off x="566928" y="1389888"/>
            <a:ext cx="1371600"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1810511"/>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86384" y="2049535"/>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2049535"/>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A</a:t>
            </a:r>
          </a:p>
        </p:txBody>
      </p:sp>
      <p:sp>
        <p:nvSpPr>
          <p:cNvPr id="10" name="TextBox 9"/>
          <p:cNvSpPr txBox="1"/>
          <p:nvPr/>
        </p:nvSpPr>
        <p:spPr>
          <a:xfrm>
            <a:off x="1408176" y="1810511"/>
            <a:ext cx="9966960" cy="898672"/>
          </a:xfrm>
          <a:prstGeom prst="rect">
            <a:avLst/>
          </a:prstGeom>
          <a:noFill/>
        </p:spPr>
        <p:txBody>
          <a:bodyPr wrap="square" anchor="ctr" lIns="0" rIns="0" tIns="0" bIns="0">
            <a:spAutoFit/>
          </a:bodyPr>
          <a:lstStyle/>
          <a:p>
            <a:pPr algn="l"/>
            <a:r>
              <a:rPr sz="2100" b="0">
                <a:solidFill>
                  <a:srgbClr val="0E2841"/>
                </a:solidFill>
                <a:latin typeface="Aptos"/>
              </a:rPr>
              <a:t>La primera versión del sistema funcionando</a:t>
            </a:r>
          </a:p>
        </p:txBody>
      </p:sp>
      <p:sp>
        <p:nvSpPr>
          <p:cNvPr id="11" name="Rounded Rectangle 10"/>
          <p:cNvSpPr/>
          <p:nvPr/>
        </p:nvSpPr>
        <p:spPr>
          <a:xfrm>
            <a:off x="566928" y="2880360"/>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86384" y="3119384"/>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3119384"/>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B</a:t>
            </a:r>
          </a:p>
        </p:txBody>
      </p:sp>
      <p:sp>
        <p:nvSpPr>
          <p:cNvPr id="14" name="TextBox 13"/>
          <p:cNvSpPr txBox="1"/>
          <p:nvPr/>
        </p:nvSpPr>
        <p:spPr>
          <a:xfrm>
            <a:off x="1408176" y="2880360"/>
            <a:ext cx="9966960" cy="898672"/>
          </a:xfrm>
          <a:prstGeom prst="rect">
            <a:avLst/>
          </a:prstGeom>
          <a:noFill/>
        </p:spPr>
        <p:txBody>
          <a:bodyPr wrap="square" anchor="ctr" lIns="0" rIns="0" tIns="0" bIns="0">
            <a:spAutoFit/>
          </a:bodyPr>
          <a:lstStyle/>
          <a:p>
            <a:pPr algn="l"/>
            <a:r>
              <a:rPr sz="2100" b="0">
                <a:solidFill>
                  <a:srgbClr val="0E2841"/>
                </a:solidFill>
                <a:latin typeface="Aptos"/>
              </a:rPr>
              <a:t>Un diagnóstico arquitectónico individual del reto del equipo</a:t>
            </a:r>
          </a:p>
        </p:txBody>
      </p:sp>
      <p:sp>
        <p:nvSpPr>
          <p:cNvPr id="15" name="Rounded Rectangle 14"/>
          <p:cNvSpPr/>
          <p:nvPr/>
        </p:nvSpPr>
        <p:spPr>
          <a:xfrm>
            <a:off x="566928" y="3950208"/>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86384" y="4189232"/>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6384" y="4189232"/>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C</a:t>
            </a:r>
          </a:p>
        </p:txBody>
      </p:sp>
      <p:sp>
        <p:nvSpPr>
          <p:cNvPr id="18" name="TextBox 17"/>
          <p:cNvSpPr txBox="1"/>
          <p:nvPr/>
        </p:nvSpPr>
        <p:spPr>
          <a:xfrm>
            <a:off x="1408176" y="3950208"/>
            <a:ext cx="9966960" cy="898672"/>
          </a:xfrm>
          <a:prstGeom prst="rect">
            <a:avLst/>
          </a:prstGeom>
          <a:noFill/>
        </p:spPr>
        <p:txBody>
          <a:bodyPr wrap="square" anchor="ctr" lIns="0" rIns="0" tIns="0" bIns="0">
            <a:spAutoFit/>
          </a:bodyPr>
          <a:lstStyle/>
          <a:p>
            <a:pPr algn="l"/>
            <a:r>
              <a:rPr sz="2100" b="0">
                <a:solidFill>
                  <a:srgbClr val="0E2841"/>
                </a:solidFill>
                <a:latin typeface="Aptos"/>
              </a:rPr>
              <a:t>Un debate en el foro sobre patrones modernos</a:t>
            </a:r>
          </a:p>
        </p:txBody>
      </p:sp>
      <p:sp>
        <p:nvSpPr>
          <p:cNvPr id="19" name="Rounded Rectangle 18"/>
          <p:cNvSpPr/>
          <p:nvPr/>
        </p:nvSpPr>
        <p:spPr>
          <a:xfrm>
            <a:off x="566928" y="5020056"/>
            <a:ext cx="11064240" cy="898672"/>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86384" y="5259080"/>
            <a:ext cx="420624" cy="420624"/>
          </a:xfrm>
          <a:prstGeom prst="ellipse">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86384" y="5259080"/>
            <a:ext cx="420624" cy="420624"/>
          </a:xfrm>
          <a:prstGeom prst="rect">
            <a:avLst/>
          </a:prstGeom>
          <a:noFill/>
        </p:spPr>
        <p:txBody>
          <a:bodyPr wrap="square" anchor="ctr" lIns="0" rIns="0" tIns="0" bIns="0">
            <a:spAutoFit/>
          </a:bodyPr>
          <a:lstStyle/>
          <a:p>
            <a:pPr algn="ctr"/>
            <a:r>
              <a:rPr sz="1500" b="1">
                <a:solidFill>
                  <a:srgbClr val="FFFFFF"/>
                </a:solidFill>
                <a:latin typeface="Aptos Display"/>
              </a:rPr>
              <a:t>D</a:t>
            </a:r>
          </a:p>
        </p:txBody>
      </p:sp>
      <p:sp>
        <p:nvSpPr>
          <p:cNvPr id="22" name="TextBox 21"/>
          <p:cNvSpPr txBox="1"/>
          <p:nvPr/>
        </p:nvSpPr>
        <p:spPr>
          <a:xfrm>
            <a:off x="1408176" y="5020056"/>
            <a:ext cx="9966960" cy="898672"/>
          </a:xfrm>
          <a:prstGeom prst="rect">
            <a:avLst/>
          </a:prstGeom>
          <a:noFill/>
        </p:spPr>
        <p:txBody>
          <a:bodyPr wrap="square" anchor="ctr" lIns="0" rIns="0" tIns="0" bIns="0">
            <a:spAutoFit/>
          </a:bodyPr>
          <a:lstStyle/>
          <a:p>
            <a:pPr algn="l"/>
            <a:r>
              <a:rPr sz="2100" b="0">
                <a:solidFill>
                  <a:srgbClr val="0E2841"/>
                </a:solidFill>
                <a:latin typeface="Aptos"/>
              </a:rPr>
              <a:t>El informe FO-IV-159 completo</a:t>
            </a:r>
          </a:p>
        </p:txBody>
      </p:sp>
      <p:sp>
        <p:nvSpPr>
          <p:cNvPr id="23" name="TextBox 22"/>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24" name="TextBox 23"/>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43 / 45</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Tres ideas para llevarse</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Rounded Rectangle 6"/>
          <p:cNvSpPr/>
          <p:nvPr/>
        </p:nvSpPr>
        <p:spPr>
          <a:xfrm>
            <a:off x="566928"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8096" y="2304288"/>
            <a:ext cx="384048" cy="508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8096"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Lo caro de revertir</a:t>
            </a:r>
          </a:p>
          <a:p>
            <a:pPr algn="l">
              <a:lnSpc>
                <a:spcPct val="120000"/>
              </a:lnSpc>
              <a:spcBef>
                <a:spcPts val="700"/>
              </a:spcBef>
            </a:pPr>
            <a:r>
              <a:rPr sz="1560" b="0">
                <a:solidFill>
                  <a:srgbClr val="33475B"/>
                </a:solidFill>
                <a:latin typeface="Aptos"/>
              </a:rPr>
              <a:t>eso es arquitectura</a:t>
            </a:r>
          </a:p>
        </p:txBody>
      </p:sp>
      <p:sp>
        <p:nvSpPr>
          <p:cNvPr id="10" name="Rounded Rectangle 9"/>
          <p:cNvSpPr/>
          <p:nvPr/>
        </p:nvSpPr>
        <p:spPr>
          <a:xfrm>
            <a:off x="4358640"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59808" y="2304288"/>
            <a:ext cx="384048" cy="50800"/>
          </a:xfrm>
          <a:prstGeom prst="rect">
            <a:avLst/>
          </a:prstGeom>
          <a:solidFill>
            <a:srgbClr val="0095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9808"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Atributos con medida</a:t>
            </a:r>
          </a:p>
          <a:p>
            <a:pPr algn="l">
              <a:lnSpc>
                <a:spcPct val="120000"/>
              </a:lnSpc>
              <a:spcBef>
                <a:spcPts val="700"/>
              </a:spcBef>
            </a:pPr>
            <a:r>
              <a:rPr sz="1560" b="0">
                <a:solidFill>
                  <a:srgbClr val="33475B"/>
                </a:solidFill>
                <a:latin typeface="Aptos"/>
              </a:rPr>
              <a:t>ellos eligen el patrón</a:t>
            </a:r>
          </a:p>
        </p:txBody>
      </p:sp>
      <p:sp>
        <p:nvSpPr>
          <p:cNvPr id="13" name="Rounded Rectangle 12"/>
          <p:cNvSpPr/>
          <p:nvPr/>
        </p:nvSpPr>
        <p:spPr>
          <a:xfrm>
            <a:off x="8150352" y="2048256"/>
            <a:ext cx="3480816" cy="3108960"/>
          </a:xfrm>
          <a:prstGeom prst="roundRect">
            <a:avLst>
              <a:gd name="adj" fmla="val 5000"/>
            </a:avLst>
          </a:prstGeom>
          <a:solidFill>
            <a:srgbClr val="FFFFFF"/>
          </a:solidFill>
          <a:ln w="12700">
            <a:solidFill>
              <a:srgbClr val="D9E3EC"/>
            </a:solidFill>
          </a:ln>
          <a:effectLst>
            <a:outerShdw blurRad="152400" dist="38100" dir="5400000" rotWithShape="0">
              <a:srgbClr val="0E2841">
                <a:alpha val="13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51520" y="2304288"/>
            <a:ext cx="384048"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1520" y="2560320"/>
            <a:ext cx="3078480" cy="2395728"/>
          </a:xfrm>
          <a:prstGeom prst="rect">
            <a:avLst/>
          </a:prstGeom>
          <a:noFill/>
        </p:spPr>
        <p:txBody>
          <a:bodyPr wrap="square" anchor="t" lIns="0" rIns="0" tIns="0" bIns="0">
            <a:spAutoFit/>
          </a:bodyPr>
          <a:lstStyle/>
          <a:p>
            <a:pPr algn="l"/>
            <a:r>
              <a:rPr sz="2039" b="1">
                <a:solidFill>
                  <a:srgbClr val="0E2841"/>
                </a:solidFill>
                <a:latin typeface="Aptos Display"/>
              </a:rPr>
              <a:t>Clásico y moderno</a:t>
            </a:r>
          </a:p>
          <a:p>
            <a:pPr algn="l">
              <a:lnSpc>
                <a:spcPct val="120000"/>
              </a:lnSpc>
              <a:spcBef>
                <a:spcPts val="700"/>
              </a:spcBef>
            </a:pPr>
            <a:r>
              <a:rPr sz="1560" b="0">
                <a:solidFill>
                  <a:srgbClr val="33475B"/>
                </a:solidFill>
                <a:latin typeface="Aptos"/>
              </a:rPr>
              <a:t>se combinan, no se reemplazan</a:t>
            </a:r>
          </a:p>
        </p:txBody>
      </p:sp>
      <p:sp>
        <p:nvSpPr>
          <p:cNvPr id="16" name="TextBox 15"/>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17" name="TextBox 16"/>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44 / 45</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82880"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310896"/>
            <a:ext cx="8686800" cy="256032"/>
          </a:xfrm>
          <a:prstGeom prst="rect">
            <a:avLst/>
          </a:prstGeom>
          <a:noFill/>
        </p:spPr>
        <p:txBody>
          <a:bodyPr wrap="square" anchor="t" lIns="0" rIns="0" tIns="0" bIns="0">
            <a:spAutoFit/>
          </a:bodyPr>
          <a:lstStyle/>
          <a:p>
            <a:pPr algn="l"/>
            <a:r>
              <a:rPr sz="1100" b="1">
                <a:solidFill>
                  <a:srgbClr val="E97132"/>
                </a:solidFill>
                <a:latin typeface="Aptos"/>
              </a:rPr>
              <a:t>UNIDAD 1 · FUNDAMENTOS · POSGRADO FACULTAD DE INGENIERÍA</a:t>
            </a:r>
          </a:p>
        </p:txBody>
      </p:sp>
      <p:sp>
        <p:nvSpPr>
          <p:cNvPr id="4" name="TextBox 3"/>
          <p:cNvSpPr txBox="1"/>
          <p:nvPr/>
        </p:nvSpPr>
        <p:spPr>
          <a:xfrm>
            <a:off x="566928" y="603504"/>
            <a:ext cx="9052560" cy="822960"/>
          </a:xfrm>
          <a:prstGeom prst="rect">
            <a:avLst/>
          </a:prstGeom>
          <a:noFill/>
        </p:spPr>
        <p:txBody>
          <a:bodyPr wrap="square" anchor="t" lIns="0" rIns="0" tIns="0" bIns="0">
            <a:spAutoFit/>
          </a:bodyPr>
          <a:lstStyle/>
          <a:p>
            <a:pPr algn="l"/>
            <a:r>
              <a:rPr sz="3000" b="1">
                <a:solidFill>
                  <a:srgbClr val="0E2841"/>
                </a:solidFill>
                <a:latin typeface="Aptos Display"/>
              </a:rPr>
              <a:t>Bibliografía de la unidad</a:t>
            </a:r>
          </a:p>
        </p:txBody>
      </p:sp>
      <p:sp>
        <p:nvSpPr>
          <p:cNvPr id="5" name="Rectangle 4"/>
          <p:cNvSpPr/>
          <p:nvPr/>
        </p:nvSpPr>
        <p:spPr>
          <a:xfrm>
            <a:off x="566928" y="1389888"/>
            <a:ext cx="1371600" cy="508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LOGO-CORHUILA-COLOR.png"/>
          <p:cNvPicPr>
            <a:picLocks noChangeAspect="1"/>
          </p:cNvPicPr>
          <p:nvPr/>
        </p:nvPicPr>
        <p:blipFill>
          <a:blip r:embed="rId2"/>
          <a:stretch>
            <a:fillRect/>
          </a:stretch>
        </p:blipFill>
        <p:spPr>
          <a:xfrm>
            <a:off x="10975848" y="310896"/>
            <a:ext cx="713232" cy="713232"/>
          </a:xfrm>
          <a:prstGeom prst="rect">
            <a:avLst/>
          </a:prstGeom>
        </p:spPr>
      </p:pic>
      <p:sp>
        <p:nvSpPr>
          <p:cNvPr id="7" name="Oval 6"/>
          <p:cNvSpPr/>
          <p:nvPr/>
        </p:nvSpPr>
        <p:spPr>
          <a:xfrm>
            <a:off x="585216" y="2188158"/>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1810511"/>
            <a:ext cx="10698480" cy="855878"/>
          </a:xfrm>
          <a:prstGeom prst="rect">
            <a:avLst/>
          </a:prstGeom>
          <a:noFill/>
        </p:spPr>
        <p:txBody>
          <a:bodyPr wrap="square" anchor="ctr" lIns="0" rIns="0" tIns="0" bIns="0">
            <a:spAutoFit/>
          </a:bodyPr>
          <a:lstStyle/>
          <a:p>
            <a:pPr algn="l"/>
            <a:r>
              <a:rPr sz="2772" b="1">
                <a:solidFill>
                  <a:srgbClr val="0E2841"/>
                </a:solidFill>
                <a:latin typeface="Aptos"/>
              </a:rPr>
              <a:t>Bass, Clements y Kazman (2021)</a:t>
            </a:r>
          </a:p>
        </p:txBody>
      </p:sp>
      <p:sp>
        <p:nvSpPr>
          <p:cNvPr id="9" name="Oval 8"/>
          <p:cNvSpPr/>
          <p:nvPr/>
        </p:nvSpPr>
        <p:spPr>
          <a:xfrm>
            <a:off x="585216" y="3044037"/>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2666390"/>
            <a:ext cx="10698480" cy="855878"/>
          </a:xfrm>
          <a:prstGeom prst="rect">
            <a:avLst/>
          </a:prstGeom>
          <a:noFill/>
        </p:spPr>
        <p:txBody>
          <a:bodyPr wrap="square" anchor="ctr" lIns="0" rIns="0" tIns="0" bIns="0">
            <a:spAutoFit/>
          </a:bodyPr>
          <a:lstStyle/>
          <a:p>
            <a:pPr algn="l"/>
            <a:r>
              <a:rPr sz="2772" b="1">
                <a:solidFill>
                  <a:srgbClr val="0E2841"/>
                </a:solidFill>
                <a:latin typeface="Aptos"/>
              </a:rPr>
              <a:t>Richards y Ford (2020)</a:t>
            </a:r>
          </a:p>
        </p:txBody>
      </p:sp>
      <p:sp>
        <p:nvSpPr>
          <p:cNvPr id="11" name="Oval 10"/>
          <p:cNvSpPr/>
          <p:nvPr/>
        </p:nvSpPr>
        <p:spPr>
          <a:xfrm>
            <a:off x="585216" y="3899915"/>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 y="3522268"/>
            <a:ext cx="10698480" cy="855878"/>
          </a:xfrm>
          <a:prstGeom prst="rect">
            <a:avLst/>
          </a:prstGeom>
          <a:noFill/>
        </p:spPr>
        <p:txBody>
          <a:bodyPr wrap="square" anchor="ctr" lIns="0" rIns="0" tIns="0" bIns="0">
            <a:spAutoFit/>
          </a:bodyPr>
          <a:lstStyle/>
          <a:p>
            <a:pPr algn="l"/>
            <a:r>
              <a:rPr sz="2772" b="1">
                <a:solidFill>
                  <a:srgbClr val="0E2841"/>
                </a:solidFill>
                <a:latin typeface="Aptos"/>
              </a:rPr>
              <a:t>Buschmann et al. (1996)</a:t>
            </a:r>
          </a:p>
        </p:txBody>
      </p:sp>
      <p:sp>
        <p:nvSpPr>
          <p:cNvPr id="13" name="Oval 12"/>
          <p:cNvSpPr/>
          <p:nvPr/>
        </p:nvSpPr>
        <p:spPr>
          <a:xfrm>
            <a:off x="585216" y="4755794"/>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 y="4378147"/>
            <a:ext cx="10698480" cy="855878"/>
          </a:xfrm>
          <a:prstGeom prst="rect">
            <a:avLst/>
          </a:prstGeom>
          <a:noFill/>
        </p:spPr>
        <p:txBody>
          <a:bodyPr wrap="square" anchor="ctr" lIns="0" rIns="0" tIns="0" bIns="0">
            <a:spAutoFit/>
          </a:bodyPr>
          <a:lstStyle/>
          <a:p>
            <a:pPr algn="l"/>
            <a:r>
              <a:rPr sz="2772" b="1">
                <a:solidFill>
                  <a:srgbClr val="0E2841"/>
                </a:solidFill>
                <a:latin typeface="Aptos"/>
              </a:rPr>
              <a:t>Fowler (2002)</a:t>
            </a:r>
          </a:p>
        </p:txBody>
      </p:sp>
      <p:sp>
        <p:nvSpPr>
          <p:cNvPr id="15" name="Oval 14"/>
          <p:cNvSpPr/>
          <p:nvPr/>
        </p:nvSpPr>
        <p:spPr>
          <a:xfrm>
            <a:off x="585216" y="5611672"/>
            <a:ext cx="100584" cy="100584"/>
          </a:xfrm>
          <a:prstGeom prst="ellipse">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 y="5234025"/>
            <a:ext cx="10698480" cy="855878"/>
          </a:xfrm>
          <a:prstGeom prst="rect">
            <a:avLst/>
          </a:prstGeom>
          <a:noFill/>
        </p:spPr>
        <p:txBody>
          <a:bodyPr wrap="square" anchor="ctr" lIns="0" rIns="0" tIns="0" bIns="0">
            <a:spAutoFit/>
          </a:bodyPr>
          <a:lstStyle/>
          <a:p>
            <a:pPr algn="l"/>
            <a:r>
              <a:rPr sz="2772" b="1">
                <a:solidFill>
                  <a:srgbClr val="0E2841"/>
                </a:solidFill>
                <a:latin typeface="Aptos"/>
              </a:rPr>
              <a:t>Gamma et al. (1994)</a:t>
            </a:r>
          </a:p>
        </p:txBody>
      </p:sp>
      <p:sp>
        <p:nvSpPr>
          <p:cNvPr id="17" name="TextBox 16"/>
          <p:cNvSpPr txBox="1"/>
          <p:nvPr/>
        </p:nvSpPr>
        <p:spPr>
          <a:xfrm>
            <a:off x="566928" y="6446520"/>
            <a:ext cx="7315200" cy="237744"/>
          </a:xfrm>
          <a:prstGeom prst="rect">
            <a:avLst/>
          </a:prstGeom>
          <a:noFill/>
        </p:spPr>
        <p:txBody>
          <a:bodyPr wrap="square" anchor="t" lIns="0" rIns="0" tIns="0" bIns="0">
            <a:spAutoFit/>
          </a:bodyPr>
          <a:lstStyle/>
          <a:p>
            <a:pPr algn="l"/>
            <a:r>
              <a:rPr sz="950" b="0">
                <a:solidFill>
                  <a:srgbClr val="7A8B9E"/>
                </a:solidFill>
                <a:latin typeface="Aptos"/>
              </a:rPr>
              <a:t>Diseño y Patrones Arquitectónicos  ·  Unidad 1</a:t>
            </a:r>
          </a:p>
        </p:txBody>
      </p:sp>
      <p:sp>
        <p:nvSpPr>
          <p:cNvPr id="18" name="TextBox 17"/>
          <p:cNvSpPr txBox="1"/>
          <p:nvPr/>
        </p:nvSpPr>
        <p:spPr>
          <a:xfrm>
            <a:off x="10607040" y="6446520"/>
            <a:ext cx="1051560" cy="237744"/>
          </a:xfrm>
          <a:prstGeom prst="rect">
            <a:avLst/>
          </a:prstGeom>
          <a:noFill/>
        </p:spPr>
        <p:txBody>
          <a:bodyPr wrap="square" anchor="t" lIns="0" rIns="0" tIns="0" bIns="0">
            <a:spAutoFit/>
          </a:bodyPr>
          <a:lstStyle/>
          <a:p>
            <a:pPr algn="r"/>
            <a:r>
              <a:rPr sz="950" b="0">
                <a:solidFill>
                  <a:srgbClr val="7A8B9E"/>
                </a:solidFill>
                <a:latin typeface="Aptos"/>
              </a:rPr>
              <a:t>45 / 45</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E2841"/>
        </a:solidFill>
        <a:effectLst/>
      </p:bgPr>
    </p:bg>
    <p:spTree>
      <p:nvGrpSpPr>
        <p:cNvPr id="1" name=""/>
        <p:cNvGrpSpPr/>
        <p:nvPr/>
      </p:nvGrpSpPr>
      <p:grpSpPr/>
      <p:sp>
        <p:nvSpPr>
          <p:cNvPr id="2" name="Rectangle 1"/>
          <p:cNvSpPr/>
          <p:nvPr/>
        </p:nvSpPr>
        <p:spPr>
          <a:xfrm>
            <a:off x="0" y="0"/>
            <a:ext cx="457200" cy="68580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Institucional-con-advertencia-Vigilado-Mineducacion-Blanco.png"/>
          <p:cNvPicPr>
            <a:picLocks noChangeAspect="1"/>
          </p:cNvPicPr>
          <p:nvPr/>
        </p:nvPicPr>
        <p:blipFill>
          <a:blip r:embed="rId2"/>
          <a:stretch>
            <a:fillRect/>
          </a:stretch>
        </p:blipFill>
        <p:spPr>
          <a:xfrm>
            <a:off x="5144780" y="914400"/>
            <a:ext cx="1902439" cy="1737360"/>
          </a:xfrm>
          <a:prstGeom prst="rect">
            <a:avLst/>
          </a:prstGeom>
        </p:spPr>
      </p:pic>
      <p:sp>
        <p:nvSpPr>
          <p:cNvPr id="4" name="TextBox 3"/>
          <p:cNvSpPr txBox="1"/>
          <p:nvPr/>
        </p:nvSpPr>
        <p:spPr>
          <a:xfrm>
            <a:off x="457200" y="3200400"/>
            <a:ext cx="11274552" cy="1097280"/>
          </a:xfrm>
          <a:prstGeom prst="rect">
            <a:avLst/>
          </a:prstGeom>
          <a:noFill/>
        </p:spPr>
        <p:txBody>
          <a:bodyPr wrap="square" anchor="t" lIns="0" rIns="0" tIns="0" bIns="0">
            <a:spAutoFit/>
          </a:bodyPr>
          <a:lstStyle/>
          <a:p>
            <a:pPr algn="ctr"/>
            <a:r>
              <a:rPr sz="5400" b="1">
                <a:solidFill>
                  <a:srgbClr val="FFFFFF"/>
                </a:solidFill>
                <a:latin typeface="Aptos Display"/>
              </a:rPr>
              <a:t>¿Preguntas?</a:t>
            </a:r>
          </a:p>
        </p:txBody>
      </p:sp>
      <p:sp>
        <p:nvSpPr>
          <p:cNvPr id="5" name="TextBox 4"/>
          <p:cNvSpPr txBox="1"/>
          <p:nvPr/>
        </p:nvSpPr>
        <p:spPr>
          <a:xfrm>
            <a:off x="457200" y="4709160"/>
            <a:ext cx="11274552" cy="457200"/>
          </a:xfrm>
          <a:prstGeom prst="rect">
            <a:avLst/>
          </a:prstGeom>
          <a:noFill/>
        </p:spPr>
        <p:txBody>
          <a:bodyPr wrap="square" anchor="t" lIns="0" rIns="0" tIns="0" bIns="0">
            <a:spAutoFit/>
          </a:bodyPr>
          <a:lstStyle/>
          <a:p>
            <a:pPr algn="ctr"/>
            <a:r>
              <a:rPr sz="1400" b="0">
                <a:solidFill>
                  <a:srgbClr val="E8E8E8"/>
                </a:solidFill>
                <a:latin typeface="Aptos"/>
              </a:rPr>
              <a:t>Jesús Ariel González Bonilla  ·  ariel5253@hotmail.com</a:t>
            </a:r>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c7b9d0d2-0928-4bc7-b1e7-d815d07dd502" xsi:nil="true"/>
    <lcf76f155ced4ddcb4097134ff3c332f xmlns="3b21ab7c-7e7a-493b-a43f-a219844d5b04">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76AC4B3079F3F14986B23BC4E8B1044F" ma:contentTypeVersion="16" ma:contentTypeDescription="Crear nuevo documento." ma:contentTypeScope="" ma:versionID="04f898694b3caf94c38805e82f5c0fb9">
  <xsd:schema xmlns:xsd="http://www.w3.org/2001/XMLSchema" xmlns:xs="http://www.w3.org/2001/XMLSchema" xmlns:p="http://schemas.microsoft.com/office/2006/metadata/properties" xmlns:ns2="3b21ab7c-7e7a-493b-a43f-a219844d5b04" xmlns:ns3="c7b9d0d2-0928-4bc7-b1e7-d815d07dd502" targetNamespace="http://schemas.microsoft.com/office/2006/metadata/properties" ma:root="true" ma:fieldsID="1d46ddd55854086af038f8f8e7145c9b" ns2:_="" ns3:_="">
    <xsd:import namespace="3b21ab7c-7e7a-493b-a43f-a219844d5b04"/>
    <xsd:import namespace="c7b9d0d2-0928-4bc7-b1e7-d815d07dd50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b21ab7c-7e7a-493b-a43f-a219844d5b0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Etiquetas de imagen" ma:readOnly="false" ma:fieldId="{5cf76f15-5ced-4ddc-b409-7134ff3c332f}" ma:taxonomyMulti="true" ma:sspId="c63f703e-4260-42db-90e1-1bf1f8b4f72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7b9d0d2-0928-4bc7-b1e7-d815d07dd502" elementFormDefault="qualified">
    <xsd:import namespace="http://schemas.microsoft.com/office/2006/documentManagement/types"/>
    <xsd:import namespace="http://schemas.microsoft.com/office/infopath/2007/PartnerControls"/>
    <xsd:element name="SharedWithUsers" ma:index="10"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Detalles de uso compartido" ma:internalName="SharedWithDetails" ma:readOnly="true">
      <xsd:simpleType>
        <xsd:restriction base="dms:Note">
          <xsd:maxLength value="255"/>
        </xsd:restriction>
      </xsd:simpleType>
    </xsd:element>
    <xsd:element name="TaxCatchAll" ma:index="14" nillable="true" ma:displayName="Taxonomy Catch All Column" ma:hidden="true" ma:list="{22966853-71d8-4c3c-a2a1-eb1a25e46692}" ma:internalName="TaxCatchAll" ma:showField="CatchAllData" ma:web="c7b9d0d2-0928-4bc7-b1e7-d815d07dd50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A55C560-F379-4979-BDAB-85ADD41BF196}">
  <ds:schemaRefs>
    <ds:schemaRef ds:uri="http://schemas.microsoft.com/office/2006/metadata/properties"/>
    <ds:schemaRef ds:uri="http://schemas.microsoft.com/office/infopath/2007/PartnerControls"/>
    <ds:schemaRef ds:uri="c7b9d0d2-0928-4bc7-b1e7-d815d07dd502"/>
    <ds:schemaRef ds:uri="3b21ab7c-7e7a-493b-a43f-a219844d5b04"/>
  </ds:schemaRefs>
</ds:datastoreItem>
</file>

<file path=customXml/itemProps2.xml><?xml version="1.0" encoding="utf-8"?>
<ds:datastoreItem xmlns:ds="http://schemas.openxmlformats.org/officeDocument/2006/customXml" ds:itemID="{5203D28F-282C-474C-8EAC-7F31992D2966}">
  <ds:schemaRefs>
    <ds:schemaRef ds:uri="http://schemas.microsoft.com/sharepoint/v3/contenttype/forms"/>
  </ds:schemaRefs>
</ds:datastoreItem>
</file>

<file path=customXml/itemProps3.xml><?xml version="1.0" encoding="utf-8"?>
<ds:datastoreItem xmlns:ds="http://schemas.openxmlformats.org/officeDocument/2006/customXml" ds:itemID="{10F9C096-F130-4ECE-8018-26CD4E103B0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b21ab7c-7e7a-493b-a43f-a219844d5b04"/>
    <ds:schemaRef ds:uri="c7b9d0d2-0928-4bc7-b1e7-d815d07dd50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14</TotalTime>
  <Words>0</Words>
  <Application>Microsoft Office PowerPoint</Application>
  <PresentationFormat>Panorámica</PresentationFormat>
  <Paragraphs>0</Paragraphs>
  <Slides>3</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3</vt:i4>
      </vt:variant>
    </vt:vector>
  </HeadingPairs>
  <TitlesOfParts>
    <vt:vector size="7" baseType="lpstr">
      <vt:lpstr>Aptos</vt:lpstr>
      <vt:lpstr>Aptos Display</vt:lpstr>
      <vt:lpstr>Arial</vt:lpstr>
      <vt:lpstr>Tema de Office</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acomunicaciones</dc:creator>
  <cp:lastModifiedBy>Oficina de Comunicaciones</cp:lastModifiedBy>
  <cp:revision>6</cp:revision>
  <dcterms:created xsi:type="dcterms:W3CDTF">2026-01-26T14:49:45Z</dcterms:created>
  <dcterms:modified xsi:type="dcterms:W3CDTF">2026-02-13T20:05:23Z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0x01010076AC4B3079F3F14986B23BC4E8B1044F</vt:lpwstr>
  </property>
</Properties>
</file>
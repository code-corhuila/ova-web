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0-3). Lanzar la pregunta y pedir a cada equipo una respuesta de una frase. Lo normal es que hoy nadie tenga un número: ese es el propósito de la asesoría, salir con la medición planeada. Si alguien responde «la v2 es más escalable», preguntar «¿cómo lo sabe?». La idea que se instala: la sustentación no se gana describiendo la v2, se gana comparándola contra la v1 con evidencia.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Este deck es material de apoyo de la asesoría y del cierre del proyecto, no el guion de la hora. Recorrido en vivo (50 min): apertura y estado (min 0-6); ronda por equipos con el protocolo de la sección 2 (min 6-38, unos 10 min por equipo); FO-IV-159 y paquete de la A3, solo los slides que generen dudas en la ronda (min 38-45); sustentación y compromisos (min 45-50). Las secciones 3 a 5 quedan de consulta para el trabajo de la semana. Fuente: Guía del proyecto de aula (aula Moodle, enlace en Inicio).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3-4). Recordar el hilo: el H0 (equipo y reto) fue el 13 de octubre; el diagnóstico (A1) identifica los atributos de calidad; la v1 (A2) implementa el patrón clásico; el foro defiende la migración frente a la crítica; la v2 (A3) implementa la decisión y se mide contra la v1. Las cuatro evaluaciones trabajan sobre el mismo reto. Si un equipo cambió de reto después del H0, su comparación no tiene base: conversarlo hoy.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4-5). Todas las actividades del aula quedaron abiertas hasta el domingo 8 de noviembre a las 11:59 p. m. (ajuste del 23 de octubre); la guía impresa todavía dice 1 de noviembre para el foro, pero manda la fecha del aula. Recomendación: publicar el aporte del foro antes de la sustentación, porque esa decisión es la que se defiende el 3 de noviembre. Pesos: A1, A2 y foro 20 % cada uno; A3 40 %; la certificación no suma nota.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5-6). Cada equipo dice en voz alta cuáles de las cuatro tiene en verde. Lo que esté en rojo es el compromiso de la semana. La primera tarjeta es la más urgente: sin la etiqueta v1 no hay comparación reproducible, y si la v2 ya se empezó encima de la v1 sin etiqueta, se recupera buscando en el historial el último commit de la v1 (git log) y etiquetándolo ahí: git tag v1 &lt;commit&gt;. En la revisión de la A2 solo un equipo tenía la etiqueta v1.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6-38). El tutor anuncia el orden al inicio. Mientras un equipo presenta, los demás anotan una pregunta técnica: es el ensayo de las preguntas de la sustentación. Si un equipo no tiene demo, se usa su tiempo para destrabar el diseño en el tablero. Si un estudiante va solo o su equipo no llegó, se le asesora igual sobre su parte y se le recuerda que la A3 es de equipo: cada integrante sube la misma entrega.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Son las mismas preguntas de la sustentación, en versión temprana. Respuestas débiles que se corrigen hoy: «escala mejor» (sin escenario ni medida), «es lo que se usa» (moda), «nada empeora» (toda arquitectura cobra: más archivos, un broker que operar, consistencia eventual). Una buena respuesta al costo nombra qué se acepta y cómo se mitiga.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Si la v1 ya se modificó sin etiqueta: git log --oneline, ubicar el último commit de la v1 y ejecutar git tag v1 &lt;commit&gt; y git push --tags. Al cierre se etiqueta también la v2 (git tag v2). El Anexo 2 del FO-IV-159 pide el enlace al repositorio con las etiquetas v1 y v2: cualquier evaluador debe poder ejecutar las dos versiones. Trabajar la v2 en una rama o en una carpeta aparte es decisión del equipo; lo que no se negocia es poder volver a la v1.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un equipo no tiene clara su decisión. Recorrer la cadena con su reto. Ejemplo con el reto de demostración (Mercado Campesino): dolor, cada aviso nuevo obliga a tocar el servicio de pedidos; atributo, modificabilidad; patrón, hexagonal con eventos; métrica, archivos y líneas tocadas para el mismo cambio. Si la métrica no se puede medir en la v1, el eslabón está roto.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(cada equipo elige hoy sus tres). Herramientas: git diff --stat para el costo de un cambio; ArchUnit (Java) o import-linter (Python) para el acoplamiento; k6 o JMeter para el rendimiento; JUnit con JaCoCo o pytest con coverage.py para las pruebas. Mismas condiciones: misma máquina, misma carga, mismo cambio. Reportar también lo que empeoró.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Es el criterio más barato y el más convincente en la sustentación. Ejemplo de Mercado Campesino: avisar al productor cuando su producto entra en un pedido confirmado. En la v1 se modifica el servicio de pedidos y su prueba; en la v2 se agrega un consumidor del evento y el dominio no se toca. Los números los mide el equipo; el diseño solo predice la dirección. Las dos ramas de prueba quedan en el repositorio como evidencia.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Plantilla de la tabla del documento técnico, con el reto de demostración como ejemplo. Cada celda lleva el dato medido, no un adjetivo. La fila «Lo que empeoró» es obligatoria: una tabla en la que la v2 gana en todo suele ser una tabla incompleta. Esta tabla se resume en el campo Resultados del FO-IV-159 y se muestra en el tramo «La comparación» de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El FO-IV-159 · Informe de Proyectos de Aula es el formato institucional de Gestión de Investigación e Innovación. Se descarga del aula junto con la plantilla del documento técnico. Error frecuente: entregar el formato con las instrucciones todavía puestas en la columna de la derecha. Hoy se revisa el borrador de cada equipo: como mínimo título, pregunta de investigación y objetivos.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Datos fijos: fecha de inicio 05/10/2026, fecha de cierre 08/11/2026, Facultad de Ingeniería, área Ingeniería, arquitectura, urbanismo y afines. Metodología: Aprendizaje Basado en Proyectos con aprendizaje cooperativo, organizado en los hitos H0 a H4 (es el único lugar donde aparece «ABP»: es la metodología que lista el formato). El planteamiento va de lo general a lo específico (mundial, nacional, regional) con datos de fuentes primarias como el DANE o las secretarías, sin juicios de valor.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algún equipo trae la pregunta débil. Ejemplo completo del reto de demostración: «¿En qué medida migrar el sistema de pedidos de una asociación de productores de Neiva de una arquitectura en capas a una arquitectura hexagonal con eventos cambia su modificabilidad y su disponibilidad en el día de cierre de pedidos?». Debe ser coherente con el título y con los criterios de la comparación: lo que la pregunta promete medir es lo que la tabla tiene que reportar.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Objetivo general: un verbo en infinitivo, qué, cómo y para qué, medible (taxonomía de Bloom). Los objetivos específicos son metas de cada etapa, no actividades: «hacer reuniones» o «leer artículos» no son objetivos. Esta secuencia corresponde a H1, H2, H3, H4 y la comparación del H4; cada equipo la adapta a su reto.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Los tres productos se toman del catálogo de la pestaña PRODUCTOS. El Anexo 2 · Productos lleva el documento técnico, el enlace al repositorio con las etiquetas v1 y v2, y la presentación. El repositorio puede ser público: ni el FO-IV-159 ni ningún documento con números de identificación se suben ahí. Bibliografía en APA vigente o IEEE.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 Actividad 3 vale el 40 % y es de equipo: cada integrante sube la misma entrega en el aula, antes del domingo 8 de noviembre a las 11:59 p. m. El FO-IV-159 se califica dentro de ese 40 %; no tiene nota aparte. Revisar antes de subir que el .zip abre y que el enlace del repositorio funciona sin pedir permisos.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 estructura es la de la plantilla del documento técnico que acompaña al FO-IV-159 en el aula. La última sección declara qué hizo cada integrante, y debe coincidir con los commits: cada uno hace commits con su propia cuenta en el repositorio del equipo. El documento reutiliza lo ya escrito en la A1 y la A2, corregido con la retroalimentación recibida.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45-47). Después vienen 3 minutos de preguntas. Si en los 50 minutos del encuentro no caben todos los equipos, los que queden graban un video de 5 minutos con la misma estructura y ponen el enlace en el Anexo 2; el tutor anuncia el orden al inicio. Recomendación: ensayar con cronómetro; lo que más se pasa de tiempo es la demostración, así que conviene tenerla grabada como respaldo.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Son las preguntas típicas de la guía más la de la alternativa descartada. Respuesta fuerte a «qué pasa si cae X»: mostrarlo con la prueba de tolerancia a fallos, no describirlo. Respuesta fuerte a «qué no se justifica»: reconocer el costo de la v2 en un sistema más pequeño; aceptar el compromiso suma, negarlo resta.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Contra la versión 1 del propio equipo, construida en la Actividad 2. La v1 del equipo es la alternativa real: existe, se puede ejecutar y se puede medir. Eso convierte la comparación en evidencia.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El FO-IV-159 del equipo con sus anexos, dentro de la Actividad 3. El FO-IV-159 es el informe del proyecto de aula y se califica dentro del 40 % de la Actividad 3. El documento técnico, el repositorio y la presentación van como Anexo 2 · Productos.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Solo en el aula Moodle, porque lleva números de identificación. La pestaña ESTUDIANTE tiene datos personales. Se entrega únicamente en el aula; el repositorio puede ser público.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 Actividad 1 y el foro de la Unidad 3. El diagnóstico (A1) y el foro son individuales; la v1 (A2) y la v2 con el FO-IV-159 (A3) son de equipo.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Los cinco errores comunes de la Guía del proyecto de aula. «Bueno», «malo», «mejor» y «peor» no van en el planteamiento: se reemplazan por datos y fuentes. Si la v1 no corre, no hay comparación: por eso la etiqueta v1 es lo primero.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47-49). Cronograma sugerido; cada equipo lo ajusta y lo dice en voz alta antes de salir. Después de la sustentación queda hasta el domingo 8 de noviembre a las 11:59 p. m. para incorporar la retroalimentación al documento técnico y al FO-IV-159 antes de subir la Actividad 3. Dudas por mensaje en el aula.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49-50). Cierre: (1) la v1 etiquetada es el punto de partida de toda la comparación; (2) la sustentación se gana con números medidos en las dos versiones, incluido lo que empeoró; (3) el FO-IV-159 reúne el proyecto completo y, por la pestaña ESTUDIANTE, se entrega solo en el aula. Próximo encuentro: martes 3 de noviembre, sustentación, 8:20 p. m. en el mismo enlace de Meet.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Asesoría del proyecto de aula</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Diseño y Patrones Arquitectónicos  ·  Jesús Ariel González Bonilla  ·  2026-B  ·  Corte 1  ·  Encuentro 4</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Asesoría del proyecto de aula — de la v1 a la v2 y el informe FO-IV-159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Si sustentara hoy, ¿qué mostraría?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Faltan siete días para la sustentación. ¿Qué número puede mostrar hoy su equipo que pruebe que la v2 es mejor que la v1?</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Una métrica medida en las dos versiones</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Una decisión que resiste la crítica</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Un FO-IV-159 sin instrucciones puestas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podrá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Ubicar a su equipo frente a los hitos</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Planear la medición v1 frente a v2</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Diligenciar el FO-IV-159 sin vacíos</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Armar el paquete de la Actividad 3</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Ensayar la sustentación de 8 minutos</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 Dónde está el proyecto</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hitos, un mismo sistema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2788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H1 diagnóstico</a:t>
            </a:r>
          </a:p>
          <a:p>
            <a:pPr algn="ctr">
              <a:lnSpc>
                <a:spcPct val="120000"/>
              </a:lnSpc>
              <a:spcBef>
                <a:spcPts val="700"/>
              </a:spcBef>
            </a:pPr>
            <a:r>
              <a:rPr sz="1439" b="0">
                <a:solidFill>
                  <a:srgbClr val="7A8B9E"/>
                </a:solidFill>
                <a:latin typeface="Aptos"/>
              </a:rPr>
              <a:t>A1 · individual</a:t>
            </a:r>
          </a:p>
        </p:txBody>
      </p:sp>
      <p:sp>
        <p:nvSpPr>
          <p:cNvPr id="10" name="Chevron 9"/>
          <p:cNvSpPr/>
          <p:nvPr/>
        </p:nvSpPr>
        <p:spPr>
          <a:xfrm>
            <a:off x="3136392"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827886"/>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H2 v1 clásica</a:t>
            </a:r>
          </a:p>
          <a:p>
            <a:pPr algn="ctr">
              <a:lnSpc>
                <a:spcPct val="120000"/>
              </a:lnSpc>
              <a:spcBef>
                <a:spcPts val="700"/>
              </a:spcBef>
            </a:pPr>
            <a:r>
              <a:rPr sz="1439" b="0">
                <a:solidFill>
                  <a:srgbClr val="7A8B9E"/>
                </a:solidFill>
                <a:latin typeface="Aptos"/>
              </a:rPr>
              <a:t>A2 · equipo</a:t>
            </a:r>
          </a:p>
        </p:txBody>
      </p:sp>
      <p:sp>
        <p:nvSpPr>
          <p:cNvPr id="14" name="Chevron 13"/>
          <p:cNvSpPr/>
          <p:nvPr/>
        </p:nvSpPr>
        <p:spPr>
          <a:xfrm>
            <a:off x="5998464"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827886"/>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H3 decisión</a:t>
            </a:r>
          </a:p>
          <a:p>
            <a:pPr algn="ctr">
              <a:lnSpc>
                <a:spcPct val="120000"/>
              </a:lnSpc>
              <a:spcBef>
                <a:spcPts val="700"/>
              </a:spcBef>
            </a:pPr>
            <a:r>
              <a:rPr sz="1439" b="0">
                <a:solidFill>
                  <a:srgbClr val="7A8B9E"/>
                </a:solidFill>
                <a:latin typeface="Aptos"/>
              </a:rPr>
              <a:t>foro · individual</a:t>
            </a:r>
          </a:p>
        </p:txBody>
      </p:sp>
      <p:sp>
        <p:nvSpPr>
          <p:cNvPr id="18" name="Chevron 17"/>
          <p:cNvSpPr/>
          <p:nvPr/>
        </p:nvSpPr>
        <p:spPr>
          <a:xfrm>
            <a:off x="8860536"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82788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H4 v2 + FO-IV-159</a:t>
            </a:r>
          </a:p>
          <a:p>
            <a:pPr algn="ctr">
              <a:lnSpc>
                <a:spcPct val="120000"/>
              </a:lnSpc>
              <a:spcBef>
                <a:spcPts val="700"/>
              </a:spcBef>
            </a:pPr>
            <a:r>
              <a:rPr sz="1439" b="0">
                <a:solidFill>
                  <a:srgbClr val="7A8B9E"/>
                </a:solidFill>
                <a:latin typeface="Aptos"/>
              </a:rPr>
              <a:t>A3 · equipo</a:t>
            </a:r>
          </a:p>
        </p:txBody>
      </p:sp>
      <p:sp>
        <p:nvSpPr>
          <p:cNvPr id="22" name="Rounded Rectangle 21"/>
          <p:cNvSpPr/>
          <p:nvPr/>
        </p:nvSpPr>
        <p:spPr>
          <a:xfrm>
            <a:off x="566928" y="4608576"/>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663440"/>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608576"/>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La v2 se compara contra la v1 del propio equipo: esa es la evidencia del proyecto.</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queda del curso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729081">
                <a:tc>
                  <a:txBody>
                    <a:bodyPr wrap="square"/>
                    <a:lstStyle/>
                    <a:p>
                      <a:r>
                        <a:rPr sz="1725" b="1">
                          <a:solidFill>
                            <a:srgbClr val="FFFFFF"/>
                          </a:solidFill>
                          <a:latin typeface="Aptos"/>
                        </a:rPr>
                        <a:t>Fecha</a:t>
                      </a:r>
                    </a:p>
                  </a:txBody>
                  <a:tcPr anchor="ctr" marL="146304" marR="146304">
                    <a:solidFill>
                      <a:srgbClr val="156082"/>
                    </a:solidFill>
                  </a:tcPr>
                </a:tc>
                <a:tc>
                  <a:txBody>
                    <a:bodyPr wrap="square"/>
                    <a:lstStyle/>
                    <a:p>
                      <a:r>
                        <a:rPr sz="1725" b="1">
                          <a:solidFill>
                            <a:srgbClr val="FFFFFF"/>
                          </a:solidFill>
                          <a:latin typeface="Aptos"/>
                        </a:rPr>
                        <a:t>Qué pasa</a:t>
                      </a:r>
                    </a:p>
                  </a:txBody>
                  <a:tcPr anchor="ctr" marL="146304" marR="146304">
                    <a:solidFill>
                      <a:srgbClr val="156082"/>
                    </a:solidFill>
                  </a:tcPr>
                </a:tc>
                <a:tc>
                  <a:txBody>
                    <a:bodyPr wrap="square"/>
                    <a:lstStyle/>
                    <a:p>
                      <a:r>
                        <a:rPr sz="1725" b="1">
                          <a:solidFill>
                            <a:srgbClr val="FFFFFF"/>
                          </a:solidFill>
                          <a:latin typeface="Aptos"/>
                        </a:rPr>
                        <a:t>Modalidad</a:t>
                      </a:r>
                    </a:p>
                  </a:txBody>
                  <a:tcPr anchor="ctr" marL="146304" marR="146304">
                    <a:solidFill>
                      <a:srgbClr val="156082"/>
                    </a:solidFill>
                  </a:tcPr>
                </a:tc>
              </a:tr>
              <a:tr h="729081">
                <a:tc>
                  <a:txBody>
                    <a:bodyPr wrap="square"/>
                    <a:lstStyle/>
                    <a:p>
                      <a:r>
                        <a:rPr sz="1609" b="1">
                          <a:solidFill>
                            <a:srgbClr val="33475B"/>
                          </a:solidFill>
                          <a:latin typeface="Aptos"/>
                        </a:rPr>
                        <a:t>Hoy, martes 27 de octubre</a:t>
                      </a:r>
                    </a:p>
                  </a:txBody>
                  <a:tcPr anchor="ctr" marL="146304" marR="146304">
                    <a:solidFill>
                      <a:srgbClr val="FFFFFF"/>
                    </a:solidFill>
                  </a:tcPr>
                </a:tc>
                <a:tc>
                  <a:txBody>
                    <a:bodyPr wrap="square"/>
                    <a:lstStyle/>
                    <a:p>
                      <a:r>
                        <a:rPr sz="1609" b="0">
                          <a:solidFill>
                            <a:srgbClr val="33475B"/>
                          </a:solidFill>
                          <a:latin typeface="Aptos"/>
                        </a:rPr>
                        <a:t>Asesoría: avance de la v2 y borrador del FO-IV-159</a:t>
                      </a:r>
                    </a:p>
                  </a:txBody>
                  <a:tcPr anchor="ctr" marL="146304" marR="146304">
                    <a:solidFill>
                      <a:srgbClr val="FFFFFF"/>
                    </a:solidFill>
                  </a:tcPr>
                </a:tc>
                <a:tc>
                  <a:txBody>
                    <a:bodyPr wrap="square"/>
                    <a:lstStyle/>
                    <a:p>
                      <a:r>
                        <a:rPr sz="1609" b="0">
                          <a:solidFill>
                            <a:srgbClr val="33475B"/>
                          </a:solidFill>
                          <a:latin typeface="Aptos"/>
                        </a:rPr>
                        <a:t>Equipo</a:t>
                      </a:r>
                    </a:p>
                  </a:txBody>
                  <a:tcPr anchor="ctr" marL="146304" marR="146304">
                    <a:solidFill>
                      <a:srgbClr val="FFFFFF"/>
                    </a:solidFill>
                  </a:tcPr>
                </a:tc>
              </a:tr>
              <a:tr h="729081">
                <a:tc>
                  <a:txBody>
                    <a:bodyPr wrap="square"/>
                    <a:lstStyle/>
                    <a:p>
                      <a:r>
                        <a:rPr sz="1609" b="1">
                          <a:solidFill>
                            <a:srgbClr val="33475B"/>
                          </a:solidFill>
                          <a:latin typeface="Aptos"/>
                        </a:rPr>
                        <a:t>Martes 3 de noviembre</a:t>
                      </a:r>
                    </a:p>
                  </a:txBody>
                  <a:tcPr anchor="ctr" marL="146304" marR="146304">
                    <a:solidFill>
                      <a:srgbClr val="F4F7FA"/>
                    </a:solidFill>
                  </a:tcPr>
                </a:tc>
                <a:tc>
                  <a:txBody>
                    <a:bodyPr wrap="square"/>
                    <a:lstStyle/>
                    <a:p>
                      <a:r>
                        <a:rPr sz="1609" b="0">
                          <a:solidFill>
                            <a:srgbClr val="33475B"/>
                          </a:solidFill>
                          <a:latin typeface="Aptos"/>
                        </a:rPr>
                        <a:t>Sustentación, 8 minutos por equipo</a:t>
                      </a:r>
                    </a:p>
                  </a:txBody>
                  <a:tcPr anchor="ctr" marL="146304" marR="146304">
                    <a:solidFill>
                      <a:srgbClr val="F4F7FA"/>
                    </a:solidFill>
                  </a:tcPr>
                </a:tc>
                <a:tc>
                  <a:txBody>
                    <a:bodyPr wrap="square"/>
                    <a:lstStyle/>
                    <a:p>
                      <a:r>
                        <a:rPr sz="1609" b="0">
                          <a:solidFill>
                            <a:srgbClr val="33475B"/>
                          </a:solidFill>
                          <a:latin typeface="Aptos"/>
                        </a:rPr>
                        <a:t>Equipo</a:t>
                      </a:r>
                    </a:p>
                  </a:txBody>
                  <a:tcPr anchor="ctr" marL="146304" marR="146304">
                    <a:solidFill>
                      <a:srgbClr val="F4F7FA"/>
                    </a:solidFill>
                  </a:tcPr>
                </a:tc>
              </a:tr>
              <a:tr h="729081">
                <a:tc>
                  <a:txBody>
                    <a:bodyPr wrap="square"/>
                    <a:lstStyle/>
                    <a:p>
                      <a:r>
                        <a:rPr sz="1609" b="1">
                          <a:solidFill>
                            <a:srgbClr val="33475B"/>
                          </a:solidFill>
                          <a:latin typeface="Aptos"/>
                        </a:rPr>
                        <a:t>Domingo 8 de noviembre, 11:59 p. m.</a:t>
                      </a:r>
                    </a:p>
                  </a:txBody>
                  <a:tcPr anchor="ctr" marL="146304" marR="146304">
                    <a:solidFill>
                      <a:srgbClr val="FFFFFF"/>
                    </a:solidFill>
                  </a:tcPr>
                </a:tc>
                <a:tc>
                  <a:txBody>
                    <a:bodyPr wrap="square"/>
                    <a:lstStyle/>
                    <a:p>
                      <a:r>
                        <a:rPr sz="1609" b="0">
                          <a:solidFill>
                            <a:srgbClr val="33475B"/>
                          </a:solidFill>
                          <a:latin typeface="Aptos"/>
                        </a:rPr>
                        <a:t>Entrega de la Actividad 3 con FO-IV-159 y anexos</a:t>
                      </a:r>
                    </a:p>
                  </a:txBody>
                  <a:tcPr anchor="ctr" marL="146304" marR="146304">
                    <a:solidFill>
                      <a:srgbClr val="FFFFFF"/>
                    </a:solidFill>
                  </a:tcPr>
                </a:tc>
                <a:tc>
                  <a:txBody>
                    <a:bodyPr wrap="square"/>
                    <a:lstStyle/>
                    <a:p>
                      <a:r>
                        <a:rPr sz="1609" b="0">
                          <a:solidFill>
                            <a:srgbClr val="33475B"/>
                          </a:solidFill>
                          <a:latin typeface="Aptos"/>
                        </a:rPr>
                        <a:t>Equipo</a:t>
                      </a:r>
                    </a:p>
                  </a:txBody>
                  <a:tcPr anchor="ctr" marL="146304" marR="146304">
                    <a:solidFill>
                      <a:srgbClr val="FFFFFF"/>
                    </a:solidFill>
                  </a:tcPr>
                </a:tc>
              </a:tr>
              <a:tr h="729081">
                <a:tc>
                  <a:txBody>
                    <a:bodyPr wrap="square"/>
                    <a:lstStyle/>
                    <a:p>
                      <a:r>
                        <a:rPr sz="1609" b="1">
                          <a:solidFill>
                            <a:srgbClr val="33475B"/>
                          </a:solidFill>
                          <a:latin typeface="Aptos"/>
                        </a:rPr>
                        <a:t>Domingo 8 de noviembre, 11:59 p. m.</a:t>
                      </a:r>
                    </a:p>
                  </a:txBody>
                  <a:tcPr anchor="ctr" marL="146304" marR="146304">
                    <a:solidFill>
                      <a:srgbClr val="F4F7FA"/>
                    </a:solidFill>
                  </a:tcPr>
                </a:tc>
                <a:tc>
                  <a:txBody>
                    <a:bodyPr wrap="square"/>
                    <a:lstStyle/>
                    <a:p>
                      <a:r>
                        <a:rPr sz="1609" b="0">
                          <a:solidFill>
                            <a:srgbClr val="33475B"/>
                          </a:solidFill>
                          <a:latin typeface="Aptos"/>
                        </a:rPr>
                        <a:t>Cierre del foro de la Unidad 3</a:t>
                      </a:r>
                    </a:p>
                  </a:txBody>
                  <a:tcPr anchor="ctr" marL="146304" marR="146304">
                    <a:solidFill>
                      <a:srgbClr val="F4F7FA"/>
                    </a:solidFill>
                  </a:tcPr>
                </a:tc>
                <a:tc>
                  <a:txBody>
                    <a:bodyPr wrap="square"/>
                    <a:lstStyle/>
                    <a:p>
                      <a:r>
                        <a:rPr sz="1609" b="0">
                          <a:solidFill>
                            <a:srgbClr val="33475B"/>
                          </a:solidFill>
                          <a:latin typeface="Aptos"/>
                        </a:rPr>
                        <a:t>Individual</a:t>
                      </a:r>
                    </a:p>
                  </a:txBody>
                  <a:tcPr anchor="ctr" marL="146304" marR="146304">
                    <a:solidFill>
                      <a:srgbClr val="F4F7FA"/>
                    </a:solidFill>
                  </a:tcPr>
                </a:tc>
              </a:tr>
              <a:tr h="729081">
                <a:tc>
                  <a:txBody>
                    <a:bodyPr wrap="square"/>
                    <a:lstStyle/>
                    <a:p>
                      <a:r>
                        <a:rPr sz="1609" b="1">
                          <a:solidFill>
                            <a:srgbClr val="33475B"/>
                          </a:solidFill>
                          <a:latin typeface="Aptos"/>
                        </a:rPr>
                        <a:t>Domingo 8 de noviembre, 11:59 p. m.</a:t>
                      </a:r>
                    </a:p>
                  </a:txBody>
                  <a:tcPr anchor="ctr" marL="146304" marR="146304">
                    <a:solidFill>
                      <a:srgbClr val="FFFFFF"/>
                    </a:solidFill>
                  </a:tcPr>
                </a:tc>
                <a:tc>
                  <a:txBody>
                    <a:bodyPr wrap="square"/>
                    <a:lstStyle/>
                    <a:p>
                      <a:r>
                        <a:rPr sz="1609" b="0">
                          <a:solidFill>
                            <a:srgbClr val="33475B"/>
                          </a:solidFill>
                          <a:latin typeface="Aptos"/>
                        </a:rPr>
                        <a:t>Cierre de A1 y A2 para quien no ha entregado</a:t>
                      </a:r>
                    </a:p>
                  </a:txBody>
                  <a:tcPr anchor="ctr" marL="146304" marR="146304">
                    <a:solidFill>
                      <a:srgbClr val="FFFFFF"/>
                    </a:solidFill>
                  </a:tcPr>
                </a:tc>
                <a:tc>
                  <a:txBody>
                    <a:bodyPr wrap="square"/>
                    <a:lstStyle/>
                    <a:p>
                      <a:r>
                        <a:rPr sz="1609" b="0">
                          <a:solidFill>
                            <a:srgbClr val="33475B"/>
                          </a:solidFill>
                          <a:latin typeface="Aptos"/>
                        </a:rPr>
                        <a:t>Según actividad</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Semáforo de su equipo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v1 etiquetada</a:t>
            </a:r>
          </a:p>
          <a:p>
            <a:pPr algn="l">
              <a:lnSpc>
                <a:spcPct val="120000"/>
              </a:lnSpc>
              <a:spcBef>
                <a:spcPts val="700"/>
              </a:spcBef>
            </a:pPr>
            <a:r>
              <a:rPr sz="1560" b="0">
                <a:solidFill>
                  <a:srgbClr val="33475B"/>
                </a:solidFill>
                <a:latin typeface="Aptos"/>
              </a:rPr>
              <a:t>git tag v1 publicado en el repositorio</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Decisión tomada</a:t>
            </a:r>
          </a:p>
          <a:p>
            <a:pPr algn="l">
              <a:lnSpc>
                <a:spcPct val="120000"/>
              </a:lnSpc>
              <a:spcBef>
                <a:spcPts val="700"/>
              </a:spcBef>
            </a:pPr>
            <a:r>
              <a:rPr sz="1560" b="0">
                <a:solidFill>
                  <a:srgbClr val="33475B"/>
                </a:solidFill>
                <a:latin typeface="Aptos"/>
              </a:rPr>
              <a:t>patrón moderno elegido con matriz</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v2 en marcha</a:t>
            </a:r>
          </a:p>
          <a:p>
            <a:pPr algn="l">
              <a:lnSpc>
                <a:spcPct val="120000"/>
              </a:lnSpc>
              <a:spcBef>
                <a:spcPts val="700"/>
              </a:spcBef>
            </a:pPr>
            <a:r>
              <a:rPr sz="1560" b="0">
                <a:solidFill>
                  <a:srgbClr val="33475B"/>
                </a:solidFill>
                <a:latin typeface="Aptos"/>
              </a:rPr>
              <a:t>al menos un flujo corre de punta a punta</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FO-IV-159 iniciado</a:t>
            </a:r>
          </a:p>
          <a:p>
            <a:pPr algn="l">
              <a:lnSpc>
                <a:spcPct val="120000"/>
              </a:lnSpc>
              <a:spcBef>
                <a:spcPts val="700"/>
              </a:spcBef>
            </a:pPr>
            <a:r>
              <a:rPr sz="1560" b="0">
                <a:solidFill>
                  <a:srgbClr val="33475B"/>
                </a:solidFill>
                <a:latin typeface="Aptos"/>
              </a:rPr>
              <a:t>título, pregunta y objetivos escritos</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2. Cómo corre la asesoría</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Diez minutos por equipo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Estado</a:t>
            </a:r>
          </a:p>
          <a:p>
            <a:pPr algn="l">
              <a:lnSpc>
                <a:spcPct val="120000"/>
              </a:lnSpc>
              <a:spcBef>
                <a:spcPts val="700"/>
              </a:spcBef>
            </a:pPr>
            <a:r>
              <a:rPr sz="1560" b="0">
                <a:solidFill>
                  <a:srgbClr val="33475B"/>
                </a:solidFill>
                <a:latin typeface="Aptos"/>
              </a:rPr>
              <a:t>semáforo y bloqueo principal, 1 min</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Demo</a:t>
            </a:r>
          </a:p>
          <a:p>
            <a:pPr algn="l">
              <a:lnSpc>
                <a:spcPct val="120000"/>
              </a:lnSpc>
              <a:spcBef>
                <a:spcPts val="700"/>
              </a:spcBef>
            </a:pPr>
            <a:r>
              <a:rPr sz="1560" b="0">
                <a:solidFill>
                  <a:srgbClr val="33475B"/>
                </a:solidFill>
                <a:latin typeface="Aptos"/>
              </a:rPr>
              <a:t>la v1 y lo que ya corre de la v2, 3 min</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Medición</a:t>
            </a:r>
          </a:p>
          <a:p>
            <a:pPr algn="l">
              <a:lnSpc>
                <a:spcPct val="120000"/>
              </a:lnSpc>
              <a:spcBef>
                <a:spcPts val="700"/>
              </a:spcBef>
            </a:pPr>
            <a:r>
              <a:rPr sz="1560" b="0">
                <a:solidFill>
                  <a:srgbClr val="33475B"/>
                </a:solidFill>
                <a:latin typeface="Aptos"/>
              </a:rPr>
              <a:t>qué criterios y cómo, 2 min</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Comentarios</a:t>
            </a:r>
          </a:p>
          <a:p>
            <a:pPr algn="l">
              <a:lnSpc>
                <a:spcPct val="120000"/>
              </a:lnSpc>
              <a:spcBef>
                <a:spcPts val="700"/>
              </a:spcBef>
            </a:pPr>
            <a:r>
              <a:rPr sz="1560" b="0">
                <a:solidFill>
                  <a:srgbClr val="33475B"/>
                </a:solidFill>
                <a:latin typeface="Aptos"/>
              </a:rPr>
              <a:t>tutor y compañeros, 3 min</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Compromiso</a:t>
            </a:r>
          </a:p>
          <a:p>
            <a:pPr algn="l">
              <a:lnSpc>
                <a:spcPct val="120000"/>
              </a:lnSpc>
              <a:spcBef>
                <a:spcPts val="700"/>
              </a:spcBef>
            </a:pPr>
            <a:r>
              <a:rPr sz="1560" b="0">
                <a:solidFill>
                  <a:srgbClr val="33475B"/>
                </a:solidFill>
                <a:latin typeface="Aptos"/>
              </a:rPr>
              <a:t>lo que trae el 3 de noviembre, 1 min</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Las preguntas que hará el tutor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El dolor</a:t>
            </a:r>
          </a:p>
          <a:p>
            <a:pPr algn="l">
              <a:lnSpc>
                <a:spcPct val="120000"/>
              </a:lnSpc>
              <a:spcBef>
                <a:spcPts val="700"/>
              </a:spcBef>
            </a:pPr>
            <a:r>
              <a:rPr sz="1560" b="0">
                <a:solidFill>
                  <a:srgbClr val="33475B"/>
                </a:solidFill>
                <a:latin typeface="Aptos"/>
              </a:rPr>
              <a:t>¿qué límite de la v1 justifica migrar?</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La alternativa</a:t>
            </a:r>
          </a:p>
          <a:p>
            <a:pPr algn="l">
              <a:lnSpc>
                <a:spcPct val="120000"/>
              </a:lnSpc>
              <a:spcBef>
                <a:spcPts val="700"/>
              </a:spcBef>
            </a:pPr>
            <a:r>
              <a:rPr sz="1560" b="0">
                <a:solidFill>
                  <a:srgbClr val="33475B"/>
                </a:solidFill>
                <a:latin typeface="Aptos"/>
              </a:rPr>
              <a:t>¿qué otro patrón descartaron y por qué?</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La evidencia</a:t>
            </a:r>
          </a:p>
          <a:p>
            <a:pPr algn="l">
              <a:lnSpc>
                <a:spcPct val="120000"/>
              </a:lnSpc>
              <a:spcBef>
                <a:spcPts val="700"/>
              </a:spcBef>
            </a:pPr>
            <a:r>
              <a:rPr sz="1560" b="0">
                <a:solidFill>
                  <a:srgbClr val="33475B"/>
                </a:solidFill>
                <a:latin typeface="Aptos"/>
              </a:rPr>
              <a:t>¿qué medirán en v1 y en v2?</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El costo</a:t>
            </a:r>
          </a:p>
          <a:p>
            <a:pPr algn="l">
              <a:lnSpc>
                <a:spcPct val="120000"/>
              </a:lnSpc>
              <a:spcBef>
                <a:spcPts val="700"/>
              </a:spcBef>
            </a:pPr>
            <a:r>
              <a:rPr sz="1560" b="0">
                <a:solidFill>
                  <a:srgbClr val="33475B"/>
                </a:solidFill>
                <a:latin typeface="Aptos"/>
              </a:rPr>
              <a:t>¿qué empeora con la v2?</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3. De la v1 a la v2</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Primero se congela la v1</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6232"/>
            <a:ext cx="11064240" cy="237012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2075688"/>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039112"/>
            <a:ext cx="7315200" cy="237744"/>
          </a:xfrm>
          <a:prstGeom prst="rect">
            <a:avLst/>
          </a:prstGeom>
          <a:noFill/>
        </p:spPr>
        <p:txBody>
          <a:bodyPr wrap="square" anchor="t" lIns="0" rIns="0" tIns="0" bIns="0">
            <a:spAutoFit/>
          </a:bodyPr>
          <a:lstStyle/>
          <a:p>
            <a:pPr algn="l"/>
            <a:r>
              <a:rPr sz="1322" b="1">
                <a:solidFill>
                  <a:srgbClr val="E97132"/>
                </a:solidFill>
                <a:latin typeface="Aptos"/>
              </a:rPr>
              <a:t>CONGELAR LA V1 ANTES DE TOCARLA</a:t>
            </a:r>
          </a:p>
        </p:txBody>
      </p:sp>
      <p:sp>
        <p:nvSpPr>
          <p:cNvPr id="10" name="TextBox 9"/>
          <p:cNvSpPr txBox="1"/>
          <p:nvPr/>
        </p:nvSpPr>
        <p:spPr>
          <a:xfrm>
            <a:off x="877824" y="2423160"/>
            <a:ext cx="10515600" cy="1638604"/>
          </a:xfrm>
          <a:prstGeom prst="rect">
            <a:avLst/>
          </a:prstGeom>
          <a:noFill/>
        </p:spPr>
        <p:txBody>
          <a:bodyPr wrap="none" lIns="0" tIns="0">
            <a:spAutoFit/>
          </a:bodyPr>
          <a:lstStyle/>
          <a:p>
            <a:pPr>
              <a:lnSpc>
                <a:spcPct val="125000"/>
              </a:lnSpc>
            </a:pPr>
            <a:r>
              <a:rPr sz="1667">
                <a:solidFill>
                  <a:srgbClr val="E8E8E8"/>
                </a:solidFill>
                <a:latin typeface="Consolas"/>
              </a:rPr>
              <a:t>git tag v1</a:t>
            </a:r>
          </a:p>
          <a:p>
            <a:pPr>
              <a:lnSpc>
                <a:spcPct val="125000"/>
              </a:lnSpc>
            </a:pPr>
            <a:r>
              <a:rPr sz="1667">
                <a:solidFill>
                  <a:srgbClr val="E8E8E8"/>
                </a:solidFill>
                <a:latin typeface="Consolas"/>
              </a:rPr>
              <a:t>git push --tags</a:t>
            </a:r>
          </a:p>
          <a:p>
            <a:pPr>
              <a:lnSpc>
                <a:spcPct val="125000"/>
              </a:lnSpc>
            </a:pPr>
            <a:r>
              <a:rPr sz="1667">
                <a:solidFill>
                  <a:srgbClr val="E8E8E8"/>
                </a:solidFill>
                <a:latin typeface="Consolas"/>
              </a:rPr>
              <a:t>git switch -c v2</a:t>
            </a:r>
          </a:p>
        </p:txBody>
      </p:sp>
      <p:sp>
        <p:nvSpPr>
          <p:cNvPr id="11" name="Oval 10"/>
          <p:cNvSpPr/>
          <p:nvPr/>
        </p:nvSpPr>
        <p:spPr>
          <a:xfrm>
            <a:off x="585216" y="478139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427524"/>
            <a:ext cx="10698480" cy="808329"/>
          </a:xfrm>
          <a:prstGeom prst="rect">
            <a:avLst/>
          </a:prstGeom>
          <a:noFill/>
        </p:spPr>
        <p:txBody>
          <a:bodyPr wrap="square" anchor="ctr" lIns="0" rIns="0" tIns="0" bIns="0">
            <a:spAutoFit/>
          </a:bodyPr>
          <a:lstStyle/>
          <a:p>
            <a:pPr algn="l"/>
            <a:r>
              <a:rPr sz="2415" b="1">
                <a:solidFill>
                  <a:srgbClr val="0E2841"/>
                </a:solidFill>
                <a:latin typeface="Aptos"/>
              </a:rPr>
              <a:t>La v1 debe seguir ejecutándose</a:t>
            </a:r>
          </a:p>
        </p:txBody>
      </p:sp>
      <p:sp>
        <p:nvSpPr>
          <p:cNvPr id="13" name="Oval 12"/>
          <p:cNvSpPr/>
          <p:nvPr/>
        </p:nvSpPr>
        <p:spPr>
          <a:xfrm>
            <a:off x="585216" y="558972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235854"/>
            <a:ext cx="10698480" cy="808329"/>
          </a:xfrm>
          <a:prstGeom prst="rect">
            <a:avLst/>
          </a:prstGeom>
          <a:noFill/>
        </p:spPr>
        <p:txBody>
          <a:bodyPr wrap="square" anchor="ctr" lIns="0" rIns="0" tIns="0" bIns="0">
            <a:spAutoFit/>
          </a:bodyPr>
          <a:lstStyle/>
          <a:p>
            <a:pPr algn="l"/>
            <a:r>
              <a:rPr sz="2415" b="1">
                <a:solidFill>
                  <a:srgbClr val="0E2841"/>
                </a:solidFill>
                <a:latin typeface="Aptos"/>
              </a:rPr>
              <a:t>El README explica cómo correr las dos</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migración sale del dolor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2788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Dolor de la v1</a:t>
            </a:r>
          </a:p>
          <a:p>
            <a:pPr algn="ctr">
              <a:lnSpc>
                <a:spcPct val="120000"/>
              </a:lnSpc>
              <a:spcBef>
                <a:spcPts val="700"/>
              </a:spcBef>
            </a:pPr>
            <a:r>
              <a:rPr sz="1439" b="0">
                <a:solidFill>
                  <a:srgbClr val="7A8B9E"/>
                </a:solidFill>
                <a:latin typeface="Aptos"/>
              </a:rPr>
              <a:t>con evidencia</a:t>
            </a:r>
          </a:p>
        </p:txBody>
      </p:sp>
      <p:sp>
        <p:nvSpPr>
          <p:cNvPr id="10" name="Chevron 9"/>
          <p:cNvSpPr/>
          <p:nvPr/>
        </p:nvSpPr>
        <p:spPr>
          <a:xfrm>
            <a:off x="3136392"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827886"/>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Atributo de calidad</a:t>
            </a:r>
          </a:p>
          <a:p>
            <a:pPr algn="ctr">
              <a:lnSpc>
                <a:spcPct val="120000"/>
              </a:lnSpc>
              <a:spcBef>
                <a:spcPts val="700"/>
              </a:spcBef>
            </a:pPr>
            <a:r>
              <a:rPr sz="1439" b="0">
                <a:solidFill>
                  <a:srgbClr val="7A8B9E"/>
                </a:solidFill>
                <a:latin typeface="Aptos"/>
              </a:rPr>
              <a:t>el que manda</a:t>
            </a:r>
          </a:p>
        </p:txBody>
      </p:sp>
      <p:sp>
        <p:nvSpPr>
          <p:cNvPr id="14" name="Chevron 13"/>
          <p:cNvSpPr/>
          <p:nvPr/>
        </p:nvSpPr>
        <p:spPr>
          <a:xfrm>
            <a:off x="5998464"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827886"/>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Patrón moderno</a:t>
            </a:r>
          </a:p>
          <a:p>
            <a:pPr algn="ctr">
              <a:lnSpc>
                <a:spcPct val="120000"/>
              </a:lnSpc>
              <a:spcBef>
                <a:spcPts val="700"/>
              </a:spcBef>
            </a:pPr>
            <a:r>
              <a:rPr sz="1439" b="0">
                <a:solidFill>
                  <a:srgbClr val="7A8B9E"/>
                </a:solidFill>
                <a:latin typeface="Aptos"/>
              </a:rPr>
              <a:t>el que lo atiende</a:t>
            </a:r>
          </a:p>
        </p:txBody>
      </p:sp>
      <p:sp>
        <p:nvSpPr>
          <p:cNvPr id="18" name="Chevron 17"/>
          <p:cNvSpPr/>
          <p:nvPr/>
        </p:nvSpPr>
        <p:spPr>
          <a:xfrm>
            <a:off x="8860536" y="257169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82788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82788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43223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Métrica</a:t>
            </a:r>
          </a:p>
          <a:p>
            <a:pPr algn="ctr">
              <a:lnSpc>
                <a:spcPct val="120000"/>
              </a:lnSpc>
              <a:spcBef>
                <a:spcPts val="700"/>
              </a:spcBef>
            </a:pPr>
            <a:r>
              <a:rPr sz="1439" b="0">
                <a:solidFill>
                  <a:srgbClr val="7A8B9E"/>
                </a:solidFill>
                <a:latin typeface="Aptos"/>
              </a:rPr>
              <a:t>lo que lo prueba</a:t>
            </a:r>
          </a:p>
        </p:txBody>
      </p:sp>
      <p:sp>
        <p:nvSpPr>
          <p:cNvPr id="22" name="Rounded Rectangle 21"/>
          <p:cNvSpPr/>
          <p:nvPr/>
        </p:nvSpPr>
        <p:spPr>
          <a:xfrm>
            <a:off x="566928" y="4608576"/>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4663440"/>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608576"/>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«La v1 no escala» no es un dolor. «Agregar el aviso obligó a tocar tres capas» sí lo es.</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Seis criterios, elija al menos tres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Criterio</a:t>
                      </a:r>
                    </a:p>
                  </a:txBody>
                  <a:tcPr anchor="ctr" marL="146304" marR="146304">
                    <a:solidFill>
                      <a:srgbClr val="156082"/>
                    </a:solidFill>
                  </a:tcPr>
                </a:tc>
                <a:tc>
                  <a:txBody>
                    <a:bodyPr wrap="square"/>
                    <a:lstStyle/>
                    <a:p>
                      <a:r>
                        <a:rPr sz="1688" b="1">
                          <a:solidFill>
                            <a:srgbClr val="FFFFFF"/>
                          </a:solidFill>
                          <a:latin typeface="Aptos"/>
                        </a:rPr>
                        <a:t>Cómo se mide</a:t>
                      </a:r>
                    </a:p>
                  </a:txBody>
                  <a:tcPr anchor="ctr" marL="146304" marR="146304">
                    <a:solidFill>
                      <a:srgbClr val="156082"/>
                    </a:solidFill>
                  </a:tcPr>
                </a:tc>
              </a:tr>
              <a:tr h="624927">
                <a:tc>
                  <a:txBody>
                    <a:bodyPr wrap="square"/>
                    <a:lstStyle/>
                    <a:p>
                      <a:r>
                        <a:rPr sz="1576" b="1">
                          <a:solidFill>
                            <a:srgbClr val="33475B"/>
                          </a:solidFill>
                          <a:latin typeface="Aptos"/>
                        </a:rPr>
                        <a:t>Costo de un cambio</a:t>
                      </a:r>
                    </a:p>
                  </a:txBody>
                  <a:tcPr anchor="ctr" marL="146304" marR="146304">
                    <a:solidFill>
                      <a:srgbClr val="FFFFFF"/>
                    </a:solidFill>
                  </a:tcPr>
                </a:tc>
                <a:tc>
                  <a:txBody>
                    <a:bodyPr wrap="square"/>
                    <a:lstStyle/>
                    <a:p>
                      <a:r>
                        <a:rPr sz="1576" b="0">
                          <a:solidFill>
                            <a:srgbClr val="33475B"/>
                          </a:solidFill>
                          <a:latin typeface="Aptos"/>
                        </a:rPr>
                        <a:t>Misma funcionalidad en v1 y v2; archivos y líneas</a:t>
                      </a:r>
                    </a:p>
                  </a:txBody>
                  <a:tcPr anchor="ctr" marL="146304" marR="146304">
                    <a:solidFill>
                      <a:srgbClr val="FFFFFF"/>
                    </a:solidFill>
                  </a:tcPr>
                </a:tc>
              </a:tr>
              <a:tr h="624927">
                <a:tc>
                  <a:txBody>
                    <a:bodyPr wrap="square"/>
                    <a:lstStyle/>
                    <a:p>
                      <a:r>
                        <a:rPr sz="1576" b="1">
                          <a:solidFill>
                            <a:srgbClr val="33475B"/>
                          </a:solidFill>
                          <a:latin typeface="Aptos"/>
                        </a:rPr>
                        <a:t>Acoplamiento</a:t>
                      </a:r>
                    </a:p>
                  </a:txBody>
                  <a:tcPr anchor="ctr" marL="146304" marR="146304">
                    <a:solidFill>
                      <a:srgbClr val="F4F7FA"/>
                    </a:solidFill>
                  </a:tcPr>
                </a:tc>
                <a:tc>
                  <a:txBody>
                    <a:bodyPr wrap="square"/>
                    <a:lstStyle/>
                    <a:p>
                      <a:r>
                        <a:rPr sz="1576" b="0">
                          <a:solidFill>
                            <a:srgbClr val="33475B"/>
                          </a:solidFill>
                          <a:latin typeface="Aptos"/>
                        </a:rPr>
                        <a:t>Dependencias entre módulos</a:t>
                      </a:r>
                    </a:p>
                  </a:txBody>
                  <a:tcPr anchor="ctr" marL="146304" marR="146304">
                    <a:solidFill>
                      <a:srgbClr val="F4F7FA"/>
                    </a:solidFill>
                  </a:tcPr>
                </a:tc>
              </a:tr>
              <a:tr h="624927">
                <a:tc>
                  <a:txBody>
                    <a:bodyPr wrap="square"/>
                    <a:lstStyle/>
                    <a:p>
                      <a:r>
                        <a:rPr sz="1576" b="1">
                          <a:solidFill>
                            <a:srgbClr val="33475B"/>
                          </a:solidFill>
                          <a:latin typeface="Aptos"/>
                        </a:rPr>
                        <a:t>Despliegue independiente</a:t>
                      </a:r>
                    </a:p>
                  </a:txBody>
                  <a:tcPr anchor="ctr" marL="146304" marR="146304">
                    <a:solidFill>
                      <a:srgbClr val="FFFFFF"/>
                    </a:solidFill>
                  </a:tcPr>
                </a:tc>
                <a:tc>
                  <a:txBody>
                    <a:bodyPr wrap="square"/>
                    <a:lstStyle/>
                    <a:p>
                      <a:r>
                        <a:rPr sz="1576" b="0">
                          <a:solidFill>
                            <a:srgbClr val="33475B"/>
                          </a:solidFill>
                          <a:latin typeface="Aptos"/>
                        </a:rPr>
                        <a:t>Sí o no, con evidencia</a:t>
                      </a:r>
                    </a:p>
                  </a:txBody>
                  <a:tcPr anchor="ctr" marL="146304" marR="146304">
                    <a:solidFill>
                      <a:srgbClr val="FFFFFF"/>
                    </a:solidFill>
                  </a:tcPr>
                </a:tc>
              </a:tr>
              <a:tr h="624927">
                <a:tc>
                  <a:txBody>
                    <a:bodyPr wrap="square"/>
                    <a:lstStyle/>
                    <a:p>
                      <a:r>
                        <a:rPr sz="1576" b="1">
                          <a:solidFill>
                            <a:srgbClr val="33475B"/>
                          </a:solidFill>
                          <a:latin typeface="Aptos"/>
                        </a:rPr>
                        <a:t>Rendimiento</a:t>
                      </a:r>
                    </a:p>
                  </a:txBody>
                  <a:tcPr anchor="ctr" marL="146304" marR="146304">
                    <a:solidFill>
                      <a:srgbClr val="F4F7FA"/>
                    </a:solidFill>
                  </a:tcPr>
                </a:tc>
                <a:tc>
                  <a:txBody>
                    <a:bodyPr wrap="square"/>
                    <a:lstStyle/>
                    <a:p>
                      <a:r>
                        <a:rPr sz="1576" b="0">
                          <a:solidFill>
                            <a:srgbClr val="33475B"/>
                          </a:solidFill>
                          <a:latin typeface="Aptos"/>
                        </a:rPr>
                        <a:t>Latencia p95 con la misma carga</a:t>
                      </a:r>
                    </a:p>
                  </a:txBody>
                  <a:tcPr anchor="ctr" marL="146304" marR="146304">
                    <a:solidFill>
                      <a:srgbClr val="F4F7FA"/>
                    </a:solidFill>
                  </a:tcPr>
                </a:tc>
              </a:tr>
              <a:tr h="624927">
                <a:tc>
                  <a:txBody>
                    <a:bodyPr wrap="square"/>
                    <a:lstStyle/>
                    <a:p>
                      <a:r>
                        <a:rPr sz="1576" b="1">
                          <a:solidFill>
                            <a:srgbClr val="33475B"/>
                          </a:solidFill>
                          <a:latin typeface="Aptos"/>
                        </a:rPr>
                        <a:t>Tolerancia a fallos</a:t>
                      </a:r>
                    </a:p>
                  </a:txBody>
                  <a:tcPr anchor="ctr" marL="146304" marR="146304">
                    <a:solidFill>
                      <a:srgbClr val="FFFFFF"/>
                    </a:solidFill>
                  </a:tcPr>
                </a:tc>
                <a:tc>
                  <a:txBody>
                    <a:bodyPr wrap="square"/>
                    <a:lstStyle/>
                    <a:p>
                      <a:r>
                        <a:rPr sz="1576" b="0">
                          <a:solidFill>
                            <a:srgbClr val="33475B"/>
                          </a:solidFill>
                          <a:latin typeface="Aptos"/>
                        </a:rPr>
                        <a:t>Apagar un componente y observar</a:t>
                      </a:r>
                    </a:p>
                  </a:txBody>
                  <a:tcPr anchor="ctr" marL="146304" marR="146304">
                    <a:solidFill>
                      <a:srgbClr val="FFFFFF"/>
                    </a:solidFill>
                  </a:tcPr>
                </a:tc>
              </a:tr>
              <a:tr h="624927">
                <a:tc>
                  <a:txBody>
                    <a:bodyPr wrap="square"/>
                    <a:lstStyle/>
                    <a:p>
                      <a:r>
                        <a:rPr sz="1576" b="1">
                          <a:solidFill>
                            <a:srgbClr val="33475B"/>
                          </a:solidFill>
                          <a:latin typeface="Aptos"/>
                        </a:rPr>
                        <a:t>Facilidad de prueba</a:t>
                      </a:r>
                    </a:p>
                  </a:txBody>
                  <a:tcPr anchor="ctr" marL="146304" marR="146304">
                    <a:solidFill>
                      <a:srgbClr val="F4F7FA"/>
                    </a:solidFill>
                  </a:tcPr>
                </a:tc>
                <a:tc>
                  <a:txBody>
                    <a:bodyPr wrap="square"/>
                    <a:lstStyle/>
                    <a:p>
                      <a:r>
                        <a:rPr sz="1576" b="0">
                          <a:solidFill>
                            <a:srgbClr val="33475B"/>
                          </a:solidFill>
                          <a:latin typeface="Aptos"/>
                        </a:rPr>
                        <a:t>Pruebas del dominio y cobertura</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Medir el costo de un cambio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Elegir el cambio</a:t>
            </a:r>
          </a:p>
          <a:p>
            <a:pPr algn="l">
              <a:lnSpc>
                <a:spcPct val="120000"/>
              </a:lnSpc>
              <a:spcBef>
                <a:spcPts val="700"/>
              </a:spcBef>
            </a:pPr>
            <a:r>
              <a:rPr sz="1560" b="0">
                <a:solidFill>
                  <a:srgbClr val="33475B"/>
                </a:solidFill>
                <a:latin typeface="Aptos"/>
              </a:rPr>
              <a:t>una funcionalidad nueva y pequeña</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Hacerlo en la v1</a:t>
            </a:r>
          </a:p>
          <a:p>
            <a:pPr algn="l">
              <a:lnSpc>
                <a:spcPct val="120000"/>
              </a:lnSpc>
              <a:spcBef>
                <a:spcPts val="700"/>
              </a:spcBef>
            </a:pPr>
            <a:r>
              <a:rPr sz="1560" b="0">
                <a:solidFill>
                  <a:srgbClr val="33475B"/>
                </a:solidFill>
                <a:latin typeface="Aptos"/>
              </a:rPr>
              <a:t>rama desde la etiqueta v1</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Hacerlo en la v2</a:t>
            </a:r>
          </a:p>
          <a:p>
            <a:pPr algn="l">
              <a:lnSpc>
                <a:spcPct val="120000"/>
              </a:lnSpc>
              <a:spcBef>
                <a:spcPts val="700"/>
              </a:spcBef>
            </a:pPr>
            <a:r>
              <a:rPr sz="1560" b="0">
                <a:solidFill>
                  <a:srgbClr val="33475B"/>
                </a:solidFill>
                <a:latin typeface="Aptos"/>
              </a:rPr>
              <a:t>rama desde la v2</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Contar</a:t>
            </a:r>
          </a:p>
          <a:p>
            <a:pPr algn="l">
              <a:lnSpc>
                <a:spcPct val="120000"/>
              </a:lnSpc>
              <a:spcBef>
                <a:spcPts val="700"/>
              </a:spcBef>
            </a:pPr>
            <a:r>
              <a:rPr sz="1560" b="0">
                <a:solidFill>
                  <a:srgbClr val="33475B"/>
                </a:solidFill>
                <a:latin typeface="Aptos"/>
              </a:rPr>
              <a:t>git diff --stat en cada rama</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Concluir</a:t>
            </a:r>
          </a:p>
          <a:p>
            <a:pPr algn="l">
              <a:lnSpc>
                <a:spcPct val="120000"/>
              </a:lnSpc>
              <a:spcBef>
                <a:spcPts val="700"/>
              </a:spcBef>
            </a:pPr>
            <a:r>
              <a:rPr sz="1560" b="0">
                <a:solidFill>
                  <a:srgbClr val="33475B"/>
                </a:solidFill>
                <a:latin typeface="Aptos"/>
              </a:rPr>
              <a:t>qué capas se tocaron y por qué</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Así se reporta la comparación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5"/>
        </p:xfrm>
        <a:graphic>
          <a:graphicData uri="http://schemas.openxmlformats.org/drawingml/2006/table">
            <a:tbl>
              <a:tblPr firstRow="1">
                <a:tableStyleId>{5C22544A-7EE6-4342-B048-85BDC9FD1C3A}</a:tableStyleId>
              </a:tblPr>
              <a:tblGrid>
                <a:gridCol w="2766060"/>
                <a:gridCol w="2766060"/>
                <a:gridCol w="2766060"/>
                <a:gridCol w="2766060"/>
              </a:tblGrid>
              <a:tr h="874897">
                <a:tc>
                  <a:txBody>
                    <a:bodyPr wrap="square"/>
                    <a:lstStyle/>
                    <a:p>
                      <a:r>
                        <a:rPr sz="1725" b="1">
                          <a:solidFill>
                            <a:srgbClr val="FFFFFF"/>
                          </a:solidFill>
                          <a:latin typeface="Aptos"/>
                        </a:rPr>
                        <a:t>Criterio</a:t>
                      </a:r>
                    </a:p>
                  </a:txBody>
                  <a:tcPr anchor="ctr" marL="146304" marR="146304">
                    <a:solidFill>
                      <a:srgbClr val="156082"/>
                    </a:solidFill>
                  </a:tcPr>
                </a:tc>
                <a:tc>
                  <a:txBody>
                    <a:bodyPr wrap="square"/>
                    <a:lstStyle/>
                    <a:p>
                      <a:r>
                        <a:rPr sz="1725" b="1">
                          <a:solidFill>
                            <a:srgbClr val="FFFFFF"/>
                          </a:solidFill>
                          <a:latin typeface="Aptos"/>
                        </a:rPr>
                        <a:t>v1 · capas</a:t>
                      </a:r>
                    </a:p>
                  </a:txBody>
                  <a:tcPr anchor="ctr" marL="146304" marR="146304">
                    <a:solidFill>
                      <a:srgbClr val="156082"/>
                    </a:solidFill>
                  </a:tcPr>
                </a:tc>
                <a:tc>
                  <a:txBody>
                    <a:bodyPr wrap="square"/>
                    <a:lstStyle/>
                    <a:p>
                      <a:r>
                        <a:rPr sz="1725" b="1">
                          <a:solidFill>
                            <a:srgbClr val="FFFFFF"/>
                          </a:solidFill>
                          <a:latin typeface="Aptos"/>
                        </a:rPr>
                        <a:t>v2 · hexagonal + eventos</a:t>
                      </a:r>
                    </a:p>
                  </a:txBody>
                  <a:tcPr anchor="ctr" marL="146304" marR="146304">
                    <a:solidFill>
                      <a:srgbClr val="156082"/>
                    </a:solidFill>
                  </a:tcPr>
                </a:tc>
                <a:tc>
                  <a:txBody>
                    <a:bodyPr wrap="square"/>
                    <a:lstStyle/>
                    <a:p>
                      <a:r>
                        <a:rPr sz="1725" b="1">
                          <a:solidFill>
                            <a:srgbClr val="FFFFFF"/>
                          </a:solidFill>
                          <a:latin typeface="Aptos"/>
                        </a:rPr>
                        <a:t>Lectura</a:t>
                      </a:r>
                    </a:p>
                  </a:txBody>
                  <a:tcPr anchor="ctr" marL="146304" marR="146304">
                    <a:solidFill>
                      <a:srgbClr val="156082"/>
                    </a:solidFill>
                  </a:tcPr>
                </a:tc>
              </a:tr>
              <a:tr h="874897">
                <a:tc>
                  <a:txBody>
                    <a:bodyPr wrap="square"/>
                    <a:lstStyle/>
                    <a:p>
                      <a:r>
                        <a:rPr sz="1609" b="1">
                          <a:solidFill>
                            <a:srgbClr val="33475B"/>
                          </a:solidFill>
                          <a:latin typeface="Aptos"/>
                        </a:rPr>
                        <a:t>Costo del cambio</a:t>
                      </a:r>
                    </a:p>
                  </a:txBody>
                  <a:tcPr anchor="ctr" marL="146304" marR="146304">
                    <a:solidFill>
                      <a:srgbClr val="FFFFFF"/>
                    </a:solidFill>
                  </a:tcPr>
                </a:tc>
                <a:tc>
                  <a:txBody>
                    <a:bodyPr wrap="square"/>
                    <a:lstStyle/>
                    <a:p>
                      <a:r>
                        <a:rPr sz="1609" b="0">
                          <a:solidFill>
                            <a:srgbClr val="33475B"/>
                          </a:solidFill>
                          <a:latin typeface="Aptos"/>
                        </a:rPr>
                        <a:t>Archivos y líneas medidos</a:t>
                      </a:r>
                    </a:p>
                  </a:txBody>
                  <a:tcPr anchor="ctr" marL="146304" marR="146304">
                    <a:solidFill>
                      <a:srgbClr val="FFFFFF"/>
                    </a:solidFill>
                  </a:tcPr>
                </a:tc>
                <a:tc>
                  <a:txBody>
                    <a:bodyPr wrap="square"/>
                    <a:lstStyle/>
                    <a:p>
                      <a:r>
                        <a:rPr sz="1609" b="0">
                          <a:solidFill>
                            <a:srgbClr val="33475B"/>
                          </a:solidFill>
                          <a:latin typeface="Aptos"/>
                        </a:rPr>
                        <a:t>Archivos y líneas medidos</a:t>
                      </a:r>
                    </a:p>
                  </a:txBody>
                  <a:tcPr anchor="ctr" marL="146304" marR="146304">
                    <a:solidFill>
                      <a:srgbClr val="FFFFFF"/>
                    </a:solidFill>
                  </a:tcPr>
                </a:tc>
                <a:tc>
                  <a:txBody>
                    <a:bodyPr wrap="square"/>
                    <a:lstStyle/>
                    <a:p>
                      <a:r>
                        <a:rPr sz="1609" b="0">
                          <a:solidFill>
                            <a:srgbClr val="33475B"/>
                          </a:solidFill>
                          <a:latin typeface="Aptos"/>
                        </a:rPr>
                        <a:t>Dónde cayó el cambio</a:t>
                      </a:r>
                    </a:p>
                  </a:txBody>
                  <a:tcPr anchor="ctr" marL="146304" marR="146304">
                    <a:solidFill>
                      <a:srgbClr val="FFFFFF"/>
                    </a:solidFill>
                  </a:tcPr>
                </a:tc>
              </a:tr>
              <a:tr h="874897">
                <a:tc>
                  <a:txBody>
                    <a:bodyPr wrap="square"/>
                    <a:lstStyle/>
                    <a:p>
                      <a:r>
                        <a:rPr sz="1609" b="1">
                          <a:solidFill>
                            <a:srgbClr val="33475B"/>
                          </a:solidFill>
                          <a:latin typeface="Aptos"/>
                        </a:rPr>
                        <a:t>Facilidad de prueba</a:t>
                      </a:r>
                    </a:p>
                  </a:txBody>
                  <a:tcPr anchor="ctr" marL="146304" marR="146304">
                    <a:solidFill>
                      <a:srgbClr val="F4F7FA"/>
                    </a:solidFill>
                  </a:tcPr>
                </a:tc>
                <a:tc>
                  <a:txBody>
                    <a:bodyPr wrap="square"/>
                    <a:lstStyle/>
                    <a:p>
                      <a:r>
                        <a:rPr sz="1609" b="0">
                          <a:solidFill>
                            <a:srgbClr val="33475B"/>
                          </a:solidFill>
                          <a:latin typeface="Aptos"/>
                        </a:rPr>
                        <a:t>Pruebas que exigen la base</a:t>
                      </a:r>
                    </a:p>
                  </a:txBody>
                  <a:tcPr anchor="ctr" marL="146304" marR="146304">
                    <a:solidFill>
                      <a:srgbClr val="F4F7FA"/>
                    </a:solidFill>
                  </a:tcPr>
                </a:tc>
                <a:tc>
                  <a:txBody>
                    <a:bodyPr wrap="square"/>
                    <a:lstStyle/>
                    <a:p>
                      <a:r>
                        <a:rPr sz="1609" b="0">
                          <a:solidFill>
                            <a:srgbClr val="33475B"/>
                          </a:solidFill>
                          <a:latin typeface="Aptos"/>
                        </a:rPr>
                        <a:t>Pruebas del dominio puro</a:t>
                      </a:r>
                    </a:p>
                  </a:txBody>
                  <a:tcPr anchor="ctr" marL="146304" marR="146304">
                    <a:solidFill>
                      <a:srgbClr val="F4F7FA"/>
                    </a:solidFill>
                  </a:tcPr>
                </a:tc>
                <a:tc>
                  <a:txBody>
                    <a:bodyPr wrap="square"/>
                    <a:lstStyle/>
                    <a:p>
                      <a:r>
                        <a:rPr sz="1609" b="0">
                          <a:solidFill>
                            <a:srgbClr val="33475B"/>
                          </a:solidFill>
                          <a:latin typeface="Aptos"/>
                        </a:rPr>
                        <a:t>Qué se prueba aislado</a:t>
                      </a:r>
                    </a:p>
                  </a:txBody>
                  <a:tcPr anchor="ctr" marL="146304" marR="146304">
                    <a:solidFill>
                      <a:srgbClr val="F4F7FA"/>
                    </a:solidFill>
                  </a:tcPr>
                </a:tc>
              </a:tr>
              <a:tr h="874897">
                <a:tc>
                  <a:txBody>
                    <a:bodyPr wrap="square"/>
                    <a:lstStyle/>
                    <a:p>
                      <a:r>
                        <a:rPr sz="1609" b="1">
                          <a:solidFill>
                            <a:srgbClr val="33475B"/>
                          </a:solidFill>
                          <a:latin typeface="Aptos"/>
                        </a:rPr>
                        <a:t>Tolerancia a fallos</a:t>
                      </a:r>
                    </a:p>
                  </a:txBody>
                  <a:tcPr anchor="ctr" marL="146304" marR="146304">
                    <a:solidFill>
                      <a:srgbClr val="FFFFFF"/>
                    </a:solidFill>
                  </a:tcPr>
                </a:tc>
                <a:tc>
                  <a:txBody>
                    <a:bodyPr wrap="square"/>
                    <a:lstStyle/>
                    <a:p>
                      <a:r>
                        <a:rPr sz="1609" b="0">
                          <a:solidFill>
                            <a:srgbClr val="33475B"/>
                          </a:solidFill>
                          <a:latin typeface="Aptos"/>
                        </a:rPr>
                        <a:t>Qué pasa si cae el correo</a:t>
                      </a:r>
                    </a:p>
                  </a:txBody>
                  <a:tcPr anchor="ctr" marL="146304" marR="146304">
                    <a:solidFill>
                      <a:srgbClr val="FFFFFF"/>
                    </a:solidFill>
                  </a:tcPr>
                </a:tc>
                <a:tc>
                  <a:txBody>
                    <a:bodyPr wrap="square"/>
                    <a:lstStyle/>
                    <a:p>
                      <a:r>
                        <a:rPr sz="1609" b="0">
                          <a:solidFill>
                            <a:srgbClr val="33475B"/>
                          </a:solidFill>
                          <a:latin typeface="Aptos"/>
                        </a:rPr>
                        <a:t>Qué pasa si cae el consumidor</a:t>
                      </a:r>
                    </a:p>
                  </a:txBody>
                  <a:tcPr anchor="ctr" marL="146304" marR="146304">
                    <a:solidFill>
                      <a:srgbClr val="FFFFFF"/>
                    </a:solidFill>
                  </a:tcPr>
                </a:tc>
                <a:tc>
                  <a:txBody>
                    <a:bodyPr wrap="square"/>
                    <a:lstStyle/>
                    <a:p>
                      <a:r>
                        <a:rPr sz="1609" b="0">
                          <a:solidFill>
                            <a:srgbClr val="33475B"/>
                          </a:solidFill>
                          <a:latin typeface="Aptos"/>
                        </a:rPr>
                        <a:t>Qué sigue funcionando</a:t>
                      </a:r>
                    </a:p>
                  </a:txBody>
                  <a:tcPr anchor="ctr" marL="146304" marR="146304">
                    <a:solidFill>
                      <a:srgbClr val="FFFFFF"/>
                    </a:solidFill>
                  </a:tcPr>
                </a:tc>
              </a:tr>
              <a:tr h="874897">
                <a:tc>
                  <a:txBody>
                    <a:bodyPr wrap="square"/>
                    <a:lstStyle/>
                    <a:p>
                      <a:r>
                        <a:rPr sz="1609" b="1">
                          <a:solidFill>
                            <a:srgbClr val="33475B"/>
                          </a:solidFill>
                          <a:latin typeface="Aptos"/>
                        </a:rPr>
                        <a:t>Lo que empeoró</a:t>
                      </a:r>
                    </a:p>
                  </a:txBody>
                  <a:tcPr anchor="ctr" marL="146304" marR="146304">
                    <a:solidFill>
                      <a:srgbClr val="F4F7FA"/>
                    </a:solidFill>
                  </a:tcPr>
                </a:tc>
                <a:tc>
                  <a:txBody>
                    <a:bodyPr wrap="square"/>
                    <a:lstStyle/>
                    <a:p>
                      <a:r>
                        <a:rPr sz="1609" b="0">
                          <a:solidFill>
                            <a:srgbClr val="33475B"/>
                          </a:solidFill>
                          <a:latin typeface="Aptos"/>
                        </a:rPr>
                        <a:t>—</a:t>
                      </a:r>
                    </a:p>
                  </a:txBody>
                  <a:tcPr anchor="ctr" marL="146304" marR="146304">
                    <a:solidFill>
                      <a:srgbClr val="F4F7FA"/>
                    </a:solidFill>
                  </a:tcPr>
                </a:tc>
                <a:tc>
                  <a:txBody>
                    <a:bodyPr wrap="square"/>
                    <a:lstStyle/>
                    <a:p>
                      <a:r>
                        <a:rPr sz="1609" b="0">
                          <a:solidFill>
                            <a:srgbClr val="33475B"/>
                          </a:solidFill>
                          <a:latin typeface="Aptos"/>
                        </a:rPr>
                        <a:t>Más piezas y un broker</a:t>
                      </a:r>
                    </a:p>
                  </a:txBody>
                  <a:tcPr anchor="ctr" marL="146304" marR="146304">
                    <a:solidFill>
                      <a:srgbClr val="F4F7FA"/>
                    </a:solidFill>
                  </a:tcPr>
                </a:tc>
                <a:tc>
                  <a:txBody>
                    <a:bodyPr wrap="square"/>
                    <a:lstStyle/>
                    <a:p>
                      <a:r>
                        <a:rPr sz="1609" b="0">
                          <a:solidFill>
                            <a:srgbClr val="33475B"/>
                          </a:solidFill>
                          <a:latin typeface="Aptos"/>
                        </a:rPr>
                        <a:t>El costo aceptado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4. El FO-IV-159 sin vacíos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informe, tres pestañas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45920"/>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72768"/>
            <a:ext cx="11064240" cy="835747"/>
          </a:xfrm>
          <a:prstGeom prst="rect">
            <a:avLst/>
          </a:prstGeom>
          <a:noFill/>
        </p:spPr>
        <p:txBody>
          <a:bodyPr wrap="square" anchor="ctr" lIns="0" rIns="0" tIns="0" bIns="0">
            <a:spAutoFit/>
          </a:bodyPr>
          <a:lstStyle/>
          <a:p>
            <a:pPr algn="ctr"/>
            <a:r>
              <a:rPr sz="1853" b="1">
                <a:solidFill>
                  <a:srgbClr val="0E2841"/>
                </a:solidFill>
                <a:latin typeface="Aptos Display"/>
              </a:rPr>
              <a:t>INFORME  ·  los campos del proyecto, uno por fila</a:t>
            </a:r>
          </a:p>
        </p:txBody>
      </p:sp>
      <p:sp>
        <p:nvSpPr>
          <p:cNvPr id="10" name="Rounded Rectangle 9"/>
          <p:cNvSpPr/>
          <p:nvPr/>
        </p:nvSpPr>
        <p:spPr>
          <a:xfrm>
            <a:off x="1069848" y="2591972"/>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2665124"/>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2591972"/>
            <a:ext cx="10058400" cy="835747"/>
          </a:xfrm>
          <a:prstGeom prst="rect">
            <a:avLst/>
          </a:prstGeom>
          <a:noFill/>
        </p:spPr>
        <p:txBody>
          <a:bodyPr wrap="square" anchor="ctr" lIns="0" rIns="0" tIns="0" bIns="0">
            <a:spAutoFit/>
          </a:bodyPr>
          <a:lstStyle/>
          <a:p>
            <a:pPr algn="ctr"/>
            <a:r>
              <a:rPr sz="1853" b="1">
                <a:solidFill>
                  <a:srgbClr val="0E2841"/>
                </a:solidFill>
                <a:latin typeface="Aptos Display"/>
              </a:rPr>
              <a:t>ESTUDIANTE  ·  una fila por integrante, con identificación</a:t>
            </a:r>
          </a:p>
        </p:txBody>
      </p:sp>
      <p:sp>
        <p:nvSpPr>
          <p:cNvPr id="13" name="Rounded Rectangle 12"/>
          <p:cNvSpPr/>
          <p:nvPr/>
        </p:nvSpPr>
        <p:spPr>
          <a:xfrm>
            <a:off x="1572768" y="3611176"/>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3684328"/>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3611176"/>
            <a:ext cx="9052560" cy="835747"/>
          </a:xfrm>
          <a:prstGeom prst="rect">
            <a:avLst/>
          </a:prstGeom>
          <a:noFill/>
        </p:spPr>
        <p:txBody>
          <a:bodyPr wrap="square" anchor="ctr" lIns="0" rIns="0" tIns="0" bIns="0">
            <a:spAutoFit/>
          </a:bodyPr>
          <a:lstStyle/>
          <a:p>
            <a:pPr algn="ctr"/>
            <a:r>
              <a:rPr sz="1853" b="1">
                <a:solidFill>
                  <a:srgbClr val="0E2841"/>
                </a:solidFill>
                <a:latin typeface="Aptos Display"/>
              </a:rPr>
              <a:t>PRODUCTOS  ·  el catálogo de productos aceptados</a:t>
            </a:r>
          </a:p>
        </p:txBody>
      </p:sp>
      <p:sp>
        <p:nvSpPr>
          <p:cNvPr id="16" name="Rounded Rectangle 15"/>
          <p:cNvSpPr/>
          <p:nvPr/>
        </p:nvSpPr>
        <p:spPr>
          <a:xfrm>
            <a:off x="566928" y="483154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88641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31548"/>
            <a:ext cx="10378440" cy="1496099"/>
          </a:xfrm>
          <a:prstGeom prst="rect">
            <a:avLst/>
          </a:prstGeom>
          <a:noFill/>
        </p:spPr>
        <p:txBody>
          <a:bodyPr wrap="square" anchor="ctr" lIns="0" rIns="0" tIns="0" bIns="0">
            <a:spAutoFit/>
          </a:bodyPr>
          <a:lstStyle/>
          <a:p>
            <a:pPr algn="l">
              <a:lnSpc>
                <a:spcPct val="125000"/>
              </a:lnSpc>
            </a:pPr>
            <a:r>
              <a:rPr sz="2471" b="1">
                <a:solidFill>
                  <a:srgbClr val="0E2841"/>
                </a:solidFill>
                <a:latin typeface="Aptos Display"/>
              </a:rPr>
              <a:t>Uno por equipo. Cada campo trae su instrucción a la derecha: se reemplaza, no se deja.</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campo sale de un hito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Campo del FO-IV-159</a:t>
                      </a:r>
                    </a:p>
                  </a:txBody>
                  <a:tcPr anchor="ctr" marL="146304" marR="146304">
                    <a:solidFill>
                      <a:srgbClr val="156082"/>
                    </a:solidFill>
                  </a:tcPr>
                </a:tc>
                <a:tc>
                  <a:txBody>
                    <a:bodyPr wrap="square"/>
                    <a:lstStyle/>
                    <a:p>
                      <a:r>
                        <a:rPr sz="1725" b="1">
                          <a:solidFill>
                            <a:srgbClr val="FFFFFF"/>
                          </a:solidFill>
                          <a:latin typeface="Aptos"/>
                        </a:rPr>
                        <a:t>Sale de</a:t>
                      </a:r>
                    </a:p>
                  </a:txBody>
                  <a:tcPr anchor="ctr" marL="146304" marR="146304">
                    <a:solidFill>
                      <a:srgbClr val="156082"/>
                    </a:solidFill>
                  </a:tcPr>
                </a:tc>
              </a:tr>
              <a:tr h="729081">
                <a:tc>
                  <a:txBody>
                    <a:bodyPr wrap="square"/>
                    <a:lstStyle/>
                    <a:p>
                      <a:r>
                        <a:rPr sz="1609" b="1">
                          <a:solidFill>
                            <a:srgbClr val="33475B"/>
                          </a:solidFill>
                          <a:latin typeface="Aptos"/>
                        </a:rPr>
                        <a:t>Título y pregunta de investigación</a:t>
                      </a:r>
                    </a:p>
                  </a:txBody>
                  <a:tcPr anchor="ctr" marL="146304" marR="146304">
                    <a:solidFill>
                      <a:srgbClr val="FFFFFF"/>
                    </a:solidFill>
                  </a:tcPr>
                </a:tc>
                <a:tc>
                  <a:txBody>
                    <a:bodyPr wrap="square"/>
                    <a:lstStyle/>
                    <a:p>
                      <a:r>
                        <a:rPr sz="1609" b="0">
                          <a:solidFill>
                            <a:srgbClr val="33475B"/>
                          </a:solidFill>
                          <a:latin typeface="Aptos"/>
                        </a:rPr>
                        <a:t>H0 y H1</a:t>
                      </a:r>
                    </a:p>
                  </a:txBody>
                  <a:tcPr anchor="ctr" marL="146304" marR="146304">
                    <a:solidFill>
                      <a:srgbClr val="FFFFFF"/>
                    </a:solidFill>
                  </a:tcPr>
                </a:tc>
              </a:tr>
              <a:tr h="729081">
                <a:tc>
                  <a:txBody>
                    <a:bodyPr wrap="square"/>
                    <a:lstStyle/>
                    <a:p>
                      <a:r>
                        <a:rPr sz="1609" b="1">
                          <a:solidFill>
                            <a:srgbClr val="33475B"/>
                          </a:solidFill>
                          <a:latin typeface="Aptos"/>
                        </a:rPr>
                        <a:t>Planteamiento y justificación</a:t>
                      </a:r>
                    </a:p>
                  </a:txBody>
                  <a:tcPr anchor="ctr" marL="146304" marR="146304">
                    <a:solidFill>
                      <a:srgbClr val="F4F7FA"/>
                    </a:solidFill>
                  </a:tcPr>
                </a:tc>
                <a:tc>
                  <a:txBody>
                    <a:bodyPr wrap="square"/>
                    <a:lstStyle/>
                    <a:p>
                      <a:r>
                        <a:rPr sz="1609" b="0">
                          <a:solidFill>
                            <a:srgbClr val="33475B"/>
                          </a:solidFill>
                          <a:latin typeface="Aptos"/>
                        </a:rPr>
                        <a:t>Reto y H1, con fuentes en APA</a:t>
                      </a:r>
                    </a:p>
                  </a:txBody>
                  <a:tcPr anchor="ctr" marL="146304" marR="146304">
                    <a:solidFill>
                      <a:srgbClr val="F4F7FA"/>
                    </a:solidFill>
                  </a:tcPr>
                </a:tc>
              </a:tr>
              <a:tr h="729081">
                <a:tc>
                  <a:txBody>
                    <a:bodyPr wrap="square"/>
                    <a:lstStyle/>
                    <a:p>
                      <a:r>
                        <a:rPr sz="1609" b="1">
                          <a:solidFill>
                            <a:srgbClr val="33475B"/>
                          </a:solidFill>
                          <a:latin typeface="Aptos"/>
                        </a:rPr>
                        <a:t>Objetivo general y específicos</a:t>
                      </a:r>
                    </a:p>
                  </a:txBody>
                  <a:tcPr anchor="ctr" marL="146304" marR="146304">
                    <a:solidFill>
                      <a:srgbClr val="FFFFFF"/>
                    </a:solidFill>
                  </a:tcPr>
                </a:tc>
                <a:tc>
                  <a:txBody>
                    <a:bodyPr wrap="square"/>
                    <a:lstStyle/>
                    <a:p>
                      <a:r>
                        <a:rPr sz="1609" b="0">
                          <a:solidFill>
                            <a:srgbClr val="33475B"/>
                          </a:solidFill>
                          <a:latin typeface="Aptos"/>
                        </a:rPr>
                        <a:t>Los hitos H1 a H4</a:t>
                      </a:r>
                    </a:p>
                  </a:txBody>
                  <a:tcPr anchor="ctr" marL="146304" marR="146304">
                    <a:solidFill>
                      <a:srgbClr val="FFFFFF"/>
                    </a:solidFill>
                  </a:tcPr>
                </a:tc>
              </a:tr>
              <a:tr h="729081">
                <a:tc>
                  <a:txBody>
                    <a:bodyPr wrap="square"/>
                    <a:lstStyle/>
                    <a:p>
                      <a:r>
                        <a:rPr sz="1609" b="1">
                          <a:solidFill>
                            <a:srgbClr val="33475B"/>
                          </a:solidFill>
                          <a:latin typeface="Aptos"/>
                        </a:rPr>
                        <a:t>Resultados</a:t>
                      </a:r>
                    </a:p>
                  </a:txBody>
                  <a:tcPr anchor="ctr" marL="146304" marR="146304">
                    <a:solidFill>
                      <a:srgbClr val="F4F7FA"/>
                    </a:solidFill>
                  </a:tcPr>
                </a:tc>
                <a:tc>
                  <a:txBody>
                    <a:bodyPr wrap="square"/>
                    <a:lstStyle/>
                    <a:p>
                      <a:r>
                        <a:rPr sz="1609" b="0">
                          <a:solidFill>
                            <a:srgbClr val="33475B"/>
                          </a:solidFill>
                          <a:latin typeface="Aptos"/>
                        </a:rPr>
                        <a:t>La comparación medida del H4</a:t>
                      </a:r>
                    </a:p>
                  </a:txBody>
                  <a:tcPr anchor="ctr" marL="146304" marR="146304">
                    <a:solidFill>
                      <a:srgbClr val="F4F7FA"/>
                    </a:solidFill>
                  </a:tcPr>
                </a:tc>
              </a:tr>
              <a:tr h="729081">
                <a:tc>
                  <a:txBody>
                    <a:bodyPr wrap="square"/>
                    <a:lstStyle/>
                    <a:p>
                      <a:r>
                        <a:rPr sz="1609" b="1">
                          <a:solidFill>
                            <a:srgbClr val="33475B"/>
                          </a:solidFill>
                          <a:latin typeface="Aptos"/>
                        </a:rPr>
                        <a:t>Resumen, máximo 800 caracteres</a:t>
                      </a:r>
                    </a:p>
                  </a:txBody>
                  <a:tcPr anchor="ctr" marL="146304" marR="146304">
                    <a:solidFill>
                      <a:srgbClr val="FFFFFF"/>
                    </a:solidFill>
                  </a:tcPr>
                </a:tc>
                <a:tc>
                  <a:txBody>
                    <a:bodyPr wrap="square"/>
                    <a:lstStyle/>
                    <a:p>
                      <a:r>
                        <a:rPr sz="1609" b="0">
                          <a:solidFill>
                            <a:srgbClr val="33475B"/>
                          </a:solidFill>
                          <a:latin typeface="Aptos"/>
                        </a:rPr>
                        <a:t>Se escribe de último</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pregunta no se responde con sí</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858060"/>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Débil</a:t>
            </a:r>
          </a:p>
        </p:txBody>
      </p:sp>
      <p:sp>
        <p:nvSpPr>
          <p:cNvPr id="10" name="Oval 9"/>
          <p:cNvSpPr/>
          <p:nvPr/>
        </p:nvSpPr>
        <p:spPr>
          <a:xfrm>
            <a:off x="786384" y="317479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¿Es mejor la arquitectura hexagonal?</a:t>
            </a:r>
          </a:p>
        </p:txBody>
      </p:sp>
      <p:sp>
        <p:nvSpPr>
          <p:cNvPr id="12" name="Oval 11"/>
          <p:cNvSpPr/>
          <p:nvPr/>
        </p:nvSpPr>
        <p:spPr>
          <a:xfrm>
            <a:off x="786384" y="37783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Se responde con sí o no</a:t>
            </a:r>
          </a:p>
        </p:txBody>
      </p:sp>
      <p:sp>
        <p:nvSpPr>
          <p:cNvPr id="14" name="Oval 13"/>
          <p:cNvSpPr/>
          <p:nvPr/>
        </p:nvSpPr>
        <p:spPr>
          <a:xfrm>
            <a:off x="786384" y="43818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No dice dónde ni qué se mide</a:t>
            </a:r>
          </a:p>
        </p:txBody>
      </p:sp>
      <p:sp>
        <p:nvSpPr>
          <p:cNvPr id="16" name="Rounded Rectangle 15"/>
          <p:cNvSpPr/>
          <p:nvPr/>
        </p:nvSpPr>
        <p:spPr>
          <a:xfrm>
            <a:off x="6263640"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1858060"/>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Fuerte</a:t>
            </a:r>
          </a:p>
        </p:txBody>
      </p:sp>
      <p:sp>
        <p:nvSpPr>
          <p:cNvPr id="19" name="Oval 18"/>
          <p:cNvSpPr/>
          <p:nvPr/>
        </p:nvSpPr>
        <p:spPr>
          <a:xfrm>
            <a:off x="6483096" y="317479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¿En qué medida migrar de capas a hexagonal cambia la modificabilidad?</a:t>
            </a:r>
          </a:p>
        </p:txBody>
      </p:sp>
      <p:sp>
        <p:nvSpPr>
          <p:cNvPr id="21" name="Oval 20"/>
          <p:cNvSpPr/>
          <p:nvPr/>
        </p:nvSpPr>
        <p:spPr>
          <a:xfrm>
            <a:off x="6483096" y="37783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Nombra el sistema y el lugar</a:t>
            </a:r>
          </a:p>
        </p:txBody>
      </p:sp>
      <p:sp>
        <p:nvSpPr>
          <p:cNvPr id="23" name="Oval 22"/>
          <p:cNvSpPr/>
          <p:nvPr/>
        </p:nvSpPr>
        <p:spPr>
          <a:xfrm>
            <a:off x="6483096" y="43818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Nombra lo que se medirá</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objetivos siguen los hitos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Diagnosticar</a:t>
            </a:r>
          </a:p>
          <a:p>
            <a:pPr algn="l">
              <a:lnSpc>
                <a:spcPct val="120000"/>
              </a:lnSpc>
              <a:spcBef>
                <a:spcPts val="700"/>
              </a:spcBef>
            </a:pPr>
            <a:r>
              <a:rPr sz="1560" b="0">
                <a:solidFill>
                  <a:srgbClr val="33475B"/>
                </a:solidFill>
                <a:latin typeface="Aptos"/>
              </a:rPr>
              <a:t>los atributos de calidad del reto</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Implementar la v1</a:t>
            </a:r>
          </a:p>
          <a:p>
            <a:pPr algn="l">
              <a:lnSpc>
                <a:spcPct val="120000"/>
              </a:lnSpc>
              <a:spcBef>
                <a:spcPts val="700"/>
              </a:spcBef>
            </a:pPr>
            <a:r>
              <a:rPr sz="1560" b="0">
                <a:solidFill>
                  <a:srgbClr val="33475B"/>
                </a:solidFill>
                <a:latin typeface="Aptos"/>
              </a:rPr>
              <a:t>con un patrón clásico</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Seleccionar</a:t>
            </a:r>
          </a:p>
          <a:p>
            <a:pPr algn="l">
              <a:lnSpc>
                <a:spcPct val="120000"/>
              </a:lnSpc>
              <a:spcBef>
                <a:spcPts val="700"/>
              </a:spcBef>
            </a:pPr>
            <a:r>
              <a:rPr sz="1560" b="0">
                <a:solidFill>
                  <a:srgbClr val="33475B"/>
                </a:solidFill>
                <a:latin typeface="Aptos"/>
              </a:rPr>
              <a:t>un patrón moderno con criterios</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Implementar la v2</a:t>
            </a:r>
          </a:p>
          <a:p>
            <a:pPr algn="l">
              <a:lnSpc>
                <a:spcPct val="120000"/>
              </a:lnSpc>
              <a:spcBef>
                <a:spcPts val="700"/>
              </a:spcBef>
            </a:pPr>
            <a:r>
              <a:rPr sz="1560" b="0">
                <a:solidFill>
                  <a:srgbClr val="33475B"/>
                </a:solidFill>
                <a:latin typeface="Aptos"/>
              </a:rPr>
              <a:t>con el patrón elegido</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Comparar</a:t>
            </a:r>
          </a:p>
          <a:p>
            <a:pPr algn="l">
              <a:lnSpc>
                <a:spcPct val="120000"/>
              </a:lnSpc>
              <a:spcBef>
                <a:spcPts val="700"/>
              </a:spcBef>
            </a:pPr>
            <a:r>
              <a:rPr sz="1560" b="0">
                <a:solidFill>
                  <a:srgbClr val="33475B"/>
                </a:solidFill>
                <a:latin typeface="Aptos"/>
              </a:rPr>
              <a:t>las dos versiones con métricas</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Productos y anexos del informe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Desarrollo de software</a:t>
            </a:r>
          </a:p>
          <a:p>
            <a:pPr algn="l">
              <a:lnSpc>
                <a:spcPct val="120000"/>
              </a:lnSpc>
              <a:spcBef>
                <a:spcPts val="700"/>
              </a:spcBef>
            </a:pPr>
            <a:r>
              <a:rPr sz="1518" b="0">
                <a:solidFill>
                  <a:srgbClr val="33475B"/>
                </a:solidFill>
                <a:latin typeface="Aptos"/>
              </a:rPr>
              <a:t>la v1 y la v2 en el repositorio</a:t>
            </a:r>
          </a:p>
        </p:txBody>
      </p:sp>
      <p:sp>
        <p:nvSpPr>
          <p:cNvPr id="10" name="Rounded Rectangle 9"/>
          <p:cNvSpPr/>
          <p:nvPr/>
        </p:nvSpPr>
        <p:spPr>
          <a:xfrm>
            <a:off x="3410712"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Reporte de investigación</a:t>
            </a:r>
          </a:p>
          <a:p>
            <a:pPr algn="l">
              <a:lnSpc>
                <a:spcPct val="120000"/>
              </a:lnSpc>
              <a:spcBef>
                <a:spcPts val="700"/>
              </a:spcBef>
            </a:pPr>
            <a:r>
              <a:rPr sz="1518" b="0">
                <a:solidFill>
                  <a:srgbClr val="33475B"/>
                </a:solidFill>
                <a:latin typeface="Aptos"/>
              </a:rPr>
              <a:t>el documento técnico</a:t>
            </a:r>
          </a:p>
        </p:txBody>
      </p:sp>
      <p:sp>
        <p:nvSpPr>
          <p:cNvPr id="13" name="Rounded Rectangle 12"/>
          <p:cNvSpPr/>
          <p:nvPr/>
        </p:nvSpPr>
        <p:spPr>
          <a:xfrm>
            <a:off x="6254496"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Exposición de productos</a:t>
            </a:r>
          </a:p>
          <a:p>
            <a:pPr algn="l">
              <a:lnSpc>
                <a:spcPct val="120000"/>
              </a:lnSpc>
              <a:spcBef>
                <a:spcPts val="700"/>
              </a:spcBef>
            </a:pPr>
            <a:r>
              <a:rPr sz="1518" b="0">
                <a:solidFill>
                  <a:srgbClr val="33475B"/>
                </a:solidFill>
                <a:latin typeface="Aptos"/>
              </a:rPr>
              <a:t>la sustentación</a:t>
            </a:r>
          </a:p>
        </p:txBody>
      </p:sp>
      <p:sp>
        <p:nvSpPr>
          <p:cNvPr id="16" name="Rounded Rectangle 15"/>
          <p:cNvSpPr/>
          <p:nvPr/>
        </p:nvSpPr>
        <p:spPr>
          <a:xfrm>
            <a:off x="9098280" y="1572768"/>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84832"/>
            <a:ext cx="2130552" cy="2284693"/>
          </a:xfrm>
          <a:prstGeom prst="rect">
            <a:avLst/>
          </a:prstGeom>
          <a:noFill/>
        </p:spPr>
        <p:txBody>
          <a:bodyPr wrap="square" anchor="t" lIns="0" rIns="0" tIns="0" bIns="0">
            <a:spAutoFit/>
          </a:bodyPr>
          <a:lstStyle/>
          <a:p>
            <a:pPr algn="l"/>
            <a:r>
              <a:rPr sz="1986" b="1">
                <a:solidFill>
                  <a:srgbClr val="0E2841"/>
                </a:solidFill>
                <a:latin typeface="Aptos Display"/>
              </a:rPr>
              <a:t>Anexo 1 · Fotografías</a:t>
            </a:r>
          </a:p>
          <a:p>
            <a:pPr algn="l">
              <a:lnSpc>
                <a:spcPct val="120000"/>
              </a:lnSpc>
              <a:spcBef>
                <a:spcPts val="700"/>
              </a:spcBef>
            </a:pPr>
            <a:r>
              <a:rPr sz="1518" b="0">
                <a:solidFill>
                  <a:srgbClr val="33475B"/>
                </a:solidFill>
                <a:latin typeface="Aptos"/>
              </a:rPr>
              <a:t>capturas de v1, v2 y sustentación</a:t>
            </a:r>
          </a:p>
        </p:txBody>
      </p:sp>
      <p:sp>
        <p:nvSpPr>
          <p:cNvPr id="19" name="Rounded Rectangle 18"/>
          <p:cNvSpPr/>
          <p:nvPr/>
        </p:nvSpPr>
        <p:spPr>
          <a:xfrm>
            <a:off x="566928" y="4771861"/>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826725"/>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71861"/>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La pestaña ESTUDIANTE lleva identificaciones: el FO-IV-159 se entrega solo en Moodle.</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5. El paquete de la Actividad 3</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sube cada integrante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11064240" cy="8577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31212"/>
            <a:ext cx="63500" cy="7114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58060"/>
            <a:ext cx="11064240" cy="857780"/>
          </a:xfrm>
          <a:prstGeom prst="rect">
            <a:avLst/>
          </a:prstGeom>
          <a:noFill/>
        </p:spPr>
        <p:txBody>
          <a:bodyPr wrap="square" anchor="ctr" lIns="0" rIns="0" tIns="0" bIns="0">
            <a:spAutoFit/>
          </a:bodyPr>
          <a:lstStyle/>
          <a:p>
            <a:pPr algn="ctr"/>
            <a:r>
              <a:rPr sz="1958" b="1">
                <a:solidFill>
                  <a:srgbClr val="0E2841"/>
                </a:solidFill>
                <a:latin typeface="Aptos Display"/>
              </a:rPr>
              <a:t>FO-IV-159 .xlsx  ·  pestañas INFORME y ESTUDIANTE completas</a:t>
            </a:r>
          </a:p>
        </p:txBody>
      </p:sp>
      <p:sp>
        <p:nvSpPr>
          <p:cNvPr id="10" name="Rounded Rectangle 9"/>
          <p:cNvSpPr/>
          <p:nvPr/>
        </p:nvSpPr>
        <p:spPr>
          <a:xfrm>
            <a:off x="1069848" y="2904134"/>
            <a:ext cx="10058400" cy="8577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2977286"/>
            <a:ext cx="63500" cy="711476"/>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2904134"/>
            <a:ext cx="10058400" cy="857780"/>
          </a:xfrm>
          <a:prstGeom prst="rect">
            <a:avLst/>
          </a:prstGeom>
          <a:noFill/>
        </p:spPr>
        <p:txBody>
          <a:bodyPr wrap="square" anchor="ctr" lIns="0" rIns="0" tIns="0" bIns="0">
            <a:spAutoFit/>
          </a:bodyPr>
          <a:lstStyle/>
          <a:p>
            <a:pPr algn="ctr"/>
            <a:r>
              <a:rPr sz="1958" b="1">
                <a:solidFill>
                  <a:srgbClr val="0E2841"/>
                </a:solidFill>
                <a:latin typeface="Aptos Display"/>
              </a:rPr>
              <a:t>Anexos .zip  ·  Anexo 1 fotografías y Anexo 2 productos</a:t>
            </a:r>
          </a:p>
        </p:txBody>
      </p:sp>
      <p:sp>
        <p:nvSpPr>
          <p:cNvPr id="13" name="Rounded Rectangle 12"/>
          <p:cNvSpPr/>
          <p:nvPr/>
        </p:nvSpPr>
        <p:spPr>
          <a:xfrm>
            <a:off x="1572768" y="3950208"/>
            <a:ext cx="9052560" cy="8577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4023360"/>
            <a:ext cx="63500" cy="7114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3950208"/>
            <a:ext cx="9052560" cy="857780"/>
          </a:xfrm>
          <a:prstGeom prst="rect">
            <a:avLst/>
          </a:prstGeom>
          <a:noFill/>
        </p:spPr>
        <p:txBody>
          <a:bodyPr wrap="square" anchor="ctr" lIns="0" rIns="0" tIns="0" bIns="0">
            <a:spAutoFit/>
          </a:bodyPr>
          <a:lstStyle/>
          <a:p>
            <a:pPr algn="ctr"/>
            <a:r>
              <a:rPr sz="1958" b="1">
                <a:solidFill>
                  <a:srgbClr val="0E2841"/>
                </a:solidFill>
                <a:latin typeface="Aptos Display"/>
              </a:rPr>
              <a:t>Documento técnico  ·  dentro del Anexo 2, Word o PDF</a:t>
            </a:r>
          </a:p>
        </p:txBody>
      </p:sp>
      <p:sp>
        <p:nvSpPr>
          <p:cNvPr id="16" name="Rounded Rectangle 15"/>
          <p:cNvSpPr/>
          <p:nvPr/>
        </p:nvSpPr>
        <p:spPr>
          <a:xfrm>
            <a:off x="2075688" y="4996281"/>
            <a:ext cx="8046720" cy="8577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75688" y="5069433"/>
            <a:ext cx="63500" cy="7114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4996281"/>
            <a:ext cx="8046720" cy="857780"/>
          </a:xfrm>
          <a:prstGeom prst="rect">
            <a:avLst/>
          </a:prstGeom>
          <a:noFill/>
        </p:spPr>
        <p:txBody>
          <a:bodyPr wrap="square" anchor="ctr" lIns="0" rIns="0" tIns="0" bIns="0">
            <a:spAutoFit/>
          </a:bodyPr>
          <a:lstStyle/>
          <a:p>
            <a:pPr algn="ctr"/>
            <a:r>
              <a:rPr sz="1958" b="1">
                <a:solidFill>
                  <a:srgbClr val="0E2841"/>
                </a:solidFill>
                <a:latin typeface="Aptos Display"/>
              </a:rPr>
              <a:t>Repositorio y presentación  ·  enlace y archivo en el Anexo 2</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documento técnico en una mirada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623974"/>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1459382"/>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459382"/>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2099462"/>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Diagnóstico</a:t>
            </a:r>
          </a:p>
          <a:p>
            <a:pPr algn="l">
              <a:lnSpc>
                <a:spcPct val="120000"/>
              </a:lnSpc>
              <a:spcBef>
                <a:spcPts val="700"/>
              </a:spcBef>
            </a:pPr>
            <a:r>
              <a:rPr sz="1560" b="0">
                <a:solidFill>
                  <a:srgbClr val="33475B"/>
                </a:solidFill>
                <a:latin typeface="Aptos"/>
              </a:rPr>
              <a:t>atributos de calidad del reto</a:t>
            </a:r>
          </a:p>
        </p:txBody>
      </p:sp>
      <p:sp>
        <p:nvSpPr>
          <p:cNvPr id="11" name="Rounded Rectangle 10"/>
          <p:cNvSpPr/>
          <p:nvPr/>
        </p:nvSpPr>
        <p:spPr>
          <a:xfrm>
            <a:off x="2841955" y="1623974"/>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1459382"/>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1459382"/>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2099462"/>
            <a:ext cx="1561795" cy="2176272"/>
          </a:xfrm>
          <a:prstGeom prst="rect">
            <a:avLst/>
          </a:prstGeom>
          <a:noFill/>
        </p:spPr>
        <p:txBody>
          <a:bodyPr wrap="square" anchor="t" lIns="0" rIns="0" tIns="0" bIns="0">
            <a:spAutoFit/>
          </a:bodyPr>
          <a:lstStyle/>
          <a:p>
            <a:pPr algn="l"/>
            <a:r>
              <a:rPr sz="1980" b="1">
                <a:solidFill>
                  <a:srgbClr val="0E2841"/>
                </a:solidFill>
                <a:latin typeface="Aptos Display"/>
              </a:rPr>
              <a:t>v1</a:t>
            </a:r>
          </a:p>
          <a:p>
            <a:pPr algn="l">
              <a:lnSpc>
                <a:spcPct val="120000"/>
              </a:lnSpc>
              <a:spcBef>
                <a:spcPts val="700"/>
              </a:spcBef>
            </a:pPr>
            <a:r>
              <a:rPr sz="1560" b="0">
                <a:solidFill>
                  <a:srgbClr val="33475B"/>
                </a:solidFill>
                <a:latin typeface="Aptos"/>
              </a:rPr>
              <a:t>patrón clásico, UML y límites</a:t>
            </a:r>
          </a:p>
        </p:txBody>
      </p:sp>
      <p:sp>
        <p:nvSpPr>
          <p:cNvPr id="15" name="Rounded Rectangle 14"/>
          <p:cNvSpPr/>
          <p:nvPr/>
        </p:nvSpPr>
        <p:spPr>
          <a:xfrm>
            <a:off x="5116982" y="1623974"/>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1459382"/>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1459382"/>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2099462"/>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Decisión</a:t>
            </a:r>
          </a:p>
          <a:p>
            <a:pPr algn="l">
              <a:lnSpc>
                <a:spcPct val="120000"/>
              </a:lnSpc>
              <a:spcBef>
                <a:spcPts val="700"/>
              </a:spcBef>
            </a:pPr>
            <a:r>
              <a:rPr sz="1560" b="0">
                <a:solidFill>
                  <a:srgbClr val="33475B"/>
                </a:solidFill>
                <a:latin typeface="Aptos"/>
              </a:rPr>
              <a:t>matriz y patrón moderno elegido</a:t>
            </a:r>
          </a:p>
        </p:txBody>
      </p:sp>
      <p:sp>
        <p:nvSpPr>
          <p:cNvPr id="19" name="Rounded Rectangle 18"/>
          <p:cNvSpPr/>
          <p:nvPr/>
        </p:nvSpPr>
        <p:spPr>
          <a:xfrm>
            <a:off x="7392009" y="1623974"/>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1459382"/>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1459382"/>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2099462"/>
            <a:ext cx="1561795" cy="2176272"/>
          </a:xfrm>
          <a:prstGeom prst="rect">
            <a:avLst/>
          </a:prstGeom>
          <a:noFill/>
        </p:spPr>
        <p:txBody>
          <a:bodyPr wrap="square" anchor="t" lIns="0" rIns="0" tIns="0" bIns="0">
            <a:spAutoFit/>
          </a:bodyPr>
          <a:lstStyle/>
          <a:p>
            <a:pPr algn="l"/>
            <a:r>
              <a:rPr sz="1980" b="1">
                <a:solidFill>
                  <a:srgbClr val="0E2841"/>
                </a:solidFill>
                <a:latin typeface="Aptos Display"/>
              </a:rPr>
              <a:t>v2</a:t>
            </a:r>
          </a:p>
          <a:p>
            <a:pPr algn="l">
              <a:lnSpc>
                <a:spcPct val="120000"/>
              </a:lnSpc>
              <a:spcBef>
                <a:spcPts val="700"/>
              </a:spcBef>
            </a:pPr>
            <a:r>
              <a:rPr sz="1560" b="0">
                <a:solidFill>
                  <a:srgbClr val="33475B"/>
                </a:solidFill>
                <a:latin typeface="Aptos"/>
              </a:rPr>
              <a:t>arquitectura y lo que cambió</a:t>
            </a:r>
          </a:p>
        </p:txBody>
      </p:sp>
      <p:sp>
        <p:nvSpPr>
          <p:cNvPr id="23" name="Rounded Rectangle 22"/>
          <p:cNvSpPr/>
          <p:nvPr/>
        </p:nvSpPr>
        <p:spPr>
          <a:xfrm>
            <a:off x="9667036" y="1623974"/>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1459382"/>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1459382"/>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2099462"/>
            <a:ext cx="1561795" cy="2176272"/>
          </a:xfrm>
          <a:prstGeom prst="rect">
            <a:avLst/>
          </a:prstGeom>
          <a:noFill/>
        </p:spPr>
        <p:txBody>
          <a:bodyPr wrap="square" anchor="t" lIns="0" rIns="0" tIns="0" bIns="0">
            <a:spAutoFit/>
          </a:bodyPr>
          <a:lstStyle/>
          <a:p>
            <a:pPr algn="l"/>
            <a:r>
              <a:rPr sz="1980" b="1">
                <a:solidFill>
                  <a:srgbClr val="0E2841"/>
                </a:solidFill>
                <a:latin typeface="Aptos Display"/>
              </a:rPr>
              <a:t>Comparación</a:t>
            </a:r>
          </a:p>
          <a:p>
            <a:pPr algn="l">
              <a:lnSpc>
                <a:spcPct val="120000"/>
              </a:lnSpc>
              <a:spcBef>
                <a:spcPts val="700"/>
              </a:spcBef>
            </a:pPr>
            <a:r>
              <a:rPr sz="1560" b="0">
                <a:solidFill>
                  <a:srgbClr val="33475B"/>
                </a:solidFill>
                <a:latin typeface="Aptos"/>
              </a:rPr>
              <a:t>tabla medida y contribuciones</a:t>
            </a:r>
          </a:p>
        </p:txBody>
      </p:sp>
      <p:sp>
        <p:nvSpPr>
          <p:cNvPr id="27" name="Oval 26"/>
          <p:cNvSpPr/>
          <p:nvPr/>
        </p:nvSpPr>
        <p:spPr>
          <a:xfrm>
            <a:off x="585216" y="506394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4710074"/>
            <a:ext cx="10698480" cy="808329"/>
          </a:xfrm>
          <a:prstGeom prst="rect">
            <a:avLst/>
          </a:prstGeom>
          <a:noFill/>
        </p:spPr>
        <p:txBody>
          <a:bodyPr wrap="square" anchor="ctr" lIns="0" rIns="0" tIns="0" bIns="0">
            <a:spAutoFit/>
          </a:bodyPr>
          <a:lstStyle/>
          <a:p>
            <a:pPr algn="l"/>
            <a:r>
              <a:rPr sz="2520" b="1">
                <a:solidFill>
                  <a:srgbClr val="0E2841"/>
                </a:solidFill>
                <a:latin typeface="Aptos"/>
              </a:rPr>
              <a:t>Mínimo 2.000 palabras, APA</a:t>
            </a:r>
          </a:p>
        </p:txBody>
      </p:sp>
      <p:sp>
        <p:nvSpPr>
          <p:cNvPr id="29" name="Oval 28"/>
          <p:cNvSpPr/>
          <p:nvPr/>
        </p:nvSpPr>
        <p:spPr>
          <a:xfrm>
            <a:off x="585216" y="587227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518404"/>
            <a:ext cx="10698480" cy="808329"/>
          </a:xfrm>
          <a:prstGeom prst="rect">
            <a:avLst/>
          </a:prstGeom>
          <a:noFill/>
        </p:spPr>
        <p:txBody>
          <a:bodyPr wrap="square" anchor="ctr" lIns="0" rIns="0" tIns="0" bIns="0">
            <a:spAutoFit/>
          </a:bodyPr>
          <a:lstStyle/>
          <a:p>
            <a:pPr algn="l"/>
            <a:r>
              <a:rPr sz="2520" b="1">
                <a:solidFill>
                  <a:srgbClr val="0E2841"/>
                </a:solidFill>
                <a:latin typeface="Aptos"/>
              </a:rPr>
              <a:t>Arial 12, interlineado 1.5, márgenes 2.5 cm</a:t>
            </a:r>
          </a:p>
        </p:txBody>
      </p:sp>
      <p:sp>
        <p:nvSpPr>
          <p:cNvPr id="31" name="TextBox 3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32" name="TextBox 3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6. Ocho minutos el 3 de noviembre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tramos, cinco minutos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729081">
                <a:tc>
                  <a:txBody>
                    <a:bodyPr wrap="square"/>
                    <a:lstStyle/>
                    <a:p>
                      <a:r>
                        <a:rPr sz="1725" b="1">
                          <a:solidFill>
                            <a:srgbClr val="FFFFFF"/>
                          </a:solidFill>
                          <a:latin typeface="Aptos"/>
                        </a:rPr>
                        <a:t>Tramo</a:t>
                      </a:r>
                    </a:p>
                  </a:txBody>
                  <a:tcPr anchor="ctr" marL="146304" marR="146304">
                    <a:solidFill>
                      <a:srgbClr val="156082"/>
                    </a:solidFill>
                  </a:tcPr>
                </a:tc>
                <a:tc>
                  <a:txBody>
                    <a:bodyPr wrap="square"/>
                    <a:lstStyle/>
                    <a:p>
                      <a:r>
                        <a:rPr sz="1725" b="1">
                          <a:solidFill>
                            <a:srgbClr val="FFFFFF"/>
                          </a:solidFill>
                          <a:latin typeface="Aptos"/>
                        </a:rPr>
                        <a:t>Tiempo</a:t>
                      </a:r>
                    </a:p>
                  </a:txBody>
                  <a:tcPr anchor="ctr" marL="146304" marR="146304">
                    <a:solidFill>
                      <a:srgbClr val="156082"/>
                    </a:solidFill>
                  </a:tcPr>
                </a:tc>
                <a:tc>
                  <a:txBody>
                    <a:bodyPr wrap="square"/>
                    <a:lstStyle/>
                    <a:p>
                      <a:r>
                        <a:rPr sz="1725" b="1">
                          <a:solidFill>
                            <a:srgbClr val="FFFFFF"/>
                          </a:solidFill>
                          <a:latin typeface="Aptos"/>
                        </a:rPr>
                        <a:t>Qué muestra</a:t>
                      </a:r>
                    </a:p>
                  </a:txBody>
                  <a:tcPr anchor="ctr" marL="146304" marR="146304">
                    <a:solidFill>
                      <a:srgbClr val="156082"/>
                    </a:solidFill>
                  </a:tcPr>
                </a:tc>
              </a:tr>
              <a:tr h="729081">
                <a:tc>
                  <a:txBody>
                    <a:bodyPr wrap="square"/>
                    <a:lstStyle/>
                    <a:p>
                      <a:r>
                        <a:rPr sz="1609" b="1">
                          <a:solidFill>
                            <a:srgbClr val="33475B"/>
                          </a:solidFill>
                          <a:latin typeface="Aptos"/>
                        </a:rPr>
                        <a:t>El problema</a:t>
                      </a:r>
                    </a:p>
                  </a:txBody>
                  <a:tcPr anchor="ctr" marL="146304" marR="146304">
                    <a:solidFill>
                      <a:srgbClr val="FFFFFF"/>
                    </a:solidFill>
                  </a:tcPr>
                </a:tc>
                <a:tc>
                  <a:txBody>
                    <a:bodyPr wrap="square"/>
                    <a:lstStyle/>
                    <a:p>
                      <a:r>
                        <a:rPr sz="1609" b="0">
                          <a:solidFill>
                            <a:srgbClr val="33475B"/>
                          </a:solidFill>
                          <a:latin typeface="Aptos"/>
                        </a:rPr>
                        <a:t>30 s</a:t>
                      </a:r>
                    </a:p>
                  </a:txBody>
                  <a:tcPr anchor="ctr" marL="146304" marR="146304">
                    <a:solidFill>
                      <a:srgbClr val="FFFFFF"/>
                    </a:solidFill>
                  </a:tcPr>
                </a:tc>
                <a:tc>
                  <a:txBody>
                    <a:bodyPr wrap="square"/>
                    <a:lstStyle/>
                    <a:p>
                      <a:r>
                        <a:rPr sz="1609" b="0">
                          <a:solidFill>
                            <a:srgbClr val="33475B"/>
                          </a:solidFill>
                          <a:latin typeface="Aptos"/>
                        </a:rPr>
                        <a:t>Reto, pregunta y atributo que manda</a:t>
                      </a:r>
                    </a:p>
                  </a:txBody>
                  <a:tcPr anchor="ctr" marL="146304" marR="146304">
                    <a:solidFill>
                      <a:srgbClr val="FFFFFF"/>
                    </a:solidFill>
                  </a:tcPr>
                </a:tc>
              </a:tr>
              <a:tr h="729081">
                <a:tc>
                  <a:txBody>
                    <a:bodyPr wrap="square"/>
                    <a:lstStyle/>
                    <a:p>
                      <a:r>
                        <a:rPr sz="1609" b="1">
                          <a:solidFill>
                            <a:srgbClr val="33475B"/>
                          </a:solidFill>
                          <a:latin typeface="Aptos"/>
                        </a:rPr>
                        <a:t>La v1</a:t>
                      </a:r>
                    </a:p>
                  </a:txBody>
                  <a:tcPr anchor="ctr" marL="146304" marR="146304">
                    <a:solidFill>
                      <a:srgbClr val="F4F7FA"/>
                    </a:solidFill>
                  </a:tcPr>
                </a:tc>
                <a:tc>
                  <a:txBody>
                    <a:bodyPr wrap="square"/>
                    <a:lstStyle/>
                    <a:p>
                      <a:r>
                        <a:rPr sz="1609" b="0">
                          <a:solidFill>
                            <a:srgbClr val="33475B"/>
                          </a:solidFill>
                          <a:latin typeface="Aptos"/>
                        </a:rPr>
                        <a:t>1 min</a:t>
                      </a:r>
                    </a:p>
                  </a:txBody>
                  <a:tcPr anchor="ctr" marL="146304" marR="146304">
                    <a:solidFill>
                      <a:srgbClr val="F4F7FA"/>
                    </a:solidFill>
                  </a:tcPr>
                </a:tc>
                <a:tc>
                  <a:txBody>
                    <a:bodyPr wrap="square"/>
                    <a:lstStyle/>
                    <a:p>
                      <a:r>
                        <a:rPr sz="1609" b="0">
                          <a:solidFill>
                            <a:srgbClr val="33475B"/>
                          </a:solidFill>
                          <a:latin typeface="Aptos"/>
                        </a:rPr>
                        <a:t>Patrón clásico y el límite encontrado</a:t>
                      </a:r>
                    </a:p>
                  </a:txBody>
                  <a:tcPr anchor="ctr" marL="146304" marR="146304">
                    <a:solidFill>
                      <a:srgbClr val="F4F7FA"/>
                    </a:solidFill>
                  </a:tcPr>
                </a:tc>
              </a:tr>
              <a:tr h="729081">
                <a:tc>
                  <a:txBody>
                    <a:bodyPr wrap="square"/>
                    <a:lstStyle/>
                    <a:p>
                      <a:r>
                        <a:rPr sz="1609" b="1">
                          <a:solidFill>
                            <a:srgbClr val="33475B"/>
                          </a:solidFill>
                          <a:latin typeface="Aptos"/>
                        </a:rPr>
                        <a:t>La decisión</a:t>
                      </a:r>
                    </a:p>
                  </a:txBody>
                  <a:tcPr anchor="ctr" marL="146304" marR="146304">
                    <a:solidFill>
                      <a:srgbClr val="FFFFFF"/>
                    </a:solidFill>
                  </a:tcPr>
                </a:tc>
                <a:tc>
                  <a:txBody>
                    <a:bodyPr wrap="square"/>
                    <a:lstStyle/>
                    <a:p>
                      <a:r>
                        <a:rPr sz="1609" b="0">
                          <a:solidFill>
                            <a:srgbClr val="33475B"/>
                          </a:solidFill>
                          <a:latin typeface="Aptos"/>
                        </a:rPr>
                        <a:t>1 min</a:t>
                      </a:r>
                    </a:p>
                  </a:txBody>
                  <a:tcPr anchor="ctr" marL="146304" marR="146304">
                    <a:solidFill>
                      <a:srgbClr val="FFFFFF"/>
                    </a:solidFill>
                  </a:tcPr>
                </a:tc>
                <a:tc>
                  <a:txBody>
                    <a:bodyPr wrap="square"/>
                    <a:lstStyle/>
                    <a:p>
                      <a:r>
                        <a:rPr sz="1609" b="0">
                          <a:solidFill>
                            <a:srgbClr val="33475B"/>
                          </a:solidFill>
                          <a:latin typeface="Aptos"/>
                        </a:rPr>
                        <a:t>Alternativas y por qué ganó la elegida</a:t>
                      </a:r>
                    </a:p>
                  </a:txBody>
                  <a:tcPr anchor="ctr" marL="146304" marR="146304">
                    <a:solidFill>
                      <a:srgbClr val="FFFFFF"/>
                    </a:solidFill>
                  </a:tcPr>
                </a:tc>
              </a:tr>
              <a:tr h="729081">
                <a:tc>
                  <a:txBody>
                    <a:bodyPr wrap="square"/>
                    <a:lstStyle/>
                    <a:p>
                      <a:r>
                        <a:rPr sz="1609" b="1">
                          <a:solidFill>
                            <a:srgbClr val="33475B"/>
                          </a:solidFill>
                          <a:latin typeface="Aptos"/>
                        </a:rPr>
                        <a:t>La v2</a:t>
                      </a:r>
                    </a:p>
                  </a:txBody>
                  <a:tcPr anchor="ctr" marL="146304" marR="146304">
                    <a:solidFill>
                      <a:srgbClr val="F4F7FA"/>
                    </a:solidFill>
                  </a:tcPr>
                </a:tc>
                <a:tc>
                  <a:txBody>
                    <a:bodyPr wrap="square"/>
                    <a:lstStyle/>
                    <a:p>
                      <a:r>
                        <a:rPr sz="1609" b="0">
                          <a:solidFill>
                            <a:srgbClr val="33475B"/>
                          </a:solidFill>
                          <a:latin typeface="Aptos"/>
                        </a:rPr>
                        <a:t>1 min 30 s</a:t>
                      </a:r>
                    </a:p>
                  </a:txBody>
                  <a:tcPr anchor="ctr" marL="146304" marR="146304">
                    <a:solidFill>
                      <a:srgbClr val="F4F7FA"/>
                    </a:solidFill>
                  </a:tcPr>
                </a:tc>
                <a:tc>
                  <a:txBody>
                    <a:bodyPr wrap="square"/>
                    <a:lstStyle/>
                    <a:p>
                      <a:r>
                        <a:rPr sz="1609" b="0">
                          <a:solidFill>
                            <a:srgbClr val="33475B"/>
                          </a:solidFill>
                          <a:latin typeface="Aptos"/>
                        </a:rPr>
                        <a:t>Arquitectura y demostración corta</a:t>
                      </a:r>
                    </a:p>
                  </a:txBody>
                  <a:tcPr anchor="ctr" marL="146304" marR="146304">
                    <a:solidFill>
                      <a:srgbClr val="F4F7FA"/>
                    </a:solidFill>
                  </a:tcPr>
                </a:tc>
              </a:tr>
              <a:tr h="729081">
                <a:tc>
                  <a:txBody>
                    <a:bodyPr wrap="square"/>
                    <a:lstStyle/>
                    <a:p>
                      <a:r>
                        <a:rPr sz="1609" b="1">
                          <a:solidFill>
                            <a:srgbClr val="33475B"/>
                          </a:solidFill>
                          <a:latin typeface="Aptos"/>
                        </a:rPr>
                        <a:t>La comparación</a:t>
                      </a:r>
                    </a:p>
                  </a:txBody>
                  <a:tcPr anchor="ctr" marL="146304" marR="146304">
                    <a:solidFill>
                      <a:srgbClr val="FFFFFF"/>
                    </a:solidFill>
                  </a:tcPr>
                </a:tc>
                <a:tc>
                  <a:txBody>
                    <a:bodyPr wrap="square"/>
                    <a:lstStyle/>
                    <a:p>
                      <a:r>
                        <a:rPr sz="1609" b="0">
                          <a:solidFill>
                            <a:srgbClr val="33475B"/>
                          </a:solidFill>
                          <a:latin typeface="Aptos"/>
                        </a:rPr>
                        <a:t>1 min</a:t>
                      </a:r>
                    </a:p>
                  </a:txBody>
                  <a:tcPr anchor="ctr" marL="146304" marR="146304">
                    <a:solidFill>
                      <a:srgbClr val="FFFFFF"/>
                    </a:solidFill>
                  </a:tcPr>
                </a:tc>
                <a:tc>
                  <a:txBody>
                    <a:bodyPr wrap="square"/>
                    <a:lstStyle/>
                    <a:p>
                      <a:r>
                        <a:rPr sz="1609" b="0">
                          <a:solidFill>
                            <a:srgbClr val="33475B"/>
                          </a:solidFill>
                          <a:latin typeface="Aptos"/>
                        </a:rPr>
                        <a:t>Métricas v1 frente a v2 y conclusión</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Preguntas que vendrán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29514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1069848"/>
          </a:xfrm>
          <a:prstGeom prst="rect">
            <a:avLst/>
          </a:prstGeom>
          <a:noFill/>
        </p:spPr>
        <p:txBody>
          <a:bodyPr wrap="square" anchor="ctr" lIns="0" rIns="0" tIns="0" bIns="0">
            <a:spAutoFit/>
          </a:bodyPr>
          <a:lstStyle/>
          <a:p>
            <a:pPr algn="l"/>
            <a:r>
              <a:rPr sz="2835" b="1">
                <a:solidFill>
                  <a:srgbClr val="0E2841"/>
                </a:solidFill>
                <a:latin typeface="Aptos"/>
              </a:rPr>
              <a:t>¿Qué harían distinto si empezaran hoy?</a:t>
            </a:r>
          </a:p>
        </p:txBody>
      </p:sp>
      <p:sp>
        <p:nvSpPr>
          <p:cNvPr id="9" name="Oval 8"/>
          <p:cNvSpPr/>
          <p:nvPr/>
        </p:nvSpPr>
        <p:spPr>
          <a:xfrm>
            <a:off x="585216" y="336499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880360"/>
            <a:ext cx="10698480" cy="1069848"/>
          </a:xfrm>
          <a:prstGeom prst="rect">
            <a:avLst/>
          </a:prstGeom>
          <a:noFill/>
        </p:spPr>
        <p:txBody>
          <a:bodyPr wrap="square" anchor="ctr" lIns="0" rIns="0" tIns="0" bIns="0">
            <a:spAutoFit/>
          </a:bodyPr>
          <a:lstStyle/>
          <a:p>
            <a:pPr algn="l"/>
            <a:r>
              <a:rPr sz="2835" b="1">
                <a:solidFill>
                  <a:srgbClr val="0E2841"/>
                </a:solidFill>
                <a:latin typeface="Aptos"/>
              </a:rPr>
              <a:t>¿Qué parte de la v2 no se justifica?</a:t>
            </a:r>
          </a:p>
        </p:txBody>
      </p:sp>
      <p:sp>
        <p:nvSpPr>
          <p:cNvPr id="11" name="Oval 10"/>
          <p:cNvSpPr/>
          <p:nvPr/>
        </p:nvSpPr>
        <p:spPr>
          <a:xfrm>
            <a:off x="585216" y="443484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950208"/>
            <a:ext cx="10698480" cy="1069848"/>
          </a:xfrm>
          <a:prstGeom prst="rect">
            <a:avLst/>
          </a:prstGeom>
          <a:noFill/>
        </p:spPr>
        <p:txBody>
          <a:bodyPr wrap="square" anchor="ctr" lIns="0" rIns="0" tIns="0" bIns="0">
            <a:spAutoFit/>
          </a:bodyPr>
          <a:lstStyle/>
          <a:p>
            <a:pPr algn="l"/>
            <a:r>
              <a:rPr sz="2835" b="1">
                <a:solidFill>
                  <a:srgbClr val="0E2841"/>
                </a:solidFill>
                <a:latin typeface="Aptos"/>
              </a:rPr>
              <a:t>¿Qué pasa si cae el componente X?</a:t>
            </a:r>
          </a:p>
        </p:txBody>
      </p:sp>
      <p:sp>
        <p:nvSpPr>
          <p:cNvPr id="13" name="Oval 12"/>
          <p:cNvSpPr/>
          <p:nvPr/>
        </p:nvSpPr>
        <p:spPr>
          <a:xfrm>
            <a:off x="585216" y="550468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020056"/>
            <a:ext cx="10698480" cy="1069848"/>
          </a:xfrm>
          <a:prstGeom prst="rect">
            <a:avLst/>
          </a:prstGeom>
          <a:noFill/>
        </p:spPr>
        <p:txBody>
          <a:bodyPr wrap="square" anchor="ctr" lIns="0" rIns="0" tIns="0" bIns="0">
            <a:spAutoFit/>
          </a:bodyPr>
          <a:lstStyle/>
          <a:p>
            <a:pPr algn="l"/>
            <a:r>
              <a:rPr sz="2835" b="1">
                <a:solidFill>
                  <a:srgbClr val="0E2841"/>
                </a:solidFill>
                <a:latin typeface="Aptos"/>
              </a:rPr>
              <a:t>¿Por qué no el otro patrón?</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¿Contra qué se compara la versión 2 en la evaluación de la Actividad 3?</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Contra un sistema de referencia de la industria descrito en un artículo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Contra la versión 1 del propio equipo, construida en la Actividad 2</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Contra la versión 2 de otro equipo con el mismo reto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Contra el patrón que sugirió el catálogo de retos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¿Qué entrega el equipo como cierre del proyecto de aula del curso?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Solo el documento técnico de la Actividad 3</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Un informe nuevo con nota propia, aparte de la Actividad 3</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El FO-IV-159 del equipo con sus anexos, dentro de la Actividad 3</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Una presentación de una página</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¿Dónde se entrega el FO-IV-159 con la pestaña ESTUDIANTE diligenciada?</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En el repositorio público del equipo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Solo en el aula Moodle, porque lleva números de identificación</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En el foro de la Unidad 3</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Por correo a cualquier compañero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28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¿Cuáles actividades son individuales?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Todas, porque cada estudiante sube su archivo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Solo la Actividad 3</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 Actividad 1 y el foro de la Unidad 3</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Ninguna: todo el proyecto es de equipo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7. Cierre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Errores que cuestan nota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Elegir el patrón moderno por moda</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Comparar contra un sistema imaginario</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FO-IV-159 con las instrucciones puestas</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Juicios de valor en el planteamiento</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Empezar la v2 borrando la v1</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Su compromiso para el 3 de noviembre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Hoy</a:t>
            </a:r>
          </a:p>
          <a:p>
            <a:pPr algn="l">
              <a:lnSpc>
                <a:spcPct val="120000"/>
              </a:lnSpc>
              <a:spcBef>
                <a:spcPts val="700"/>
              </a:spcBef>
            </a:pPr>
            <a:r>
              <a:rPr sz="1560" b="0">
                <a:solidFill>
                  <a:srgbClr val="33475B"/>
                </a:solidFill>
                <a:latin typeface="Aptos"/>
              </a:rPr>
              <a:t>etiqueta v1 y tres criterios elegidos</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Jueves</a:t>
            </a:r>
          </a:p>
          <a:p>
            <a:pPr algn="l">
              <a:lnSpc>
                <a:spcPct val="120000"/>
              </a:lnSpc>
              <a:spcBef>
                <a:spcPts val="700"/>
              </a:spcBef>
            </a:pPr>
            <a:r>
              <a:rPr sz="1560" b="0">
                <a:solidFill>
                  <a:srgbClr val="33475B"/>
                </a:solidFill>
                <a:latin typeface="Aptos"/>
              </a:rPr>
              <a:t>v2 con un flujo de punta a punta</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Sábado</a:t>
            </a:r>
          </a:p>
          <a:p>
            <a:pPr algn="l">
              <a:lnSpc>
                <a:spcPct val="120000"/>
              </a:lnSpc>
              <a:spcBef>
                <a:spcPts val="700"/>
              </a:spcBef>
            </a:pPr>
            <a:r>
              <a:rPr sz="1560" b="0">
                <a:solidFill>
                  <a:srgbClr val="33475B"/>
                </a:solidFill>
                <a:latin typeface="Aptos"/>
              </a:rPr>
              <a:t>mediciones en v1 y v2</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Lunes</a:t>
            </a:r>
          </a:p>
          <a:p>
            <a:pPr algn="l">
              <a:lnSpc>
                <a:spcPct val="120000"/>
              </a:lnSpc>
              <a:spcBef>
                <a:spcPts val="700"/>
              </a:spcBef>
            </a:pPr>
            <a:r>
              <a:rPr sz="1560" b="0">
                <a:solidFill>
                  <a:srgbClr val="33475B"/>
                </a:solidFill>
                <a:latin typeface="Aptos"/>
              </a:rPr>
              <a:t>FO-IV-159 completo y ensayo</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Martes 3</a:t>
            </a:r>
          </a:p>
          <a:p>
            <a:pPr algn="l">
              <a:lnSpc>
                <a:spcPct val="120000"/>
              </a:lnSpc>
              <a:spcBef>
                <a:spcPts val="700"/>
              </a:spcBef>
            </a:pPr>
            <a:r>
              <a:rPr sz="1560" b="0">
                <a:solidFill>
                  <a:srgbClr val="33475B"/>
                </a:solidFill>
                <a:latin typeface="Aptos"/>
              </a:rPr>
              <a:t>sustentación de 8 minutos</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ENCUENTRO 4 · ASESORÍA DEL PROYECTO DE AULA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llevarse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La v1 es la evidencia</a:t>
            </a:r>
          </a:p>
          <a:p>
            <a:pPr algn="l">
              <a:lnSpc>
                <a:spcPct val="120000"/>
              </a:lnSpc>
              <a:spcBef>
                <a:spcPts val="700"/>
              </a:spcBef>
            </a:pPr>
            <a:r>
              <a:rPr sz="1560" b="0">
                <a:solidFill>
                  <a:srgbClr val="33475B"/>
                </a:solidFill>
                <a:latin typeface="Aptos"/>
              </a:rPr>
              <a:t>sin etiqueta no hay comparación</a:t>
            </a:r>
          </a:p>
        </p:txBody>
      </p:sp>
      <p:sp>
        <p:nvSpPr>
          <p:cNvPr id="10" name="Rounded Rectangle 9"/>
          <p:cNvSpPr/>
          <p:nvPr/>
        </p:nvSpPr>
        <p:spPr>
          <a:xfrm>
            <a:off x="4358640"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Se mide, no se opina</a:t>
            </a:r>
          </a:p>
          <a:p>
            <a:pPr algn="l">
              <a:lnSpc>
                <a:spcPct val="120000"/>
              </a:lnSpc>
              <a:spcBef>
                <a:spcPts val="700"/>
              </a:spcBef>
            </a:pPr>
            <a:r>
              <a:rPr sz="1560" b="0">
                <a:solidFill>
                  <a:srgbClr val="33475B"/>
                </a:solidFill>
                <a:latin typeface="Aptos"/>
              </a:rPr>
              <a:t>tres criterios en las dos versiones</a:t>
            </a:r>
          </a:p>
        </p:txBody>
      </p:sp>
      <p:sp>
        <p:nvSpPr>
          <p:cNvPr id="13" name="Rounded Rectangle 12"/>
          <p:cNvSpPr/>
          <p:nvPr/>
        </p:nvSpPr>
        <p:spPr>
          <a:xfrm>
            <a:off x="8150352"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El informe cuenta todo</a:t>
            </a:r>
          </a:p>
          <a:p>
            <a:pPr algn="l">
              <a:lnSpc>
                <a:spcPct val="120000"/>
              </a:lnSpc>
              <a:spcBef>
                <a:spcPts val="700"/>
              </a:spcBef>
            </a:pPr>
            <a:r>
              <a:rPr sz="1560" b="0">
                <a:solidFill>
                  <a:srgbClr val="33475B"/>
                </a:solidFill>
                <a:latin typeface="Aptos"/>
              </a:rPr>
              <a:t>FO-IV-159 solo en Moodle</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Encuentro 4</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28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
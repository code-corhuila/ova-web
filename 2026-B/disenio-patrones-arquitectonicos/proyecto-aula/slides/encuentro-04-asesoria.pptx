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4"/>
  </p:sldMasterIdLst>
  <p:sldIdLst>
    <p:sldId id="256" r:id="rId7"/>
    <p:sldId id="257" r:id="rId6"/>
    <p:sldId id="258" r:id="rId12"/>
    <p:sldId id="259" r:id="rId13"/>
    <p:sldId id="260" r:id="rId14"/>
    <p:sldId id="261" r:id="rId15"/>
    <p:sldId id="262" r:id="rId16"/>
    <p:sldId id="263" r:id="rId17"/>
    <p:sldId id="264" r:id="rId18"/>
    <p:sldId id="265" r:id="rId19"/>
    <p:sldId id="266" r:id="rId20"/>
    <p:sldId id="267" r:id="rId21"/>
    <p:sldId id="268" r:id="rId22"/>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58"/>
  </p:normalViewPr>
  <p:slideViewPr>
    <p:cSldViewPr snapToGrid="0">
      <p:cViewPr varScale="1">
        <p:scale>
          <a:sx n="106" d="100"/>
          <a:sy n="106"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0-3). Ubicar al grupo: lo verde ya pasó; hoy es la última clase antes de sustentar. Todas las actividades del aula cierran el domingo 8 de noviembre a las 11:59 p. m.; A1 y A2 siguen abiertas para quien no haya entregado. Pregunta para abrir: si sustentara hoy, ¿qué número mostraría su equipo para probar que la v2 es mejor que la v1?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3-6). Cada equipo dice su color en cada fila. El rojo de hoy es el compromiso de la semana. La primera fila manda: sin la etiqueta v1 no hay comparación reproducible. Si ya empezaron la v2 sin etiqueta: git log --oneline, ubicar el último commit de la v1, git tag v1 &lt;commit&gt; y git push --tags. En la revisión de la A2 solo un equipo tenía la etiqueta.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6-9). La pregunta difícil de la A3, «compare su patrón con otras alternativas», solo tiene buena respuesta si existe la alternativa, y en este proyecto existe: es su propia v1. Pedir a cada equipo que dibuje en el chat su par v1 y v2 en una línea: «capas pasa a microservicios porque…». El ejemplo es el de los manuales de la Unidad 3 (Java, Spring Boot).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9-14). Cada equipo recorre su cadena en voz alta con su reto. Si la métrica no se puede medir también en la v1, la cadena está rota. Si el patrón no sale del atributo de calidad del H1, es moda. Los criterios posibles: costo de un cambio, acoplamiento, despliegue independiente, rendimiento (p95 con la misma carga), tolerancia a fallos y facilidad de prueba. Elijan al menos tres hoy.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14-18). Los números son de ejemplo (Mercado Campesino), no de un equipo real. Herramientas: git diff --stat para el costo de un cambio; ArchUnit o import-linter para el acoplamiento; k6 o JMeter para rendimiento; JUnit con JaCoCo o pytest con coverage para las pruebas. Cómo medir el costo de un cambio: elegir una funcionalidad pequeña, hacerla en una rama desde la etiqueta v1 y en otra desde la v2, y contar con git diff --stat. El tercer panel es obligatorio: reportar lo que empeoró suma.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18-24). Revisar el borrador de cada equipo: como mínimo título, pregunta y objetivos. La pregunta no se responde con sí o no y nombra lo que se va a medir. Ejemplo: «¿En qué medida migrar el sistema de pedidos de una asociación de productores de Neiva de capas a hexagonal con eventos cambia su modificabilidad y su disponibilidad en el cierre de pedidos?». Datos fijos: inicio 05/10/2026, cierre 08/11/2026, Facultad de Ingeniería. Metodología: ABP con aprendizaje cooperativo, en los hitos H0 a H4. Planteamiento sin juicios de valor, con fuentes primarias en APA 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y EN VIVO si hay dudas (min 24-27). El FO-IV-159 se califica dentro del 40 % de la A3, sin nota aparte. El documento técnico sigue la plantilla del aula: diagnóstico, v1, decisión, v2, comparación y contribución de cada integrante, que debe coincidir con los commits de cada cuenta. Interlineado 1.5, márgenes de 2.5 cm, Word o PDF. Antes de subir: que el .zip abra y que el repositorio se vea sin permisos.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27-31). Ensayar con cronómetro. Lo que más se pasa de tiempo es la demostración: tenerla grabada como respaldo. La comparación es el tramo que más pesa en la nota: ahí van las barras de la diapositiva anterior. El orden de los equipos se anuncia al inicio del encuentro.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31-38). Lanzar cada pregunta a un equipo distinto y dejar que respondan; corregir en vivo. Respuestas débiles: «escala mejor» sin escenario ni medida, «es lo que se usa», «nada empeora». Una buena respuesta al costo nombra qué se acepta y cómo se mitiga (por ejemplo, broker persistente y consumidores idempotentes para no perder eventos).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38-45). Cada equipo dice su compromiso para el 3 de noviembre antes de salir. Después de sustentar queda hasta el domingo 8 a las 11:59 p. m. para incorporar la retroalimentación al documento técnico y al FO-IV-159. El foro de la Unidad 3 también cierra el 8, pero conviene publicarlo antes de sustentar: es la decisión que se defiende el martes.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45-50). Cierre de clase. Recordar: etiqueta v1 hoy, tres criterios medidos en las dos versiones, FO-IV-159 solo en Moodle, entrega el domingo 8 de noviembre a las 11:59 p. 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C6517A-6E51-D8FF-5518-33DCF1BB831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A5F916A-7D6A-E8AF-439A-8D6840C6F0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846680D-0A49-4B54-F51B-03AA27F6B2C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5396F560-F0B8-AB29-82CA-A2DDE7D3568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5D50BE2-EBBD-61B9-3E6C-B4C2BA988EB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168766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8836D1-D4F9-8F5A-DCDD-25408D7D36D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551DC57-A21A-5278-EC55-4C245B3FC0B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02E49EC-4920-0E2F-9C8B-0B674CB0720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F31254A-3742-246E-D797-82A0482FE25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2D15C84-0D5E-FBD8-F4A6-A48214F7CB87}"/>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553980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5FBBEC-EF89-8C3C-71B9-577DC2668A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6B7EF770-ACB6-2BA3-E667-9EBABFB4AE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DAD28F8-48D0-258C-AD9D-D166F7F2D745}"/>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68163DA-7927-EC0F-B832-B0D9CEF2421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7D2D961-09A6-F702-5A58-9A2E9D96BDE2}"/>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714478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EAE57A-7BC8-A4F0-8EC3-29FA071B4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6DB23D6-B010-B5CB-011A-B03D0B3E9DF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80C2A42-464D-5E30-A614-F5201EA4318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6B7E369D-DA34-3508-5F83-FE255ACE6A7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5FAF6228-C474-55C2-F2A3-A80C9ECB9BE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E2CA109-4F43-98C5-5BA6-85F5B496EC33}"/>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215908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ADADB-6CDF-BDB1-1300-FAEA2D84BEE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07B4924-BB64-D547-A28B-666362350C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07D8AA5-BF4A-D02D-E702-0FBE685A508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6BC7471-CDF8-0C0F-6D28-4001FC283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33769A5-222B-5317-4503-6E9D363E28B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17FE0D7-3EEC-E3E6-7C86-CF7C18AB6C98}"/>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8" name="Marcador de pie de página 7">
            <a:extLst>
              <a:ext uri="{FF2B5EF4-FFF2-40B4-BE49-F238E27FC236}">
                <a16:creationId xmlns:a16="http://schemas.microsoft.com/office/drawing/2014/main" id="{C8EFF3E5-4BD9-D039-6F0A-0A92B04A1CB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8DF0DEE6-C861-6117-2772-892873D92EA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448347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91AA1F-2C39-64AF-4C6F-BF1C44530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F0E135E8-59EC-9B87-4141-B4E0DEA152F1}"/>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4" name="Marcador de pie de página 3">
            <a:extLst>
              <a:ext uri="{FF2B5EF4-FFF2-40B4-BE49-F238E27FC236}">
                <a16:creationId xmlns:a16="http://schemas.microsoft.com/office/drawing/2014/main" id="{22565AFD-1683-D460-140D-9F48CBCBAB0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3E711735-1F41-F218-7243-AC89EA548BC9}"/>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26115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188DA81-50FE-72AF-6F22-3D317B92F3B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3" name="Marcador de pie de página 2">
            <a:extLst>
              <a:ext uri="{FF2B5EF4-FFF2-40B4-BE49-F238E27FC236}">
                <a16:creationId xmlns:a16="http://schemas.microsoft.com/office/drawing/2014/main" id="{4DADFFC1-222F-FA4F-F745-4AECF65CE08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AFB47231-DA7E-E86D-0ECA-3CD935CB1700}"/>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69125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A5293-4CAF-8D46-B44D-99EAF11FD55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AA782D5-A60C-369C-7F2E-20DC36F50E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3C7E45F-8F4D-4A4A-AD2B-580AA0500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E49A9D3-41A6-5F05-3785-C76553A3237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F339118E-A5D9-04A8-223B-C952BE30109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AFCCC82-59BC-CBA8-F9A5-1C4603AD8128}"/>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328771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0C677B-1ABC-81D6-857F-7E1F6785CB1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B8FFF9DA-1F76-6604-0F69-D17DFFA8AD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4FD3A44-53F9-E2AD-4B37-3C2CD8A25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EA3A846-4373-5BFE-DCED-CDECAACAAD8F}"/>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C0137096-4AD9-8D1E-B119-EDDF0F3EA80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7ADAE5B-0E78-C71A-B918-853E86CE07AC}"/>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464844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2BA9E-020E-BCD8-9EA9-9BDFB1673E5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D2EE6B7-CD7D-EA57-7B4D-87C2F63C8D6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6BA0735-0CBD-5147-C06C-3B03006C1423}"/>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CCAF2C5-C162-2021-6EDC-A716463031D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AD3F66-F4A3-A221-BA4A-2F327442751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161594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64F149B-9E13-3157-0B62-971D8EB526C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87BBD2-5343-3A5D-564E-2D534BC7D0F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CB2F397-0E8A-92C8-93C4-9018446E381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216F7EEE-EA06-5E8F-8174-D1B755A7BBE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D7410F1-59DC-8093-6A75-33AE1285CCF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703931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1D6B204-4AEE-9E74-8DF2-926D69EDA9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E631246-8F97-5699-6653-D3A77D7644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73B2563-9278-5DCC-E5B5-CCE80A028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74AD3EE7-759B-C8A2-7A15-CC1FFB8018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99BE85B8-1FF9-DDC6-E068-D7EEA7240D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08E7FD-F6A8-D246-986A-AA7D283E6007}" type="slidenum">
              <a:rPr lang="es-CO" smtClean="0"/>
              <a:t>‹Nº›</a:t>
            </a:fld>
            <a:endParaRPr lang="es-CO"/>
          </a:p>
        </p:txBody>
      </p:sp>
    </p:spTree>
    <p:extLst>
      <p:ext uri="{BB962C8B-B14F-4D97-AF65-F5344CB8AC3E}">
        <p14:creationId xmlns:p14="http://schemas.microsoft.com/office/powerpoint/2010/main" val="19669047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20440"/>
            <a:ext cx="11734800" cy="25146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Institucional-con-advertencia-Vigilado-Mineducacion-Blanco.png"/>
          <p:cNvPicPr>
            <a:picLocks noChangeAspect="1"/>
          </p:cNvPicPr>
          <p:nvPr/>
        </p:nvPicPr>
        <p:blipFill>
          <a:blip r:embed="rId2"/>
          <a:stretch>
            <a:fillRect/>
          </a:stretch>
        </p:blipFill>
        <p:spPr>
          <a:xfrm>
            <a:off x="4844395" y="548640"/>
            <a:ext cx="2503210" cy="2286000"/>
          </a:xfrm>
          <a:prstGeom prst="rect">
            <a:avLst/>
          </a:prstGeom>
        </p:spPr>
      </p:pic>
      <p:sp>
        <p:nvSpPr>
          <p:cNvPr id="5" name="Rectangle 4"/>
          <p:cNvSpPr/>
          <p:nvPr/>
        </p:nvSpPr>
        <p:spPr>
          <a:xfrm>
            <a:off x="457200" y="3429000"/>
            <a:ext cx="11734800" cy="76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703320"/>
            <a:ext cx="10881360" cy="1280160"/>
          </a:xfrm>
          <a:prstGeom prst="rect">
            <a:avLst/>
          </a:prstGeom>
          <a:noFill/>
        </p:spPr>
        <p:txBody>
          <a:bodyPr wrap="square" anchor="t" lIns="0" rIns="0" tIns="0" bIns="0">
            <a:spAutoFit/>
          </a:bodyPr>
          <a:lstStyle/>
          <a:p>
            <a:pPr algn="ctr"/>
            <a:r>
              <a:rPr sz="3800" b="1">
                <a:solidFill>
                  <a:srgbClr val="FFFFFF"/>
                </a:solidFill>
                <a:latin typeface="Aptos Display"/>
              </a:rPr>
              <a:t>Asesoría del proyecto de aula</a:t>
            </a:r>
          </a:p>
        </p:txBody>
      </p:sp>
      <p:sp>
        <p:nvSpPr>
          <p:cNvPr id="7" name="TextBox 6"/>
          <p:cNvSpPr txBox="1"/>
          <p:nvPr/>
        </p:nvSpPr>
        <p:spPr>
          <a:xfrm>
            <a:off x="640080" y="5029200"/>
            <a:ext cx="10881360" cy="457200"/>
          </a:xfrm>
          <a:prstGeom prst="rect">
            <a:avLst/>
          </a:prstGeom>
          <a:noFill/>
        </p:spPr>
        <p:txBody>
          <a:bodyPr wrap="square" anchor="t" lIns="0" rIns="0" tIns="0" bIns="0">
            <a:spAutoFit/>
          </a:bodyPr>
          <a:lstStyle/>
          <a:p>
            <a:pPr algn="ctr"/>
            <a:r>
              <a:rPr sz="1500" b="0">
                <a:solidFill>
                  <a:srgbClr val="E8E8E8"/>
                </a:solidFill>
                <a:latin typeface="Aptos"/>
              </a:rPr>
              <a:t>Diseño y Patrones Arquitectónicos  ·  Jesús Ariel González Bonilla  ·  2026-B</a:t>
            </a:r>
          </a:p>
        </p:txBody>
      </p:sp>
      <p:sp>
        <p:nvSpPr>
          <p:cNvPr id="8" name="TextBox 7"/>
          <p:cNvSpPr txBox="1"/>
          <p:nvPr/>
        </p:nvSpPr>
        <p:spPr>
          <a:xfrm>
            <a:off x="1371600" y="5532120"/>
            <a:ext cx="9418320" cy="457200"/>
          </a:xfrm>
          <a:prstGeom prst="rect">
            <a:avLst/>
          </a:prstGeom>
          <a:noFill/>
        </p:spPr>
        <p:txBody>
          <a:bodyPr wrap="square" anchor="t" lIns="0" rIns="0" tIns="0" bIns="0">
            <a:spAutoFit/>
          </a:bodyPr>
          <a:lstStyle/>
          <a:p>
            <a:pPr algn="ctr"/>
            <a:r>
              <a:rPr sz="1300" b="0">
                <a:solidFill>
                  <a:srgbClr val="E8E8E8"/>
                </a:solidFill>
                <a:latin typeface="Aptos"/>
              </a:rPr>
              <a:t>Encuentro 4 · martes 27 de octubre de 2026 · de la v1 a la sustentación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anchor="t" lIns="0" rIns="0" tIns="0" bIns="0">
            <a:spAutoFit/>
          </a:bodyPr>
          <a:lstStyle/>
          <a:p>
            <a:pPr algn="l"/>
            <a:r>
              <a:rPr sz="1300" b="1">
                <a:solidFill>
                  <a:srgbClr val="009540"/>
                </a:solidFill>
                <a:latin typeface="Aptos"/>
              </a:rPr>
              <a:t>El recorrido del proyecto de aula</a:t>
            </a:r>
          </a:p>
        </p:txBody>
      </p:sp>
      <p:sp>
        <p:nvSpPr>
          <p:cNvPr id="3" name="TextBox 2"/>
          <p:cNvSpPr txBox="1"/>
          <p:nvPr/>
        </p:nvSpPr>
        <p:spPr>
          <a:xfrm>
            <a:off x="640080" y="640080"/>
            <a:ext cx="9144000" cy="731520"/>
          </a:xfrm>
          <a:prstGeom prst="rect">
            <a:avLst/>
          </a:prstGeom>
          <a:noFill/>
        </p:spPr>
        <p:txBody>
          <a:bodyPr wrap="square" anchor="t" lIns="0" rIns="0" tIns="0" bIns="0">
            <a:spAutoFit/>
          </a:bodyPr>
          <a:lstStyle/>
          <a:p>
            <a:pPr algn="l"/>
            <a:r>
              <a:rPr sz="3200" b="1">
                <a:solidFill>
                  <a:srgbClr val="0E2841"/>
                </a:solidFill>
                <a:latin typeface="Aptos Display"/>
              </a:rPr>
              <a:t>Estamos a una semana de sustentar</a:t>
            </a:r>
          </a:p>
        </p:txBody>
      </p:sp>
      <p:pic>
        <p:nvPicPr>
          <p:cNvPr id="4" name="Picture 3" descr="LOGO-CORHUILA-COLOR.png"/>
          <p:cNvPicPr>
            <a:picLocks noChangeAspect="1"/>
          </p:cNvPicPr>
          <p:nvPr/>
        </p:nvPicPr>
        <p:blipFill>
          <a:blip r:embed="rId2"/>
          <a:stretch>
            <a:fillRect/>
          </a:stretch>
        </p:blipFill>
        <p:spPr>
          <a:xfrm>
            <a:off x="11049000" y="365760"/>
            <a:ext cx="640080" cy="640080"/>
          </a:xfrm>
          <a:prstGeom prst="rect">
            <a:avLst/>
          </a:prstGeom>
        </p:spPr>
      </p:pic>
      <p:sp>
        <p:nvSpPr>
          <p:cNvPr id="5" name="TextBox 4"/>
          <p:cNvSpPr txBox="1"/>
          <p:nvPr/>
        </p:nvSpPr>
        <p:spPr>
          <a:xfrm>
            <a:off x="640080" y="6455664"/>
            <a:ext cx="7315200" cy="228600"/>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Encuentro 4 · Asesoría</a:t>
            </a:r>
          </a:p>
        </p:txBody>
      </p:sp>
      <p:sp>
        <p:nvSpPr>
          <p:cNvPr id="6" name="TextBox 5"/>
          <p:cNvSpPr txBox="1"/>
          <p:nvPr/>
        </p:nvSpPr>
        <p:spPr>
          <a:xfrm>
            <a:off x="10881360" y="6455664"/>
            <a:ext cx="731520" cy="228600"/>
          </a:xfrm>
          <a:prstGeom prst="rect">
            <a:avLst/>
          </a:prstGeom>
          <a:noFill/>
        </p:spPr>
        <p:txBody>
          <a:bodyPr wrap="square" anchor="t" lIns="0" rIns="0" tIns="0" bIns="0">
            <a:spAutoFit/>
          </a:bodyPr>
          <a:lstStyle/>
          <a:p>
            <a:pPr algn="r"/>
            <a:r>
              <a:rPr sz="950" b="0">
                <a:solidFill>
                  <a:srgbClr val="7A8B9E"/>
                </a:solidFill>
                <a:latin typeface="Aptos"/>
              </a:rPr>
              <a:t>1</a:t>
            </a:r>
          </a:p>
        </p:txBody>
      </p:sp>
      <p:cxnSp>
        <p:nvCxnSpPr>
          <p:cNvPr id="7" name="Connector 6"/>
          <p:cNvCxnSpPr/>
          <p:nvPr/>
        </p:nvCxnSpPr>
        <p:spPr>
          <a:xfrm>
            <a:off x="1097280" y="3246120"/>
            <a:ext cx="6168043" cy="0"/>
          </a:xfrm>
          <a:prstGeom prst="line">
            <a:avLst/>
          </a:prstGeom>
          <a:ln w="76200">
            <a:solidFill>
              <a:srgbClr val="00954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265323" y="3246120"/>
            <a:ext cx="3524597" cy="0"/>
          </a:xfrm>
          <a:prstGeom prst="line">
            <a:avLst/>
          </a:prstGeom>
          <a:ln w="50800">
            <a:solidFill>
              <a:srgbClr val="E97132"/>
            </a:solidFill>
            <a:prstDash val="dash"/>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86968" y="3035808"/>
            <a:ext cx="420624" cy="420624"/>
          </a:xfrm>
          <a:prstGeom prst="ellipse">
            <a:avLst/>
          </a:prstGeom>
          <a:solidFill>
            <a:srgbClr val="009540"/>
          </a:solidFill>
          <a:ln w="381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3035808"/>
            <a:ext cx="420624" cy="420624"/>
          </a:xfrm>
          <a:prstGeom prst="rect">
            <a:avLst/>
          </a:prstGeom>
          <a:noFill/>
        </p:spPr>
        <p:txBody>
          <a:bodyPr wrap="square" anchor="ctr" lIns="0" rIns="0" tIns="0" bIns="0">
            <a:spAutoFit/>
          </a:bodyPr>
          <a:lstStyle/>
          <a:p>
            <a:pPr algn="ctr"/>
            <a:r>
              <a:rPr sz="1600" b="1">
                <a:solidFill>
                  <a:srgbClr val="FFFFFF"/>
                </a:solidFill>
                <a:latin typeface="Aptos"/>
              </a:rPr>
              <a:t>✓</a:t>
            </a:r>
          </a:p>
        </p:txBody>
      </p:sp>
      <p:sp>
        <p:nvSpPr>
          <p:cNvPr id="11" name="TextBox 10"/>
          <p:cNvSpPr txBox="1"/>
          <p:nvPr/>
        </p:nvSpPr>
        <p:spPr>
          <a:xfrm>
            <a:off x="91439" y="2103120"/>
            <a:ext cx="2011680" cy="365760"/>
          </a:xfrm>
          <a:prstGeom prst="rect">
            <a:avLst/>
          </a:prstGeom>
          <a:noFill/>
        </p:spPr>
        <p:txBody>
          <a:bodyPr wrap="square" anchor="t" lIns="0" rIns="0" tIns="0" bIns="0">
            <a:spAutoFit/>
          </a:bodyPr>
          <a:lstStyle/>
          <a:p>
            <a:pPr algn="ctr"/>
            <a:r>
              <a:rPr sz="1400" b="1">
                <a:solidFill>
                  <a:srgbClr val="0E2841"/>
                </a:solidFill>
                <a:latin typeface="Aptos"/>
              </a:rPr>
              <a:t>Inicio</a:t>
            </a:r>
          </a:p>
        </p:txBody>
      </p:sp>
      <p:sp>
        <p:nvSpPr>
          <p:cNvPr id="12" name="TextBox 11"/>
          <p:cNvSpPr txBox="1"/>
          <p:nvPr/>
        </p:nvSpPr>
        <p:spPr>
          <a:xfrm>
            <a:off x="91439" y="2450591"/>
            <a:ext cx="2011680" cy="274320"/>
          </a:xfrm>
          <a:prstGeom prst="rect">
            <a:avLst/>
          </a:prstGeom>
          <a:noFill/>
        </p:spPr>
        <p:txBody>
          <a:bodyPr wrap="square" anchor="t" lIns="0" rIns="0" tIns="0" bIns="0">
            <a:spAutoFit/>
          </a:bodyPr>
          <a:lstStyle/>
          <a:p>
            <a:pPr algn="ctr"/>
            <a:r>
              <a:rPr sz="1200" b="0">
                <a:solidFill>
                  <a:srgbClr val="7A8B9E"/>
                </a:solidFill>
                <a:latin typeface="Aptos"/>
              </a:rPr>
              <a:t>6 oct</a:t>
            </a:r>
          </a:p>
        </p:txBody>
      </p:sp>
      <p:sp>
        <p:nvSpPr>
          <p:cNvPr id="13" name="Oval 12"/>
          <p:cNvSpPr/>
          <p:nvPr/>
        </p:nvSpPr>
        <p:spPr>
          <a:xfrm>
            <a:off x="2942982" y="3035808"/>
            <a:ext cx="420624" cy="420624"/>
          </a:xfrm>
          <a:prstGeom prst="ellipse">
            <a:avLst/>
          </a:prstGeom>
          <a:solidFill>
            <a:srgbClr val="009540"/>
          </a:solidFill>
          <a:ln w="381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42982" y="3035808"/>
            <a:ext cx="420624" cy="420624"/>
          </a:xfrm>
          <a:prstGeom prst="rect">
            <a:avLst/>
          </a:prstGeom>
          <a:noFill/>
        </p:spPr>
        <p:txBody>
          <a:bodyPr wrap="square" anchor="ctr" lIns="0" rIns="0" tIns="0" bIns="0">
            <a:spAutoFit/>
          </a:bodyPr>
          <a:lstStyle/>
          <a:p>
            <a:pPr algn="ctr"/>
            <a:r>
              <a:rPr sz="1600" b="1">
                <a:solidFill>
                  <a:srgbClr val="FFFFFF"/>
                </a:solidFill>
                <a:latin typeface="Aptos"/>
              </a:rPr>
              <a:t>✓</a:t>
            </a:r>
          </a:p>
        </p:txBody>
      </p:sp>
      <p:sp>
        <p:nvSpPr>
          <p:cNvPr id="15" name="TextBox 14"/>
          <p:cNvSpPr txBox="1"/>
          <p:nvPr/>
        </p:nvSpPr>
        <p:spPr>
          <a:xfrm>
            <a:off x="2147454" y="3630168"/>
            <a:ext cx="2011680" cy="365760"/>
          </a:xfrm>
          <a:prstGeom prst="rect">
            <a:avLst/>
          </a:prstGeom>
          <a:noFill/>
        </p:spPr>
        <p:txBody>
          <a:bodyPr wrap="square" anchor="t" lIns="0" rIns="0" tIns="0" bIns="0">
            <a:spAutoFit/>
          </a:bodyPr>
          <a:lstStyle/>
          <a:p>
            <a:pPr algn="ctr"/>
            <a:r>
              <a:rPr sz="1400" b="1">
                <a:solidFill>
                  <a:srgbClr val="0E2841"/>
                </a:solidFill>
                <a:latin typeface="Aptos"/>
              </a:rPr>
              <a:t>H0 · equipo y reto</a:t>
            </a:r>
          </a:p>
        </p:txBody>
      </p:sp>
      <p:sp>
        <p:nvSpPr>
          <p:cNvPr id="16" name="TextBox 15"/>
          <p:cNvSpPr txBox="1"/>
          <p:nvPr/>
        </p:nvSpPr>
        <p:spPr>
          <a:xfrm>
            <a:off x="2147454" y="3977639"/>
            <a:ext cx="2011680" cy="274320"/>
          </a:xfrm>
          <a:prstGeom prst="rect">
            <a:avLst/>
          </a:prstGeom>
          <a:noFill/>
        </p:spPr>
        <p:txBody>
          <a:bodyPr wrap="square" anchor="t" lIns="0" rIns="0" tIns="0" bIns="0">
            <a:spAutoFit/>
          </a:bodyPr>
          <a:lstStyle/>
          <a:p>
            <a:pPr algn="ctr"/>
            <a:r>
              <a:rPr sz="1200" b="0">
                <a:solidFill>
                  <a:srgbClr val="7A8B9E"/>
                </a:solidFill>
                <a:latin typeface="Aptos"/>
              </a:rPr>
              <a:t>13 oct</a:t>
            </a:r>
          </a:p>
        </p:txBody>
      </p:sp>
      <p:sp>
        <p:nvSpPr>
          <p:cNvPr id="17" name="Oval 16"/>
          <p:cNvSpPr/>
          <p:nvPr/>
        </p:nvSpPr>
        <p:spPr>
          <a:xfrm>
            <a:off x="4411564" y="3035808"/>
            <a:ext cx="420624" cy="420624"/>
          </a:xfrm>
          <a:prstGeom prst="ellipse">
            <a:avLst/>
          </a:prstGeom>
          <a:solidFill>
            <a:srgbClr val="009540"/>
          </a:solidFill>
          <a:ln w="381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11564" y="3035808"/>
            <a:ext cx="420624" cy="420624"/>
          </a:xfrm>
          <a:prstGeom prst="rect">
            <a:avLst/>
          </a:prstGeom>
          <a:noFill/>
        </p:spPr>
        <p:txBody>
          <a:bodyPr wrap="square" anchor="ctr" lIns="0" rIns="0" tIns="0" bIns="0">
            <a:spAutoFit/>
          </a:bodyPr>
          <a:lstStyle/>
          <a:p>
            <a:pPr algn="ctr"/>
            <a:r>
              <a:rPr sz="1600" b="1">
                <a:solidFill>
                  <a:srgbClr val="FFFFFF"/>
                </a:solidFill>
                <a:latin typeface="Aptos"/>
              </a:rPr>
              <a:t>✓</a:t>
            </a:r>
          </a:p>
        </p:txBody>
      </p:sp>
      <p:sp>
        <p:nvSpPr>
          <p:cNvPr id="19" name="TextBox 18"/>
          <p:cNvSpPr txBox="1"/>
          <p:nvPr/>
        </p:nvSpPr>
        <p:spPr>
          <a:xfrm>
            <a:off x="3616036" y="2103120"/>
            <a:ext cx="2011680" cy="365760"/>
          </a:xfrm>
          <a:prstGeom prst="rect">
            <a:avLst/>
          </a:prstGeom>
          <a:noFill/>
        </p:spPr>
        <p:txBody>
          <a:bodyPr wrap="square" anchor="t" lIns="0" rIns="0" tIns="0" bIns="0">
            <a:spAutoFit/>
          </a:bodyPr>
          <a:lstStyle/>
          <a:p>
            <a:pPr algn="ctr"/>
            <a:r>
              <a:rPr sz="1400" b="1">
                <a:solidFill>
                  <a:srgbClr val="0E2841"/>
                </a:solidFill>
                <a:latin typeface="Aptos"/>
              </a:rPr>
              <a:t>H1 · diagnóstico</a:t>
            </a:r>
          </a:p>
        </p:txBody>
      </p:sp>
      <p:sp>
        <p:nvSpPr>
          <p:cNvPr id="20" name="TextBox 19"/>
          <p:cNvSpPr txBox="1"/>
          <p:nvPr/>
        </p:nvSpPr>
        <p:spPr>
          <a:xfrm>
            <a:off x="3616036" y="2450591"/>
            <a:ext cx="2011680" cy="274320"/>
          </a:xfrm>
          <a:prstGeom prst="rect">
            <a:avLst/>
          </a:prstGeom>
          <a:noFill/>
        </p:spPr>
        <p:txBody>
          <a:bodyPr wrap="square" anchor="t" lIns="0" rIns="0" tIns="0" bIns="0">
            <a:spAutoFit/>
          </a:bodyPr>
          <a:lstStyle/>
          <a:p>
            <a:pPr algn="ctr"/>
            <a:r>
              <a:rPr sz="1200" b="0">
                <a:solidFill>
                  <a:srgbClr val="7A8B9E"/>
                </a:solidFill>
                <a:latin typeface="Aptos"/>
              </a:rPr>
              <a:t>18 oct</a:t>
            </a:r>
          </a:p>
        </p:txBody>
      </p:sp>
      <p:sp>
        <p:nvSpPr>
          <p:cNvPr id="21" name="Oval 20"/>
          <p:cNvSpPr/>
          <p:nvPr/>
        </p:nvSpPr>
        <p:spPr>
          <a:xfrm>
            <a:off x="6467578" y="3035808"/>
            <a:ext cx="420624" cy="420624"/>
          </a:xfrm>
          <a:prstGeom prst="ellipse">
            <a:avLst/>
          </a:prstGeom>
          <a:solidFill>
            <a:srgbClr val="009540"/>
          </a:solidFill>
          <a:ln w="381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67578" y="3035808"/>
            <a:ext cx="420624" cy="420624"/>
          </a:xfrm>
          <a:prstGeom prst="rect">
            <a:avLst/>
          </a:prstGeom>
          <a:noFill/>
        </p:spPr>
        <p:txBody>
          <a:bodyPr wrap="square" anchor="ctr" lIns="0" rIns="0" tIns="0" bIns="0">
            <a:spAutoFit/>
          </a:bodyPr>
          <a:lstStyle/>
          <a:p>
            <a:pPr algn="ctr"/>
            <a:r>
              <a:rPr sz="1600" b="1">
                <a:solidFill>
                  <a:srgbClr val="FFFFFF"/>
                </a:solidFill>
                <a:latin typeface="Aptos"/>
              </a:rPr>
              <a:t>✓</a:t>
            </a:r>
          </a:p>
        </p:txBody>
      </p:sp>
      <p:sp>
        <p:nvSpPr>
          <p:cNvPr id="23" name="TextBox 22"/>
          <p:cNvSpPr txBox="1"/>
          <p:nvPr/>
        </p:nvSpPr>
        <p:spPr>
          <a:xfrm>
            <a:off x="5672050" y="3630168"/>
            <a:ext cx="2011680" cy="365760"/>
          </a:xfrm>
          <a:prstGeom prst="rect">
            <a:avLst/>
          </a:prstGeom>
          <a:noFill/>
        </p:spPr>
        <p:txBody>
          <a:bodyPr wrap="square" anchor="t" lIns="0" rIns="0" tIns="0" bIns="0">
            <a:spAutoFit/>
          </a:bodyPr>
          <a:lstStyle/>
          <a:p>
            <a:pPr algn="ctr"/>
            <a:r>
              <a:rPr sz="1400" b="1">
                <a:solidFill>
                  <a:srgbClr val="0E2841"/>
                </a:solidFill>
                <a:latin typeface="Aptos"/>
              </a:rPr>
              <a:t>H2 · versión 1</a:t>
            </a:r>
          </a:p>
        </p:txBody>
      </p:sp>
      <p:sp>
        <p:nvSpPr>
          <p:cNvPr id="24" name="TextBox 23"/>
          <p:cNvSpPr txBox="1"/>
          <p:nvPr/>
        </p:nvSpPr>
        <p:spPr>
          <a:xfrm>
            <a:off x="5672050" y="3977639"/>
            <a:ext cx="2011680" cy="274320"/>
          </a:xfrm>
          <a:prstGeom prst="rect">
            <a:avLst/>
          </a:prstGeom>
          <a:noFill/>
        </p:spPr>
        <p:txBody>
          <a:bodyPr wrap="square" anchor="t" lIns="0" rIns="0" tIns="0" bIns="0">
            <a:spAutoFit/>
          </a:bodyPr>
          <a:lstStyle/>
          <a:p>
            <a:pPr algn="ctr"/>
            <a:r>
              <a:rPr sz="1200" b="0">
                <a:solidFill>
                  <a:srgbClr val="7A8B9E"/>
                </a:solidFill>
                <a:latin typeface="Aptos"/>
              </a:rPr>
              <a:t>25 oct</a:t>
            </a:r>
          </a:p>
        </p:txBody>
      </p:sp>
      <p:sp>
        <p:nvSpPr>
          <p:cNvPr id="25" name="Oval 24"/>
          <p:cNvSpPr/>
          <p:nvPr/>
        </p:nvSpPr>
        <p:spPr>
          <a:xfrm>
            <a:off x="9111026" y="3035808"/>
            <a:ext cx="420624" cy="420624"/>
          </a:xfrm>
          <a:prstGeom prst="ellipse">
            <a:avLst/>
          </a:prstGeom>
          <a:solidFill>
            <a:srgbClr val="FFFFFF"/>
          </a:solidFill>
          <a:ln w="5080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15498" y="3630168"/>
            <a:ext cx="2011680" cy="365760"/>
          </a:xfrm>
          <a:prstGeom prst="rect">
            <a:avLst/>
          </a:prstGeom>
          <a:noFill/>
        </p:spPr>
        <p:txBody>
          <a:bodyPr wrap="square" anchor="t" lIns="0" rIns="0" tIns="0" bIns="0">
            <a:spAutoFit/>
          </a:bodyPr>
          <a:lstStyle/>
          <a:p>
            <a:pPr algn="ctr"/>
            <a:r>
              <a:rPr sz="1400" b="1">
                <a:solidFill>
                  <a:srgbClr val="0E2841"/>
                </a:solidFill>
                <a:latin typeface="Aptos"/>
              </a:rPr>
              <a:t>Sustentación</a:t>
            </a:r>
          </a:p>
        </p:txBody>
      </p:sp>
      <p:sp>
        <p:nvSpPr>
          <p:cNvPr id="27" name="TextBox 26"/>
          <p:cNvSpPr txBox="1"/>
          <p:nvPr/>
        </p:nvSpPr>
        <p:spPr>
          <a:xfrm>
            <a:off x="8315498" y="3977639"/>
            <a:ext cx="2011680" cy="274320"/>
          </a:xfrm>
          <a:prstGeom prst="rect">
            <a:avLst/>
          </a:prstGeom>
          <a:noFill/>
        </p:spPr>
        <p:txBody>
          <a:bodyPr wrap="square" anchor="t" lIns="0" rIns="0" tIns="0" bIns="0">
            <a:spAutoFit/>
          </a:bodyPr>
          <a:lstStyle/>
          <a:p>
            <a:pPr algn="ctr"/>
            <a:r>
              <a:rPr sz="1200" b="0">
                <a:solidFill>
                  <a:srgbClr val="7A8B9E"/>
                </a:solidFill>
                <a:latin typeface="Aptos"/>
              </a:rPr>
              <a:t>mar 3 nov</a:t>
            </a:r>
          </a:p>
        </p:txBody>
      </p:sp>
      <p:sp>
        <p:nvSpPr>
          <p:cNvPr id="28" name="Oval 27"/>
          <p:cNvSpPr/>
          <p:nvPr/>
        </p:nvSpPr>
        <p:spPr>
          <a:xfrm>
            <a:off x="10579608" y="3035808"/>
            <a:ext cx="420624" cy="420624"/>
          </a:xfrm>
          <a:prstGeom prst="ellipse">
            <a:avLst/>
          </a:prstGeom>
          <a:solidFill>
            <a:srgbClr val="FFFFFF"/>
          </a:solidFill>
          <a:ln w="5080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84080" y="2103120"/>
            <a:ext cx="2011680" cy="365760"/>
          </a:xfrm>
          <a:prstGeom prst="rect">
            <a:avLst/>
          </a:prstGeom>
          <a:noFill/>
        </p:spPr>
        <p:txBody>
          <a:bodyPr wrap="square" anchor="t" lIns="0" rIns="0" tIns="0" bIns="0">
            <a:spAutoFit/>
          </a:bodyPr>
          <a:lstStyle/>
          <a:p>
            <a:pPr algn="ctr"/>
            <a:r>
              <a:rPr sz="1400" b="1">
                <a:solidFill>
                  <a:srgbClr val="0E2841"/>
                </a:solidFill>
                <a:latin typeface="Aptos"/>
              </a:rPr>
              <a:t>H3 foro + H4 entrega</a:t>
            </a:r>
          </a:p>
        </p:txBody>
      </p:sp>
      <p:sp>
        <p:nvSpPr>
          <p:cNvPr id="30" name="TextBox 29"/>
          <p:cNvSpPr txBox="1"/>
          <p:nvPr/>
        </p:nvSpPr>
        <p:spPr>
          <a:xfrm>
            <a:off x="9784080" y="2450591"/>
            <a:ext cx="2011680" cy="274320"/>
          </a:xfrm>
          <a:prstGeom prst="rect">
            <a:avLst/>
          </a:prstGeom>
          <a:noFill/>
        </p:spPr>
        <p:txBody>
          <a:bodyPr wrap="square" anchor="t" lIns="0" rIns="0" tIns="0" bIns="0">
            <a:spAutoFit/>
          </a:bodyPr>
          <a:lstStyle/>
          <a:p>
            <a:pPr algn="ctr"/>
            <a:r>
              <a:rPr sz="1200" b="0">
                <a:solidFill>
                  <a:srgbClr val="7A8B9E"/>
                </a:solidFill>
                <a:latin typeface="Aptos"/>
              </a:rPr>
              <a:t>dom 8 nov</a:t>
            </a:r>
          </a:p>
        </p:txBody>
      </p:sp>
      <p:cxnSp>
        <p:nvCxnSpPr>
          <p:cNvPr id="31" name="Connector 30"/>
          <p:cNvCxnSpPr/>
          <p:nvPr/>
        </p:nvCxnSpPr>
        <p:spPr>
          <a:xfrm>
            <a:off x="7265323" y="2377439"/>
            <a:ext cx="0" cy="868681"/>
          </a:xfrm>
          <a:prstGeom prst="line">
            <a:avLst/>
          </a:prstGeom>
          <a:ln w="38100">
            <a:solidFill>
              <a:srgbClr val="E97132"/>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7119019" y="3099815"/>
            <a:ext cx="292608" cy="292608"/>
          </a:xfrm>
          <a:prstGeom prst="ellipse">
            <a:avLst/>
          </a:prstGeom>
          <a:solidFill>
            <a:srgbClr val="E97132"/>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396643" y="1828799"/>
            <a:ext cx="1737360" cy="548640"/>
          </a:xfrm>
          <a:prstGeom prst="roundRect">
            <a:avLst>
              <a:gd name="adj" fmla="val 3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96643" y="1828799"/>
            <a:ext cx="1737360" cy="548640"/>
          </a:xfrm>
          <a:prstGeom prst="rect">
            <a:avLst/>
          </a:prstGeom>
          <a:noFill/>
        </p:spPr>
        <p:txBody>
          <a:bodyPr wrap="square" anchor="ctr" lIns="0" rIns="0" tIns="0" bIns="0">
            <a:spAutoFit/>
          </a:bodyPr>
          <a:lstStyle/>
          <a:p>
            <a:pPr algn="ctr"/>
            <a:r>
              <a:rPr sz="1400" b="1">
                <a:solidFill>
                  <a:srgbClr val="FFFFFF"/>
                </a:solidFill>
                <a:latin typeface="Aptos"/>
              </a:rPr>
              <a:t>HOY · asesoría</a:t>
            </a:r>
          </a:p>
        </p:txBody>
      </p:sp>
      <p:sp>
        <p:nvSpPr>
          <p:cNvPr id="35" name="TextBox 34"/>
          <p:cNvSpPr txBox="1"/>
          <p:nvPr/>
        </p:nvSpPr>
        <p:spPr>
          <a:xfrm>
            <a:off x="2926080" y="4800600"/>
            <a:ext cx="1188720" cy="1097280"/>
          </a:xfrm>
          <a:prstGeom prst="rect">
            <a:avLst/>
          </a:prstGeom>
          <a:noFill/>
        </p:spPr>
        <p:txBody>
          <a:bodyPr wrap="square" anchor="ctr" lIns="0" rIns="0" tIns="0" bIns="0">
            <a:spAutoFit/>
          </a:bodyPr>
          <a:lstStyle/>
          <a:p>
            <a:pPr algn="r"/>
            <a:r>
              <a:rPr sz="6400" b="1">
                <a:solidFill>
                  <a:srgbClr val="E97132"/>
                </a:solidFill>
                <a:latin typeface="Aptos Display"/>
              </a:rPr>
              <a:t>7</a:t>
            </a:r>
          </a:p>
        </p:txBody>
      </p:sp>
      <p:sp>
        <p:nvSpPr>
          <p:cNvPr id="36" name="TextBox 35"/>
          <p:cNvSpPr txBox="1"/>
          <p:nvPr/>
        </p:nvSpPr>
        <p:spPr>
          <a:xfrm>
            <a:off x="4251960" y="4800600"/>
            <a:ext cx="2743200" cy="1097280"/>
          </a:xfrm>
          <a:prstGeom prst="rect">
            <a:avLst/>
          </a:prstGeom>
          <a:noFill/>
        </p:spPr>
        <p:txBody>
          <a:bodyPr wrap="square" anchor="ctr" lIns="0" rIns="0" tIns="0" bIns="0">
            <a:spAutoFit/>
          </a:bodyPr>
          <a:lstStyle/>
          <a:p>
            <a:pPr algn="l"/>
            <a:r>
              <a:rPr sz="1800" b="0">
                <a:solidFill>
                  <a:srgbClr val="33475B"/>
                </a:solidFill>
                <a:latin typeface="Aptos"/>
              </a:rPr>
              <a:t>días para sustentar</a:t>
            </a:r>
          </a:p>
        </p:txBody>
      </p:sp>
      <p:sp>
        <p:nvSpPr>
          <p:cNvPr id="37" name="TextBox 36"/>
          <p:cNvSpPr txBox="1"/>
          <p:nvPr/>
        </p:nvSpPr>
        <p:spPr>
          <a:xfrm>
            <a:off x="6583680" y="4800600"/>
            <a:ext cx="1188720" cy="1097280"/>
          </a:xfrm>
          <a:prstGeom prst="rect">
            <a:avLst/>
          </a:prstGeom>
          <a:noFill/>
        </p:spPr>
        <p:txBody>
          <a:bodyPr wrap="square" anchor="ctr" lIns="0" rIns="0" tIns="0" bIns="0">
            <a:spAutoFit/>
          </a:bodyPr>
          <a:lstStyle/>
          <a:p>
            <a:pPr algn="r"/>
            <a:r>
              <a:rPr sz="6400" b="1">
                <a:solidFill>
                  <a:srgbClr val="0E2841"/>
                </a:solidFill>
                <a:latin typeface="Aptos Display"/>
              </a:rPr>
              <a:t>12</a:t>
            </a:r>
          </a:p>
        </p:txBody>
      </p:sp>
      <p:sp>
        <p:nvSpPr>
          <p:cNvPr id="38" name="TextBox 37"/>
          <p:cNvSpPr txBox="1"/>
          <p:nvPr/>
        </p:nvSpPr>
        <p:spPr>
          <a:xfrm>
            <a:off x="7909560" y="4800600"/>
            <a:ext cx="2743200" cy="1097280"/>
          </a:xfrm>
          <a:prstGeom prst="rect">
            <a:avLst/>
          </a:prstGeom>
          <a:noFill/>
        </p:spPr>
        <p:txBody>
          <a:bodyPr wrap="square" anchor="ctr" lIns="0" rIns="0" tIns="0" bIns="0">
            <a:spAutoFit/>
          </a:bodyPr>
          <a:lstStyle/>
          <a:p>
            <a:pPr algn="l"/>
            <a:r>
              <a:rPr sz="1800" b="0">
                <a:solidFill>
                  <a:srgbClr val="33475B"/>
                </a:solidFill>
                <a:latin typeface="Aptos"/>
              </a:rPr>
              <a:t>días para entregar la A3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anchor="t" lIns="0" rIns="0" tIns="0" bIns="0">
            <a:spAutoFit/>
          </a:bodyPr>
          <a:lstStyle/>
          <a:p>
            <a:pPr algn="l"/>
            <a:r>
              <a:rPr sz="1300" b="1">
                <a:solidFill>
                  <a:srgbClr val="009540"/>
                </a:solidFill>
                <a:latin typeface="Aptos"/>
              </a:rPr>
              <a:t>Autodiagnóstico de dos minutos</a:t>
            </a:r>
          </a:p>
        </p:txBody>
      </p:sp>
      <p:sp>
        <p:nvSpPr>
          <p:cNvPr id="3" name="TextBox 2"/>
          <p:cNvSpPr txBox="1"/>
          <p:nvPr/>
        </p:nvSpPr>
        <p:spPr>
          <a:xfrm>
            <a:off x="640080" y="640080"/>
            <a:ext cx="9144000" cy="731520"/>
          </a:xfrm>
          <a:prstGeom prst="rect">
            <a:avLst/>
          </a:prstGeom>
          <a:noFill/>
        </p:spPr>
        <p:txBody>
          <a:bodyPr wrap="square" anchor="t" lIns="0" rIns="0" tIns="0" bIns="0">
            <a:spAutoFit/>
          </a:bodyPr>
          <a:lstStyle/>
          <a:p>
            <a:pPr algn="l"/>
            <a:r>
              <a:rPr sz="3200" b="1">
                <a:solidFill>
                  <a:srgbClr val="0E2841"/>
                </a:solidFill>
                <a:latin typeface="Aptos Display"/>
              </a:rPr>
              <a:t>¿En qué color está su equipo?</a:t>
            </a:r>
          </a:p>
        </p:txBody>
      </p:sp>
      <p:pic>
        <p:nvPicPr>
          <p:cNvPr id="4" name="Picture 3" descr="LOGO-CORHUILA-COLOR.png"/>
          <p:cNvPicPr>
            <a:picLocks noChangeAspect="1"/>
          </p:cNvPicPr>
          <p:nvPr/>
        </p:nvPicPr>
        <p:blipFill>
          <a:blip r:embed="rId2"/>
          <a:stretch>
            <a:fillRect/>
          </a:stretch>
        </p:blipFill>
        <p:spPr>
          <a:xfrm>
            <a:off x="11049000" y="365760"/>
            <a:ext cx="640080" cy="640080"/>
          </a:xfrm>
          <a:prstGeom prst="rect">
            <a:avLst/>
          </a:prstGeom>
        </p:spPr>
      </p:pic>
      <p:sp>
        <p:nvSpPr>
          <p:cNvPr id="5" name="TextBox 4"/>
          <p:cNvSpPr txBox="1"/>
          <p:nvPr/>
        </p:nvSpPr>
        <p:spPr>
          <a:xfrm>
            <a:off x="640080" y="6455664"/>
            <a:ext cx="7315200" cy="228600"/>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Encuentro 4 · Asesoría</a:t>
            </a:r>
          </a:p>
        </p:txBody>
      </p:sp>
      <p:sp>
        <p:nvSpPr>
          <p:cNvPr id="6" name="TextBox 5"/>
          <p:cNvSpPr txBox="1"/>
          <p:nvPr/>
        </p:nvSpPr>
        <p:spPr>
          <a:xfrm>
            <a:off x="10881360" y="6455664"/>
            <a:ext cx="731520" cy="228600"/>
          </a:xfrm>
          <a:prstGeom prst="rect">
            <a:avLst/>
          </a:prstGeom>
          <a:noFill/>
        </p:spPr>
        <p:txBody>
          <a:bodyPr wrap="square" anchor="t" lIns="0" rIns="0" tIns="0" bIns="0">
            <a:spAutoFit/>
          </a:bodyPr>
          <a:lstStyle/>
          <a:p>
            <a:pPr algn="r"/>
            <a:r>
              <a:rPr sz="950" b="0">
                <a:solidFill>
                  <a:srgbClr val="7A8B9E"/>
                </a:solidFill>
                <a:latin typeface="Aptos"/>
              </a:rPr>
              <a:t>2</a:t>
            </a:r>
          </a:p>
        </p:txBody>
      </p:sp>
      <p:sp>
        <p:nvSpPr>
          <p:cNvPr id="7" name="Rounded Rectangle 6"/>
          <p:cNvSpPr/>
          <p:nvPr/>
        </p:nvSpPr>
        <p:spPr>
          <a:xfrm>
            <a:off x="822960" y="1691640"/>
            <a:ext cx="1874519" cy="786384"/>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78408" y="1828800"/>
            <a:ext cx="512064" cy="512064"/>
          </a:xfrm>
          <a:prstGeom prst="ellipse">
            <a:avLst/>
          </a:prstGeom>
          <a:solidFill>
            <a:srgbClr val="D64545"/>
          </a:solidFill>
          <a:ln w="12700">
            <a:solidFill>
              <a:srgbClr val="D6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45336" y="1828800"/>
            <a:ext cx="512064" cy="512064"/>
          </a:xfrm>
          <a:prstGeom prst="ellipse">
            <a:avLst/>
          </a:prstGeom>
          <a:solidFill>
            <a:srgbClr val="F2B705"/>
          </a:solidFill>
          <a:ln w="127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112264" y="1828800"/>
            <a:ext cx="512064" cy="512064"/>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17520" y="1709928"/>
            <a:ext cx="3291840" cy="411480"/>
          </a:xfrm>
          <a:prstGeom prst="rect">
            <a:avLst/>
          </a:prstGeom>
          <a:noFill/>
        </p:spPr>
        <p:txBody>
          <a:bodyPr wrap="square" anchor="t" lIns="0" rIns="0" tIns="0" bIns="0">
            <a:spAutoFit/>
          </a:bodyPr>
          <a:lstStyle/>
          <a:p>
            <a:pPr algn="l"/>
            <a:r>
              <a:rPr sz="2000" b="1">
                <a:solidFill>
                  <a:srgbClr val="0E2841"/>
                </a:solidFill>
                <a:latin typeface="Aptos Display"/>
              </a:rPr>
              <a:t>v1 etiquetada</a:t>
            </a:r>
          </a:p>
        </p:txBody>
      </p:sp>
      <p:sp>
        <p:nvSpPr>
          <p:cNvPr id="12" name="TextBox 11"/>
          <p:cNvSpPr txBox="1"/>
          <p:nvPr/>
        </p:nvSpPr>
        <p:spPr>
          <a:xfrm>
            <a:off x="3017520" y="2121408"/>
            <a:ext cx="8046720" cy="365760"/>
          </a:xfrm>
          <a:prstGeom prst="rect">
            <a:avLst/>
          </a:prstGeom>
          <a:noFill/>
        </p:spPr>
        <p:txBody>
          <a:bodyPr wrap="square" anchor="t" lIns="0" rIns="0" tIns="0" bIns="0">
            <a:spAutoFit/>
          </a:bodyPr>
          <a:lstStyle/>
          <a:p>
            <a:pPr algn="l"/>
            <a:r>
              <a:rPr sz="1500" b="0">
                <a:solidFill>
                  <a:srgbClr val="33475B"/>
                </a:solidFill>
                <a:latin typeface="Aptos"/>
              </a:rPr>
              <a:t>Verde si: git tag v1 publicado y la v1 todavía corre</a:t>
            </a:r>
          </a:p>
        </p:txBody>
      </p:sp>
      <p:cxnSp>
        <p:nvCxnSpPr>
          <p:cNvPr id="13" name="Connector 12"/>
          <p:cNvCxnSpPr/>
          <p:nvPr/>
        </p:nvCxnSpPr>
        <p:spPr>
          <a:xfrm>
            <a:off x="3017520" y="2651760"/>
            <a:ext cx="8321040" cy="0"/>
          </a:xfrm>
          <a:prstGeom prst="line">
            <a:avLst/>
          </a:prstGeom>
          <a:ln w="12700">
            <a:solidFill>
              <a:srgbClr val="D9E3E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22960" y="2807208"/>
            <a:ext cx="1874519" cy="786384"/>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2944368"/>
            <a:ext cx="512064" cy="512064"/>
          </a:xfrm>
          <a:prstGeom prst="ellipse">
            <a:avLst/>
          </a:prstGeom>
          <a:solidFill>
            <a:srgbClr val="D64545"/>
          </a:solidFill>
          <a:ln w="12700">
            <a:solidFill>
              <a:srgbClr val="D6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545336" y="2944368"/>
            <a:ext cx="512064" cy="512064"/>
          </a:xfrm>
          <a:prstGeom prst="ellipse">
            <a:avLst/>
          </a:prstGeom>
          <a:solidFill>
            <a:srgbClr val="F2B705"/>
          </a:solidFill>
          <a:ln w="127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112264" y="2944368"/>
            <a:ext cx="512064" cy="512064"/>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0" y="2825496"/>
            <a:ext cx="3291840" cy="411480"/>
          </a:xfrm>
          <a:prstGeom prst="rect">
            <a:avLst/>
          </a:prstGeom>
          <a:noFill/>
        </p:spPr>
        <p:txBody>
          <a:bodyPr wrap="square" anchor="t" lIns="0" rIns="0" tIns="0" bIns="0">
            <a:spAutoFit/>
          </a:bodyPr>
          <a:lstStyle/>
          <a:p>
            <a:pPr algn="l"/>
            <a:r>
              <a:rPr sz="2000" b="1">
                <a:solidFill>
                  <a:srgbClr val="0E2841"/>
                </a:solidFill>
                <a:latin typeface="Aptos Display"/>
              </a:rPr>
              <a:t>Decisión de migración</a:t>
            </a:r>
          </a:p>
        </p:txBody>
      </p:sp>
      <p:sp>
        <p:nvSpPr>
          <p:cNvPr id="19" name="TextBox 18"/>
          <p:cNvSpPr txBox="1"/>
          <p:nvPr/>
        </p:nvSpPr>
        <p:spPr>
          <a:xfrm>
            <a:off x="3017520" y="3236976"/>
            <a:ext cx="8046720" cy="365760"/>
          </a:xfrm>
          <a:prstGeom prst="rect">
            <a:avLst/>
          </a:prstGeom>
          <a:noFill/>
        </p:spPr>
        <p:txBody>
          <a:bodyPr wrap="square" anchor="t" lIns="0" rIns="0" tIns="0" bIns="0">
            <a:spAutoFit/>
          </a:bodyPr>
          <a:lstStyle/>
          <a:p>
            <a:pPr algn="l"/>
            <a:r>
              <a:rPr sz="1500" b="0">
                <a:solidFill>
                  <a:srgbClr val="33475B"/>
                </a:solidFill>
                <a:latin typeface="Aptos"/>
              </a:rPr>
              <a:t>Verde si: patrón moderno elegido con matriz y con el dolor que lo justifica</a:t>
            </a:r>
          </a:p>
        </p:txBody>
      </p:sp>
      <p:cxnSp>
        <p:nvCxnSpPr>
          <p:cNvPr id="20" name="Connector 19"/>
          <p:cNvCxnSpPr/>
          <p:nvPr/>
        </p:nvCxnSpPr>
        <p:spPr>
          <a:xfrm>
            <a:off x="3017520" y="3767328"/>
            <a:ext cx="8321040" cy="0"/>
          </a:xfrm>
          <a:prstGeom prst="line">
            <a:avLst/>
          </a:prstGeom>
          <a:ln w="12700">
            <a:solidFill>
              <a:srgbClr val="D9E3E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22960" y="3922776"/>
            <a:ext cx="1874519" cy="786384"/>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78408" y="4059936"/>
            <a:ext cx="512064" cy="512064"/>
          </a:xfrm>
          <a:prstGeom prst="ellipse">
            <a:avLst/>
          </a:prstGeom>
          <a:solidFill>
            <a:srgbClr val="D64545"/>
          </a:solidFill>
          <a:ln w="12700">
            <a:solidFill>
              <a:srgbClr val="D6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545336" y="4059936"/>
            <a:ext cx="512064" cy="512064"/>
          </a:xfrm>
          <a:prstGeom prst="ellipse">
            <a:avLst/>
          </a:prstGeom>
          <a:solidFill>
            <a:srgbClr val="F2B705"/>
          </a:solidFill>
          <a:ln w="127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112264" y="4059936"/>
            <a:ext cx="512064" cy="512064"/>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17520" y="3941063"/>
            <a:ext cx="3291840" cy="411480"/>
          </a:xfrm>
          <a:prstGeom prst="rect">
            <a:avLst/>
          </a:prstGeom>
          <a:noFill/>
        </p:spPr>
        <p:txBody>
          <a:bodyPr wrap="square" anchor="t" lIns="0" rIns="0" tIns="0" bIns="0">
            <a:spAutoFit/>
          </a:bodyPr>
          <a:lstStyle/>
          <a:p>
            <a:pPr algn="l"/>
            <a:r>
              <a:rPr sz="2000" b="1">
                <a:solidFill>
                  <a:srgbClr val="0E2841"/>
                </a:solidFill>
                <a:latin typeface="Aptos Display"/>
              </a:rPr>
              <a:t>v2 en marcha</a:t>
            </a:r>
          </a:p>
        </p:txBody>
      </p:sp>
      <p:sp>
        <p:nvSpPr>
          <p:cNvPr id="26" name="TextBox 25"/>
          <p:cNvSpPr txBox="1"/>
          <p:nvPr/>
        </p:nvSpPr>
        <p:spPr>
          <a:xfrm>
            <a:off x="3017520" y="4352544"/>
            <a:ext cx="8046720" cy="365760"/>
          </a:xfrm>
          <a:prstGeom prst="rect">
            <a:avLst/>
          </a:prstGeom>
          <a:noFill/>
        </p:spPr>
        <p:txBody>
          <a:bodyPr wrap="square" anchor="t" lIns="0" rIns="0" tIns="0" bIns="0">
            <a:spAutoFit/>
          </a:bodyPr>
          <a:lstStyle/>
          <a:p>
            <a:pPr algn="l"/>
            <a:r>
              <a:rPr sz="1500" b="0">
                <a:solidFill>
                  <a:srgbClr val="33475B"/>
                </a:solidFill>
                <a:latin typeface="Aptos"/>
              </a:rPr>
              <a:t>Verde si: al menos un flujo completo corre de punta a punta</a:t>
            </a:r>
          </a:p>
        </p:txBody>
      </p:sp>
      <p:cxnSp>
        <p:nvCxnSpPr>
          <p:cNvPr id="27" name="Connector 26"/>
          <p:cNvCxnSpPr/>
          <p:nvPr/>
        </p:nvCxnSpPr>
        <p:spPr>
          <a:xfrm>
            <a:off x="3017520" y="4882896"/>
            <a:ext cx="8321040" cy="0"/>
          </a:xfrm>
          <a:prstGeom prst="line">
            <a:avLst/>
          </a:prstGeom>
          <a:ln w="12700">
            <a:solidFill>
              <a:srgbClr val="D9E3EC"/>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22960" y="5038344"/>
            <a:ext cx="1874519" cy="786384"/>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78408" y="5175504"/>
            <a:ext cx="512064" cy="512064"/>
          </a:xfrm>
          <a:prstGeom prst="ellipse">
            <a:avLst/>
          </a:prstGeom>
          <a:solidFill>
            <a:srgbClr val="D64545"/>
          </a:solidFill>
          <a:ln w="12700">
            <a:solidFill>
              <a:srgbClr val="D6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45336" y="5175504"/>
            <a:ext cx="512064" cy="512064"/>
          </a:xfrm>
          <a:prstGeom prst="ellipse">
            <a:avLst/>
          </a:prstGeom>
          <a:solidFill>
            <a:srgbClr val="F2B705"/>
          </a:solidFill>
          <a:ln w="127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112264" y="5175504"/>
            <a:ext cx="512064" cy="512064"/>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17520" y="5056631"/>
            <a:ext cx="3291840" cy="411480"/>
          </a:xfrm>
          <a:prstGeom prst="rect">
            <a:avLst/>
          </a:prstGeom>
          <a:noFill/>
        </p:spPr>
        <p:txBody>
          <a:bodyPr wrap="square" anchor="t" lIns="0" rIns="0" tIns="0" bIns="0">
            <a:spAutoFit/>
          </a:bodyPr>
          <a:lstStyle/>
          <a:p>
            <a:pPr algn="l"/>
            <a:r>
              <a:rPr sz="2000" b="1">
                <a:solidFill>
                  <a:srgbClr val="0E2841"/>
                </a:solidFill>
                <a:latin typeface="Aptos Display"/>
              </a:rPr>
              <a:t>FO-IV-159 iniciado</a:t>
            </a:r>
          </a:p>
        </p:txBody>
      </p:sp>
      <p:sp>
        <p:nvSpPr>
          <p:cNvPr id="33" name="TextBox 32"/>
          <p:cNvSpPr txBox="1"/>
          <p:nvPr/>
        </p:nvSpPr>
        <p:spPr>
          <a:xfrm>
            <a:off x="3017520" y="5468112"/>
            <a:ext cx="8046720" cy="365760"/>
          </a:xfrm>
          <a:prstGeom prst="rect">
            <a:avLst/>
          </a:prstGeom>
          <a:noFill/>
        </p:spPr>
        <p:txBody>
          <a:bodyPr wrap="square" anchor="t" lIns="0" rIns="0" tIns="0" bIns="0">
            <a:spAutoFit/>
          </a:bodyPr>
          <a:lstStyle/>
          <a:p>
            <a:pPr algn="l"/>
            <a:r>
              <a:rPr sz="1500" b="0">
                <a:solidFill>
                  <a:srgbClr val="33475B"/>
                </a:solidFill>
                <a:latin typeface="Aptos"/>
              </a:rPr>
              <a:t>Verde si: título, pregunta de investigación y objetivos escritos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anchor="t" lIns="0" rIns="0" tIns="0" bIns="0">
            <a:spAutoFit/>
          </a:bodyPr>
          <a:lstStyle/>
          <a:p>
            <a:pPr algn="l"/>
            <a:r>
              <a:rPr sz="1300" b="1">
                <a:solidFill>
                  <a:srgbClr val="009540"/>
                </a:solidFill>
                <a:latin typeface="Aptos"/>
              </a:rPr>
              <a:t>Mercado Campesino, el reto de demostración</a:t>
            </a:r>
          </a:p>
        </p:txBody>
      </p:sp>
      <p:sp>
        <p:nvSpPr>
          <p:cNvPr id="3" name="TextBox 2"/>
          <p:cNvSpPr txBox="1"/>
          <p:nvPr/>
        </p:nvSpPr>
        <p:spPr>
          <a:xfrm>
            <a:off x="640080" y="640080"/>
            <a:ext cx="9144000" cy="731520"/>
          </a:xfrm>
          <a:prstGeom prst="rect">
            <a:avLst/>
          </a:prstGeom>
          <a:noFill/>
        </p:spPr>
        <p:txBody>
          <a:bodyPr wrap="square" anchor="t" lIns="0" rIns="0" tIns="0" bIns="0">
            <a:spAutoFit/>
          </a:bodyPr>
          <a:lstStyle/>
          <a:p>
            <a:pPr algn="l"/>
            <a:r>
              <a:rPr sz="3200" b="1">
                <a:solidFill>
                  <a:srgbClr val="0E2841"/>
                </a:solidFill>
                <a:latin typeface="Aptos Display"/>
              </a:rPr>
              <a:t>La v1 es su mejor argumento</a:t>
            </a:r>
          </a:p>
        </p:txBody>
      </p:sp>
      <p:pic>
        <p:nvPicPr>
          <p:cNvPr id="4" name="Picture 3" descr="LOGO-CORHUILA-COLOR.png"/>
          <p:cNvPicPr>
            <a:picLocks noChangeAspect="1"/>
          </p:cNvPicPr>
          <p:nvPr/>
        </p:nvPicPr>
        <p:blipFill>
          <a:blip r:embed="rId2"/>
          <a:stretch>
            <a:fillRect/>
          </a:stretch>
        </p:blipFill>
        <p:spPr>
          <a:xfrm>
            <a:off x="11049000" y="365760"/>
            <a:ext cx="640080" cy="640080"/>
          </a:xfrm>
          <a:prstGeom prst="rect">
            <a:avLst/>
          </a:prstGeom>
        </p:spPr>
      </p:pic>
      <p:sp>
        <p:nvSpPr>
          <p:cNvPr id="5" name="TextBox 4"/>
          <p:cNvSpPr txBox="1"/>
          <p:nvPr/>
        </p:nvSpPr>
        <p:spPr>
          <a:xfrm>
            <a:off x="640080" y="6455664"/>
            <a:ext cx="7315200" cy="228600"/>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Encuentro 4 · Asesoría</a:t>
            </a:r>
          </a:p>
        </p:txBody>
      </p:sp>
      <p:sp>
        <p:nvSpPr>
          <p:cNvPr id="6" name="TextBox 5"/>
          <p:cNvSpPr txBox="1"/>
          <p:nvPr/>
        </p:nvSpPr>
        <p:spPr>
          <a:xfrm>
            <a:off x="10881360" y="6455664"/>
            <a:ext cx="731520" cy="228600"/>
          </a:xfrm>
          <a:prstGeom prst="rect">
            <a:avLst/>
          </a:prstGeom>
          <a:noFill/>
        </p:spPr>
        <p:txBody>
          <a:bodyPr wrap="square" anchor="t" lIns="0" rIns="0" tIns="0" bIns="0">
            <a:spAutoFit/>
          </a:bodyPr>
          <a:lstStyle/>
          <a:p>
            <a:pPr algn="r"/>
            <a:r>
              <a:rPr sz="950" b="0">
                <a:solidFill>
                  <a:srgbClr val="7A8B9E"/>
                </a:solidFill>
                <a:latin typeface="Aptos"/>
              </a:rPr>
              <a:t>3</a:t>
            </a:r>
          </a:p>
        </p:txBody>
      </p:sp>
      <p:sp>
        <p:nvSpPr>
          <p:cNvPr id="7" name="TextBox 6"/>
          <p:cNvSpPr txBox="1"/>
          <p:nvPr/>
        </p:nvSpPr>
        <p:spPr>
          <a:xfrm>
            <a:off x="822960" y="1600200"/>
            <a:ext cx="3291840" cy="365760"/>
          </a:xfrm>
          <a:prstGeom prst="rect">
            <a:avLst/>
          </a:prstGeom>
          <a:noFill/>
        </p:spPr>
        <p:txBody>
          <a:bodyPr wrap="square" anchor="t" lIns="0" rIns="0" tIns="0" bIns="0">
            <a:spAutoFit/>
          </a:bodyPr>
          <a:lstStyle/>
          <a:p>
            <a:pPr algn="ctr"/>
            <a:r>
              <a:rPr sz="1800" b="1">
                <a:solidFill>
                  <a:srgbClr val="7A8B9E"/>
                </a:solidFill>
                <a:latin typeface="Aptos"/>
              </a:rPr>
              <a:t>v1 · capas</a:t>
            </a:r>
          </a:p>
        </p:txBody>
      </p:sp>
      <p:sp>
        <p:nvSpPr>
          <p:cNvPr id="8" name="Rounded Rectangle 7"/>
          <p:cNvSpPr/>
          <p:nvPr/>
        </p:nvSpPr>
        <p:spPr>
          <a:xfrm>
            <a:off x="822960" y="2103120"/>
            <a:ext cx="3291840" cy="749808"/>
          </a:xfrm>
          <a:prstGeom prst="roundRect">
            <a:avLst>
              <a:gd name="adj" fmla="val 12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103120"/>
            <a:ext cx="3291840" cy="749808"/>
          </a:xfrm>
          <a:prstGeom prst="rect">
            <a:avLst/>
          </a:prstGeom>
          <a:noFill/>
        </p:spPr>
        <p:txBody>
          <a:bodyPr wrap="square" anchor="ctr" lIns="0" rIns="0" tIns="0" bIns="0">
            <a:spAutoFit/>
          </a:bodyPr>
          <a:lstStyle/>
          <a:p>
            <a:pPr algn="ctr"/>
            <a:r>
              <a:rPr sz="1700" b="1">
                <a:solidFill>
                  <a:srgbClr val="FFFFFF"/>
                </a:solidFill>
                <a:latin typeface="Aptos"/>
              </a:rPr>
              <a:t>Presentación</a:t>
            </a:r>
          </a:p>
        </p:txBody>
      </p:sp>
      <p:sp>
        <p:nvSpPr>
          <p:cNvPr id="10" name="Rounded Rectangle 9"/>
          <p:cNvSpPr/>
          <p:nvPr/>
        </p:nvSpPr>
        <p:spPr>
          <a:xfrm>
            <a:off x="822960" y="2999232"/>
            <a:ext cx="3291840" cy="749808"/>
          </a:xfrm>
          <a:prstGeom prst="roundRect">
            <a:avLst>
              <a:gd name="adj" fmla="val 12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999232"/>
            <a:ext cx="3291840" cy="749808"/>
          </a:xfrm>
          <a:prstGeom prst="rect">
            <a:avLst/>
          </a:prstGeom>
          <a:noFill/>
        </p:spPr>
        <p:txBody>
          <a:bodyPr wrap="square" anchor="ctr" lIns="0" rIns="0" tIns="0" bIns="0">
            <a:spAutoFit/>
          </a:bodyPr>
          <a:lstStyle/>
          <a:p>
            <a:pPr algn="ctr"/>
            <a:r>
              <a:rPr sz="1700" b="1">
                <a:solidFill>
                  <a:srgbClr val="FFFFFF"/>
                </a:solidFill>
                <a:latin typeface="Aptos"/>
              </a:rPr>
              <a:t>Negocio</a:t>
            </a:r>
          </a:p>
        </p:txBody>
      </p:sp>
      <p:sp>
        <p:nvSpPr>
          <p:cNvPr id="12" name="Rounded Rectangle 11"/>
          <p:cNvSpPr/>
          <p:nvPr/>
        </p:nvSpPr>
        <p:spPr>
          <a:xfrm>
            <a:off x="822960" y="3895344"/>
            <a:ext cx="3291840" cy="749808"/>
          </a:xfrm>
          <a:prstGeom prst="roundRect">
            <a:avLst>
              <a:gd name="adj" fmla="val 12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895344"/>
            <a:ext cx="3291840" cy="749808"/>
          </a:xfrm>
          <a:prstGeom prst="rect">
            <a:avLst/>
          </a:prstGeom>
          <a:noFill/>
        </p:spPr>
        <p:txBody>
          <a:bodyPr wrap="square" anchor="ctr" lIns="0" rIns="0" tIns="0" bIns="0">
            <a:spAutoFit/>
          </a:bodyPr>
          <a:lstStyle/>
          <a:p>
            <a:pPr algn="ctr"/>
            <a:r>
              <a:rPr sz="1700" b="1">
                <a:solidFill>
                  <a:srgbClr val="FFFFFF"/>
                </a:solidFill>
                <a:latin typeface="Aptos"/>
              </a:rPr>
              <a:t>Datos</a:t>
            </a:r>
          </a:p>
        </p:txBody>
      </p:sp>
      <p:sp>
        <p:nvSpPr>
          <p:cNvPr id="14" name="TextBox 13"/>
          <p:cNvSpPr txBox="1"/>
          <p:nvPr/>
        </p:nvSpPr>
        <p:spPr>
          <a:xfrm>
            <a:off x="822960" y="4846320"/>
            <a:ext cx="3291840" cy="640080"/>
          </a:xfrm>
          <a:prstGeom prst="rect">
            <a:avLst/>
          </a:prstGeom>
          <a:noFill/>
        </p:spPr>
        <p:txBody>
          <a:bodyPr wrap="square" anchor="t" lIns="0" rIns="0" tIns="0" bIns="0">
            <a:spAutoFit/>
          </a:bodyPr>
          <a:lstStyle/>
          <a:p>
            <a:pPr algn="ctr"/>
            <a:r>
              <a:rPr sz="1300" b="0">
                <a:solidFill>
                  <a:srgbClr val="33475B"/>
                </a:solidFill>
                <a:latin typeface="Aptos"/>
              </a:rPr>
              <a:t>Cada aviso nuevo obliga a tocar el servicio de pedidos</a:t>
            </a:r>
          </a:p>
        </p:txBody>
      </p:sp>
      <p:sp>
        <p:nvSpPr>
          <p:cNvPr id="15" name="Right Arrow 14"/>
          <p:cNvSpPr/>
          <p:nvPr/>
        </p:nvSpPr>
        <p:spPr>
          <a:xfrm>
            <a:off x="4434840" y="2926080"/>
            <a:ext cx="1828800" cy="868680"/>
          </a:xfrm>
          <a:prstGeom prst="rightArrow">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0" y="3886200"/>
            <a:ext cx="2286000" cy="640080"/>
          </a:xfrm>
          <a:prstGeom prst="rect">
            <a:avLst/>
          </a:prstGeom>
          <a:noFill/>
        </p:spPr>
        <p:txBody>
          <a:bodyPr wrap="square" anchor="t" lIns="0" rIns="0" tIns="0" bIns="0">
            <a:spAutoFit/>
          </a:bodyPr>
          <a:lstStyle/>
          <a:p>
            <a:pPr algn="ctr"/>
            <a:r>
              <a:rPr sz="1300" b="1">
                <a:solidFill>
                  <a:srgbClr val="E97132"/>
                </a:solidFill>
                <a:latin typeface="Aptos"/>
              </a:rPr>
              <a:t>el dolor decide la migración</a:t>
            </a:r>
          </a:p>
        </p:txBody>
      </p:sp>
      <p:sp>
        <p:nvSpPr>
          <p:cNvPr id="17" name="TextBox 16"/>
          <p:cNvSpPr txBox="1"/>
          <p:nvPr/>
        </p:nvSpPr>
        <p:spPr>
          <a:xfrm>
            <a:off x="6766560" y="1600200"/>
            <a:ext cx="4480560" cy="365760"/>
          </a:xfrm>
          <a:prstGeom prst="rect">
            <a:avLst/>
          </a:prstGeom>
          <a:noFill/>
        </p:spPr>
        <p:txBody>
          <a:bodyPr wrap="square" anchor="t" lIns="0" rIns="0" tIns="0" bIns="0">
            <a:spAutoFit/>
          </a:bodyPr>
          <a:lstStyle/>
          <a:p>
            <a:pPr algn="ctr"/>
            <a:r>
              <a:rPr sz="1800" b="1">
                <a:solidFill>
                  <a:srgbClr val="009540"/>
                </a:solidFill>
                <a:latin typeface="Aptos"/>
              </a:rPr>
              <a:t>v2 · hexagonal + eventos</a:t>
            </a:r>
          </a:p>
        </p:txBody>
      </p:sp>
      <p:sp>
        <p:nvSpPr>
          <p:cNvPr id="18" name="Hexagon 17"/>
          <p:cNvSpPr/>
          <p:nvPr/>
        </p:nvSpPr>
        <p:spPr>
          <a:xfrm>
            <a:off x="7818120" y="2514600"/>
            <a:ext cx="2377440" cy="2057400"/>
          </a:xfrm>
          <a:prstGeom prst="hexagon">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18120" y="2514600"/>
            <a:ext cx="2377440" cy="2057400"/>
          </a:xfrm>
          <a:prstGeom prst="rect">
            <a:avLst/>
          </a:prstGeom>
          <a:noFill/>
        </p:spPr>
        <p:txBody>
          <a:bodyPr wrap="square" anchor="ctr" lIns="0" rIns="0" tIns="0" bIns="0">
            <a:spAutoFit/>
          </a:bodyPr>
          <a:lstStyle/>
          <a:p>
            <a:pPr algn="ctr"/>
            <a:r>
              <a:rPr sz="2000" b="1">
                <a:solidFill>
                  <a:srgbClr val="FFFFFF"/>
                </a:solidFill>
                <a:latin typeface="Aptos Display"/>
              </a:rPr>
              <a:t>Dominio
puro</a:t>
            </a:r>
          </a:p>
        </p:txBody>
      </p:sp>
      <p:sp>
        <p:nvSpPr>
          <p:cNvPr id="20" name="Rounded Rectangle 19"/>
          <p:cNvSpPr/>
          <p:nvPr/>
        </p:nvSpPr>
        <p:spPr>
          <a:xfrm>
            <a:off x="6720840" y="2148840"/>
            <a:ext cx="1463040" cy="457200"/>
          </a:xfrm>
          <a:prstGeom prst="roundRect">
            <a:avLst>
              <a:gd name="adj" fmla="val 4000"/>
            </a:avLst>
          </a:prstGeom>
          <a:solidFill>
            <a:srgbClr val="FFFFFF"/>
          </a:solidFill>
          <a:ln w="1905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2148840"/>
            <a:ext cx="1463040" cy="457200"/>
          </a:xfrm>
          <a:prstGeom prst="rect">
            <a:avLst/>
          </a:prstGeom>
          <a:noFill/>
        </p:spPr>
        <p:txBody>
          <a:bodyPr wrap="square" anchor="ctr" lIns="0" rIns="0" tIns="0" bIns="0">
            <a:spAutoFit/>
          </a:bodyPr>
          <a:lstStyle/>
          <a:p>
            <a:pPr algn="ctr"/>
            <a:r>
              <a:rPr sz="1200" b="1">
                <a:solidFill>
                  <a:srgbClr val="0E2841"/>
                </a:solidFill>
                <a:latin typeface="Aptos"/>
              </a:rPr>
              <a:t>REST</a:t>
            </a:r>
          </a:p>
        </p:txBody>
      </p:sp>
      <p:sp>
        <p:nvSpPr>
          <p:cNvPr id="22" name="Rounded Rectangle 21"/>
          <p:cNvSpPr/>
          <p:nvPr/>
        </p:nvSpPr>
        <p:spPr>
          <a:xfrm>
            <a:off x="9829800" y="2148840"/>
            <a:ext cx="1463040" cy="457200"/>
          </a:xfrm>
          <a:prstGeom prst="roundRect">
            <a:avLst>
              <a:gd name="adj" fmla="val 4000"/>
            </a:avLst>
          </a:prstGeom>
          <a:solidFill>
            <a:srgbClr val="FFFFFF"/>
          </a:solidFill>
          <a:ln w="1905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29800" y="2148840"/>
            <a:ext cx="1463040" cy="457200"/>
          </a:xfrm>
          <a:prstGeom prst="rect">
            <a:avLst/>
          </a:prstGeom>
          <a:noFill/>
        </p:spPr>
        <p:txBody>
          <a:bodyPr wrap="square" anchor="ctr" lIns="0" rIns="0" tIns="0" bIns="0">
            <a:spAutoFit/>
          </a:bodyPr>
          <a:lstStyle/>
          <a:p>
            <a:pPr algn="ctr"/>
            <a:r>
              <a:rPr sz="1200" b="1">
                <a:solidFill>
                  <a:srgbClr val="0E2841"/>
                </a:solidFill>
                <a:latin typeface="Aptos"/>
              </a:rPr>
              <a:t>Base de datos</a:t>
            </a:r>
          </a:p>
        </p:txBody>
      </p:sp>
      <p:sp>
        <p:nvSpPr>
          <p:cNvPr id="24" name="Rounded Rectangle 23"/>
          <p:cNvSpPr/>
          <p:nvPr/>
        </p:nvSpPr>
        <p:spPr>
          <a:xfrm>
            <a:off x="6720840" y="4526280"/>
            <a:ext cx="1463040" cy="457200"/>
          </a:xfrm>
          <a:prstGeom prst="roundRect">
            <a:avLst>
              <a:gd name="adj" fmla="val 4000"/>
            </a:avLst>
          </a:prstGeom>
          <a:solidFill>
            <a:srgbClr val="FFFFFF"/>
          </a:solidFill>
          <a:ln w="1905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4526280"/>
            <a:ext cx="1463040" cy="457200"/>
          </a:xfrm>
          <a:prstGeom prst="rect">
            <a:avLst/>
          </a:prstGeom>
          <a:noFill/>
        </p:spPr>
        <p:txBody>
          <a:bodyPr wrap="square" anchor="ctr" lIns="0" rIns="0" tIns="0" bIns="0">
            <a:spAutoFit/>
          </a:bodyPr>
          <a:lstStyle/>
          <a:p>
            <a:pPr algn="ctr"/>
            <a:r>
              <a:rPr sz="1200" b="1">
                <a:solidFill>
                  <a:srgbClr val="0E2841"/>
                </a:solidFill>
                <a:latin typeface="Aptos"/>
              </a:rPr>
              <a:t>Eventos</a:t>
            </a:r>
          </a:p>
        </p:txBody>
      </p:sp>
      <p:sp>
        <p:nvSpPr>
          <p:cNvPr id="26" name="Rounded Rectangle 25"/>
          <p:cNvSpPr/>
          <p:nvPr/>
        </p:nvSpPr>
        <p:spPr>
          <a:xfrm>
            <a:off x="9829800" y="4526280"/>
            <a:ext cx="1463040" cy="457200"/>
          </a:xfrm>
          <a:prstGeom prst="roundRect">
            <a:avLst>
              <a:gd name="adj" fmla="val 4000"/>
            </a:avLst>
          </a:prstGeom>
          <a:solidFill>
            <a:srgbClr val="FFFFFF"/>
          </a:solidFill>
          <a:ln w="1905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29800" y="4526280"/>
            <a:ext cx="1463040" cy="457200"/>
          </a:xfrm>
          <a:prstGeom prst="rect">
            <a:avLst/>
          </a:prstGeom>
          <a:noFill/>
        </p:spPr>
        <p:txBody>
          <a:bodyPr wrap="square" anchor="ctr" lIns="0" rIns="0" tIns="0" bIns="0">
            <a:spAutoFit/>
          </a:bodyPr>
          <a:lstStyle/>
          <a:p>
            <a:pPr algn="ctr"/>
            <a:r>
              <a:rPr sz="1200" b="1">
                <a:solidFill>
                  <a:srgbClr val="0E2841"/>
                </a:solidFill>
                <a:latin typeface="Aptos"/>
              </a:rPr>
              <a:t>Avisos</a:t>
            </a:r>
          </a:p>
        </p:txBody>
      </p:sp>
      <p:sp>
        <p:nvSpPr>
          <p:cNvPr id="28" name="TextBox 27"/>
          <p:cNvSpPr txBox="1"/>
          <p:nvPr/>
        </p:nvSpPr>
        <p:spPr>
          <a:xfrm>
            <a:off x="6766560" y="5120640"/>
            <a:ext cx="4480560" cy="457200"/>
          </a:xfrm>
          <a:prstGeom prst="rect">
            <a:avLst/>
          </a:prstGeom>
          <a:noFill/>
        </p:spPr>
        <p:txBody>
          <a:bodyPr wrap="square" anchor="t" lIns="0" rIns="0" tIns="0" bIns="0">
            <a:spAutoFit/>
          </a:bodyPr>
          <a:lstStyle/>
          <a:p>
            <a:pPr algn="ctr"/>
            <a:r>
              <a:rPr sz="1300" b="0">
                <a:solidFill>
                  <a:srgbClr val="33475B"/>
                </a:solidFill>
                <a:latin typeface="Aptos"/>
              </a:rPr>
              <a:t>El aviso nuevo es un consumidor más; el dominio no se toca</a:t>
            </a:r>
          </a:p>
        </p:txBody>
      </p:sp>
      <p:sp>
        <p:nvSpPr>
          <p:cNvPr id="29" name="Rounded Rectangle 28"/>
          <p:cNvSpPr/>
          <p:nvPr/>
        </p:nvSpPr>
        <p:spPr>
          <a:xfrm>
            <a:off x="822960" y="5715000"/>
            <a:ext cx="10515600" cy="566928"/>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5715000"/>
            <a:ext cx="10149840" cy="566928"/>
          </a:xfrm>
          <a:prstGeom prst="rect">
            <a:avLst/>
          </a:prstGeom>
          <a:noFill/>
        </p:spPr>
        <p:txBody>
          <a:bodyPr wrap="square" anchor="ctr" lIns="0" rIns="0" tIns="0" bIns="0">
            <a:spAutoFit/>
          </a:bodyPr>
          <a:lstStyle/>
          <a:p>
            <a:pPr algn="l"/>
            <a:r>
              <a:rPr sz="1500" b="0">
                <a:solidFill>
                  <a:srgbClr val="0E2841"/>
                </a:solidFill>
                <a:latin typeface="Aptos"/>
              </a:rPr>
              <a:t>Antes de tocar la v1:  </a:t>
            </a:r>
            <a:r>
              <a:rPr sz="1410" b="0">
                <a:solidFill>
                  <a:srgbClr val="156082"/>
                </a:solidFill>
                <a:latin typeface="Consolas"/>
              </a:rPr>
              <a:t>git tag v1</a:t>
            </a:r>
            <a:r>
              <a:rPr sz="1500" b="0">
                <a:solidFill>
                  <a:srgbClr val="0E2841"/>
                </a:solidFill>
                <a:latin typeface="Aptos"/>
              </a:rPr>
              <a:t>  y  </a:t>
            </a:r>
            <a:r>
              <a:rPr sz="1410" b="0">
                <a:solidFill>
                  <a:srgbClr val="156082"/>
                </a:solidFill>
                <a:latin typeface="Consolas"/>
              </a:rPr>
              <a:t>git push --tags</a:t>
            </a:r>
            <a:r>
              <a:rPr sz="1500" b="0">
                <a:solidFill>
                  <a:srgbClr val="0E2841"/>
                </a:solidFill>
                <a:latin typeface="Aptos"/>
              </a:rPr>
              <a:t>.  Sin v1 que corra no hay comparación.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anchor="t" lIns="0" rIns="0" tIns="0" bIns="0">
            <a:spAutoFit/>
          </a:bodyPr>
          <a:lstStyle/>
          <a:p>
            <a:pPr algn="l"/>
            <a:r>
              <a:rPr sz="1300" b="1">
                <a:solidFill>
                  <a:srgbClr val="009540"/>
                </a:solidFill>
                <a:latin typeface="Aptos"/>
              </a:rPr>
              <a:t>La cadena que sostiene la decisión</a:t>
            </a:r>
          </a:p>
        </p:txBody>
      </p:sp>
      <p:sp>
        <p:nvSpPr>
          <p:cNvPr id="3" name="TextBox 2"/>
          <p:cNvSpPr txBox="1"/>
          <p:nvPr/>
        </p:nvSpPr>
        <p:spPr>
          <a:xfrm>
            <a:off x="640080" y="640080"/>
            <a:ext cx="9144000" cy="731520"/>
          </a:xfrm>
          <a:prstGeom prst="rect">
            <a:avLst/>
          </a:prstGeom>
          <a:noFill/>
        </p:spPr>
        <p:txBody>
          <a:bodyPr wrap="square" anchor="t" lIns="0" rIns="0" tIns="0" bIns="0">
            <a:spAutoFit/>
          </a:bodyPr>
          <a:lstStyle/>
          <a:p>
            <a:pPr algn="l"/>
            <a:r>
              <a:rPr sz="3200" b="1">
                <a:solidFill>
                  <a:srgbClr val="0E2841"/>
                </a:solidFill>
                <a:latin typeface="Aptos Display"/>
              </a:rPr>
              <a:t>Del dolor a la métrica</a:t>
            </a:r>
          </a:p>
        </p:txBody>
      </p:sp>
      <p:pic>
        <p:nvPicPr>
          <p:cNvPr id="4" name="Picture 3" descr="LOGO-CORHUILA-COLOR.png"/>
          <p:cNvPicPr>
            <a:picLocks noChangeAspect="1"/>
          </p:cNvPicPr>
          <p:nvPr/>
        </p:nvPicPr>
        <p:blipFill>
          <a:blip r:embed="rId2"/>
          <a:stretch>
            <a:fillRect/>
          </a:stretch>
        </p:blipFill>
        <p:spPr>
          <a:xfrm>
            <a:off x="11049000" y="365760"/>
            <a:ext cx="640080" cy="640080"/>
          </a:xfrm>
          <a:prstGeom prst="rect">
            <a:avLst/>
          </a:prstGeom>
        </p:spPr>
      </p:pic>
      <p:sp>
        <p:nvSpPr>
          <p:cNvPr id="5" name="TextBox 4"/>
          <p:cNvSpPr txBox="1"/>
          <p:nvPr/>
        </p:nvSpPr>
        <p:spPr>
          <a:xfrm>
            <a:off x="640080" y="6455664"/>
            <a:ext cx="7315200" cy="228600"/>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Encuentro 4 · Asesoría</a:t>
            </a:r>
          </a:p>
        </p:txBody>
      </p:sp>
      <p:sp>
        <p:nvSpPr>
          <p:cNvPr id="6" name="TextBox 5"/>
          <p:cNvSpPr txBox="1"/>
          <p:nvPr/>
        </p:nvSpPr>
        <p:spPr>
          <a:xfrm>
            <a:off x="10881360" y="6455664"/>
            <a:ext cx="731520" cy="228600"/>
          </a:xfrm>
          <a:prstGeom prst="rect">
            <a:avLst/>
          </a:prstGeom>
          <a:noFill/>
        </p:spPr>
        <p:txBody>
          <a:bodyPr wrap="square" anchor="t" lIns="0" rIns="0" tIns="0" bIns="0">
            <a:spAutoFit/>
          </a:bodyPr>
          <a:lstStyle/>
          <a:p>
            <a:pPr algn="r"/>
            <a:r>
              <a:rPr sz="950" b="0">
                <a:solidFill>
                  <a:srgbClr val="7A8B9E"/>
                </a:solidFill>
                <a:latin typeface="Aptos"/>
              </a:rPr>
              <a:t>4</a:t>
            </a:r>
          </a:p>
        </p:txBody>
      </p:sp>
      <p:sp>
        <p:nvSpPr>
          <p:cNvPr id="7" name="Oval 6"/>
          <p:cNvSpPr/>
          <p:nvPr/>
        </p:nvSpPr>
        <p:spPr>
          <a:xfrm>
            <a:off x="868680" y="1828800"/>
            <a:ext cx="1965960" cy="1965960"/>
          </a:xfrm>
          <a:prstGeom prst="ellipse">
            <a:avLst/>
          </a:prstGeom>
          <a:solidFill>
            <a:srgbClr val="156082"/>
          </a:solidFill>
          <a:ln w="1270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28800"/>
            <a:ext cx="1965960" cy="1965960"/>
          </a:xfrm>
          <a:prstGeom prst="rect">
            <a:avLst/>
          </a:prstGeom>
          <a:noFill/>
        </p:spPr>
        <p:txBody>
          <a:bodyPr wrap="square" anchor="ctr" lIns="0" rIns="0" tIns="0" bIns="0">
            <a:spAutoFit/>
          </a:bodyPr>
          <a:lstStyle/>
          <a:p>
            <a:pPr algn="ctr"/>
            <a:r>
              <a:rPr sz="2400" b="1">
                <a:solidFill>
                  <a:srgbClr val="FFFFFF"/>
                </a:solidFill>
                <a:latin typeface="Aptos Display"/>
              </a:rPr>
              <a:t>Dolor</a:t>
            </a:r>
          </a:p>
        </p:txBody>
      </p:sp>
      <p:sp>
        <p:nvSpPr>
          <p:cNvPr id="9" name="TextBox 8"/>
          <p:cNvSpPr txBox="1"/>
          <p:nvPr/>
        </p:nvSpPr>
        <p:spPr>
          <a:xfrm>
            <a:off x="594359" y="4023360"/>
            <a:ext cx="2514600" cy="1097280"/>
          </a:xfrm>
          <a:prstGeom prst="rect">
            <a:avLst/>
          </a:prstGeom>
          <a:noFill/>
        </p:spPr>
        <p:txBody>
          <a:bodyPr wrap="square" anchor="t" lIns="0" rIns="0" tIns="0" bIns="0">
            <a:spAutoFit/>
          </a:bodyPr>
          <a:lstStyle/>
          <a:p>
            <a:pPr algn="ctr"/>
            <a:r>
              <a:rPr sz="1400" b="0">
                <a:solidFill>
                  <a:srgbClr val="33475B"/>
                </a:solidFill>
                <a:latin typeface="Aptos"/>
              </a:rPr>
              <a:t>Cada aviso nuevo obliga a tocar el servicio de pedidos</a:t>
            </a:r>
          </a:p>
        </p:txBody>
      </p:sp>
      <p:sp>
        <p:nvSpPr>
          <p:cNvPr id="10" name="Chevron 9"/>
          <p:cNvSpPr/>
          <p:nvPr/>
        </p:nvSpPr>
        <p:spPr>
          <a:xfrm>
            <a:off x="2999232" y="2606040"/>
            <a:ext cx="539496" cy="411480"/>
          </a:xfrm>
          <a:prstGeom prst="chevron">
            <a:avLst/>
          </a:prstGeom>
          <a:solidFill>
            <a:srgbClr val="A9B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703320" y="1828800"/>
            <a:ext cx="1965960" cy="1965960"/>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1828800"/>
            <a:ext cx="1965960" cy="1965960"/>
          </a:xfrm>
          <a:prstGeom prst="rect">
            <a:avLst/>
          </a:prstGeom>
          <a:noFill/>
        </p:spPr>
        <p:txBody>
          <a:bodyPr wrap="square" anchor="ctr" lIns="0" rIns="0" tIns="0" bIns="0">
            <a:spAutoFit/>
          </a:bodyPr>
          <a:lstStyle/>
          <a:p>
            <a:pPr algn="ctr"/>
            <a:r>
              <a:rPr sz="2400" b="1">
                <a:solidFill>
                  <a:srgbClr val="FFFFFF"/>
                </a:solidFill>
                <a:latin typeface="Aptos Display"/>
              </a:rPr>
              <a:t>Atributo</a:t>
            </a:r>
          </a:p>
        </p:txBody>
      </p:sp>
      <p:sp>
        <p:nvSpPr>
          <p:cNvPr id="13" name="TextBox 12"/>
          <p:cNvSpPr txBox="1"/>
          <p:nvPr/>
        </p:nvSpPr>
        <p:spPr>
          <a:xfrm>
            <a:off x="3429000" y="4023360"/>
            <a:ext cx="2514600" cy="1097280"/>
          </a:xfrm>
          <a:prstGeom prst="rect">
            <a:avLst/>
          </a:prstGeom>
          <a:noFill/>
        </p:spPr>
        <p:txBody>
          <a:bodyPr wrap="square" anchor="t" lIns="0" rIns="0" tIns="0" bIns="0">
            <a:spAutoFit/>
          </a:bodyPr>
          <a:lstStyle/>
          <a:p>
            <a:pPr algn="ctr"/>
            <a:r>
              <a:rPr sz="1400" b="0">
                <a:solidFill>
                  <a:srgbClr val="33475B"/>
                </a:solidFill>
                <a:latin typeface="Aptos"/>
              </a:rPr>
              <a:t>Modificabilidad: agregar avisos sin tocar el dominio</a:t>
            </a:r>
          </a:p>
        </p:txBody>
      </p:sp>
      <p:sp>
        <p:nvSpPr>
          <p:cNvPr id="14" name="Chevron 13"/>
          <p:cNvSpPr/>
          <p:nvPr/>
        </p:nvSpPr>
        <p:spPr>
          <a:xfrm>
            <a:off x="5833871" y="2606040"/>
            <a:ext cx="539496" cy="411480"/>
          </a:xfrm>
          <a:prstGeom prst="chevron">
            <a:avLst/>
          </a:prstGeom>
          <a:solidFill>
            <a:srgbClr val="A9B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37959" y="1828800"/>
            <a:ext cx="1965960" cy="1965960"/>
          </a:xfrm>
          <a:prstGeom prst="ellipse">
            <a:avLst/>
          </a:prstGeom>
          <a:solidFill>
            <a:srgbClr val="E97132"/>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59" y="1828800"/>
            <a:ext cx="1965960" cy="1965960"/>
          </a:xfrm>
          <a:prstGeom prst="rect">
            <a:avLst/>
          </a:prstGeom>
          <a:noFill/>
        </p:spPr>
        <p:txBody>
          <a:bodyPr wrap="square" anchor="ctr" lIns="0" rIns="0" tIns="0" bIns="0">
            <a:spAutoFit/>
          </a:bodyPr>
          <a:lstStyle/>
          <a:p>
            <a:pPr algn="ctr"/>
            <a:r>
              <a:rPr sz="2400" b="1">
                <a:solidFill>
                  <a:srgbClr val="FFFFFF"/>
                </a:solidFill>
                <a:latin typeface="Aptos Display"/>
              </a:rPr>
              <a:t>Patrón</a:t>
            </a:r>
          </a:p>
        </p:txBody>
      </p:sp>
      <p:sp>
        <p:nvSpPr>
          <p:cNvPr id="17" name="TextBox 16"/>
          <p:cNvSpPr txBox="1"/>
          <p:nvPr/>
        </p:nvSpPr>
        <p:spPr>
          <a:xfrm>
            <a:off x="6263640" y="4023360"/>
            <a:ext cx="2514600" cy="1097280"/>
          </a:xfrm>
          <a:prstGeom prst="rect">
            <a:avLst/>
          </a:prstGeom>
          <a:noFill/>
        </p:spPr>
        <p:txBody>
          <a:bodyPr wrap="square" anchor="t" lIns="0" rIns="0" tIns="0" bIns="0">
            <a:spAutoFit/>
          </a:bodyPr>
          <a:lstStyle/>
          <a:p>
            <a:pPr algn="ctr"/>
            <a:r>
              <a:rPr sz="1400" b="0">
                <a:solidFill>
                  <a:srgbClr val="33475B"/>
                </a:solidFill>
                <a:latin typeface="Aptos"/>
              </a:rPr>
              <a:t>Hexagonal con eventos: el aviso escucha un evento</a:t>
            </a:r>
          </a:p>
        </p:txBody>
      </p:sp>
      <p:sp>
        <p:nvSpPr>
          <p:cNvPr id="18" name="Chevron 17"/>
          <p:cNvSpPr/>
          <p:nvPr/>
        </p:nvSpPr>
        <p:spPr>
          <a:xfrm>
            <a:off x="8668511" y="2606040"/>
            <a:ext cx="539496" cy="411480"/>
          </a:xfrm>
          <a:prstGeom prst="chevron">
            <a:avLst/>
          </a:prstGeom>
          <a:solidFill>
            <a:srgbClr val="A9B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72599" y="1828800"/>
            <a:ext cx="1965960" cy="1965960"/>
          </a:xfrm>
          <a:prstGeom prst="ellipse">
            <a:avLst/>
          </a:prstGeom>
          <a:solidFill>
            <a:srgbClr val="0E2841"/>
          </a:solidFill>
          <a:ln w="1270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2599" y="1828800"/>
            <a:ext cx="1965960" cy="1965960"/>
          </a:xfrm>
          <a:prstGeom prst="rect">
            <a:avLst/>
          </a:prstGeom>
          <a:noFill/>
        </p:spPr>
        <p:txBody>
          <a:bodyPr wrap="square" anchor="ctr" lIns="0" rIns="0" tIns="0" bIns="0">
            <a:spAutoFit/>
          </a:bodyPr>
          <a:lstStyle/>
          <a:p>
            <a:pPr algn="ctr"/>
            <a:r>
              <a:rPr sz="2400" b="1">
                <a:solidFill>
                  <a:srgbClr val="FFFFFF"/>
                </a:solidFill>
                <a:latin typeface="Aptos Display"/>
              </a:rPr>
              <a:t>Métrica</a:t>
            </a:r>
          </a:p>
        </p:txBody>
      </p:sp>
      <p:sp>
        <p:nvSpPr>
          <p:cNvPr id="21" name="TextBox 20"/>
          <p:cNvSpPr txBox="1"/>
          <p:nvPr/>
        </p:nvSpPr>
        <p:spPr>
          <a:xfrm>
            <a:off x="9098279" y="4023360"/>
            <a:ext cx="2514600" cy="1097280"/>
          </a:xfrm>
          <a:prstGeom prst="rect">
            <a:avLst/>
          </a:prstGeom>
          <a:noFill/>
        </p:spPr>
        <p:txBody>
          <a:bodyPr wrap="square" anchor="t" lIns="0" rIns="0" tIns="0" bIns="0">
            <a:spAutoFit/>
          </a:bodyPr>
          <a:lstStyle/>
          <a:p>
            <a:pPr algn="ctr"/>
            <a:r>
              <a:rPr sz="1400" b="0">
                <a:solidFill>
                  <a:srgbClr val="33475B"/>
                </a:solidFill>
                <a:latin typeface="Aptos"/>
              </a:rPr>
              <a:t>Archivos y líneas tocadas para el mismo cambio</a:t>
            </a:r>
          </a:p>
        </p:txBody>
      </p:sp>
      <p:sp>
        <p:nvSpPr>
          <p:cNvPr id="22" name="Rounded Rectangle 21"/>
          <p:cNvSpPr/>
          <p:nvPr/>
        </p:nvSpPr>
        <p:spPr>
          <a:xfrm>
            <a:off x="822960" y="5440680"/>
            <a:ext cx="10515600" cy="731520"/>
          </a:xfrm>
          <a:prstGeom prst="round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440680"/>
            <a:ext cx="9966960" cy="731520"/>
          </a:xfrm>
          <a:prstGeom prst="rect">
            <a:avLst/>
          </a:prstGeom>
          <a:noFill/>
        </p:spPr>
        <p:txBody>
          <a:bodyPr wrap="square" anchor="ctr" lIns="0" rIns="0" tIns="0" bIns="0">
            <a:spAutoFit/>
          </a:bodyPr>
          <a:lstStyle/>
          <a:p>
            <a:pPr algn="ctr"/>
            <a:r>
              <a:rPr sz="1600" b="1">
                <a:solidFill>
                  <a:srgbClr val="FFFFFF"/>
                </a:solidFill>
                <a:latin typeface="Aptos"/>
              </a:rPr>
              <a:t>«La v1 no escala» no es un dolor.  «Agregar el aviso obligó a tocar tres capas» sí lo 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anchor="t" lIns="0" rIns="0" tIns="0" bIns="0">
            <a:spAutoFit/>
          </a:bodyPr>
          <a:lstStyle/>
          <a:p>
            <a:pPr algn="l"/>
            <a:r>
              <a:rPr sz="1300" b="1">
                <a:solidFill>
                  <a:srgbClr val="009540"/>
                </a:solidFill>
                <a:latin typeface="Aptos"/>
              </a:rPr>
              <a:t>Así se ve la evidencia en la sustentación</a:t>
            </a:r>
          </a:p>
        </p:txBody>
      </p:sp>
      <p:sp>
        <p:nvSpPr>
          <p:cNvPr id="3" name="TextBox 2"/>
          <p:cNvSpPr txBox="1"/>
          <p:nvPr/>
        </p:nvSpPr>
        <p:spPr>
          <a:xfrm>
            <a:off x="640080" y="640080"/>
            <a:ext cx="9144000" cy="731520"/>
          </a:xfrm>
          <a:prstGeom prst="rect">
            <a:avLst/>
          </a:prstGeom>
          <a:noFill/>
        </p:spPr>
        <p:txBody>
          <a:bodyPr wrap="square" anchor="t" lIns="0" rIns="0" tIns="0" bIns="0">
            <a:spAutoFit/>
          </a:bodyPr>
          <a:lstStyle/>
          <a:p>
            <a:pPr algn="l"/>
            <a:r>
              <a:rPr sz="3200" b="1">
                <a:solidFill>
                  <a:srgbClr val="0E2841"/>
                </a:solidFill>
                <a:latin typeface="Aptos Display"/>
              </a:rPr>
              <a:t>Se mide en las dos versiones</a:t>
            </a:r>
          </a:p>
        </p:txBody>
      </p:sp>
      <p:pic>
        <p:nvPicPr>
          <p:cNvPr id="4" name="Picture 3" descr="LOGO-CORHUILA-COLOR.png"/>
          <p:cNvPicPr>
            <a:picLocks noChangeAspect="1"/>
          </p:cNvPicPr>
          <p:nvPr/>
        </p:nvPicPr>
        <p:blipFill>
          <a:blip r:embed="rId2"/>
          <a:stretch>
            <a:fillRect/>
          </a:stretch>
        </p:blipFill>
        <p:spPr>
          <a:xfrm>
            <a:off x="11049000" y="365760"/>
            <a:ext cx="640080" cy="640080"/>
          </a:xfrm>
          <a:prstGeom prst="rect">
            <a:avLst/>
          </a:prstGeom>
        </p:spPr>
      </p:pic>
      <p:sp>
        <p:nvSpPr>
          <p:cNvPr id="5" name="TextBox 4"/>
          <p:cNvSpPr txBox="1"/>
          <p:nvPr/>
        </p:nvSpPr>
        <p:spPr>
          <a:xfrm>
            <a:off x="640080" y="6455664"/>
            <a:ext cx="7315200" cy="228600"/>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Encuentro 4 · Asesoría</a:t>
            </a:r>
          </a:p>
        </p:txBody>
      </p:sp>
      <p:sp>
        <p:nvSpPr>
          <p:cNvPr id="6" name="TextBox 5"/>
          <p:cNvSpPr txBox="1"/>
          <p:nvPr/>
        </p:nvSpPr>
        <p:spPr>
          <a:xfrm>
            <a:off x="10881360" y="6455664"/>
            <a:ext cx="731520" cy="228600"/>
          </a:xfrm>
          <a:prstGeom prst="rect">
            <a:avLst/>
          </a:prstGeom>
          <a:noFill/>
        </p:spPr>
        <p:txBody>
          <a:bodyPr wrap="square" anchor="t" lIns="0" rIns="0" tIns="0" bIns="0">
            <a:spAutoFit/>
          </a:bodyPr>
          <a:lstStyle/>
          <a:p>
            <a:pPr algn="r"/>
            <a:r>
              <a:rPr sz="950" b="0">
                <a:solidFill>
                  <a:srgbClr val="7A8B9E"/>
                </a:solidFill>
                <a:latin typeface="Aptos"/>
              </a:rPr>
              <a:t>5</a:t>
            </a:r>
          </a:p>
        </p:txBody>
      </p:sp>
      <p:sp>
        <p:nvSpPr>
          <p:cNvPr id="7" name="Rounded Rectangle 6"/>
          <p:cNvSpPr/>
          <p:nvPr/>
        </p:nvSpPr>
        <p:spPr>
          <a:xfrm>
            <a:off x="822960" y="1645920"/>
            <a:ext cx="3291840" cy="397763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10512"/>
            <a:ext cx="2834640" cy="685800"/>
          </a:xfrm>
          <a:prstGeom prst="rect">
            <a:avLst/>
          </a:prstGeom>
          <a:noFill/>
        </p:spPr>
        <p:txBody>
          <a:bodyPr wrap="square" anchor="t" lIns="0" rIns="0" tIns="0" bIns="0">
            <a:spAutoFit/>
          </a:bodyPr>
          <a:lstStyle/>
          <a:p>
            <a:pPr algn="l"/>
            <a:r>
              <a:rPr sz="1500" b="1">
                <a:solidFill>
                  <a:srgbClr val="0E2841"/>
                </a:solidFill>
                <a:latin typeface="Aptos"/>
              </a:rPr>
              <a:t>Archivos tocados para agregar el aviso</a:t>
            </a:r>
          </a:p>
        </p:txBody>
      </p:sp>
      <p:sp>
        <p:nvSpPr>
          <p:cNvPr id="9" name="Rectangle 8"/>
          <p:cNvSpPr/>
          <p:nvPr/>
        </p:nvSpPr>
        <p:spPr>
          <a:xfrm>
            <a:off x="1508760" y="2834639"/>
            <a:ext cx="822960" cy="2057400"/>
          </a:xfrm>
          <a:prstGeom prst="rect">
            <a:avLst/>
          </a:prstGeom>
          <a:solidFill>
            <a:srgbClr val="A9B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25880" y="2377439"/>
            <a:ext cx="1188720" cy="411480"/>
          </a:xfrm>
          <a:prstGeom prst="rect">
            <a:avLst/>
          </a:prstGeom>
          <a:noFill/>
        </p:spPr>
        <p:txBody>
          <a:bodyPr wrap="square" anchor="t" lIns="0" rIns="0" tIns="0" bIns="0">
            <a:spAutoFit/>
          </a:bodyPr>
          <a:lstStyle/>
          <a:p>
            <a:pPr algn="ctr"/>
            <a:r>
              <a:rPr sz="2200" b="1">
                <a:solidFill>
                  <a:srgbClr val="0E2841"/>
                </a:solidFill>
                <a:latin typeface="Aptos Display"/>
              </a:rPr>
              <a:t>6</a:t>
            </a:r>
          </a:p>
        </p:txBody>
      </p:sp>
      <p:sp>
        <p:nvSpPr>
          <p:cNvPr id="11" name="TextBox 10"/>
          <p:cNvSpPr txBox="1"/>
          <p:nvPr/>
        </p:nvSpPr>
        <p:spPr>
          <a:xfrm>
            <a:off x="1508760" y="4965192"/>
            <a:ext cx="822960" cy="274320"/>
          </a:xfrm>
          <a:prstGeom prst="rect">
            <a:avLst/>
          </a:prstGeom>
          <a:noFill/>
        </p:spPr>
        <p:txBody>
          <a:bodyPr wrap="square" anchor="t" lIns="0" rIns="0" tIns="0" bIns="0">
            <a:spAutoFit/>
          </a:bodyPr>
          <a:lstStyle/>
          <a:p>
            <a:pPr algn="ctr"/>
            <a:r>
              <a:rPr sz="1300" b="1">
                <a:solidFill>
                  <a:srgbClr val="7A8B9E"/>
                </a:solidFill>
                <a:latin typeface="Aptos"/>
              </a:rPr>
              <a:t>v1</a:t>
            </a:r>
          </a:p>
        </p:txBody>
      </p:sp>
      <p:sp>
        <p:nvSpPr>
          <p:cNvPr id="12" name="Rectangle 11"/>
          <p:cNvSpPr/>
          <p:nvPr/>
        </p:nvSpPr>
        <p:spPr>
          <a:xfrm>
            <a:off x="2651760" y="4206240"/>
            <a:ext cx="822960" cy="685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8879" y="3749039"/>
            <a:ext cx="1188720" cy="411480"/>
          </a:xfrm>
          <a:prstGeom prst="rect">
            <a:avLst/>
          </a:prstGeom>
          <a:noFill/>
        </p:spPr>
        <p:txBody>
          <a:bodyPr wrap="square" anchor="t" lIns="0" rIns="0" tIns="0" bIns="0">
            <a:spAutoFit/>
          </a:bodyPr>
          <a:lstStyle/>
          <a:p>
            <a:pPr algn="ctr"/>
            <a:r>
              <a:rPr sz="2200" b="1">
                <a:solidFill>
                  <a:srgbClr val="0E2841"/>
                </a:solidFill>
                <a:latin typeface="Aptos Display"/>
              </a:rPr>
              <a:t>2</a:t>
            </a:r>
          </a:p>
        </p:txBody>
      </p:sp>
      <p:sp>
        <p:nvSpPr>
          <p:cNvPr id="14" name="TextBox 13"/>
          <p:cNvSpPr txBox="1"/>
          <p:nvPr/>
        </p:nvSpPr>
        <p:spPr>
          <a:xfrm>
            <a:off x="2651760" y="4965192"/>
            <a:ext cx="822960" cy="274320"/>
          </a:xfrm>
          <a:prstGeom prst="rect">
            <a:avLst/>
          </a:prstGeom>
          <a:noFill/>
        </p:spPr>
        <p:txBody>
          <a:bodyPr wrap="square" anchor="t" lIns="0" rIns="0" tIns="0" bIns="0">
            <a:spAutoFit/>
          </a:bodyPr>
          <a:lstStyle/>
          <a:p>
            <a:pPr algn="ctr"/>
            <a:r>
              <a:rPr sz="1300" b="1">
                <a:solidFill>
                  <a:srgbClr val="7A8B9E"/>
                </a:solidFill>
                <a:latin typeface="Aptos"/>
              </a:rPr>
              <a:t>v2</a:t>
            </a:r>
          </a:p>
        </p:txBody>
      </p:sp>
      <p:cxnSp>
        <p:nvCxnSpPr>
          <p:cNvPr id="15" name="Connector 14"/>
          <p:cNvCxnSpPr/>
          <p:nvPr/>
        </p:nvCxnSpPr>
        <p:spPr>
          <a:xfrm>
            <a:off x="1280160" y="4892040"/>
            <a:ext cx="2377440" cy="0"/>
          </a:xfrm>
          <a:prstGeom prst="line">
            <a:avLst/>
          </a:prstGeom>
          <a:ln w="19050">
            <a:solidFill>
              <a:srgbClr val="D9E3E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5257800"/>
            <a:ext cx="3291840" cy="274320"/>
          </a:xfrm>
          <a:prstGeom prst="rect">
            <a:avLst/>
          </a:prstGeom>
          <a:noFill/>
        </p:spPr>
        <p:txBody>
          <a:bodyPr wrap="square" anchor="t" lIns="0" rIns="0" tIns="0" bIns="0">
            <a:spAutoFit/>
          </a:bodyPr>
          <a:lstStyle/>
          <a:p>
            <a:pPr algn="ctr"/>
            <a:r>
              <a:rPr sz="1300" b="1">
                <a:solidFill>
                  <a:srgbClr val="009540"/>
                </a:solidFill>
                <a:latin typeface="Aptos"/>
              </a:rPr>
              <a:t>menos es mejor</a:t>
            </a:r>
          </a:p>
        </p:txBody>
      </p:sp>
      <p:sp>
        <p:nvSpPr>
          <p:cNvPr id="17" name="Rounded Rectangle 16"/>
          <p:cNvSpPr/>
          <p:nvPr/>
        </p:nvSpPr>
        <p:spPr>
          <a:xfrm>
            <a:off x="4434840" y="1645920"/>
            <a:ext cx="3291840" cy="397763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1810512"/>
            <a:ext cx="2834640" cy="685800"/>
          </a:xfrm>
          <a:prstGeom prst="rect">
            <a:avLst/>
          </a:prstGeom>
          <a:noFill/>
        </p:spPr>
        <p:txBody>
          <a:bodyPr wrap="square" anchor="t" lIns="0" rIns="0" tIns="0" bIns="0">
            <a:spAutoFit/>
          </a:bodyPr>
          <a:lstStyle/>
          <a:p>
            <a:pPr algn="l"/>
            <a:r>
              <a:rPr sz="1500" b="1">
                <a:solidFill>
                  <a:srgbClr val="0E2841"/>
                </a:solidFill>
                <a:latin typeface="Aptos"/>
              </a:rPr>
              <a:t>Pruebas del dominio sin base de datos</a:t>
            </a:r>
          </a:p>
        </p:txBody>
      </p:sp>
      <p:sp>
        <p:nvSpPr>
          <p:cNvPr id="19" name="Rectangle 18"/>
          <p:cNvSpPr/>
          <p:nvPr/>
        </p:nvSpPr>
        <p:spPr>
          <a:xfrm>
            <a:off x="5120640" y="4855464"/>
            <a:ext cx="822960" cy="36576"/>
          </a:xfrm>
          <a:prstGeom prst="rect">
            <a:avLst/>
          </a:prstGeom>
          <a:solidFill>
            <a:srgbClr val="A9B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0" y="4398264"/>
            <a:ext cx="1188720" cy="411480"/>
          </a:xfrm>
          <a:prstGeom prst="rect">
            <a:avLst/>
          </a:prstGeom>
          <a:noFill/>
        </p:spPr>
        <p:txBody>
          <a:bodyPr wrap="square" anchor="t" lIns="0" rIns="0" tIns="0" bIns="0">
            <a:spAutoFit/>
          </a:bodyPr>
          <a:lstStyle/>
          <a:p>
            <a:pPr algn="ctr"/>
            <a:r>
              <a:rPr sz="2200" b="1">
                <a:solidFill>
                  <a:srgbClr val="0E2841"/>
                </a:solidFill>
                <a:latin typeface="Aptos Display"/>
              </a:rPr>
              <a:t>0</a:t>
            </a:r>
          </a:p>
        </p:txBody>
      </p:sp>
      <p:sp>
        <p:nvSpPr>
          <p:cNvPr id="21" name="TextBox 20"/>
          <p:cNvSpPr txBox="1"/>
          <p:nvPr/>
        </p:nvSpPr>
        <p:spPr>
          <a:xfrm>
            <a:off x="5120640" y="4965192"/>
            <a:ext cx="822960" cy="274320"/>
          </a:xfrm>
          <a:prstGeom prst="rect">
            <a:avLst/>
          </a:prstGeom>
          <a:noFill/>
        </p:spPr>
        <p:txBody>
          <a:bodyPr wrap="square" anchor="t" lIns="0" rIns="0" tIns="0" bIns="0">
            <a:spAutoFit/>
          </a:bodyPr>
          <a:lstStyle/>
          <a:p>
            <a:pPr algn="ctr"/>
            <a:r>
              <a:rPr sz="1300" b="1">
                <a:solidFill>
                  <a:srgbClr val="7A8B9E"/>
                </a:solidFill>
                <a:latin typeface="Aptos"/>
              </a:rPr>
              <a:t>v1</a:t>
            </a:r>
          </a:p>
        </p:txBody>
      </p:sp>
      <p:sp>
        <p:nvSpPr>
          <p:cNvPr id="22" name="Rectangle 21"/>
          <p:cNvSpPr/>
          <p:nvPr/>
        </p:nvSpPr>
        <p:spPr>
          <a:xfrm>
            <a:off x="6263640" y="2834639"/>
            <a:ext cx="822960" cy="20574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80760" y="2377439"/>
            <a:ext cx="1188720" cy="411480"/>
          </a:xfrm>
          <a:prstGeom prst="rect">
            <a:avLst/>
          </a:prstGeom>
          <a:noFill/>
        </p:spPr>
        <p:txBody>
          <a:bodyPr wrap="square" anchor="t" lIns="0" rIns="0" tIns="0" bIns="0">
            <a:spAutoFit/>
          </a:bodyPr>
          <a:lstStyle/>
          <a:p>
            <a:pPr algn="ctr"/>
            <a:r>
              <a:rPr sz="2200" b="1">
                <a:solidFill>
                  <a:srgbClr val="0E2841"/>
                </a:solidFill>
                <a:latin typeface="Aptos Display"/>
              </a:rPr>
              <a:t>14</a:t>
            </a:r>
          </a:p>
        </p:txBody>
      </p:sp>
      <p:sp>
        <p:nvSpPr>
          <p:cNvPr id="24" name="TextBox 23"/>
          <p:cNvSpPr txBox="1"/>
          <p:nvPr/>
        </p:nvSpPr>
        <p:spPr>
          <a:xfrm>
            <a:off x="6263640" y="4965192"/>
            <a:ext cx="822960" cy="274320"/>
          </a:xfrm>
          <a:prstGeom prst="rect">
            <a:avLst/>
          </a:prstGeom>
          <a:noFill/>
        </p:spPr>
        <p:txBody>
          <a:bodyPr wrap="square" anchor="t" lIns="0" rIns="0" tIns="0" bIns="0">
            <a:spAutoFit/>
          </a:bodyPr>
          <a:lstStyle/>
          <a:p>
            <a:pPr algn="ctr"/>
            <a:r>
              <a:rPr sz="1300" b="1">
                <a:solidFill>
                  <a:srgbClr val="7A8B9E"/>
                </a:solidFill>
                <a:latin typeface="Aptos"/>
              </a:rPr>
              <a:t>v2</a:t>
            </a:r>
          </a:p>
        </p:txBody>
      </p:sp>
      <p:cxnSp>
        <p:nvCxnSpPr>
          <p:cNvPr id="25" name="Connector 24"/>
          <p:cNvCxnSpPr/>
          <p:nvPr/>
        </p:nvCxnSpPr>
        <p:spPr>
          <a:xfrm>
            <a:off x="4892040" y="4892040"/>
            <a:ext cx="2377440" cy="0"/>
          </a:xfrm>
          <a:prstGeom prst="line">
            <a:avLst/>
          </a:prstGeom>
          <a:ln w="19050">
            <a:solidFill>
              <a:srgbClr val="D9E3E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434840" y="5257800"/>
            <a:ext cx="3291840" cy="274320"/>
          </a:xfrm>
          <a:prstGeom prst="rect">
            <a:avLst/>
          </a:prstGeom>
          <a:noFill/>
        </p:spPr>
        <p:txBody>
          <a:bodyPr wrap="square" anchor="t" lIns="0" rIns="0" tIns="0" bIns="0">
            <a:spAutoFit/>
          </a:bodyPr>
          <a:lstStyle/>
          <a:p>
            <a:pPr algn="ctr"/>
            <a:r>
              <a:rPr sz="1300" b="1">
                <a:solidFill>
                  <a:srgbClr val="009540"/>
                </a:solidFill>
                <a:latin typeface="Aptos"/>
              </a:rPr>
              <a:t>más es mejor</a:t>
            </a:r>
          </a:p>
        </p:txBody>
      </p:sp>
      <p:sp>
        <p:nvSpPr>
          <p:cNvPr id="27" name="Rounded Rectangle 26"/>
          <p:cNvSpPr/>
          <p:nvPr/>
        </p:nvSpPr>
        <p:spPr>
          <a:xfrm>
            <a:off x="8046720" y="1645920"/>
            <a:ext cx="3291840" cy="397763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20" y="1810512"/>
            <a:ext cx="2834640" cy="685800"/>
          </a:xfrm>
          <a:prstGeom prst="rect">
            <a:avLst/>
          </a:prstGeom>
          <a:noFill/>
        </p:spPr>
        <p:txBody>
          <a:bodyPr wrap="square" anchor="t" lIns="0" rIns="0" tIns="0" bIns="0">
            <a:spAutoFit/>
          </a:bodyPr>
          <a:lstStyle/>
          <a:p>
            <a:pPr algn="l"/>
            <a:r>
              <a:rPr sz="1500" b="1">
                <a:solidFill>
                  <a:srgbClr val="0E2841"/>
                </a:solidFill>
                <a:latin typeface="Aptos"/>
              </a:rPr>
              <a:t>Piezas que hay que desplegar</a:t>
            </a:r>
          </a:p>
        </p:txBody>
      </p:sp>
      <p:sp>
        <p:nvSpPr>
          <p:cNvPr id="29" name="Rectangle 28"/>
          <p:cNvSpPr/>
          <p:nvPr/>
        </p:nvSpPr>
        <p:spPr>
          <a:xfrm>
            <a:off x="8732520" y="4206240"/>
            <a:ext cx="822960" cy="685800"/>
          </a:xfrm>
          <a:prstGeom prst="rect">
            <a:avLst/>
          </a:prstGeom>
          <a:solidFill>
            <a:srgbClr val="A9B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49640" y="3749039"/>
            <a:ext cx="1188720" cy="411480"/>
          </a:xfrm>
          <a:prstGeom prst="rect">
            <a:avLst/>
          </a:prstGeom>
          <a:noFill/>
        </p:spPr>
        <p:txBody>
          <a:bodyPr wrap="square" anchor="t" lIns="0" rIns="0" tIns="0" bIns="0">
            <a:spAutoFit/>
          </a:bodyPr>
          <a:lstStyle/>
          <a:p>
            <a:pPr algn="ctr"/>
            <a:r>
              <a:rPr sz="2200" b="1">
                <a:solidFill>
                  <a:srgbClr val="0E2841"/>
                </a:solidFill>
                <a:latin typeface="Aptos Display"/>
              </a:rPr>
              <a:t>1</a:t>
            </a:r>
          </a:p>
        </p:txBody>
      </p:sp>
      <p:sp>
        <p:nvSpPr>
          <p:cNvPr id="31" name="TextBox 30"/>
          <p:cNvSpPr txBox="1"/>
          <p:nvPr/>
        </p:nvSpPr>
        <p:spPr>
          <a:xfrm>
            <a:off x="8732520" y="4965192"/>
            <a:ext cx="822960" cy="274320"/>
          </a:xfrm>
          <a:prstGeom prst="rect">
            <a:avLst/>
          </a:prstGeom>
          <a:noFill/>
        </p:spPr>
        <p:txBody>
          <a:bodyPr wrap="square" anchor="t" lIns="0" rIns="0" tIns="0" bIns="0">
            <a:spAutoFit/>
          </a:bodyPr>
          <a:lstStyle/>
          <a:p>
            <a:pPr algn="ctr"/>
            <a:r>
              <a:rPr sz="1300" b="1">
                <a:solidFill>
                  <a:srgbClr val="7A8B9E"/>
                </a:solidFill>
                <a:latin typeface="Aptos"/>
              </a:rPr>
              <a:t>v1</a:t>
            </a:r>
          </a:p>
        </p:txBody>
      </p:sp>
      <p:sp>
        <p:nvSpPr>
          <p:cNvPr id="32" name="Rectangle 31"/>
          <p:cNvSpPr/>
          <p:nvPr/>
        </p:nvSpPr>
        <p:spPr>
          <a:xfrm>
            <a:off x="9875520" y="2834639"/>
            <a:ext cx="822960" cy="20574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92640" y="2377439"/>
            <a:ext cx="1188720" cy="411480"/>
          </a:xfrm>
          <a:prstGeom prst="rect">
            <a:avLst/>
          </a:prstGeom>
          <a:noFill/>
        </p:spPr>
        <p:txBody>
          <a:bodyPr wrap="square" anchor="t" lIns="0" rIns="0" tIns="0" bIns="0">
            <a:spAutoFit/>
          </a:bodyPr>
          <a:lstStyle/>
          <a:p>
            <a:pPr algn="ctr"/>
            <a:r>
              <a:rPr sz="2200" b="1">
                <a:solidFill>
                  <a:srgbClr val="0E2841"/>
                </a:solidFill>
                <a:latin typeface="Aptos Display"/>
              </a:rPr>
              <a:t>3</a:t>
            </a:r>
          </a:p>
        </p:txBody>
      </p:sp>
      <p:sp>
        <p:nvSpPr>
          <p:cNvPr id="34" name="TextBox 33"/>
          <p:cNvSpPr txBox="1"/>
          <p:nvPr/>
        </p:nvSpPr>
        <p:spPr>
          <a:xfrm>
            <a:off x="9875520" y="4965192"/>
            <a:ext cx="822960" cy="274320"/>
          </a:xfrm>
          <a:prstGeom prst="rect">
            <a:avLst/>
          </a:prstGeom>
          <a:noFill/>
        </p:spPr>
        <p:txBody>
          <a:bodyPr wrap="square" anchor="t" lIns="0" rIns="0" tIns="0" bIns="0">
            <a:spAutoFit/>
          </a:bodyPr>
          <a:lstStyle/>
          <a:p>
            <a:pPr algn="ctr"/>
            <a:r>
              <a:rPr sz="1300" b="1">
                <a:solidFill>
                  <a:srgbClr val="7A8B9E"/>
                </a:solidFill>
                <a:latin typeface="Aptos"/>
              </a:rPr>
              <a:t>v2</a:t>
            </a:r>
          </a:p>
        </p:txBody>
      </p:sp>
      <p:cxnSp>
        <p:nvCxnSpPr>
          <p:cNvPr id="35" name="Connector 34"/>
          <p:cNvCxnSpPr/>
          <p:nvPr/>
        </p:nvCxnSpPr>
        <p:spPr>
          <a:xfrm>
            <a:off x="8503920" y="4892040"/>
            <a:ext cx="2377440" cy="0"/>
          </a:xfrm>
          <a:prstGeom prst="line">
            <a:avLst/>
          </a:prstGeom>
          <a:ln w="19050">
            <a:solidFill>
              <a:srgbClr val="D9E3EC"/>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046720" y="5257800"/>
            <a:ext cx="3291840" cy="274320"/>
          </a:xfrm>
          <a:prstGeom prst="rect">
            <a:avLst/>
          </a:prstGeom>
          <a:noFill/>
        </p:spPr>
        <p:txBody>
          <a:bodyPr wrap="square" anchor="t" lIns="0" rIns="0" tIns="0" bIns="0">
            <a:spAutoFit/>
          </a:bodyPr>
          <a:lstStyle/>
          <a:p>
            <a:pPr algn="ctr"/>
            <a:r>
              <a:rPr sz="1300" b="1">
                <a:solidFill>
                  <a:srgbClr val="E97132"/>
                </a:solidFill>
                <a:latin typeface="Aptos"/>
              </a:rPr>
              <a:t>lo que empeoró</a:t>
            </a:r>
          </a:p>
        </p:txBody>
      </p:sp>
      <p:sp>
        <p:nvSpPr>
          <p:cNvPr id="37" name="TextBox 36"/>
          <p:cNvSpPr txBox="1"/>
          <p:nvPr/>
        </p:nvSpPr>
        <p:spPr>
          <a:xfrm>
            <a:off x="822960" y="5806440"/>
            <a:ext cx="10515600" cy="457200"/>
          </a:xfrm>
          <a:prstGeom prst="rect">
            <a:avLst/>
          </a:prstGeom>
          <a:noFill/>
        </p:spPr>
        <p:txBody>
          <a:bodyPr wrap="square" anchor="t" lIns="0" rIns="0" tIns="0" bIns="0">
            <a:spAutoFit/>
          </a:bodyPr>
          <a:lstStyle/>
          <a:p>
            <a:pPr algn="ctr"/>
            <a:r>
              <a:rPr sz="1300" b="0">
                <a:solidFill>
                  <a:srgbClr val="7A8B9E"/>
                </a:solidFill>
                <a:latin typeface="Aptos"/>
              </a:rPr>
              <a:t>Cifras ilustrativas. Su equipo mide las suyas: mismo cambio, misma carga, misma máquina. Una tabla en la que la v2 gana en todo suele estar incompleta.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anchor="t" lIns="0" rIns="0" tIns="0" bIns="0">
            <a:spAutoFit/>
          </a:bodyPr>
          <a:lstStyle/>
          <a:p>
            <a:pPr algn="l"/>
            <a:r>
              <a:rPr sz="1300" b="1">
                <a:solidFill>
                  <a:srgbClr val="009540"/>
                </a:solidFill>
                <a:latin typeface="Aptos"/>
              </a:rPr>
              <a:t>El informe se llena con lo que ya hicieron</a:t>
            </a:r>
          </a:p>
        </p:txBody>
      </p:sp>
      <p:sp>
        <p:nvSpPr>
          <p:cNvPr id="3" name="TextBox 2"/>
          <p:cNvSpPr txBox="1"/>
          <p:nvPr/>
        </p:nvSpPr>
        <p:spPr>
          <a:xfrm>
            <a:off x="640080" y="640080"/>
            <a:ext cx="9144000" cy="731520"/>
          </a:xfrm>
          <a:prstGeom prst="rect">
            <a:avLst/>
          </a:prstGeom>
          <a:noFill/>
        </p:spPr>
        <p:txBody>
          <a:bodyPr wrap="square" anchor="t" lIns="0" rIns="0" tIns="0" bIns="0">
            <a:spAutoFit/>
          </a:bodyPr>
          <a:lstStyle/>
          <a:p>
            <a:pPr algn="l"/>
            <a:r>
              <a:rPr sz="3200" b="1">
                <a:solidFill>
                  <a:srgbClr val="0E2841"/>
                </a:solidFill>
                <a:latin typeface="Aptos Display"/>
              </a:rPr>
              <a:t>Cada campo del FO-IV-159 sale de un hito</a:t>
            </a:r>
          </a:p>
        </p:txBody>
      </p:sp>
      <p:pic>
        <p:nvPicPr>
          <p:cNvPr id="4" name="Picture 3" descr="LOGO-CORHUILA-COLOR.png"/>
          <p:cNvPicPr>
            <a:picLocks noChangeAspect="1"/>
          </p:cNvPicPr>
          <p:nvPr/>
        </p:nvPicPr>
        <p:blipFill>
          <a:blip r:embed="rId2"/>
          <a:stretch>
            <a:fillRect/>
          </a:stretch>
        </p:blipFill>
        <p:spPr>
          <a:xfrm>
            <a:off x="11049000" y="365760"/>
            <a:ext cx="640080" cy="640080"/>
          </a:xfrm>
          <a:prstGeom prst="rect">
            <a:avLst/>
          </a:prstGeom>
        </p:spPr>
      </p:pic>
      <p:sp>
        <p:nvSpPr>
          <p:cNvPr id="5" name="TextBox 4"/>
          <p:cNvSpPr txBox="1"/>
          <p:nvPr/>
        </p:nvSpPr>
        <p:spPr>
          <a:xfrm>
            <a:off x="640080" y="6455664"/>
            <a:ext cx="7315200" cy="228600"/>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Encuentro 4 · Asesoría</a:t>
            </a:r>
          </a:p>
        </p:txBody>
      </p:sp>
      <p:sp>
        <p:nvSpPr>
          <p:cNvPr id="6" name="TextBox 5"/>
          <p:cNvSpPr txBox="1"/>
          <p:nvPr/>
        </p:nvSpPr>
        <p:spPr>
          <a:xfrm>
            <a:off x="10881360" y="6455664"/>
            <a:ext cx="731520" cy="228600"/>
          </a:xfrm>
          <a:prstGeom prst="rect">
            <a:avLst/>
          </a:prstGeom>
          <a:noFill/>
        </p:spPr>
        <p:txBody>
          <a:bodyPr wrap="square" anchor="t" lIns="0" rIns="0" tIns="0" bIns="0">
            <a:spAutoFit/>
          </a:bodyPr>
          <a:lstStyle/>
          <a:p>
            <a:pPr algn="r"/>
            <a:r>
              <a:rPr sz="950" b="0">
                <a:solidFill>
                  <a:srgbClr val="7A8B9E"/>
                </a:solidFill>
                <a:latin typeface="Aptos"/>
              </a:rPr>
              <a:t>6</a:t>
            </a:r>
          </a:p>
        </p:txBody>
      </p:sp>
      <p:sp>
        <p:nvSpPr>
          <p:cNvPr id="7" name="TextBox 6"/>
          <p:cNvSpPr txBox="1"/>
          <p:nvPr/>
        </p:nvSpPr>
        <p:spPr>
          <a:xfrm>
            <a:off x="3657600" y="1645920"/>
            <a:ext cx="731520" cy="320040"/>
          </a:xfrm>
          <a:prstGeom prst="rect">
            <a:avLst/>
          </a:prstGeom>
          <a:noFill/>
        </p:spPr>
        <p:txBody>
          <a:bodyPr wrap="square" anchor="t" lIns="0" rIns="0" tIns="0" bIns="0">
            <a:spAutoFit/>
          </a:bodyPr>
          <a:lstStyle/>
          <a:p>
            <a:pPr algn="ctr"/>
            <a:r>
              <a:rPr sz="1500" b="1">
                <a:solidFill>
                  <a:srgbClr val="0E2841"/>
                </a:solidFill>
                <a:latin typeface="Aptos"/>
              </a:rPr>
              <a:t>H0</a:t>
            </a:r>
          </a:p>
        </p:txBody>
      </p:sp>
      <p:sp>
        <p:nvSpPr>
          <p:cNvPr id="8" name="TextBox 7"/>
          <p:cNvSpPr txBox="1"/>
          <p:nvPr/>
        </p:nvSpPr>
        <p:spPr>
          <a:xfrm>
            <a:off x="4389120" y="1645920"/>
            <a:ext cx="731520" cy="320040"/>
          </a:xfrm>
          <a:prstGeom prst="rect">
            <a:avLst/>
          </a:prstGeom>
          <a:noFill/>
        </p:spPr>
        <p:txBody>
          <a:bodyPr wrap="square" anchor="t" lIns="0" rIns="0" tIns="0" bIns="0">
            <a:spAutoFit/>
          </a:bodyPr>
          <a:lstStyle/>
          <a:p>
            <a:pPr algn="ctr"/>
            <a:r>
              <a:rPr sz="1500" b="1">
                <a:solidFill>
                  <a:srgbClr val="0E2841"/>
                </a:solidFill>
                <a:latin typeface="Aptos"/>
              </a:rPr>
              <a:t>H1</a:t>
            </a:r>
          </a:p>
        </p:txBody>
      </p:sp>
      <p:sp>
        <p:nvSpPr>
          <p:cNvPr id="9" name="TextBox 8"/>
          <p:cNvSpPr txBox="1"/>
          <p:nvPr/>
        </p:nvSpPr>
        <p:spPr>
          <a:xfrm>
            <a:off x="5120640" y="1645920"/>
            <a:ext cx="731520" cy="320040"/>
          </a:xfrm>
          <a:prstGeom prst="rect">
            <a:avLst/>
          </a:prstGeom>
          <a:noFill/>
        </p:spPr>
        <p:txBody>
          <a:bodyPr wrap="square" anchor="t" lIns="0" rIns="0" tIns="0" bIns="0">
            <a:spAutoFit/>
          </a:bodyPr>
          <a:lstStyle/>
          <a:p>
            <a:pPr algn="ctr"/>
            <a:r>
              <a:rPr sz="1500" b="1">
                <a:solidFill>
                  <a:srgbClr val="0E2841"/>
                </a:solidFill>
                <a:latin typeface="Aptos"/>
              </a:rPr>
              <a:t>H2</a:t>
            </a:r>
          </a:p>
        </p:txBody>
      </p:sp>
      <p:sp>
        <p:nvSpPr>
          <p:cNvPr id="10" name="TextBox 9"/>
          <p:cNvSpPr txBox="1"/>
          <p:nvPr/>
        </p:nvSpPr>
        <p:spPr>
          <a:xfrm>
            <a:off x="5852160" y="1645920"/>
            <a:ext cx="731520" cy="320040"/>
          </a:xfrm>
          <a:prstGeom prst="rect">
            <a:avLst/>
          </a:prstGeom>
          <a:noFill/>
        </p:spPr>
        <p:txBody>
          <a:bodyPr wrap="square" anchor="t" lIns="0" rIns="0" tIns="0" bIns="0">
            <a:spAutoFit/>
          </a:bodyPr>
          <a:lstStyle/>
          <a:p>
            <a:pPr algn="ctr"/>
            <a:r>
              <a:rPr sz="1500" b="1">
                <a:solidFill>
                  <a:srgbClr val="0E2841"/>
                </a:solidFill>
                <a:latin typeface="Aptos"/>
              </a:rPr>
              <a:t>H3</a:t>
            </a:r>
          </a:p>
        </p:txBody>
      </p:sp>
      <p:sp>
        <p:nvSpPr>
          <p:cNvPr id="11" name="TextBox 10"/>
          <p:cNvSpPr txBox="1"/>
          <p:nvPr/>
        </p:nvSpPr>
        <p:spPr>
          <a:xfrm>
            <a:off x="6583680" y="1645920"/>
            <a:ext cx="731520" cy="320040"/>
          </a:xfrm>
          <a:prstGeom prst="rect">
            <a:avLst/>
          </a:prstGeom>
          <a:noFill/>
        </p:spPr>
        <p:txBody>
          <a:bodyPr wrap="square" anchor="t" lIns="0" rIns="0" tIns="0" bIns="0">
            <a:spAutoFit/>
          </a:bodyPr>
          <a:lstStyle/>
          <a:p>
            <a:pPr algn="ctr"/>
            <a:r>
              <a:rPr sz="1500" b="1">
                <a:solidFill>
                  <a:srgbClr val="0E2841"/>
                </a:solidFill>
                <a:latin typeface="Aptos"/>
              </a:rPr>
              <a:t>H4</a:t>
            </a:r>
          </a:p>
        </p:txBody>
      </p:sp>
      <p:sp>
        <p:nvSpPr>
          <p:cNvPr id="12" name="Rectangle 11"/>
          <p:cNvSpPr/>
          <p:nvPr/>
        </p:nvSpPr>
        <p:spPr>
          <a:xfrm>
            <a:off x="822960" y="2057400"/>
            <a:ext cx="6492240" cy="5486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057400"/>
            <a:ext cx="2651760" cy="548640"/>
          </a:xfrm>
          <a:prstGeom prst="rect">
            <a:avLst/>
          </a:prstGeom>
          <a:noFill/>
        </p:spPr>
        <p:txBody>
          <a:bodyPr wrap="square" anchor="ctr" lIns="0" rIns="0" tIns="0" bIns="0">
            <a:spAutoFit/>
          </a:bodyPr>
          <a:lstStyle/>
          <a:p>
            <a:pPr algn="l"/>
            <a:r>
              <a:rPr sz="1400" b="1">
                <a:solidFill>
                  <a:srgbClr val="33475B"/>
                </a:solidFill>
                <a:latin typeface="Aptos"/>
              </a:rPr>
              <a:t>Título y pregunta</a:t>
            </a:r>
          </a:p>
        </p:txBody>
      </p:sp>
      <p:sp>
        <p:nvSpPr>
          <p:cNvPr id="14" name="Oval 13"/>
          <p:cNvSpPr/>
          <p:nvPr/>
        </p:nvSpPr>
        <p:spPr>
          <a:xfrm>
            <a:off x="3886200" y="2194560"/>
            <a:ext cx="274320" cy="274320"/>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17720" y="2194560"/>
            <a:ext cx="274320" cy="274320"/>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440679" y="228600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172200" y="228600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03720" y="228600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2606040"/>
            <a:ext cx="2651760" cy="548640"/>
          </a:xfrm>
          <a:prstGeom prst="rect">
            <a:avLst/>
          </a:prstGeom>
          <a:noFill/>
        </p:spPr>
        <p:txBody>
          <a:bodyPr wrap="square" anchor="ctr" lIns="0" rIns="0" tIns="0" bIns="0">
            <a:spAutoFit/>
          </a:bodyPr>
          <a:lstStyle/>
          <a:p>
            <a:pPr algn="l"/>
            <a:r>
              <a:rPr sz="1400" b="1">
                <a:solidFill>
                  <a:srgbClr val="33475B"/>
                </a:solidFill>
                <a:latin typeface="Aptos"/>
              </a:rPr>
              <a:t>Planteamiento del problema</a:t>
            </a:r>
          </a:p>
        </p:txBody>
      </p:sp>
      <p:sp>
        <p:nvSpPr>
          <p:cNvPr id="20" name="Oval 19"/>
          <p:cNvSpPr/>
          <p:nvPr/>
        </p:nvSpPr>
        <p:spPr>
          <a:xfrm>
            <a:off x="3977639" y="283464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17720" y="2743200"/>
            <a:ext cx="274320" cy="274320"/>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440679" y="283464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172200" y="283464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903720" y="283464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 y="3154680"/>
            <a:ext cx="6492240" cy="5486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3154680"/>
            <a:ext cx="2651760" cy="548640"/>
          </a:xfrm>
          <a:prstGeom prst="rect">
            <a:avLst/>
          </a:prstGeom>
          <a:noFill/>
        </p:spPr>
        <p:txBody>
          <a:bodyPr wrap="square" anchor="ctr" lIns="0" rIns="0" tIns="0" bIns="0">
            <a:spAutoFit/>
          </a:bodyPr>
          <a:lstStyle/>
          <a:p>
            <a:pPr algn="l"/>
            <a:r>
              <a:rPr sz="1400" b="1">
                <a:solidFill>
                  <a:srgbClr val="33475B"/>
                </a:solidFill>
                <a:latin typeface="Aptos"/>
              </a:rPr>
              <a:t>Justificación</a:t>
            </a:r>
          </a:p>
        </p:txBody>
      </p:sp>
      <p:sp>
        <p:nvSpPr>
          <p:cNvPr id="27" name="Oval 26"/>
          <p:cNvSpPr/>
          <p:nvPr/>
        </p:nvSpPr>
        <p:spPr>
          <a:xfrm>
            <a:off x="3977639" y="338328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17720" y="3291840"/>
            <a:ext cx="274320" cy="274320"/>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440679" y="338328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80760" y="3291840"/>
            <a:ext cx="274320" cy="274320"/>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903720" y="338328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3703320"/>
            <a:ext cx="2651760" cy="548640"/>
          </a:xfrm>
          <a:prstGeom prst="rect">
            <a:avLst/>
          </a:prstGeom>
          <a:noFill/>
        </p:spPr>
        <p:txBody>
          <a:bodyPr wrap="square" anchor="ctr" lIns="0" rIns="0" tIns="0" bIns="0">
            <a:spAutoFit/>
          </a:bodyPr>
          <a:lstStyle/>
          <a:p>
            <a:pPr algn="l"/>
            <a:r>
              <a:rPr sz="1400" b="1">
                <a:solidFill>
                  <a:srgbClr val="33475B"/>
                </a:solidFill>
                <a:latin typeface="Aptos"/>
              </a:rPr>
              <a:t>Objetivos específicos</a:t>
            </a:r>
          </a:p>
        </p:txBody>
      </p:sp>
      <p:sp>
        <p:nvSpPr>
          <p:cNvPr id="33" name="Oval 32"/>
          <p:cNvSpPr/>
          <p:nvPr/>
        </p:nvSpPr>
        <p:spPr>
          <a:xfrm>
            <a:off x="3977639" y="393192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617720" y="3840480"/>
            <a:ext cx="274320" cy="274320"/>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349240" y="3840480"/>
            <a:ext cx="274320" cy="274320"/>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080760" y="3840480"/>
            <a:ext cx="274320" cy="274320"/>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812280" y="3840480"/>
            <a:ext cx="274320" cy="274320"/>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2960" y="4251960"/>
            <a:ext cx="6492240" cy="5486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0120" y="4251960"/>
            <a:ext cx="2651760" cy="548640"/>
          </a:xfrm>
          <a:prstGeom prst="rect">
            <a:avLst/>
          </a:prstGeom>
          <a:noFill/>
        </p:spPr>
        <p:txBody>
          <a:bodyPr wrap="square" anchor="ctr" lIns="0" rIns="0" tIns="0" bIns="0">
            <a:spAutoFit/>
          </a:bodyPr>
          <a:lstStyle/>
          <a:p>
            <a:pPr algn="l"/>
            <a:r>
              <a:rPr sz="1400" b="1">
                <a:solidFill>
                  <a:srgbClr val="33475B"/>
                </a:solidFill>
                <a:latin typeface="Aptos"/>
              </a:rPr>
              <a:t>Resultados</a:t>
            </a:r>
          </a:p>
        </p:txBody>
      </p:sp>
      <p:sp>
        <p:nvSpPr>
          <p:cNvPr id="40" name="Oval 39"/>
          <p:cNvSpPr/>
          <p:nvPr/>
        </p:nvSpPr>
        <p:spPr>
          <a:xfrm>
            <a:off x="3977639" y="448056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709159" y="448056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349240" y="4389120"/>
            <a:ext cx="274320" cy="274320"/>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080760" y="4389120"/>
            <a:ext cx="274320" cy="274320"/>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812280" y="4389120"/>
            <a:ext cx="274320" cy="274320"/>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60120" y="4800600"/>
            <a:ext cx="2651760" cy="548640"/>
          </a:xfrm>
          <a:prstGeom prst="rect">
            <a:avLst/>
          </a:prstGeom>
          <a:noFill/>
        </p:spPr>
        <p:txBody>
          <a:bodyPr wrap="square" anchor="ctr" lIns="0" rIns="0" tIns="0" bIns="0">
            <a:spAutoFit/>
          </a:bodyPr>
          <a:lstStyle/>
          <a:p>
            <a:pPr algn="l"/>
            <a:r>
              <a:rPr sz="1400" b="1">
                <a:solidFill>
                  <a:srgbClr val="33475B"/>
                </a:solidFill>
                <a:latin typeface="Aptos"/>
              </a:rPr>
              <a:t>Productos y anexos</a:t>
            </a:r>
          </a:p>
        </p:txBody>
      </p:sp>
      <p:sp>
        <p:nvSpPr>
          <p:cNvPr id="46" name="Oval 45"/>
          <p:cNvSpPr/>
          <p:nvPr/>
        </p:nvSpPr>
        <p:spPr>
          <a:xfrm>
            <a:off x="3977639" y="502920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709159" y="502920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349240" y="4937760"/>
            <a:ext cx="274320" cy="274320"/>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172200" y="502920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812280" y="4937760"/>
            <a:ext cx="274320" cy="274320"/>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22960" y="5349240"/>
            <a:ext cx="6492240" cy="5486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0120" y="5349240"/>
            <a:ext cx="2651760" cy="548640"/>
          </a:xfrm>
          <a:prstGeom prst="rect">
            <a:avLst/>
          </a:prstGeom>
          <a:noFill/>
        </p:spPr>
        <p:txBody>
          <a:bodyPr wrap="square" anchor="ctr" lIns="0" rIns="0" tIns="0" bIns="0">
            <a:spAutoFit/>
          </a:bodyPr>
          <a:lstStyle/>
          <a:p>
            <a:pPr algn="l"/>
            <a:r>
              <a:rPr sz="1400" b="1">
                <a:solidFill>
                  <a:srgbClr val="33475B"/>
                </a:solidFill>
                <a:latin typeface="Aptos"/>
              </a:rPr>
              <a:t>Resumen · 800 caracteres</a:t>
            </a:r>
          </a:p>
        </p:txBody>
      </p:sp>
      <p:sp>
        <p:nvSpPr>
          <p:cNvPr id="53" name="Oval 52"/>
          <p:cNvSpPr/>
          <p:nvPr/>
        </p:nvSpPr>
        <p:spPr>
          <a:xfrm>
            <a:off x="3977639" y="557784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709159" y="557784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5440679" y="557784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172200" y="5577840"/>
            <a:ext cx="91440" cy="91440"/>
          </a:xfrm>
          <a:prstGeom prst="ellipse">
            <a:avLst/>
          </a:prstGeom>
          <a:solidFill>
            <a:srgbClr val="D9E3EC"/>
          </a:solidFill>
          <a:ln w="12700">
            <a:solidFill>
              <a:srgbClr val="D9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812280" y="5486400"/>
            <a:ext cx="274320" cy="274320"/>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001000" y="1645920"/>
            <a:ext cx="3291840" cy="320040"/>
          </a:xfrm>
          <a:prstGeom prst="rect">
            <a:avLst/>
          </a:prstGeom>
          <a:noFill/>
        </p:spPr>
        <p:txBody>
          <a:bodyPr wrap="square" anchor="t" lIns="0" rIns="0" tIns="0" bIns="0">
            <a:spAutoFit/>
          </a:bodyPr>
          <a:lstStyle/>
          <a:p>
            <a:pPr algn="l"/>
            <a:r>
              <a:rPr sz="1500" b="1">
                <a:solidFill>
                  <a:srgbClr val="0E2841"/>
                </a:solidFill>
                <a:latin typeface="Aptos"/>
              </a:rPr>
              <a:t>Un libro, tres pestañas</a:t>
            </a:r>
          </a:p>
        </p:txBody>
      </p:sp>
      <p:sp>
        <p:nvSpPr>
          <p:cNvPr id="59" name="Round Same Side Corner Rectangle 58"/>
          <p:cNvSpPr/>
          <p:nvPr/>
        </p:nvSpPr>
        <p:spPr>
          <a:xfrm>
            <a:off x="8001000" y="2103120"/>
            <a:ext cx="3291840" cy="914400"/>
          </a:xfrm>
          <a:prstGeom prst="round2Same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183879" y="2212848"/>
            <a:ext cx="2926080" cy="365760"/>
          </a:xfrm>
          <a:prstGeom prst="rect">
            <a:avLst/>
          </a:prstGeom>
          <a:noFill/>
        </p:spPr>
        <p:txBody>
          <a:bodyPr wrap="square" anchor="t" lIns="0" rIns="0" tIns="0" bIns="0">
            <a:spAutoFit/>
          </a:bodyPr>
          <a:lstStyle/>
          <a:p>
            <a:pPr algn="l"/>
            <a:r>
              <a:rPr sz="1600" b="1">
                <a:solidFill>
                  <a:srgbClr val="FFFFFF"/>
                </a:solidFill>
                <a:latin typeface="Aptos Display"/>
              </a:rPr>
              <a:t>INFORME</a:t>
            </a:r>
          </a:p>
        </p:txBody>
      </p:sp>
      <p:sp>
        <p:nvSpPr>
          <p:cNvPr id="61" name="TextBox 60"/>
          <p:cNvSpPr txBox="1"/>
          <p:nvPr/>
        </p:nvSpPr>
        <p:spPr>
          <a:xfrm>
            <a:off x="8183879" y="2578608"/>
            <a:ext cx="2926080" cy="365760"/>
          </a:xfrm>
          <a:prstGeom prst="rect">
            <a:avLst/>
          </a:prstGeom>
          <a:noFill/>
        </p:spPr>
        <p:txBody>
          <a:bodyPr wrap="square" anchor="t" lIns="0" rIns="0" tIns="0" bIns="0">
            <a:spAutoFit/>
          </a:bodyPr>
          <a:lstStyle/>
          <a:p>
            <a:pPr algn="l"/>
            <a:r>
              <a:rPr sz="1250" b="0">
                <a:solidFill>
                  <a:srgbClr val="FFFFFF"/>
                </a:solidFill>
                <a:latin typeface="Aptos"/>
              </a:rPr>
              <a:t>los campos del proyecto</a:t>
            </a:r>
          </a:p>
        </p:txBody>
      </p:sp>
      <p:sp>
        <p:nvSpPr>
          <p:cNvPr id="62" name="Round Same Side Corner Rectangle 61"/>
          <p:cNvSpPr/>
          <p:nvPr/>
        </p:nvSpPr>
        <p:spPr>
          <a:xfrm>
            <a:off x="8001000" y="3182111"/>
            <a:ext cx="3291840" cy="914400"/>
          </a:xfrm>
          <a:prstGeom prst="round2Same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183879" y="3291839"/>
            <a:ext cx="2926080" cy="365760"/>
          </a:xfrm>
          <a:prstGeom prst="rect">
            <a:avLst/>
          </a:prstGeom>
          <a:noFill/>
        </p:spPr>
        <p:txBody>
          <a:bodyPr wrap="square" anchor="t" lIns="0" rIns="0" tIns="0" bIns="0">
            <a:spAutoFit/>
          </a:bodyPr>
          <a:lstStyle/>
          <a:p>
            <a:pPr algn="l"/>
            <a:r>
              <a:rPr sz="1600" b="1">
                <a:solidFill>
                  <a:srgbClr val="FFFFFF"/>
                </a:solidFill>
                <a:latin typeface="Aptos Display"/>
              </a:rPr>
              <a:t>ESTUDIANTE</a:t>
            </a:r>
          </a:p>
        </p:txBody>
      </p:sp>
      <p:sp>
        <p:nvSpPr>
          <p:cNvPr id="64" name="TextBox 63"/>
          <p:cNvSpPr txBox="1"/>
          <p:nvPr/>
        </p:nvSpPr>
        <p:spPr>
          <a:xfrm>
            <a:off x="8183879" y="3657599"/>
            <a:ext cx="2926080" cy="365760"/>
          </a:xfrm>
          <a:prstGeom prst="rect">
            <a:avLst/>
          </a:prstGeom>
          <a:noFill/>
        </p:spPr>
        <p:txBody>
          <a:bodyPr wrap="square" anchor="t" lIns="0" rIns="0" tIns="0" bIns="0">
            <a:spAutoFit/>
          </a:bodyPr>
          <a:lstStyle/>
          <a:p>
            <a:pPr algn="l"/>
            <a:r>
              <a:rPr sz="1250" b="0">
                <a:solidFill>
                  <a:srgbClr val="FFFFFF"/>
                </a:solidFill>
                <a:latin typeface="Aptos"/>
              </a:rPr>
              <a:t>identificaciones: solo en Moodle</a:t>
            </a:r>
          </a:p>
        </p:txBody>
      </p:sp>
      <p:sp>
        <p:nvSpPr>
          <p:cNvPr id="65" name="Round Same Side Corner Rectangle 64"/>
          <p:cNvSpPr/>
          <p:nvPr/>
        </p:nvSpPr>
        <p:spPr>
          <a:xfrm>
            <a:off x="8001000" y="4261104"/>
            <a:ext cx="3291840" cy="914400"/>
          </a:xfrm>
          <a:prstGeom prst="round2Same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183879" y="4370832"/>
            <a:ext cx="2926080" cy="365760"/>
          </a:xfrm>
          <a:prstGeom prst="rect">
            <a:avLst/>
          </a:prstGeom>
          <a:noFill/>
        </p:spPr>
        <p:txBody>
          <a:bodyPr wrap="square" anchor="t" lIns="0" rIns="0" tIns="0" bIns="0">
            <a:spAutoFit/>
          </a:bodyPr>
          <a:lstStyle/>
          <a:p>
            <a:pPr algn="l"/>
            <a:r>
              <a:rPr sz="1600" b="1">
                <a:solidFill>
                  <a:srgbClr val="FFFFFF"/>
                </a:solidFill>
                <a:latin typeface="Aptos Display"/>
              </a:rPr>
              <a:t>PRODUCTOS</a:t>
            </a:r>
          </a:p>
        </p:txBody>
      </p:sp>
      <p:sp>
        <p:nvSpPr>
          <p:cNvPr id="67" name="TextBox 66"/>
          <p:cNvSpPr txBox="1"/>
          <p:nvPr/>
        </p:nvSpPr>
        <p:spPr>
          <a:xfrm>
            <a:off x="8183879" y="4736592"/>
            <a:ext cx="2926080" cy="365760"/>
          </a:xfrm>
          <a:prstGeom prst="rect">
            <a:avLst/>
          </a:prstGeom>
          <a:noFill/>
        </p:spPr>
        <p:txBody>
          <a:bodyPr wrap="square" anchor="t" lIns="0" rIns="0" tIns="0" bIns="0">
            <a:spAutoFit/>
          </a:bodyPr>
          <a:lstStyle/>
          <a:p>
            <a:pPr algn="l"/>
            <a:r>
              <a:rPr sz="1250" b="0">
                <a:solidFill>
                  <a:srgbClr val="FFFFFF"/>
                </a:solidFill>
                <a:latin typeface="Aptos"/>
              </a:rPr>
              <a:t>catálogo de productos aceptados</a:t>
            </a:r>
          </a:p>
        </p:txBody>
      </p:sp>
      <p:sp>
        <p:nvSpPr>
          <p:cNvPr id="68" name="TextBox 67"/>
          <p:cNvSpPr txBox="1"/>
          <p:nvPr/>
        </p:nvSpPr>
        <p:spPr>
          <a:xfrm>
            <a:off x="8001000" y="5394960"/>
            <a:ext cx="3291840" cy="731520"/>
          </a:xfrm>
          <a:prstGeom prst="rect">
            <a:avLst/>
          </a:prstGeom>
          <a:noFill/>
        </p:spPr>
        <p:txBody>
          <a:bodyPr wrap="square" anchor="t" lIns="0" rIns="0" tIns="0" bIns="0">
            <a:spAutoFit/>
          </a:bodyPr>
          <a:lstStyle/>
          <a:p>
            <a:pPr algn="l"/>
            <a:r>
              <a:rPr sz="1300" b="0">
                <a:solidFill>
                  <a:srgbClr val="7A8B9E"/>
                </a:solidFill>
                <a:latin typeface="Aptos"/>
              </a:rPr>
              <a:t>Cada celda trae su instrucción a la derecha: se reemplaza, no se deja.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anchor="t" lIns="0" rIns="0" tIns="0" bIns="0">
            <a:spAutoFit/>
          </a:bodyPr>
          <a:lstStyle/>
          <a:p>
            <a:pPr algn="l"/>
            <a:r>
              <a:rPr sz="1300" b="1">
                <a:solidFill>
                  <a:srgbClr val="009540"/>
                </a:solidFill>
                <a:latin typeface="Aptos"/>
              </a:rPr>
              <a:t>Actividad 3 · 40 % · la misma entrega, cada integrante</a:t>
            </a:r>
          </a:p>
        </p:txBody>
      </p:sp>
      <p:sp>
        <p:nvSpPr>
          <p:cNvPr id="3" name="TextBox 2"/>
          <p:cNvSpPr txBox="1"/>
          <p:nvPr/>
        </p:nvSpPr>
        <p:spPr>
          <a:xfrm>
            <a:off x="640080" y="640080"/>
            <a:ext cx="9144000" cy="731520"/>
          </a:xfrm>
          <a:prstGeom prst="rect">
            <a:avLst/>
          </a:prstGeom>
          <a:noFill/>
        </p:spPr>
        <p:txBody>
          <a:bodyPr wrap="square" anchor="t" lIns="0" rIns="0" tIns="0" bIns="0">
            <a:spAutoFit/>
          </a:bodyPr>
          <a:lstStyle/>
          <a:p>
            <a:pPr algn="l"/>
            <a:r>
              <a:rPr sz="3200" b="1">
                <a:solidFill>
                  <a:srgbClr val="0E2841"/>
                </a:solidFill>
                <a:latin typeface="Aptos Display"/>
              </a:rPr>
              <a:t>Lo que sube el equipo el 8 de noviembre</a:t>
            </a:r>
          </a:p>
        </p:txBody>
      </p:sp>
      <p:pic>
        <p:nvPicPr>
          <p:cNvPr id="4" name="Picture 3" descr="LOGO-CORHUILA-COLOR.png"/>
          <p:cNvPicPr>
            <a:picLocks noChangeAspect="1"/>
          </p:cNvPicPr>
          <p:nvPr/>
        </p:nvPicPr>
        <p:blipFill>
          <a:blip r:embed="rId2"/>
          <a:stretch>
            <a:fillRect/>
          </a:stretch>
        </p:blipFill>
        <p:spPr>
          <a:xfrm>
            <a:off x="11049000" y="365760"/>
            <a:ext cx="640080" cy="640080"/>
          </a:xfrm>
          <a:prstGeom prst="rect">
            <a:avLst/>
          </a:prstGeom>
        </p:spPr>
      </p:pic>
      <p:sp>
        <p:nvSpPr>
          <p:cNvPr id="5" name="TextBox 4"/>
          <p:cNvSpPr txBox="1"/>
          <p:nvPr/>
        </p:nvSpPr>
        <p:spPr>
          <a:xfrm>
            <a:off x="640080" y="6455664"/>
            <a:ext cx="7315200" cy="228600"/>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Encuentro 4 · Asesoría</a:t>
            </a:r>
          </a:p>
        </p:txBody>
      </p:sp>
      <p:sp>
        <p:nvSpPr>
          <p:cNvPr id="6" name="TextBox 5"/>
          <p:cNvSpPr txBox="1"/>
          <p:nvPr/>
        </p:nvSpPr>
        <p:spPr>
          <a:xfrm>
            <a:off x="10881360" y="6455664"/>
            <a:ext cx="731520" cy="228600"/>
          </a:xfrm>
          <a:prstGeom prst="rect">
            <a:avLst/>
          </a:prstGeom>
          <a:noFill/>
        </p:spPr>
        <p:txBody>
          <a:bodyPr wrap="square" anchor="t" lIns="0" rIns="0" tIns="0" bIns="0">
            <a:spAutoFit/>
          </a:bodyPr>
          <a:lstStyle/>
          <a:p>
            <a:pPr algn="r"/>
            <a:r>
              <a:rPr sz="950" b="0">
                <a:solidFill>
                  <a:srgbClr val="7A8B9E"/>
                </a:solidFill>
                <a:latin typeface="Aptos"/>
              </a:rPr>
              <a:t>7</a:t>
            </a:r>
          </a:p>
        </p:txBody>
      </p:sp>
      <p:sp>
        <p:nvSpPr>
          <p:cNvPr id="7" name="Rounded Rectangle 6"/>
          <p:cNvSpPr/>
          <p:nvPr/>
        </p:nvSpPr>
        <p:spPr>
          <a:xfrm>
            <a:off x="822960" y="1691640"/>
            <a:ext cx="10515600" cy="3794760"/>
          </a:xfrm>
          <a:prstGeom prst="roundRect">
            <a:avLst>
              <a:gd name="adj" fmla="val 4000"/>
            </a:avLst>
          </a:prstGeom>
          <a:noFill/>
          <a:ln w="25400">
            <a:solidFill>
              <a:srgbClr val="0E284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143000" y="2057400"/>
            <a:ext cx="3108960" cy="3108960"/>
          </a:xfrm>
          <a:prstGeom prst="roundRect">
            <a:avLst>
              <a:gd name="adj" fmla="val 600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240280"/>
            <a:ext cx="3108960" cy="457200"/>
          </a:xfrm>
          <a:prstGeom prst="rect">
            <a:avLst/>
          </a:prstGeom>
          <a:noFill/>
        </p:spPr>
        <p:txBody>
          <a:bodyPr wrap="square" anchor="t" lIns="0" rIns="0" tIns="0" bIns="0">
            <a:spAutoFit/>
          </a:bodyPr>
          <a:lstStyle/>
          <a:p>
            <a:pPr algn="ctr"/>
            <a:r>
              <a:rPr sz="2400" b="1">
                <a:solidFill>
                  <a:srgbClr val="FFFFFF"/>
                </a:solidFill>
                <a:latin typeface="Aptos Display"/>
              </a:rPr>
              <a:t>FO-IV-159</a:t>
            </a:r>
          </a:p>
        </p:txBody>
      </p:sp>
      <p:sp>
        <p:nvSpPr>
          <p:cNvPr id="10" name="TextBox 9"/>
          <p:cNvSpPr txBox="1"/>
          <p:nvPr/>
        </p:nvSpPr>
        <p:spPr>
          <a:xfrm>
            <a:off x="1143000" y="2697480"/>
            <a:ext cx="3108960" cy="365760"/>
          </a:xfrm>
          <a:prstGeom prst="rect">
            <a:avLst/>
          </a:prstGeom>
          <a:noFill/>
        </p:spPr>
        <p:txBody>
          <a:bodyPr wrap="square" anchor="t" lIns="0" rIns="0" tIns="0" bIns="0">
            <a:spAutoFit/>
          </a:bodyPr>
          <a:lstStyle/>
          <a:p>
            <a:pPr algn="ctr"/>
            <a:r>
              <a:rPr sz="1400" b="0">
                <a:solidFill>
                  <a:srgbClr val="FFFFFF"/>
                </a:solidFill>
                <a:latin typeface="Aptos"/>
              </a:rPr>
              <a:t>archivo .xlsx</a:t>
            </a:r>
          </a:p>
        </p:txBody>
      </p:sp>
      <p:sp>
        <p:nvSpPr>
          <p:cNvPr id="11" name="Rounded Rectangle 10"/>
          <p:cNvSpPr/>
          <p:nvPr/>
        </p:nvSpPr>
        <p:spPr>
          <a:xfrm>
            <a:off x="1463040" y="3291840"/>
            <a:ext cx="2468880" cy="438912"/>
          </a:xfrm>
          <a:prstGeom prst="roundRect">
            <a:avLst>
              <a:gd name="adj" fmla="val 4000"/>
            </a:avLst>
          </a:prstGeom>
          <a:no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63040" y="3291840"/>
            <a:ext cx="2468880" cy="438912"/>
          </a:xfrm>
          <a:prstGeom prst="rect">
            <a:avLst/>
          </a:prstGeom>
          <a:noFill/>
        </p:spPr>
        <p:txBody>
          <a:bodyPr wrap="square" anchor="ctr" lIns="0" rIns="0" tIns="0" bIns="0">
            <a:spAutoFit/>
          </a:bodyPr>
          <a:lstStyle/>
          <a:p>
            <a:pPr algn="ctr"/>
            <a:r>
              <a:rPr sz="1300" b="1">
                <a:solidFill>
                  <a:srgbClr val="FFFFFF"/>
                </a:solidFill>
                <a:latin typeface="Aptos"/>
              </a:rPr>
              <a:t>INFORME</a:t>
            </a:r>
          </a:p>
        </p:txBody>
      </p:sp>
      <p:sp>
        <p:nvSpPr>
          <p:cNvPr id="13" name="Rounded Rectangle 12"/>
          <p:cNvSpPr/>
          <p:nvPr/>
        </p:nvSpPr>
        <p:spPr>
          <a:xfrm>
            <a:off x="1463040" y="3858768"/>
            <a:ext cx="2468880" cy="438912"/>
          </a:xfrm>
          <a:prstGeom prst="roundRect">
            <a:avLst>
              <a:gd name="adj" fmla="val 4000"/>
            </a:avLst>
          </a:prstGeom>
          <a:no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63040" y="3858768"/>
            <a:ext cx="2468880" cy="438912"/>
          </a:xfrm>
          <a:prstGeom prst="rect">
            <a:avLst/>
          </a:prstGeom>
          <a:noFill/>
        </p:spPr>
        <p:txBody>
          <a:bodyPr wrap="square" anchor="ctr" lIns="0" rIns="0" tIns="0" bIns="0">
            <a:spAutoFit/>
          </a:bodyPr>
          <a:lstStyle/>
          <a:p>
            <a:pPr algn="ctr"/>
            <a:r>
              <a:rPr sz="1300" b="1">
                <a:solidFill>
                  <a:srgbClr val="FFFFFF"/>
                </a:solidFill>
                <a:latin typeface="Aptos"/>
              </a:rPr>
              <a:t>ESTUDIANTE</a:t>
            </a:r>
          </a:p>
        </p:txBody>
      </p:sp>
      <p:sp>
        <p:nvSpPr>
          <p:cNvPr id="15" name="Rounded Rectangle 14"/>
          <p:cNvSpPr/>
          <p:nvPr/>
        </p:nvSpPr>
        <p:spPr>
          <a:xfrm>
            <a:off x="1463040" y="4425696"/>
            <a:ext cx="2468880" cy="438912"/>
          </a:xfrm>
          <a:prstGeom prst="roundRect">
            <a:avLst>
              <a:gd name="adj" fmla="val 4000"/>
            </a:avLst>
          </a:prstGeom>
          <a:no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63040" y="4425696"/>
            <a:ext cx="2468880" cy="438912"/>
          </a:xfrm>
          <a:prstGeom prst="rect">
            <a:avLst/>
          </a:prstGeom>
          <a:noFill/>
        </p:spPr>
        <p:txBody>
          <a:bodyPr wrap="square" anchor="ctr" lIns="0" rIns="0" tIns="0" bIns="0">
            <a:spAutoFit/>
          </a:bodyPr>
          <a:lstStyle/>
          <a:p>
            <a:pPr algn="ctr"/>
            <a:r>
              <a:rPr sz="1300" b="1">
                <a:solidFill>
                  <a:srgbClr val="FFFFFF"/>
                </a:solidFill>
                <a:latin typeface="Aptos"/>
              </a:rPr>
              <a:t>PRODUCTOS</a:t>
            </a:r>
          </a:p>
        </p:txBody>
      </p:sp>
      <p:sp>
        <p:nvSpPr>
          <p:cNvPr id="17" name="TextBox 16"/>
          <p:cNvSpPr txBox="1"/>
          <p:nvPr/>
        </p:nvSpPr>
        <p:spPr>
          <a:xfrm>
            <a:off x="4297680" y="3383280"/>
            <a:ext cx="548640" cy="548640"/>
          </a:xfrm>
          <a:prstGeom prst="rect">
            <a:avLst/>
          </a:prstGeom>
          <a:noFill/>
        </p:spPr>
        <p:txBody>
          <a:bodyPr wrap="square" anchor="ctr" lIns="0" rIns="0" tIns="0" bIns="0">
            <a:spAutoFit/>
          </a:bodyPr>
          <a:lstStyle/>
          <a:p>
            <a:pPr algn="ctr"/>
            <a:r>
              <a:rPr sz="4000" b="1">
                <a:solidFill>
                  <a:srgbClr val="0E2841"/>
                </a:solidFill>
                <a:latin typeface="Aptos"/>
              </a:rPr>
              <a:t>+</a:t>
            </a:r>
          </a:p>
        </p:txBody>
      </p:sp>
      <p:sp>
        <p:nvSpPr>
          <p:cNvPr id="18" name="Rounded Rectangle 17"/>
          <p:cNvSpPr/>
          <p:nvPr/>
        </p:nvSpPr>
        <p:spPr>
          <a:xfrm>
            <a:off x="4892040" y="2057400"/>
            <a:ext cx="6126480" cy="3108960"/>
          </a:xfrm>
          <a:prstGeom prst="roundRect">
            <a:avLst>
              <a:gd name="adj" fmla="val 4000"/>
            </a:avLst>
          </a:prstGeom>
          <a:solidFill>
            <a:srgbClr val="F4F7FA"/>
          </a:solidFill>
          <a:ln w="2540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2148840"/>
            <a:ext cx="5669280" cy="411480"/>
          </a:xfrm>
          <a:prstGeom prst="rect">
            <a:avLst/>
          </a:prstGeom>
          <a:noFill/>
        </p:spPr>
        <p:txBody>
          <a:bodyPr wrap="square" anchor="t" lIns="0" rIns="0" tIns="0" bIns="0">
            <a:spAutoFit/>
          </a:bodyPr>
          <a:lstStyle/>
          <a:p>
            <a:pPr algn="l"/>
            <a:r>
              <a:rPr sz="2000" b="1">
                <a:solidFill>
                  <a:srgbClr val="156082"/>
                </a:solidFill>
                <a:latin typeface="Aptos Display"/>
              </a:rPr>
              <a:t>anexos.zip</a:t>
            </a:r>
          </a:p>
        </p:txBody>
      </p:sp>
      <p:sp>
        <p:nvSpPr>
          <p:cNvPr id="20" name="Rounded Rectangle 19"/>
          <p:cNvSpPr/>
          <p:nvPr/>
        </p:nvSpPr>
        <p:spPr>
          <a:xfrm>
            <a:off x="5120640" y="2651760"/>
            <a:ext cx="1828800" cy="228600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0" y="2743200"/>
            <a:ext cx="1645920" cy="2103120"/>
          </a:xfrm>
          <a:prstGeom prst="rect">
            <a:avLst/>
          </a:prstGeom>
          <a:noFill/>
        </p:spPr>
        <p:txBody>
          <a:bodyPr wrap="square" anchor="ctr" lIns="0" rIns="0" tIns="0" bIns="0">
            <a:spAutoFit/>
          </a:bodyPr>
          <a:lstStyle/>
          <a:p>
            <a:pPr algn="ctr"/>
            <a:r>
              <a:rPr sz="1250" b="1">
                <a:solidFill>
                  <a:srgbClr val="33475B"/>
                </a:solidFill>
                <a:latin typeface="Aptos"/>
              </a:rPr>
              <a:t>Anexo 1</a:t>
            </a:r>
            <a:r>
              <a:rPr sz="1250" b="0">
                <a:solidFill>
                  <a:srgbClr val="33475B"/>
                </a:solidFill>
                <a:latin typeface="Aptos"/>
              </a:rPr>
              <a:t>
Fotografías
Capturas de v1, v2 y la sustentación</a:t>
            </a:r>
          </a:p>
        </p:txBody>
      </p:sp>
      <p:sp>
        <p:nvSpPr>
          <p:cNvPr id="22" name="Rounded Rectangle 21"/>
          <p:cNvSpPr/>
          <p:nvPr/>
        </p:nvSpPr>
        <p:spPr>
          <a:xfrm>
            <a:off x="7132320" y="2651760"/>
            <a:ext cx="3657600" cy="228600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2724912"/>
            <a:ext cx="3383280" cy="320040"/>
          </a:xfrm>
          <a:prstGeom prst="rect">
            <a:avLst/>
          </a:prstGeom>
          <a:noFill/>
        </p:spPr>
        <p:txBody>
          <a:bodyPr wrap="square" anchor="t" lIns="0" rIns="0" tIns="0" bIns="0">
            <a:spAutoFit/>
          </a:bodyPr>
          <a:lstStyle/>
          <a:p>
            <a:pPr algn="l"/>
            <a:r>
              <a:rPr sz="1350" b="1">
                <a:solidFill>
                  <a:srgbClr val="0E2841"/>
                </a:solidFill>
                <a:latin typeface="Aptos"/>
              </a:rPr>
              <a:t>Anexo 2</a:t>
            </a:r>
            <a:r>
              <a:rPr sz="1350" b="0">
                <a:solidFill>
                  <a:srgbClr val="0E2841"/>
                </a:solidFill>
                <a:latin typeface="Aptos"/>
              </a:rPr>
              <a:t> · Productos</a:t>
            </a:r>
          </a:p>
        </p:txBody>
      </p:sp>
      <p:sp>
        <p:nvSpPr>
          <p:cNvPr id="24" name="Rectangle 23"/>
          <p:cNvSpPr/>
          <p:nvPr/>
        </p:nvSpPr>
        <p:spPr>
          <a:xfrm>
            <a:off x="7269480" y="3127248"/>
            <a:ext cx="109728" cy="4572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79" y="3108960"/>
            <a:ext cx="3200400" cy="274320"/>
          </a:xfrm>
          <a:prstGeom prst="rect">
            <a:avLst/>
          </a:prstGeom>
          <a:noFill/>
        </p:spPr>
        <p:txBody>
          <a:bodyPr wrap="square" anchor="t" lIns="0" rIns="0" tIns="0" bIns="0">
            <a:spAutoFit/>
          </a:bodyPr>
          <a:lstStyle/>
          <a:p>
            <a:pPr algn="l"/>
            <a:r>
              <a:rPr sz="1300" b="1">
                <a:solidFill>
                  <a:srgbClr val="0E2841"/>
                </a:solidFill>
                <a:latin typeface="Aptos"/>
              </a:rPr>
              <a:t>Documento técnico</a:t>
            </a:r>
          </a:p>
        </p:txBody>
      </p:sp>
      <p:sp>
        <p:nvSpPr>
          <p:cNvPr id="26" name="TextBox 25"/>
          <p:cNvSpPr txBox="1"/>
          <p:nvPr/>
        </p:nvSpPr>
        <p:spPr>
          <a:xfrm>
            <a:off x="7498079" y="3346704"/>
            <a:ext cx="3200400" cy="274320"/>
          </a:xfrm>
          <a:prstGeom prst="rect">
            <a:avLst/>
          </a:prstGeom>
          <a:noFill/>
        </p:spPr>
        <p:txBody>
          <a:bodyPr wrap="square" anchor="t" lIns="0" rIns="0" tIns="0" bIns="0">
            <a:spAutoFit/>
          </a:bodyPr>
          <a:lstStyle/>
          <a:p>
            <a:pPr algn="l"/>
            <a:r>
              <a:rPr sz="1150" b="0">
                <a:solidFill>
                  <a:srgbClr val="7A8B9E"/>
                </a:solidFill>
                <a:latin typeface="Aptos"/>
              </a:rPr>
              <a:t>≥ 2.000 palabras · APA · Arial 12</a:t>
            </a:r>
          </a:p>
        </p:txBody>
      </p:sp>
      <p:sp>
        <p:nvSpPr>
          <p:cNvPr id="27" name="Rectangle 26"/>
          <p:cNvSpPr/>
          <p:nvPr/>
        </p:nvSpPr>
        <p:spPr>
          <a:xfrm>
            <a:off x="7269480" y="3712463"/>
            <a:ext cx="109728" cy="4572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79" y="3694176"/>
            <a:ext cx="3200400" cy="274320"/>
          </a:xfrm>
          <a:prstGeom prst="rect">
            <a:avLst/>
          </a:prstGeom>
          <a:noFill/>
        </p:spPr>
        <p:txBody>
          <a:bodyPr wrap="square" anchor="t" lIns="0" rIns="0" tIns="0" bIns="0">
            <a:spAutoFit/>
          </a:bodyPr>
          <a:lstStyle/>
          <a:p>
            <a:pPr algn="l"/>
            <a:r>
              <a:rPr sz="1300" b="1">
                <a:solidFill>
                  <a:srgbClr val="0E2841"/>
                </a:solidFill>
                <a:latin typeface="Aptos"/>
              </a:rPr>
              <a:t>Repositorio</a:t>
            </a:r>
          </a:p>
        </p:txBody>
      </p:sp>
      <p:sp>
        <p:nvSpPr>
          <p:cNvPr id="29" name="TextBox 28"/>
          <p:cNvSpPr txBox="1"/>
          <p:nvPr/>
        </p:nvSpPr>
        <p:spPr>
          <a:xfrm>
            <a:off x="7498079" y="3931920"/>
            <a:ext cx="3200400" cy="274320"/>
          </a:xfrm>
          <a:prstGeom prst="rect">
            <a:avLst/>
          </a:prstGeom>
          <a:noFill/>
        </p:spPr>
        <p:txBody>
          <a:bodyPr wrap="square" anchor="t" lIns="0" rIns="0" tIns="0" bIns="0">
            <a:spAutoFit/>
          </a:bodyPr>
          <a:lstStyle/>
          <a:p>
            <a:pPr algn="l"/>
            <a:r>
              <a:rPr sz="1150" b="0">
                <a:solidFill>
                  <a:srgbClr val="7A8B9E"/>
                </a:solidFill>
                <a:latin typeface="Aptos"/>
              </a:rPr>
              <a:t>README y etiquetas v1 y v2</a:t>
            </a:r>
          </a:p>
        </p:txBody>
      </p:sp>
      <p:sp>
        <p:nvSpPr>
          <p:cNvPr id="30" name="Rectangle 29"/>
          <p:cNvSpPr/>
          <p:nvPr/>
        </p:nvSpPr>
        <p:spPr>
          <a:xfrm>
            <a:off x="7269480" y="4297680"/>
            <a:ext cx="109728"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79" y="4279392"/>
            <a:ext cx="3200400" cy="274320"/>
          </a:xfrm>
          <a:prstGeom prst="rect">
            <a:avLst/>
          </a:prstGeom>
          <a:noFill/>
        </p:spPr>
        <p:txBody>
          <a:bodyPr wrap="square" anchor="t" lIns="0" rIns="0" tIns="0" bIns="0">
            <a:spAutoFit/>
          </a:bodyPr>
          <a:lstStyle/>
          <a:p>
            <a:pPr algn="l"/>
            <a:r>
              <a:rPr sz="1300" b="1">
                <a:solidFill>
                  <a:srgbClr val="0E2841"/>
                </a:solidFill>
                <a:latin typeface="Aptos"/>
              </a:rPr>
              <a:t>Presentación</a:t>
            </a:r>
          </a:p>
        </p:txBody>
      </p:sp>
      <p:sp>
        <p:nvSpPr>
          <p:cNvPr id="32" name="TextBox 31"/>
          <p:cNvSpPr txBox="1"/>
          <p:nvPr/>
        </p:nvSpPr>
        <p:spPr>
          <a:xfrm>
            <a:off x="7498079" y="4517136"/>
            <a:ext cx="3200400" cy="274320"/>
          </a:xfrm>
          <a:prstGeom prst="rect">
            <a:avLst/>
          </a:prstGeom>
          <a:noFill/>
        </p:spPr>
        <p:txBody>
          <a:bodyPr wrap="square" anchor="t" lIns="0" rIns="0" tIns="0" bIns="0">
            <a:spAutoFit/>
          </a:bodyPr>
          <a:lstStyle/>
          <a:p>
            <a:pPr algn="l"/>
            <a:r>
              <a:rPr sz="1150" b="0">
                <a:solidFill>
                  <a:srgbClr val="7A8B9E"/>
                </a:solidFill>
                <a:latin typeface="Aptos"/>
              </a:rPr>
              <a:t>la de la sustentación</a:t>
            </a:r>
          </a:p>
        </p:txBody>
      </p:sp>
      <p:sp>
        <p:nvSpPr>
          <p:cNvPr id="33" name="Rounded Rectangle 32"/>
          <p:cNvSpPr/>
          <p:nvPr/>
        </p:nvSpPr>
        <p:spPr>
          <a:xfrm>
            <a:off x="822960" y="5669280"/>
            <a:ext cx="10515600" cy="59436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7280" y="5669280"/>
            <a:ext cx="9966960" cy="594360"/>
          </a:xfrm>
          <a:prstGeom prst="rect">
            <a:avLst/>
          </a:prstGeom>
          <a:noFill/>
        </p:spPr>
        <p:txBody>
          <a:bodyPr wrap="square" anchor="ctr" lIns="0" rIns="0" tIns="0" bIns="0">
            <a:spAutoFit/>
          </a:bodyPr>
          <a:lstStyle/>
          <a:p>
            <a:pPr algn="ctr"/>
            <a:r>
              <a:rPr sz="1500" b="1">
                <a:solidFill>
                  <a:srgbClr val="FFFFFF"/>
                </a:solidFill>
                <a:latin typeface="Aptos"/>
              </a:rPr>
              <a:t>La pestaña ESTUDIANTE lleva identificaciones: el FO-IV-159 va solo en Moodle, nunca en el repositorio.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anchor="t" lIns="0" rIns="0" tIns="0" bIns="0">
            <a:spAutoFit/>
          </a:bodyPr>
          <a:lstStyle/>
          <a:p>
            <a:pPr algn="l"/>
            <a:r>
              <a:rPr sz="1300" b="1">
                <a:solidFill>
                  <a:srgbClr val="009540"/>
                </a:solidFill>
                <a:latin typeface="Aptos"/>
              </a:rPr>
              <a:t>La sustentación, a escala</a:t>
            </a:r>
          </a:p>
        </p:txBody>
      </p:sp>
      <p:sp>
        <p:nvSpPr>
          <p:cNvPr id="3" name="TextBox 2"/>
          <p:cNvSpPr txBox="1"/>
          <p:nvPr/>
        </p:nvSpPr>
        <p:spPr>
          <a:xfrm>
            <a:off x="640080" y="640080"/>
            <a:ext cx="9144000" cy="731520"/>
          </a:xfrm>
          <a:prstGeom prst="rect">
            <a:avLst/>
          </a:prstGeom>
          <a:noFill/>
        </p:spPr>
        <p:txBody>
          <a:bodyPr wrap="square" anchor="t" lIns="0" rIns="0" tIns="0" bIns="0">
            <a:spAutoFit/>
          </a:bodyPr>
          <a:lstStyle/>
          <a:p>
            <a:pPr algn="l"/>
            <a:r>
              <a:rPr sz="3200" b="1">
                <a:solidFill>
                  <a:srgbClr val="0E2841"/>
                </a:solidFill>
                <a:latin typeface="Aptos Display"/>
              </a:rPr>
              <a:t>Ocho minutos el martes 3 de noviembre</a:t>
            </a:r>
          </a:p>
        </p:txBody>
      </p:sp>
      <p:pic>
        <p:nvPicPr>
          <p:cNvPr id="4" name="Picture 3" descr="LOGO-CORHUILA-COLOR.png"/>
          <p:cNvPicPr>
            <a:picLocks noChangeAspect="1"/>
          </p:cNvPicPr>
          <p:nvPr/>
        </p:nvPicPr>
        <p:blipFill>
          <a:blip r:embed="rId2"/>
          <a:stretch>
            <a:fillRect/>
          </a:stretch>
        </p:blipFill>
        <p:spPr>
          <a:xfrm>
            <a:off x="11049000" y="365760"/>
            <a:ext cx="640080" cy="640080"/>
          </a:xfrm>
          <a:prstGeom prst="rect">
            <a:avLst/>
          </a:prstGeom>
        </p:spPr>
      </p:pic>
      <p:sp>
        <p:nvSpPr>
          <p:cNvPr id="5" name="TextBox 4"/>
          <p:cNvSpPr txBox="1"/>
          <p:nvPr/>
        </p:nvSpPr>
        <p:spPr>
          <a:xfrm>
            <a:off x="640080" y="6455664"/>
            <a:ext cx="7315200" cy="228600"/>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Encuentro 4 · Asesoría</a:t>
            </a:r>
          </a:p>
        </p:txBody>
      </p:sp>
      <p:sp>
        <p:nvSpPr>
          <p:cNvPr id="6" name="TextBox 5"/>
          <p:cNvSpPr txBox="1"/>
          <p:nvPr/>
        </p:nvSpPr>
        <p:spPr>
          <a:xfrm>
            <a:off x="10881360" y="6455664"/>
            <a:ext cx="731520" cy="228600"/>
          </a:xfrm>
          <a:prstGeom prst="rect">
            <a:avLst/>
          </a:prstGeom>
          <a:noFill/>
        </p:spPr>
        <p:txBody>
          <a:bodyPr wrap="square" anchor="t" lIns="0" rIns="0" tIns="0" bIns="0">
            <a:spAutoFit/>
          </a:bodyPr>
          <a:lstStyle/>
          <a:p>
            <a:pPr algn="r"/>
            <a:r>
              <a:rPr sz="950" b="0">
                <a:solidFill>
                  <a:srgbClr val="7A8B9E"/>
                </a:solidFill>
                <a:latin typeface="Aptos"/>
              </a:rPr>
              <a:t>8</a:t>
            </a:r>
          </a:p>
        </p:txBody>
      </p:sp>
      <p:sp>
        <p:nvSpPr>
          <p:cNvPr id="7" name="Rectangle 6"/>
          <p:cNvSpPr/>
          <p:nvPr/>
        </p:nvSpPr>
        <p:spPr>
          <a:xfrm>
            <a:off x="841248" y="2743200"/>
            <a:ext cx="620649" cy="9601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743200"/>
            <a:ext cx="657225" cy="960120"/>
          </a:xfrm>
          <a:prstGeom prst="rect">
            <a:avLst/>
          </a:prstGeom>
          <a:noFill/>
        </p:spPr>
        <p:txBody>
          <a:bodyPr wrap="square" anchor="ctr" lIns="0" rIns="0" tIns="0" bIns="0">
            <a:spAutoFit/>
          </a:bodyPr>
          <a:lstStyle/>
          <a:p>
            <a:pPr algn="ctr"/>
            <a:r>
              <a:rPr sz="1200" b="1">
                <a:solidFill>
                  <a:srgbClr val="FFFFFF"/>
                </a:solidFill>
                <a:latin typeface="Aptos"/>
              </a:rPr>
              <a:t>Reto</a:t>
            </a:r>
          </a:p>
        </p:txBody>
      </p:sp>
      <p:sp>
        <p:nvSpPr>
          <p:cNvPr id="9" name="TextBox 8"/>
          <p:cNvSpPr txBox="1"/>
          <p:nvPr/>
        </p:nvSpPr>
        <p:spPr>
          <a:xfrm>
            <a:off x="822960" y="3776472"/>
            <a:ext cx="657225" cy="274320"/>
          </a:xfrm>
          <a:prstGeom prst="rect">
            <a:avLst/>
          </a:prstGeom>
          <a:noFill/>
        </p:spPr>
        <p:txBody>
          <a:bodyPr wrap="square" anchor="t" lIns="0" rIns="0" tIns="0" bIns="0">
            <a:spAutoFit/>
          </a:bodyPr>
          <a:lstStyle/>
          <a:p>
            <a:pPr algn="ctr"/>
            <a:r>
              <a:rPr sz="1200" b="1">
                <a:solidFill>
                  <a:srgbClr val="7A8B9E"/>
                </a:solidFill>
                <a:latin typeface="Aptos"/>
              </a:rPr>
              <a:t>30 s</a:t>
            </a:r>
          </a:p>
        </p:txBody>
      </p:sp>
      <p:sp>
        <p:nvSpPr>
          <p:cNvPr id="10" name="Rectangle 9"/>
          <p:cNvSpPr/>
          <p:nvPr/>
        </p:nvSpPr>
        <p:spPr>
          <a:xfrm>
            <a:off x="1498473" y="2743200"/>
            <a:ext cx="1277874" cy="9601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80185" y="2743200"/>
            <a:ext cx="1314450" cy="960120"/>
          </a:xfrm>
          <a:prstGeom prst="rect">
            <a:avLst/>
          </a:prstGeom>
          <a:noFill/>
        </p:spPr>
        <p:txBody>
          <a:bodyPr wrap="square" anchor="ctr" lIns="0" rIns="0" tIns="0" bIns="0">
            <a:spAutoFit/>
          </a:bodyPr>
          <a:lstStyle/>
          <a:p>
            <a:pPr algn="ctr"/>
            <a:r>
              <a:rPr sz="1500" b="1">
                <a:solidFill>
                  <a:srgbClr val="FFFFFF"/>
                </a:solidFill>
                <a:latin typeface="Aptos"/>
              </a:rPr>
              <a:t>v1</a:t>
            </a:r>
          </a:p>
        </p:txBody>
      </p:sp>
      <p:sp>
        <p:nvSpPr>
          <p:cNvPr id="12" name="TextBox 11"/>
          <p:cNvSpPr txBox="1"/>
          <p:nvPr/>
        </p:nvSpPr>
        <p:spPr>
          <a:xfrm>
            <a:off x="1480185" y="3776472"/>
            <a:ext cx="1314450" cy="274320"/>
          </a:xfrm>
          <a:prstGeom prst="rect">
            <a:avLst/>
          </a:prstGeom>
          <a:noFill/>
        </p:spPr>
        <p:txBody>
          <a:bodyPr wrap="square" anchor="t" lIns="0" rIns="0" tIns="0" bIns="0">
            <a:spAutoFit/>
          </a:bodyPr>
          <a:lstStyle/>
          <a:p>
            <a:pPr algn="ctr"/>
            <a:r>
              <a:rPr sz="1200" b="1">
                <a:solidFill>
                  <a:srgbClr val="7A8B9E"/>
                </a:solidFill>
                <a:latin typeface="Aptos"/>
              </a:rPr>
              <a:t>1 min</a:t>
            </a:r>
          </a:p>
        </p:txBody>
      </p:sp>
      <p:sp>
        <p:nvSpPr>
          <p:cNvPr id="13" name="Rectangle 12"/>
          <p:cNvSpPr/>
          <p:nvPr/>
        </p:nvSpPr>
        <p:spPr>
          <a:xfrm>
            <a:off x="2812923" y="2743200"/>
            <a:ext cx="1277874" cy="96012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94635" y="2743200"/>
            <a:ext cx="1314450" cy="960120"/>
          </a:xfrm>
          <a:prstGeom prst="rect">
            <a:avLst/>
          </a:prstGeom>
          <a:noFill/>
        </p:spPr>
        <p:txBody>
          <a:bodyPr wrap="square" anchor="ctr" lIns="0" rIns="0" tIns="0" bIns="0">
            <a:spAutoFit/>
          </a:bodyPr>
          <a:lstStyle/>
          <a:p>
            <a:pPr algn="ctr"/>
            <a:r>
              <a:rPr sz="1500" b="1">
                <a:solidFill>
                  <a:srgbClr val="FFFFFF"/>
                </a:solidFill>
                <a:latin typeface="Aptos"/>
              </a:rPr>
              <a:t>Decisión</a:t>
            </a:r>
          </a:p>
        </p:txBody>
      </p:sp>
      <p:sp>
        <p:nvSpPr>
          <p:cNvPr id="15" name="TextBox 14"/>
          <p:cNvSpPr txBox="1"/>
          <p:nvPr/>
        </p:nvSpPr>
        <p:spPr>
          <a:xfrm>
            <a:off x="2794635" y="3776472"/>
            <a:ext cx="1314450" cy="274320"/>
          </a:xfrm>
          <a:prstGeom prst="rect">
            <a:avLst/>
          </a:prstGeom>
          <a:noFill/>
        </p:spPr>
        <p:txBody>
          <a:bodyPr wrap="square" anchor="t" lIns="0" rIns="0" tIns="0" bIns="0">
            <a:spAutoFit/>
          </a:bodyPr>
          <a:lstStyle/>
          <a:p>
            <a:pPr algn="ctr"/>
            <a:r>
              <a:rPr sz="1200" b="1">
                <a:solidFill>
                  <a:srgbClr val="7A8B9E"/>
                </a:solidFill>
                <a:latin typeface="Aptos"/>
              </a:rPr>
              <a:t>1 min</a:t>
            </a:r>
          </a:p>
        </p:txBody>
      </p:sp>
      <p:sp>
        <p:nvSpPr>
          <p:cNvPr id="16" name="Rectangle 15"/>
          <p:cNvSpPr/>
          <p:nvPr/>
        </p:nvSpPr>
        <p:spPr>
          <a:xfrm>
            <a:off x="4127373" y="2743200"/>
            <a:ext cx="1935099" cy="96012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09085" y="2743200"/>
            <a:ext cx="1971675" cy="960120"/>
          </a:xfrm>
          <a:prstGeom prst="rect">
            <a:avLst/>
          </a:prstGeom>
          <a:noFill/>
        </p:spPr>
        <p:txBody>
          <a:bodyPr wrap="square" anchor="ctr" lIns="0" rIns="0" tIns="0" bIns="0">
            <a:spAutoFit/>
          </a:bodyPr>
          <a:lstStyle/>
          <a:p>
            <a:pPr algn="ctr"/>
            <a:r>
              <a:rPr sz="1500" b="1">
                <a:solidFill>
                  <a:srgbClr val="FFFFFF"/>
                </a:solidFill>
                <a:latin typeface="Aptos"/>
              </a:rPr>
              <a:t>v2</a:t>
            </a:r>
          </a:p>
        </p:txBody>
      </p:sp>
      <p:sp>
        <p:nvSpPr>
          <p:cNvPr id="18" name="TextBox 17"/>
          <p:cNvSpPr txBox="1"/>
          <p:nvPr/>
        </p:nvSpPr>
        <p:spPr>
          <a:xfrm>
            <a:off x="4109085" y="3776472"/>
            <a:ext cx="1971675" cy="274320"/>
          </a:xfrm>
          <a:prstGeom prst="rect">
            <a:avLst/>
          </a:prstGeom>
          <a:noFill/>
        </p:spPr>
        <p:txBody>
          <a:bodyPr wrap="square" anchor="t" lIns="0" rIns="0" tIns="0" bIns="0">
            <a:spAutoFit/>
          </a:bodyPr>
          <a:lstStyle/>
          <a:p>
            <a:pPr algn="ctr"/>
            <a:r>
              <a:rPr sz="1200" b="1">
                <a:solidFill>
                  <a:srgbClr val="7A8B9E"/>
                </a:solidFill>
                <a:latin typeface="Aptos"/>
              </a:rPr>
              <a:t>1 min 30 s</a:t>
            </a:r>
          </a:p>
        </p:txBody>
      </p:sp>
      <p:sp>
        <p:nvSpPr>
          <p:cNvPr id="19" name="Rectangle 18"/>
          <p:cNvSpPr/>
          <p:nvPr/>
        </p:nvSpPr>
        <p:spPr>
          <a:xfrm>
            <a:off x="6099048" y="2743200"/>
            <a:ext cx="1277874" cy="9601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80760" y="2743200"/>
            <a:ext cx="1314450" cy="960120"/>
          </a:xfrm>
          <a:prstGeom prst="rect">
            <a:avLst/>
          </a:prstGeom>
          <a:noFill/>
        </p:spPr>
        <p:txBody>
          <a:bodyPr wrap="square" anchor="ctr" lIns="0" rIns="0" tIns="0" bIns="0">
            <a:spAutoFit/>
          </a:bodyPr>
          <a:lstStyle/>
          <a:p>
            <a:pPr algn="ctr"/>
            <a:r>
              <a:rPr sz="1500" b="1">
                <a:solidFill>
                  <a:srgbClr val="FFFFFF"/>
                </a:solidFill>
                <a:latin typeface="Aptos"/>
              </a:rPr>
              <a:t>Comparación</a:t>
            </a:r>
          </a:p>
        </p:txBody>
      </p:sp>
      <p:sp>
        <p:nvSpPr>
          <p:cNvPr id="21" name="TextBox 20"/>
          <p:cNvSpPr txBox="1"/>
          <p:nvPr/>
        </p:nvSpPr>
        <p:spPr>
          <a:xfrm>
            <a:off x="6080760" y="3776472"/>
            <a:ext cx="1314450" cy="274320"/>
          </a:xfrm>
          <a:prstGeom prst="rect">
            <a:avLst/>
          </a:prstGeom>
          <a:noFill/>
        </p:spPr>
        <p:txBody>
          <a:bodyPr wrap="square" anchor="t" lIns="0" rIns="0" tIns="0" bIns="0">
            <a:spAutoFit/>
          </a:bodyPr>
          <a:lstStyle/>
          <a:p>
            <a:pPr algn="ctr"/>
            <a:r>
              <a:rPr sz="1200" b="1">
                <a:solidFill>
                  <a:srgbClr val="7A8B9E"/>
                </a:solidFill>
                <a:latin typeface="Aptos"/>
              </a:rPr>
              <a:t>1 min</a:t>
            </a:r>
          </a:p>
        </p:txBody>
      </p:sp>
      <p:sp>
        <p:nvSpPr>
          <p:cNvPr id="22" name="Rectangle 21"/>
          <p:cNvSpPr/>
          <p:nvPr/>
        </p:nvSpPr>
        <p:spPr>
          <a:xfrm>
            <a:off x="7413498" y="2743200"/>
            <a:ext cx="3906774" cy="96012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95210" y="2743200"/>
            <a:ext cx="3943350" cy="960120"/>
          </a:xfrm>
          <a:prstGeom prst="rect">
            <a:avLst/>
          </a:prstGeom>
          <a:noFill/>
        </p:spPr>
        <p:txBody>
          <a:bodyPr wrap="square" anchor="ctr" lIns="0" rIns="0" tIns="0" bIns="0">
            <a:spAutoFit/>
          </a:bodyPr>
          <a:lstStyle/>
          <a:p>
            <a:pPr algn="ctr"/>
            <a:r>
              <a:rPr sz="1500" b="1">
                <a:solidFill>
                  <a:srgbClr val="FFFFFF"/>
                </a:solidFill>
                <a:latin typeface="Aptos"/>
              </a:rPr>
              <a:t>Preguntas</a:t>
            </a:r>
          </a:p>
        </p:txBody>
      </p:sp>
      <p:sp>
        <p:nvSpPr>
          <p:cNvPr id="24" name="TextBox 23"/>
          <p:cNvSpPr txBox="1"/>
          <p:nvPr/>
        </p:nvSpPr>
        <p:spPr>
          <a:xfrm>
            <a:off x="7395210" y="3776472"/>
            <a:ext cx="3943350" cy="274320"/>
          </a:xfrm>
          <a:prstGeom prst="rect">
            <a:avLst/>
          </a:prstGeom>
          <a:noFill/>
        </p:spPr>
        <p:txBody>
          <a:bodyPr wrap="square" anchor="t" lIns="0" rIns="0" tIns="0" bIns="0">
            <a:spAutoFit/>
          </a:bodyPr>
          <a:lstStyle/>
          <a:p>
            <a:pPr algn="ctr"/>
            <a:r>
              <a:rPr sz="1200" b="1">
                <a:solidFill>
                  <a:srgbClr val="7A8B9E"/>
                </a:solidFill>
                <a:latin typeface="Aptos"/>
              </a:rPr>
              <a:t>3 min</a:t>
            </a:r>
          </a:p>
        </p:txBody>
      </p:sp>
      <p:cxnSp>
        <p:nvCxnSpPr>
          <p:cNvPr id="25" name="Connector 24"/>
          <p:cNvCxnSpPr/>
          <p:nvPr/>
        </p:nvCxnSpPr>
        <p:spPr>
          <a:xfrm>
            <a:off x="822960" y="2377440"/>
            <a:ext cx="6526530" cy="0"/>
          </a:xfrm>
          <a:prstGeom prst="line">
            <a:avLst/>
          </a:prstGeom>
          <a:ln w="25400">
            <a:solidFill>
              <a:srgbClr val="0E2841"/>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22960" y="1920240"/>
            <a:ext cx="6572250" cy="365760"/>
          </a:xfrm>
          <a:prstGeom prst="rect">
            <a:avLst/>
          </a:prstGeom>
          <a:noFill/>
        </p:spPr>
        <p:txBody>
          <a:bodyPr wrap="square" anchor="t" lIns="0" rIns="0" tIns="0" bIns="0">
            <a:spAutoFit/>
          </a:bodyPr>
          <a:lstStyle/>
          <a:p>
            <a:pPr algn="ctr"/>
            <a:r>
              <a:rPr sz="1500" b="1">
                <a:solidFill>
                  <a:srgbClr val="0E2841"/>
                </a:solidFill>
                <a:latin typeface="Aptos"/>
              </a:rPr>
              <a:t>5 minutos de exposición</a:t>
            </a:r>
          </a:p>
        </p:txBody>
      </p:sp>
      <p:cxnSp>
        <p:nvCxnSpPr>
          <p:cNvPr id="27" name="Connector 26"/>
          <p:cNvCxnSpPr/>
          <p:nvPr/>
        </p:nvCxnSpPr>
        <p:spPr>
          <a:xfrm>
            <a:off x="7440930" y="2377440"/>
            <a:ext cx="3897630" cy="0"/>
          </a:xfrm>
          <a:prstGeom prst="line">
            <a:avLst/>
          </a:prstGeom>
          <a:ln w="25400">
            <a:solidFill>
              <a:srgbClr val="7A8B9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395210" y="1920240"/>
            <a:ext cx="3943350" cy="365760"/>
          </a:xfrm>
          <a:prstGeom prst="rect">
            <a:avLst/>
          </a:prstGeom>
          <a:noFill/>
        </p:spPr>
        <p:txBody>
          <a:bodyPr wrap="square" anchor="t" lIns="0" rIns="0" tIns="0" bIns="0">
            <a:spAutoFit/>
          </a:bodyPr>
          <a:lstStyle/>
          <a:p>
            <a:pPr algn="ctr"/>
            <a:r>
              <a:rPr sz="1500" b="1">
                <a:solidFill>
                  <a:srgbClr val="7A8B9E"/>
                </a:solidFill>
                <a:latin typeface="Aptos"/>
              </a:rPr>
              <a:t>3 minutos de preguntas</a:t>
            </a:r>
          </a:p>
        </p:txBody>
      </p:sp>
      <p:sp>
        <p:nvSpPr>
          <p:cNvPr id="29" name="Oval 28"/>
          <p:cNvSpPr/>
          <p:nvPr/>
        </p:nvSpPr>
        <p:spPr>
          <a:xfrm>
            <a:off x="822960" y="4343400"/>
            <a:ext cx="201168" cy="201168"/>
          </a:xfrm>
          <a:prstGeom prst="ellipse">
            <a:avLst/>
          </a:prstGeom>
          <a:solidFill>
            <a:srgbClr val="156082"/>
          </a:solidFill>
          <a:ln w="1270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15568" y="4279392"/>
            <a:ext cx="1783080" cy="320040"/>
          </a:xfrm>
          <a:prstGeom prst="rect">
            <a:avLst/>
          </a:prstGeom>
          <a:noFill/>
        </p:spPr>
        <p:txBody>
          <a:bodyPr wrap="square" anchor="t" lIns="0" rIns="0" tIns="0" bIns="0">
            <a:spAutoFit/>
          </a:bodyPr>
          <a:lstStyle/>
          <a:p>
            <a:pPr algn="l"/>
            <a:r>
              <a:rPr sz="1300" b="1">
                <a:solidFill>
                  <a:srgbClr val="0E2841"/>
                </a:solidFill>
                <a:latin typeface="Aptos"/>
              </a:rPr>
              <a:t>Reto</a:t>
            </a:r>
          </a:p>
        </p:txBody>
      </p:sp>
      <p:sp>
        <p:nvSpPr>
          <p:cNvPr id="31" name="TextBox 30"/>
          <p:cNvSpPr txBox="1"/>
          <p:nvPr/>
        </p:nvSpPr>
        <p:spPr>
          <a:xfrm>
            <a:off x="1115568" y="4572000"/>
            <a:ext cx="1783080" cy="548640"/>
          </a:xfrm>
          <a:prstGeom prst="rect">
            <a:avLst/>
          </a:prstGeom>
          <a:noFill/>
        </p:spPr>
        <p:txBody>
          <a:bodyPr wrap="square" anchor="t" lIns="0" rIns="0" tIns="0" bIns="0">
            <a:spAutoFit/>
          </a:bodyPr>
          <a:lstStyle/>
          <a:p>
            <a:pPr algn="l"/>
            <a:r>
              <a:rPr sz="1200" b="0">
                <a:solidFill>
                  <a:srgbClr val="33475B"/>
                </a:solidFill>
                <a:latin typeface="Aptos"/>
              </a:rPr>
              <a:t>problema, pregunta y atributo que manda</a:t>
            </a:r>
          </a:p>
        </p:txBody>
      </p:sp>
      <p:sp>
        <p:nvSpPr>
          <p:cNvPr id="32" name="Oval 31"/>
          <p:cNvSpPr/>
          <p:nvPr/>
        </p:nvSpPr>
        <p:spPr>
          <a:xfrm>
            <a:off x="2926079" y="4343400"/>
            <a:ext cx="201168" cy="201168"/>
          </a:xfrm>
          <a:prstGeom prst="ellipse">
            <a:avLst/>
          </a:prstGeom>
          <a:solidFill>
            <a:srgbClr val="156082"/>
          </a:solidFill>
          <a:ln w="1270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18687" y="4279392"/>
            <a:ext cx="1783080" cy="320040"/>
          </a:xfrm>
          <a:prstGeom prst="rect">
            <a:avLst/>
          </a:prstGeom>
          <a:noFill/>
        </p:spPr>
        <p:txBody>
          <a:bodyPr wrap="square" anchor="t" lIns="0" rIns="0" tIns="0" bIns="0">
            <a:spAutoFit/>
          </a:bodyPr>
          <a:lstStyle/>
          <a:p>
            <a:pPr algn="l"/>
            <a:r>
              <a:rPr sz="1300" b="1">
                <a:solidFill>
                  <a:srgbClr val="0E2841"/>
                </a:solidFill>
                <a:latin typeface="Aptos"/>
              </a:rPr>
              <a:t>v1</a:t>
            </a:r>
          </a:p>
        </p:txBody>
      </p:sp>
      <p:sp>
        <p:nvSpPr>
          <p:cNvPr id="34" name="TextBox 33"/>
          <p:cNvSpPr txBox="1"/>
          <p:nvPr/>
        </p:nvSpPr>
        <p:spPr>
          <a:xfrm>
            <a:off x="3218687" y="4572000"/>
            <a:ext cx="1783080" cy="548640"/>
          </a:xfrm>
          <a:prstGeom prst="rect">
            <a:avLst/>
          </a:prstGeom>
          <a:noFill/>
        </p:spPr>
        <p:txBody>
          <a:bodyPr wrap="square" anchor="t" lIns="0" rIns="0" tIns="0" bIns="0">
            <a:spAutoFit/>
          </a:bodyPr>
          <a:lstStyle/>
          <a:p>
            <a:pPr algn="l"/>
            <a:r>
              <a:rPr sz="1200" b="0">
                <a:solidFill>
                  <a:srgbClr val="33475B"/>
                </a:solidFill>
                <a:latin typeface="Aptos"/>
              </a:rPr>
              <a:t>patrón clásico y su límite</a:t>
            </a:r>
          </a:p>
        </p:txBody>
      </p:sp>
      <p:sp>
        <p:nvSpPr>
          <p:cNvPr id="35" name="Oval 34"/>
          <p:cNvSpPr/>
          <p:nvPr/>
        </p:nvSpPr>
        <p:spPr>
          <a:xfrm>
            <a:off x="5029200" y="4343400"/>
            <a:ext cx="201168" cy="201168"/>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21808" y="4279392"/>
            <a:ext cx="1783080" cy="320040"/>
          </a:xfrm>
          <a:prstGeom prst="rect">
            <a:avLst/>
          </a:prstGeom>
          <a:noFill/>
        </p:spPr>
        <p:txBody>
          <a:bodyPr wrap="square" anchor="t" lIns="0" rIns="0" tIns="0" bIns="0">
            <a:spAutoFit/>
          </a:bodyPr>
          <a:lstStyle/>
          <a:p>
            <a:pPr algn="l"/>
            <a:r>
              <a:rPr sz="1300" b="1">
                <a:solidFill>
                  <a:srgbClr val="0E2841"/>
                </a:solidFill>
                <a:latin typeface="Aptos"/>
              </a:rPr>
              <a:t>Decisión</a:t>
            </a:r>
          </a:p>
        </p:txBody>
      </p:sp>
      <p:sp>
        <p:nvSpPr>
          <p:cNvPr id="37" name="TextBox 36"/>
          <p:cNvSpPr txBox="1"/>
          <p:nvPr/>
        </p:nvSpPr>
        <p:spPr>
          <a:xfrm>
            <a:off x="5321808" y="4572000"/>
            <a:ext cx="1783080" cy="548640"/>
          </a:xfrm>
          <a:prstGeom prst="rect">
            <a:avLst/>
          </a:prstGeom>
          <a:noFill/>
        </p:spPr>
        <p:txBody>
          <a:bodyPr wrap="square" anchor="t" lIns="0" rIns="0" tIns="0" bIns="0">
            <a:spAutoFit/>
          </a:bodyPr>
          <a:lstStyle/>
          <a:p>
            <a:pPr algn="l"/>
            <a:r>
              <a:rPr sz="1200" b="0">
                <a:solidFill>
                  <a:srgbClr val="33475B"/>
                </a:solidFill>
                <a:latin typeface="Aptos"/>
              </a:rPr>
              <a:t>alternativas y por qué ganó</a:t>
            </a:r>
          </a:p>
        </p:txBody>
      </p:sp>
      <p:sp>
        <p:nvSpPr>
          <p:cNvPr id="38" name="Oval 37"/>
          <p:cNvSpPr/>
          <p:nvPr/>
        </p:nvSpPr>
        <p:spPr>
          <a:xfrm>
            <a:off x="7132320" y="4343400"/>
            <a:ext cx="201168" cy="201168"/>
          </a:xfrm>
          <a:prstGeom prst="ellipse">
            <a:avLst/>
          </a:prstGeom>
          <a:solidFill>
            <a:srgbClr val="009540"/>
          </a:solidFill>
          <a:ln w="12700">
            <a:solidFill>
              <a:srgbClr val="009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24927" y="4279392"/>
            <a:ext cx="1783080" cy="320040"/>
          </a:xfrm>
          <a:prstGeom prst="rect">
            <a:avLst/>
          </a:prstGeom>
          <a:noFill/>
        </p:spPr>
        <p:txBody>
          <a:bodyPr wrap="square" anchor="t" lIns="0" rIns="0" tIns="0" bIns="0">
            <a:spAutoFit/>
          </a:bodyPr>
          <a:lstStyle/>
          <a:p>
            <a:pPr algn="l"/>
            <a:r>
              <a:rPr sz="1300" b="1">
                <a:solidFill>
                  <a:srgbClr val="0E2841"/>
                </a:solidFill>
                <a:latin typeface="Aptos"/>
              </a:rPr>
              <a:t>v2</a:t>
            </a:r>
          </a:p>
        </p:txBody>
      </p:sp>
      <p:sp>
        <p:nvSpPr>
          <p:cNvPr id="40" name="TextBox 39"/>
          <p:cNvSpPr txBox="1"/>
          <p:nvPr/>
        </p:nvSpPr>
        <p:spPr>
          <a:xfrm>
            <a:off x="7424927" y="4572000"/>
            <a:ext cx="1783080" cy="548640"/>
          </a:xfrm>
          <a:prstGeom prst="rect">
            <a:avLst/>
          </a:prstGeom>
          <a:noFill/>
        </p:spPr>
        <p:txBody>
          <a:bodyPr wrap="square" anchor="t" lIns="0" rIns="0" tIns="0" bIns="0">
            <a:spAutoFit/>
          </a:bodyPr>
          <a:lstStyle/>
          <a:p>
            <a:pPr algn="l"/>
            <a:r>
              <a:rPr sz="1200" b="0">
                <a:solidFill>
                  <a:srgbClr val="33475B"/>
                </a:solidFill>
                <a:latin typeface="Aptos"/>
              </a:rPr>
              <a:t>arquitectura y demo corta</a:t>
            </a:r>
          </a:p>
        </p:txBody>
      </p:sp>
      <p:sp>
        <p:nvSpPr>
          <p:cNvPr id="41" name="Oval 40"/>
          <p:cNvSpPr/>
          <p:nvPr/>
        </p:nvSpPr>
        <p:spPr>
          <a:xfrm>
            <a:off x="9235440" y="4343400"/>
            <a:ext cx="201168" cy="201168"/>
          </a:xfrm>
          <a:prstGeom prst="ellipse">
            <a:avLst/>
          </a:prstGeom>
          <a:solidFill>
            <a:srgbClr val="E97132"/>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528048" y="4279392"/>
            <a:ext cx="1783080" cy="320040"/>
          </a:xfrm>
          <a:prstGeom prst="rect">
            <a:avLst/>
          </a:prstGeom>
          <a:noFill/>
        </p:spPr>
        <p:txBody>
          <a:bodyPr wrap="square" anchor="t" lIns="0" rIns="0" tIns="0" bIns="0">
            <a:spAutoFit/>
          </a:bodyPr>
          <a:lstStyle/>
          <a:p>
            <a:pPr algn="l"/>
            <a:r>
              <a:rPr sz="1300" b="1">
                <a:solidFill>
                  <a:srgbClr val="0E2841"/>
                </a:solidFill>
                <a:latin typeface="Aptos"/>
              </a:rPr>
              <a:t>Comparación</a:t>
            </a:r>
          </a:p>
        </p:txBody>
      </p:sp>
      <p:sp>
        <p:nvSpPr>
          <p:cNvPr id="43" name="TextBox 42"/>
          <p:cNvSpPr txBox="1"/>
          <p:nvPr/>
        </p:nvSpPr>
        <p:spPr>
          <a:xfrm>
            <a:off x="9528048" y="4572000"/>
            <a:ext cx="1783080" cy="548640"/>
          </a:xfrm>
          <a:prstGeom prst="rect">
            <a:avLst/>
          </a:prstGeom>
          <a:noFill/>
        </p:spPr>
        <p:txBody>
          <a:bodyPr wrap="square" anchor="t" lIns="0" rIns="0" tIns="0" bIns="0">
            <a:spAutoFit/>
          </a:bodyPr>
          <a:lstStyle/>
          <a:p>
            <a:pPr algn="l"/>
            <a:r>
              <a:rPr sz="1200" b="0">
                <a:solidFill>
                  <a:srgbClr val="33475B"/>
                </a:solidFill>
                <a:latin typeface="Aptos"/>
              </a:rPr>
              <a:t>métricas v1 frente a v2</a:t>
            </a:r>
          </a:p>
        </p:txBody>
      </p:sp>
      <p:sp>
        <p:nvSpPr>
          <p:cNvPr id="44" name="Rounded Rectangle 43"/>
          <p:cNvSpPr/>
          <p:nvPr/>
        </p:nvSpPr>
        <p:spPr>
          <a:xfrm>
            <a:off x="822960" y="5532120"/>
            <a:ext cx="10515600" cy="731520"/>
          </a:xfrm>
          <a:prstGeom prst="round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532120"/>
            <a:ext cx="9966960" cy="731520"/>
          </a:xfrm>
          <a:prstGeom prst="rect">
            <a:avLst/>
          </a:prstGeom>
          <a:noFill/>
        </p:spPr>
        <p:txBody>
          <a:bodyPr wrap="square" anchor="ctr" lIns="0" rIns="0" tIns="0" bIns="0">
            <a:spAutoFit/>
          </a:bodyPr>
          <a:lstStyle/>
          <a:p>
            <a:pPr algn="ctr"/>
            <a:r>
              <a:rPr sz="1400" b="0">
                <a:solidFill>
                  <a:srgbClr val="0E2841"/>
                </a:solidFill>
                <a:latin typeface="Aptos"/>
              </a:rPr>
              <a:t>Si el encuentro no alcanza para todos: video de 5 minutos con la misma estructura, enlazado en el Anexo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anchor="t" lIns="0" rIns="0" tIns="0" bIns="0">
            <a:spAutoFit/>
          </a:bodyPr>
          <a:lstStyle/>
          <a:p>
            <a:pPr algn="l"/>
            <a:r>
              <a:rPr sz="1300" b="1">
                <a:solidFill>
                  <a:srgbClr val="009540"/>
                </a:solidFill>
                <a:latin typeface="Aptos"/>
              </a:rPr>
              <a:t>Prepárelas desde hoy</a:t>
            </a:r>
          </a:p>
        </p:txBody>
      </p:sp>
      <p:sp>
        <p:nvSpPr>
          <p:cNvPr id="3" name="TextBox 2"/>
          <p:cNvSpPr txBox="1"/>
          <p:nvPr/>
        </p:nvSpPr>
        <p:spPr>
          <a:xfrm>
            <a:off x="640080" y="640080"/>
            <a:ext cx="9144000" cy="731520"/>
          </a:xfrm>
          <a:prstGeom prst="rect">
            <a:avLst/>
          </a:prstGeom>
          <a:noFill/>
        </p:spPr>
        <p:txBody>
          <a:bodyPr wrap="square" anchor="t" lIns="0" rIns="0" tIns="0" bIns="0">
            <a:spAutoFit/>
          </a:bodyPr>
          <a:lstStyle/>
          <a:p>
            <a:pPr algn="l"/>
            <a:r>
              <a:rPr sz="3200" b="1">
                <a:solidFill>
                  <a:srgbClr val="0E2841"/>
                </a:solidFill>
                <a:latin typeface="Aptos Display"/>
              </a:rPr>
              <a:t>Las preguntas que vendrán</a:t>
            </a:r>
          </a:p>
        </p:txBody>
      </p:sp>
      <p:pic>
        <p:nvPicPr>
          <p:cNvPr id="4" name="Picture 3" descr="LOGO-CORHUILA-COLOR.png"/>
          <p:cNvPicPr>
            <a:picLocks noChangeAspect="1"/>
          </p:cNvPicPr>
          <p:nvPr/>
        </p:nvPicPr>
        <p:blipFill>
          <a:blip r:embed="rId2"/>
          <a:stretch>
            <a:fillRect/>
          </a:stretch>
        </p:blipFill>
        <p:spPr>
          <a:xfrm>
            <a:off x="11049000" y="365760"/>
            <a:ext cx="640080" cy="640080"/>
          </a:xfrm>
          <a:prstGeom prst="rect">
            <a:avLst/>
          </a:prstGeom>
        </p:spPr>
      </p:pic>
      <p:sp>
        <p:nvSpPr>
          <p:cNvPr id="5" name="TextBox 4"/>
          <p:cNvSpPr txBox="1"/>
          <p:nvPr/>
        </p:nvSpPr>
        <p:spPr>
          <a:xfrm>
            <a:off x="640080" y="6455664"/>
            <a:ext cx="7315200" cy="228600"/>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Encuentro 4 · Asesoría</a:t>
            </a:r>
          </a:p>
        </p:txBody>
      </p:sp>
      <p:sp>
        <p:nvSpPr>
          <p:cNvPr id="6" name="TextBox 5"/>
          <p:cNvSpPr txBox="1"/>
          <p:nvPr/>
        </p:nvSpPr>
        <p:spPr>
          <a:xfrm>
            <a:off x="10881360" y="6455664"/>
            <a:ext cx="731520" cy="228600"/>
          </a:xfrm>
          <a:prstGeom prst="rect">
            <a:avLst/>
          </a:prstGeom>
          <a:noFill/>
        </p:spPr>
        <p:txBody>
          <a:bodyPr wrap="square" anchor="t" lIns="0" rIns="0" tIns="0" bIns="0">
            <a:spAutoFit/>
          </a:bodyPr>
          <a:lstStyle/>
          <a:p>
            <a:pPr algn="r"/>
            <a:r>
              <a:rPr sz="950" b="0">
                <a:solidFill>
                  <a:srgbClr val="7A8B9E"/>
                </a:solidFill>
                <a:latin typeface="Aptos"/>
              </a:rPr>
              <a:t>9</a:t>
            </a:r>
          </a:p>
        </p:txBody>
      </p:sp>
      <p:sp>
        <p:nvSpPr>
          <p:cNvPr id="7" name="Rounded Rectangular Callout 6"/>
          <p:cNvSpPr/>
          <p:nvPr/>
        </p:nvSpPr>
        <p:spPr>
          <a:xfrm>
            <a:off x="822960" y="1737360"/>
            <a:ext cx="5029200" cy="1234440"/>
          </a:xfrm>
          <a:prstGeom prst="wedgeRoundRectCallout">
            <a:avLst>
              <a:gd name="adj1" fmla="val -32000"/>
              <a:gd name="adj2" fmla="val 66000"/>
              <a:gd name="adj3" fmla="val 16667"/>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737360"/>
            <a:ext cx="4480560" cy="1234440"/>
          </a:xfrm>
          <a:prstGeom prst="rect">
            <a:avLst/>
          </a:prstGeom>
          <a:noFill/>
        </p:spPr>
        <p:txBody>
          <a:bodyPr wrap="square" anchor="ctr" lIns="0" rIns="0" tIns="0" bIns="0">
            <a:spAutoFit/>
          </a:bodyPr>
          <a:lstStyle/>
          <a:p>
            <a:pPr algn="l"/>
            <a:r>
              <a:rPr sz="1900" b="1">
                <a:solidFill>
                  <a:srgbClr val="FFFFFF"/>
                </a:solidFill>
                <a:latin typeface="Aptos Display"/>
              </a:rPr>
              <a:t>¿Qué harían distinto si empezaran hoy?</a:t>
            </a:r>
          </a:p>
        </p:txBody>
      </p:sp>
      <p:sp>
        <p:nvSpPr>
          <p:cNvPr id="9" name="TextBox 8"/>
          <p:cNvSpPr txBox="1"/>
          <p:nvPr/>
        </p:nvSpPr>
        <p:spPr>
          <a:xfrm>
            <a:off x="2057400" y="3310128"/>
            <a:ext cx="3840480" cy="411480"/>
          </a:xfrm>
          <a:prstGeom prst="rect">
            <a:avLst/>
          </a:prstGeom>
          <a:noFill/>
        </p:spPr>
        <p:txBody>
          <a:bodyPr wrap="square" anchor="t" lIns="0" rIns="0" tIns="0" bIns="0">
            <a:spAutoFit/>
          </a:bodyPr>
          <a:lstStyle/>
          <a:p>
            <a:pPr algn="l"/>
            <a:r>
              <a:rPr sz="1500" b="1">
                <a:solidFill>
                  <a:srgbClr val="156082"/>
                </a:solidFill>
                <a:latin typeface="Aptos"/>
              </a:rPr>
              <a:t>Muestre lo que la v1 le enseñó.</a:t>
            </a:r>
          </a:p>
        </p:txBody>
      </p:sp>
      <p:sp>
        <p:nvSpPr>
          <p:cNvPr id="10" name="Rounded Rectangular Callout 9"/>
          <p:cNvSpPr/>
          <p:nvPr/>
        </p:nvSpPr>
        <p:spPr>
          <a:xfrm>
            <a:off x="6217920" y="1737360"/>
            <a:ext cx="5029200" cy="1234440"/>
          </a:xfrm>
          <a:prstGeom prst="wedgeRoundRectCallout">
            <a:avLst>
              <a:gd name="adj1" fmla="val -32000"/>
              <a:gd name="adj2" fmla="val 66000"/>
              <a:gd name="adj3" fmla="val 16667"/>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480560" cy="1234440"/>
          </a:xfrm>
          <a:prstGeom prst="rect">
            <a:avLst/>
          </a:prstGeom>
          <a:noFill/>
        </p:spPr>
        <p:txBody>
          <a:bodyPr wrap="square" anchor="ctr" lIns="0" rIns="0" tIns="0" bIns="0">
            <a:spAutoFit/>
          </a:bodyPr>
          <a:lstStyle/>
          <a:p>
            <a:pPr algn="l"/>
            <a:r>
              <a:rPr sz="1900" b="1">
                <a:solidFill>
                  <a:srgbClr val="FFFFFF"/>
                </a:solidFill>
                <a:latin typeface="Aptos Display"/>
              </a:rPr>
              <a:t>¿Qué parte de la v2 no se justifica?</a:t>
            </a:r>
          </a:p>
        </p:txBody>
      </p:sp>
      <p:sp>
        <p:nvSpPr>
          <p:cNvPr id="12" name="TextBox 11"/>
          <p:cNvSpPr txBox="1"/>
          <p:nvPr/>
        </p:nvSpPr>
        <p:spPr>
          <a:xfrm>
            <a:off x="7452360" y="3310128"/>
            <a:ext cx="3840480" cy="411480"/>
          </a:xfrm>
          <a:prstGeom prst="rect">
            <a:avLst/>
          </a:prstGeom>
          <a:noFill/>
        </p:spPr>
        <p:txBody>
          <a:bodyPr wrap="square" anchor="t" lIns="0" rIns="0" tIns="0" bIns="0">
            <a:spAutoFit/>
          </a:bodyPr>
          <a:lstStyle/>
          <a:p>
            <a:pPr algn="l"/>
            <a:r>
              <a:rPr sz="1500" b="1">
                <a:solidFill>
                  <a:srgbClr val="009540"/>
                </a:solidFill>
                <a:latin typeface="Aptos"/>
              </a:rPr>
              <a:t>Reconozca el costo: negarlo resta.</a:t>
            </a:r>
          </a:p>
        </p:txBody>
      </p:sp>
      <p:sp>
        <p:nvSpPr>
          <p:cNvPr id="13" name="Rounded Rectangular Callout 12"/>
          <p:cNvSpPr/>
          <p:nvPr/>
        </p:nvSpPr>
        <p:spPr>
          <a:xfrm>
            <a:off x="822960" y="3977639"/>
            <a:ext cx="5029200" cy="1234440"/>
          </a:xfrm>
          <a:prstGeom prst="wedgeRoundRectCallout">
            <a:avLst>
              <a:gd name="adj1" fmla="val -32000"/>
              <a:gd name="adj2" fmla="val 66000"/>
              <a:gd name="adj3" fmla="val 16667"/>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977639"/>
            <a:ext cx="4480560" cy="1234440"/>
          </a:xfrm>
          <a:prstGeom prst="rect">
            <a:avLst/>
          </a:prstGeom>
          <a:noFill/>
        </p:spPr>
        <p:txBody>
          <a:bodyPr wrap="square" anchor="ctr" lIns="0" rIns="0" tIns="0" bIns="0">
            <a:spAutoFit/>
          </a:bodyPr>
          <a:lstStyle/>
          <a:p>
            <a:pPr algn="l"/>
            <a:r>
              <a:rPr sz="1900" b="1">
                <a:solidFill>
                  <a:srgbClr val="FFFFFF"/>
                </a:solidFill>
                <a:latin typeface="Aptos Display"/>
              </a:rPr>
              <a:t>¿Qué pasa si cae el componente X?</a:t>
            </a:r>
          </a:p>
        </p:txBody>
      </p:sp>
      <p:sp>
        <p:nvSpPr>
          <p:cNvPr id="15" name="TextBox 14"/>
          <p:cNvSpPr txBox="1"/>
          <p:nvPr/>
        </p:nvSpPr>
        <p:spPr>
          <a:xfrm>
            <a:off x="2057400" y="5550407"/>
            <a:ext cx="3840480" cy="411480"/>
          </a:xfrm>
          <a:prstGeom prst="rect">
            <a:avLst/>
          </a:prstGeom>
          <a:noFill/>
        </p:spPr>
        <p:txBody>
          <a:bodyPr wrap="square" anchor="t" lIns="0" rIns="0" tIns="0" bIns="0">
            <a:spAutoFit/>
          </a:bodyPr>
          <a:lstStyle/>
          <a:p>
            <a:pPr algn="l"/>
            <a:r>
              <a:rPr sz="1500" b="1">
                <a:solidFill>
                  <a:srgbClr val="E97132"/>
                </a:solidFill>
                <a:latin typeface="Aptos"/>
              </a:rPr>
              <a:t>Muéstrelo con la prueba, no lo describa.</a:t>
            </a:r>
          </a:p>
        </p:txBody>
      </p:sp>
      <p:sp>
        <p:nvSpPr>
          <p:cNvPr id="16" name="Rounded Rectangular Callout 15"/>
          <p:cNvSpPr/>
          <p:nvPr/>
        </p:nvSpPr>
        <p:spPr>
          <a:xfrm>
            <a:off x="6217920" y="3977639"/>
            <a:ext cx="5029200" cy="1234440"/>
          </a:xfrm>
          <a:prstGeom prst="wedgeRoundRectCallout">
            <a:avLst>
              <a:gd name="adj1" fmla="val -32000"/>
              <a:gd name="adj2" fmla="val 66000"/>
              <a:gd name="adj3" fmla="val 16667"/>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3977639"/>
            <a:ext cx="4480560" cy="1234440"/>
          </a:xfrm>
          <a:prstGeom prst="rect">
            <a:avLst/>
          </a:prstGeom>
          <a:noFill/>
        </p:spPr>
        <p:txBody>
          <a:bodyPr wrap="square" anchor="ctr" lIns="0" rIns="0" tIns="0" bIns="0">
            <a:spAutoFit/>
          </a:bodyPr>
          <a:lstStyle/>
          <a:p>
            <a:pPr algn="l"/>
            <a:r>
              <a:rPr sz="1900" b="1">
                <a:solidFill>
                  <a:srgbClr val="FFFFFF"/>
                </a:solidFill>
                <a:latin typeface="Aptos Display"/>
              </a:rPr>
              <a:t>¿Por qué no el otro patrón?</a:t>
            </a:r>
          </a:p>
        </p:txBody>
      </p:sp>
      <p:sp>
        <p:nvSpPr>
          <p:cNvPr id="18" name="TextBox 17"/>
          <p:cNvSpPr txBox="1"/>
          <p:nvPr/>
        </p:nvSpPr>
        <p:spPr>
          <a:xfrm>
            <a:off x="7452360" y="5550407"/>
            <a:ext cx="3840480" cy="411480"/>
          </a:xfrm>
          <a:prstGeom prst="rect">
            <a:avLst/>
          </a:prstGeom>
          <a:noFill/>
        </p:spPr>
        <p:txBody>
          <a:bodyPr wrap="square" anchor="t" lIns="0" rIns="0" tIns="0" bIns="0">
            <a:spAutoFit/>
          </a:bodyPr>
          <a:lstStyle/>
          <a:p>
            <a:pPr algn="l"/>
            <a:r>
              <a:rPr sz="1500" b="1">
                <a:solidFill>
                  <a:srgbClr val="0E2841"/>
                </a:solidFill>
                <a:latin typeface="Aptos"/>
              </a:rPr>
              <a:t>La matriz con pesos responde por usted.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8229600" cy="274320"/>
          </a:xfrm>
          <a:prstGeom prst="rect">
            <a:avLst/>
          </a:prstGeom>
          <a:noFill/>
        </p:spPr>
        <p:txBody>
          <a:bodyPr wrap="square" anchor="t" lIns="0" rIns="0" tIns="0" bIns="0">
            <a:spAutoFit/>
          </a:bodyPr>
          <a:lstStyle/>
          <a:p>
            <a:pPr algn="l"/>
            <a:r>
              <a:rPr sz="1300" b="1">
                <a:solidFill>
                  <a:srgbClr val="009540"/>
                </a:solidFill>
                <a:latin typeface="Aptos"/>
              </a:rPr>
              <a:t>Una propuesta de semana; cada equipo la ajusta</a:t>
            </a:r>
          </a:p>
        </p:txBody>
      </p:sp>
      <p:sp>
        <p:nvSpPr>
          <p:cNvPr id="3" name="TextBox 2"/>
          <p:cNvSpPr txBox="1"/>
          <p:nvPr/>
        </p:nvSpPr>
        <p:spPr>
          <a:xfrm>
            <a:off x="640080" y="640080"/>
            <a:ext cx="9144000" cy="731520"/>
          </a:xfrm>
          <a:prstGeom prst="rect">
            <a:avLst/>
          </a:prstGeom>
          <a:noFill/>
        </p:spPr>
        <p:txBody>
          <a:bodyPr wrap="square" anchor="t" lIns="0" rIns="0" tIns="0" bIns="0">
            <a:spAutoFit/>
          </a:bodyPr>
          <a:lstStyle/>
          <a:p>
            <a:pPr algn="l"/>
            <a:r>
              <a:rPr sz="3200" b="1">
                <a:solidFill>
                  <a:srgbClr val="0E2841"/>
                </a:solidFill>
                <a:latin typeface="Aptos Display"/>
              </a:rPr>
              <a:t>La ruta hasta el 8 de noviembre</a:t>
            </a:r>
          </a:p>
        </p:txBody>
      </p:sp>
      <p:pic>
        <p:nvPicPr>
          <p:cNvPr id="4" name="Picture 3" descr="LOGO-CORHUILA-COLOR.png"/>
          <p:cNvPicPr>
            <a:picLocks noChangeAspect="1"/>
          </p:cNvPicPr>
          <p:nvPr/>
        </p:nvPicPr>
        <p:blipFill>
          <a:blip r:embed="rId2"/>
          <a:stretch>
            <a:fillRect/>
          </a:stretch>
        </p:blipFill>
        <p:spPr>
          <a:xfrm>
            <a:off x="11049000" y="365760"/>
            <a:ext cx="640080" cy="640080"/>
          </a:xfrm>
          <a:prstGeom prst="rect">
            <a:avLst/>
          </a:prstGeom>
        </p:spPr>
      </p:pic>
      <p:sp>
        <p:nvSpPr>
          <p:cNvPr id="5" name="TextBox 4"/>
          <p:cNvSpPr txBox="1"/>
          <p:nvPr/>
        </p:nvSpPr>
        <p:spPr>
          <a:xfrm>
            <a:off x="640080" y="6455664"/>
            <a:ext cx="7315200" cy="228600"/>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Encuentro 4 · Asesoría</a:t>
            </a:r>
          </a:p>
        </p:txBody>
      </p:sp>
      <p:sp>
        <p:nvSpPr>
          <p:cNvPr id="6" name="TextBox 5"/>
          <p:cNvSpPr txBox="1"/>
          <p:nvPr/>
        </p:nvSpPr>
        <p:spPr>
          <a:xfrm>
            <a:off x="10881360" y="6455664"/>
            <a:ext cx="731520" cy="228600"/>
          </a:xfrm>
          <a:prstGeom prst="rect">
            <a:avLst/>
          </a:prstGeom>
          <a:noFill/>
        </p:spPr>
        <p:txBody>
          <a:bodyPr wrap="square" anchor="t" lIns="0" rIns="0" tIns="0" bIns="0">
            <a:spAutoFit/>
          </a:bodyPr>
          <a:lstStyle/>
          <a:p>
            <a:pPr algn="r"/>
            <a:r>
              <a:rPr sz="950" b="0">
                <a:solidFill>
                  <a:srgbClr val="7A8B9E"/>
                </a:solidFill>
                <a:latin typeface="Aptos"/>
              </a:rPr>
              <a:t>10</a:t>
            </a:r>
          </a:p>
        </p:txBody>
      </p:sp>
      <p:sp>
        <p:nvSpPr>
          <p:cNvPr id="7" name="Rounded Rectangle 6"/>
          <p:cNvSpPr/>
          <p:nvPr/>
        </p:nvSpPr>
        <p:spPr>
          <a:xfrm>
            <a:off x="859536" y="1691640"/>
            <a:ext cx="735740" cy="86868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46504"/>
            <a:ext cx="808892" cy="274320"/>
          </a:xfrm>
          <a:prstGeom prst="rect">
            <a:avLst/>
          </a:prstGeom>
          <a:noFill/>
        </p:spPr>
        <p:txBody>
          <a:bodyPr wrap="square" anchor="t" lIns="0" rIns="0" tIns="0" bIns="0">
            <a:spAutoFit/>
          </a:bodyPr>
          <a:lstStyle/>
          <a:p>
            <a:pPr algn="ctr"/>
            <a:r>
              <a:rPr sz="1200" b="1">
                <a:solidFill>
                  <a:srgbClr val="FFFFFF"/>
                </a:solidFill>
                <a:latin typeface="Aptos"/>
              </a:rPr>
              <a:t>M</a:t>
            </a:r>
          </a:p>
        </p:txBody>
      </p:sp>
      <p:sp>
        <p:nvSpPr>
          <p:cNvPr id="9" name="TextBox 8"/>
          <p:cNvSpPr txBox="1"/>
          <p:nvPr/>
        </p:nvSpPr>
        <p:spPr>
          <a:xfrm>
            <a:off x="822960" y="1984248"/>
            <a:ext cx="808892" cy="411480"/>
          </a:xfrm>
          <a:prstGeom prst="rect">
            <a:avLst/>
          </a:prstGeom>
          <a:noFill/>
        </p:spPr>
        <p:txBody>
          <a:bodyPr wrap="square" anchor="t" lIns="0" rIns="0" tIns="0" bIns="0">
            <a:spAutoFit/>
          </a:bodyPr>
          <a:lstStyle/>
          <a:p>
            <a:pPr algn="ctr"/>
            <a:r>
              <a:rPr sz="2200" b="1">
                <a:solidFill>
                  <a:srgbClr val="FFFFFF"/>
                </a:solidFill>
                <a:latin typeface="Aptos Display"/>
              </a:rPr>
              <a:t>27</a:t>
            </a:r>
          </a:p>
        </p:txBody>
      </p:sp>
      <p:sp>
        <p:nvSpPr>
          <p:cNvPr id="10" name="TextBox 9"/>
          <p:cNvSpPr txBox="1"/>
          <p:nvPr/>
        </p:nvSpPr>
        <p:spPr>
          <a:xfrm>
            <a:off x="640080" y="2606040"/>
            <a:ext cx="1174652" cy="274320"/>
          </a:xfrm>
          <a:prstGeom prst="rect">
            <a:avLst/>
          </a:prstGeom>
          <a:noFill/>
        </p:spPr>
        <p:txBody>
          <a:bodyPr wrap="square" anchor="t" lIns="0" rIns="0" tIns="0" bIns="0">
            <a:spAutoFit/>
          </a:bodyPr>
          <a:lstStyle/>
          <a:p>
            <a:pPr algn="ctr"/>
            <a:r>
              <a:rPr sz="1050" b="1">
                <a:solidFill>
                  <a:srgbClr val="E97132"/>
                </a:solidFill>
                <a:latin typeface="Aptos"/>
              </a:rPr>
              <a:t>HOY</a:t>
            </a:r>
          </a:p>
        </p:txBody>
      </p:sp>
      <p:sp>
        <p:nvSpPr>
          <p:cNvPr id="11" name="TextBox 10"/>
          <p:cNvSpPr txBox="1"/>
          <p:nvPr/>
        </p:nvSpPr>
        <p:spPr>
          <a:xfrm>
            <a:off x="1631852" y="1746504"/>
            <a:ext cx="808892" cy="274320"/>
          </a:xfrm>
          <a:prstGeom prst="rect">
            <a:avLst/>
          </a:prstGeom>
          <a:noFill/>
        </p:spPr>
        <p:txBody>
          <a:bodyPr wrap="square" anchor="t" lIns="0" rIns="0" tIns="0" bIns="0">
            <a:spAutoFit/>
          </a:bodyPr>
          <a:lstStyle/>
          <a:p>
            <a:pPr algn="ctr"/>
            <a:r>
              <a:rPr sz="1200" b="1">
                <a:solidFill>
                  <a:srgbClr val="7A8B9E"/>
                </a:solidFill>
                <a:latin typeface="Aptos"/>
              </a:rPr>
              <a:t>M</a:t>
            </a:r>
          </a:p>
        </p:txBody>
      </p:sp>
      <p:sp>
        <p:nvSpPr>
          <p:cNvPr id="12" name="TextBox 11"/>
          <p:cNvSpPr txBox="1"/>
          <p:nvPr/>
        </p:nvSpPr>
        <p:spPr>
          <a:xfrm>
            <a:off x="1631852" y="1984248"/>
            <a:ext cx="808892" cy="411480"/>
          </a:xfrm>
          <a:prstGeom prst="rect">
            <a:avLst/>
          </a:prstGeom>
          <a:noFill/>
        </p:spPr>
        <p:txBody>
          <a:bodyPr wrap="square" anchor="t" lIns="0" rIns="0" tIns="0" bIns="0">
            <a:spAutoFit/>
          </a:bodyPr>
          <a:lstStyle/>
          <a:p>
            <a:pPr algn="ctr"/>
            <a:r>
              <a:rPr sz="2200" b="1">
                <a:solidFill>
                  <a:srgbClr val="0E2841"/>
                </a:solidFill>
                <a:latin typeface="Aptos Display"/>
              </a:rPr>
              <a:t>28</a:t>
            </a:r>
          </a:p>
        </p:txBody>
      </p:sp>
      <p:sp>
        <p:nvSpPr>
          <p:cNvPr id="13" name="TextBox 12"/>
          <p:cNvSpPr txBox="1"/>
          <p:nvPr/>
        </p:nvSpPr>
        <p:spPr>
          <a:xfrm>
            <a:off x="2440744" y="1746504"/>
            <a:ext cx="808892" cy="274320"/>
          </a:xfrm>
          <a:prstGeom prst="rect">
            <a:avLst/>
          </a:prstGeom>
          <a:noFill/>
        </p:spPr>
        <p:txBody>
          <a:bodyPr wrap="square" anchor="t" lIns="0" rIns="0" tIns="0" bIns="0">
            <a:spAutoFit/>
          </a:bodyPr>
          <a:lstStyle/>
          <a:p>
            <a:pPr algn="ctr"/>
            <a:r>
              <a:rPr sz="1200" b="1">
                <a:solidFill>
                  <a:srgbClr val="7A8B9E"/>
                </a:solidFill>
                <a:latin typeface="Aptos"/>
              </a:rPr>
              <a:t>J</a:t>
            </a:r>
          </a:p>
        </p:txBody>
      </p:sp>
      <p:sp>
        <p:nvSpPr>
          <p:cNvPr id="14" name="TextBox 13"/>
          <p:cNvSpPr txBox="1"/>
          <p:nvPr/>
        </p:nvSpPr>
        <p:spPr>
          <a:xfrm>
            <a:off x="2440744" y="1984248"/>
            <a:ext cx="808892" cy="411480"/>
          </a:xfrm>
          <a:prstGeom prst="rect">
            <a:avLst/>
          </a:prstGeom>
          <a:noFill/>
        </p:spPr>
        <p:txBody>
          <a:bodyPr wrap="square" anchor="t" lIns="0" rIns="0" tIns="0" bIns="0">
            <a:spAutoFit/>
          </a:bodyPr>
          <a:lstStyle/>
          <a:p>
            <a:pPr algn="ctr"/>
            <a:r>
              <a:rPr sz="2200" b="1">
                <a:solidFill>
                  <a:srgbClr val="0E2841"/>
                </a:solidFill>
                <a:latin typeface="Aptos Display"/>
              </a:rPr>
              <a:t>29</a:t>
            </a:r>
          </a:p>
        </p:txBody>
      </p:sp>
      <p:sp>
        <p:nvSpPr>
          <p:cNvPr id="15" name="TextBox 14"/>
          <p:cNvSpPr txBox="1"/>
          <p:nvPr/>
        </p:nvSpPr>
        <p:spPr>
          <a:xfrm>
            <a:off x="3249636" y="1746504"/>
            <a:ext cx="808892" cy="274320"/>
          </a:xfrm>
          <a:prstGeom prst="rect">
            <a:avLst/>
          </a:prstGeom>
          <a:noFill/>
        </p:spPr>
        <p:txBody>
          <a:bodyPr wrap="square" anchor="t" lIns="0" rIns="0" tIns="0" bIns="0">
            <a:spAutoFit/>
          </a:bodyPr>
          <a:lstStyle/>
          <a:p>
            <a:pPr algn="ctr"/>
            <a:r>
              <a:rPr sz="1200" b="1">
                <a:solidFill>
                  <a:srgbClr val="7A8B9E"/>
                </a:solidFill>
                <a:latin typeface="Aptos"/>
              </a:rPr>
              <a:t>V</a:t>
            </a:r>
          </a:p>
        </p:txBody>
      </p:sp>
      <p:sp>
        <p:nvSpPr>
          <p:cNvPr id="16" name="TextBox 15"/>
          <p:cNvSpPr txBox="1"/>
          <p:nvPr/>
        </p:nvSpPr>
        <p:spPr>
          <a:xfrm>
            <a:off x="3249636" y="1984248"/>
            <a:ext cx="808892" cy="411480"/>
          </a:xfrm>
          <a:prstGeom prst="rect">
            <a:avLst/>
          </a:prstGeom>
          <a:noFill/>
        </p:spPr>
        <p:txBody>
          <a:bodyPr wrap="square" anchor="t" lIns="0" rIns="0" tIns="0" bIns="0">
            <a:spAutoFit/>
          </a:bodyPr>
          <a:lstStyle/>
          <a:p>
            <a:pPr algn="ctr"/>
            <a:r>
              <a:rPr sz="2200" b="1">
                <a:solidFill>
                  <a:srgbClr val="0E2841"/>
                </a:solidFill>
                <a:latin typeface="Aptos Display"/>
              </a:rPr>
              <a:t>30</a:t>
            </a:r>
          </a:p>
        </p:txBody>
      </p:sp>
      <p:sp>
        <p:nvSpPr>
          <p:cNvPr id="17" name="TextBox 16"/>
          <p:cNvSpPr txBox="1"/>
          <p:nvPr/>
        </p:nvSpPr>
        <p:spPr>
          <a:xfrm>
            <a:off x="4058529" y="1746504"/>
            <a:ext cx="808892" cy="274320"/>
          </a:xfrm>
          <a:prstGeom prst="rect">
            <a:avLst/>
          </a:prstGeom>
          <a:noFill/>
        </p:spPr>
        <p:txBody>
          <a:bodyPr wrap="square" anchor="t" lIns="0" rIns="0" tIns="0" bIns="0">
            <a:spAutoFit/>
          </a:bodyPr>
          <a:lstStyle/>
          <a:p>
            <a:pPr algn="ctr"/>
            <a:r>
              <a:rPr sz="1200" b="1">
                <a:solidFill>
                  <a:srgbClr val="7A8B9E"/>
                </a:solidFill>
                <a:latin typeface="Aptos"/>
              </a:rPr>
              <a:t>S</a:t>
            </a:r>
          </a:p>
        </p:txBody>
      </p:sp>
      <p:sp>
        <p:nvSpPr>
          <p:cNvPr id="18" name="TextBox 17"/>
          <p:cNvSpPr txBox="1"/>
          <p:nvPr/>
        </p:nvSpPr>
        <p:spPr>
          <a:xfrm>
            <a:off x="4058529" y="1984248"/>
            <a:ext cx="808892" cy="411480"/>
          </a:xfrm>
          <a:prstGeom prst="rect">
            <a:avLst/>
          </a:prstGeom>
          <a:noFill/>
        </p:spPr>
        <p:txBody>
          <a:bodyPr wrap="square" anchor="t" lIns="0" rIns="0" tIns="0" bIns="0">
            <a:spAutoFit/>
          </a:bodyPr>
          <a:lstStyle/>
          <a:p>
            <a:pPr algn="ctr"/>
            <a:r>
              <a:rPr sz="2200" b="1">
                <a:solidFill>
                  <a:srgbClr val="0E2841"/>
                </a:solidFill>
                <a:latin typeface="Aptos Display"/>
              </a:rPr>
              <a:t>31</a:t>
            </a:r>
          </a:p>
        </p:txBody>
      </p:sp>
      <p:sp>
        <p:nvSpPr>
          <p:cNvPr id="19" name="TextBox 18"/>
          <p:cNvSpPr txBox="1"/>
          <p:nvPr/>
        </p:nvSpPr>
        <p:spPr>
          <a:xfrm>
            <a:off x="4867421" y="1746504"/>
            <a:ext cx="808892" cy="274320"/>
          </a:xfrm>
          <a:prstGeom prst="rect">
            <a:avLst/>
          </a:prstGeom>
          <a:noFill/>
        </p:spPr>
        <p:txBody>
          <a:bodyPr wrap="square" anchor="t" lIns="0" rIns="0" tIns="0" bIns="0">
            <a:spAutoFit/>
          </a:bodyPr>
          <a:lstStyle/>
          <a:p>
            <a:pPr algn="ctr"/>
            <a:r>
              <a:rPr sz="1200" b="1">
                <a:solidFill>
                  <a:srgbClr val="7A8B9E"/>
                </a:solidFill>
                <a:latin typeface="Aptos"/>
              </a:rPr>
              <a:t>D</a:t>
            </a:r>
          </a:p>
        </p:txBody>
      </p:sp>
      <p:sp>
        <p:nvSpPr>
          <p:cNvPr id="20" name="TextBox 19"/>
          <p:cNvSpPr txBox="1"/>
          <p:nvPr/>
        </p:nvSpPr>
        <p:spPr>
          <a:xfrm>
            <a:off x="4867421" y="1984248"/>
            <a:ext cx="808892" cy="411480"/>
          </a:xfrm>
          <a:prstGeom prst="rect">
            <a:avLst/>
          </a:prstGeom>
          <a:noFill/>
        </p:spPr>
        <p:txBody>
          <a:bodyPr wrap="square" anchor="t" lIns="0" rIns="0" tIns="0" bIns="0">
            <a:spAutoFit/>
          </a:bodyPr>
          <a:lstStyle/>
          <a:p>
            <a:pPr algn="ctr"/>
            <a:r>
              <a:rPr sz="2200" b="1">
                <a:solidFill>
                  <a:srgbClr val="0E2841"/>
                </a:solidFill>
                <a:latin typeface="Aptos Display"/>
              </a:rPr>
              <a:t>1</a:t>
            </a:r>
          </a:p>
        </p:txBody>
      </p:sp>
      <p:sp>
        <p:nvSpPr>
          <p:cNvPr id="21" name="TextBox 20"/>
          <p:cNvSpPr txBox="1"/>
          <p:nvPr/>
        </p:nvSpPr>
        <p:spPr>
          <a:xfrm>
            <a:off x="5676313" y="1746504"/>
            <a:ext cx="808892" cy="274320"/>
          </a:xfrm>
          <a:prstGeom prst="rect">
            <a:avLst/>
          </a:prstGeom>
          <a:noFill/>
        </p:spPr>
        <p:txBody>
          <a:bodyPr wrap="square" anchor="t" lIns="0" rIns="0" tIns="0" bIns="0">
            <a:spAutoFit/>
          </a:bodyPr>
          <a:lstStyle/>
          <a:p>
            <a:pPr algn="ctr"/>
            <a:r>
              <a:rPr sz="1200" b="1">
                <a:solidFill>
                  <a:srgbClr val="7A8B9E"/>
                </a:solidFill>
                <a:latin typeface="Aptos"/>
              </a:rPr>
              <a:t>L</a:t>
            </a:r>
          </a:p>
        </p:txBody>
      </p:sp>
      <p:sp>
        <p:nvSpPr>
          <p:cNvPr id="22" name="TextBox 21"/>
          <p:cNvSpPr txBox="1"/>
          <p:nvPr/>
        </p:nvSpPr>
        <p:spPr>
          <a:xfrm>
            <a:off x="5676313" y="1984248"/>
            <a:ext cx="808892" cy="411480"/>
          </a:xfrm>
          <a:prstGeom prst="rect">
            <a:avLst/>
          </a:prstGeom>
          <a:noFill/>
        </p:spPr>
        <p:txBody>
          <a:bodyPr wrap="square" anchor="t" lIns="0" rIns="0" tIns="0" bIns="0">
            <a:spAutoFit/>
          </a:bodyPr>
          <a:lstStyle/>
          <a:p>
            <a:pPr algn="ctr"/>
            <a:r>
              <a:rPr sz="2200" b="1">
                <a:solidFill>
                  <a:srgbClr val="0E2841"/>
                </a:solidFill>
                <a:latin typeface="Aptos Display"/>
              </a:rPr>
              <a:t>2</a:t>
            </a:r>
          </a:p>
        </p:txBody>
      </p:sp>
      <p:sp>
        <p:nvSpPr>
          <p:cNvPr id="23" name="Rounded Rectangle 22"/>
          <p:cNvSpPr/>
          <p:nvPr/>
        </p:nvSpPr>
        <p:spPr>
          <a:xfrm>
            <a:off x="6521782" y="1691640"/>
            <a:ext cx="735740" cy="868680"/>
          </a:xfrm>
          <a:prstGeom prst="round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5206" y="1746504"/>
            <a:ext cx="808892" cy="274320"/>
          </a:xfrm>
          <a:prstGeom prst="rect">
            <a:avLst/>
          </a:prstGeom>
          <a:noFill/>
        </p:spPr>
        <p:txBody>
          <a:bodyPr wrap="square" anchor="t" lIns="0" rIns="0" tIns="0" bIns="0">
            <a:spAutoFit/>
          </a:bodyPr>
          <a:lstStyle/>
          <a:p>
            <a:pPr algn="ctr"/>
            <a:r>
              <a:rPr sz="1200" b="1">
                <a:solidFill>
                  <a:srgbClr val="FFFFFF"/>
                </a:solidFill>
                <a:latin typeface="Aptos"/>
              </a:rPr>
              <a:t>M</a:t>
            </a:r>
          </a:p>
        </p:txBody>
      </p:sp>
      <p:sp>
        <p:nvSpPr>
          <p:cNvPr id="25" name="TextBox 24"/>
          <p:cNvSpPr txBox="1"/>
          <p:nvPr/>
        </p:nvSpPr>
        <p:spPr>
          <a:xfrm>
            <a:off x="6485206" y="1984248"/>
            <a:ext cx="808892" cy="411480"/>
          </a:xfrm>
          <a:prstGeom prst="rect">
            <a:avLst/>
          </a:prstGeom>
          <a:noFill/>
        </p:spPr>
        <p:txBody>
          <a:bodyPr wrap="square" anchor="t" lIns="0" rIns="0" tIns="0" bIns="0">
            <a:spAutoFit/>
          </a:bodyPr>
          <a:lstStyle/>
          <a:p>
            <a:pPr algn="ctr"/>
            <a:r>
              <a:rPr sz="2200" b="1">
                <a:solidFill>
                  <a:srgbClr val="FFFFFF"/>
                </a:solidFill>
                <a:latin typeface="Aptos Display"/>
              </a:rPr>
              <a:t>3</a:t>
            </a:r>
          </a:p>
        </p:txBody>
      </p:sp>
      <p:sp>
        <p:nvSpPr>
          <p:cNvPr id="26" name="TextBox 25"/>
          <p:cNvSpPr txBox="1"/>
          <p:nvPr/>
        </p:nvSpPr>
        <p:spPr>
          <a:xfrm>
            <a:off x="6302326" y="2606040"/>
            <a:ext cx="1174652" cy="274320"/>
          </a:xfrm>
          <a:prstGeom prst="rect">
            <a:avLst/>
          </a:prstGeom>
          <a:noFill/>
        </p:spPr>
        <p:txBody>
          <a:bodyPr wrap="square" anchor="t" lIns="0" rIns="0" tIns="0" bIns="0">
            <a:spAutoFit/>
          </a:bodyPr>
          <a:lstStyle/>
          <a:p>
            <a:pPr algn="ctr"/>
            <a:r>
              <a:rPr sz="1050" b="1">
                <a:solidFill>
                  <a:srgbClr val="009540"/>
                </a:solidFill>
                <a:latin typeface="Aptos"/>
              </a:rPr>
              <a:t>SUSTENTA</a:t>
            </a:r>
          </a:p>
        </p:txBody>
      </p:sp>
      <p:sp>
        <p:nvSpPr>
          <p:cNvPr id="27" name="TextBox 26"/>
          <p:cNvSpPr txBox="1"/>
          <p:nvPr/>
        </p:nvSpPr>
        <p:spPr>
          <a:xfrm>
            <a:off x="7294098" y="1746504"/>
            <a:ext cx="808892" cy="274320"/>
          </a:xfrm>
          <a:prstGeom prst="rect">
            <a:avLst/>
          </a:prstGeom>
          <a:noFill/>
        </p:spPr>
        <p:txBody>
          <a:bodyPr wrap="square" anchor="t" lIns="0" rIns="0" tIns="0" bIns="0">
            <a:spAutoFit/>
          </a:bodyPr>
          <a:lstStyle/>
          <a:p>
            <a:pPr algn="ctr"/>
            <a:r>
              <a:rPr sz="1200" b="1">
                <a:solidFill>
                  <a:srgbClr val="7A8B9E"/>
                </a:solidFill>
                <a:latin typeface="Aptos"/>
              </a:rPr>
              <a:t>M</a:t>
            </a:r>
          </a:p>
        </p:txBody>
      </p:sp>
      <p:sp>
        <p:nvSpPr>
          <p:cNvPr id="28" name="TextBox 27"/>
          <p:cNvSpPr txBox="1"/>
          <p:nvPr/>
        </p:nvSpPr>
        <p:spPr>
          <a:xfrm>
            <a:off x="7294098" y="1984248"/>
            <a:ext cx="808892" cy="411480"/>
          </a:xfrm>
          <a:prstGeom prst="rect">
            <a:avLst/>
          </a:prstGeom>
          <a:noFill/>
        </p:spPr>
        <p:txBody>
          <a:bodyPr wrap="square" anchor="t" lIns="0" rIns="0" tIns="0" bIns="0">
            <a:spAutoFit/>
          </a:bodyPr>
          <a:lstStyle/>
          <a:p>
            <a:pPr algn="ctr"/>
            <a:r>
              <a:rPr sz="2200" b="1">
                <a:solidFill>
                  <a:srgbClr val="0E2841"/>
                </a:solidFill>
                <a:latin typeface="Aptos Display"/>
              </a:rPr>
              <a:t>4</a:t>
            </a:r>
          </a:p>
        </p:txBody>
      </p:sp>
      <p:sp>
        <p:nvSpPr>
          <p:cNvPr id="29" name="TextBox 28"/>
          <p:cNvSpPr txBox="1"/>
          <p:nvPr/>
        </p:nvSpPr>
        <p:spPr>
          <a:xfrm>
            <a:off x="8102990" y="1746504"/>
            <a:ext cx="808892" cy="274320"/>
          </a:xfrm>
          <a:prstGeom prst="rect">
            <a:avLst/>
          </a:prstGeom>
          <a:noFill/>
        </p:spPr>
        <p:txBody>
          <a:bodyPr wrap="square" anchor="t" lIns="0" rIns="0" tIns="0" bIns="0">
            <a:spAutoFit/>
          </a:bodyPr>
          <a:lstStyle/>
          <a:p>
            <a:pPr algn="ctr"/>
            <a:r>
              <a:rPr sz="1200" b="1">
                <a:solidFill>
                  <a:srgbClr val="7A8B9E"/>
                </a:solidFill>
                <a:latin typeface="Aptos"/>
              </a:rPr>
              <a:t>J</a:t>
            </a:r>
          </a:p>
        </p:txBody>
      </p:sp>
      <p:sp>
        <p:nvSpPr>
          <p:cNvPr id="30" name="TextBox 29"/>
          <p:cNvSpPr txBox="1"/>
          <p:nvPr/>
        </p:nvSpPr>
        <p:spPr>
          <a:xfrm>
            <a:off x="8102990" y="1984248"/>
            <a:ext cx="808892" cy="411480"/>
          </a:xfrm>
          <a:prstGeom prst="rect">
            <a:avLst/>
          </a:prstGeom>
          <a:noFill/>
        </p:spPr>
        <p:txBody>
          <a:bodyPr wrap="square" anchor="t" lIns="0" rIns="0" tIns="0" bIns="0">
            <a:spAutoFit/>
          </a:bodyPr>
          <a:lstStyle/>
          <a:p>
            <a:pPr algn="ctr"/>
            <a:r>
              <a:rPr sz="2200" b="1">
                <a:solidFill>
                  <a:srgbClr val="0E2841"/>
                </a:solidFill>
                <a:latin typeface="Aptos Display"/>
              </a:rPr>
              <a:t>5</a:t>
            </a:r>
          </a:p>
        </p:txBody>
      </p:sp>
      <p:sp>
        <p:nvSpPr>
          <p:cNvPr id="31" name="TextBox 30"/>
          <p:cNvSpPr txBox="1"/>
          <p:nvPr/>
        </p:nvSpPr>
        <p:spPr>
          <a:xfrm>
            <a:off x="8911883" y="1746504"/>
            <a:ext cx="808892" cy="274320"/>
          </a:xfrm>
          <a:prstGeom prst="rect">
            <a:avLst/>
          </a:prstGeom>
          <a:noFill/>
        </p:spPr>
        <p:txBody>
          <a:bodyPr wrap="square" anchor="t" lIns="0" rIns="0" tIns="0" bIns="0">
            <a:spAutoFit/>
          </a:bodyPr>
          <a:lstStyle/>
          <a:p>
            <a:pPr algn="ctr"/>
            <a:r>
              <a:rPr sz="1200" b="1">
                <a:solidFill>
                  <a:srgbClr val="7A8B9E"/>
                </a:solidFill>
                <a:latin typeface="Aptos"/>
              </a:rPr>
              <a:t>V</a:t>
            </a:r>
          </a:p>
        </p:txBody>
      </p:sp>
      <p:sp>
        <p:nvSpPr>
          <p:cNvPr id="32" name="TextBox 31"/>
          <p:cNvSpPr txBox="1"/>
          <p:nvPr/>
        </p:nvSpPr>
        <p:spPr>
          <a:xfrm>
            <a:off x="8911883" y="1984248"/>
            <a:ext cx="808892" cy="411480"/>
          </a:xfrm>
          <a:prstGeom prst="rect">
            <a:avLst/>
          </a:prstGeom>
          <a:noFill/>
        </p:spPr>
        <p:txBody>
          <a:bodyPr wrap="square" anchor="t" lIns="0" rIns="0" tIns="0" bIns="0">
            <a:spAutoFit/>
          </a:bodyPr>
          <a:lstStyle/>
          <a:p>
            <a:pPr algn="ctr"/>
            <a:r>
              <a:rPr sz="2200" b="1">
                <a:solidFill>
                  <a:srgbClr val="0E2841"/>
                </a:solidFill>
                <a:latin typeface="Aptos Display"/>
              </a:rPr>
              <a:t>6</a:t>
            </a:r>
          </a:p>
        </p:txBody>
      </p:sp>
      <p:sp>
        <p:nvSpPr>
          <p:cNvPr id="33" name="TextBox 32"/>
          <p:cNvSpPr txBox="1"/>
          <p:nvPr/>
        </p:nvSpPr>
        <p:spPr>
          <a:xfrm>
            <a:off x="9720775" y="1746504"/>
            <a:ext cx="808892" cy="274320"/>
          </a:xfrm>
          <a:prstGeom prst="rect">
            <a:avLst/>
          </a:prstGeom>
          <a:noFill/>
        </p:spPr>
        <p:txBody>
          <a:bodyPr wrap="square" anchor="t" lIns="0" rIns="0" tIns="0" bIns="0">
            <a:spAutoFit/>
          </a:bodyPr>
          <a:lstStyle/>
          <a:p>
            <a:pPr algn="ctr"/>
            <a:r>
              <a:rPr sz="1200" b="1">
                <a:solidFill>
                  <a:srgbClr val="7A8B9E"/>
                </a:solidFill>
                <a:latin typeface="Aptos"/>
              </a:rPr>
              <a:t>S</a:t>
            </a:r>
          </a:p>
        </p:txBody>
      </p:sp>
      <p:sp>
        <p:nvSpPr>
          <p:cNvPr id="34" name="TextBox 33"/>
          <p:cNvSpPr txBox="1"/>
          <p:nvPr/>
        </p:nvSpPr>
        <p:spPr>
          <a:xfrm>
            <a:off x="9720775" y="1984248"/>
            <a:ext cx="808892" cy="411480"/>
          </a:xfrm>
          <a:prstGeom prst="rect">
            <a:avLst/>
          </a:prstGeom>
          <a:noFill/>
        </p:spPr>
        <p:txBody>
          <a:bodyPr wrap="square" anchor="t" lIns="0" rIns="0" tIns="0" bIns="0">
            <a:spAutoFit/>
          </a:bodyPr>
          <a:lstStyle/>
          <a:p>
            <a:pPr algn="ctr"/>
            <a:r>
              <a:rPr sz="2200" b="1">
                <a:solidFill>
                  <a:srgbClr val="0E2841"/>
                </a:solidFill>
                <a:latin typeface="Aptos Display"/>
              </a:rPr>
              <a:t>7</a:t>
            </a:r>
          </a:p>
        </p:txBody>
      </p:sp>
      <p:sp>
        <p:nvSpPr>
          <p:cNvPr id="35" name="Rounded Rectangle 34"/>
          <p:cNvSpPr/>
          <p:nvPr/>
        </p:nvSpPr>
        <p:spPr>
          <a:xfrm>
            <a:off x="10566243" y="1691640"/>
            <a:ext cx="735740" cy="868680"/>
          </a:xfrm>
          <a:prstGeom prst="round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29667" y="1746504"/>
            <a:ext cx="808892" cy="274320"/>
          </a:xfrm>
          <a:prstGeom prst="rect">
            <a:avLst/>
          </a:prstGeom>
          <a:noFill/>
        </p:spPr>
        <p:txBody>
          <a:bodyPr wrap="square" anchor="t" lIns="0" rIns="0" tIns="0" bIns="0">
            <a:spAutoFit/>
          </a:bodyPr>
          <a:lstStyle/>
          <a:p>
            <a:pPr algn="ctr"/>
            <a:r>
              <a:rPr sz="1200" b="1">
                <a:solidFill>
                  <a:srgbClr val="FFFFFF"/>
                </a:solidFill>
                <a:latin typeface="Aptos"/>
              </a:rPr>
              <a:t>D</a:t>
            </a:r>
          </a:p>
        </p:txBody>
      </p:sp>
      <p:sp>
        <p:nvSpPr>
          <p:cNvPr id="37" name="TextBox 36"/>
          <p:cNvSpPr txBox="1"/>
          <p:nvPr/>
        </p:nvSpPr>
        <p:spPr>
          <a:xfrm>
            <a:off x="10529667" y="1984248"/>
            <a:ext cx="808892" cy="411480"/>
          </a:xfrm>
          <a:prstGeom prst="rect">
            <a:avLst/>
          </a:prstGeom>
          <a:noFill/>
        </p:spPr>
        <p:txBody>
          <a:bodyPr wrap="square" anchor="t" lIns="0" rIns="0" tIns="0" bIns="0">
            <a:spAutoFit/>
          </a:bodyPr>
          <a:lstStyle/>
          <a:p>
            <a:pPr algn="ctr"/>
            <a:r>
              <a:rPr sz="2200" b="1">
                <a:solidFill>
                  <a:srgbClr val="FFFFFF"/>
                </a:solidFill>
                <a:latin typeface="Aptos Display"/>
              </a:rPr>
              <a:t>8</a:t>
            </a:r>
          </a:p>
        </p:txBody>
      </p:sp>
      <p:sp>
        <p:nvSpPr>
          <p:cNvPr id="38" name="TextBox 37"/>
          <p:cNvSpPr txBox="1"/>
          <p:nvPr/>
        </p:nvSpPr>
        <p:spPr>
          <a:xfrm>
            <a:off x="10346787" y="2606040"/>
            <a:ext cx="1174652" cy="274320"/>
          </a:xfrm>
          <a:prstGeom prst="rect">
            <a:avLst/>
          </a:prstGeom>
          <a:noFill/>
        </p:spPr>
        <p:txBody>
          <a:bodyPr wrap="square" anchor="t" lIns="0" rIns="0" tIns="0" bIns="0">
            <a:spAutoFit/>
          </a:bodyPr>
          <a:lstStyle/>
          <a:p>
            <a:pPr algn="ctr"/>
            <a:r>
              <a:rPr sz="1050" b="1">
                <a:solidFill>
                  <a:srgbClr val="0E2841"/>
                </a:solidFill>
                <a:latin typeface="Aptos"/>
              </a:rPr>
              <a:t>ENTREGA</a:t>
            </a:r>
          </a:p>
        </p:txBody>
      </p:sp>
      <p:sp>
        <p:nvSpPr>
          <p:cNvPr id="39" name="TextBox 38"/>
          <p:cNvSpPr txBox="1"/>
          <p:nvPr/>
        </p:nvSpPr>
        <p:spPr>
          <a:xfrm>
            <a:off x="822960" y="2926080"/>
            <a:ext cx="2743200" cy="274320"/>
          </a:xfrm>
          <a:prstGeom prst="rect">
            <a:avLst/>
          </a:prstGeom>
          <a:noFill/>
        </p:spPr>
        <p:txBody>
          <a:bodyPr wrap="square" anchor="t" lIns="0" rIns="0" tIns="0" bIns="0">
            <a:spAutoFit/>
          </a:bodyPr>
          <a:lstStyle/>
          <a:p>
            <a:pPr algn="l"/>
            <a:r>
              <a:rPr sz="1100" b="0">
                <a:solidFill>
                  <a:srgbClr val="7A8B9E"/>
                </a:solidFill>
                <a:latin typeface="Aptos"/>
              </a:rPr>
              <a:t>octubre</a:t>
            </a:r>
          </a:p>
        </p:txBody>
      </p:sp>
      <p:sp>
        <p:nvSpPr>
          <p:cNvPr id="40" name="TextBox 39"/>
          <p:cNvSpPr txBox="1"/>
          <p:nvPr/>
        </p:nvSpPr>
        <p:spPr>
          <a:xfrm>
            <a:off x="4867421" y="2926080"/>
            <a:ext cx="2743200" cy="274320"/>
          </a:xfrm>
          <a:prstGeom prst="rect">
            <a:avLst/>
          </a:prstGeom>
          <a:noFill/>
        </p:spPr>
        <p:txBody>
          <a:bodyPr wrap="square" anchor="t" lIns="0" rIns="0" tIns="0" bIns="0">
            <a:spAutoFit/>
          </a:bodyPr>
          <a:lstStyle/>
          <a:p>
            <a:pPr algn="l"/>
            <a:r>
              <a:rPr sz="1100" b="0">
                <a:solidFill>
                  <a:srgbClr val="7A8B9E"/>
                </a:solidFill>
                <a:latin typeface="Aptos"/>
              </a:rPr>
              <a:t>noviembre</a:t>
            </a:r>
          </a:p>
        </p:txBody>
      </p:sp>
      <p:cxnSp>
        <p:nvCxnSpPr>
          <p:cNvPr id="41" name="Connector 40"/>
          <p:cNvCxnSpPr/>
          <p:nvPr/>
        </p:nvCxnSpPr>
        <p:spPr>
          <a:xfrm>
            <a:off x="4849133" y="1645920"/>
            <a:ext cx="0" cy="4389120"/>
          </a:xfrm>
          <a:prstGeom prst="line">
            <a:avLst/>
          </a:prstGeom>
          <a:ln w="12700">
            <a:solidFill>
              <a:srgbClr val="D9E3EC"/>
            </a:solidFill>
            <a:prstDash val="dash"/>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59536" y="3429000"/>
            <a:ext cx="1544632" cy="420624"/>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77904" y="3429000"/>
            <a:ext cx="4937760" cy="420624"/>
          </a:xfrm>
          <a:prstGeom prst="rect">
            <a:avLst/>
          </a:prstGeom>
          <a:noFill/>
        </p:spPr>
        <p:txBody>
          <a:bodyPr wrap="square" anchor="ctr" lIns="0" rIns="0" tIns="0" bIns="0">
            <a:spAutoFit/>
          </a:bodyPr>
          <a:lstStyle/>
          <a:p>
            <a:pPr algn="l"/>
            <a:r>
              <a:rPr sz="1350" b="1">
                <a:solidFill>
                  <a:srgbClr val="0E2841"/>
                </a:solidFill>
                <a:latin typeface="Aptos"/>
              </a:rPr>
              <a:t>Etiquetar v1 y elegir tres criterios</a:t>
            </a:r>
          </a:p>
        </p:txBody>
      </p:sp>
      <p:sp>
        <p:nvSpPr>
          <p:cNvPr id="44" name="Rounded Rectangle 43"/>
          <p:cNvSpPr/>
          <p:nvPr/>
        </p:nvSpPr>
        <p:spPr>
          <a:xfrm>
            <a:off x="1668428" y="3977639"/>
            <a:ext cx="2353524" cy="420624"/>
          </a:xfrm>
          <a:prstGeom prst="roundRect">
            <a:avLst>
              <a:gd name="adj" fmla="val 4000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95689" y="3977639"/>
            <a:ext cx="4937760" cy="420624"/>
          </a:xfrm>
          <a:prstGeom prst="rect">
            <a:avLst/>
          </a:prstGeom>
          <a:noFill/>
        </p:spPr>
        <p:txBody>
          <a:bodyPr wrap="square" anchor="ctr" lIns="0" rIns="0" tIns="0" bIns="0">
            <a:spAutoFit/>
          </a:bodyPr>
          <a:lstStyle/>
          <a:p>
            <a:pPr algn="l"/>
            <a:r>
              <a:rPr sz="1350" b="1">
                <a:solidFill>
                  <a:srgbClr val="0E2841"/>
                </a:solidFill>
                <a:latin typeface="Aptos"/>
              </a:rPr>
              <a:t>v2: un flujo completo de punta a punta</a:t>
            </a:r>
          </a:p>
        </p:txBody>
      </p:sp>
      <p:sp>
        <p:nvSpPr>
          <p:cNvPr id="46" name="Rounded Rectangle 45"/>
          <p:cNvSpPr/>
          <p:nvPr/>
        </p:nvSpPr>
        <p:spPr>
          <a:xfrm>
            <a:off x="4095105" y="4526280"/>
            <a:ext cx="1544632" cy="420624"/>
          </a:xfrm>
          <a:prstGeom prst="roundRect">
            <a:avLst>
              <a:gd name="adj" fmla="val 4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813473" y="4526280"/>
            <a:ext cx="4937760" cy="420624"/>
          </a:xfrm>
          <a:prstGeom prst="rect">
            <a:avLst/>
          </a:prstGeom>
          <a:noFill/>
        </p:spPr>
        <p:txBody>
          <a:bodyPr wrap="square" anchor="ctr" lIns="0" rIns="0" tIns="0" bIns="0">
            <a:spAutoFit/>
          </a:bodyPr>
          <a:lstStyle/>
          <a:p>
            <a:pPr algn="l"/>
            <a:r>
              <a:rPr sz="1350" b="1">
                <a:solidFill>
                  <a:srgbClr val="0E2841"/>
                </a:solidFill>
                <a:latin typeface="Aptos"/>
              </a:rPr>
              <a:t>Medir v1 y v2</a:t>
            </a:r>
          </a:p>
        </p:txBody>
      </p:sp>
      <p:sp>
        <p:nvSpPr>
          <p:cNvPr id="48" name="Rounded Rectangle 47"/>
          <p:cNvSpPr/>
          <p:nvPr/>
        </p:nvSpPr>
        <p:spPr>
          <a:xfrm>
            <a:off x="4903997" y="5074920"/>
            <a:ext cx="1544632" cy="420624"/>
          </a:xfrm>
          <a:prstGeom prst="roundRect">
            <a:avLst>
              <a:gd name="adj" fmla="val 4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22366" y="5074920"/>
            <a:ext cx="4937760" cy="420624"/>
          </a:xfrm>
          <a:prstGeom prst="rect">
            <a:avLst/>
          </a:prstGeom>
          <a:noFill/>
        </p:spPr>
        <p:txBody>
          <a:bodyPr wrap="square" anchor="ctr" lIns="0" rIns="0" tIns="0" bIns="0">
            <a:spAutoFit/>
          </a:bodyPr>
          <a:lstStyle/>
          <a:p>
            <a:pPr algn="l"/>
            <a:r>
              <a:rPr sz="1350" b="1">
                <a:solidFill>
                  <a:srgbClr val="0E2841"/>
                </a:solidFill>
                <a:latin typeface="Aptos"/>
              </a:rPr>
              <a:t>FO-IV-159 completo y ensayo con cronómetro</a:t>
            </a:r>
          </a:p>
        </p:txBody>
      </p:sp>
      <p:sp>
        <p:nvSpPr>
          <p:cNvPr id="50" name="Rounded Rectangle 49"/>
          <p:cNvSpPr/>
          <p:nvPr/>
        </p:nvSpPr>
        <p:spPr>
          <a:xfrm>
            <a:off x="7330674" y="5623560"/>
            <a:ext cx="3971309" cy="420624"/>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173458" y="5623560"/>
            <a:ext cx="4937760" cy="420624"/>
          </a:xfrm>
          <a:prstGeom prst="rect">
            <a:avLst/>
          </a:prstGeom>
          <a:noFill/>
        </p:spPr>
        <p:txBody>
          <a:bodyPr wrap="square" anchor="ctr" lIns="0" rIns="0" tIns="0" bIns="0">
            <a:spAutoFit/>
          </a:bodyPr>
          <a:lstStyle/>
          <a:p>
            <a:pPr algn="r"/>
            <a:r>
              <a:rPr sz="1350" b="1">
                <a:solidFill>
                  <a:srgbClr val="0E2841"/>
                </a:solidFill>
                <a:latin typeface="Aptos"/>
              </a:rPr>
              <a:t>Ajustes con la retroalimentación y subir la A3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9875520" cy="457200"/>
          </a:xfrm>
          <a:prstGeom prst="rect">
            <a:avLst/>
          </a:prstGeom>
          <a:noFill/>
        </p:spPr>
        <p:txBody>
          <a:bodyPr wrap="square" anchor="t" lIns="0" rIns="0" tIns="0" bIns="0">
            <a:spAutoFit/>
          </a:bodyPr>
          <a:lstStyle/>
          <a:p>
            <a:pPr algn="l"/>
            <a:r>
              <a:rPr sz="1600" b="1">
                <a:solidFill>
                  <a:srgbClr val="009540"/>
                </a:solidFill>
                <a:latin typeface="Aptos"/>
              </a:rPr>
              <a:t>Para llevarse</a:t>
            </a:r>
          </a:p>
        </p:txBody>
      </p:sp>
      <p:sp>
        <p:nvSpPr>
          <p:cNvPr id="4" name="TextBox 3"/>
          <p:cNvSpPr txBox="1"/>
          <p:nvPr/>
        </p:nvSpPr>
        <p:spPr>
          <a:xfrm>
            <a:off x="1188720" y="2011680"/>
            <a:ext cx="9875520" cy="2377440"/>
          </a:xfrm>
          <a:prstGeom prst="rect">
            <a:avLst/>
          </a:prstGeom>
          <a:noFill/>
        </p:spPr>
        <p:txBody>
          <a:bodyPr wrap="square" anchor="t" lIns="0" rIns="0" tIns="0" bIns="0">
            <a:spAutoFit/>
          </a:bodyPr>
          <a:lstStyle/>
          <a:p>
            <a:pPr algn="l">
              <a:lnSpc>
                <a:spcPct val="110000"/>
              </a:lnSpc>
            </a:pPr>
            <a:r>
              <a:rPr sz="4000" b="1">
                <a:solidFill>
                  <a:srgbClr val="FFFFFF"/>
                </a:solidFill>
                <a:latin typeface="Aptos Display"/>
              </a:rPr>
              <a:t>La sustentación no describe la v2.
La compara contra la v1, con números.</a:t>
            </a:r>
          </a:p>
        </p:txBody>
      </p:sp>
      <p:sp>
        <p:nvSpPr>
          <p:cNvPr id="5" name="TextBox 4"/>
          <p:cNvSpPr txBox="1"/>
          <p:nvPr/>
        </p:nvSpPr>
        <p:spPr>
          <a:xfrm>
            <a:off x="1188720" y="4754880"/>
            <a:ext cx="9875520" cy="822960"/>
          </a:xfrm>
          <a:prstGeom prst="rect">
            <a:avLst/>
          </a:prstGeom>
          <a:noFill/>
        </p:spPr>
        <p:txBody>
          <a:bodyPr wrap="square" anchor="t" lIns="0" rIns="0" tIns="0" bIns="0">
            <a:spAutoFit/>
          </a:bodyPr>
          <a:lstStyle/>
          <a:p>
            <a:pPr algn="l"/>
            <a:r>
              <a:rPr sz="1600" b="0">
                <a:solidFill>
                  <a:srgbClr val="E8E8E8"/>
                </a:solidFill>
                <a:latin typeface="Aptos"/>
              </a:rPr>
              <a:t>Próximo encuentro: martes 3 de noviembre, 8:20 p. m., mismo enlace de Meet.  Presentación, guía y FO-IV-159 en el aula.</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897880"/>
            <a:ext cx="750963" cy="6858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Institucional-con-advertencia-Vigilado-Mineducacion-Blanco.png"/>
          <p:cNvPicPr>
            <a:picLocks noChangeAspect="1"/>
          </p:cNvPicPr>
          <p:nvPr/>
        </p:nvPicPr>
        <p:blipFill>
          <a:blip r:embed="rId2"/>
          <a:stretch>
            <a:fillRect/>
          </a:stretch>
        </p:blipFill>
        <p:spPr>
          <a:xfrm>
            <a:off x="5144780" y="914400"/>
            <a:ext cx="1902439" cy="1737360"/>
          </a:xfrm>
          <a:prstGeom prst="rect">
            <a:avLst/>
          </a:prstGeom>
        </p:spPr>
      </p:pic>
      <p:sp>
        <p:nvSpPr>
          <p:cNvPr id="4" name="TextBox 3"/>
          <p:cNvSpPr txBox="1"/>
          <p:nvPr/>
        </p:nvSpPr>
        <p:spPr>
          <a:xfrm>
            <a:off x="457200" y="3200400"/>
            <a:ext cx="11274552" cy="1097280"/>
          </a:xfrm>
          <a:prstGeom prst="rect">
            <a:avLst/>
          </a:prstGeom>
          <a:noFill/>
        </p:spPr>
        <p:txBody>
          <a:bodyPr wrap="square" anchor="t" lIns="0" rIns="0" tIns="0" bIns="0">
            <a:spAutoFit/>
          </a:bodyPr>
          <a:lstStyle/>
          <a:p>
            <a:pPr algn="ctr"/>
            <a:r>
              <a:rPr sz="5400" b="1">
                <a:solidFill>
                  <a:srgbClr val="FFFFFF"/>
                </a:solidFill>
                <a:latin typeface="Aptos Display"/>
              </a:rPr>
              <a:t>¿Preguntas?</a:t>
            </a:r>
          </a:p>
        </p:txBody>
      </p:sp>
      <p:sp>
        <p:nvSpPr>
          <p:cNvPr id="5" name="TextBox 4"/>
          <p:cNvSpPr txBox="1"/>
          <p:nvPr/>
        </p:nvSpPr>
        <p:spPr>
          <a:xfrm>
            <a:off x="457200" y="4709160"/>
            <a:ext cx="11274552" cy="457200"/>
          </a:xfrm>
          <a:prstGeom prst="rect">
            <a:avLst/>
          </a:prstGeom>
          <a:noFill/>
        </p:spPr>
        <p:txBody>
          <a:bodyPr wrap="square" anchor="t" lIns="0" rIns="0" tIns="0" bIns="0">
            <a:spAutoFit/>
          </a:bodyPr>
          <a:lstStyle/>
          <a:p>
            <a:pPr algn="ctr"/>
            <a:r>
              <a:rPr sz="1400" b="0">
                <a:solidFill>
                  <a:srgbClr val="E8E8E8"/>
                </a:solidFill>
                <a:latin typeface="Aptos"/>
              </a:rPr>
              <a:t>Jesús Ariel González Bonilla  ·  ariel5253@hotmail.com</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7b9d0d2-0928-4bc7-b1e7-d815d07dd502" xsi:nil="true"/>
    <lcf76f155ced4ddcb4097134ff3c332f xmlns="3b21ab7c-7e7a-493b-a43f-a219844d5b04">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6AC4B3079F3F14986B23BC4E8B1044F" ma:contentTypeVersion="16" ma:contentTypeDescription="Crear nuevo documento." ma:contentTypeScope="" ma:versionID="04f898694b3caf94c38805e82f5c0fb9">
  <xsd:schema xmlns:xsd="http://www.w3.org/2001/XMLSchema" xmlns:xs="http://www.w3.org/2001/XMLSchema" xmlns:p="http://schemas.microsoft.com/office/2006/metadata/properties" xmlns:ns2="3b21ab7c-7e7a-493b-a43f-a219844d5b04" xmlns:ns3="c7b9d0d2-0928-4bc7-b1e7-d815d07dd502" targetNamespace="http://schemas.microsoft.com/office/2006/metadata/properties" ma:root="true" ma:fieldsID="1d46ddd55854086af038f8f8e7145c9b" ns2:_="" ns3:_="">
    <xsd:import namespace="3b21ab7c-7e7a-493b-a43f-a219844d5b04"/>
    <xsd:import namespace="c7b9d0d2-0928-4bc7-b1e7-d815d07dd50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21ab7c-7e7a-493b-a43f-a219844d5b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c63f703e-4260-42db-90e1-1bf1f8b4f72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b9d0d2-0928-4bc7-b1e7-d815d07dd502"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22966853-71d8-4c3c-a2a1-eb1a25e46692}" ma:internalName="TaxCatchAll" ma:showField="CatchAllData" ma:web="c7b9d0d2-0928-4bc7-b1e7-d815d07dd5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55C560-F379-4979-BDAB-85ADD41BF196}">
  <ds:schemaRefs>
    <ds:schemaRef ds:uri="http://schemas.microsoft.com/office/2006/metadata/properties"/>
    <ds:schemaRef ds:uri="http://schemas.microsoft.com/office/infopath/2007/PartnerControls"/>
    <ds:schemaRef ds:uri="c7b9d0d2-0928-4bc7-b1e7-d815d07dd502"/>
    <ds:schemaRef ds:uri="3b21ab7c-7e7a-493b-a43f-a219844d5b04"/>
  </ds:schemaRefs>
</ds:datastoreItem>
</file>

<file path=customXml/itemProps2.xml><?xml version="1.0" encoding="utf-8"?>
<ds:datastoreItem xmlns:ds="http://schemas.openxmlformats.org/officeDocument/2006/customXml" ds:itemID="{5203D28F-282C-474C-8EAC-7F31992D2966}">
  <ds:schemaRefs>
    <ds:schemaRef ds:uri="http://schemas.microsoft.com/sharepoint/v3/contenttype/forms"/>
  </ds:schemaRefs>
</ds:datastoreItem>
</file>

<file path=customXml/itemProps3.xml><?xml version="1.0" encoding="utf-8"?>
<ds:datastoreItem xmlns:ds="http://schemas.openxmlformats.org/officeDocument/2006/customXml" ds:itemID="{10F9C096-F130-4ECE-8018-26CD4E103B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21ab7c-7e7a-493b-a43f-a219844d5b04"/>
    <ds:schemaRef ds:uri="c7b9d0d2-0928-4bc7-b1e7-d815d07dd5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TotalTime>
  <Words>0</Words>
  <Application>Microsoft Office PowerPoint</Application>
  <PresentationFormat>Panorámica</PresentationFormat>
  <Paragraphs>0</Paragraphs>
  <Slides>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Aptos</vt:lpstr>
      <vt:lpstr>Aptos Display</vt:lpstr>
      <vt:lpstr>Arial</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acomunicaciones</dc:creator>
  <cp:lastModifiedBy>Oficina de Comunicaciones</cp:lastModifiedBy>
  <cp:revision>6</cp:revision>
  <dcterms:created xsi:type="dcterms:W3CDTF">2026-01-26T14:49:45Z</dcterms:created>
  <dcterms:modified xsi:type="dcterms:W3CDTF">2026-02-13T20:05:23Z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0x01010076AC4B3079F3F14986B23BC4E8B1044F</vt:lpwstr>
  </property>
</Properties>
</file>
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4"/>
  </p:sldMasterIdLst>
  <p:sldIdLst>
    <p:sldId id="256" r:id="rId7"/>
    <p:sldId id="257" r:id="rId6"/>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58"/>
  </p:normalViewPr>
  <p:slideViewPr>
    <p:cSldViewPr snapToGrid="0">
      <p:cViewPr varScale="1">
        <p:scale>
          <a:sx n="106" d="100"/>
          <a:sy n="106"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0-4). Lanzar la pregunta y pedir a cada equipo una respuesta sobre su propio reto, no sobre un sistema imaginario. Anotar en el tablero las respuestas agrupadas en tres columnas: carga, cambio y pruebas. Al final del encuentro se vuelve a ese tablero: cada columna apunta a una familia de patrones distinta. Idea que se instala desde el principio: la v2 no se elige por moda, se elige por el dolor que ya mostró la v1.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Este deck es material de apoyo de la unidad completa, no el guion de la hora. Recorrido en vivo (50 min): apertura (min 0-4); las dos familias (min 4-6); un slide por patrón con su idea central y su «cuándo sí y cuándo no» (min 6-30); CAP y cada operación del reto (min 30-37); el método de decisión y la matriz de Mercado Campesino (min 37-44); los criterios de comparación y la síntesis (min 44-50). Los slides de código y las tablas largas quedan de consulta junto con la OVA, que trae cada fragmento en Java y en Python. Objetivo adicional de la OVA: diseñar la comparación v1 vs v2 para el FO-IV-159.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4-6). El PDF institucional los presenta en otro orden (microservicios, serverless, hexagonal, event-driven, cloud-native, CQRS); aquí se agrupan por la pregunta que responden, porque así se comparan y se combinan mejor. Un sistema real casi siempre usa uno de cada familia. Rasgos que comparten, según el material de la Unidad 3: modularidad extrema, elasticidad y autoajuste, asincronía, servicios gestionados, separación de responsabilidades y resistencia al cambio y al fallo (circuit breaker, versionado de APIs).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Es el ejemplo del material: un registro de servicios (Eureka), un API Gateway y dos servicios con base H2 propia. Pedidos valida el producto llamando por HTTP a Productos. Pregunta para el grupo: si Productos se cae, ¿qué le pasa a Pedidos? Respuesta: también falla. La autonomía de despliegue no trae sola la autonomía en ejecución; para eso se agrega un circuit breaker o se pasa a eventos. Plataformas globales de comercio y streaming son el uso típico que menciona el material.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Los cinco fundamentos del material. Las características operativas se siguen de ahí: autonomía sobre el ciclo de vida, especialización por función, comunicación ligera (HTTP, gRPC, Kafka, RabbitMQ) e infraestructura automatizada (Kubernetes, Prometheus, CI/CD). Sin esta última, operar diez servicios a mano es inviable.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Feign genera el cliente HTTP a partir de la interfaz y resuelve el nombre product-service en Eureka. La última línea parece una llamada local, pero cruza la red: puede tardar, fallar o devolver 404 (Feign lanza FeignException.NotFound). La OVA trae la versión completa y la equivalente en Python con FastAPI y requests. El material sugiere Hystrix como circuit breaker; hoy se usa Resilience4j, porque Hystrix está en modo de mantenimiento desde 2018.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Desventajas del material: complejidad operativa, latencia entre servicios, consistencia de datos (sagas, más adelante), sobreingeniería en sistemas pequeños y más superficie de ataque. Uso que importa en el curso: migrar un monolito por partes, extrayendo un módulo a la vez (strangler fig, Fowler 2004). Monolito distribuido: servicios que comparten tablas y no se pueden desplegar por separado; cobra los costos de los dos estilos.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Microservicios, porque cada servicio se despliega y escala por separado. Caso: el módulo de pagos debe desplegarse sin coordinar con los demás y escalar solo en temporada alta. Despliegue y escalado independientes son la promesa central de los microservicios; hexagonal organiza el interior pero se puede desplegar como una unidad.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Los servidores existen, pero están abstraídos: es el modelo de funciones como servicio (AWS Lambda, Azure Functions, Google Cloud Functions). Fundamentos del material: ejecución dirigida por eventos, escalado automático desde cero, sin estado, pago por uso e integración con servicios gestionados. Ejemplo local: AquaBetania podría tener una función por alerta de oxígeno bajo, que solo corre cuando hay una lectura fuera de umbral.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Versión abreviada del ejemplo del material; la de la OVA valida los campos obligatorios antes de guardar y trae también el manejador en Java (RequestHandler de AWS). La tabla se crea fuera del manejador: el proveedor reutiliza el contenedor mientras está caliente y así no se reconecta en cada invocación. El estado vive en DynamoDB, nunca en la función. La infraestructura se declara en una plantilla de AWS SAM.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Arranque en frío: la primera ejecución tras un periodo de inactividad tarda más. Además, el material señala depuración compleja (trazas distribuidas, AWS X-Ray) y costos impredecibles con carga alta. Aplicaciones típicas: APIs ligeras, ETL y procesamiento de archivos, tareas programadas (respaldos, recordatorios), chatbots e IoT.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Las funciones no guardan estado entre ejecuciones; el estado vive en servicios externos. Las funciones son efímeras y sin estado, por eso el ejemplo guarda los pedidos en DynamoDB. Los servidores existen pero están abstraídos, el pago por uso puede salir caro con carga constante y hay un límite de ejecución (15 minutos en Lambda).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Los cinco fundamentos del material: microservicios, contenedores, orquestación dinámica, infraestructura como código y CI/CD. Mudar un monolito a una máquina virtual alquilada (lift and shift) no lo vuelve cloud-native. Definición de la Cloud Native Computing Foundation (2018): contenedores, microservicios, infraestructura inmutable y APIs declarativas para sistemas resilientes, gestionables y observables.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Tres precisiones sobre el ejemplo del material, que la OVA desarrolla: replicas 3 fija tres copias y el autoescalado lo agrega un HorizontalPodAutoscaler; la readiness probe solo funciona si la aplicación expone /health (el código Python del material no lo define); y la imagen openjdk del Dockerfile está descontinuada, se reemplaza por eclipse-temurin. La OVA trae los Dockerfile de Java (Spring Boot) y Python (FastAPI) y el manifiesto completo.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Configuración externa: regla de The Twelve-Factor App (Wiggins, 2011); el ejemplo Python del material pone la contraseña de la base dentro del YAML, y eso es lo que no se hace. Desventajas del material: complejidad de gestión, atadura a servicios gestionados, costos imprevisibles por autoescalado sin límites, seguridad distribuida y curva de aprendizaje alta.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Que está diseñada para contenedores, orquestación, configuración externa y despliegue automatizado. Mudar un monolito a una máquina virtual (lift and shift) no lo vuelve cloud-native. Lo cloud-native es el diseño: contenedores, un orquestador que escala y repara, infraestructura como código y CI/CD.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Puertos de entrada (primarios): lo que el mundo puede pedirle al núcleo, los casos de uso. Puertos de salida (secundarios): lo que el núcleo necesita del mundo. Los adaptadores los implementan. Las llamadas entran y salen, pero el código del adaptador depende de la interfaz del núcleo, nunca al revés. El hexágono no significa seis lados: es la imagen de un núcleo con muchas entradas y salidas equivalentes.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TransferService implementa TransferUseCase y recibe un AccountRepository por constructor; no importa Spring ni JPA. La OVA trae la prueba en Python: un repositorio en memoria reemplaza a la base de datos y el caso de uso se prueba en milisegundos. Esa prueba es el argumento más fuerte del patrón. El ejemplo usa double por brevedad; con dinero real se usa BigDecimal.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Ejemplo local: CitaSalud valida derechos contra un servicio externo simulado; con hexagonal, ese servicio es un adaptador de salida y se reemplaza sin tocar la regla de asignación. Usos del material: banca y cumplimiento normativo, migración de sistemas heredados y cada microservicio construido por dentro como un hexágono. Desventajas: diseño inicial cuidadoso, curva frente a MVC, más código de interfaces y mapeos.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Hacia el núcleo: el dominio define los puertos y los adaptadores los implementan. Es la inversión de dependencias del patrón. El núcleo declara las interfaces y los adaptadores dependen de ellas. Por eso el dominio se prueba sin base de datos.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Un evento es un hecho que ya ocurrió, inmutable. El productor no sabe quién lo consume ni cuándo; productor y consumidor ni siquiera tienen que estar activos a la vez. Ejemplos de procesamiento del material: correo tras una compra (simple), fraude en transacciones (streaming), un sensor que falla tres veces en cinco minutos (complejo, CEP). AquaBetania y TrazaCafé tienen candidatos event-driven en el catálogo.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Agregar un InventoryService es una línea más de subscribe, sin tocar el productor: esa es la extensibilidad del patrón. Pero este broker vive en memoria: si el proceso se cae, los eventos pendientes se pierden. La tolerancia a fallos la da un broker persistente (Kafka, RabbitMQ), no el patrón por sí solo. La OVA trae la versión Java con ExecutorService.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Provocar: pedir al grupo que nombre el evento que publica su v1 cuando se confirma una operación del reto; corregir los nombres en imperativo. Idempotente: procesar dos veces el mismo evento deja el mismo resultado; si no, se envían dos avisos o se descuenta dos veces el inventario (Hohpe y Woolf, 2003). Desventajas del material: depuración difícil, sincronización de estados, latencia en CEP y costo del broker.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PedidoConfirmado. Un evento cuenta un hecho que ya ocurrió, en pasado, y deja que cada consumidor decida cómo reaccionar. Los otros tres son órdenes: atan al productor con un consumidor concreto.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Comandos cambian el estado; consultas lo leen. El modelo de escritura prioriza reglas y transacciones ACID; el de lectura, velocidad, y suele estar desnormalizado. El ejemplo del material es un catálogo de biblioteca con RabbitMQ entre los dos servicios. Event sourcing se combina a menudo con CQRS, pero es opcional.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El lado de comandos guarda el libro en PostgreSQL y publica BookCreatedEvent; este listener lo recibe y actualiza el modelo de lectura. Si el proceso cae entre la escritura y la publicación, la lectura queda desactualizada para siempre (data drift, en el material). Solución habitual: el patrón outbox, que guarda el evento en la misma transacción y lo publica después (Richardson, 2018). La OVA trae los dos lados en Java y el de comandos en Python.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El material advierte que CQRS no sirve donde se exige consistencia inmediata, como una reserva en tiempo real. Matiz clave para CitaSalud y RutaSur: no se descarta el patrón, se separa la consulta (agendas, disponibilidad) y la regla de asignación se queda en el lado de comandos con consistencia fuerte.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Dejar la asignación en el lado de comandos y llevar solo la consulta de agendas a lectura. La regla de cero doble asignación pertenece al lado de comandos. La consulta de agendas tolera unos segundos de retraso, que se corrigen al confirmar. CQRS no exige event sourcing ni dos bases de datos.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(en vivo, solo la idea). La tabla completa de la OVA agrega dos columnas: el problema que resuelve cada patrón y la señal de que no conviene. Primera ley de Richards y Ford (2020): todo es un compromiso. Cada fila dice qué se gana y qué se paga.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Se elige uno por pregunta: uno de reparto y uno de lógica. En el foro, una buena respuesta suele ser una combinación («hexagonal con eventos», «microservicios con CQRS en la consulta»), siempre que cada parte esté justificada por un atributo de calidad del reto y no por una lista de tecnologías. Mercado Campesino v2 es hexagonal con eventos.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30-34). Es el teorema prometido en la Unidad 1. Brewer lo propuso en 2000; Gilbert y Lynch (2002) lo demostraron. C: toda lectura ve la última escritura confirmada. A: todo nodo que no ha fallado responde. P: el sistema sigue aunque se pierdan mensajes entre nodos. «Elija dos de tres» es engañoso: las particiones no se pueden descartar, la elección real es qué hacer cuando ocurren. Brewer (2012): fuera de las particiones no se renuncia a nada, y la elección se hace por operación. Abadi (2012): aun sin particiones, replicar obliga a escoger entre latencia y consistencia.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34-37). Pedir a cada equipo que clasifique dos operaciones de su reto. La OVA agrega dos filas: el catálogo de RutaSur (AP) y el radicado único de PQRS Ciudadana (CP, tiene efectos legales). Consistencia eventual: si no llegan escrituras nuevas, todas las réplicas terminan mostrando el mismo valor. Es la consistencia de event-driven y de CQRS.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Con una base por microservicio, una operación que toca varios servicios ya no cabe en una transacción ACID. La saga es una secuencia de transacciones locales, cada una con una acción compensatoria que deshace su efecto si un paso posterior falla (García-Molina y Salem, 1987). Se coordina por coreografía (cada servicio reacciona a eventos; acopla menos) o por orquestación (un coordinador; más fácil de seguir y depurar), según Richardson (2018). El ejemplo es RutaSur.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Consistencia y disponibilidad. Las particiones no se pueden descartar, así que la elección real es responder siempre aunque el dato esté desactualizado (AP) o esperar o rechazar para no devolver datos viejos (CP). La elección puede hacerse por operación.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37-40). Segunda ley de Richards y Ford (2020): el porqué importa más que el cómo. Dolor con evidencia: no «la v1 no escala», sino «agregar el aviso por correo obligó a tocar el controlador, el servicio y su prueba». Los criterios salen de los atributos de calidad del Hito 1 y siempre incluyen el costo de operación y la capacidad del equipo. Los pesos suman 100 y se fijan antes de puntuar. La decisión se registra: contexto, alternativas, decisión y consecuencias.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40-44). Ponderado = puntaje de 1 a 5 por peso / 100. El ejemplo es ilustrativo: cada equipo justifica sus puntajes con su v1. La v1 en capas con MVC resolvió el dolor del diagnóstico, pero cada aviso nuevo obliga a tocar el servicio de pedidos, el armado de rutas tras el cierre del jueves a las 6 p. m. sigue manual y probar los precios exige la base de datos. Sensibilidad: con disponibilidad en 40 y modificabilidad en 20, los totales son 4,00 y 3,40; la decisión no cambia. Costo aceptado: operar un broker y consistencia eventual en avisos y rutas. Riesgo: perder un evento; mitigación: broker persistente y consumidores idempotentes.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(cierre de la sección). Hito 3, foro de la Unidad 3 (20 %), individual: aporte principal de mínimo 200 palabras y dos réplicas significativas, con fuentes académicas y tono profesional. Vence el domingo 1 de noviembre a las 11:59 p. m. Réplica significativa: cuestiona un costo que el compañero no consideró, propone una combinación mejor o aporta evidencia que contradice su puntaje. «Estoy de acuerdo» no es una réplica. La práctica opcional de la unidad prepara la matriz y el borrador.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44-47). Se eligen al menos tres de la Guía del proyecto de aula. Herramientas posibles: git diff --stat para el costo de un cambio; ArchUnit (Java) o import-linter (Python) para el acoplamiento; k6 o JMeter para el rendimiento; JUnit con JaCoCo o pytest con coverage.py para las pruebas. El percentil 95 muestra lo que vive el usuario en los momentos de carga, que es lo que pide el escenario de calidad. Repetir cada medición y reportar también lo que empeoró: la v2 tiene más archivos y la latencia del broker. La tabla va en el documento técnico (Anexo 2) y se resume en Resultados del FO-IV-159.</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Es la v2 que construyen los manuales de la Unidad 3 en Java con Spring Boot. El cambio para comparar las dos versiones: avisar al productor cuando su producto entra en un pedido confirmado. En la v1 se modifica el servicio de pedidos y su prueba; en la v2 se agrega un consumidor del evento y el dominio no se toca. Cuántos archivos y líneas cuesta cada uno lo mide el equipo: el diseño solo predice la dirección. Antes de empezar la v2: git tag v1 y git push --tags.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La misma funcionalidad en v1 y v2, etiquetadas en git, contando archivos y líneas. La comparación es contra la v1 propia, que existe y se puede ejecutar, y se mide lo mismo en las dos versiones. Así deja de ser opinión y se vuelve evidencia para el documento técnico y el FO-IV-159.</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Son cinco de los nueve errores comunes de la OVA. Los otros cuatro: hexagonal solo de carpetas (el dominio importa JPA o Spring), consumidores que no toleran duplicados, serverless para procesos largos o con estado, y llamar cloud-native a una máquina virtual en la nube. Además, una tabla en la que la v2 gana en todo suele ser una tabla incompleta.</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47-50). Síntesis y próximos pasos: (1) la Actividad 2 (v1, en equipo) vence el domingo 25 de octubre; (2) el foro de la Unidad 3 (Hito 3, individual) vence el domingo 1 de noviembre; (3) el martes 27 de octubre es la asesoría del proyecto de aula, con avance de la v2 y borrador del FO-IV-159; (4) la sustentación es el martes 3 de noviembre y la Actividad 3 se entrega el domingo 8 de noviembre a las 11:59 p. m. La Actividad 3 es de equipo: v2, documento técnico de mínimo 2.000 palabras en APA, repositorio con README, presentación y el informe FO-IV-159 con su .zip de anexos (Anexo 1: fotos y capturas; Anexo 2: documento técnico, repositorio y presentación). La OVA, la práctica y el manual de la Unidad 3 están enlazados en el aula.</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Las tres primeras son la bibliografía destacada de la Clase digital 3. Referencias completas en APA en la sección 13 de la OVA, que además incluye a Abadi (2012), García-Molina y Salem (1987), Hohpe y Woolf (2003), Richardson (2018), Fowler (2004), Wiggins (2011), la definición de la CNCF (2018) y el PDF institucional de la Unidad 3. Para el foro y la Actividad 3 cuentan como fuentes académicas los libros, artículos y conferencias; no los blogs.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C6517A-6E51-D8FF-5518-33DCF1BB831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BA5F916A-7D6A-E8AF-439A-8D6840C6F0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C846680D-0A49-4B54-F51B-03AA27F6B2CE}"/>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5396F560-F0B8-AB29-82CA-A2DDE7D3568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5D50BE2-EBBD-61B9-3E6C-B4C2BA988EBE}"/>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4168766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8836D1-D4F9-8F5A-DCDD-25408D7D36D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551DC57-A21A-5278-EC55-4C245B3FC0B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02E49EC-4920-0E2F-9C8B-0B674CB07209}"/>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F31254A-3742-246E-D797-82A0482FE25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2D15C84-0D5E-FBD8-F4A6-A48214F7CB87}"/>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553980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5FBBEC-EF89-8C3C-71B9-577DC2668AB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6B7EF770-ACB6-2BA3-E667-9EBABFB4AE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DAD28F8-48D0-258C-AD9D-D166F7F2D745}"/>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68163DA-7927-EC0F-B832-B0D9CEF2421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7D2D961-09A6-F702-5A58-9A2E9D96BDE2}"/>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714478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EAE57A-7BC8-A4F0-8EC3-29FA071B4D3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66DB23D6-B010-B5CB-011A-B03D0B3E9DF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180C2A42-464D-5E30-A614-F5201EA4318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6B7E369D-DA34-3508-5F83-FE255ACE6A7E}"/>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5FAF6228-C474-55C2-F2A3-A80C9ECB9BE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E2CA109-4F43-98C5-5BA6-85F5B496EC33}"/>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215908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ADADB-6CDF-BDB1-1300-FAEA2D84BEE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07B4924-BB64-D547-A28B-666362350C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07D8AA5-BF4A-D02D-E702-0FBE685A508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6BC7471-CDF8-0C0F-6D28-4001FC2838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33769A5-222B-5317-4503-6E9D363E28B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A17FE0D7-3EEC-E3E6-7C86-CF7C18AB6C98}"/>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8" name="Marcador de pie de página 7">
            <a:extLst>
              <a:ext uri="{FF2B5EF4-FFF2-40B4-BE49-F238E27FC236}">
                <a16:creationId xmlns:a16="http://schemas.microsoft.com/office/drawing/2014/main" id="{C8EFF3E5-4BD9-D039-6F0A-0A92B04A1CBC}"/>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8DF0DEE6-C861-6117-2772-892873D92EAD}"/>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448347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91AA1F-2C39-64AF-4C6F-BF1C44530D3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F0E135E8-59EC-9B87-4141-B4E0DEA152F1}"/>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4" name="Marcador de pie de página 3">
            <a:extLst>
              <a:ext uri="{FF2B5EF4-FFF2-40B4-BE49-F238E27FC236}">
                <a16:creationId xmlns:a16="http://schemas.microsoft.com/office/drawing/2014/main" id="{22565AFD-1683-D460-140D-9F48CBCBAB0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3E711735-1F41-F218-7243-AC89EA548BC9}"/>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261154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188DA81-50FE-72AF-6F22-3D317B92F3BC}"/>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3" name="Marcador de pie de página 2">
            <a:extLst>
              <a:ext uri="{FF2B5EF4-FFF2-40B4-BE49-F238E27FC236}">
                <a16:creationId xmlns:a16="http://schemas.microsoft.com/office/drawing/2014/main" id="{4DADFFC1-222F-FA4F-F745-4AECF65CE08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AFB47231-DA7E-E86D-0ECA-3CD935CB1700}"/>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469125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6A5293-4CAF-8D46-B44D-99EAF11FD55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AA782D5-A60C-369C-7F2E-20DC36F50E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53C7E45F-8F4D-4A4A-AD2B-580AA0500F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E49A9D3-41A6-5F05-3785-C76553A3237C}"/>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F339118E-A5D9-04A8-223B-C952BE30109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0AFCCC82-59BC-CBA8-F9A5-1C4603AD8128}"/>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328771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0C677B-1ABC-81D6-857F-7E1F6785CB1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B8FFF9DA-1F76-6604-0F69-D17DFFA8AD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94FD3A44-53F9-E2AD-4B37-3C2CD8A25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EA3A846-4373-5BFE-DCED-CDECAACAAD8F}"/>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C0137096-4AD9-8D1E-B119-EDDF0F3EA80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7ADAE5B-0E78-C71A-B918-853E86CE07AC}"/>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464844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A2BA9E-020E-BCD8-9EA9-9BDFB1673E5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D2EE6B7-CD7D-EA57-7B4D-87C2F63C8D6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6BA0735-0CBD-5147-C06C-3B03006C1423}"/>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CCAF2C5-C162-2021-6EDC-A716463031D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6AD3F66-F4A3-A221-BA4A-2F327442751D}"/>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161594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64F149B-9E13-3157-0B62-971D8EB526C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F87BBD2-5343-3A5D-564E-2D534BC7D0F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CB2F397-0E8A-92C8-93C4-9018446E3819}"/>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216F7EEE-EA06-5E8F-8174-D1B755A7BBE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D7410F1-59DC-8093-6A75-33AE1285CCFE}"/>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7039316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1D6B204-4AEE-9E74-8DF2-926D69EDA9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8E631246-8F97-5699-6653-D3A77D7644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73B2563-9278-5DCC-E5B5-CCE80A0280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74AD3EE7-759B-C8A2-7A15-CC1FFB8018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99BE85B8-1FF9-DDC6-E068-D7EEA7240D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08E7FD-F6A8-D246-986A-AA7D283E6007}" type="slidenum">
              <a:rPr lang="es-CO" smtClean="0"/>
              <a:t>‹Nº›</a:t>
            </a:fld>
            <a:endParaRPr lang="es-CO"/>
          </a:p>
        </p:txBody>
      </p:sp>
    </p:spTree>
    <p:extLst>
      <p:ext uri="{BB962C8B-B14F-4D97-AF65-F5344CB8AC3E}">
        <p14:creationId xmlns:p14="http://schemas.microsoft.com/office/powerpoint/2010/main" val="196690471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20440"/>
            <a:ext cx="11734800" cy="25146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Institucional-con-advertencia-Vigilado-Mineducacion-Blanco.png"/>
          <p:cNvPicPr>
            <a:picLocks noChangeAspect="1"/>
          </p:cNvPicPr>
          <p:nvPr/>
        </p:nvPicPr>
        <p:blipFill>
          <a:blip r:embed="rId2"/>
          <a:stretch>
            <a:fillRect/>
          </a:stretch>
        </p:blipFill>
        <p:spPr>
          <a:xfrm>
            <a:off x="4844395" y="548640"/>
            <a:ext cx="2503210" cy="2286000"/>
          </a:xfrm>
          <a:prstGeom prst="rect">
            <a:avLst/>
          </a:prstGeom>
        </p:spPr>
      </p:pic>
      <p:sp>
        <p:nvSpPr>
          <p:cNvPr id="5" name="Rectangle 4"/>
          <p:cNvSpPr/>
          <p:nvPr/>
        </p:nvSpPr>
        <p:spPr>
          <a:xfrm>
            <a:off x="457200" y="3429000"/>
            <a:ext cx="11734800" cy="76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703320"/>
            <a:ext cx="10881360" cy="1280160"/>
          </a:xfrm>
          <a:prstGeom prst="rect">
            <a:avLst/>
          </a:prstGeom>
          <a:noFill/>
        </p:spPr>
        <p:txBody>
          <a:bodyPr wrap="square" anchor="t" lIns="0" rIns="0" tIns="0" bIns="0">
            <a:spAutoFit/>
          </a:bodyPr>
          <a:lstStyle/>
          <a:p>
            <a:pPr algn="ctr"/>
            <a:r>
              <a:rPr sz="3800" b="1">
                <a:solidFill>
                  <a:srgbClr val="FFFFFF"/>
                </a:solidFill>
                <a:latin typeface="Aptos Display"/>
              </a:rPr>
              <a:t>Patrones arquitectónicos modernos</a:t>
            </a:r>
          </a:p>
        </p:txBody>
      </p:sp>
      <p:sp>
        <p:nvSpPr>
          <p:cNvPr id="7" name="TextBox 6"/>
          <p:cNvSpPr txBox="1"/>
          <p:nvPr/>
        </p:nvSpPr>
        <p:spPr>
          <a:xfrm>
            <a:off x="640080" y="5029200"/>
            <a:ext cx="10881360" cy="457200"/>
          </a:xfrm>
          <a:prstGeom prst="rect">
            <a:avLst/>
          </a:prstGeom>
          <a:noFill/>
        </p:spPr>
        <p:txBody>
          <a:bodyPr wrap="square" anchor="t" lIns="0" rIns="0" tIns="0" bIns="0">
            <a:spAutoFit/>
          </a:bodyPr>
          <a:lstStyle/>
          <a:p>
            <a:pPr algn="ctr"/>
            <a:r>
              <a:rPr sz="1500" b="0">
                <a:solidFill>
                  <a:srgbClr val="E8E8E8"/>
                </a:solidFill>
                <a:latin typeface="Aptos"/>
              </a:rPr>
              <a:t>Diseño y Patrones Arquitectónicos  ·  Jesús Ariel González Bonilla  ·  2026-B  ·  Corte 1  ·  Unidad 3</a:t>
            </a:r>
          </a:p>
        </p:txBody>
      </p:sp>
      <p:sp>
        <p:nvSpPr>
          <p:cNvPr id="8" name="TextBox 7"/>
          <p:cNvSpPr txBox="1"/>
          <p:nvPr/>
        </p:nvSpPr>
        <p:spPr>
          <a:xfrm>
            <a:off x="1371600" y="5532120"/>
            <a:ext cx="9418320" cy="457200"/>
          </a:xfrm>
          <a:prstGeom prst="rect">
            <a:avLst/>
          </a:prstGeom>
          <a:noFill/>
        </p:spPr>
        <p:txBody>
          <a:bodyPr wrap="square" anchor="t" lIns="0" rIns="0" tIns="0" bIns="0">
            <a:spAutoFit/>
          </a:bodyPr>
          <a:lstStyle/>
          <a:p>
            <a:pPr algn="ctr"/>
            <a:r>
              <a:rPr sz="1300" b="0">
                <a:solidFill>
                  <a:srgbClr val="E8E8E8"/>
                </a:solidFill>
                <a:latin typeface="Aptos"/>
              </a:rPr>
              <a:t>Patrones arquitectónicos modernos y decisión de migración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Su v1 ya muestra dónde duele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128723"/>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2018995"/>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2128723"/>
          </a:xfrm>
          <a:prstGeom prst="rect">
            <a:avLst/>
          </a:prstGeom>
          <a:noFill/>
        </p:spPr>
        <p:txBody>
          <a:bodyPr wrap="square" anchor="ctr" lIns="0" rIns="0" tIns="0" bIns="0">
            <a:spAutoFit/>
          </a:bodyPr>
          <a:lstStyle/>
          <a:p>
            <a:pPr algn="l">
              <a:lnSpc>
                <a:spcPct val="125000"/>
              </a:lnSpc>
            </a:pPr>
            <a:r>
              <a:rPr sz="2735" b="1">
                <a:solidFill>
                  <a:srgbClr val="0E2841"/>
                </a:solidFill>
                <a:latin typeface="Aptos Display"/>
              </a:rPr>
              <a:t>Si mañana los pedidos se multiplican por diez, ¿qué parte de su v1 se rompe primero y cuál cuesta más cambiar?</a:t>
            </a:r>
          </a:p>
        </p:txBody>
      </p:sp>
      <p:sp>
        <p:nvSpPr>
          <p:cNvPr id="10" name="Oval 9"/>
          <p:cNvSpPr/>
          <p:nvPr/>
        </p:nvSpPr>
        <p:spPr>
          <a:xfrm>
            <a:off x="585216" y="4256531"/>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3902659"/>
            <a:ext cx="10698480" cy="808329"/>
          </a:xfrm>
          <a:prstGeom prst="rect">
            <a:avLst/>
          </a:prstGeom>
          <a:noFill/>
        </p:spPr>
        <p:txBody>
          <a:bodyPr wrap="square" anchor="ctr" lIns="0" rIns="0" tIns="0" bIns="0">
            <a:spAutoFit/>
          </a:bodyPr>
          <a:lstStyle/>
          <a:p>
            <a:pPr algn="l"/>
            <a:r>
              <a:rPr sz="2610" b="1">
                <a:solidFill>
                  <a:srgbClr val="0E2841"/>
                </a:solidFill>
                <a:latin typeface="Aptos"/>
              </a:rPr>
              <a:t>Lo que se cae con la carga</a:t>
            </a:r>
          </a:p>
        </p:txBody>
      </p:sp>
      <p:sp>
        <p:nvSpPr>
          <p:cNvPr id="12" name="Oval 11"/>
          <p:cNvSpPr/>
          <p:nvPr/>
        </p:nvSpPr>
        <p:spPr>
          <a:xfrm>
            <a:off x="585216" y="506486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4710988"/>
            <a:ext cx="10698480" cy="808329"/>
          </a:xfrm>
          <a:prstGeom prst="rect">
            <a:avLst/>
          </a:prstGeom>
          <a:noFill/>
        </p:spPr>
        <p:txBody>
          <a:bodyPr wrap="square" anchor="ctr" lIns="0" rIns="0" tIns="0" bIns="0">
            <a:spAutoFit/>
          </a:bodyPr>
          <a:lstStyle/>
          <a:p>
            <a:pPr algn="l"/>
            <a:r>
              <a:rPr sz="2610" b="1">
                <a:solidFill>
                  <a:srgbClr val="0E2841"/>
                </a:solidFill>
                <a:latin typeface="Aptos"/>
              </a:rPr>
              <a:t>Lo que obliga a tocar todo</a:t>
            </a:r>
          </a:p>
        </p:txBody>
      </p:sp>
      <p:sp>
        <p:nvSpPr>
          <p:cNvPr id="14" name="Oval 13"/>
          <p:cNvSpPr/>
          <p:nvPr/>
        </p:nvSpPr>
        <p:spPr>
          <a:xfrm>
            <a:off x="585216" y="587319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5519318"/>
            <a:ext cx="10698480" cy="808329"/>
          </a:xfrm>
          <a:prstGeom prst="rect">
            <a:avLst/>
          </a:prstGeom>
          <a:noFill/>
        </p:spPr>
        <p:txBody>
          <a:bodyPr wrap="square" anchor="ctr" lIns="0" rIns="0" tIns="0" bIns="0">
            <a:spAutoFit/>
          </a:bodyPr>
          <a:lstStyle/>
          <a:p>
            <a:pPr algn="l"/>
            <a:r>
              <a:rPr sz="2610" b="1">
                <a:solidFill>
                  <a:srgbClr val="0E2841"/>
                </a:solidFill>
                <a:latin typeface="Aptos"/>
              </a:rPr>
              <a:t>Lo que no se puede probar aislado</a:t>
            </a:r>
          </a:p>
        </p:txBody>
      </p:sp>
      <p:sp>
        <p:nvSpPr>
          <p:cNvPr id="16" name="TextBox 15"/>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17" name="TextBox 16"/>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 / 43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 que podrá hacer al terminar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Oval 6"/>
          <p:cNvSpPr/>
          <p:nvPr/>
        </p:nvSpPr>
        <p:spPr>
          <a:xfrm>
            <a:off x="585216" y="2188158"/>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810511"/>
            <a:ext cx="10698480" cy="855878"/>
          </a:xfrm>
          <a:prstGeom prst="rect">
            <a:avLst/>
          </a:prstGeom>
          <a:noFill/>
        </p:spPr>
        <p:txBody>
          <a:bodyPr wrap="square" anchor="ctr" lIns="0" rIns="0" tIns="0" bIns="0">
            <a:spAutoFit/>
          </a:bodyPr>
          <a:lstStyle/>
          <a:p>
            <a:pPr algn="l"/>
            <a:r>
              <a:rPr sz="2772" b="1">
                <a:solidFill>
                  <a:srgbClr val="0E2841"/>
                </a:solidFill>
                <a:latin typeface="Aptos"/>
              </a:rPr>
              <a:t>Explicar los seis patrones modernos</a:t>
            </a:r>
          </a:p>
        </p:txBody>
      </p:sp>
      <p:sp>
        <p:nvSpPr>
          <p:cNvPr id="9" name="Oval 8"/>
          <p:cNvSpPr/>
          <p:nvPr/>
        </p:nvSpPr>
        <p:spPr>
          <a:xfrm>
            <a:off x="585216" y="3044037"/>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666390"/>
            <a:ext cx="10698480" cy="855878"/>
          </a:xfrm>
          <a:prstGeom prst="rect">
            <a:avLst/>
          </a:prstGeom>
          <a:noFill/>
        </p:spPr>
        <p:txBody>
          <a:bodyPr wrap="square" anchor="ctr" lIns="0" rIns="0" tIns="0" bIns="0">
            <a:spAutoFit/>
          </a:bodyPr>
          <a:lstStyle/>
          <a:p>
            <a:pPr algn="l"/>
            <a:r>
              <a:rPr sz="2772" b="1">
                <a:solidFill>
                  <a:srgbClr val="0E2841"/>
                </a:solidFill>
                <a:latin typeface="Aptos"/>
              </a:rPr>
              <a:t>Reconocer cada patrón en el código</a:t>
            </a:r>
          </a:p>
        </p:txBody>
      </p:sp>
      <p:sp>
        <p:nvSpPr>
          <p:cNvPr id="11" name="Oval 10"/>
          <p:cNvSpPr/>
          <p:nvPr/>
        </p:nvSpPr>
        <p:spPr>
          <a:xfrm>
            <a:off x="585216" y="3899915"/>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3522268"/>
            <a:ext cx="10698480" cy="855878"/>
          </a:xfrm>
          <a:prstGeom prst="rect">
            <a:avLst/>
          </a:prstGeom>
          <a:noFill/>
        </p:spPr>
        <p:txBody>
          <a:bodyPr wrap="square" anchor="ctr" lIns="0" rIns="0" tIns="0" bIns="0">
            <a:spAutoFit/>
          </a:bodyPr>
          <a:lstStyle/>
          <a:p>
            <a:pPr algn="l"/>
            <a:r>
              <a:rPr sz="2772" b="1">
                <a:solidFill>
                  <a:srgbClr val="0E2841"/>
                </a:solidFill>
                <a:latin typeface="Aptos"/>
              </a:rPr>
              <a:t>Razonar consistencia frente a disponibilidad</a:t>
            </a:r>
          </a:p>
        </p:txBody>
      </p:sp>
      <p:sp>
        <p:nvSpPr>
          <p:cNvPr id="13" name="Oval 12"/>
          <p:cNvSpPr/>
          <p:nvPr/>
        </p:nvSpPr>
        <p:spPr>
          <a:xfrm>
            <a:off x="585216" y="4755794"/>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4378147"/>
            <a:ext cx="10698480" cy="855878"/>
          </a:xfrm>
          <a:prstGeom prst="rect">
            <a:avLst/>
          </a:prstGeom>
          <a:noFill/>
        </p:spPr>
        <p:txBody>
          <a:bodyPr wrap="square" anchor="ctr" lIns="0" rIns="0" tIns="0" bIns="0">
            <a:spAutoFit/>
          </a:bodyPr>
          <a:lstStyle/>
          <a:p>
            <a:pPr algn="l"/>
            <a:r>
              <a:rPr sz="2772" b="1">
                <a:solidFill>
                  <a:srgbClr val="0E2841"/>
                </a:solidFill>
                <a:latin typeface="Aptos"/>
              </a:rPr>
              <a:t>Decidir a qué patrón migrar</a:t>
            </a:r>
          </a:p>
        </p:txBody>
      </p:sp>
      <p:sp>
        <p:nvSpPr>
          <p:cNvPr id="15" name="Oval 14"/>
          <p:cNvSpPr/>
          <p:nvPr/>
        </p:nvSpPr>
        <p:spPr>
          <a:xfrm>
            <a:off x="585216" y="5611672"/>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5234025"/>
            <a:ext cx="10698480" cy="855878"/>
          </a:xfrm>
          <a:prstGeom prst="rect">
            <a:avLst/>
          </a:prstGeom>
          <a:noFill/>
        </p:spPr>
        <p:txBody>
          <a:bodyPr wrap="square" anchor="ctr" lIns="0" rIns="0" tIns="0" bIns="0">
            <a:spAutoFit/>
          </a:bodyPr>
          <a:lstStyle/>
          <a:p>
            <a:pPr algn="l"/>
            <a:r>
              <a:rPr sz="2772" b="1">
                <a:solidFill>
                  <a:srgbClr val="0E2841"/>
                </a:solidFill>
                <a:latin typeface="Aptos"/>
              </a:rPr>
              <a:t>Medir la v2 contra la v1</a:t>
            </a:r>
          </a:p>
        </p:txBody>
      </p:sp>
      <p:sp>
        <p:nvSpPr>
          <p:cNvPr id="17" name="TextBox 16"/>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18" name="TextBox 17"/>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 / 43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01</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1. Repartir y ejecutar el sistema</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Dos familias, seis patrones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449019"/>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339291"/>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449019"/>
          </a:xfrm>
          <a:prstGeom prst="rect">
            <a:avLst/>
          </a:prstGeom>
          <a:noFill/>
        </p:spPr>
        <p:txBody>
          <a:bodyPr wrap="square" anchor="ctr" lIns="0" rIns="0" tIns="0" bIns="0">
            <a:spAutoFit/>
          </a:bodyPr>
          <a:lstStyle/>
          <a:p>
            <a:pPr algn="l">
              <a:lnSpc>
                <a:spcPct val="125000"/>
              </a:lnSpc>
            </a:pPr>
            <a:r>
              <a:rPr sz="2479" b="1">
                <a:solidFill>
                  <a:srgbClr val="0E2841"/>
                </a:solidFill>
                <a:latin typeface="Aptos Display"/>
              </a:rPr>
              <a:t>Unos deciden cómo se reparte y se ejecuta el sistema; otros, cómo se organiza su lógica.</a:t>
            </a:r>
          </a:p>
        </p:txBody>
      </p:sp>
      <p:sp>
        <p:nvSpPr>
          <p:cNvPr id="10" name="Rounded Rectangle 9"/>
          <p:cNvSpPr/>
          <p:nvPr/>
        </p:nvSpPr>
        <p:spPr>
          <a:xfrm>
            <a:off x="566928" y="3222955"/>
            <a:ext cx="5367528" cy="310469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 Same Side Corner Rectangle 10"/>
          <p:cNvSpPr/>
          <p:nvPr/>
        </p:nvSpPr>
        <p:spPr>
          <a:xfrm>
            <a:off x="566928" y="3222955"/>
            <a:ext cx="5367528"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3222955"/>
            <a:ext cx="5001768" cy="566928"/>
          </a:xfrm>
          <a:prstGeom prst="rect">
            <a:avLst/>
          </a:prstGeom>
          <a:noFill/>
        </p:spPr>
        <p:txBody>
          <a:bodyPr wrap="square" anchor="ctr" lIns="0" rIns="0" tIns="0" bIns="0">
            <a:spAutoFit/>
          </a:bodyPr>
          <a:lstStyle/>
          <a:p>
            <a:pPr algn="l"/>
            <a:r>
              <a:rPr sz="1915" b="1">
                <a:solidFill>
                  <a:srgbClr val="FFFFFF"/>
                </a:solidFill>
                <a:latin typeface="Aptos Display"/>
              </a:rPr>
              <a:t>Reparto y ejecución</a:t>
            </a:r>
          </a:p>
        </p:txBody>
      </p:sp>
      <p:sp>
        <p:nvSpPr>
          <p:cNvPr id="13" name="Oval 12"/>
          <p:cNvSpPr/>
          <p:nvPr/>
        </p:nvSpPr>
        <p:spPr>
          <a:xfrm>
            <a:off x="786384" y="4482693"/>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4226661"/>
            <a:ext cx="4709160" cy="603504"/>
          </a:xfrm>
          <a:prstGeom prst="rect">
            <a:avLst/>
          </a:prstGeom>
          <a:noFill/>
        </p:spPr>
        <p:txBody>
          <a:bodyPr wrap="square" anchor="ctr" lIns="0" rIns="0" tIns="0" bIns="0">
            <a:spAutoFit/>
          </a:bodyPr>
          <a:lstStyle/>
          <a:p>
            <a:pPr algn="l"/>
            <a:r>
              <a:rPr sz="1577" b="0">
                <a:solidFill>
                  <a:srgbClr val="33475B"/>
                </a:solidFill>
                <a:latin typeface="Aptos"/>
              </a:rPr>
              <a:t>Microservicios</a:t>
            </a:r>
          </a:p>
        </p:txBody>
      </p:sp>
      <p:sp>
        <p:nvSpPr>
          <p:cNvPr id="15" name="Oval 14"/>
          <p:cNvSpPr/>
          <p:nvPr/>
        </p:nvSpPr>
        <p:spPr>
          <a:xfrm>
            <a:off x="786384" y="5086197"/>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830165"/>
            <a:ext cx="4709160" cy="603504"/>
          </a:xfrm>
          <a:prstGeom prst="rect">
            <a:avLst/>
          </a:prstGeom>
          <a:noFill/>
        </p:spPr>
        <p:txBody>
          <a:bodyPr wrap="square" anchor="ctr" lIns="0" rIns="0" tIns="0" bIns="0">
            <a:spAutoFit/>
          </a:bodyPr>
          <a:lstStyle/>
          <a:p>
            <a:pPr algn="l"/>
            <a:r>
              <a:rPr sz="1577" b="0">
                <a:solidFill>
                  <a:srgbClr val="33475B"/>
                </a:solidFill>
                <a:latin typeface="Aptos"/>
              </a:rPr>
              <a:t>Serverless</a:t>
            </a:r>
          </a:p>
        </p:txBody>
      </p:sp>
      <p:sp>
        <p:nvSpPr>
          <p:cNvPr id="17" name="Oval 16"/>
          <p:cNvSpPr/>
          <p:nvPr/>
        </p:nvSpPr>
        <p:spPr>
          <a:xfrm>
            <a:off x="786384" y="5689701"/>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433669"/>
            <a:ext cx="4709160" cy="603504"/>
          </a:xfrm>
          <a:prstGeom prst="rect">
            <a:avLst/>
          </a:prstGeom>
          <a:noFill/>
        </p:spPr>
        <p:txBody>
          <a:bodyPr wrap="square" anchor="ctr" lIns="0" rIns="0" tIns="0" bIns="0">
            <a:spAutoFit/>
          </a:bodyPr>
          <a:lstStyle/>
          <a:p>
            <a:pPr algn="l"/>
            <a:r>
              <a:rPr sz="1577" b="0">
                <a:solidFill>
                  <a:srgbClr val="33475B"/>
                </a:solidFill>
                <a:latin typeface="Aptos"/>
              </a:rPr>
              <a:t>Cloud-native</a:t>
            </a:r>
          </a:p>
        </p:txBody>
      </p:sp>
      <p:sp>
        <p:nvSpPr>
          <p:cNvPr id="19" name="Rounded Rectangle 18"/>
          <p:cNvSpPr/>
          <p:nvPr/>
        </p:nvSpPr>
        <p:spPr>
          <a:xfrm>
            <a:off x="6263640" y="3222955"/>
            <a:ext cx="5367528" cy="310469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 Same Side Corner Rectangle 19"/>
          <p:cNvSpPr/>
          <p:nvPr/>
        </p:nvSpPr>
        <p:spPr>
          <a:xfrm>
            <a:off x="6263640" y="3222955"/>
            <a:ext cx="5367528"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3222955"/>
            <a:ext cx="5001768" cy="566928"/>
          </a:xfrm>
          <a:prstGeom prst="rect">
            <a:avLst/>
          </a:prstGeom>
          <a:noFill/>
        </p:spPr>
        <p:txBody>
          <a:bodyPr wrap="square" anchor="ctr" lIns="0" rIns="0" tIns="0" bIns="0">
            <a:spAutoFit/>
          </a:bodyPr>
          <a:lstStyle/>
          <a:p>
            <a:pPr algn="l"/>
            <a:r>
              <a:rPr sz="1915" b="1">
                <a:solidFill>
                  <a:srgbClr val="FFFFFF"/>
                </a:solidFill>
                <a:latin typeface="Aptos Display"/>
              </a:rPr>
              <a:t>Lógica y datos</a:t>
            </a:r>
          </a:p>
        </p:txBody>
      </p:sp>
      <p:sp>
        <p:nvSpPr>
          <p:cNvPr id="22" name="Oval 21"/>
          <p:cNvSpPr/>
          <p:nvPr/>
        </p:nvSpPr>
        <p:spPr>
          <a:xfrm>
            <a:off x="6483096" y="4482693"/>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20840" y="4226661"/>
            <a:ext cx="4709160" cy="603504"/>
          </a:xfrm>
          <a:prstGeom prst="rect">
            <a:avLst/>
          </a:prstGeom>
          <a:noFill/>
        </p:spPr>
        <p:txBody>
          <a:bodyPr wrap="square" anchor="ctr" lIns="0" rIns="0" tIns="0" bIns="0">
            <a:spAutoFit/>
          </a:bodyPr>
          <a:lstStyle/>
          <a:p>
            <a:pPr algn="l"/>
            <a:r>
              <a:rPr sz="1577" b="0">
                <a:solidFill>
                  <a:srgbClr val="33475B"/>
                </a:solidFill>
                <a:latin typeface="Aptos"/>
              </a:rPr>
              <a:t>Hexagonal</a:t>
            </a:r>
          </a:p>
        </p:txBody>
      </p:sp>
      <p:sp>
        <p:nvSpPr>
          <p:cNvPr id="24" name="Oval 23"/>
          <p:cNvSpPr/>
          <p:nvPr/>
        </p:nvSpPr>
        <p:spPr>
          <a:xfrm>
            <a:off x="6483096" y="5086197"/>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20840" y="4830165"/>
            <a:ext cx="4709160" cy="603504"/>
          </a:xfrm>
          <a:prstGeom prst="rect">
            <a:avLst/>
          </a:prstGeom>
          <a:noFill/>
        </p:spPr>
        <p:txBody>
          <a:bodyPr wrap="square" anchor="ctr" lIns="0" rIns="0" tIns="0" bIns="0">
            <a:spAutoFit/>
          </a:bodyPr>
          <a:lstStyle/>
          <a:p>
            <a:pPr algn="l"/>
            <a:r>
              <a:rPr sz="1577" b="0">
                <a:solidFill>
                  <a:srgbClr val="33475B"/>
                </a:solidFill>
                <a:latin typeface="Aptos"/>
              </a:rPr>
              <a:t>Event-driven</a:t>
            </a:r>
          </a:p>
        </p:txBody>
      </p:sp>
      <p:sp>
        <p:nvSpPr>
          <p:cNvPr id="26" name="Oval 25"/>
          <p:cNvSpPr/>
          <p:nvPr/>
        </p:nvSpPr>
        <p:spPr>
          <a:xfrm>
            <a:off x="6483096" y="5689701"/>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0840" y="5433669"/>
            <a:ext cx="4709160" cy="603504"/>
          </a:xfrm>
          <a:prstGeom prst="rect">
            <a:avLst/>
          </a:prstGeom>
          <a:noFill/>
        </p:spPr>
        <p:txBody>
          <a:bodyPr wrap="square" anchor="ctr" lIns="0" rIns="0" tIns="0" bIns="0">
            <a:spAutoFit/>
          </a:bodyPr>
          <a:lstStyle/>
          <a:p>
            <a:pPr algn="l"/>
            <a:r>
              <a:rPr sz="1577" b="0">
                <a:solidFill>
                  <a:srgbClr val="33475B"/>
                </a:solidFill>
                <a:latin typeface="Aptos"/>
              </a:rPr>
              <a:t>CQRS</a:t>
            </a:r>
          </a:p>
        </p:txBody>
      </p:sp>
      <p:sp>
        <p:nvSpPr>
          <p:cNvPr id="28" name="TextBox 2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9" name="TextBox 2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 / 43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Un servicio por capacidad de negocio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71907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60934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719072"/>
          </a:xfrm>
          <a:prstGeom prst="rect">
            <a:avLst/>
          </a:prstGeom>
          <a:noFill/>
        </p:spPr>
        <p:txBody>
          <a:bodyPr wrap="square" anchor="ctr" lIns="0" rIns="0" tIns="0" bIns="0">
            <a:spAutoFit/>
          </a:bodyPr>
          <a:lstStyle/>
          <a:p>
            <a:pPr algn="l">
              <a:lnSpc>
                <a:spcPct val="125000"/>
              </a:lnSpc>
            </a:pPr>
            <a:r>
              <a:rPr sz="2640" b="1">
                <a:solidFill>
                  <a:srgbClr val="0E2841"/>
                </a:solidFill>
                <a:latin typeface="Aptos Display"/>
              </a:rPr>
              <a:t>Microservicios: servicios autónomos que se despliegan por separado, cada uno con sus datos y su API (Newman, 2021).</a:t>
            </a:r>
          </a:p>
        </p:txBody>
      </p:sp>
      <p:sp>
        <p:nvSpPr>
          <p:cNvPr id="10" name="Rounded Rectangle 9"/>
          <p:cNvSpPr/>
          <p:nvPr/>
        </p:nvSpPr>
        <p:spPr>
          <a:xfrm>
            <a:off x="566928" y="3748126"/>
            <a:ext cx="2478024"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3748126"/>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4352471"/>
            <a:ext cx="2185416" cy="1580595"/>
          </a:xfrm>
          <a:prstGeom prst="rect">
            <a:avLst/>
          </a:prstGeom>
          <a:noFill/>
        </p:spPr>
        <p:txBody>
          <a:bodyPr wrap="square" anchor="t" lIns="0" rIns="0" tIns="0" bIns="0">
            <a:spAutoFit/>
          </a:bodyPr>
          <a:lstStyle/>
          <a:p>
            <a:pPr algn="ctr"/>
            <a:r>
              <a:rPr sz="1859" b="1">
                <a:solidFill>
                  <a:srgbClr val="0E2841"/>
                </a:solidFill>
                <a:latin typeface="Aptos Display"/>
              </a:rPr>
              <a:t>Cliente</a:t>
            </a:r>
          </a:p>
        </p:txBody>
      </p:sp>
      <p:sp>
        <p:nvSpPr>
          <p:cNvPr id="13" name="Chevron 12"/>
          <p:cNvSpPr/>
          <p:nvPr/>
        </p:nvSpPr>
        <p:spPr>
          <a:xfrm>
            <a:off x="3136392" y="449193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29000" y="3748126"/>
            <a:ext cx="2478024"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29000" y="3748126"/>
            <a:ext cx="2478024"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5304" y="4352471"/>
            <a:ext cx="2185416" cy="1580595"/>
          </a:xfrm>
          <a:prstGeom prst="rect">
            <a:avLst/>
          </a:prstGeom>
          <a:noFill/>
        </p:spPr>
        <p:txBody>
          <a:bodyPr wrap="square" anchor="t" lIns="0" rIns="0" tIns="0" bIns="0">
            <a:spAutoFit/>
          </a:bodyPr>
          <a:lstStyle/>
          <a:p>
            <a:pPr algn="ctr"/>
            <a:r>
              <a:rPr sz="1859" b="1">
                <a:solidFill>
                  <a:srgbClr val="0E2841"/>
                </a:solidFill>
                <a:latin typeface="Aptos Display"/>
              </a:rPr>
              <a:t>API Gateway</a:t>
            </a:r>
          </a:p>
          <a:p>
            <a:pPr algn="ctr">
              <a:lnSpc>
                <a:spcPct val="120000"/>
              </a:lnSpc>
              <a:spcBef>
                <a:spcPts val="700"/>
              </a:spcBef>
            </a:pPr>
            <a:r>
              <a:rPr sz="1439" b="0">
                <a:solidFill>
                  <a:srgbClr val="7A8B9E"/>
                </a:solidFill>
                <a:latin typeface="Aptos"/>
              </a:rPr>
              <a:t>enruta cada petición</a:t>
            </a:r>
          </a:p>
        </p:txBody>
      </p:sp>
      <p:sp>
        <p:nvSpPr>
          <p:cNvPr id="17" name="Chevron 16"/>
          <p:cNvSpPr/>
          <p:nvPr/>
        </p:nvSpPr>
        <p:spPr>
          <a:xfrm>
            <a:off x="5998464" y="449193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91072" y="3748126"/>
            <a:ext cx="2478024"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91072" y="3748126"/>
            <a:ext cx="2478024"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7376" y="4352471"/>
            <a:ext cx="2185416" cy="1580595"/>
          </a:xfrm>
          <a:prstGeom prst="rect">
            <a:avLst/>
          </a:prstGeom>
          <a:noFill/>
        </p:spPr>
        <p:txBody>
          <a:bodyPr wrap="square" anchor="t" lIns="0" rIns="0" tIns="0" bIns="0">
            <a:spAutoFit/>
          </a:bodyPr>
          <a:lstStyle/>
          <a:p>
            <a:pPr algn="ctr"/>
            <a:r>
              <a:rPr sz="1859" b="1">
                <a:solidFill>
                  <a:srgbClr val="0E2841"/>
                </a:solidFill>
                <a:latin typeface="Aptos Display"/>
              </a:rPr>
              <a:t>Pedidos</a:t>
            </a:r>
          </a:p>
          <a:p>
            <a:pPr algn="ctr">
              <a:lnSpc>
                <a:spcPct val="120000"/>
              </a:lnSpc>
              <a:spcBef>
                <a:spcPts val="700"/>
              </a:spcBef>
            </a:pPr>
            <a:r>
              <a:rPr sz="1439" b="0">
                <a:solidFill>
                  <a:srgbClr val="7A8B9E"/>
                </a:solidFill>
                <a:latin typeface="Aptos"/>
              </a:rPr>
              <a:t>su propia base</a:t>
            </a:r>
          </a:p>
        </p:txBody>
      </p:sp>
      <p:sp>
        <p:nvSpPr>
          <p:cNvPr id="21" name="Chevron 20"/>
          <p:cNvSpPr/>
          <p:nvPr/>
        </p:nvSpPr>
        <p:spPr>
          <a:xfrm>
            <a:off x="8860536" y="449193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3144" y="3748126"/>
            <a:ext cx="2478024"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53144" y="3748126"/>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99448" y="4352471"/>
            <a:ext cx="2185416" cy="1580595"/>
          </a:xfrm>
          <a:prstGeom prst="rect">
            <a:avLst/>
          </a:prstGeom>
          <a:noFill/>
        </p:spPr>
        <p:txBody>
          <a:bodyPr wrap="square" anchor="t" lIns="0" rIns="0" tIns="0" bIns="0">
            <a:spAutoFit/>
          </a:bodyPr>
          <a:lstStyle/>
          <a:p>
            <a:pPr algn="ctr"/>
            <a:r>
              <a:rPr sz="1859" b="1">
                <a:solidFill>
                  <a:srgbClr val="0E2841"/>
                </a:solidFill>
                <a:latin typeface="Aptos Display"/>
              </a:rPr>
              <a:t>Productos</a:t>
            </a:r>
          </a:p>
          <a:p>
            <a:pPr algn="ctr">
              <a:lnSpc>
                <a:spcPct val="120000"/>
              </a:lnSpc>
              <a:spcBef>
                <a:spcPts val="700"/>
              </a:spcBef>
            </a:pPr>
            <a:r>
              <a:rPr sz="1439" b="0">
                <a:solidFill>
                  <a:srgbClr val="7A8B9E"/>
                </a:solidFill>
                <a:latin typeface="Aptos"/>
              </a:rPr>
              <a:t>su propia base</a:t>
            </a:r>
          </a:p>
        </p:txBody>
      </p:sp>
      <p:sp>
        <p:nvSpPr>
          <p:cNvPr id="25" name="TextBox 2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6" name="TextBox 2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 / 43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Cinco fundamentos del microservicio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5532120"/>
                <a:gridCol w="5532120"/>
              </a:tblGrid>
              <a:tr h="729081">
                <a:tc>
                  <a:txBody>
                    <a:bodyPr wrap="square"/>
                    <a:lstStyle/>
                    <a:p>
                      <a:r>
                        <a:rPr sz="1725" b="1">
                          <a:solidFill>
                            <a:srgbClr val="FFFFFF"/>
                          </a:solidFill>
                          <a:latin typeface="Aptos"/>
                        </a:rPr>
                        <a:t>Fundamento</a:t>
                      </a:r>
                    </a:p>
                  </a:txBody>
                  <a:tcPr anchor="ctr" marL="146304" marR="146304">
                    <a:solidFill>
                      <a:srgbClr val="156082"/>
                    </a:solidFill>
                  </a:tcPr>
                </a:tc>
                <a:tc>
                  <a:txBody>
                    <a:bodyPr wrap="square"/>
                    <a:lstStyle/>
                    <a:p>
                      <a:r>
                        <a:rPr sz="1725" b="1">
                          <a:solidFill>
                            <a:srgbClr val="FFFFFF"/>
                          </a:solidFill>
                          <a:latin typeface="Aptos"/>
                        </a:rPr>
                        <a:t>Qué exige</a:t>
                      </a:r>
                    </a:p>
                  </a:txBody>
                  <a:tcPr anchor="ctr" marL="146304" marR="146304">
                    <a:solidFill>
                      <a:srgbClr val="156082"/>
                    </a:solidFill>
                  </a:tcPr>
                </a:tc>
              </a:tr>
              <a:tr h="729081">
                <a:tc>
                  <a:txBody>
                    <a:bodyPr wrap="square"/>
                    <a:lstStyle/>
                    <a:p>
                      <a:r>
                        <a:rPr sz="1609" b="1">
                          <a:solidFill>
                            <a:srgbClr val="33475B"/>
                          </a:solidFill>
                          <a:latin typeface="Aptos"/>
                        </a:rPr>
                        <a:t>Contexto delimitado</a:t>
                      </a:r>
                    </a:p>
                  </a:txBody>
                  <a:tcPr anchor="ctr" marL="146304" marR="146304">
                    <a:solidFill>
                      <a:srgbClr val="FFFFFF"/>
                    </a:solidFill>
                  </a:tcPr>
                </a:tc>
                <a:tc>
                  <a:txBody>
                    <a:bodyPr wrap="square"/>
                    <a:lstStyle/>
                    <a:p>
                      <a:r>
                        <a:rPr sz="1609" b="0">
                          <a:solidFill>
                            <a:srgbClr val="33475B"/>
                          </a:solidFill>
                          <a:latin typeface="Aptos"/>
                        </a:rPr>
                        <a:t>Una capacidad de negocio por servicio</a:t>
                      </a:r>
                    </a:p>
                  </a:txBody>
                  <a:tcPr anchor="ctr" marL="146304" marR="146304">
                    <a:solidFill>
                      <a:srgbClr val="FFFFFF"/>
                    </a:solidFill>
                  </a:tcPr>
                </a:tc>
              </a:tr>
              <a:tr h="729081">
                <a:tc>
                  <a:txBody>
                    <a:bodyPr wrap="square"/>
                    <a:lstStyle/>
                    <a:p>
                      <a:r>
                        <a:rPr sz="1609" b="1">
                          <a:solidFill>
                            <a:srgbClr val="33475B"/>
                          </a:solidFill>
                          <a:latin typeface="Aptos"/>
                        </a:rPr>
                        <a:t>Descentralización</a:t>
                      </a:r>
                    </a:p>
                  </a:txBody>
                  <a:tcPr anchor="ctr" marL="146304" marR="146304">
                    <a:solidFill>
                      <a:srgbClr val="F4F7FA"/>
                    </a:solidFill>
                  </a:tcPr>
                </a:tc>
                <a:tc>
                  <a:txBody>
                    <a:bodyPr wrap="square"/>
                    <a:lstStyle/>
                    <a:p>
                      <a:r>
                        <a:rPr sz="1609" b="0">
                          <a:solidFill>
                            <a:srgbClr val="33475B"/>
                          </a:solidFill>
                          <a:latin typeface="Aptos"/>
                        </a:rPr>
                        <a:t>Datos y tecnología propios</a:t>
                      </a:r>
                    </a:p>
                  </a:txBody>
                  <a:tcPr anchor="ctr" marL="146304" marR="146304">
                    <a:solidFill>
                      <a:srgbClr val="F4F7FA"/>
                    </a:solidFill>
                  </a:tcPr>
                </a:tc>
              </a:tr>
              <a:tr h="729081">
                <a:tc>
                  <a:txBody>
                    <a:bodyPr wrap="square"/>
                    <a:lstStyle/>
                    <a:p>
                      <a:r>
                        <a:rPr sz="1609" b="1">
                          <a:solidFill>
                            <a:srgbClr val="33475B"/>
                          </a:solidFill>
                          <a:latin typeface="Aptos"/>
                        </a:rPr>
                        <a:t>Comunicación por API</a:t>
                      </a:r>
                    </a:p>
                  </a:txBody>
                  <a:tcPr anchor="ctr" marL="146304" marR="146304">
                    <a:solidFill>
                      <a:srgbClr val="FFFFFF"/>
                    </a:solidFill>
                  </a:tcPr>
                </a:tc>
                <a:tc>
                  <a:txBody>
                    <a:bodyPr wrap="square"/>
                    <a:lstStyle/>
                    <a:p>
                      <a:r>
                        <a:rPr sz="1609" b="0">
                          <a:solidFill>
                            <a:srgbClr val="33475B"/>
                          </a:solidFill>
                          <a:latin typeface="Aptos"/>
                        </a:rPr>
                        <a:t>Contratos estables y versionados</a:t>
                      </a:r>
                    </a:p>
                  </a:txBody>
                  <a:tcPr anchor="ctr" marL="146304" marR="146304">
                    <a:solidFill>
                      <a:srgbClr val="FFFFFF"/>
                    </a:solidFill>
                  </a:tcPr>
                </a:tc>
              </a:tr>
              <a:tr h="729081">
                <a:tc>
                  <a:txBody>
                    <a:bodyPr wrap="square"/>
                    <a:lstStyle/>
                    <a:p>
                      <a:r>
                        <a:rPr sz="1609" b="1">
                          <a:solidFill>
                            <a:srgbClr val="33475B"/>
                          </a:solidFill>
                          <a:latin typeface="Aptos"/>
                        </a:rPr>
                        <a:t>Aislamiento de fallos</a:t>
                      </a:r>
                    </a:p>
                  </a:txBody>
                  <a:tcPr anchor="ctr" marL="146304" marR="146304">
                    <a:solidFill>
                      <a:srgbClr val="F4F7FA"/>
                    </a:solidFill>
                  </a:tcPr>
                </a:tc>
                <a:tc>
                  <a:txBody>
                    <a:bodyPr wrap="square"/>
                    <a:lstStyle/>
                    <a:p>
                      <a:r>
                        <a:rPr sz="1609" b="0">
                          <a:solidFill>
                            <a:srgbClr val="33475B"/>
                          </a:solidFill>
                          <a:latin typeface="Aptos"/>
                        </a:rPr>
                        <a:t>Circuit breaker y reintentos</a:t>
                      </a:r>
                    </a:p>
                  </a:txBody>
                  <a:tcPr anchor="ctr" marL="146304" marR="146304">
                    <a:solidFill>
                      <a:srgbClr val="F4F7FA"/>
                    </a:solidFill>
                  </a:tcPr>
                </a:tc>
              </a:tr>
              <a:tr h="729081">
                <a:tc>
                  <a:txBody>
                    <a:bodyPr wrap="square"/>
                    <a:lstStyle/>
                    <a:p>
                      <a:r>
                        <a:rPr sz="1609" b="1">
                          <a:solidFill>
                            <a:srgbClr val="33475B"/>
                          </a:solidFill>
                          <a:latin typeface="Aptos"/>
                        </a:rPr>
                        <a:t>Escalado independiente</a:t>
                      </a:r>
                    </a:p>
                  </a:txBody>
                  <a:tcPr anchor="ctr" marL="146304" marR="146304">
                    <a:solidFill>
                      <a:srgbClr val="FFFFFF"/>
                    </a:solidFill>
                  </a:tcPr>
                </a:tc>
                <a:tc>
                  <a:txBody>
                    <a:bodyPr wrap="square"/>
                    <a:lstStyle/>
                    <a:p>
                      <a:r>
                        <a:rPr sz="1609" b="0">
                          <a:solidFill>
                            <a:srgbClr val="33475B"/>
                          </a:solidFill>
                          <a:latin typeface="Aptos"/>
                        </a:rPr>
                        <a:t>Réplicas solo donde hay carga</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5 / 43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Pedidos consulta productos por red</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880360"/>
            <a:ext cx="11064240" cy="2139696"/>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3099816"/>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3063240"/>
            <a:ext cx="7315200" cy="237744"/>
          </a:xfrm>
          <a:prstGeom prst="rect">
            <a:avLst/>
          </a:prstGeom>
          <a:noFill/>
        </p:spPr>
        <p:txBody>
          <a:bodyPr wrap="square" anchor="t" lIns="0" rIns="0" tIns="0" bIns="0">
            <a:spAutoFit/>
          </a:bodyPr>
          <a:lstStyle/>
          <a:p>
            <a:pPr algn="l"/>
            <a:r>
              <a:rPr sz="1228" b="1">
                <a:solidFill>
                  <a:srgbClr val="E97132"/>
                </a:solidFill>
                <a:latin typeface="Aptos"/>
              </a:rPr>
              <a:t>JAVA · ORDER SERVICE CON FEIGN</a:t>
            </a:r>
          </a:p>
        </p:txBody>
      </p:sp>
      <p:sp>
        <p:nvSpPr>
          <p:cNvPr id="10" name="TextBox 9"/>
          <p:cNvSpPr txBox="1"/>
          <p:nvPr/>
        </p:nvSpPr>
        <p:spPr>
          <a:xfrm>
            <a:off x="877824" y="3447288"/>
            <a:ext cx="10515600" cy="1408176"/>
          </a:xfrm>
          <a:prstGeom prst="rect">
            <a:avLst/>
          </a:prstGeom>
          <a:noFill/>
        </p:spPr>
        <p:txBody>
          <a:bodyPr wrap="none" lIns="0" tIns="0">
            <a:spAutoFit/>
          </a:bodyPr>
          <a:lstStyle/>
          <a:p>
            <a:pPr>
              <a:lnSpc>
                <a:spcPct val="125000"/>
              </a:lnSpc>
            </a:pPr>
            <a:r>
              <a:rPr sz="1548">
                <a:solidFill>
                  <a:srgbClr val="E8E8E8"/>
                </a:solidFill>
                <a:latin typeface="Consolas"/>
              </a:rPr>
              <a:t>@FeignClient(name = "product-service")</a:t>
            </a:r>
          </a:p>
          <a:p>
            <a:pPr>
              <a:lnSpc>
                <a:spcPct val="125000"/>
              </a:lnSpc>
            </a:pPr>
            <a:r>
              <a:rPr sz="1548">
                <a:solidFill>
                  <a:srgbClr val="E8E8E8"/>
                </a:solidFill>
                <a:latin typeface="Consolas"/>
              </a:rPr>
              <a:t>interface ProductClient {</a:t>
            </a:r>
          </a:p>
          <a:p>
            <a:pPr>
              <a:lnSpc>
                <a:spcPct val="125000"/>
              </a:lnSpc>
            </a:pPr>
            <a:r>
              <a:rPr sz="1548">
                <a:solidFill>
                  <a:srgbClr val="E8E8E8"/>
                </a:solidFill>
                <a:latin typeface="Consolas"/>
              </a:rPr>
              <a:t>    @GetMapping("/products/{id}") Product byId(@PathVariable Long id);</a:t>
            </a:r>
          </a:p>
          <a:p>
            <a:pPr>
              <a:lnSpc>
                <a:spcPct val="125000"/>
              </a:lnSpc>
            </a:pPr>
            <a:r>
              <a:rPr sz="1548">
                <a:solidFill>
                  <a:srgbClr val="E8E8E8"/>
                </a:solidFill>
                <a:latin typeface="Consolas"/>
              </a:rPr>
              <a:t>}</a:t>
            </a:r>
          </a:p>
          <a:p>
            <a:pPr>
              <a:lnSpc>
                <a:spcPct val="125000"/>
              </a:lnSpc>
            </a:pPr>
            <a:r>
              <a:rPr sz="1548">
                <a:solidFill>
                  <a:srgbClr val="E8E8E8"/>
                </a:solidFill>
                <a:latin typeface="Consolas"/>
              </a:rPr>
              <a:t>Product p = productClient.byId(order.getProductId()); // red, no función</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6 / 43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Microservicios: cuándo sí y cuándo no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221028"/>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1113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221028"/>
          </a:xfrm>
          <a:prstGeom prst="rect">
            <a:avLst/>
          </a:prstGeom>
          <a:noFill/>
        </p:spPr>
        <p:txBody>
          <a:bodyPr wrap="square" anchor="ctr" lIns="0" rIns="0" tIns="0" bIns="0">
            <a:spAutoFit/>
          </a:bodyPr>
          <a:lstStyle/>
          <a:p>
            <a:pPr algn="l">
              <a:lnSpc>
                <a:spcPct val="125000"/>
              </a:lnSpc>
            </a:pPr>
            <a:r>
              <a:rPr sz="2529" b="1">
                <a:solidFill>
                  <a:srgbClr val="0E2841"/>
                </a:solidFill>
                <a:latin typeface="Aptos Display"/>
              </a:rPr>
              <a:t>Sin fronteras claras, los microservicios producen un monolito distribuido.</a:t>
            </a:r>
          </a:p>
        </p:txBody>
      </p:sp>
      <p:sp>
        <p:nvSpPr>
          <p:cNvPr id="10" name="Rounded Rectangle 9"/>
          <p:cNvSpPr/>
          <p:nvPr/>
        </p:nvSpPr>
        <p:spPr>
          <a:xfrm>
            <a:off x="566928" y="2994964"/>
            <a:ext cx="5367528" cy="3332683"/>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 Same Side Corner Rectangle 10"/>
          <p:cNvSpPr/>
          <p:nvPr/>
        </p:nvSpPr>
        <p:spPr>
          <a:xfrm>
            <a:off x="566928" y="2994964"/>
            <a:ext cx="5367528"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994964"/>
            <a:ext cx="5001768" cy="566928"/>
          </a:xfrm>
          <a:prstGeom prst="rect">
            <a:avLst/>
          </a:prstGeom>
          <a:noFill/>
        </p:spPr>
        <p:txBody>
          <a:bodyPr wrap="square" anchor="ctr" lIns="0" rIns="0" tIns="0" bIns="0">
            <a:spAutoFit/>
          </a:bodyPr>
          <a:lstStyle/>
          <a:p>
            <a:pPr algn="l"/>
            <a:r>
              <a:rPr sz="1954" b="1">
                <a:solidFill>
                  <a:srgbClr val="FFFFFF"/>
                </a:solidFill>
                <a:latin typeface="Aptos Display"/>
              </a:rPr>
              <a:t>Conviene</a:t>
            </a:r>
          </a:p>
        </p:txBody>
      </p:sp>
      <p:sp>
        <p:nvSpPr>
          <p:cNvPr id="13" name="Oval 12"/>
          <p:cNvSpPr/>
          <p:nvPr/>
        </p:nvSpPr>
        <p:spPr>
          <a:xfrm>
            <a:off x="786384" y="4311700"/>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4055668"/>
            <a:ext cx="4709160" cy="603504"/>
          </a:xfrm>
          <a:prstGeom prst="rect">
            <a:avLst/>
          </a:prstGeom>
          <a:noFill/>
        </p:spPr>
        <p:txBody>
          <a:bodyPr wrap="square" anchor="ctr" lIns="0" rIns="0" tIns="0" bIns="0">
            <a:spAutoFit/>
          </a:bodyPr>
          <a:lstStyle/>
          <a:p>
            <a:pPr algn="l"/>
            <a:r>
              <a:rPr sz="1609" b="0">
                <a:solidFill>
                  <a:srgbClr val="33475B"/>
                </a:solidFill>
                <a:latin typeface="Aptos"/>
              </a:rPr>
              <a:t>Varios equipos y ritmos</a:t>
            </a:r>
          </a:p>
        </p:txBody>
      </p:sp>
      <p:sp>
        <p:nvSpPr>
          <p:cNvPr id="15" name="Oval 14"/>
          <p:cNvSpPr/>
          <p:nvPr/>
        </p:nvSpPr>
        <p:spPr>
          <a:xfrm>
            <a:off x="786384" y="4915204"/>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659172"/>
            <a:ext cx="4709160" cy="603504"/>
          </a:xfrm>
          <a:prstGeom prst="rect">
            <a:avLst/>
          </a:prstGeom>
          <a:noFill/>
        </p:spPr>
        <p:txBody>
          <a:bodyPr wrap="square" anchor="ctr" lIns="0" rIns="0" tIns="0" bIns="0">
            <a:spAutoFit/>
          </a:bodyPr>
          <a:lstStyle/>
          <a:p>
            <a:pPr algn="l"/>
            <a:r>
              <a:rPr sz="1609" b="0">
                <a:solidFill>
                  <a:srgbClr val="33475B"/>
                </a:solidFill>
                <a:latin typeface="Aptos"/>
              </a:rPr>
              <a:t>Partes con cargas distintas</a:t>
            </a:r>
          </a:p>
        </p:txBody>
      </p:sp>
      <p:sp>
        <p:nvSpPr>
          <p:cNvPr id="17" name="Oval 16"/>
          <p:cNvSpPr/>
          <p:nvPr/>
        </p:nvSpPr>
        <p:spPr>
          <a:xfrm>
            <a:off x="786384" y="5518708"/>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262676"/>
            <a:ext cx="4709160" cy="603504"/>
          </a:xfrm>
          <a:prstGeom prst="rect">
            <a:avLst/>
          </a:prstGeom>
          <a:noFill/>
        </p:spPr>
        <p:txBody>
          <a:bodyPr wrap="square" anchor="ctr" lIns="0" rIns="0" tIns="0" bIns="0">
            <a:spAutoFit/>
          </a:bodyPr>
          <a:lstStyle/>
          <a:p>
            <a:pPr algn="l"/>
            <a:r>
              <a:rPr sz="1609" b="0">
                <a:solidFill>
                  <a:srgbClr val="33475B"/>
                </a:solidFill>
                <a:latin typeface="Aptos"/>
              </a:rPr>
              <a:t>Fronteras de dominio claras</a:t>
            </a:r>
          </a:p>
        </p:txBody>
      </p:sp>
      <p:sp>
        <p:nvSpPr>
          <p:cNvPr id="19" name="Rounded Rectangle 18"/>
          <p:cNvSpPr/>
          <p:nvPr/>
        </p:nvSpPr>
        <p:spPr>
          <a:xfrm>
            <a:off x="6263640" y="2994964"/>
            <a:ext cx="5367528" cy="3332683"/>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 Same Side Corner Rectangle 19"/>
          <p:cNvSpPr/>
          <p:nvPr/>
        </p:nvSpPr>
        <p:spPr>
          <a:xfrm>
            <a:off x="6263640" y="2994964"/>
            <a:ext cx="5367528"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2994964"/>
            <a:ext cx="5001768" cy="566928"/>
          </a:xfrm>
          <a:prstGeom prst="rect">
            <a:avLst/>
          </a:prstGeom>
          <a:noFill/>
        </p:spPr>
        <p:txBody>
          <a:bodyPr wrap="square" anchor="ctr" lIns="0" rIns="0" tIns="0" bIns="0">
            <a:spAutoFit/>
          </a:bodyPr>
          <a:lstStyle/>
          <a:p>
            <a:pPr algn="l"/>
            <a:r>
              <a:rPr sz="1954" b="1">
                <a:solidFill>
                  <a:srgbClr val="FFFFFF"/>
                </a:solidFill>
                <a:latin typeface="Aptos Display"/>
              </a:rPr>
              <a:t>No conviene</a:t>
            </a:r>
          </a:p>
        </p:txBody>
      </p:sp>
      <p:sp>
        <p:nvSpPr>
          <p:cNvPr id="22" name="Oval 21"/>
          <p:cNvSpPr/>
          <p:nvPr/>
        </p:nvSpPr>
        <p:spPr>
          <a:xfrm>
            <a:off x="6483096" y="4311700"/>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20840" y="4055668"/>
            <a:ext cx="4709160" cy="603504"/>
          </a:xfrm>
          <a:prstGeom prst="rect">
            <a:avLst/>
          </a:prstGeom>
          <a:noFill/>
        </p:spPr>
        <p:txBody>
          <a:bodyPr wrap="square" anchor="ctr" lIns="0" rIns="0" tIns="0" bIns="0">
            <a:spAutoFit/>
          </a:bodyPr>
          <a:lstStyle/>
          <a:p>
            <a:pPr algn="l"/>
            <a:r>
              <a:rPr sz="1609" b="0">
                <a:solidFill>
                  <a:srgbClr val="33475B"/>
                </a:solidFill>
                <a:latin typeface="Aptos"/>
              </a:rPr>
              <a:t>Equipo pequeño</a:t>
            </a:r>
          </a:p>
        </p:txBody>
      </p:sp>
      <p:sp>
        <p:nvSpPr>
          <p:cNvPr id="24" name="Oval 23"/>
          <p:cNvSpPr/>
          <p:nvPr/>
        </p:nvSpPr>
        <p:spPr>
          <a:xfrm>
            <a:off x="6483096" y="4915204"/>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20840" y="4659172"/>
            <a:ext cx="4709160" cy="603504"/>
          </a:xfrm>
          <a:prstGeom prst="rect">
            <a:avLst/>
          </a:prstGeom>
          <a:noFill/>
        </p:spPr>
        <p:txBody>
          <a:bodyPr wrap="square" anchor="ctr" lIns="0" rIns="0" tIns="0" bIns="0">
            <a:spAutoFit/>
          </a:bodyPr>
          <a:lstStyle/>
          <a:p>
            <a:pPr algn="l"/>
            <a:r>
              <a:rPr sz="1609" b="0">
                <a:solidFill>
                  <a:srgbClr val="33475B"/>
                </a:solidFill>
                <a:latin typeface="Aptos"/>
              </a:rPr>
              <a:t>Dominio todavía difuso</a:t>
            </a:r>
          </a:p>
        </p:txBody>
      </p:sp>
      <p:sp>
        <p:nvSpPr>
          <p:cNvPr id="26" name="Oval 25"/>
          <p:cNvSpPr/>
          <p:nvPr/>
        </p:nvSpPr>
        <p:spPr>
          <a:xfrm>
            <a:off x="6483096" y="5518708"/>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0840" y="5262676"/>
            <a:ext cx="4709160" cy="603504"/>
          </a:xfrm>
          <a:prstGeom prst="rect">
            <a:avLst/>
          </a:prstGeom>
          <a:noFill/>
        </p:spPr>
        <p:txBody>
          <a:bodyPr wrap="square" anchor="ctr" lIns="0" rIns="0" tIns="0" bIns="0">
            <a:spAutoFit/>
          </a:bodyPr>
          <a:lstStyle/>
          <a:p>
            <a:pPr algn="l"/>
            <a:r>
              <a:rPr sz="1609" b="0">
                <a:solidFill>
                  <a:srgbClr val="33475B"/>
                </a:solidFill>
                <a:latin typeface="Aptos"/>
              </a:rPr>
              <a:t>Despliegue manual</a:t>
            </a:r>
          </a:p>
        </p:txBody>
      </p:sp>
      <p:sp>
        <p:nvSpPr>
          <p:cNvPr id="28" name="TextBox 2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9" name="TextBox 2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7 / 43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¿Qué patrón despliega por partes?</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Hexagonal, porque aísla el dominio de los pagos</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Microservicios, porque cada servicio se despliega y escala por separado</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CQRS, porque separa las lecturas de las escrituras de pagos</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MVC, porque separa la vista del modelo de pagos</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8 / 43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Serverless: funciones que despiertan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71907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60934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719072"/>
          </a:xfrm>
          <a:prstGeom prst="rect">
            <a:avLst/>
          </a:prstGeom>
          <a:noFill/>
        </p:spPr>
        <p:txBody>
          <a:bodyPr wrap="square" anchor="ctr" lIns="0" rIns="0" tIns="0" bIns="0">
            <a:spAutoFit/>
          </a:bodyPr>
          <a:lstStyle/>
          <a:p>
            <a:pPr algn="l">
              <a:lnSpc>
                <a:spcPct val="125000"/>
              </a:lnSpc>
            </a:pPr>
            <a:r>
              <a:rPr sz="2640" b="1">
                <a:solidFill>
                  <a:srgbClr val="0E2841"/>
                </a:solidFill>
                <a:latin typeface="Aptos Display"/>
              </a:rPr>
              <a:t>El proveedor ejecuta la función solo cuando llega un evento y cobra por el tiempo que corre.</a:t>
            </a:r>
          </a:p>
        </p:txBody>
      </p:sp>
      <p:sp>
        <p:nvSpPr>
          <p:cNvPr id="10" name="Rounded Rectangle 9"/>
          <p:cNvSpPr/>
          <p:nvPr/>
        </p:nvSpPr>
        <p:spPr>
          <a:xfrm>
            <a:off x="566928" y="3748126"/>
            <a:ext cx="2478024"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3748126"/>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4352471"/>
            <a:ext cx="2185416" cy="1580595"/>
          </a:xfrm>
          <a:prstGeom prst="rect">
            <a:avLst/>
          </a:prstGeom>
          <a:noFill/>
        </p:spPr>
        <p:txBody>
          <a:bodyPr wrap="square" anchor="t" lIns="0" rIns="0" tIns="0" bIns="0">
            <a:spAutoFit/>
          </a:bodyPr>
          <a:lstStyle/>
          <a:p>
            <a:pPr algn="ctr"/>
            <a:r>
              <a:rPr sz="1859" b="1">
                <a:solidFill>
                  <a:srgbClr val="0E2841"/>
                </a:solidFill>
                <a:latin typeface="Aptos Display"/>
              </a:rPr>
              <a:t>Cliente</a:t>
            </a:r>
          </a:p>
        </p:txBody>
      </p:sp>
      <p:sp>
        <p:nvSpPr>
          <p:cNvPr id="13" name="Chevron 12"/>
          <p:cNvSpPr/>
          <p:nvPr/>
        </p:nvSpPr>
        <p:spPr>
          <a:xfrm>
            <a:off x="3136392" y="449193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29000" y="3748126"/>
            <a:ext cx="2478024"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29000" y="3748126"/>
            <a:ext cx="2478024"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5304" y="4352471"/>
            <a:ext cx="2185416" cy="1580595"/>
          </a:xfrm>
          <a:prstGeom prst="rect">
            <a:avLst/>
          </a:prstGeom>
          <a:noFill/>
        </p:spPr>
        <p:txBody>
          <a:bodyPr wrap="square" anchor="t" lIns="0" rIns="0" tIns="0" bIns="0">
            <a:spAutoFit/>
          </a:bodyPr>
          <a:lstStyle/>
          <a:p>
            <a:pPr algn="ctr"/>
            <a:r>
              <a:rPr sz="1859" b="1">
                <a:solidFill>
                  <a:srgbClr val="0E2841"/>
                </a:solidFill>
                <a:latin typeface="Aptos Display"/>
              </a:rPr>
              <a:t>API Gateway</a:t>
            </a:r>
          </a:p>
          <a:p>
            <a:pPr algn="ctr">
              <a:lnSpc>
                <a:spcPct val="120000"/>
              </a:lnSpc>
              <a:spcBef>
                <a:spcPts val="700"/>
              </a:spcBef>
            </a:pPr>
            <a:r>
              <a:rPr sz="1439" b="0">
                <a:solidFill>
                  <a:srgbClr val="7A8B9E"/>
                </a:solidFill>
                <a:latin typeface="Aptos"/>
              </a:rPr>
              <a:t>POST /orders</a:t>
            </a:r>
          </a:p>
        </p:txBody>
      </p:sp>
      <p:sp>
        <p:nvSpPr>
          <p:cNvPr id="17" name="Chevron 16"/>
          <p:cNvSpPr/>
          <p:nvPr/>
        </p:nvSpPr>
        <p:spPr>
          <a:xfrm>
            <a:off x="5998464" y="449193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91072" y="3748126"/>
            <a:ext cx="2478024"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91072" y="3748126"/>
            <a:ext cx="2478024"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7376" y="4352471"/>
            <a:ext cx="2185416" cy="1580595"/>
          </a:xfrm>
          <a:prstGeom prst="rect">
            <a:avLst/>
          </a:prstGeom>
          <a:noFill/>
        </p:spPr>
        <p:txBody>
          <a:bodyPr wrap="square" anchor="t" lIns="0" rIns="0" tIns="0" bIns="0">
            <a:spAutoFit/>
          </a:bodyPr>
          <a:lstStyle/>
          <a:p>
            <a:pPr algn="ctr"/>
            <a:r>
              <a:rPr sz="1859" b="1">
                <a:solidFill>
                  <a:srgbClr val="0E2841"/>
                </a:solidFill>
                <a:latin typeface="Aptos Display"/>
              </a:rPr>
              <a:t>Función</a:t>
            </a:r>
          </a:p>
          <a:p>
            <a:pPr algn="ctr">
              <a:lnSpc>
                <a:spcPct val="120000"/>
              </a:lnSpc>
              <a:spcBef>
                <a:spcPts val="700"/>
              </a:spcBef>
            </a:pPr>
            <a:r>
              <a:rPr sz="1439" b="0">
                <a:solidFill>
                  <a:srgbClr val="7A8B9E"/>
                </a:solidFill>
                <a:latin typeface="Aptos"/>
              </a:rPr>
              <a:t>sin estado</a:t>
            </a:r>
          </a:p>
        </p:txBody>
      </p:sp>
      <p:sp>
        <p:nvSpPr>
          <p:cNvPr id="21" name="Chevron 20"/>
          <p:cNvSpPr/>
          <p:nvPr/>
        </p:nvSpPr>
        <p:spPr>
          <a:xfrm>
            <a:off x="8860536" y="449193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3144" y="3748126"/>
            <a:ext cx="2478024"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53144" y="3748126"/>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99448" y="4352471"/>
            <a:ext cx="2185416" cy="1580595"/>
          </a:xfrm>
          <a:prstGeom prst="rect">
            <a:avLst/>
          </a:prstGeom>
          <a:noFill/>
        </p:spPr>
        <p:txBody>
          <a:bodyPr wrap="square" anchor="t" lIns="0" rIns="0" tIns="0" bIns="0">
            <a:spAutoFit/>
          </a:bodyPr>
          <a:lstStyle/>
          <a:p>
            <a:pPr algn="ctr"/>
            <a:r>
              <a:rPr sz="1859" b="1">
                <a:solidFill>
                  <a:srgbClr val="0E2841"/>
                </a:solidFill>
                <a:latin typeface="Aptos Display"/>
              </a:rPr>
              <a:t>DynamoDB</a:t>
            </a:r>
          </a:p>
          <a:p>
            <a:pPr algn="ctr">
              <a:lnSpc>
                <a:spcPct val="120000"/>
              </a:lnSpc>
              <a:spcBef>
                <a:spcPts val="700"/>
              </a:spcBef>
            </a:pPr>
            <a:r>
              <a:rPr sz="1439" b="0">
                <a:solidFill>
                  <a:srgbClr val="7A8B9E"/>
                </a:solidFill>
                <a:latin typeface="Aptos"/>
              </a:rPr>
              <a:t>guarda el pedido</a:t>
            </a:r>
          </a:p>
        </p:txBody>
      </p:sp>
      <p:sp>
        <p:nvSpPr>
          <p:cNvPr id="25" name="TextBox 2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6" name="TextBox 2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9 / 43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Una función que registra un pedido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880360"/>
            <a:ext cx="11064240" cy="2139696"/>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3099816"/>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3063240"/>
            <a:ext cx="7315200" cy="237744"/>
          </a:xfrm>
          <a:prstGeom prst="rect">
            <a:avLst/>
          </a:prstGeom>
          <a:noFill/>
        </p:spPr>
        <p:txBody>
          <a:bodyPr wrap="square" anchor="t" lIns="0" rIns="0" tIns="0" bIns="0">
            <a:spAutoFit/>
          </a:bodyPr>
          <a:lstStyle/>
          <a:p>
            <a:pPr algn="l"/>
            <a:r>
              <a:rPr sz="1228" b="1">
                <a:solidFill>
                  <a:srgbClr val="E97132"/>
                </a:solidFill>
                <a:latin typeface="Aptos"/>
              </a:rPr>
              <a:t>PYTHON · AWS LAMBDA</a:t>
            </a:r>
          </a:p>
        </p:txBody>
      </p:sp>
      <p:sp>
        <p:nvSpPr>
          <p:cNvPr id="10" name="TextBox 9"/>
          <p:cNvSpPr txBox="1"/>
          <p:nvPr/>
        </p:nvSpPr>
        <p:spPr>
          <a:xfrm>
            <a:off x="877824" y="3447288"/>
            <a:ext cx="10515600" cy="1408176"/>
          </a:xfrm>
          <a:prstGeom prst="rect">
            <a:avLst/>
          </a:prstGeom>
          <a:noFill/>
        </p:spPr>
        <p:txBody>
          <a:bodyPr wrap="none" lIns="0" tIns="0">
            <a:spAutoFit/>
          </a:bodyPr>
          <a:lstStyle/>
          <a:p>
            <a:pPr>
              <a:lnSpc>
                <a:spcPct val="125000"/>
              </a:lnSpc>
            </a:pPr>
            <a:r>
              <a:rPr sz="1548">
                <a:solidFill>
                  <a:srgbClr val="E8E8E8"/>
                </a:solidFill>
                <a:latin typeface="Consolas"/>
              </a:rPr>
              <a:t>table = boto3.resource("dynamodb").Table(os.environ["ORDERS_TABLE"])</a:t>
            </a:r>
          </a:p>
          <a:p>
            <a:pPr>
              <a:lnSpc>
                <a:spcPct val="125000"/>
              </a:lnSpc>
            </a:pPr>
            <a:r>
              <a:rPr sz="1548">
                <a:solidFill>
                  <a:srgbClr val="E8E8E8"/>
                </a:solidFill>
                <a:latin typeface="Consolas"/>
              </a:rPr>
              <a:t>def lambda_handler(event, context):</a:t>
            </a:r>
          </a:p>
          <a:p>
            <a:pPr>
              <a:lnSpc>
                <a:spcPct val="125000"/>
              </a:lnSpc>
            </a:pPr>
            <a:r>
              <a:rPr sz="1548">
                <a:solidFill>
                  <a:srgbClr val="E8E8E8"/>
                </a:solidFill>
                <a:latin typeface="Consolas"/>
              </a:rPr>
              <a:t>    body = json.loads(event["body"])</a:t>
            </a:r>
          </a:p>
          <a:p>
            <a:pPr>
              <a:lnSpc>
                <a:spcPct val="125000"/>
              </a:lnSpc>
            </a:pPr>
            <a:r>
              <a:rPr sz="1548">
                <a:solidFill>
                  <a:srgbClr val="E8E8E8"/>
                </a:solidFill>
                <a:latin typeface="Consolas"/>
              </a:rPr>
              <a:t>    table.put_item(Item={"order_id": str(uuid.uuid4()), **body})</a:t>
            </a:r>
          </a:p>
          <a:p>
            <a:pPr>
              <a:lnSpc>
                <a:spcPct val="125000"/>
              </a:lnSpc>
            </a:pPr>
            <a:r>
              <a:rPr sz="1548">
                <a:solidFill>
                  <a:srgbClr val="E8E8E8"/>
                </a:solidFill>
                <a:latin typeface="Consolas"/>
              </a:rPr>
              <a:t>    return {"statusCode": 200, "body": json.dumps(body)}</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10 / 43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 que serverless gana y lo que cobra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449019"/>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339291"/>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449019"/>
          </a:xfrm>
          <a:prstGeom prst="rect">
            <a:avLst/>
          </a:prstGeom>
          <a:noFill/>
        </p:spPr>
        <p:txBody>
          <a:bodyPr wrap="square" anchor="ctr" lIns="0" rIns="0" tIns="0" bIns="0">
            <a:spAutoFit/>
          </a:bodyPr>
          <a:lstStyle/>
          <a:p>
            <a:pPr algn="l">
              <a:lnSpc>
                <a:spcPct val="125000"/>
              </a:lnSpc>
            </a:pPr>
            <a:r>
              <a:rPr sz="2479" b="1">
                <a:solidFill>
                  <a:srgbClr val="0E2841"/>
                </a:solidFill>
                <a:latin typeface="Aptos Display"/>
              </a:rPr>
              <a:t>Brilla con cargas esporádicas; con carga alta y constante puede costar más que un servidor.</a:t>
            </a:r>
          </a:p>
        </p:txBody>
      </p:sp>
      <p:sp>
        <p:nvSpPr>
          <p:cNvPr id="10" name="Rounded Rectangle 9"/>
          <p:cNvSpPr/>
          <p:nvPr/>
        </p:nvSpPr>
        <p:spPr>
          <a:xfrm>
            <a:off x="566928" y="3222955"/>
            <a:ext cx="5367528" cy="310469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 Same Side Corner Rectangle 10"/>
          <p:cNvSpPr/>
          <p:nvPr/>
        </p:nvSpPr>
        <p:spPr>
          <a:xfrm>
            <a:off x="566928" y="3222955"/>
            <a:ext cx="5367528"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3222955"/>
            <a:ext cx="5001768" cy="566928"/>
          </a:xfrm>
          <a:prstGeom prst="rect">
            <a:avLst/>
          </a:prstGeom>
          <a:noFill/>
        </p:spPr>
        <p:txBody>
          <a:bodyPr wrap="square" anchor="ctr" lIns="0" rIns="0" tIns="0" bIns="0">
            <a:spAutoFit/>
          </a:bodyPr>
          <a:lstStyle/>
          <a:p>
            <a:pPr algn="l"/>
            <a:r>
              <a:rPr sz="1915" b="1">
                <a:solidFill>
                  <a:srgbClr val="FFFFFF"/>
                </a:solidFill>
                <a:latin typeface="Aptos Display"/>
              </a:rPr>
              <a:t>Gana</a:t>
            </a:r>
          </a:p>
        </p:txBody>
      </p:sp>
      <p:sp>
        <p:nvSpPr>
          <p:cNvPr id="13" name="Oval 12"/>
          <p:cNvSpPr/>
          <p:nvPr/>
        </p:nvSpPr>
        <p:spPr>
          <a:xfrm>
            <a:off x="786384" y="4482693"/>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4226661"/>
            <a:ext cx="4709160" cy="603504"/>
          </a:xfrm>
          <a:prstGeom prst="rect">
            <a:avLst/>
          </a:prstGeom>
          <a:noFill/>
        </p:spPr>
        <p:txBody>
          <a:bodyPr wrap="square" anchor="ctr" lIns="0" rIns="0" tIns="0" bIns="0">
            <a:spAutoFit/>
          </a:bodyPr>
          <a:lstStyle/>
          <a:p>
            <a:pPr algn="l"/>
            <a:r>
              <a:rPr sz="1577" b="0">
                <a:solidFill>
                  <a:srgbClr val="33475B"/>
                </a:solidFill>
                <a:latin typeface="Aptos"/>
              </a:rPr>
              <a:t>Paga solo por uso</a:t>
            </a:r>
          </a:p>
        </p:txBody>
      </p:sp>
      <p:sp>
        <p:nvSpPr>
          <p:cNvPr id="15" name="Oval 14"/>
          <p:cNvSpPr/>
          <p:nvPr/>
        </p:nvSpPr>
        <p:spPr>
          <a:xfrm>
            <a:off x="786384" y="5086197"/>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830165"/>
            <a:ext cx="4709160" cy="603504"/>
          </a:xfrm>
          <a:prstGeom prst="rect">
            <a:avLst/>
          </a:prstGeom>
          <a:noFill/>
        </p:spPr>
        <p:txBody>
          <a:bodyPr wrap="square" anchor="ctr" lIns="0" rIns="0" tIns="0" bIns="0">
            <a:spAutoFit/>
          </a:bodyPr>
          <a:lstStyle/>
          <a:p>
            <a:pPr algn="l"/>
            <a:r>
              <a:rPr sz="1577" b="0">
                <a:solidFill>
                  <a:srgbClr val="33475B"/>
                </a:solidFill>
                <a:latin typeface="Aptos"/>
              </a:rPr>
              <a:t>Escala desde cero</a:t>
            </a:r>
          </a:p>
        </p:txBody>
      </p:sp>
      <p:sp>
        <p:nvSpPr>
          <p:cNvPr id="17" name="Oval 16"/>
          <p:cNvSpPr/>
          <p:nvPr/>
        </p:nvSpPr>
        <p:spPr>
          <a:xfrm>
            <a:off x="786384" y="5689701"/>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433669"/>
            <a:ext cx="4709160" cy="603504"/>
          </a:xfrm>
          <a:prstGeom prst="rect">
            <a:avLst/>
          </a:prstGeom>
          <a:noFill/>
        </p:spPr>
        <p:txBody>
          <a:bodyPr wrap="square" anchor="ctr" lIns="0" rIns="0" tIns="0" bIns="0">
            <a:spAutoFit/>
          </a:bodyPr>
          <a:lstStyle/>
          <a:p>
            <a:pPr algn="l"/>
            <a:r>
              <a:rPr sz="1577" b="0">
                <a:solidFill>
                  <a:srgbClr val="33475B"/>
                </a:solidFill>
                <a:latin typeface="Aptos"/>
              </a:rPr>
              <a:t>Sin servidores que parchar</a:t>
            </a:r>
          </a:p>
        </p:txBody>
      </p:sp>
      <p:sp>
        <p:nvSpPr>
          <p:cNvPr id="19" name="Rounded Rectangle 18"/>
          <p:cNvSpPr/>
          <p:nvPr/>
        </p:nvSpPr>
        <p:spPr>
          <a:xfrm>
            <a:off x="6263640" y="3222955"/>
            <a:ext cx="5367528" cy="310469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 Same Side Corner Rectangle 19"/>
          <p:cNvSpPr/>
          <p:nvPr/>
        </p:nvSpPr>
        <p:spPr>
          <a:xfrm>
            <a:off x="6263640" y="3222955"/>
            <a:ext cx="5367528"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3222955"/>
            <a:ext cx="5001768" cy="566928"/>
          </a:xfrm>
          <a:prstGeom prst="rect">
            <a:avLst/>
          </a:prstGeom>
          <a:noFill/>
        </p:spPr>
        <p:txBody>
          <a:bodyPr wrap="square" anchor="ctr" lIns="0" rIns="0" tIns="0" bIns="0">
            <a:spAutoFit/>
          </a:bodyPr>
          <a:lstStyle/>
          <a:p>
            <a:pPr algn="l"/>
            <a:r>
              <a:rPr sz="1915" b="1">
                <a:solidFill>
                  <a:srgbClr val="FFFFFF"/>
                </a:solidFill>
                <a:latin typeface="Aptos Display"/>
              </a:rPr>
              <a:t>Cobra</a:t>
            </a:r>
          </a:p>
        </p:txBody>
      </p:sp>
      <p:sp>
        <p:nvSpPr>
          <p:cNvPr id="22" name="Oval 21"/>
          <p:cNvSpPr/>
          <p:nvPr/>
        </p:nvSpPr>
        <p:spPr>
          <a:xfrm>
            <a:off x="6483096" y="4482693"/>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20840" y="4226661"/>
            <a:ext cx="4709160" cy="603504"/>
          </a:xfrm>
          <a:prstGeom prst="rect">
            <a:avLst/>
          </a:prstGeom>
          <a:noFill/>
        </p:spPr>
        <p:txBody>
          <a:bodyPr wrap="square" anchor="ctr" lIns="0" rIns="0" tIns="0" bIns="0">
            <a:spAutoFit/>
          </a:bodyPr>
          <a:lstStyle/>
          <a:p>
            <a:pPr algn="l"/>
            <a:r>
              <a:rPr sz="1577" b="0">
                <a:solidFill>
                  <a:srgbClr val="33475B"/>
                </a:solidFill>
                <a:latin typeface="Aptos"/>
              </a:rPr>
              <a:t>Arranque en frío</a:t>
            </a:r>
          </a:p>
        </p:txBody>
      </p:sp>
      <p:sp>
        <p:nvSpPr>
          <p:cNvPr id="24" name="Oval 23"/>
          <p:cNvSpPr/>
          <p:nvPr/>
        </p:nvSpPr>
        <p:spPr>
          <a:xfrm>
            <a:off x="6483096" y="5086197"/>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20840" y="4830165"/>
            <a:ext cx="4709160" cy="603504"/>
          </a:xfrm>
          <a:prstGeom prst="rect">
            <a:avLst/>
          </a:prstGeom>
          <a:noFill/>
        </p:spPr>
        <p:txBody>
          <a:bodyPr wrap="square" anchor="ctr" lIns="0" rIns="0" tIns="0" bIns="0">
            <a:spAutoFit/>
          </a:bodyPr>
          <a:lstStyle/>
          <a:p>
            <a:pPr algn="l"/>
            <a:r>
              <a:rPr sz="1577" b="0">
                <a:solidFill>
                  <a:srgbClr val="33475B"/>
                </a:solidFill>
                <a:latin typeface="Aptos"/>
              </a:rPr>
              <a:t>Máximo 15 min en Lambda</a:t>
            </a:r>
          </a:p>
        </p:txBody>
      </p:sp>
      <p:sp>
        <p:nvSpPr>
          <p:cNvPr id="26" name="Oval 25"/>
          <p:cNvSpPr/>
          <p:nvPr/>
        </p:nvSpPr>
        <p:spPr>
          <a:xfrm>
            <a:off x="6483096" y="5689701"/>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0840" y="5433669"/>
            <a:ext cx="4709160" cy="603504"/>
          </a:xfrm>
          <a:prstGeom prst="rect">
            <a:avLst/>
          </a:prstGeom>
          <a:noFill/>
        </p:spPr>
        <p:txBody>
          <a:bodyPr wrap="square" anchor="ctr" lIns="0" rIns="0" tIns="0" bIns="0">
            <a:spAutoFit/>
          </a:bodyPr>
          <a:lstStyle/>
          <a:p>
            <a:pPr algn="l"/>
            <a:r>
              <a:rPr sz="1577" b="0">
                <a:solidFill>
                  <a:srgbClr val="33475B"/>
                </a:solidFill>
                <a:latin typeface="Aptos"/>
              </a:rPr>
              <a:t>Atadura al proveedor</a:t>
            </a:r>
          </a:p>
        </p:txBody>
      </p:sp>
      <p:sp>
        <p:nvSpPr>
          <p:cNvPr id="28" name="TextBox 2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9" name="TextBox 2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11 / 43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¿Qué es cierto sobre serverless?</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No hay servidores: el código corre directamente en la red del proveedor</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Siempre cuesta menos que un servidor dedicado, sin importar la carga</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Las funciones no guardan estado entre ejecuciones; el estado vive en servicios externos</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Es la opción adecuada para procesos que duran varias horas</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12 / 43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Cloud-native: hecha para la nube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55578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44605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555786"/>
          </a:xfrm>
          <a:prstGeom prst="rect">
            <a:avLst/>
          </a:prstGeom>
          <a:noFill/>
        </p:spPr>
        <p:txBody>
          <a:bodyPr wrap="square" anchor="ctr" lIns="0" rIns="0" tIns="0" bIns="0">
            <a:spAutoFit/>
          </a:bodyPr>
          <a:lstStyle/>
          <a:p>
            <a:pPr algn="l">
              <a:lnSpc>
                <a:spcPct val="125000"/>
              </a:lnSpc>
            </a:pPr>
            <a:r>
              <a:rPr sz="2570" b="1">
                <a:solidFill>
                  <a:srgbClr val="0E2841"/>
                </a:solidFill>
                <a:latin typeface="Aptos Display"/>
              </a:rPr>
              <a:t>No es mudar la aplicación a una máquina en la nube: es diseñarla para contenedores, orquestación y despliegue continuo.</a:t>
            </a:r>
          </a:p>
        </p:txBody>
      </p:sp>
      <p:sp>
        <p:nvSpPr>
          <p:cNvPr id="10" name="Rounded Rectangle 9"/>
          <p:cNvSpPr/>
          <p:nvPr/>
        </p:nvSpPr>
        <p:spPr>
          <a:xfrm>
            <a:off x="566928" y="3329722"/>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8096" y="3585754"/>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3841786"/>
            <a:ext cx="2130552" cy="2284693"/>
          </a:xfrm>
          <a:prstGeom prst="rect">
            <a:avLst/>
          </a:prstGeom>
          <a:noFill/>
        </p:spPr>
        <p:txBody>
          <a:bodyPr wrap="square" anchor="t" lIns="0" rIns="0" tIns="0" bIns="0">
            <a:spAutoFit/>
          </a:bodyPr>
          <a:lstStyle/>
          <a:p>
            <a:pPr algn="l"/>
            <a:r>
              <a:rPr sz="1986" b="1">
                <a:solidFill>
                  <a:srgbClr val="0E2841"/>
                </a:solidFill>
                <a:latin typeface="Aptos Display"/>
              </a:rPr>
              <a:t>Contenedores</a:t>
            </a:r>
          </a:p>
          <a:p>
            <a:pPr algn="l">
              <a:lnSpc>
                <a:spcPct val="120000"/>
              </a:lnSpc>
              <a:spcBef>
                <a:spcPts val="700"/>
              </a:spcBef>
            </a:pPr>
            <a:r>
              <a:rPr sz="1518" b="0">
                <a:solidFill>
                  <a:srgbClr val="33475B"/>
                </a:solidFill>
                <a:latin typeface="Aptos"/>
              </a:rPr>
              <a:t>Docker empaqueta código y dependencias</a:t>
            </a:r>
          </a:p>
        </p:txBody>
      </p:sp>
      <p:sp>
        <p:nvSpPr>
          <p:cNvPr id="13" name="Rounded Rectangle 12"/>
          <p:cNvSpPr/>
          <p:nvPr/>
        </p:nvSpPr>
        <p:spPr>
          <a:xfrm>
            <a:off x="3410712" y="3329722"/>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11880" y="3585754"/>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11880" y="3841786"/>
            <a:ext cx="2130552" cy="2284693"/>
          </a:xfrm>
          <a:prstGeom prst="rect">
            <a:avLst/>
          </a:prstGeom>
          <a:noFill/>
        </p:spPr>
        <p:txBody>
          <a:bodyPr wrap="square" anchor="t" lIns="0" rIns="0" tIns="0" bIns="0">
            <a:spAutoFit/>
          </a:bodyPr>
          <a:lstStyle/>
          <a:p>
            <a:pPr algn="l"/>
            <a:r>
              <a:rPr sz="1986" b="1">
                <a:solidFill>
                  <a:srgbClr val="0E2841"/>
                </a:solidFill>
                <a:latin typeface="Aptos Display"/>
              </a:rPr>
              <a:t>Orquestación</a:t>
            </a:r>
          </a:p>
          <a:p>
            <a:pPr algn="l">
              <a:lnSpc>
                <a:spcPct val="120000"/>
              </a:lnSpc>
              <a:spcBef>
                <a:spcPts val="700"/>
              </a:spcBef>
            </a:pPr>
            <a:r>
              <a:rPr sz="1518" b="0">
                <a:solidFill>
                  <a:srgbClr val="33475B"/>
                </a:solidFill>
                <a:latin typeface="Aptos"/>
              </a:rPr>
              <a:t>Kubernetes despliega, escala y repara</a:t>
            </a:r>
          </a:p>
        </p:txBody>
      </p:sp>
      <p:sp>
        <p:nvSpPr>
          <p:cNvPr id="16" name="Rounded Rectangle 15"/>
          <p:cNvSpPr/>
          <p:nvPr/>
        </p:nvSpPr>
        <p:spPr>
          <a:xfrm>
            <a:off x="6254496" y="3329722"/>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55664" y="3585754"/>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3841786"/>
            <a:ext cx="2130552" cy="2284693"/>
          </a:xfrm>
          <a:prstGeom prst="rect">
            <a:avLst/>
          </a:prstGeom>
          <a:noFill/>
        </p:spPr>
        <p:txBody>
          <a:bodyPr wrap="square" anchor="t" lIns="0" rIns="0" tIns="0" bIns="0">
            <a:spAutoFit/>
          </a:bodyPr>
          <a:lstStyle/>
          <a:p>
            <a:pPr algn="l"/>
            <a:r>
              <a:rPr sz="1986" b="1">
                <a:solidFill>
                  <a:srgbClr val="0E2841"/>
                </a:solidFill>
                <a:latin typeface="Aptos Display"/>
              </a:rPr>
              <a:t>Infraestructura como código</a:t>
            </a:r>
          </a:p>
          <a:p>
            <a:pPr algn="l">
              <a:lnSpc>
                <a:spcPct val="120000"/>
              </a:lnSpc>
              <a:spcBef>
                <a:spcPts val="700"/>
              </a:spcBef>
            </a:pPr>
            <a:r>
              <a:rPr sz="1518" b="0">
                <a:solidFill>
                  <a:srgbClr val="33475B"/>
                </a:solidFill>
                <a:latin typeface="Aptos"/>
              </a:rPr>
              <a:t>Terraform y YAML versionados</a:t>
            </a:r>
          </a:p>
        </p:txBody>
      </p:sp>
      <p:sp>
        <p:nvSpPr>
          <p:cNvPr id="19" name="Rounded Rectangle 18"/>
          <p:cNvSpPr/>
          <p:nvPr/>
        </p:nvSpPr>
        <p:spPr>
          <a:xfrm>
            <a:off x="9098280" y="3329722"/>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299448" y="3585754"/>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3841786"/>
            <a:ext cx="2130552" cy="2284693"/>
          </a:xfrm>
          <a:prstGeom prst="rect">
            <a:avLst/>
          </a:prstGeom>
          <a:noFill/>
        </p:spPr>
        <p:txBody>
          <a:bodyPr wrap="square" anchor="t" lIns="0" rIns="0" tIns="0" bIns="0">
            <a:spAutoFit/>
          </a:bodyPr>
          <a:lstStyle/>
          <a:p>
            <a:pPr algn="l"/>
            <a:r>
              <a:rPr sz="1986" b="1">
                <a:solidFill>
                  <a:srgbClr val="0E2841"/>
                </a:solidFill>
                <a:latin typeface="Aptos Display"/>
              </a:rPr>
              <a:t>CI/CD</a:t>
            </a:r>
          </a:p>
          <a:p>
            <a:pPr algn="l">
              <a:lnSpc>
                <a:spcPct val="120000"/>
              </a:lnSpc>
              <a:spcBef>
                <a:spcPts val="700"/>
              </a:spcBef>
            </a:pPr>
            <a:r>
              <a:rPr sz="1518" b="0">
                <a:solidFill>
                  <a:srgbClr val="33475B"/>
                </a:solidFill>
                <a:latin typeface="Aptos"/>
              </a:rPr>
              <a:t>compilar, probar y desplegar en cada cambio</a:t>
            </a:r>
          </a:p>
        </p:txBody>
      </p:sp>
      <p:sp>
        <p:nvSpPr>
          <p:cNvPr id="22" name="TextBox 2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3" name="TextBox 2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13 / 43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Tres réplicas y tráfico a las sanas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880360"/>
            <a:ext cx="11064240" cy="2139696"/>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3099816"/>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3063240"/>
            <a:ext cx="7315200" cy="237744"/>
          </a:xfrm>
          <a:prstGeom prst="rect">
            <a:avLst/>
          </a:prstGeom>
          <a:noFill/>
        </p:spPr>
        <p:txBody>
          <a:bodyPr wrap="square" anchor="t" lIns="0" rIns="0" tIns="0" bIns="0">
            <a:spAutoFit/>
          </a:bodyPr>
          <a:lstStyle/>
          <a:p>
            <a:pPr algn="l"/>
            <a:r>
              <a:rPr sz="1228" b="1">
                <a:solidFill>
                  <a:srgbClr val="E97132"/>
                </a:solidFill>
                <a:latin typeface="Aptos"/>
              </a:rPr>
              <a:t>KUBERNETES · DEPLOYMENT.YAML (FRAGMENTO)</a:t>
            </a:r>
          </a:p>
        </p:txBody>
      </p:sp>
      <p:sp>
        <p:nvSpPr>
          <p:cNvPr id="10" name="TextBox 9"/>
          <p:cNvSpPr txBox="1"/>
          <p:nvPr/>
        </p:nvSpPr>
        <p:spPr>
          <a:xfrm>
            <a:off x="877824" y="3447288"/>
            <a:ext cx="10515600" cy="1408176"/>
          </a:xfrm>
          <a:prstGeom prst="rect">
            <a:avLst/>
          </a:prstGeom>
          <a:noFill/>
        </p:spPr>
        <p:txBody>
          <a:bodyPr wrap="none" lIns="0" tIns="0">
            <a:spAutoFit/>
          </a:bodyPr>
          <a:lstStyle/>
          <a:p>
            <a:pPr>
              <a:lnSpc>
                <a:spcPct val="125000"/>
              </a:lnSpc>
            </a:pPr>
            <a:r>
              <a:rPr sz="1548">
                <a:solidFill>
                  <a:srgbClr val="E8E8E8"/>
                </a:solidFill>
                <a:latin typeface="Consolas"/>
              </a:rPr>
              <a:t>spec:</a:t>
            </a:r>
          </a:p>
          <a:p>
            <a:pPr>
              <a:lnSpc>
                <a:spcPct val="125000"/>
              </a:lnSpc>
            </a:pPr>
            <a:r>
              <a:rPr sz="1548">
                <a:solidFill>
                  <a:srgbClr val="E8E8E8"/>
                </a:solidFill>
                <a:latin typeface="Consolas"/>
              </a:rPr>
              <a:t>  replicas: 3              # copias fijas; un HPA las autoescala</a:t>
            </a:r>
          </a:p>
          <a:p>
            <a:pPr>
              <a:lnSpc>
                <a:spcPct val="125000"/>
              </a:lnSpc>
            </a:pPr>
            <a:r>
              <a:rPr sz="1548">
                <a:solidFill>
                  <a:srgbClr val="E8E8E8"/>
                </a:solidFill>
                <a:latin typeface="Consolas"/>
              </a:rPr>
              <a:t># dentro de cada contenedor de template.spec.containers:</a:t>
            </a:r>
          </a:p>
          <a:p>
            <a:pPr>
              <a:lnSpc>
                <a:spcPct val="125000"/>
              </a:lnSpc>
            </a:pPr>
            <a:r>
              <a:rPr sz="1548">
                <a:solidFill>
                  <a:srgbClr val="E8E8E8"/>
                </a:solidFill>
                <a:latin typeface="Consolas"/>
              </a:rPr>
              <a:t>readinessProbe:            # recibe tráfico solo si responde</a:t>
            </a:r>
          </a:p>
          <a:p>
            <a:pPr>
              <a:lnSpc>
                <a:spcPct val="125000"/>
              </a:lnSpc>
            </a:pPr>
            <a:r>
              <a:rPr sz="1548">
                <a:solidFill>
                  <a:srgbClr val="E8E8E8"/>
                </a:solidFill>
                <a:latin typeface="Consolas"/>
              </a:rPr>
              <a:t>  httpGet: { path: /health, port: 80 }</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14 / 43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Cloud-native: cuándo sí y cuándo no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449019"/>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339291"/>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449019"/>
          </a:xfrm>
          <a:prstGeom prst="rect">
            <a:avLst/>
          </a:prstGeom>
          <a:noFill/>
        </p:spPr>
        <p:txBody>
          <a:bodyPr wrap="square" anchor="ctr" lIns="0" rIns="0" tIns="0" bIns="0">
            <a:spAutoFit/>
          </a:bodyPr>
          <a:lstStyle/>
          <a:p>
            <a:pPr algn="l">
              <a:lnSpc>
                <a:spcPct val="125000"/>
              </a:lnSpc>
            </a:pPr>
            <a:r>
              <a:rPr sz="2479" b="1">
                <a:solidFill>
                  <a:srgbClr val="0E2841"/>
                </a:solidFill>
                <a:latin typeface="Aptos Display"/>
              </a:rPr>
              <a:t>La configuración vive fuera del código: variables de entorno y secretos, nunca la clave en el YAML.</a:t>
            </a:r>
          </a:p>
        </p:txBody>
      </p:sp>
      <p:sp>
        <p:nvSpPr>
          <p:cNvPr id="10" name="Rounded Rectangle 9"/>
          <p:cNvSpPr/>
          <p:nvPr/>
        </p:nvSpPr>
        <p:spPr>
          <a:xfrm>
            <a:off x="566928" y="3222955"/>
            <a:ext cx="5367528" cy="310469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 Same Side Corner Rectangle 10"/>
          <p:cNvSpPr/>
          <p:nvPr/>
        </p:nvSpPr>
        <p:spPr>
          <a:xfrm>
            <a:off x="566928" y="3222955"/>
            <a:ext cx="5367528"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3222955"/>
            <a:ext cx="5001768" cy="566928"/>
          </a:xfrm>
          <a:prstGeom prst="rect">
            <a:avLst/>
          </a:prstGeom>
          <a:noFill/>
        </p:spPr>
        <p:txBody>
          <a:bodyPr wrap="square" anchor="ctr" lIns="0" rIns="0" tIns="0" bIns="0">
            <a:spAutoFit/>
          </a:bodyPr>
          <a:lstStyle/>
          <a:p>
            <a:pPr algn="l"/>
            <a:r>
              <a:rPr sz="1915" b="1">
                <a:solidFill>
                  <a:srgbClr val="FFFFFF"/>
                </a:solidFill>
                <a:latin typeface="Aptos Display"/>
              </a:rPr>
              <a:t>Conviene</a:t>
            </a:r>
          </a:p>
        </p:txBody>
      </p:sp>
      <p:sp>
        <p:nvSpPr>
          <p:cNvPr id="13" name="Oval 12"/>
          <p:cNvSpPr/>
          <p:nvPr/>
        </p:nvSpPr>
        <p:spPr>
          <a:xfrm>
            <a:off x="786384" y="4482693"/>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4226661"/>
            <a:ext cx="4709160" cy="603504"/>
          </a:xfrm>
          <a:prstGeom prst="rect">
            <a:avLst/>
          </a:prstGeom>
          <a:noFill/>
        </p:spPr>
        <p:txBody>
          <a:bodyPr wrap="square" anchor="ctr" lIns="0" rIns="0" tIns="0" bIns="0">
            <a:spAutoFit/>
          </a:bodyPr>
          <a:lstStyle/>
          <a:p>
            <a:pPr algn="l"/>
            <a:r>
              <a:rPr sz="1577" b="0">
                <a:solidFill>
                  <a:srgbClr val="33475B"/>
                </a:solidFill>
                <a:latin typeface="Aptos"/>
              </a:rPr>
              <a:t>Muchos servicios que operar</a:t>
            </a:r>
          </a:p>
        </p:txBody>
      </p:sp>
      <p:sp>
        <p:nvSpPr>
          <p:cNvPr id="15" name="Oval 14"/>
          <p:cNvSpPr/>
          <p:nvPr/>
        </p:nvSpPr>
        <p:spPr>
          <a:xfrm>
            <a:off x="786384" y="5086197"/>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830165"/>
            <a:ext cx="4709160" cy="603504"/>
          </a:xfrm>
          <a:prstGeom prst="rect">
            <a:avLst/>
          </a:prstGeom>
          <a:noFill/>
        </p:spPr>
        <p:txBody>
          <a:bodyPr wrap="square" anchor="ctr" lIns="0" rIns="0" tIns="0" bIns="0">
            <a:spAutoFit/>
          </a:bodyPr>
          <a:lstStyle/>
          <a:p>
            <a:pPr algn="l"/>
            <a:r>
              <a:rPr sz="1577" b="0">
                <a:solidFill>
                  <a:srgbClr val="33475B"/>
                </a:solidFill>
                <a:latin typeface="Aptos"/>
              </a:rPr>
              <a:t>Picos de demanda</a:t>
            </a:r>
          </a:p>
        </p:txBody>
      </p:sp>
      <p:sp>
        <p:nvSpPr>
          <p:cNvPr id="17" name="Oval 16"/>
          <p:cNvSpPr/>
          <p:nvPr/>
        </p:nvSpPr>
        <p:spPr>
          <a:xfrm>
            <a:off x="786384" y="5689701"/>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433669"/>
            <a:ext cx="4709160" cy="603504"/>
          </a:xfrm>
          <a:prstGeom prst="rect">
            <a:avLst/>
          </a:prstGeom>
          <a:noFill/>
        </p:spPr>
        <p:txBody>
          <a:bodyPr wrap="square" anchor="ctr" lIns="0" rIns="0" tIns="0" bIns="0">
            <a:spAutoFit/>
          </a:bodyPr>
          <a:lstStyle/>
          <a:p>
            <a:pPr algn="l"/>
            <a:r>
              <a:rPr sz="1577" b="0">
                <a:solidFill>
                  <a:srgbClr val="33475B"/>
                </a:solidFill>
                <a:latin typeface="Aptos"/>
              </a:rPr>
              <a:t>Despliegues frecuentes</a:t>
            </a:r>
          </a:p>
        </p:txBody>
      </p:sp>
      <p:sp>
        <p:nvSpPr>
          <p:cNvPr id="19" name="Rounded Rectangle 18"/>
          <p:cNvSpPr/>
          <p:nvPr/>
        </p:nvSpPr>
        <p:spPr>
          <a:xfrm>
            <a:off x="6263640" y="3222955"/>
            <a:ext cx="5367528" cy="310469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 Same Side Corner Rectangle 19"/>
          <p:cNvSpPr/>
          <p:nvPr/>
        </p:nvSpPr>
        <p:spPr>
          <a:xfrm>
            <a:off x="6263640" y="3222955"/>
            <a:ext cx="5367528"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3222955"/>
            <a:ext cx="5001768" cy="566928"/>
          </a:xfrm>
          <a:prstGeom prst="rect">
            <a:avLst/>
          </a:prstGeom>
          <a:noFill/>
        </p:spPr>
        <p:txBody>
          <a:bodyPr wrap="square" anchor="ctr" lIns="0" rIns="0" tIns="0" bIns="0">
            <a:spAutoFit/>
          </a:bodyPr>
          <a:lstStyle/>
          <a:p>
            <a:pPr algn="l"/>
            <a:r>
              <a:rPr sz="1915" b="1">
                <a:solidFill>
                  <a:srgbClr val="FFFFFF"/>
                </a:solidFill>
                <a:latin typeface="Aptos Display"/>
              </a:rPr>
              <a:t>No conviene</a:t>
            </a:r>
          </a:p>
        </p:txBody>
      </p:sp>
      <p:sp>
        <p:nvSpPr>
          <p:cNvPr id="22" name="Oval 21"/>
          <p:cNvSpPr/>
          <p:nvPr/>
        </p:nvSpPr>
        <p:spPr>
          <a:xfrm>
            <a:off x="6483096" y="4482693"/>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20840" y="4226661"/>
            <a:ext cx="4709160" cy="603504"/>
          </a:xfrm>
          <a:prstGeom prst="rect">
            <a:avLst/>
          </a:prstGeom>
          <a:noFill/>
        </p:spPr>
        <p:txBody>
          <a:bodyPr wrap="square" anchor="ctr" lIns="0" rIns="0" tIns="0" bIns="0">
            <a:spAutoFit/>
          </a:bodyPr>
          <a:lstStyle/>
          <a:p>
            <a:pPr algn="l"/>
            <a:r>
              <a:rPr sz="1577" b="0">
                <a:solidFill>
                  <a:srgbClr val="33475B"/>
                </a:solidFill>
                <a:latin typeface="Aptos"/>
              </a:rPr>
              <a:t>Una aplicación pequeña</a:t>
            </a:r>
          </a:p>
        </p:txBody>
      </p:sp>
      <p:sp>
        <p:nvSpPr>
          <p:cNvPr id="24" name="Oval 23"/>
          <p:cNvSpPr/>
          <p:nvPr/>
        </p:nvSpPr>
        <p:spPr>
          <a:xfrm>
            <a:off x="6483096" y="5086197"/>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20840" y="4830165"/>
            <a:ext cx="4709160" cy="603504"/>
          </a:xfrm>
          <a:prstGeom prst="rect">
            <a:avLst/>
          </a:prstGeom>
          <a:noFill/>
        </p:spPr>
        <p:txBody>
          <a:bodyPr wrap="square" anchor="ctr" lIns="0" rIns="0" tIns="0" bIns="0">
            <a:spAutoFit/>
          </a:bodyPr>
          <a:lstStyle/>
          <a:p>
            <a:pPr algn="l"/>
            <a:r>
              <a:rPr sz="1577" b="0">
                <a:solidFill>
                  <a:srgbClr val="33475B"/>
                </a:solidFill>
                <a:latin typeface="Aptos"/>
              </a:rPr>
              <a:t>Equipo sin Kubernetes</a:t>
            </a:r>
          </a:p>
        </p:txBody>
      </p:sp>
      <p:sp>
        <p:nvSpPr>
          <p:cNvPr id="26" name="Oval 25"/>
          <p:cNvSpPr/>
          <p:nvPr/>
        </p:nvSpPr>
        <p:spPr>
          <a:xfrm>
            <a:off x="6483096" y="5689701"/>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0840" y="5433669"/>
            <a:ext cx="4709160" cy="603504"/>
          </a:xfrm>
          <a:prstGeom prst="rect">
            <a:avLst/>
          </a:prstGeom>
          <a:noFill/>
        </p:spPr>
        <p:txBody>
          <a:bodyPr wrap="square" anchor="ctr" lIns="0" rIns="0" tIns="0" bIns="0">
            <a:spAutoFit/>
          </a:bodyPr>
          <a:lstStyle/>
          <a:p>
            <a:pPr algn="l"/>
            <a:r>
              <a:rPr sz="1577" b="0">
                <a:solidFill>
                  <a:srgbClr val="33475B"/>
                </a:solidFill>
                <a:latin typeface="Aptos"/>
              </a:rPr>
              <a:t>Sin presupuesto de plataforma</a:t>
            </a:r>
          </a:p>
        </p:txBody>
      </p:sp>
      <p:sp>
        <p:nvSpPr>
          <p:cNvPr id="28" name="TextBox 2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9" name="TextBox 2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15 / 43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¿Qué distingue a lo cloud-native?</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Que usa un proveedor de nube reconocido</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Que está diseñada para contenedores, orquestación, configuración externa y despliegue automatizado</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Que corre en una máquina virtual con más memoria</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Que no necesita base de datos</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16 / 43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02</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2. Organizar la lógica y los datos</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Hexagonal: el dominio en el centro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061407"/>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951679"/>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061407"/>
          </a:xfrm>
          <a:prstGeom prst="rect">
            <a:avLst/>
          </a:prstGeom>
          <a:noFill/>
        </p:spPr>
        <p:txBody>
          <a:bodyPr wrap="square" anchor="ctr" lIns="0" rIns="0" tIns="0" bIns="0">
            <a:spAutoFit/>
          </a:bodyPr>
          <a:lstStyle/>
          <a:p>
            <a:pPr algn="l">
              <a:lnSpc>
                <a:spcPct val="125000"/>
              </a:lnSpc>
            </a:pPr>
            <a:r>
              <a:rPr sz="2367" b="1">
                <a:solidFill>
                  <a:srgbClr val="0E2841"/>
                </a:solidFill>
                <a:latin typeface="Aptos Display"/>
              </a:rPr>
              <a:t>Las dependencias de código apuntan siempre hacia el núcleo (Cockburn, 2005).</a:t>
            </a:r>
          </a:p>
        </p:txBody>
      </p:sp>
      <p:sp>
        <p:nvSpPr>
          <p:cNvPr id="10" name="Rounded Rectangle 9"/>
          <p:cNvSpPr/>
          <p:nvPr/>
        </p:nvSpPr>
        <p:spPr>
          <a:xfrm>
            <a:off x="566928" y="2835343"/>
            <a:ext cx="11064240" cy="71592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908495"/>
            <a:ext cx="63500" cy="569618"/>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835343"/>
            <a:ext cx="11064240" cy="715922"/>
          </a:xfrm>
          <a:prstGeom prst="rect">
            <a:avLst/>
          </a:prstGeom>
          <a:noFill/>
        </p:spPr>
        <p:txBody>
          <a:bodyPr wrap="square" anchor="ctr" lIns="0" rIns="0" tIns="0" bIns="0">
            <a:spAutoFit/>
          </a:bodyPr>
          <a:lstStyle/>
          <a:p>
            <a:pPr algn="ctr"/>
            <a:r>
              <a:rPr sz="1775" b="1">
                <a:solidFill>
                  <a:srgbClr val="0E2841"/>
                </a:solidFill>
                <a:latin typeface="Aptos Display"/>
              </a:rPr>
              <a:t>Adaptadores de entrada  ·  REST, CLI, pruebas automáticas</a:t>
            </a:r>
          </a:p>
        </p:txBody>
      </p:sp>
      <p:sp>
        <p:nvSpPr>
          <p:cNvPr id="13" name="Rounded Rectangle 12"/>
          <p:cNvSpPr/>
          <p:nvPr/>
        </p:nvSpPr>
        <p:spPr>
          <a:xfrm>
            <a:off x="1069848" y="3708419"/>
            <a:ext cx="10058400" cy="71592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69848" y="3781571"/>
            <a:ext cx="63500" cy="569618"/>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9848" y="3708419"/>
            <a:ext cx="10058400" cy="715922"/>
          </a:xfrm>
          <a:prstGeom prst="rect">
            <a:avLst/>
          </a:prstGeom>
          <a:noFill/>
        </p:spPr>
        <p:txBody>
          <a:bodyPr wrap="square" anchor="ctr" lIns="0" rIns="0" tIns="0" bIns="0">
            <a:spAutoFit/>
          </a:bodyPr>
          <a:lstStyle/>
          <a:p>
            <a:pPr algn="ctr"/>
            <a:r>
              <a:rPr sz="1775" b="1">
                <a:solidFill>
                  <a:srgbClr val="0E2841"/>
                </a:solidFill>
                <a:latin typeface="Aptos Display"/>
              </a:rPr>
              <a:t>Puertos  ·  interfaces que define el núcleo</a:t>
            </a:r>
          </a:p>
        </p:txBody>
      </p:sp>
      <p:sp>
        <p:nvSpPr>
          <p:cNvPr id="16" name="Rounded Rectangle 15"/>
          <p:cNvSpPr/>
          <p:nvPr/>
        </p:nvSpPr>
        <p:spPr>
          <a:xfrm>
            <a:off x="1572768" y="4581495"/>
            <a:ext cx="9052560" cy="71592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572768" y="4654647"/>
            <a:ext cx="63500" cy="56961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72768" y="4581495"/>
            <a:ext cx="9052560" cy="715922"/>
          </a:xfrm>
          <a:prstGeom prst="rect">
            <a:avLst/>
          </a:prstGeom>
          <a:noFill/>
        </p:spPr>
        <p:txBody>
          <a:bodyPr wrap="square" anchor="ctr" lIns="0" rIns="0" tIns="0" bIns="0">
            <a:spAutoFit/>
          </a:bodyPr>
          <a:lstStyle/>
          <a:p>
            <a:pPr algn="ctr"/>
            <a:r>
              <a:rPr sz="1775" b="1">
                <a:solidFill>
                  <a:srgbClr val="0E2841"/>
                </a:solidFill>
                <a:latin typeface="Aptos Display"/>
              </a:rPr>
              <a:t>Dominio  ·  reglas de negocio sin frameworks</a:t>
            </a:r>
          </a:p>
        </p:txBody>
      </p:sp>
      <p:sp>
        <p:nvSpPr>
          <p:cNvPr id="19" name="Rounded Rectangle 18"/>
          <p:cNvSpPr/>
          <p:nvPr/>
        </p:nvSpPr>
        <p:spPr>
          <a:xfrm>
            <a:off x="2075688" y="5454571"/>
            <a:ext cx="8046720" cy="71592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075688" y="5527723"/>
            <a:ext cx="63500" cy="569618"/>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075688" y="5454571"/>
            <a:ext cx="8046720" cy="715922"/>
          </a:xfrm>
          <a:prstGeom prst="rect">
            <a:avLst/>
          </a:prstGeom>
          <a:noFill/>
        </p:spPr>
        <p:txBody>
          <a:bodyPr wrap="square" anchor="ctr" lIns="0" rIns="0" tIns="0" bIns="0">
            <a:spAutoFit/>
          </a:bodyPr>
          <a:lstStyle/>
          <a:p>
            <a:pPr algn="ctr"/>
            <a:r>
              <a:rPr sz="1775" b="1">
                <a:solidFill>
                  <a:srgbClr val="0E2841"/>
                </a:solidFill>
                <a:latin typeface="Aptos Display"/>
              </a:rPr>
              <a:t>Adaptadores de salida  ·  memoria, JPA, MongoDB, broker</a:t>
            </a:r>
          </a:p>
        </p:txBody>
      </p:sp>
      <p:sp>
        <p:nvSpPr>
          <p:cNvPr id="22" name="TextBox 2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3" name="TextBox 2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17 / 43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Los puertos los define el núcleo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880360"/>
            <a:ext cx="11064240" cy="2139696"/>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3099816"/>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3063240"/>
            <a:ext cx="7315200" cy="237744"/>
          </a:xfrm>
          <a:prstGeom prst="rect">
            <a:avLst/>
          </a:prstGeom>
          <a:noFill/>
        </p:spPr>
        <p:txBody>
          <a:bodyPr wrap="square" anchor="t" lIns="0" rIns="0" tIns="0" bIns="0">
            <a:spAutoFit/>
          </a:bodyPr>
          <a:lstStyle/>
          <a:p>
            <a:pPr algn="l"/>
            <a:r>
              <a:rPr sz="1228" b="1">
                <a:solidFill>
                  <a:srgbClr val="E97132"/>
                </a:solidFill>
                <a:latin typeface="Aptos"/>
              </a:rPr>
              <a:t>JAVA · PUERTOS DEL EJEMPLO BANCARIO</a:t>
            </a:r>
          </a:p>
        </p:txBody>
      </p:sp>
      <p:sp>
        <p:nvSpPr>
          <p:cNvPr id="10" name="TextBox 9"/>
          <p:cNvSpPr txBox="1"/>
          <p:nvPr/>
        </p:nvSpPr>
        <p:spPr>
          <a:xfrm>
            <a:off x="877824" y="3447288"/>
            <a:ext cx="10515600" cy="1408176"/>
          </a:xfrm>
          <a:prstGeom prst="rect">
            <a:avLst/>
          </a:prstGeom>
          <a:noFill/>
        </p:spPr>
        <p:txBody>
          <a:bodyPr wrap="none" lIns="0" tIns="0">
            <a:spAutoFit/>
          </a:bodyPr>
          <a:lstStyle/>
          <a:p>
            <a:pPr>
              <a:lnSpc>
                <a:spcPct val="125000"/>
              </a:lnSpc>
            </a:pPr>
            <a:r>
              <a:rPr sz="1548">
                <a:solidFill>
                  <a:srgbClr val="E8E8E8"/>
                </a:solidFill>
                <a:latin typeface="Consolas"/>
              </a:rPr>
              <a:t>interface TransferUseCase {                    // puerto de entrada</a:t>
            </a:r>
          </a:p>
          <a:p>
            <a:pPr>
              <a:lnSpc>
                <a:spcPct val="125000"/>
              </a:lnSpc>
            </a:pPr>
            <a:r>
              <a:rPr sz="1548">
                <a:solidFill>
                  <a:srgbClr val="E8E8E8"/>
                </a:solidFill>
                <a:latin typeface="Consolas"/>
              </a:rPr>
              <a:t>    void transfer(String fromId, String toId, double amount); }</a:t>
            </a:r>
          </a:p>
          <a:p>
            <a:pPr>
              <a:lnSpc>
                <a:spcPct val="125000"/>
              </a:lnSpc>
            </a:pPr>
            <a:r>
              <a:rPr sz="1548">
                <a:solidFill>
                  <a:srgbClr val="E8E8E8"/>
                </a:solidFill>
                <a:latin typeface="Consolas"/>
              </a:rPr>
              <a:t>interface AccountRepository {                  // puerto de salida</a:t>
            </a:r>
          </a:p>
          <a:p>
            <a:pPr>
              <a:lnSpc>
                <a:spcPct val="125000"/>
              </a:lnSpc>
            </a:pPr>
            <a:r>
              <a:rPr sz="1548">
                <a:solidFill>
                  <a:srgbClr val="E8E8E8"/>
                </a:solidFill>
                <a:latin typeface="Consolas"/>
              </a:rPr>
              <a:t>    Optional&lt;Account&gt; findById(String id);</a:t>
            </a:r>
          </a:p>
          <a:p>
            <a:pPr>
              <a:lnSpc>
                <a:spcPct val="125000"/>
              </a:lnSpc>
            </a:pPr>
            <a:r>
              <a:rPr sz="1548">
                <a:solidFill>
                  <a:srgbClr val="E8E8E8"/>
                </a:solidFill>
                <a:latin typeface="Consolas"/>
              </a:rPr>
              <a:t>    void save(Account account); }</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18 / 43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Hexagonal: cuándo sí y cuándo no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449019"/>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339291"/>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449019"/>
          </a:xfrm>
          <a:prstGeom prst="rect">
            <a:avLst/>
          </a:prstGeom>
          <a:noFill/>
        </p:spPr>
        <p:txBody>
          <a:bodyPr wrap="square" anchor="ctr" lIns="0" rIns="0" tIns="0" bIns="0">
            <a:spAutoFit/>
          </a:bodyPr>
          <a:lstStyle/>
          <a:p>
            <a:pPr algn="l">
              <a:lnSpc>
                <a:spcPct val="125000"/>
              </a:lnSpc>
            </a:pPr>
            <a:r>
              <a:rPr sz="2479" b="1">
                <a:solidFill>
                  <a:srgbClr val="0E2841"/>
                </a:solidFill>
                <a:latin typeface="Aptos Display"/>
              </a:rPr>
              <a:t>Si el caso de uso se prueba sin base de datos, el hexágono existe; si no, solo hay carpetas.</a:t>
            </a:r>
          </a:p>
        </p:txBody>
      </p:sp>
      <p:sp>
        <p:nvSpPr>
          <p:cNvPr id="10" name="Rounded Rectangle 9"/>
          <p:cNvSpPr/>
          <p:nvPr/>
        </p:nvSpPr>
        <p:spPr>
          <a:xfrm>
            <a:off x="566928" y="3222955"/>
            <a:ext cx="5367528" cy="310469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 Same Side Corner Rectangle 10"/>
          <p:cNvSpPr/>
          <p:nvPr/>
        </p:nvSpPr>
        <p:spPr>
          <a:xfrm>
            <a:off x="566928" y="3222955"/>
            <a:ext cx="5367528"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3222955"/>
            <a:ext cx="5001768" cy="566928"/>
          </a:xfrm>
          <a:prstGeom prst="rect">
            <a:avLst/>
          </a:prstGeom>
          <a:noFill/>
        </p:spPr>
        <p:txBody>
          <a:bodyPr wrap="square" anchor="ctr" lIns="0" rIns="0" tIns="0" bIns="0">
            <a:spAutoFit/>
          </a:bodyPr>
          <a:lstStyle/>
          <a:p>
            <a:pPr algn="l"/>
            <a:r>
              <a:rPr sz="1915" b="1">
                <a:solidFill>
                  <a:srgbClr val="FFFFFF"/>
                </a:solidFill>
                <a:latin typeface="Aptos Display"/>
              </a:rPr>
              <a:t>Conviene</a:t>
            </a:r>
          </a:p>
        </p:txBody>
      </p:sp>
      <p:sp>
        <p:nvSpPr>
          <p:cNvPr id="13" name="Oval 12"/>
          <p:cNvSpPr/>
          <p:nvPr/>
        </p:nvSpPr>
        <p:spPr>
          <a:xfrm>
            <a:off x="786384" y="4482693"/>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4226661"/>
            <a:ext cx="4709160" cy="603504"/>
          </a:xfrm>
          <a:prstGeom prst="rect">
            <a:avLst/>
          </a:prstGeom>
          <a:noFill/>
        </p:spPr>
        <p:txBody>
          <a:bodyPr wrap="square" anchor="ctr" lIns="0" rIns="0" tIns="0" bIns="0">
            <a:spAutoFit/>
          </a:bodyPr>
          <a:lstStyle/>
          <a:p>
            <a:pPr algn="l"/>
            <a:r>
              <a:rPr sz="1577" b="0">
                <a:solidFill>
                  <a:srgbClr val="33475B"/>
                </a:solidFill>
                <a:latin typeface="Aptos"/>
              </a:rPr>
              <a:t>Reglas de negocio complejas</a:t>
            </a:r>
          </a:p>
        </p:txBody>
      </p:sp>
      <p:sp>
        <p:nvSpPr>
          <p:cNvPr id="15" name="Oval 14"/>
          <p:cNvSpPr/>
          <p:nvPr/>
        </p:nvSpPr>
        <p:spPr>
          <a:xfrm>
            <a:off x="786384" y="5086197"/>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830165"/>
            <a:ext cx="4709160" cy="603504"/>
          </a:xfrm>
          <a:prstGeom prst="rect">
            <a:avLst/>
          </a:prstGeom>
          <a:noFill/>
        </p:spPr>
        <p:txBody>
          <a:bodyPr wrap="square" anchor="ctr" lIns="0" rIns="0" tIns="0" bIns="0">
            <a:spAutoFit/>
          </a:bodyPr>
          <a:lstStyle/>
          <a:p>
            <a:pPr algn="l"/>
            <a:r>
              <a:rPr sz="1577" b="0">
                <a:solidFill>
                  <a:srgbClr val="33475B"/>
                </a:solidFill>
                <a:latin typeface="Aptos"/>
              </a:rPr>
              <a:t>Integraciones que cambian</a:t>
            </a:r>
          </a:p>
        </p:txBody>
      </p:sp>
      <p:sp>
        <p:nvSpPr>
          <p:cNvPr id="17" name="Oval 16"/>
          <p:cNvSpPr/>
          <p:nvPr/>
        </p:nvSpPr>
        <p:spPr>
          <a:xfrm>
            <a:off x="786384" y="5689701"/>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433669"/>
            <a:ext cx="4709160" cy="603504"/>
          </a:xfrm>
          <a:prstGeom prst="rect">
            <a:avLst/>
          </a:prstGeom>
          <a:noFill/>
        </p:spPr>
        <p:txBody>
          <a:bodyPr wrap="square" anchor="ctr" lIns="0" rIns="0" tIns="0" bIns="0">
            <a:spAutoFit/>
          </a:bodyPr>
          <a:lstStyle/>
          <a:p>
            <a:pPr algn="l"/>
            <a:r>
              <a:rPr sz="1577" b="0">
                <a:solidFill>
                  <a:srgbClr val="33475B"/>
                </a:solidFill>
                <a:latin typeface="Aptos"/>
              </a:rPr>
              <a:t>Pruebas rigurosas</a:t>
            </a:r>
          </a:p>
        </p:txBody>
      </p:sp>
      <p:sp>
        <p:nvSpPr>
          <p:cNvPr id="19" name="Rounded Rectangle 18"/>
          <p:cNvSpPr/>
          <p:nvPr/>
        </p:nvSpPr>
        <p:spPr>
          <a:xfrm>
            <a:off x="6263640" y="3222955"/>
            <a:ext cx="5367528" cy="310469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 Same Side Corner Rectangle 19"/>
          <p:cNvSpPr/>
          <p:nvPr/>
        </p:nvSpPr>
        <p:spPr>
          <a:xfrm>
            <a:off x="6263640" y="3222955"/>
            <a:ext cx="5367528"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3222955"/>
            <a:ext cx="5001768" cy="566928"/>
          </a:xfrm>
          <a:prstGeom prst="rect">
            <a:avLst/>
          </a:prstGeom>
          <a:noFill/>
        </p:spPr>
        <p:txBody>
          <a:bodyPr wrap="square" anchor="ctr" lIns="0" rIns="0" tIns="0" bIns="0">
            <a:spAutoFit/>
          </a:bodyPr>
          <a:lstStyle/>
          <a:p>
            <a:pPr algn="l"/>
            <a:r>
              <a:rPr sz="1915" b="1">
                <a:solidFill>
                  <a:srgbClr val="FFFFFF"/>
                </a:solidFill>
                <a:latin typeface="Aptos Display"/>
              </a:rPr>
              <a:t>No conviene</a:t>
            </a:r>
          </a:p>
        </p:txBody>
      </p:sp>
      <p:sp>
        <p:nvSpPr>
          <p:cNvPr id="22" name="Oval 21"/>
          <p:cNvSpPr/>
          <p:nvPr/>
        </p:nvSpPr>
        <p:spPr>
          <a:xfrm>
            <a:off x="6483096" y="4482693"/>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20840" y="4226661"/>
            <a:ext cx="4709160" cy="603504"/>
          </a:xfrm>
          <a:prstGeom prst="rect">
            <a:avLst/>
          </a:prstGeom>
          <a:noFill/>
        </p:spPr>
        <p:txBody>
          <a:bodyPr wrap="square" anchor="ctr" lIns="0" rIns="0" tIns="0" bIns="0">
            <a:spAutoFit/>
          </a:bodyPr>
          <a:lstStyle/>
          <a:p>
            <a:pPr algn="l"/>
            <a:r>
              <a:rPr sz="1577" b="0">
                <a:solidFill>
                  <a:srgbClr val="33475B"/>
                </a:solidFill>
                <a:latin typeface="Aptos"/>
              </a:rPr>
              <a:t>CRUD sin reglas</a:t>
            </a:r>
          </a:p>
        </p:txBody>
      </p:sp>
      <p:sp>
        <p:nvSpPr>
          <p:cNvPr id="24" name="Oval 23"/>
          <p:cNvSpPr/>
          <p:nvPr/>
        </p:nvSpPr>
        <p:spPr>
          <a:xfrm>
            <a:off x="6483096" y="5086197"/>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20840" y="4830165"/>
            <a:ext cx="4709160" cy="603504"/>
          </a:xfrm>
          <a:prstGeom prst="rect">
            <a:avLst/>
          </a:prstGeom>
          <a:noFill/>
        </p:spPr>
        <p:txBody>
          <a:bodyPr wrap="square" anchor="ctr" lIns="0" rIns="0" tIns="0" bIns="0">
            <a:spAutoFit/>
          </a:bodyPr>
          <a:lstStyle/>
          <a:p>
            <a:pPr algn="l"/>
            <a:r>
              <a:rPr sz="1577" b="0">
                <a:solidFill>
                  <a:srgbClr val="33475B"/>
                </a:solidFill>
                <a:latin typeface="Aptos"/>
              </a:rPr>
              <a:t>Prototipo desechable</a:t>
            </a:r>
          </a:p>
        </p:txBody>
      </p:sp>
      <p:sp>
        <p:nvSpPr>
          <p:cNvPr id="26" name="Oval 25"/>
          <p:cNvSpPr/>
          <p:nvPr/>
        </p:nvSpPr>
        <p:spPr>
          <a:xfrm>
            <a:off x="6483096" y="5689701"/>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0840" y="5433669"/>
            <a:ext cx="4709160" cy="603504"/>
          </a:xfrm>
          <a:prstGeom prst="rect">
            <a:avLst/>
          </a:prstGeom>
          <a:noFill/>
        </p:spPr>
        <p:txBody>
          <a:bodyPr wrap="square" anchor="ctr" lIns="0" rIns="0" tIns="0" bIns="0">
            <a:spAutoFit/>
          </a:bodyPr>
          <a:lstStyle/>
          <a:p>
            <a:pPr algn="l"/>
            <a:r>
              <a:rPr sz="1577" b="0">
                <a:solidFill>
                  <a:srgbClr val="33475B"/>
                </a:solidFill>
                <a:latin typeface="Aptos"/>
              </a:rPr>
              <a:t>Sin tiempo para interfaces</a:t>
            </a:r>
          </a:p>
        </p:txBody>
      </p:sp>
      <p:sp>
        <p:nvSpPr>
          <p:cNvPr id="28" name="TextBox 2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9" name="TextBox 2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19 / 43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En la arquitectura hexagonal, ¿hacia dónde apuntan las dependencias de código?</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Del dominio hacia la base de datos, porque el dominio necesita guardar datos</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Del dominio hacia el framework web, que es quien recibe las peticiones</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Hacia el núcleo: el dominio define los puertos y los adaptadores los implementan</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En ambos sentidos, según el caso de uso</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20 / 43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Event-driven: hechos que viajan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02922"/>
            <a:ext cx="3432048" cy="2096963"/>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802922"/>
            <a:ext cx="3432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348132"/>
            <a:ext cx="3139440" cy="1425935"/>
          </a:xfrm>
          <a:prstGeom prst="rect">
            <a:avLst/>
          </a:prstGeom>
          <a:noFill/>
        </p:spPr>
        <p:txBody>
          <a:bodyPr wrap="square" anchor="t" lIns="0" rIns="0" tIns="0" bIns="0">
            <a:spAutoFit/>
          </a:bodyPr>
          <a:lstStyle/>
          <a:p>
            <a:pPr algn="ctr"/>
            <a:r>
              <a:rPr sz="1829" b="1">
                <a:solidFill>
                  <a:srgbClr val="0E2841"/>
                </a:solidFill>
                <a:latin typeface="Aptos Display"/>
              </a:rPr>
              <a:t>Pedidos</a:t>
            </a:r>
          </a:p>
          <a:p>
            <a:pPr algn="ctr">
              <a:lnSpc>
                <a:spcPct val="120000"/>
              </a:lnSpc>
              <a:spcBef>
                <a:spcPts val="700"/>
              </a:spcBef>
            </a:pPr>
            <a:r>
              <a:rPr sz="1416" b="0">
                <a:solidFill>
                  <a:srgbClr val="7A8B9E"/>
                </a:solidFill>
                <a:latin typeface="Aptos"/>
              </a:rPr>
              <a:t>publica OrdenCreada</a:t>
            </a:r>
          </a:p>
        </p:txBody>
      </p:sp>
      <p:sp>
        <p:nvSpPr>
          <p:cNvPr id="10" name="Chevron 9"/>
          <p:cNvSpPr/>
          <p:nvPr/>
        </p:nvSpPr>
        <p:spPr>
          <a:xfrm>
            <a:off x="4090416" y="2473950"/>
            <a:ext cx="201168" cy="754906"/>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83024" y="1802922"/>
            <a:ext cx="3432048" cy="2096963"/>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3024" y="1802922"/>
            <a:ext cx="3432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9328" y="2348132"/>
            <a:ext cx="3139440" cy="1425935"/>
          </a:xfrm>
          <a:prstGeom prst="rect">
            <a:avLst/>
          </a:prstGeom>
          <a:noFill/>
        </p:spPr>
        <p:txBody>
          <a:bodyPr wrap="square" anchor="t" lIns="0" rIns="0" tIns="0" bIns="0">
            <a:spAutoFit/>
          </a:bodyPr>
          <a:lstStyle/>
          <a:p>
            <a:pPr algn="ctr"/>
            <a:r>
              <a:rPr sz="1829" b="1">
                <a:solidFill>
                  <a:srgbClr val="0E2841"/>
                </a:solidFill>
                <a:latin typeface="Aptos Display"/>
              </a:rPr>
              <a:t>Canal</a:t>
            </a:r>
          </a:p>
          <a:p>
            <a:pPr algn="ctr">
              <a:lnSpc>
                <a:spcPct val="120000"/>
              </a:lnSpc>
              <a:spcBef>
                <a:spcPts val="700"/>
              </a:spcBef>
            </a:pPr>
            <a:r>
              <a:rPr sz="1416" b="0">
                <a:solidFill>
                  <a:srgbClr val="7A8B9E"/>
                </a:solidFill>
                <a:latin typeface="Aptos"/>
              </a:rPr>
              <a:t>Kafka o RabbitMQ</a:t>
            </a:r>
          </a:p>
        </p:txBody>
      </p:sp>
      <p:sp>
        <p:nvSpPr>
          <p:cNvPr id="14" name="Chevron 13"/>
          <p:cNvSpPr/>
          <p:nvPr/>
        </p:nvSpPr>
        <p:spPr>
          <a:xfrm>
            <a:off x="7906512" y="2473950"/>
            <a:ext cx="201168" cy="754906"/>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99120" y="1802922"/>
            <a:ext cx="3432048" cy="2096963"/>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99120" y="1802922"/>
            <a:ext cx="3432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45424" y="2348132"/>
            <a:ext cx="3139440" cy="1425935"/>
          </a:xfrm>
          <a:prstGeom prst="rect">
            <a:avLst/>
          </a:prstGeom>
          <a:noFill/>
        </p:spPr>
        <p:txBody>
          <a:bodyPr wrap="square" anchor="t" lIns="0" rIns="0" tIns="0" bIns="0">
            <a:spAutoFit/>
          </a:bodyPr>
          <a:lstStyle/>
          <a:p>
            <a:pPr algn="ctr"/>
            <a:r>
              <a:rPr sz="1829" b="1">
                <a:solidFill>
                  <a:srgbClr val="0E2841"/>
                </a:solidFill>
                <a:latin typeface="Aptos Display"/>
              </a:rPr>
              <a:t>Consumidores</a:t>
            </a:r>
          </a:p>
          <a:p>
            <a:pPr algn="ctr">
              <a:lnSpc>
                <a:spcPct val="120000"/>
              </a:lnSpc>
              <a:spcBef>
                <a:spcPts val="700"/>
              </a:spcBef>
            </a:pPr>
            <a:r>
              <a:rPr sz="1416" b="0">
                <a:solidFill>
                  <a:srgbClr val="7A8B9E"/>
                </a:solidFill>
                <a:latin typeface="Aptos"/>
              </a:rPr>
              <a:t>avisos, inventario</a:t>
            </a:r>
          </a:p>
        </p:txBody>
      </p:sp>
      <p:sp>
        <p:nvSpPr>
          <p:cNvPr id="18" name="Oval 17"/>
          <p:cNvSpPr/>
          <p:nvPr/>
        </p:nvSpPr>
        <p:spPr>
          <a:xfrm>
            <a:off x="585216" y="4613656"/>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4331208"/>
            <a:ext cx="10698480" cy="665480"/>
          </a:xfrm>
          <a:prstGeom prst="rect">
            <a:avLst/>
          </a:prstGeom>
          <a:noFill/>
        </p:spPr>
        <p:txBody>
          <a:bodyPr wrap="square" anchor="ctr" lIns="0" rIns="0" tIns="0" bIns="0">
            <a:spAutoFit/>
          </a:bodyPr>
          <a:lstStyle/>
          <a:p>
            <a:pPr algn="l"/>
            <a:r>
              <a:rPr sz="2478" b="1">
                <a:solidFill>
                  <a:srgbClr val="0E2841"/>
                </a:solidFill>
                <a:latin typeface="Aptos"/>
              </a:rPr>
              <a:t>Simple: reaccionar a un evento</a:t>
            </a:r>
          </a:p>
        </p:txBody>
      </p:sp>
      <p:sp>
        <p:nvSpPr>
          <p:cNvPr id="20" name="Oval 19"/>
          <p:cNvSpPr/>
          <p:nvPr/>
        </p:nvSpPr>
        <p:spPr>
          <a:xfrm>
            <a:off x="585216" y="5279136"/>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996688"/>
            <a:ext cx="10698480" cy="665480"/>
          </a:xfrm>
          <a:prstGeom prst="rect">
            <a:avLst/>
          </a:prstGeom>
          <a:noFill/>
        </p:spPr>
        <p:txBody>
          <a:bodyPr wrap="square" anchor="ctr" lIns="0" rIns="0" tIns="0" bIns="0">
            <a:spAutoFit/>
          </a:bodyPr>
          <a:lstStyle/>
          <a:p>
            <a:pPr algn="l"/>
            <a:r>
              <a:rPr sz="2478" b="1">
                <a:solidFill>
                  <a:srgbClr val="0E2841"/>
                </a:solidFill>
                <a:latin typeface="Aptos"/>
              </a:rPr>
              <a:t>Streaming: analizar un flujo continuo</a:t>
            </a:r>
          </a:p>
        </p:txBody>
      </p:sp>
      <p:sp>
        <p:nvSpPr>
          <p:cNvPr id="22" name="Oval 21"/>
          <p:cNvSpPr/>
          <p:nvPr/>
        </p:nvSpPr>
        <p:spPr>
          <a:xfrm>
            <a:off x="585216" y="5944616"/>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5662168"/>
            <a:ext cx="10698480" cy="665480"/>
          </a:xfrm>
          <a:prstGeom prst="rect">
            <a:avLst/>
          </a:prstGeom>
          <a:noFill/>
        </p:spPr>
        <p:txBody>
          <a:bodyPr wrap="square" anchor="ctr" lIns="0" rIns="0" tIns="0" bIns="0">
            <a:spAutoFit/>
          </a:bodyPr>
          <a:lstStyle/>
          <a:p>
            <a:pPr algn="l"/>
            <a:r>
              <a:rPr sz="2478" b="1">
                <a:solidFill>
                  <a:srgbClr val="0E2841"/>
                </a:solidFill>
                <a:latin typeface="Aptos"/>
              </a:rPr>
              <a:t>Complejo: patrones entre varios eventos</a:t>
            </a:r>
          </a:p>
        </p:txBody>
      </p:sp>
      <p:sp>
        <p:nvSpPr>
          <p:cNvPr id="24" name="TextBox 23"/>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5" name="TextBox 24"/>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21 / 43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Publicar sin conocer al consumidor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880360"/>
            <a:ext cx="11064240" cy="2139696"/>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3099816"/>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3063240"/>
            <a:ext cx="7315200" cy="237744"/>
          </a:xfrm>
          <a:prstGeom prst="rect">
            <a:avLst/>
          </a:prstGeom>
          <a:noFill/>
        </p:spPr>
        <p:txBody>
          <a:bodyPr wrap="square" anchor="t" lIns="0" rIns="0" tIns="0" bIns="0">
            <a:spAutoFit/>
          </a:bodyPr>
          <a:lstStyle/>
          <a:p>
            <a:pPr algn="l"/>
            <a:r>
              <a:rPr sz="1228" b="1">
                <a:solidFill>
                  <a:srgbClr val="E97132"/>
                </a:solidFill>
                <a:latin typeface="Aptos"/>
              </a:rPr>
              <a:t>PYTHON · EVENTBROKER (FRAGMENTO)</a:t>
            </a:r>
          </a:p>
        </p:txBody>
      </p:sp>
      <p:sp>
        <p:nvSpPr>
          <p:cNvPr id="10" name="TextBox 9"/>
          <p:cNvSpPr txBox="1"/>
          <p:nvPr/>
        </p:nvSpPr>
        <p:spPr>
          <a:xfrm>
            <a:off x="877824" y="3447288"/>
            <a:ext cx="10515600" cy="1408176"/>
          </a:xfrm>
          <a:prstGeom prst="rect">
            <a:avLst/>
          </a:prstGeom>
          <a:noFill/>
        </p:spPr>
        <p:txBody>
          <a:bodyPr wrap="none" lIns="0" tIns="0">
            <a:spAutoFit/>
          </a:bodyPr>
          <a:lstStyle/>
          <a:p>
            <a:pPr>
              <a:lnSpc>
                <a:spcPct val="125000"/>
              </a:lnSpc>
            </a:pPr>
            <a:r>
              <a:rPr sz="1548">
                <a:solidFill>
                  <a:srgbClr val="E8E8E8"/>
                </a:solidFill>
                <a:latin typeface="Consolas"/>
              </a:rPr>
              <a:t>def subscribe(self, tipo, handler):</a:t>
            </a:r>
          </a:p>
          <a:p>
            <a:pPr>
              <a:lnSpc>
                <a:spcPct val="125000"/>
              </a:lnSpc>
            </a:pPr>
            <a:r>
              <a:rPr sz="1548">
                <a:solidFill>
                  <a:srgbClr val="E8E8E8"/>
                </a:solidFill>
                <a:latin typeface="Consolas"/>
              </a:rPr>
              <a:t>    self._subs.setdefault(tipo, []).append(handler)</a:t>
            </a:r>
          </a:p>
          <a:p>
            <a:pPr>
              <a:lnSpc>
                <a:spcPct val="125000"/>
              </a:lnSpc>
            </a:pPr>
            <a:r>
              <a:rPr sz="1548">
                <a:solidFill>
                  <a:srgbClr val="E8E8E8"/>
                </a:solidFill>
                <a:latin typeface="Consolas"/>
              </a:rPr>
              <a:t>def publish(self, event):                  # no conoce a los consumidores</a:t>
            </a:r>
          </a:p>
          <a:p>
            <a:pPr>
              <a:lnSpc>
                <a:spcPct val="125000"/>
              </a:lnSpc>
            </a:pPr>
            <a:r>
              <a:rPr sz="1548">
                <a:solidFill>
                  <a:srgbClr val="E8E8E8"/>
                </a:solidFill>
                <a:latin typeface="Consolas"/>
              </a:rPr>
              <a:t>    for h in self._subs.get(type(event), []):</a:t>
            </a:r>
          </a:p>
          <a:p>
            <a:pPr>
              <a:lnSpc>
                <a:spcPct val="125000"/>
              </a:lnSpc>
            </a:pPr>
            <a:r>
              <a:rPr sz="1548">
                <a:solidFill>
                  <a:srgbClr val="E8E8E8"/>
                </a:solidFill>
                <a:latin typeface="Consolas"/>
              </a:rPr>
              <a:t>        threading.Thread(target=h, args=(event,)).start()  # no bloquea</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22 / 43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Un evento es un hecho, no una orden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449019"/>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339291"/>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449019"/>
          </a:xfrm>
          <a:prstGeom prst="rect">
            <a:avLst/>
          </a:prstGeom>
          <a:noFill/>
        </p:spPr>
        <p:txBody>
          <a:bodyPr wrap="square" anchor="ctr" lIns="0" rIns="0" tIns="0" bIns="0">
            <a:spAutoFit/>
          </a:bodyPr>
          <a:lstStyle/>
          <a:p>
            <a:pPr algn="l">
              <a:lnSpc>
                <a:spcPct val="125000"/>
              </a:lnSpc>
            </a:pPr>
            <a:r>
              <a:rPr sz="2479" b="1">
                <a:solidFill>
                  <a:srgbClr val="0E2841"/>
                </a:solidFill>
                <a:latin typeface="Aptos Display"/>
              </a:rPr>
              <a:t>Los brokers entregan al menos una vez: los consumidores deben ser idempotentes.</a:t>
            </a:r>
          </a:p>
        </p:txBody>
      </p:sp>
      <p:sp>
        <p:nvSpPr>
          <p:cNvPr id="10" name="Rounded Rectangle 9"/>
          <p:cNvSpPr/>
          <p:nvPr/>
        </p:nvSpPr>
        <p:spPr>
          <a:xfrm>
            <a:off x="566928" y="3222955"/>
            <a:ext cx="5367528" cy="310469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 Same Side Corner Rectangle 10"/>
          <p:cNvSpPr/>
          <p:nvPr/>
        </p:nvSpPr>
        <p:spPr>
          <a:xfrm>
            <a:off x="566928" y="3222955"/>
            <a:ext cx="5367528"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3222955"/>
            <a:ext cx="5001768" cy="566928"/>
          </a:xfrm>
          <a:prstGeom prst="rect">
            <a:avLst/>
          </a:prstGeom>
          <a:noFill/>
        </p:spPr>
        <p:txBody>
          <a:bodyPr wrap="square" anchor="ctr" lIns="0" rIns="0" tIns="0" bIns="0">
            <a:spAutoFit/>
          </a:bodyPr>
          <a:lstStyle/>
          <a:p>
            <a:pPr algn="l"/>
            <a:r>
              <a:rPr sz="1915" b="1">
                <a:solidFill>
                  <a:srgbClr val="FFFFFF"/>
                </a:solidFill>
                <a:latin typeface="Aptos Display"/>
              </a:rPr>
              <a:t>Evento</a:t>
            </a:r>
          </a:p>
        </p:txBody>
      </p:sp>
      <p:sp>
        <p:nvSpPr>
          <p:cNvPr id="13" name="Oval 12"/>
          <p:cNvSpPr/>
          <p:nvPr/>
        </p:nvSpPr>
        <p:spPr>
          <a:xfrm>
            <a:off x="786384" y="4482693"/>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4226661"/>
            <a:ext cx="4709160" cy="603504"/>
          </a:xfrm>
          <a:prstGeom prst="rect">
            <a:avLst/>
          </a:prstGeom>
          <a:noFill/>
        </p:spPr>
        <p:txBody>
          <a:bodyPr wrap="square" anchor="ctr" lIns="0" rIns="0" tIns="0" bIns="0">
            <a:spAutoFit/>
          </a:bodyPr>
          <a:lstStyle/>
          <a:p>
            <a:pPr algn="l"/>
            <a:r>
              <a:rPr sz="1577" b="0">
                <a:solidFill>
                  <a:srgbClr val="33475B"/>
                </a:solidFill>
                <a:latin typeface="Aptos"/>
              </a:rPr>
              <a:t>PedidoConfirmado</a:t>
            </a:r>
          </a:p>
        </p:txBody>
      </p:sp>
      <p:sp>
        <p:nvSpPr>
          <p:cNvPr id="15" name="Oval 14"/>
          <p:cNvSpPr/>
          <p:nvPr/>
        </p:nvSpPr>
        <p:spPr>
          <a:xfrm>
            <a:off x="786384" y="5086197"/>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830165"/>
            <a:ext cx="4709160" cy="603504"/>
          </a:xfrm>
          <a:prstGeom prst="rect">
            <a:avLst/>
          </a:prstGeom>
          <a:noFill/>
        </p:spPr>
        <p:txBody>
          <a:bodyPr wrap="square" anchor="ctr" lIns="0" rIns="0" tIns="0" bIns="0">
            <a:spAutoFit/>
          </a:bodyPr>
          <a:lstStyle/>
          <a:p>
            <a:pPr algn="l"/>
            <a:r>
              <a:rPr sz="1577" b="0">
                <a:solidFill>
                  <a:srgbClr val="33475B"/>
                </a:solidFill>
                <a:latin typeface="Aptos"/>
              </a:rPr>
              <a:t>Verbo en pasado</a:t>
            </a:r>
          </a:p>
        </p:txBody>
      </p:sp>
      <p:sp>
        <p:nvSpPr>
          <p:cNvPr id="17" name="Oval 16"/>
          <p:cNvSpPr/>
          <p:nvPr/>
        </p:nvSpPr>
        <p:spPr>
          <a:xfrm>
            <a:off x="786384" y="5689701"/>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433669"/>
            <a:ext cx="4709160" cy="603504"/>
          </a:xfrm>
          <a:prstGeom prst="rect">
            <a:avLst/>
          </a:prstGeom>
          <a:noFill/>
        </p:spPr>
        <p:txBody>
          <a:bodyPr wrap="square" anchor="ctr" lIns="0" rIns="0" tIns="0" bIns="0">
            <a:spAutoFit/>
          </a:bodyPr>
          <a:lstStyle/>
          <a:p>
            <a:pPr algn="l"/>
            <a:r>
              <a:rPr sz="1577" b="0">
                <a:solidFill>
                  <a:srgbClr val="33475B"/>
                </a:solidFill>
                <a:latin typeface="Aptos"/>
              </a:rPr>
              <a:t>Cualquiera puede reaccionar</a:t>
            </a:r>
          </a:p>
        </p:txBody>
      </p:sp>
      <p:sp>
        <p:nvSpPr>
          <p:cNvPr id="19" name="Rounded Rectangle 18"/>
          <p:cNvSpPr/>
          <p:nvPr/>
        </p:nvSpPr>
        <p:spPr>
          <a:xfrm>
            <a:off x="6263640" y="3222955"/>
            <a:ext cx="5367528" cy="310469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 Same Side Corner Rectangle 19"/>
          <p:cNvSpPr/>
          <p:nvPr/>
        </p:nvSpPr>
        <p:spPr>
          <a:xfrm>
            <a:off x="6263640" y="3222955"/>
            <a:ext cx="5367528"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3222955"/>
            <a:ext cx="5001768" cy="566928"/>
          </a:xfrm>
          <a:prstGeom prst="rect">
            <a:avLst/>
          </a:prstGeom>
          <a:noFill/>
        </p:spPr>
        <p:txBody>
          <a:bodyPr wrap="square" anchor="ctr" lIns="0" rIns="0" tIns="0" bIns="0">
            <a:spAutoFit/>
          </a:bodyPr>
          <a:lstStyle/>
          <a:p>
            <a:pPr algn="l"/>
            <a:r>
              <a:rPr sz="1915" b="1">
                <a:solidFill>
                  <a:srgbClr val="FFFFFF"/>
                </a:solidFill>
                <a:latin typeface="Aptos Display"/>
              </a:rPr>
              <a:t>Orden disfrazada</a:t>
            </a:r>
          </a:p>
        </p:txBody>
      </p:sp>
      <p:sp>
        <p:nvSpPr>
          <p:cNvPr id="22" name="Oval 21"/>
          <p:cNvSpPr/>
          <p:nvPr/>
        </p:nvSpPr>
        <p:spPr>
          <a:xfrm>
            <a:off x="6483096" y="4482693"/>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20840" y="4226661"/>
            <a:ext cx="4709160" cy="603504"/>
          </a:xfrm>
          <a:prstGeom prst="rect">
            <a:avLst/>
          </a:prstGeom>
          <a:noFill/>
        </p:spPr>
        <p:txBody>
          <a:bodyPr wrap="square" anchor="ctr" lIns="0" rIns="0" tIns="0" bIns="0">
            <a:spAutoFit/>
          </a:bodyPr>
          <a:lstStyle/>
          <a:p>
            <a:pPr algn="l"/>
            <a:r>
              <a:rPr sz="1577" b="0">
                <a:solidFill>
                  <a:srgbClr val="33475B"/>
                </a:solidFill>
                <a:latin typeface="Aptos"/>
              </a:rPr>
              <a:t>EnviarCorreoCliente</a:t>
            </a:r>
          </a:p>
        </p:txBody>
      </p:sp>
      <p:sp>
        <p:nvSpPr>
          <p:cNvPr id="24" name="Oval 23"/>
          <p:cNvSpPr/>
          <p:nvPr/>
        </p:nvSpPr>
        <p:spPr>
          <a:xfrm>
            <a:off x="6483096" y="5086197"/>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20840" y="4830165"/>
            <a:ext cx="4709160" cy="603504"/>
          </a:xfrm>
          <a:prstGeom prst="rect">
            <a:avLst/>
          </a:prstGeom>
          <a:noFill/>
        </p:spPr>
        <p:txBody>
          <a:bodyPr wrap="square" anchor="ctr" lIns="0" rIns="0" tIns="0" bIns="0">
            <a:spAutoFit/>
          </a:bodyPr>
          <a:lstStyle/>
          <a:p>
            <a:pPr algn="l"/>
            <a:r>
              <a:rPr sz="1577" b="0">
                <a:solidFill>
                  <a:srgbClr val="33475B"/>
                </a:solidFill>
                <a:latin typeface="Aptos"/>
              </a:rPr>
              <a:t>Verbo en imperativo</a:t>
            </a:r>
          </a:p>
        </p:txBody>
      </p:sp>
      <p:sp>
        <p:nvSpPr>
          <p:cNvPr id="26" name="Oval 25"/>
          <p:cNvSpPr/>
          <p:nvPr/>
        </p:nvSpPr>
        <p:spPr>
          <a:xfrm>
            <a:off x="6483096" y="5689701"/>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0840" y="5433669"/>
            <a:ext cx="4709160" cy="603504"/>
          </a:xfrm>
          <a:prstGeom prst="rect">
            <a:avLst/>
          </a:prstGeom>
          <a:noFill/>
        </p:spPr>
        <p:txBody>
          <a:bodyPr wrap="square" anchor="ctr" lIns="0" rIns="0" tIns="0" bIns="0">
            <a:spAutoFit/>
          </a:bodyPr>
          <a:lstStyle/>
          <a:p>
            <a:pPr algn="l"/>
            <a:r>
              <a:rPr sz="1577" b="0">
                <a:solidFill>
                  <a:srgbClr val="33475B"/>
                </a:solidFill>
                <a:latin typeface="Aptos"/>
              </a:rPr>
              <a:t>Ata al productor</a:t>
            </a:r>
          </a:p>
        </p:txBody>
      </p:sp>
      <p:sp>
        <p:nvSpPr>
          <p:cNvPr id="28" name="TextBox 2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9" name="TextBox 2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23 / 43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¿Qué nombre de evento es el correcto?</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EnviarCorreoAlCliente</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ActualizarInventario</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PedidoConfirmado</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ProcesarPago</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24 / 43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CQRS: escribir y leer por separado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71907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60934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719072"/>
          </a:xfrm>
          <a:prstGeom prst="rect">
            <a:avLst/>
          </a:prstGeom>
          <a:noFill/>
        </p:spPr>
        <p:txBody>
          <a:bodyPr wrap="square" anchor="ctr" lIns="0" rIns="0" tIns="0" bIns="0">
            <a:spAutoFit/>
          </a:bodyPr>
          <a:lstStyle/>
          <a:p>
            <a:pPr algn="l">
              <a:lnSpc>
                <a:spcPct val="125000"/>
              </a:lnSpc>
            </a:pPr>
            <a:r>
              <a:rPr sz="2640" b="1">
                <a:solidFill>
                  <a:srgbClr val="0E2841"/>
                </a:solidFill>
                <a:latin typeface="Aptos Display"/>
              </a:rPr>
              <a:t>La lectura llega un poco después de la escritura: eso es consistencia eventual (Fowler, 2011).</a:t>
            </a:r>
          </a:p>
        </p:txBody>
      </p:sp>
      <p:sp>
        <p:nvSpPr>
          <p:cNvPr id="10" name="Rounded Rectangle 9"/>
          <p:cNvSpPr/>
          <p:nvPr/>
        </p:nvSpPr>
        <p:spPr>
          <a:xfrm>
            <a:off x="566928" y="3748126"/>
            <a:ext cx="2478024"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3748126"/>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4352471"/>
            <a:ext cx="2185416" cy="1580595"/>
          </a:xfrm>
          <a:prstGeom prst="rect">
            <a:avLst/>
          </a:prstGeom>
          <a:noFill/>
        </p:spPr>
        <p:txBody>
          <a:bodyPr wrap="square" anchor="t" lIns="0" rIns="0" tIns="0" bIns="0">
            <a:spAutoFit/>
          </a:bodyPr>
          <a:lstStyle/>
          <a:p>
            <a:pPr algn="ctr"/>
            <a:r>
              <a:rPr sz="1859" b="1">
                <a:solidFill>
                  <a:srgbClr val="0E2841"/>
                </a:solidFill>
                <a:latin typeface="Aptos Display"/>
              </a:rPr>
              <a:t>Comando</a:t>
            </a:r>
          </a:p>
          <a:p>
            <a:pPr algn="ctr">
              <a:lnSpc>
                <a:spcPct val="120000"/>
              </a:lnSpc>
              <a:spcBef>
                <a:spcPts val="700"/>
              </a:spcBef>
            </a:pPr>
            <a:r>
              <a:rPr sz="1439" b="0">
                <a:solidFill>
                  <a:srgbClr val="7A8B9E"/>
                </a:solidFill>
                <a:latin typeface="Aptos"/>
              </a:rPr>
              <a:t>crear libro</a:t>
            </a:r>
          </a:p>
        </p:txBody>
      </p:sp>
      <p:sp>
        <p:nvSpPr>
          <p:cNvPr id="13" name="Chevron 12"/>
          <p:cNvSpPr/>
          <p:nvPr/>
        </p:nvSpPr>
        <p:spPr>
          <a:xfrm>
            <a:off x="3136392" y="449193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29000" y="3748126"/>
            <a:ext cx="2478024"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29000" y="3748126"/>
            <a:ext cx="2478024"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5304" y="4352471"/>
            <a:ext cx="2185416" cy="1580595"/>
          </a:xfrm>
          <a:prstGeom prst="rect">
            <a:avLst/>
          </a:prstGeom>
          <a:noFill/>
        </p:spPr>
        <p:txBody>
          <a:bodyPr wrap="square" anchor="t" lIns="0" rIns="0" tIns="0" bIns="0">
            <a:spAutoFit/>
          </a:bodyPr>
          <a:lstStyle/>
          <a:p>
            <a:pPr algn="ctr"/>
            <a:r>
              <a:rPr sz="1859" b="1">
                <a:solidFill>
                  <a:srgbClr val="0E2841"/>
                </a:solidFill>
                <a:latin typeface="Aptos Display"/>
              </a:rPr>
              <a:t>Escritura</a:t>
            </a:r>
          </a:p>
          <a:p>
            <a:pPr algn="ctr">
              <a:lnSpc>
                <a:spcPct val="120000"/>
              </a:lnSpc>
              <a:spcBef>
                <a:spcPts val="700"/>
              </a:spcBef>
            </a:pPr>
            <a:r>
              <a:rPr sz="1439" b="0">
                <a:solidFill>
                  <a:srgbClr val="7A8B9E"/>
                </a:solidFill>
                <a:latin typeface="Aptos"/>
              </a:rPr>
              <a:t>PostgreSQL, reglas</a:t>
            </a:r>
          </a:p>
        </p:txBody>
      </p:sp>
      <p:sp>
        <p:nvSpPr>
          <p:cNvPr id="17" name="Chevron 16"/>
          <p:cNvSpPr/>
          <p:nvPr/>
        </p:nvSpPr>
        <p:spPr>
          <a:xfrm>
            <a:off x="5998464" y="449193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91072" y="3748126"/>
            <a:ext cx="2478024"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91072" y="3748126"/>
            <a:ext cx="2478024"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7376" y="4352471"/>
            <a:ext cx="2185416" cy="1580595"/>
          </a:xfrm>
          <a:prstGeom prst="rect">
            <a:avLst/>
          </a:prstGeom>
          <a:noFill/>
        </p:spPr>
        <p:txBody>
          <a:bodyPr wrap="square" anchor="t" lIns="0" rIns="0" tIns="0" bIns="0">
            <a:spAutoFit/>
          </a:bodyPr>
          <a:lstStyle/>
          <a:p>
            <a:pPr algn="ctr"/>
            <a:r>
              <a:rPr sz="1859" b="1">
                <a:solidFill>
                  <a:srgbClr val="0E2841"/>
                </a:solidFill>
                <a:latin typeface="Aptos Display"/>
              </a:rPr>
              <a:t>Evento</a:t>
            </a:r>
          </a:p>
          <a:p>
            <a:pPr algn="ctr">
              <a:lnSpc>
                <a:spcPct val="120000"/>
              </a:lnSpc>
              <a:spcBef>
                <a:spcPts val="700"/>
              </a:spcBef>
            </a:pPr>
            <a:r>
              <a:rPr sz="1439" b="0">
                <a:solidFill>
                  <a:srgbClr val="7A8B9E"/>
                </a:solidFill>
                <a:latin typeface="Aptos"/>
              </a:rPr>
              <a:t>LibroCreado</a:t>
            </a:r>
          </a:p>
        </p:txBody>
      </p:sp>
      <p:sp>
        <p:nvSpPr>
          <p:cNvPr id="21" name="Chevron 20"/>
          <p:cNvSpPr/>
          <p:nvPr/>
        </p:nvSpPr>
        <p:spPr>
          <a:xfrm>
            <a:off x="8860536" y="449193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3144" y="3748126"/>
            <a:ext cx="2478024"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53144" y="3748126"/>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99448" y="4352471"/>
            <a:ext cx="2185416" cy="1580595"/>
          </a:xfrm>
          <a:prstGeom prst="rect">
            <a:avLst/>
          </a:prstGeom>
          <a:noFill/>
        </p:spPr>
        <p:txBody>
          <a:bodyPr wrap="square" anchor="t" lIns="0" rIns="0" tIns="0" bIns="0">
            <a:spAutoFit/>
          </a:bodyPr>
          <a:lstStyle/>
          <a:p>
            <a:pPr algn="ctr"/>
            <a:r>
              <a:rPr sz="1859" b="1">
                <a:solidFill>
                  <a:srgbClr val="0E2841"/>
                </a:solidFill>
                <a:latin typeface="Aptos Display"/>
              </a:rPr>
              <a:t>Lectura</a:t>
            </a:r>
          </a:p>
          <a:p>
            <a:pPr algn="ctr">
              <a:lnSpc>
                <a:spcPct val="120000"/>
              </a:lnSpc>
              <a:spcBef>
                <a:spcPts val="700"/>
              </a:spcBef>
            </a:pPr>
            <a:r>
              <a:rPr sz="1439" b="0">
                <a:solidFill>
                  <a:srgbClr val="7A8B9E"/>
                </a:solidFill>
                <a:latin typeface="Aptos"/>
              </a:rPr>
              <a:t>MongoDB, rápida</a:t>
            </a:r>
          </a:p>
        </p:txBody>
      </p:sp>
      <p:sp>
        <p:nvSpPr>
          <p:cNvPr id="25" name="TextBox 2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6" name="TextBox 2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25 / 43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evento alimenta la lectura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880360"/>
            <a:ext cx="11064240" cy="2139696"/>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3099816"/>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3063240"/>
            <a:ext cx="7315200" cy="237744"/>
          </a:xfrm>
          <a:prstGeom prst="rect">
            <a:avLst/>
          </a:prstGeom>
          <a:noFill/>
        </p:spPr>
        <p:txBody>
          <a:bodyPr wrap="square" anchor="t" lIns="0" rIns="0" tIns="0" bIns="0">
            <a:spAutoFit/>
          </a:bodyPr>
          <a:lstStyle/>
          <a:p>
            <a:pPr algn="l"/>
            <a:r>
              <a:rPr sz="1228" b="1">
                <a:solidFill>
                  <a:srgbClr val="E97132"/>
                </a:solidFill>
                <a:latin typeface="Aptos"/>
              </a:rPr>
              <a:t>JAVA · LADO DE CONSULTAS</a:t>
            </a:r>
          </a:p>
        </p:txBody>
      </p:sp>
      <p:sp>
        <p:nvSpPr>
          <p:cNvPr id="10" name="TextBox 9"/>
          <p:cNvSpPr txBox="1"/>
          <p:nvPr/>
        </p:nvSpPr>
        <p:spPr>
          <a:xfrm>
            <a:off x="877824" y="3447288"/>
            <a:ext cx="10515600" cy="1408176"/>
          </a:xfrm>
          <a:prstGeom prst="rect">
            <a:avLst/>
          </a:prstGeom>
          <a:noFill/>
        </p:spPr>
        <p:txBody>
          <a:bodyPr wrap="none" lIns="0" tIns="0">
            <a:spAutoFit/>
          </a:bodyPr>
          <a:lstStyle/>
          <a:p>
            <a:pPr>
              <a:lnSpc>
                <a:spcPct val="125000"/>
              </a:lnSpc>
            </a:pPr>
            <a:r>
              <a:rPr sz="1548">
                <a:solidFill>
                  <a:srgbClr val="E8E8E8"/>
                </a:solidFill>
                <a:latin typeface="Consolas"/>
              </a:rPr>
              <a:t>@RabbitListener(queues = "book-created-queue")</a:t>
            </a:r>
          </a:p>
          <a:p>
            <a:pPr>
              <a:lnSpc>
                <a:spcPct val="125000"/>
              </a:lnSpc>
            </a:pPr>
            <a:r>
              <a:rPr sz="1548">
                <a:solidFill>
                  <a:srgbClr val="E8E8E8"/>
                </a:solidFill>
                <a:latin typeface="Consolas"/>
              </a:rPr>
              <a:t>public void handleBookCreated(BookCreatedEvent e) {</a:t>
            </a:r>
          </a:p>
          <a:p>
            <a:pPr>
              <a:lnSpc>
                <a:spcPct val="125000"/>
              </a:lnSpc>
            </a:pPr>
            <a:r>
              <a:rPr sz="1548">
                <a:solidFill>
                  <a:srgbClr val="E8E8E8"/>
                </a:solidFill>
                <a:latin typeface="Consolas"/>
              </a:rPr>
              <a:t>    BookReadModel book = new BookReadModel(e.getId(), e.getTitle());</a:t>
            </a:r>
          </a:p>
          <a:p>
            <a:pPr>
              <a:lnSpc>
                <a:spcPct val="125000"/>
              </a:lnSpc>
            </a:pPr>
            <a:r>
              <a:rPr sz="1548">
                <a:solidFill>
                  <a:srgbClr val="E8E8E8"/>
                </a:solidFill>
                <a:latin typeface="Consolas"/>
              </a:rPr>
              <a:t>    repository.save(book);                 // MongoDB, listo para leer</a:t>
            </a:r>
          </a:p>
          <a:p>
            <a:pPr>
              <a:lnSpc>
                <a:spcPct val="125000"/>
              </a:lnSpc>
            </a:pPr>
            <a:r>
              <a:rPr sz="1548">
                <a:solidFill>
                  <a:srgbClr val="E8E8E8"/>
                </a:solidFill>
                <a:latin typeface="Consolas"/>
              </a:rPr>
              <a:t>}</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26 / 43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CQRS: cuándo sí y cuándo no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221028"/>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1113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221028"/>
          </a:xfrm>
          <a:prstGeom prst="rect">
            <a:avLst/>
          </a:prstGeom>
          <a:noFill/>
        </p:spPr>
        <p:txBody>
          <a:bodyPr wrap="square" anchor="ctr" lIns="0" rIns="0" tIns="0" bIns="0">
            <a:spAutoFit/>
          </a:bodyPr>
          <a:lstStyle/>
          <a:p>
            <a:pPr algn="l">
              <a:lnSpc>
                <a:spcPct val="125000"/>
              </a:lnSpc>
            </a:pPr>
            <a:r>
              <a:rPr sz="2529" b="1">
                <a:solidFill>
                  <a:srgbClr val="0E2841"/>
                </a:solidFill>
                <a:latin typeface="Aptos Display"/>
              </a:rPr>
              <a:t>CQRS no obliga a usar dos bases de datos; sí obliga a usar dos modelos.</a:t>
            </a:r>
          </a:p>
        </p:txBody>
      </p:sp>
      <p:sp>
        <p:nvSpPr>
          <p:cNvPr id="10" name="Rounded Rectangle 9"/>
          <p:cNvSpPr/>
          <p:nvPr/>
        </p:nvSpPr>
        <p:spPr>
          <a:xfrm>
            <a:off x="566928" y="2994964"/>
            <a:ext cx="5367528" cy="3332683"/>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 Same Side Corner Rectangle 10"/>
          <p:cNvSpPr/>
          <p:nvPr/>
        </p:nvSpPr>
        <p:spPr>
          <a:xfrm>
            <a:off x="566928" y="2994964"/>
            <a:ext cx="5367528"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994964"/>
            <a:ext cx="5001768" cy="566928"/>
          </a:xfrm>
          <a:prstGeom prst="rect">
            <a:avLst/>
          </a:prstGeom>
          <a:noFill/>
        </p:spPr>
        <p:txBody>
          <a:bodyPr wrap="square" anchor="ctr" lIns="0" rIns="0" tIns="0" bIns="0">
            <a:spAutoFit/>
          </a:bodyPr>
          <a:lstStyle/>
          <a:p>
            <a:pPr algn="l"/>
            <a:r>
              <a:rPr sz="1954" b="1">
                <a:solidFill>
                  <a:srgbClr val="FFFFFF"/>
                </a:solidFill>
                <a:latin typeface="Aptos Display"/>
              </a:rPr>
              <a:t>Conviene</a:t>
            </a:r>
          </a:p>
        </p:txBody>
      </p:sp>
      <p:sp>
        <p:nvSpPr>
          <p:cNvPr id="13" name="Oval 12"/>
          <p:cNvSpPr/>
          <p:nvPr/>
        </p:nvSpPr>
        <p:spPr>
          <a:xfrm>
            <a:off x="786384" y="4311700"/>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4055668"/>
            <a:ext cx="4709160" cy="603504"/>
          </a:xfrm>
          <a:prstGeom prst="rect">
            <a:avLst/>
          </a:prstGeom>
          <a:noFill/>
        </p:spPr>
        <p:txBody>
          <a:bodyPr wrap="square" anchor="ctr" lIns="0" rIns="0" tIns="0" bIns="0">
            <a:spAutoFit/>
          </a:bodyPr>
          <a:lstStyle/>
          <a:p>
            <a:pPr algn="l"/>
            <a:r>
              <a:rPr sz="1609" b="0">
                <a:solidFill>
                  <a:srgbClr val="33475B"/>
                </a:solidFill>
                <a:latin typeface="Aptos"/>
              </a:rPr>
              <a:t>Muchas más lecturas que escrituras</a:t>
            </a:r>
          </a:p>
        </p:txBody>
      </p:sp>
      <p:sp>
        <p:nvSpPr>
          <p:cNvPr id="15" name="Oval 14"/>
          <p:cNvSpPr/>
          <p:nvPr/>
        </p:nvSpPr>
        <p:spPr>
          <a:xfrm>
            <a:off x="786384" y="4915204"/>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659172"/>
            <a:ext cx="4709160" cy="603504"/>
          </a:xfrm>
          <a:prstGeom prst="rect">
            <a:avLst/>
          </a:prstGeom>
          <a:noFill/>
        </p:spPr>
        <p:txBody>
          <a:bodyPr wrap="square" anchor="ctr" lIns="0" rIns="0" tIns="0" bIns="0">
            <a:spAutoFit/>
          </a:bodyPr>
          <a:lstStyle/>
          <a:p>
            <a:pPr algn="l"/>
            <a:r>
              <a:rPr sz="1609" b="0">
                <a:solidFill>
                  <a:srgbClr val="33475B"/>
                </a:solidFill>
                <a:latin typeface="Aptos"/>
              </a:rPr>
              <a:t>Consultas con filtros complejos</a:t>
            </a:r>
          </a:p>
        </p:txBody>
      </p:sp>
      <p:sp>
        <p:nvSpPr>
          <p:cNvPr id="17" name="Oval 16"/>
          <p:cNvSpPr/>
          <p:nvPr/>
        </p:nvSpPr>
        <p:spPr>
          <a:xfrm>
            <a:off x="786384" y="5518708"/>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262676"/>
            <a:ext cx="4709160" cy="603504"/>
          </a:xfrm>
          <a:prstGeom prst="rect">
            <a:avLst/>
          </a:prstGeom>
          <a:noFill/>
        </p:spPr>
        <p:txBody>
          <a:bodyPr wrap="square" anchor="ctr" lIns="0" rIns="0" tIns="0" bIns="0">
            <a:spAutoFit/>
          </a:bodyPr>
          <a:lstStyle/>
          <a:p>
            <a:pPr algn="l"/>
            <a:r>
              <a:rPr sz="1609" b="0">
                <a:solidFill>
                  <a:srgbClr val="33475B"/>
                </a:solidFill>
                <a:latin typeface="Aptos"/>
              </a:rPr>
              <a:t>Reglas de escritura intrincadas</a:t>
            </a:r>
          </a:p>
        </p:txBody>
      </p:sp>
      <p:sp>
        <p:nvSpPr>
          <p:cNvPr id="19" name="Rounded Rectangle 18"/>
          <p:cNvSpPr/>
          <p:nvPr/>
        </p:nvSpPr>
        <p:spPr>
          <a:xfrm>
            <a:off x="6263640" y="2994964"/>
            <a:ext cx="5367528" cy="3332683"/>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 Same Side Corner Rectangle 19"/>
          <p:cNvSpPr/>
          <p:nvPr/>
        </p:nvSpPr>
        <p:spPr>
          <a:xfrm>
            <a:off x="6263640" y="2994964"/>
            <a:ext cx="5367528"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2994964"/>
            <a:ext cx="5001768" cy="566928"/>
          </a:xfrm>
          <a:prstGeom prst="rect">
            <a:avLst/>
          </a:prstGeom>
          <a:noFill/>
        </p:spPr>
        <p:txBody>
          <a:bodyPr wrap="square" anchor="ctr" lIns="0" rIns="0" tIns="0" bIns="0">
            <a:spAutoFit/>
          </a:bodyPr>
          <a:lstStyle/>
          <a:p>
            <a:pPr algn="l"/>
            <a:r>
              <a:rPr sz="1954" b="1">
                <a:solidFill>
                  <a:srgbClr val="FFFFFF"/>
                </a:solidFill>
                <a:latin typeface="Aptos Display"/>
              </a:rPr>
              <a:t>No conviene</a:t>
            </a:r>
          </a:p>
        </p:txBody>
      </p:sp>
      <p:sp>
        <p:nvSpPr>
          <p:cNvPr id="22" name="Oval 21"/>
          <p:cNvSpPr/>
          <p:nvPr/>
        </p:nvSpPr>
        <p:spPr>
          <a:xfrm>
            <a:off x="6483096" y="4311700"/>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20840" y="4055668"/>
            <a:ext cx="4709160" cy="603504"/>
          </a:xfrm>
          <a:prstGeom prst="rect">
            <a:avLst/>
          </a:prstGeom>
          <a:noFill/>
        </p:spPr>
        <p:txBody>
          <a:bodyPr wrap="square" anchor="ctr" lIns="0" rIns="0" tIns="0" bIns="0">
            <a:spAutoFit/>
          </a:bodyPr>
          <a:lstStyle/>
          <a:p>
            <a:pPr algn="l"/>
            <a:r>
              <a:rPr sz="1609" b="0">
                <a:solidFill>
                  <a:srgbClr val="33475B"/>
                </a:solidFill>
                <a:latin typeface="Aptos"/>
              </a:rPr>
              <a:t>Consulta que exige el dato al instante</a:t>
            </a:r>
          </a:p>
        </p:txBody>
      </p:sp>
      <p:sp>
        <p:nvSpPr>
          <p:cNvPr id="24" name="Oval 23"/>
          <p:cNvSpPr/>
          <p:nvPr/>
        </p:nvSpPr>
        <p:spPr>
          <a:xfrm>
            <a:off x="6483096" y="4915204"/>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20840" y="4659172"/>
            <a:ext cx="4709160" cy="603504"/>
          </a:xfrm>
          <a:prstGeom prst="rect">
            <a:avLst/>
          </a:prstGeom>
          <a:noFill/>
        </p:spPr>
        <p:txBody>
          <a:bodyPr wrap="square" anchor="ctr" lIns="0" rIns="0" tIns="0" bIns="0">
            <a:spAutoFit/>
          </a:bodyPr>
          <a:lstStyle/>
          <a:p>
            <a:pPr algn="l"/>
            <a:r>
              <a:rPr sz="1609" b="0">
                <a:solidFill>
                  <a:srgbClr val="33475B"/>
                </a:solidFill>
                <a:latin typeface="Aptos"/>
              </a:rPr>
              <a:t>CRUD simple</a:t>
            </a:r>
          </a:p>
        </p:txBody>
      </p:sp>
      <p:sp>
        <p:nvSpPr>
          <p:cNvPr id="26" name="Oval 25"/>
          <p:cNvSpPr/>
          <p:nvPr/>
        </p:nvSpPr>
        <p:spPr>
          <a:xfrm>
            <a:off x="6483096" y="5518708"/>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0840" y="5262676"/>
            <a:ext cx="4709160" cy="603504"/>
          </a:xfrm>
          <a:prstGeom prst="rect">
            <a:avLst/>
          </a:prstGeom>
          <a:noFill/>
        </p:spPr>
        <p:txBody>
          <a:bodyPr wrap="square" anchor="ctr" lIns="0" rIns="0" tIns="0" bIns="0">
            <a:spAutoFit/>
          </a:bodyPr>
          <a:lstStyle/>
          <a:p>
            <a:pPr algn="l"/>
            <a:r>
              <a:rPr sz="1609" b="0">
                <a:solidFill>
                  <a:srgbClr val="33475B"/>
                </a:solidFill>
                <a:latin typeface="Aptos"/>
              </a:rPr>
              <a:t>Equipo sin experiencia distribuida</a:t>
            </a:r>
          </a:p>
        </p:txBody>
      </p:sp>
      <p:sp>
        <p:nvSpPr>
          <p:cNvPr id="28" name="TextBox 2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9" name="TextBox 2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27 / 43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CitaSalud: ¿dónde cabe CQRS?</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Pasar la asignación de citas a un modelo de lectura eventual para que responda más rápido</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Dejar la asignación en el lado de comandos y llevar solo la consulta de agendas a lectura</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En ninguna parte, porque CQRS siempre exige event sourcing</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Con una sola base de datos es imposible aplicar CQRS</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28 / 43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03</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3. Compromisos: consistencia y CAP</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Seis patrones frente a frente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9"/>
        </p:xfrm>
        <a:graphic>
          <a:graphicData uri="http://schemas.openxmlformats.org/drawingml/2006/table">
            <a:tbl>
              <a:tblPr firstRow="1">
                <a:tableStyleId>{5C22544A-7EE6-4342-B048-85BDC9FD1C3A}</a:tableStyleId>
              </a:tblPr>
              <a:tblGrid>
                <a:gridCol w="3688080"/>
                <a:gridCol w="3688080"/>
                <a:gridCol w="3688080"/>
              </a:tblGrid>
              <a:tr h="624927">
                <a:tc>
                  <a:txBody>
                    <a:bodyPr wrap="square"/>
                    <a:lstStyle/>
                    <a:p>
                      <a:r>
                        <a:rPr sz="1688" b="1">
                          <a:solidFill>
                            <a:srgbClr val="FFFFFF"/>
                          </a:solidFill>
                          <a:latin typeface="Aptos"/>
                        </a:rPr>
                        <a:t>Patrón</a:t>
                      </a:r>
                    </a:p>
                  </a:txBody>
                  <a:tcPr anchor="ctr" marL="146304" marR="146304">
                    <a:solidFill>
                      <a:srgbClr val="156082"/>
                    </a:solidFill>
                  </a:tcPr>
                </a:tc>
                <a:tc>
                  <a:txBody>
                    <a:bodyPr wrap="square"/>
                    <a:lstStyle/>
                    <a:p>
                      <a:r>
                        <a:rPr sz="1688" b="1">
                          <a:solidFill>
                            <a:srgbClr val="FFFFFF"/>
                          </a:solidFill>
                          <a:latin typeface="Aptos"/>
                        </a:rPr>
                        <a:t>Favorece</a:t>
                      </a:r>
                    </a:p>
                  </a:txBody>
                  <a:tcPr anchor="ctr" marL="146304" marR="146304">
                    <a:solidFill>
                      <a:srgbClr val="156082"/>
                    </a:solidFill>
                  </a:tcPr>
                </a:tc>
                <a:tc>
                  <a:txBody>
                    <a:bodyPr wrap="square"/>
                    <a:lstStyle/>
                    <a:p>
                      <a:r>
                        <a:rPr sz="1688" b="1">
                          <a:solidFill>
                            <a:srgbClr val="FFFFFF"/>
                          </a:solidFill>
                          <a:latin typeface="Aptos"/>
                        </a:rPr>
                        <a:t>Cuesta</a:t>
                      </a:r>
                    </a:p>
                  </a:txBody>
                  <a:tcPr anchor="ctr" marL="146304" marR="146304">
                    <a:solidFill>
                      <a:srgbClr val="156082"/>
                    </a:solidFill>
                  </a:tcPr>
                </a:tc>
              </a:tr>
              <a:tr h="624927">
                <a:tc>
                  <a:txBody>
                    <a:bodyPr wrap="square"/>
                    <a:lstStyle/>
                    <a:p>
                      <a:r>
                        <a:rPr sz="1576" b="1">
                          <a:solidFill>
                            <a:srgbClr val="33475B"/>
                          </a:solidFill>
                          <a:latin typeface="Aptos"/>
                        </a:rPr>
                        <a:t>Microservicios</a:t>
                      </a:r>
                    </a:p>
                  </a:txBody>
                  <a:tcPr anchor="ctr" marL="146304" marR="146304">
                    <a:solidFill>
                      <a:srgbClr val="FFFFFF"/>
                    </a:solidFill>
                  </a:tcPr>
                </a:tc>
                <a:tc>
                  <a:txBody>
                    <a:bodyPr wrap="square"/>
                    <a:lstStyle/>
                    <a:p>
                      <a:r>
                        <a:rPr sz="1576" b="0">
                          <a:solidFill>
                            <a:srgbClr val="33475B"/>
                          </a:solidFill>
                          <a:latin typeface="Aptos"/>
                        </a:rPr>
                        <a:t>Desplegar y escalar por partes</a:t>
                      </a:r>
                    </a:p>
                  </a:txBody>
                  <a:tcPr anchor="ctr" marL="146304" marR="146304">
                    <a:solidFill>
                      <a:srgbClr val="FFFFFF"/>
                    </a:solidFill>
                  </a:tcPr>
                </a:tc>
                <a:tc>
                  <a:txBody>
                    <a:bodyPr wrap="square"/>
                    <a:lstStyle/>
                    <a:p>
                      <a:r>
                        <a:rPr sz="1576" b="0">
                          <a:solidFill>
                            <a:srgbClr val="33475B"/>
                          </a:solidFill>
                          <a:latin typeface="Aptos"/>
                        </a:rPr>
                        <a:t>Operación y consistencia</a:t>
                      </a:r>
                    </a:p>
                  </a:txBody>
                  <a:tcPr anchor="ctr" marL="146304" marR="146304">
                    <a:solidFill>
                      <a:srgbClr val="FFFFFF"/>
                    </a:solidFill>
                  </a:tcPr>
                </a:tc>
              </a:tr>
              <a:tr h="624927">
                <a:tc>
                  <a:txBody>
                    <a:bodyPr wrap="square"/>
                    <a:lstStyle/>
                    <a:p>
                      <a:r>
                        <a:rPr sz="1576" b="1">
                          <a:solidFill>
                            <a:srgbClr val="33475B"/>
                          </a:solidFill>
                          <a:latin typeface="Aptos"/>
                        </a:rPr>
                        <a:t>Serverless</a:t>
                      </a:r>
                    </a:p>
                  </a:txBody>
                  <a:tcPr anchor="ctr" marL="146304" marR="146304">
                    <a:solidFill>
                      <a:srgbClr val="F4F7FA"/>
                    </a:solidFill>
                  </a:tcPr>
                </a:tc>
                <a:tc>
                  <a:txBody>
                    <a:bodyPr wrap="square"/>
                    <a:lstStyle/>
                    <a:p>
                      <a:r>
                        <a:rPr sz="1576" b="0">
                          <a:solidFill>
                            <a:srgbClr val="33475B"/>
                          </a:solidFill>
                          <a:latin typeface="Aptos"/>
                        </a:rPr>
                        <a:t>Pagar solo por uso</a:t>
                      </a:r>
                    </a:p>
                  </a:txBody>
                  <a:tcPr anchor="ctr" marL="146304" marR="146304">
                    <a:solidFill>
                      <a:srgbClr val="F4F7FA"/>
                    </a:solidFill>
                  </a:tcPr>
                </a:tc>
                <a:tc>
                  <a:txBody>
                    <a:bodyPr wrap="square"/>
                    <a:lstStyle/>
                    <a:p>
                      <a:r>
                        <a:rPr sz="1576" b="0">
                          <a:solidFill>
                            <a:srgbClr val="33475B"/>
                          </a:solidFill>
                          <a:latin typeface="Aptos"/>
                        </a:rPr>
                        <a:t>Arranque en frío, proveedor</a:t>
                      </a:r>
                    </a:p>
                  </a:txBody>
                  <a:tcPr anchor="ctr" marL="146304" marR="146304">
                    <a:solidFill>
                      <a:srgbClr val="F4F7FA"/>
                    </a:solidFill>
                  </a:tcPr>
                </a:tc>
              </a:tr>
              <a:tr h="624927">
                <a:tc>
                  <a:txBody>
                    <a:bodyPr wrap="square"/>
                    <a:lstStyle/>
                    <a:p>
                      <a:r>
                        <a:rPr sz="1576" b="1">
                          <a:solidFill>
                            <a:srgbClr val="33475B"/>
                          </a:solidFill>
                          <a:latin typeface="Aptos"/>
                        </a:rPr>
                        <a:t>Cloud-native</a:t>
                      </a:r>
                    </a:p>
                  </a:txBody>
                  <a:tcPr anchor="ctr" marL="146304" marR="146304">
                    <a:solidFill>
                      <a:srgbClr val="FFFFFF"/>
                    </a:solidFill>
                  </a:tcPr>
                </a:tc>
                <a:tc>
                  <a:txBody>
                    <a:bodyPr wrap="square"/>
                    <a:lstStyle/>
                    <a:p>
                      <a:r>
                        <a:rPr sz="1576" b="0">
                          <a:solidFill>
                            <a:srgbClr val="33475B"/>
                          </a:solidFill>
                          <a:latin typeface="Aptos"/>
                        </a:rPr>
                        <a:t>Elasticidad y autorreparación</a:t>
                      </a:r>
                    </a:p>
                  </a:txBody>
                  <a:tcPr anchor="ctr" marL="146304" marR="146304">
                    <a:solidFill>
                      <a:srgbClr val="FFFFFF"/>
                    </a:solidFill>
                  </a:tcPr>
                </a:tc>
                <a:tc>
                  <a:txBody>
                    <a:bodyPr wrap="square"/>
                    <a:lstStyle/>
                    <a:p>
                      <a:r>
                        <a:rPr sz="1576" b="0">
                          <a:solidFill>
                            <a:srgbClr val="33475B"/>
                          </a:solidFill>
                          <a:latin typeface="Aptos"/>
                        </a:rPr>
                        <a:t>Curva y costo de plataforma</a:t>
                      </a:r>
                    </a:p>
                  </a:txBody>
                  <a:tcPr anchor="ctr" marL="146304" marR="146304">
                    <a:solidFill>
                      <a:srgbClr val="FFFFFF"/>
                    </a:solidFill>
                  </a:tcPr>
                </a:tc>
              </a:tr>
              <a:tr h="624927">
                <a:tc>
                  <a:txBody>
                    <a:bodyPr wrap="square"/>
                    <a:lstStyle/>
                    <a:p>
                      <a:r>
                        <a:rPr sz="1576" b="1">
                          <a:solidFill>
                            <a:srgbClr val="33475B"/>
                          </a:solidFill>
                          <a:latin typeface="Aptos"/>
                        </a:rPr>
                        <a:t>Hexagonal</a:t>
                      </a:r>
                    </a:p>
                  </a:txBody>
                  <a:tcPr anchor="ctr" marL="146304" marR="146304">
                    <a:solidFill>
                      <a:srgbClr val="F4F7FA"/>
                    </a:solidFill>
                  </a:tcPr>
                </a:tc>
                <a:tc>
                  <a:txBody>
                    <a:bodyPr wrap="square"/>
                    <a:lstStyle/>
                    <a:p>
                      <a:r>
                        <a:rPr sz="1576" b="0">
                          <a:solidFill>
                            <a:srgbClr val="33475B"/>
                          </a:solidFill>
                          <a:latin typeface="Aptos"/>
                        </a:rPr>
                        <a:t>Probar y cambiar tecnología</a:t>
                      </a:r>
                    </a:p>
                  </a:txBody>
                  <a:tcPr anchor="ctr" marL="146304" marR="146304">
                    <a:solidFill>
                      <a:srgbClr val="F4F7FA"/>
                    </a:solidFill>
                  </a:tcPr>
                </a:tc>
                <a:tc>
                  <a:txBody>
                    <a:bodyPr wrap="square"/>
                    <a:lstStyle/>
                    <a:p>
                      <a:r>
                        <a:rPr sz="1576" b="0">
                          <a:solidFill>
                            <a:srgbClr val="33475B"/>
                          </a:solidFill>
                          <a:latin typeface="Aptos"/>
                        </a:rPr>
                        <a:t>Interfaces y mapeos</a:t>
                      </a:r>
                    </a:p>
                  </a:txBody>
                  <a:tcPr anchor="ctr" marL="146304" marR="146304">
                    <a:solidFill>
                      <a:srgbClr val="F4F7FA"/>
                    </a:solidFill>
                  </a:tcPr>
                </a:tc>
              </a:tr>
              <a:tr h="624927">
                <a:tc>
                  <a:txBody>
                    <a:bodyPr wrap="square"/>
                    <a:lstStyle/>
                    <a:p>
                      <a:r>
                        <a:rPr sz="1576" b="1">
                          <a:solidFill>
                            <a:srgbClr val="33475B"/>
                          </a:solidFill>
                          <a:latin typeface="Aptos"/>
                        </a:rPr>
                        <a:t>Event-driven</a:t>
                      </a:r>
                    </a:p>
                  </a:txBody>
                  <a:tcPr anchor="ctr" marL="146304" marR="146304">
                    <a:solidFill>
                      <a:srgbClr val="FFFFFF"/>
                    </a:solidFill>
                  </a:tcPr>
                </a:tc>
                <a:tc>
                  <a:txBody>
                    <a:bodyPr wrap="square"/>
                    <a:lstStyle/>
                    <a:p>
                      <a:r>
                        <a:rPr sz="1576" b="0">
                          <a:solidFill>
                            <a:srgbClr val="33475B"/>
                          </a:solidFill>
                          <a:latin typeface="Aptos"/>
                        </a:rPr>
                        <a:t>Desacoplar en el tiempo</a:t>
                      </a:r>
                    </a:p>
                  </a:txBody>
                  <a:tcPr anchor="ctr" marL="146304" marR="146304">
                    <a:solidFill>
                      <a:srgbClr val="FFFFFF"/>
                    </a:solidFill>
                  </a:tcPr>
                </a:tc>
                <a:tc>
                  <a:txBody>
                    <a:bodyPr wrap="square"/>
                    <a:lstStyle/>
                    <a:p>
                      <a:r>
                        <a:rPr sz="1576" b="0">
                          <a:solidFill>
                            <a:srgbClr val="33475B"/>
                          </a:solidFill>
                          <a:latin typeface="Aptos"/>
                        </a:rPr>
                        <a:t>Rastrear el flujo</a:t>
                      </a:r>
                    </a:p>
                  </a:txBody>
                  <a:tcPr anchor="ctr" marL="146304" marR="146304">
                    <a:solidFill>
                      <a:srgbClr val="FFFFFF"/>
                    </a:solidFill>
                  </a:tcPr>
                </a:tc>
              </a:tr>
              <a:tr h="624927">
                <a:tc>
                  <a:txBody>
                    <a:bodyPr wrap="square"/>
                    <a:lstStyle/>
                    <a:p>
                      <a:r>
                        <a:rPr sz="1576" b="1">
                          <a:solidFill>
                            <a:srgbClr val="33475B"/>
                          </a:solidFill>
                          <a:latin typeface="Aptos"/>
                        </a:rPr>
                        <a:t>CQRS</a:t>
                      </a:r>
                    </a:p>
                  </a:txBody>
                  <a:tcPr anchor="ctr" marL="146304" marR="146304">
                    <a:solidFill>
                      <a:srgbClr val="F4F7FA"/>
                    </a:solidFill>
                  </a:tcPr>
                </a:tc>
                <a:tc>
                  <a:txBody>
                    <a:bodyPr wrap="square"/>
                    <a:lstStyle/>
                    <a:p>
                      <a:r>
                        <a:rPr sz="1576" b="0">
                          <a:solidFill>
                            <a:srgbClr val="33475B"/>
                          </a:solidFill>
                          <a:latin typeface="Aptos"/>
                        </a:rPr>
                        <a:t>Lecturas rápidas</a:t>
                      </a:r>
                    </a:p>
                  </a:txBody>
                  <a:tcPr anchor="ctr" marL="146304" marR="146304">
                    <a:solidFill>
                      <a:srgbClr val="F4F7FA"/>
                    </a:solidFill>
                  </a:tcPr>
                </a:tc>
                <a:tc>
                  <a:txBody>
                    <a:bodyPr wrap="square"/>
                    <a:lstStyle/>
                    <a:p>
                      <a:r>
                        <a:rPr sz="1576" b="0">
                          <a:solidFill>
                            <a:srgbClr val="33475B"/>
                          </a:solidFill>
                          <a:latin typeface="Aptos"/>
                        </a:rPr>
                        <a:t>Sincronizar dos modelos</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29 / 43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Los patrones se combinan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Microservicio + hexagonal</a:t>
            </a:r>
          </a:p>
          <a:p>
            <a:pPr algn="l">
              <a:lnSpc>
                <a:spcPct val="120000"/>
              </a:lnSpc>
              <a:spcBef>
                <a:spcPts val="700"/>
              </a:spcBef>
            </a:pPr>
            <a:r>
              <a:rPr sz="1560" b="0">
                <a:solidFill>
                  <a:srgbClr val="33475B"/>
                </a:solidFill>
                <a:latin typeface="Aptos"/>
              </a:rPr>
              <a:t>frontera afuera, dominio adentro</a:t>
            </a:r>
          </a:p>
        </p:txBody>
      </p:sp>
      <p:sp>
        <p:nvSpPr>
          <p:cNvPr id="10" name="Rounded Rectangle 9"/>
          <p:cNvSpPr/>
          <p:nvPr/>
        </p:nvSpPr>
        <p:spPr>
          <a:xfrm>
            <a:off x="3410712"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2304288"/>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Eventos + CQRS</a:t>
            </a:r>
          </a:p>
          <a:p>
            <a:pPr algn="l">
              <a:lnSpc>
                <a:spcPct val="120000"/>
              </a:lnSpc>
              <a:spcBef>
                <a:spcPts val="700"/>
              </a:spcBef>
            </a:pPr>
            <a:r>
              <a:rPr sz="1560" b="0">
                <a:solidFill>
                  <a:srgbClr val="33475B"/>
                </a:solidFill>
                <a:latin typeface="Aptos"/>
              </a:rPr>
              <a:t>el evento alimenta la lectura</a:t>
            </a:r>
          </a:p>
        </p:txBody>
      </p:sp>
      <p:sp>
        <p:nvSpPr>
          <p:cNvPr id="13" name="Rounded Rectangle 12"/>
          <p:cNvSpPr/>
          <p:nvPr/>
        </p:nvSpPr>
        <p:spPr>
          <a:xfrm>
            <a:off x="6254496"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55664" y="2304288"/>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Serverless + eventos</a:t>
            </a:r>
          </a:p>
          <a:p>
            <a:pPr algn="l">
              <a:lnSpc>
                <a:spcPct val="120000"/>
              </a:lnSpc>
              <a:spcBef>
                <a:spcPts val="700"/>
              </a:spcBef>
            </a:pPr>
            <a:r>
              <a:rPr sz="1560" b="0">
                <a:solidFill>
                  <a:srgbClr val="33475B"/>
                </a:solidFill>
                <a:latin typeface="Aptos"/>
              </a:rPr>
              <a:t>una función por evento</a:t>
            </a:r>
          </a:p>
        </p:txBody>
      </p:sp>
      <p:sp>
        <p:nvSpPr>
          <p:cNvPr id="16" name="Rounded Rectangle 15"/>
          <p:cNvSpPr/>
          <p:nvPr/>
        </p:nvSpPr>
        <p:spPr>
          <a:xfrm>
            <a:off x="9098280"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99448"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Cloud-native</a:t>
            </a:r>
          </a:p>
          <a:p>
            <a:pPr algn="l">
              <a:lnSpc>
                <a:spcPct val="120000"/>
              </a:lnSpc>
              <a:spcBef>
                <a:spcPts val="700"/>
              </a:spcBef>
            </a:pPr>
            <a:r>
              <a:rPr sz="1560" b="0">
                <a:solidFill>
                  <a:srgbClr val="33475B"/>
                </a:solidFill>
                <a:latin typeface="Aptos"/>
              </a:rPr>
              <a:t>la plataforma que opera a los demás</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30 / 43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CAP: elegir durante una partición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449019"/>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339291"/>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449019"/>
          </a:xfrm>
          <a:prstGeom prst="rect">
            <a:avLst/>
          </a:prstGeom>
          <a:noFill/>
        </p:spPr>
        <p:txBody>
          <a:bodyPr wrap="square" anchor="ctr" lIns="0" rIns="0" tIns="0" bIns="0">
            <a:spAutoFit/>
          </a:bodyPr>
          <a:lstStyle/>
          <a:p>
            <a:pPr algn="l">
              <a:lnSpc>
                <a:spcPct val="125000"/>
              </a:lnSpc>
            </a:pPr>
            <a:r>
              <a:rPr sz="2479" b="1">
                <a:solidFill>
                  <a:srgbClr val="0E2841"/>
                </a:solidFill>
                <a:latin typeface="Aptos Display"/>
              </a:rPr>
              <a:t>Si la red se parte, el sistema elige: responder siempre o no devolver datos viejos.</a:t>
            </a:r>
          </a:p>
        </p:txBody>
      </p:sp>
      <p:sp>
        <p:nvSpPr>
          <p:cNvPr id="10" name="Rounded Rectangle 9"/>
          <p:cNvSpPr/>
          <p:nvPr/>
        </p:nvSpPr>
        <p:spPr>
          <a:xfrm>
            <a:off x="566928" y="3222955"/>
            <a:ext cx="5367528" cy="310469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 Same Side Corner Rectangle 10"/>
          <p:cNvSpPr/>
          <p:nvPr/>
        </p:nvSpPr>
        <p:spPr>
          <a:xfrm>
            <a:off x="566928" y="3222955"/>
            <a:ext cx="5367528"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3222955"/>
            <a:ext cx="5001768" cy="566928"/>
          </a:xfrm>
          <a:prstGeom prst="rect">
            <a:avLst/>
          </a:prstGeom>
          <a:noFill/>
        </p:spPr>
        <p:txBody>
          <a:bodyPr wrap="square" anchor="ctr" lIns="0" rIns="0" tIns="0" bIns="0">
            <a:spAutoFit/>
          </a:bodyPr>
          <a:lstStyle/>
          <a:p>
            <a:pPr algn="l"/>
            <a:r>
              <a:rPr sz="1915" b="1">
                <a:solidFill>
                  <a:srgbClr val="FFFFFF"/>
                </a:solidFill>
                <a:latin typeface="Aptos Display"/>
              </a:rPr>
              <a:t>CP</a:t>
            </a:r>
          </a:p>
        </p:txBody>
      </p:sp>
      <p:sp>
        <p:nvSpPr>
          <p:cNvPr id="13" name="Oval 12"/>
          <p:cNvSpPr/>
          <p:nvPr/>
        </p:nvSpPr>
        <p:spPr>
          <a:xfrm>
            <a:off x="786384" y="4482693"/>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4226661"/>
            <a:ext cx="4709160" cy="603504"/>
          </a:xfrm>
          <a:prstGeom prst="rect">
            <a:avLst/>
          </a:prstGeom>
          <a:noFill/>
        </p:spPr>
        <p:txBody>
          <a:bodyPr wrap="square" anchor="ctr" lIns="0" rIns="0" tIns="0" bIns="0">
            <a:spAutoFit/>
          </a:bodyPr>
          <a:lstStyle/>
          <a:p>
            <a:pPr algn="l"/>
            <a:r>
              <a:rPr sz="1577" b="0">
                <a:solidFill>
                  <a:srgbClr val="33475B"/>
                </a:solidFill>
                <a:latin typeface="Aptos"/>
              </a:rPr>
              <a:t>Espera o rechaza</a:t>
            </a:r>
          </a:p>
        </p:txBody>
      </p:sp>
      <p:sp>
        <p:nvSpPr>
          <p:cNvPr id="15" name="Oval 14"/>
          <p:cNvSpPr/>
          <p:nvPr/>
        </p:nvSpPr>
        <p:spPr>
          <a:xfrm>
            <a:off x="786384" y="5086197"/>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830165"/>
            <a:ext cx="4709160" cy="603504"/>
          </a:xfrm>
          <a:prstGeom prst="rect">
            <a:avLst/>
          </a:prstGeom>
          <a:noFill/>
        </p:spPr>
        <p:txBody>
          <a:bodyPr wrap="square" anchor="ctr" lIns="0" rIns="0" tIns="0" bIns="0">
            <a:spAutoFit/>
          </a:bodyPr>
          <a:lstStyle/>
          <a:p>
            <a:pPr algn="l"/>
            <a:r>
              <a:rPr sz="1577" b="0">
                <a:solidFill>
                  <a:srgbClr val="33475B"/>
                </a:solidFill>
                <a:latin typeface="Aptos"/>
              </a:rPr>
              <a:t>Nunca datos viejos</a:t>
            </a:r>
          </a:p>
        </p:txBody>
      </p:sp>
      <p:sp>
        <p:nvSpPr>
          <p:cNvPr id="17" name="Oval 16"/>
          <p:cNvSpPr/>
          <p:nvPr/>
        </p:nvSpPr>
        <p:spPr>
          <a:xfrm>
            <a:off x="786384" y="5689701"/>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433669"/>
            <a:ext cx="4709160" cy="603504"/>
          </a:xfrm>
          <a:prstGeom prst="rect">
            <a:avLst/>
          </a:prstGeom>
          <a:noFill/>
        </p:spPr>
        <p:txBody>
          <a:bodyPr wrap="square" anchor="ctr" lIns="0" rIns="0" tIns="0" bIns="0">
            <a:spAutoFit/>
          </a:bodyPr>
          <a:lstStyle/>
          <a:p>
            <a:pPr algn="l"/>
            <a:r>
              <a:rPr sz="1577" b="0">
                <a:solidFill>
                  <a:srgbClr val="33475B"/>
                </a:solidFill>
                <a:latin typeface="Aptos"/>
              </a:rPr>
              <a:t>Citas, cupos, radicados</a:t>
            </a:r>
          </a:p>
        </p:txBody>
      </p:sp>
      <p:sp>
        <p:nvSpPr>
          <p:cNvPr id="19" name="Rounded Rectangle 18"/>
          <p:cNvSpPr/>
          <p:nvPr/>
        </p:nvSpPr>
        <p:spPr>
          <a:xfrm>
            <a:off x="6263640" y="3222955"/>
            <a:ext cx="5367528" cy="310469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 Same Side Corner Rectangle 19"/>
          <p:cNvSpPr/>
          <p:nvPr/>
        </p:nvSpPr>
        <p:spPr>
          <a:xfrm>
            <a:off x="6263640" y="3222955"/>
            <a:ext cx="5367528"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3222955"/>
            <a:ext cx="5001768" cy="566928"/>
          </a:xfrm>
          <a:prstGeom prst="rect">
            <a:avLst/>
          </a:prstGeom>
          <a:noFill/>
        </p:spPr>
        <p:txBody>
          <a:bodyPr wrap="square" anchor="ctr" lIns="0" rIns="0" tIns="0" bIns="0">
            <a:spAutoFit/>
          </a:bodyPr>
          <a:lstStyle/>
          <a:p>
            <a:pPr algn="l"/>
            <a:r>
              <a:rPr sz="1915" b="1">
                <a:solidFill>
                  <a:srgbClr val="FFFFFF"/>
                </a:solidFill>
                <a:latin typeface="Aptos Display"/>
              </a:rPr>
              <a:t>AP</a:t>
            </a:r>
          </a:p>
        </p:txBody>
      </p:sp>
      <p:sp>
        <p:nvSpPr>
          <p:cNvPr id="22" name="Oval 21"/>
          <p:cNvSpPr/>
          <p:nvPr/>
        </p:nvSpPr>
        <p:spPr>
          <a:xfrm>
            <a:off x="6483096" y="4482693"/>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20840" y="4226661"/>
            <a:ext cx="4709160" cy="603504"/>
          </a:xfrm>
          <a:prstGeom prst="rect">
            <a:avLst/>
          </a:prstGeom>
          <a:noFill/>
        </p:spPr>
        <p:txBody>
          <a:bodyPr wrap="square" anchor="ctr" lIns="0" rIns="0" tIns="0" bIns="0">
            <a:spAutoFit/>
          </a:bodyPr>
          <a:lstStyle/>
          <a:p>
            <a:pPr algn="l"/>
            <a:r>
              <a:rPr sz="1577" b="0">
                <a:solidFill>
                  <a:srgbClr val="33475B"/>
                </a:solidFill>
                <a:latin typeface="Aptos"/>
              </a:rPr>
              <a:t>Responde siempre</a:t>
            </a:r>
          </a:p>
        </p:txBody>
      </p:sp>
      <p:sp>
        <p:nvSpPr>
          <p:cNvPr id="24" name="Oval 23"/>
          <p:cNvSpPr/>
          <p:nvPr/>
        </p:nvSpPr>
        <p:spPr>
          <a:xfrm>
            <a:off x="6483096" y="5086197"/>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20840" y="4830165"/>
            <a:ext cx="4709160" cy="603504"/>
          </a:xfrm>
          <a:prstGeom prst="rect">
            <a:avLst/>
          </a:prstGeom>
          <a:noFill/>
        </p:spPr>
        <p:txBody>
          <a:bodyPr wrap="square" anchor="ctr" lIns="0" rIns="0" tIns="0" bIns="0">
            <a:spAutoFit/>
          </a:bodyPr>
          <a:lstStyle/>
          <a:p>
            <a:pPr algn="l"/>
            <a:r>
              <a:rPr sz="1577" b="0">
                <a:solidFill>
                  <a:srgbClr val="33475B"/>
                </a:solidFill>
                <a:latin typeface="Aptos"/>
              </a:rPr>
              <a:t>Reconcilia después</a:t>
            </a:r>
          </a:p>
        </p:txBody>
      </p:sp>
      <p:sp>
        <p:nvSpPr>
          <p:cNvPr id="26" name="Oval 25"/>
          <p:cNvSpPr/>
          <p:nvPr/>
        </p:nvSpPr>
        <p:spPr>
          <a:xfrm>
            <a:off x="6483096" y="5689701"/>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0840" y="5433669"/>
            <a:ext cx="4709160" cy="603504"/>
          </a:xfrm>
          <a:prstGeom prst="rect">
            <a:avLst/>
          </a:prstGeom>
          <a:noFill/>
        </p:spPr>
        <p:txBody>
          <a:bodyPr wrap="square" anchor="ctr" lIns="0" rIns="0" tIns="0" bIns="0">
            <a:spAutoFit/>
          </a:bodyPr>
          <a:lstStyle/>
          <a:p>
            <a:pPr algn="l"/>
            <a:r>
              <a:rPr sz="1577" b="0">
                <a:solidFill>
                  <a:srgbClr val="33475B"/>
                </a:solidFill>
                <a:latin typeface="Aptos"/>
              </a:rPr>
              <a:t>Catálogos y consultas</a:t>
            </a:r>
          </a:p>
        </p:txBody>
      </p:sp>
      <p:sp>
        <p:nvSpPr>
          <p:cNvPr id="28" name="TextBox 2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9" name="TextBox 2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31 / 43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Cada operación elige su lado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3688080"/>
                <a:gridCol w="3688080"/>
                <a:gridCol w="3688080"/>
              </a:tblGrid>
              <a:tr h="729081">
                <a:tc>
                  <a:txBody>
                    <a:bodyPr wrap="square"/>
                    <a:lstStyle/>
                    <a:p>
                      <a:r>
                        <a:rPr sz="1725" b="1">
                          <a:solidFill>
                            <a:srgbClr val="FFFFFF"/>
                          </a:solidFill>
                          <a:latin typeface="Aptos"/>
                        </a:rPr>
                        <a:t>Operación del reto</a:t>
                      </a:r>
                    </a:p>
                  </a:txBody>
                  <a:tcPr anchor="ctr" marL="146304" marR="146304">
                    <a:solidFill>
                      <a:srgbClr val="156082"/>
                    </a:solidFill>
                  </a:tcPr>
                </a:tc>
                <a:tc>
                  <a:txBody>
                    <a:bodyPr wrap="square"/>
                    <a:lstStyle/>
                    <a:p>
                      <a:r>
                        <a:rPr sz="1725" b="1">
                          <a:solidFill>
                            <a:srgbClr val="FFFFFF"/>
                          </a:solidFill>
                          <a:latin typeface="Aptos"/>
                        </a:rPr>
                        <a:t>Lado</a:t>
                      </a:r>
                    </a:p>
                  </a:txBody>
                  <a:tcPr anchor="ctr" marL="146304" marR="146304">
                    <a:solidFill>
                      <a:srgbClr val="156082"/>
                    </a:solidFill>
                  </a:tcPr>
                </a:tc>
                <a:tc>
                  <a:txBody>
                    <a:bodyPr wrap="square"/>
                    <a:lstStyle/>
                    <a:p>
                      <a:r>
                        <a:rPr sz="1725" b="1">
                          <a:solidFill>
                            <a:srgbClr val="FFFFFF"/>
                          </a:solidFill>
                          <a:latin typeface="Aptos"/>
                        </a:rPr>
                        <a:t>Por qué</a:t>
                      </a:r>
                    </a:p>
                  </a:txBody>
                  <a:tcPr anchor="ctr" marL="146304" marR="146304">
                    <a:solidFill>
                      <a:srgbClr val="156082"/>
                    </a:solidFill>
                  </a:tcPr>
                </a:tc>
              </a:tr>
              <a:tr h="729081">
                <a:tc>
                  <a:txBody>
                    <a:bodyPr wrap="square"/>
                    <a:lstStyle/>
                    <a:p>
                      <a:r>
                        <a:rPr sz="1609" b="1">
                          <a:solidFill>
                            <a:srgbClr val="33475B"/>
                          </a:solidFill>
                          <a:latin typeface="Aptos"/>
                        </a:rPr>
                        <a:t>CitaSalud: asignar cita</a:t>
                      </a:r>
                    </a:p>
                  </a:txBody>
                  <a:tcPr anchor="ctr" marL="146304" marR="146304">
                    <a:solidFill>
                      <a:srgbClr val="FFFFFF"/>
                    </a:solidFill>
                  </a:tcPr>
                </a:tc>
                <a:tc>
                  <a:txBody>
                    <a:bodyPr wrap="square"/>
                    <a:lstStyle/>
                    <a:p>
                      <a:r>
                        <a:rPr sz="1609" b="0">
                          <a:solidFill>
                            <a:srgbClr val="33475B"/>
                          </a:solidFill>
                          <a:latin typeface="Aptos"/>
                        </a:rPr>
                        <a:t>CP</a:t>
                      </a:r>
                    </a:p>
                  </a:txBody>
                  <a:tcPr anchor="ctr" marL="146304" marR="146304">
                    <a:solidFill>
                      <a:srgbClr val="FFFFFF"/>
                    </a:solidFill>
                  </a:tcPr>
                </a:tc>
                <a:tc>
                  <a:txBody>
                    <a:bodyPr wrap="square"/>
                    <a:lstStyle/>
                    <a:p>
                      <a:r>
                        <a:rPr sz="1609" b="0">
                          <a:solidFill>
                            <a:srgbClr val="33475B"/>
                          </a:solidFill>
                          <a:latin typeface="Aptos"/>
                        </a:rPr>
                        <a:t>Cero doble asignación</a:t>
                      </a:r>
                    </a:p>
                  </a:txBody>
                  <a:tcPr anchor="ctr" marL="146304" marR="146304">
                    <a:solidFill>
                      <a:srgbClr val="FFFFFF"/>
                    </a:solidFill>
                  </a:tcPr>
                </a:tc>
              </a:tr>
              <a:tr h="729081">
                <a:tc>
                  <a:txBody>
                    <a:bodyPr wrap="square"/>
                    <a:lstStyle/>
                    <a:p>
                      <a:r>
                        <a:rPr sz="1609" b="1">
                          <a:solidFill>
                            <a:srgbClr val="33475B"/>
                          </a:solidFill>
                          <a:latin typeface="Aptos"/>
                        </a:rPr>
                        <a:t>CitaSalud: consultar agenda</a:t>
                      </a:r>
                    </a:p>
                  </a:txBody>
                  <a:tcPr anchor="ctr" marL="146304" marR="146304">
                    <a:solidFill>
                      <a:srgbClr val="F4F7FA"/>
                    </a:solidFill>
                  </a:tcPr>
                </a:tc>
                <a:tc>
                  <a:txBody>
                    <a:bodyPr wrap="square"/>
                    <a:lstStyle/>
                    <a:p>
                      <a:r>
                        <a:rPr sz="1609" b="0">
                          <a:solidFill>
                            <a:srgbClr val="33475B"/>
                          </a:solidFill>
                          <a:latin typeface="Aptos"/>
                        </a:rPr>
                        <a:t>AP</a:t>
                      </a:r>
                    </a:p>
                  </a:txBody>
                  <a:tcPr anchor="ctr" marL="146304" marR="146304">
                    <a:solidFill>
                      <a:srgbClr val="F4F7FA"/>
                    </a:solidFill>
                  </a:tcPr>
                </a:tc>
                <a:tc>
                  <a:txBody>
                    <a:bodyPr wrap="square"/>
                    <a:lstStyle/>
                    <a:p>
                      <a:r>
                        <a:rPr sz="1609" b="0">
                          <a:solidFill>
                            <a:srgbClr val="33475B"/>
                          </a:solidFill>
                          <a:latin typeface="Aptos"/>
                        </a:rPr>
                        <a:t>Se corrige al confirmar</a:t>
                      </a:r>
                    </a:p>
                  </a:txBody>
                  <a:tcPr anchor="ctr" marL="146304" marR="146304">
                    <a:solidFill>
                      <a:srgbClr val="F4F7FA"/>
                    </a:solidFill>
                  </a:tcPr>
                </a:tc>
              </a:tr>
              <a:tr h="729081">
                <a:tc>
                  <a:txBody>
                    <a:bodyPr wrap="square"/>
                    <a:lstStyle/>
                    <a:p>
                      <a:r>
                        <a:rPr sz="1609" b="1">
                          <a:solidFill>
                            <a:srgbClr val="33475B"/>
                          </a:solidFill>
                          <a:latin typeface="Aptos"/>
                        </a:rPr>
                        <a:t>RutaSur: bloquear cupo</a:t>
                      </a:r>
                    </a:p>
                  </a:txBody>
                  <a:tcPr anchor="ctr" marL="146304" marR="146304">
                    <a:solidFill>
                      <a:srgbClr val="FFFFFF"/>
                    </a:solidFill>
                  </a:tcPr>
                </a:tc>
                <a:tc>
                  <a:txBody>
                    <a:bodyPr wrap="square"/>
                    <a:lstStyle/>
                    <a:p>
                      <a:r>
                        <a:rPr sz="1609" b="0">
                          <a:solidFill>
                            <a:srgbClr val="33475B"/>
                          </a:solidFill>
                          <a:latin typeface="Aptos"/>
                        </a:rPr>
                        <a:t>CP</a:t>
                      </a:r>
                    </a:p>
                  </a:txBody>
                  <a:tcPr anchor="ctr" marL="146304" marR="146304">
                    <a:solidFill>
                      <a:srgbClr val="FFFFFF"/>
                    </a:solidFill>
                  </a:tcPr>
                </a:tc>
                <a:tc>
                  <a:txBody>
                    <a:bodyPr wrap="square"/>
                    <a:lstStyle/>
                    <a:p>
                      <a:r>
                        <a:rPr sz="1609" b="0">
                          <a:solidFill>
                            <a:srgbClr val="33475B"/>
                          </a:solidFill>
                          <a:latin typeface="Aptos"/>
                        </a:rPr>
                        <a:t>Cero sobreventa</a:t>
                      </a:r>
                    </a:p>
                  </a:txBody>
                  <a:tcPr anchor="ctr" marL="146304" marR="146304">
                    <a:solidFill>
                      <a:srgbClr val="FFFFFF"/>
                    </a:solidFill>
                  </a:tcPr>
                </a:tc>
              </a:tr>
              <a:tr h="729081">
                <a:tc>
                  <a:txBody>
                    <a:bodyPr wrap="square"/>
                    <a:lstStyle/>
                    <a:p>
                      <a:r>
                        <a:rPr sz="1609" b="1">
                          <a:solidFill>
                            <a:srgbClr val="33475B"/>
                          </a:solidFill>
                          <a:latin typeface="Aptos"/>
                        </a:rPr>
                        <a:t>AquaBetania: registrar lectura</a:t>
                      </a:r>
                    </a:p>
                  </a:txBody>
                  <a:tcPr anchor="ctr" marL="146304" marR="146304">
                    <a:solidFill>
                      <a:srgbClr val="F4F7FA"/>
                    </a:solidFill>
                  </a:tcPr>
                </a:tc>
                <a:tc>
                  <a:txBody>
                    <a:bodyPr wrap="square"/>
                    <a:lstStyle/>
                    <a:p>
                      <a:r>
                        <a:rPr sz="1609" b="0">
                          <a:solidFill>
                            <a:srgbClr val="33475B"/>
                          </a:solidFill>
                          <a:latin typeface="Aptos"/>
                        </a:rPr>
                        <a:t>AP</a:t>
                      </a:r>
                    </a:p>
                  </a:txBody>
                  <a:tcPr anchor="ctr" marL="146304" marR="146304">
                    <a:solidFill>
                      <a:srgbClr val="F4F7FA"/>
                    </a:solidFill>
                  </a:tcPr>
                </a:tc>
                <a:tc>
                  <a:txBody>
                    <a:bodyPr wrap="square"/>
                    <a:lstStyle/>
                    <a:p>
                      <a:r>
                        <a:rPr sz="1609" b="0">
                          <a:solidFill>
                            <a:srgbClr val="33475B"/>
                          </a:solidFill>
                          <a:latin typeface="Aptos"/>
                        </a:rPr>
                        <a:t>Mejor tarde que perdida</a:t>
                      </a:r>
                    </a:p>
                  </a:txBody>
                  <a:tcPr anchor="ctr" marL="146304" marR="146304">
                    <a:solidFill>
                      <a:srgbClr val="F4F7FA"/>
                    </a:solidFill>
                  </a:tcPr>
                </a:tc>
              </a:tr>
              <a:tr h="729081">
                <a:tc>
                  <a:txBody>
                    <a:bodyPr wrap="square"/>
                    <a:lstStyle/>
                    <a:p>
                      <a:r>
                        <a:rPr sz="1609" b="1">
                          <a:solidFill>
                            <a:srgbClr val="33475B"/>
                          </a:solidFill>
                          <a:latin typeface="Aptos"/>
                        </a:rPr>
                        <a:t>TrazaCafé: consulta pública</a:t>
                      </a:r>
                    </a:p>
                  </a:txBody>
                  <a:tcPr anchor="ctr" marL="146304" marR="146304">
                    <a:solidFill>
                      <a:srgbClr val="FFFFFF"/>
                    </a:solidFill>
                  </a:tcPr>
                </a:tc>
                <a:tc>
                  <a:txBody>
                    <a:bodyPr wrap="square"/>
                    <a:lstStyle/>
                    <a:p>
                      <a:r>
                        <a:rPr sz="1609" b="0">
                          <a:solidFill>
                            <a:srgbClr val="33475B"/>
                          </a:solidFill>
                          <a:latin typeface="Aptos"/>
                        </a:rPr>
                        <a:t>AP</a:t>
                      </a:r>
                    </a:p>
                  </a:txBody>
                  <a:tcPr anchor="ctr" marL="146304" marR="146304">
                    <a:solidFill>
                      <a:srgbClr val="FFFFFF"/>
                    </a:solidFill>
                  </a:tcPr>
                </a:tc>
                <a:tc>
                  <a:txBody>
                    <a:bodyPr wrap="square"/>
                    <a:lstStyle/>
                    <a:p>
                      <a:r>
                        <a:rPr sz="1609" b="0">
                          <a:solidFill>
                            <a:srgbClr val="33475B"/>
                          </a:solidFill>
                          <a:latin typeface="Aptos"/>
                        </a:rPr>
                        <a:t>Puede tardar unos segundos</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32 / 43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 saga reemplaza la transacción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532888"/>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 y="2368296"/>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1</a:t>
            </a:r>
          </a:p>
        </p:txBody>
      </p:sp>
      <p:sp>
        <p:nvSpPr>
          <p:cNvPr id="10" name="TextBox 9"/>
          <p:cNvSpPr txBox="1"/>
          <p:nvPr/>
        </p:nvSpPr>
        <p:spPr>
          <a:xfrm>
            <a:off x="768096" y="3008376"/>
            <a:ext cx="2130552" cy="2176272"/>
          </a:xfrm>
          <a:prstGeom prst="rect">
            <a:avLst/>
          </a:prstGeom>
          <a:noFill/>
        </p:spPr>
        <p:txBody>
          <a:bodyPr wrap="square" anchor="t" lIns="0" rIns="0" tIns="0" bIns="0">
            <a:spAutoFit/>
          </a:bodyPr>
          <a:lstStyle/>
          <a:p>
            <a:pPr algn="l"/>
            <a:r>
              <a:rPr sz="1980" b="1">
                <a:solidFill>
                  <a:srgbClr val="0E2841"/>
                </a:solidFill>
                <a:latin typeface="Aptos Display"/>
              </a:rPr>
              <a:t>Bloquear cupo</a:t>
            </a:r>
          </a:p>
          <a:p>
            <a:pPr algn="l">
              <a:lnSpc>
                <a:spcPct val="120000"/>
              </a:lnSpc>
              <a:spcBef>
                <a:spcPts val="700"/>
              </a:spcBef>
            </a:pPr>
            <a:r>
              <a:rPr sz="1560" b="0">
                <a:solidFill>
                  <a:srgbClr val="33475B"/>
                </a:solidFill>
                <a:latin typeface="Aptos"/>
              </a:rPr>
              <a:t>transacción local en Reservas</a:t>
            </a:r>
          </a:p>
        </p:txBody>
      </p:sp>
      <p:sp>
        <p:nvSpPr>
          <p:cNvPr id="11" name="Rounded Rectangle 10"/>
          <p:cNvSpPr/>
          <p:nvPr/>
        </p:nvSpPr>
        <p:spPr>
          <a:xfrm>
            <a:off x="3410712" y="2532888"/>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611880" y="2368296"/>
            <a:ext cx="475488" cy="475488"/>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2</a:t>
            </a:r>
          </a:p>
        </p:txBody>
      </p:sp>
      <p:sp>
        <p:nvSpPr>
          <p:cNvPr id="14" name="TextBox 13"/>
          <p:cNvSpPr txBox="1"/>
          <p:nvPr/>
        </p:nvSpPr>
        <p:spPr>
          <a:xfrm>
            <a:off x="3611880" y="3008376"/>
            <a:ext cx="2130552" cy="2176272"/>
          </a:xfrm>
          <a:prstGeom prst="rect">
            <a:avLst/>
          </a:prstGeom>
          <a:noFill/>
        </p:spPr>
        <p:txBody>
          <a:bodyPr wrap="square" anchor="t" lIns="0" rIns="0" tIns="0" bIns="0">
            <a:spAutoFit/>
          </a:bodyPr>
          <a:lstStyle/>
          <a:p>
            <a:pPr algn="l"/>
            <a:r>
              <a:rPr sz="1980" b="1">
                <a:solidFill>
                  <a:srgbClr val="0E2841"/>
                </a:solidFill>
                <a:latin typeface="Aptos Display"/>
              </a:rPr>
              <a:t>Cobrar</a:t>
            </a:r>
          </a:p>
          <a:p>
            <a:pPr algn="l">
              <a:lnSpc>
                <a:spcPct val="120000"/>
              </a:lnSpc>
              <a:spcBef>
                <a:spcPts val="700"/>
              </a:spcBef>
            </a:pPr>
            <a:r>
              <a:rPr sz="1560" b="0">
                <a:solidFill>
                  <a:srgbClr val="33475B"/>
                </a:solidFill>
                <a:latin typeface="Aptos"/>
              </a:rPr>
              <a:t>transacción local en Pagos</a:t>
            </a:r>
          </a:p>
        </p:txBody>
      </p:sp>
      <p:sp>
        <p:nvSpPr>
          <p:cNvPr id="15" name="Rounded Rectangle 14"/>
          <p:cNvSpPr/>
          <p:nvPr/>
        </p:nvSpPr>
        <p:spPr>
          <a:xfrm>
            <a:off x="6254496" y="2532888"/>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55664" y="2368296"/>
            <a:ext cx="475488" cy="475488"/>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5664"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3</a:t>
            </a:r>
          </a:p>
        </p:txBody>
      </p:sp>
      <p:sp>
        <p:nvSpPr>
          <p:cNvPr id="18" name="TextBox 17"/>
          <p:cNvSpPr txBox="1"/>
          <p:nvPr/>
        </p:nvSpPr>
        <p:spPr>
          <a:xfrm>
            <a:off x="6455664" y="3008376"/>
            <a:ext cx="2130552" cy="2176272"/>
          </a:xfrm>
          <a:prstGeom prst="rect">
            <a:avLst/>
          </a:prstGeom>
          <a:noFill/>
        </p:spPr>
        <p:txBody>
          <a:bodyPr wrap="square" anchor="t" lIns="0" rIns="0" tIns="0" bIns="0">
            <a:spAutoFit/>
          </a:bodyPr>
          <a:lstStyle/>
          <a:p>
            <a:pPr algn="l"/>
            <a:r>
              <a:rPr sz="1980" b="1">
                <a:solidFill>
                  <a:srgbClr val="0E2841"/>
                </a:solidFill>
                <a:latin typeface="Aptos Display"/>
              </a:rPr>
              <a:t>Confirmar</a:t>
            </a:r>
          </a:p>
          <a:p>
            <a:pPr algn="l">
              <a:lnSpc>
                <a:spcPct val="120000"/>
              </a:lnSpc>
              <a:spcBef>
                <a:spcPts val="700"/>
              </a:spcBef>
            </a:pPr>
            <a:r>
              <a:rPr sz="1560" b="0">
                <a:solidFill>
                  <a:srgbClr val="33475B"/>
                </a:solidFill>
                <a:latin typeface="Aptos"/>
              </a:rPr>
              <a:t>evento ReservaConfirmada</a:t>
            </a:r>
          </a:p>
        </p:txBody>
      </p:sp>
      <p:sp>
        <p:nvSpPr>
          <p:cNvPr id="19" name="Rounded Rectangle 18"/>
          <p:cNvSpPr/>
          <p:nvPr/>
        </p:nvSpPr>
        <p:spPr>
          <a:xfrm>
            <a:off x="9098280" y="2532888"/>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299448" y="2368296"/>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4</a:t>
            </a:r>
          </a:p>
        </p:txBody>
      </p:sp>
      <p:sp>
        <p:nvSpPr>
          <p:cNvPr id="22" name="TextBox 21"/>
          <p:cNvSpPr txBox="1"/>
          <p:nvPr/>
        </p:nvSpPr>
        <p:spPr>
          <a:xfrm>
            <a:off x="9299448" y="3008376"/>
            <a:ext cx="2130552" cy="2176272"/>
          </a:xfrm>
          <a:prstGeom prst="rect">
            <a:avLst/>
          </a:prstGeom>
          <a:noFill/>
        </p:spPr>
        <p:txBody>
          <a:bodyPr wrap="square" anchor="t" lIns="0" rIns="0" tIns="0" bIns="0">
            <a:spAutoFit/>
          </a:bodyPr>
          <a:lstStyle/>
          <a:p>
            <a:pPr algn="l"/>
            <a:r>
              <a:rPr sz="1980" b="1">
                <a:solidFill>
                  <a:srgbClr val="0E2841"/>
                </a:solidFill>
                <a:latin typeface="Aptos Display"/>
              </a:rPr>
              <a:t>Si el cobro falla</a:t>
            </a:r>
          </a:p>
          <a:p>
            <a:pPr algn="l">
              <a:lnSpc>
                <a:spcPct val="120000"/>
              </a:lnSpc>
              <a:spcBef>
                <a:spcPts val="700"/>
              </a:spcBef>
            </a:pPr>
            <a:r>
              <a:rPr sz="1560" b="0">
                <a:solidFill>
                  <a:srgbClr val="33475B"/>
                </a:solidFill>
                <a:latin typeface="Aptos"/>
              </a:rPr>
              <a:t>compensar liberando el cupo</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33 / 43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Con la red partida, ¿qué se elige?</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Rendimiento y seguridad</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Consistencia y disponibilidad</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Tolerancia a particiones y escalabilidad</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Nada: en la nube se pueden garantizar las tres propiedades</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34 / 43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04</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4. Del foro a la versión 2</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Decidir parte del dolor de la v1</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532888"/>
            <a:ext cx="1964131"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 y="2368296"/>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1</a:t>
            </a:r>
          </a:p>
        </p:txBody>
      </p:sp>
      <p:sp>
        <p:nvSpPr>
          <p:cNvPr id="10" name="TextBox 9"/>
          <p:cNvSpPr txBox="1"/>
          <p:nvPr/>
        </p:nvSpPr>
        <p:spPr>
          <a:xfrm>
            <a:off x="768096" y="3008376"/>
            <a:ext cx="1561795" cy="2176272"/>
          </a:xfrm>
          <a:prstGeom prst="rect">
            <a:avLst/>
          </a:prstGeom>
          <a:noFill/>
        </p:spPr>
        <p:txBody>
          <a:bodyPr wrap="square" anchor="t" lIns="0" rIns="0" tIns="0" bIns="0">
            <a:spAutoFit/>
          </a:bodyPr>
          <a:lstStyle/>
          <a:p>
            <a:pPr algn="l"/>
            <a:r>
              <a:rPr sz="1980" b="1">
                <a:solidFill>
                  <a:srgbClr val="0E2841"/>
                </a:solidFill>
                <a:latin typeface="Aptos Display"/>
              </a:rPr>
              <a:t>Dolor</a:t>
            </a:r>
          </a:p>
          <a:p>
            <a:pPr algn="l">
              <a:lnSpc>
                <a:spcPct val="120000"/>
              </a:lnSpc>
              <a:spcBef>
                <a:spcPts val="700"/>
              </a:spcBef>
            </a:pPr>
            <a:r>
              <a:rPr sz="1560" b="0">
                <a:solidFill>
                  <a:srgbClr val="33475B"/>
                </a:solidFill>
                <a:latin typeface="Aptos"/>
              </a:rPr>
              <a:t>el límite de la v1, con evidencia</a:t>
            </a:r>
          </a:p>
        </p:txBody>
      </p:sp>
      <p:sp>
        <p:nvSpPr>
          <p:cNvPr id="11" name="Rounded Rectangle 10"/>
          <p:cNvSpPr/>
          <p:nvPr/>
        </p:nvSpPr>
        <p:spPr>
          <a:xfrm>
            <a:off x="2841955" y="2532888"/>
            <a:ext cx="1964131"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043123" y="2368296"/>
            <a:ext cx="475488" cy="475488"/>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43123"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2</a:t>
            </a:r>
          </a:p>
        </p:txBody>
      </p:sp>
      <p:sp>
        <p:nvSpPr>
          <p:cNvPr id="14" name="TextBox 13"/>
          <p:cNvSpPr txBox="1"/>
          <p:nvPr/>
        </p:nvSpPr>
        <p:spPr>
          <a:xfrm>
            <a:off x="3043123" y="3008376"/>
            <a:ext cx="1561795" cy="2176272"/>
          </a:xfrm>
          <a:prstGeom prst="rect">
            <a:avLst/>
          </a:prstGeom>
          <a:noFill/>
        </p:spPr>
        <p:txBody>
          <a:bodyPr wrap="square" anchor="t" lIns="0" rIns="0" tIns="0" bIns="0">
            <a:spAutoFit/>
          </a:bodyPr>
          <a:lstStyle/>
          <a:p>
            <a:pPr algn="l"/>
            <a:r>
              <a:rPr sz="1980" b="1">
                <a:solidFill>
                  <a:srgbClr val="0E2841"/>
                </a:solidFill>
                <a:latin typeface="Aptos Display"/>
              </a:rPr>
              <a:t>Atributo</a:t>
            </a:r>
          </a:p>
          <a:p>
            <a:pPr algn="l">
              <a:lnSpc>
                <a:spcPct val="120000"/>
              </a:lnSpc>
              <a:spcBef>
                <a:spcPts val="700"/>
              </a:spcBef>
            </a:pPr>
            <a:r>
              <a:rPr sz="1560" b="0">
                <a:solidFill>
                  <a:srgbClr val="33475B"/>
                </a:solidFill>
                <a:latin typeface="Aptos"/>
              </a:rPr>
              <a:t>el escenario con su medida</a:t>
            </a:r>
          </a:p>
        </p:txBody>
      </p:sp>
      <p:sp>
        <p:nvSpPr>
          <p:cNvPr id="15" name="Rounded Rectangle 14"/>
          <p:cNvSpPr/>
          <p:nvPr/>
        </p:nvSpPr>
        <p:spPr>
          <a:xfrm>
            <a:off x="5116982" y="2532888"/>
            <a:ext cx="1964131"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318150" y="2368296"/>
            <a:ext cx="475488" cy="475488"/>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18150"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3</a:t>
            </a:r>
          </a:p>
        </p:txBody>
      </p:sp>
      <p:sp>
        <p:nvSpPr>
          <p:cNvPr id="18" name="TextBox 17"/>
          <p:cNvSpPr txBox="1"/>
          <p:nvPr/>
        </p:nvSpPr>
        <p:spPr>
          <a:xfrm>
            <a:off x="5318150" y="3008376"/>
            <a:ext cx="1561795" cy="2176272"/>
          </a:xfrm>
          <a:prstGeom prst="rect">
            <a:avLst/>
          </a:prstGeom>
          <a:noFill/>
        </p:spPr>
        <p:txBody>
          <a:bodyPr wrap="square" anchor="t" lIns="0" rIns="0" tIns="0" bIns="0">
            <a:spAutoFit/>
          </a:bodyPr>
          <a:lstStyle/>
          <a:p>
            <a:pPr algn="l"/>
            <a:r>
              <a:rPr sz="1980" b="1">
                <a:solidFill>
                  <a:srgbClr val="0E2841"/>
                </a:solidFill>
                <a:latin typeface="Aptos Display"/>
              </a:rPr>
              <a:t>Candidatos</a:t>
            </a:r>
          </a:p>
          <a:p>
            <a:pPr algn="l">
              <a:lnSpc>
                <a:spcPct val="120000"/>
              </a:lnSpc>
              <a:spcBef>
                <a:spcPts val="700"/>
              </a:spcBef>
            </a:pPr>
            <a:r>
              <a:rPr sz="1560" b="0">
                <a:solidFill>
                  <a:srgbClr val="33475B"/>
                </a:solidFill>
                <a:latin typeface="Aptos"/>
              </a:rPr>
              <a:t>dos o tres patrones modernos</a:t>
            </a:r>
          </a:p>
        </p:txBody>
      </p:sp>
      <p:sp>
        <p:nvSpPr>
          <p:cNvPr id="19" name="Rounded Rectangle 18"/>
          <p:cNvSpPr/>
          <p:nvPr/>
        </p:nvSpPr>
        <p:spPr>
          <a:xfrm>
            <a:off x="7392009" y="2532888"/>
            <a:ext cx="1964131"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593177" y="2368296"/>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93177"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4</a:t>
            </a:r>
          </a:p>
        </p:txBody>
      </p:sp>
      <p:sp>
        <p:nvSpPr>
          <p:cNvPr id="22" name="TextBox 21"/>
          <p:cNvSpPr txBox="1"/>
          <p:nvPr/>
        </p:nvSpPr>
        <p:spPr>
          <a:xfrm>
            <a:off x="7593177" y="3008376"/>
            <a:ext cx="1561795" cy="2176272"/>
          </a:xfrm>
          <a:prstGeom prst="rect">
            <a:avLst/>
          </a:prstGeom>
          <a:noFill/>
        </p:spPr>
        <p:txBody>
          <a:bodyPr wrap="square" anchor="t" lIns="0" rIns="0" tIns="0" bIns="0">
            <a:spAutoFit/>
          </a:bodyPr>
          <a:lstStyle/>
          <a:p>
            <a:pPr algn="l"/>
            <a:r>
              <a:rPr sz="1980" b="1">
                <a:solidFill>
                  <a:srgbClr val="0E2841"/>
                </a:solidFill>
                <a:latin typeface="Aptos Display"/>
              </a:rPr>
              <a:t>Matriz</a:t>
            </a:r>
          </a:p>
          <a:p>
            <a:pPr algn="l">
              <a:lnSpc>
                <a:spcPct val="120000"/>
              </a:lnSpc>
              <a:spcBef>
                <a:spcPts val="700"/>
              </a:spcBef>
            </a:pPr>
            <a:r>
              <a:rPr sz="1560" b="0">
                <a:solidFill>
                  <a:srgbClr val="33475B"/>
                </a:solidFill>
                <a:latin typeface="Aptos"/>
              </a:rPr>
              <a:t>criterios con peso y puntaje</a:t>
            </a:r>
          </a:p>
        </p:txBody>
      </p:sp>
      <p:sp>
        <p:nvSpPr>
          <p:cNvPr id="23" name="Rounded Rectangle 22"/>
          <p:cNvSpPr/>
          <p:nvPr/>
        </p:nvSpPr>
        <p:spPr>
          <a:xfrm>
            <a:off x="9667036" y="2532888"/>
            <a:ext cx="1964131"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868204" y="2368296"/>
            <a:ext cx="475488" cy="475488"/>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68204"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5</a:t>
            </a:r>
          </a:p>
        </p:txBody>
      </p:sp>
      <p:sp>
        <p:nvSpPr>
          <p:cNvPr id="26" name="TextBox 25"/>
          <p:cNvSpPr txBox="1"/>
          <p:nvPr/>
        </p:nvSpPr>
        <p:spPr>
          <a:xfrm>
            <a:off x="9868204" y="3008376"/>
            <a:ext cx="1561795" cy="2176272"/>
          </a:xfrm>
          <a:prstGeom prst="rect">
            <a:avLst/>
          </a:prstGeom>
          <a:noFill/>
        </p:spPr>
        <p:txBody>
          <a:bodyPr wrap="square" anchor="t" lIns="0" rIns="0" tIns="0" bIns="0">
            <a:spAutoFit/>
          </a:bodyPr>
          <a:lstStyle/>
          <a:p>
            <a:pPr algn="l"/>
            <a:r>
              <a:rPr sz="1980" b="1">
                <a:solidFill>
                  <a:srgbClr val="0E2841"/>
                </a:solidFill>
                <a:latin typeface="Aptos Display"/>
              </a:rPr>
              <a:t>Costo</a:t>
            </a:r>
          </a:p>
          <a:p>
            <a:pPr algn="l">
              <a:lnSpc>
                <a:spcPct val="120000"/>
              </a:lnSpc>
              <a:spcBef>
                <a:spcPts val="700"/>
              </a:spcBef>
            </a:pPr>
            <a:r>
              <a:rPr sz="1560" b="0">
                <a:solidFill>
                  <a:srgbClr val="33475B"/>
                </a:solidFill>
                <a:latin typeface="Aptos"/>
              </a:rPr>
              <a:t>lo que se acepta y cómo se mitiga</a:t>
            </a:r>
          </a:p>
        </p:txBody>
      </p:sp>
      <p:sp>
        <p:nvSpPr>
          <p:cNvPr id="27" name="TextBox 26"/>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8" name="TextBox 27"/>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35 / 43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Mercado Campesino: la matriz</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2766060"/>
                <a:gridCol w="2766060"/>
                <a:gridCol w="2766060"/>
                <a:gridCol w="2766060"/>
              </a:tblGrid>
              <a:tr h="729081">
                <a:tc>
                  <a:txBody>
                    <a:bodyPr wrap="square"/>
                    <a:lstStyle/>
                    <a:p>
                      <a:r>
                        <a:rPr sz="1725" b="1">
                          <a:solidFill>
                            <a:srgbClr val="FFFFFF"/>
                          </a:solidFill>
                          <a:latin typeface="Aptos"/>
                        </a:rPr>
                        <a:t>Criterio</a:t>
                      </a:r>
                    </a:p>
                  </a:txBody>
                  <a:tcPr anchor="ctr" marL="146304" marR="146304">
                    <a:solidFill>
                      <a:srgbClr val="156082"/>
                    </a:solidFill>
                  </a:tcPr>
                </a:tc>
                <a:tc>
                  <a:txBody>
                    <a:bodyPr wrap="square"/>
                    <a:lstStyle/>
                    <a:p>
                      <a:r>
                        <a:rPr sz="1725" b="1">
                          <a:solidFill>
                            <a:srgbClr val="FFFFFF"/>
                          </a:solidFill>
                          <a:latin typeface="Aptos"/>
                        </a:rPr>
                        <a:t>Peso</a:t>
                      </a:r>
                    </a:p>
                  </a:txBody>
                  <a:tcPr anchor="ctr" marL="146304" marR="146304">
                    <a:solidFill>
                      <a:srgbClr val="156082"/>
                    </a:solidFill>
                  </a:tcPr>
                </a:tc>
                <a:tc>
                  <a:txBody>
                    <a:bodyPr wrap="square"/>
                    <a:lstStyle/>
                    <a:p>
                      <a:r>
                        <a:rPr sz="1725" b="1">
                          <a:solidFill>
                            <a:srgbClr val="FFFFFF"/>
                          </a:solidFill>
                          <a:latin typeface="Aptos"/>
                        </a:rPr>
                        <a:t>Hexagonal y eventos</a:t>
                      </a:r>
                    </a:p>
                  </a:txBody>
                  <a:tcPr anchor="ctr" marL="146304" marR="146304">
                    <a:solidFill>
                      <a:srgbClr val="156082"/>
                    </a:solidFill>
                  </a:tcPr>
                </a:tc>
                <a:tc>
                  <a:txBody>
                    <a:bodyPr wrap="square"/>
                    <a:lstStyle/>
                    <a:p>
                      <a:r>
                        <a:rPr sz="1725" b="1">
                          <a:solidFill>
                            <a:srgbClr val="FFFFFF"/>
                          </a:solidFill>
                          <a:latin typeface="Aptos"/>
                        </a:rPr>
                        <a:t>Microservicios</a:t>
                      </a:r>
                    </a:p>
                  </a:txBody>
                  <a:tcPr anchor="ctr" marL="146304" marR="146304">
                    <a:solidFill>
                      <a:srgbClr val="156082"/>
                    </a:solidFill>
                  </a:tcPr>
                </a:tc>
              </a:tr>
              <a:tr h="729081">
                <a:tc>
                  <a:txBody>
                    <a:bodyPr wrap="square"/>
                    <a:lstStyle/>
                    <a:p>
                      <a:r>
                        <a:rPr sz="1609" b="1">
                          <a:solidFill>
                            <a:srgbClr val="33475B"/>
                          </a:solidFill>
                          <a:latin typeface="Aptos"/>
                        </a:rPr>
                        <a:t>Agregar avisos sin tocar el dominio</a:t>
                      </a:r>
                    </a:p>
                  </a:txBody>
                  <a:tcPr anchor="ctr" marL="146304" marR="146304">
                    <a:solidFill>
                      <a:srgbClr val="FFFFFF"/>
                    </a:solidFill>
                  </a:tcPr>
                </a:tc>
                <a:tc>
                  <a:txBody>
                    <a:bodyPr wrap="square"/>
                    <a:lstStyle/>
                    <a:p>
                      <a:r>
                        <a:rPr sz="1609" b="0">
                          <a:solidFill>
                            <a:srgbClr val="33475B"/>
                          </a:solidFill>
                          <a:latin typeface="Aptos"/>
                        </a:rPr>
                        <a:t>35</a:t>
                      </a:r>
                    </a:p>
                  </a:txBody>
                  <a:tcPr anchor="ctr" marL="146304" marR="146304">
                    <a:solidFill>
                      <a:srgbClr val="FFFFFF"/>
                    </a:solidFill>
                  </a:tcPr>
                </a:tc>
                <a:tc>
                  <a:txBody>
                    <a:bodyPr wrap="square"/>
                    <a:lstStyle/>
                    <a:p>
                      <a:r>
                        <a:rPr sz="1609" b="0">
                          <a:solidFill>
                            <a:srgbClr val="33475B"/>
                          </a:solidFill>
                          <a:latin typeface="Aptos"/>
                        </a:rPr>
                        <a:t>5</a:t>
                      </a:r>
                    </a:p>
                  </a:txBody>
                  <a:tcPr anchor="ctr" marL="146304" marR="146304">
                    <a:solidFill>
                      <a:srgbClr val="FFFFFF"/>
                    </a:solidFill>
                  </a:tcPr>
                </a:tc>
                <a:tc>
                  <a:txBody>
                    <a:bodyPr wrap="square"/>
                    <a:lstStyle/>
                    <a:p>
                      <a:r>
                        <a:rPr sz="1609" b="0">
                          <a:solidFill>
                            <a:srgbClr val="33475B"/>
                          </a:solidFill>
                          <a:latin typeface="Aptos"/>
                        </a:rPr>
                        <a:t>4</a:t>
                      </a:r>
                    </a:p>
                  </a:txBody>
                  <a:tcPr anchor="ctr" marL="146304" marR="146304">
                    <a:solidFill>
                      <a:srgbClr val="FFFFFF"/>
                    </a:solidFill>
                  </a:tcPr>
                </a:tc>
              </a:tr>
              <a:tr h="729081">
                <a:tc>
                  <a:txBody>
                    <a:bodyPr wrap="square"/>
                    <a:lstStyle/>
                    <a:p>
                      <a:r>
                        <a:rPr sz="1609" b="1">
                          <a:solidFill>
                            <a:srgbClr val="33475B"/>
                          </a:solidFill>
                          <a:latin typeface="Aptos"/>
                        </a:rPr>
                        <a:t>Probar el dominio sin base de datos</a:t>
                      </a:r>
                    </a:p>
                  </a:txBody>
                  <a:tcPr anchor="ctr" marL="146304" marR="146304">
                    <a:solidFill>
                      <a:srgbClr val="F4F7FA"/>
                    </a:solidFill>
                  </a:tcPr>
                </a:tc>
                <a:tc>
                  <a:txBody>
                    <a:bodyPr wrap="square"/>
                    <a:lstStyle/>
                    <a:p>
                      <a:r>
                        <a:rPr sz="1609" b="0">
                          <a:solidFill>
                            <a:srgbClr val="33475B"/>
                          </a:solidFill>
                          <a:latin typeface="Aptos"/>
                        </a:rPr>
                        <a:t>20</a:t>
                      </a:r>
                    </a:p>
                  </a:txBody>
                  <a:tcPr anchor="ctr" marL="146304" marR="146304">
                    <a:solidFill>
                      <a:srgbClr val="F4F7FA"/>
                    </a:solidFill>
                  </a:tcPr>
                </a:tc>
                <a:tc>
                  <a:txBody>
                    <a:bodyPr wrap="square"/>
                    <a:lstStyle/>
                    <a:p>
                      <a:r>
                        <a:rPr sz="1609" b="0">
                          <a:solidFill>
                            <a:srgbClr val="33475B"/>
                          </a:solidFill>
                          <a:latin typeface="Aptos"/>
                        </a:rPr>
                        <a:t>5</a:t>
                      </a:r>
                    </a:p>
                  </a:txBody>
                  <a:tcPr anchor="ctr" marL="146304" marR="146304">
                    <a:solidFill>
                      <a:srgbClr val="F4F7FA"/>
                    </a:solidFill>
                  </a:tcPr>
                </a:tc>
                <a:tc>
                  <a:txBody>
                    <a:bodyPr wrap="square"/>
                    <a:lstStyle/>
                    <a:p>
                      <a:r>
                        <a:rPr sz="1609" b="0">
                          <a:solidFill>
                            <a:srgbClr val="33475B"/>
                          </a:solidFill>
                          <a:latin typeface="Aptos"/>
                        </a:rPr>
                        <a:t>3</a:t>
                      </a:r>
                    </a:p>
                  </a:txBody>
                  <a:tcPr anchor="ctr" marL="146304" marR="146304">
                    <a:solidFill>
                      <a:srgbClr val="F4F7FA"/>
                    </a:solidFill>
                  </a:tcPr>
                </a:tc>
              </a:tr>
              <a:tr h="729081">
                <a:tc>
                  <a:txBody>
                    <a:bodyPr wrap="square"/>
                    <a:lstStyle/>
                    <a:p>
                      <a:r>
                        <a:rPr sz="1609" b="1">
                          <a:solidFill>
                            <a:srgbClr val="33475B"/>
                          </a:solidFill>
                          <a:latin typeface="Aptos"/>
                        </a:rPr>
                        <a:t>Disponibilidad en el cierre del jueves</a:t>
                      </a:r>
                    </a:p>
                  </a:txBody>
                  <a:tcPr anchor="ctr" marL="146304" marR="146304">
                    <a:solidFill>
                      <a:srgbClr val="FFFFFF"/>
                    </a:solidFill>
                  </a:tcPr>
                </a:tc>
                <a:tc>
                  <a:txBody>
                    <a:bodyPr wrap="square"/>
                    <a:lstStyle/>
                    <a:p>
                      <a:r>
                        <a:rPr sz="1609" b="0">
                          <a:solidFill>
                            <a:srgbClr val="33475B"/>
                          </a:solidFill>
                          <a:latin typeface="Aptos"/>
                        </a:rPr>
                        <a:t>25</a:t>
                      </a:r>
                    </a:p>
                  </a:txBody>
                  <a:tcPr anchor="ctr" marL="146304" marR="146304">
                    <a:solidFill>
                      <a:srgbClr val="FFFFFF"/>
                    </a:solidFill>
                  </a:tcPr>
                </a:tc>
                <a:tc>
                  <a:txBody>
                    <a:bodyPr wrap="square"/>
                    <a:lstStyle/>
                    <a:p>
                      <a:r>
                        <a:rPr sz="1609" b="0">
                          <a:solidFill>
                            <a:srgbClr val="33475B"/>
                          </a:solidFill>
                          <a:latin typeface="Aptos"/>
                        </a:rPr>
                        <a:t>3</a:t>
                      </a:r>
                    </a:p>
                  </a:txBody>
                  <a:tcPr anchor="ctr" marL="146304" marR="146304">
                    <a:solidFill>
                      <a:srgbClr val="FFFFFF"/>
                    </a:solidFill>
                  </a:tcPr>
                </a:tc>
                <a:tc>
                  <a:txBody>
                    <a:bodyPr wrap="square"/>
                    <a:lstStyle/>
                    <a:p>
                      <a:r>
                        <a:rPr sz="1609" b="0">
                          <a:solidFill>
                            <a:srgbClr val="33475B"/>
                          </a:solidFill>
                          <a:latin typeface="Aptos"/>
                        </a:rPr>
                        <a:t>4</a:t>
                      </a:r>
                    </a:p>
                  </a:txBody>
                  <a:tcPr anchor="ctr" marL="146304" marR="146304">
                    <a:solidFill>
                      <a:srgbClr val="FFFFFF"/>
                    </a:solidFill>
                  </a:tcPr>
                </a:tc>
              </a:tr>
              <a:tr h="729081">
                <a:tc>
                  <a:txBody>
                    <a:bodyPr wrap="square"/>
                    <a:lstStyle/>
                    <a:p>
                      <a:r>
                        <a:rPr sz="1609" b="1">
                          <a:solidFill>
                            <a:srgbClr val="33475B"/>
                          </a:solidFill>
                          <a:latin typeface="Aptos"/>
                        </a:rPr>
                        <a:t>Costo de operación para el equipo</a:t>
                      </a:r>
                    </a:p>
                  </a:txBody>
                  <a:tcPr anchor="ctr" marL="146304" marR="146304">
                    <a:solidFill>
                      <a:srgbClr val="F4F7FA"/>
                    </a:solidFill>
                  </a:tcPr>
                </a:tc>
                <a:tc>
                  <a:txBody>
                    <a:bodyPr wrap="square"/>
                    <a:lstStyle/>
                    <a:p>
                      <a:r>
                        <a:rPr sz="1609" b="0">
                          <a:solidFill>
                            <a:srgbClr val="33475B"/>
                          </a:solidFill>
                          <a:latin typeface="Aptos"/>
                        </a:rPr>
                        <a:t>20</a:t>
                      </a:r>
                    </a:p>
                  </a:txBody>
                  <a:tcPr anchor="ctr" marL="146304" marR="146304">
                    <a:solidFill>
                      <a:srgbClr val="F4F7FA"/>
                    </a:solidFill>
                  </a:tcPr>
                </a:tc>
                <a:tc>
                  <a:txBody>
                    <a:bodyPr wrap="square"/>
                    <a:lstStyle/>
                    <a:p>
                      <a:r>
                        <a:rPr sz="1609" b="0">
                          <a:solidFill>
                            <a:srgbClr val="33475B"/>
                          </a:solidFill>
                          <a:latin typeface="Aptos"/>
                        </a:rPr>
                        <a:t>4</a:t>
                      </a:r>
                    </a:p>
                  </a:txBody>
                  <a:tcPr anchor="ctr" marL="146304" marR="146304">
                    <a:solidFill>
                      <a:srgbClr val="F4F7FA"/>
                    </a:solidFill>
                  </a:tcPr>
                </a:tc>
                <a:tc>
                  <a:txBody>
                    <a:bodyPr wrap="square"/>
                    <a:lstStyle/>
                    <a:p>
                      <a:r>
                        <a:rPr sz="1609" b="0">
                          <a:solidFill>
                            <a:srgbClr val="33475B"/>
                          </a:solidFill>
                          <a:latin typeface="Aptos"/>
                        </a:rPr>
                        <a:t>2</a:t>
                      </a:r>
                    </a:p>
                  </a:txBody>
                  <a:tcPr anchor="ctr" marL="146304" marR="146304">
                    <a:solidFill>
                      <a:srgbClr val="F4F7FA"/>
                    </a:solidFill>
                  </a:tcPr>
                </a:tc>
              </a:tr>
              <a:tr h="729081">
                <a:tc>
                  <a:txBody>
                    <a:bodyPr wrap="square"/>
                    <a:lstStyle/>
                    <a:p>
                      <a:r>
                        <a:rPr sz="1609" b="1">
                          <a:solidFill>
                            <a:srgbClr val="33475B"/>
                          </a:solidFill>
                          <a:latin typeface="Aptos"/>
                        </a:rPr>
                        <a:t>Total ponderado</a:t>
                      </a:r>
                    </a:p>
                  </a:txBody>
                  <a:tcPr anchor="ctr" marL="146304" marR="146304">
                    <a:solidFill>
                      <a:srgbClr val="FFFFFF"/>
                    </a:solidFill>
                  </a:tcPr>
                </a:tc>
                <a:tc>
                  <a:txBody>
                    <a:bodyPr wrap="square"/>
                    <a:lstStyle/>
                    <a:p>
                      <a:r>
                        <a:rPr sz="1609" b="0">
                          <a:solidFill>
                            <a:srgbClr val="33475B"/>
                          </a:solidFill>
                          <a:latin typeface="Aptos"/>
                        </a:rPr>
                        <a:t>100</a:t>
                      </a:r>
                    </a:p>
                  </a:txBody>
                  <a:tcPr anchor="ctr" marL="146304" marR="146304">
                    <a:solidFill>
                      <a:srgbClr val="FFFFFF"/>
                    </a:solidFill>
                  </a:tcPr>
                </a:tc>
                <a:tc>
                  <a:txBody>
                    <a:bodyPr wrap="square"/>
                    <a:lstStyle/>
                    <a:p>
                      <a:r>
                        <a:rPr sz="1609" b="0">
                          <a:solidFill>
                            <a:srgbClr val="33475B"/>
                          </a:solidFill>
                          <a:latin typeface="Aptos"/>
                        </a:rPr>
                        <a:t>4,30</a:t>
                      </a:r>
                    </a:p>
                  </a:txBody>
                  <a:tcPr anchor="ctr" marL="146304" marR="146304">
                    <a:solidFill>
                      <a:srgbClr val="FFFFFF"/>
                    </a:solidFill>
                  </a:tcPr>
                </a:tc>
                <a:tc>
                  <a:txBody>
                    <a:bodyPr wrap="square"/>
                    <a:lstStyle/>
                    <a:p>
                      <a:r>
                        <a:rPr sz="1609" b="0">
                          <a:solidFill>
                            <a:srgbClr val="33475B"/>
                          </a:solidFill>
                          <a:latin typeface="Aptos"/>
                        </a:rPr>
                        <a:t>3,40</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36 / 43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aporte al foro en cinco ejes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5532120"/>
                <a:gridCol w="5532120"/>
              </a:tblGrid>
              <a:tr h="729081">
                <a:tc>
                  <a:txBody>
                    <a:bodyPr wrap="square"/>
                    <a:lstStyle/>
                    <a:p>
                      <a:r>
                        <a:rPr sz="1725" b="1">
                          <a:solidFill>
                            <a:srgbClr val="FFFFFF"/>
                          </a:solidFill>
                          <a:latin typeface="Aptos"/>
                        </a:rPr>
                        <a:t>Eje del foro</a:t>
                      </a:r>
                    </a:p>
                  </a:txBody>
                  <a:tcPr anchor="ctr" marL="146304" marR="146304">
                    <a:solidFill>
                      <a:srgbClr val="156082"/>
                    </a:solidFill>
                  </a:tcPr>
                </a:tc>
                <a:tc>
                  <a:txBody>
                    <a:bodyPr wrap="square"/>
                    <a:lstStyle/>
                    <a:p>
                      <a:r>
                        <a:rPr sz="1725" b="1">
                          <a:solidFill>
                            <a:srgbClr val="FFFFFF"/>
                          </a:solidFill>
                          <a:latin typeface="Aptos"/>
                        </a:rPr>
                        <a:t>Qué escribir sobre su reto</a:t>
                      </a:r>
                    </a:p>
                  </a:txBody>
                  <a:tcPr anchor="ctr" marL="146304" marR="146304">
                    <a:solidFill>
                      <a:srgbClr val="156082"/>
                    </a:solidFill>
                  </a:tcPr>
                </a:tc>
              </a:tr>
              <a:tr h="729081">
                <a:tc>
                  <a:txBody>
                    <a:bodyPr wrap="square"/>
                    <a:lstStyle/>
                    <a:p>
                      <a:r>
                        <a:rPr sz="1609" b="1">
                          <a:solidFill>
                            <a:srgbClr val="33475B"/>
                          </a:solidFill>
                          <a:latin typeface="Aptos"/>
                        </a:rPr>
                        <a:t>Análisis comparativo</a:t>
                      </a:r>
                    </a:p>
                  </a:txBody>
                  <a:tcPr anchor="ctr" marL="146304" marR="146304">
                    <a:solidFill>
                      <a:srgbClr val="FFFFFF"/>
                    </a:solidFill>
                  </a:tcPr>
                </a:tc>
                <a:tc>
                  <a:txBody>
                    <a:bodyPr wrap="square"/>
                    <a:lstStyle/>
                    <a:p>
                      <a:r>
                        <a:rPr sz="1609" b="0">
                          <a:solidFill>
                            <a:srgbClr val="33475B"/>
                          </a:solidFill>
                          <a:latin typeface="Aptos"/>
                        </a:rPr>
                        <a:t>Los candidatos y su diferencia clave</a:t>
                      </a:r>
                    </a:p>
                  </a:txBody>
                  <a:tcPr anchor="ctr" marL="146304" marR="146304">
                    <a:solidFill>
                      <a:srgbClr val="FFFFFF"/>
                    </a:solidFill>
                  </a:tcPr>
                </a:tc>
              </a:tr>
              <a:tr h="729081">
                <a:tc>
                  <a:txBody>
                    <a:bodyPr wrap="square"/>
                    <a:lstStyle/>
                    <a:p>
                      <a:r>
                        <a:rPr sz="1609" b="1">
                          <a:solidFill>
                            <a:srgbClr val="33475B"/>
                          </a:solidFill>
                          <a:latin typeface="Aptos"/>
                        </a:rPr>
                        <a:t>Escenarios de aplicación</a:t>
                      </a:r>
                    </a:p>
                  </a:txBody>
                  <a:tcPr anchor="ctr" marL="146304" marR="146304">
                    <a:solidFill>
                      <a:srgbClr val="F4F7FA"/>
                    </a:solidFill>
                  </a:tcPr>
                </a:tc>
                <a:tc>
                  <a:txBody>
                    <a:bodyPr wrap="square"/>
                    <a:lstStyle/>
                    <a:p>
                      <a:r>
                        <a:rPr sz="1609" b="0">
                          <a:solidFill>
                            <a:srgbClr val="33475B"/>
                          </a:solidFill>
                          <a:latin typeface="Aptos"/>
                        </a:rPr>
                        <a:t>Qué parte del reto gana con cada uno</a:t>
                      </a:r>
                    </a:p>
                  </a:txBody>
                  <a:tcPr anchor="ctr" marL="146304" marR="146304">
                    <a:solidFill>
                      <a:srgbClr val="F4F7FA"/>
                    </a:solidFill>
                  </a:tcPr>
                </a:tc>
              </a:tr>
              <a:tr h="729081">
                <a:tc>
                  <a:txBody>
                    <a:bodyPr wrap="square"/>
                    <a:lstStyle/>
                    <a:p>
                      <a:r>
                        <a:rPr sz="1609" b="1">
                          <a:solidFill>
                            <a:srgbClr val="33475B"/>
                          </a:solidFill>
                          <a:latin typeface="Aptos"/>
                        </a:rPr>
                        <a:t>Evaluación técnica</a:t>
                      </a:r>
                    </a:p>
                  </a:txBody>
                  <a:tcPr anchor="ctr" marL="146304" marR="146304">
                    <a:solidFill>
                      <a:srgbClr val="FFFFFF"/>
                    </a:solidFill>
                  </a:tcPr>
                </a:tc>
                <a:tc>
                  <a:txBody>
                    <a:bodyPr wrap="square"/>
                    <a:lstStyle/>
                    <a:p>
                      <a:r>
                        <a:rPr sz="1609" b="0">
                          <a:solidFill>
                            <a:srgbClr val="33475B"/>
                          </a:solidFill>
                          <a:latin typeface="Aptos"/>
                        </a:rPr>
                        <a:t>Rendimiento, resiliencia y costos</a:t>
                      </a:r>
                    </a:p>
                  </a:txBody>
                  <a:tcPr anchor="ctr" marL="146304" marR="146304">
                    <a:solidFill>
                      <a:srgbClr val="FFFFFF"/>
                    </a:solidFill>
                  </a:tcPr>
                </a:tc>
              </a:tr>
              <a:tr h="729081">
                <a:tc>
                  <a:txBody>
                    <a:bodyPr wrap="square"/>
                    <a:lstStyle/>
                    <a:p>
                      <a:r>
                        <a:rPr sz="1609" b="1">
                          <a:solidFill>
                            <a:srgbClr val="33475B"/>
                          </a:solidFill>
                          <a:latin typeface="Aptos"/>
                        </a:rPr>
                        <a:t>Integración y evolución</a:t>
                      </a:r>
                    </a:p>
                  </a:txBody>
                  <a:tcPr anchor="ctr" marL="146304" marR="146304">
                    <a:solidFill>
                      <a:srgbClr val="F4F7FA"/>
                    </a:solidFill>
                  </a:tcPr>
                </a:tc>
                <a:tc>
                  <a:txBody>
                    <a:bodyPr wrap="square"/>
                    <a:lstStyle/>
                    <a:p>
                      <a:r>
                        <a:rPr sz="1609" b="0">
                          <a:solidFill>
                            <a:srgbClr val="33475B"/>
                          </a:solidFill>
                          <a:latin typeface="Aptos"/>
                        </a:rPr>
                        <a:t>Nube, DevOps y migración por etapas</a:t>
                      </a:r>
                    </a:p>
                  </a:txBody>
                  <a:tcPr anchor="ctr" marL="146304" marR="146304">
                    <a:solidFill>
                      <a:srgbClr val="F4F7FA"/>
                    </a:solidFill>
                  </a:tcPr>
                </a:tc>
              </a:tr>
              <a:tr h="729081">
                <a:tc>
                  <a:txBody>
                    <a:bodyPr wrap="square"/>
                    <a:lstStyle/>
                    <a:p>
                      <a:r>
                        <a:rPr sz="1609" b="1">
                          <a:solidFill>
                            <a:srgbClr val="33475B"/>
                          </a:solidFill>
                          <a:latin typeface="Aptos"/>
                        </a:rPr>
                        <a:t>Desafíos</a:t>
                      </a:r>
                    </a:p>
                  </a:txBody>
                  <a:tcPr anchor="ctr" marL="146304" marR="146304">
                    <a:solidFill>
                      <a:srgbClr val="FFFFFF"/>
                    </a:solidFill>
                  </a:tcPr>
                </a:tc>
                <a:tc>
                  <a:txBody>
                    <a:bodyPr wrap="square"/>
                    <a:lstStyle/>
                    <a:p>
                      <a:r>
                        <a:rPr sz="1609" b="0">
                          <a:solidFill>
                            <a:srgbClr val="33475B"/>
                          </a:solidFill>
                          <a:latin typeface="Aptos"/>
                        </a:rPr>
                        <a:t>El riesgo principal y su mitigación</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37 / 43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Seis criterios para medir v1 y v2</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13385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02412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133856"/>
          </a:xfrm>
          <a:prstGeom prst="rect">
            <a:avLst/>
          </a:prstGeom>
          <a:noFill/>
        </p:spPr>
        <p:txBody>
          <a:bodyPr wrap="square" anchor="ctr" lIns="0" rIns="0" tIns="0" bIns="0">
            <a:spAutoFit/>
          </a:bodyPr>
          <a:lstStyle/>
          <a:p>
            <a:pPr algn="l">
              <a:lnSpc>
                <a:spcPct val="125000"/>
              </a:lnSpc>
            </a:pPr>
            <a:r>
              <a:rPr sz="2220" b="1">
                <a:solidFill>
                  <a:srgbClr val="0E2841"/>
                </a:solidFill>
                <a:latin typeface="Aptos Display"/>
              </a:rPr>
              <a:t>Mismo cambio, misma carga, misma máquina y las dos versiones etiquetadas en git.</a:t>
            </a:r>
          </a:p>
        </p:txBody>
      </p:sp>
      <p:graphicFrame>
        <p:nvGraphicFramePr>
          <p:cNvPr id="10" name="Table 9"/>
          <p:cNvGraphicFramePr>
            <a:graphicFrameLocks noGrp="1"/>
          </p:cNvGraphicFramePr>
          <p:nvPr/>
        </p:nvGraphicFramePr>
        <p:xfrm>
          <a:off x="566928" y="2907791"/>
          <a:ext cx="11064240" cy="3419850"/>
        </p:xfrm>
        <a:graphic>
          <a:graphicData uri="http://schemas.openxmlformats.org/drawingml/2006/table">
            <a:tbl>
              <a:tblPr firstRow="1">
                <a:tableStyleId>{5C22544A-7EE6-4342-B048-85BDC9FD1C3A}</a:tableStyleId>
              </a:tblPr>
              <a:tblGrid>
                <a:gridCol w="5532120"/>
                <a:gridCol w="5532120"/>
              </a:tblGrid>
              <a:tr h="488550">
                <a:tc>
                  <a:txBody>
                    <a:bodyPr wrap="square"/>
                    <a:lstStyle/>
                    <a:p>
                      <a:r>
                        <a:rPr sz="1513" b="1">
                          <a:solidFill>
                            <a:srgbClr val="FFFFFF"/>
                          </a:solidFill>
                          <a:latin typeface="Aptos"/>
                        </a:rPr>
                        <a:t>Criterio</a:t>
                      </a:r>
                    </a:p>
                  </a:txBody>
                  <a:tcPr anchor="ctr" marL="146304" marR="146304">
                    <a:solidFill>
                      <a:srgbClr val="156082"/>
                    </a:solidFill>
                  </a:tcPr>
                </a:tc>
                <a:tc>
                  <a:txBody>
                    <a:bodyPr wrap="square"/>
                    <a:lstStyle/>
                    <a:p>
                      <a:r>
                        <a:rPr sz="1513" b="1">
                          <a:solidFill>
                            <a:srgbClr val="FFFFFF"/>
                          </a:solidFill>
                          <a:latin typeface="Aptos"/>
                        </a:rPr>
                        <a:t>Cómo se mide</a:t>
                      </a:r>
                    </a:p>
                  </a:txBody>
                  <a:tcPr anchor="ctr" marL="146304" marR="146304">
                    <a:solidFill>
                      <a:srgbClr val="156082"/>
                    </a:solidFill>
                  </a:tcPr>
                </a:tc>
              </a:tr>
              <a:tr h="488550">
                <a:tc>
                  <a:txBody>
                    <a:bodyPr wrap="square"/>
                    <a:lstStyle/>
                    <a:p>
                      <a:r>
                        <a:rPr sz="1413" b="1">
                          <a:solidFill>
                            <a:srgbClr val="33475B"/>
                          </a:solidFill>
                          <a:latin typeface="Aptos"/>
                        </a:rPr>
                        <a:t>Costo de un cambio</a:t>
                      </a:r>
                    </a:p>
                  </a:txBody>
                  <a:tcPr anchor="ctr" marL="146304" marR="146304">
                    <a:solidFill>
                      <a:srgbClr val="FFFFFF"/>
                    </a:solidFill>
                  </a:tcPr>
                </a:tc>
                <a:tc>
                  <a:txBody>
                    <a:bodyPr wrap="square"/>
                    <a:lstStyle/>
                    <a:p>
                      <a:r>
                        <a:rPr sz="1413" b="0">
                          <a:solidFill>
                            <a:srgbClr val="33475B"/>
                          </a:solidFill>
                          <a:latin typeface="Aptos"/>
                        </a:rPr>
                        <a:t>Archivos y líneas tocadas</a:t>
                      </a:r>
                    </a:p>
                  </a:txBody>
                  <a:tcPr anchor="ctr" marL="146304" marR="146304">
                    <a:solidFill>
                      <a:srgbClr val="FFFFFF"/>
                    </a:solidFill>
                  </a:tcPr>
                </a:tc>
              </a:tr>
              <a:tr h="488550">
                <a:tc>
                  <a:txBody>
                    <a:bodyPr wrap="square"/>
                    <a:lstStyle/>
                    <a:p>
                      <a:r>
                        <a:rPr sz="1413" b="1">
                          <a:solidFill>
                            <a:srgbClr val="33475B"/>
                          </a:solidFill>
                          <a:latin typeface="Aptos"/>
                        </a:rPr>
                        <a:t>Acoplamiento</a:t>
                      </a:r>
                    </a:p>
                  </a:txBody>
                  <a:tcPr anchor="ctr" marL="146304" marR="146304">
                    <a:solidFill>
                      <a:srgbClr val="F4F7FA"/>
                    </a:solidFill>
                  </a:tcPr>
                </a:tc>
                <a:tc>
                  <a:txBody>
                    <a:bodyPr wrap="square"/>
                    <a:lstStyle/>
                    <a:p>
                      <a:r>
                        <a:rPr sz="1413" b="0">
                          <a:solidFill>
                            <a:srgbClr val="33475B"/>
                          </a:solidFill>
                          <a:latin typeface="Aptos"/>
                        </a:rPr>
                        <a:t>Dependencias entre módulos</a:t>
                      </a:r>
                    </a:p>
                  </a:txBody>
                  <a:tcPr anchor="ctr" marL="146304" marR="146304">
                    <a:solidFill>
                      <a:srgbClr val="F4F7FA"/>
                    </a:solidFill>
                  </a:tcPr>
                </a:tc>
              </a:tr>
              <a:tr h="488550">
                <a:tc>
                  <a:txBody>
                    <a:bodyPr wrap="square"/>
                    <a:lstStyle/>
                    <a:p>
                      <a:r>
                        <a:rPr sz="1413" b="1">
                          <a:solidFill>
                            <a:srgbClr val="33475B"/>
                          </a:solidFill>
                          <a:latin typeface="Aptos"/>
                        </a:rPr>
                        <a:t>Despliegue independiente</a:t>
                      </a:r>
                    </a:p>
                  </a:txBody>
                  <a:tcPr anchor="ctr" marL="146304" marR="146304">
                    <a:solidFill>
                      <a:srgbClr val="FFFFFF"/>
                    </a:solidFill>
                  </a:tcPr>
                </a:tc>
                <a:tc>
                  <a:txBody>
                    <a:bodyPr wrap="square"/>
                    <a:lstStyle/>
                    <a:p>
                      <a:r>
                        <a:rPr sz="1413" b="0">
                          <a:solidFill>
                            <a:srgbClr val="33475B"/>
                          </a:solidFill>
                          <a:latin typeface="Aptos"/>
                        </a:rPr>
                        <a:t>Sí o no, con evidencia</a:t>
                      </a:r>
                    </a:p>
                  </a:txBody>
                  <a:tcPr anchor="ctr" marL="146304" marR="146304">
                    <a:solidFill>
                      <a:srgbClr val="FFFFFF"/>
                    </a:solidFill>
                  </a:tcPr>
                </a:tc>
              </a:tr>
              <a:tr h="488550">
                <a:tc>
                  <a:txBody>
                    <a:bodyPr wrap="square"/>
                    <a:lstStyle/>
                    <a:p>
                      <a:r>
                        <a:rPr sz="1413" b="1">
                          <a:solidFill>
                            <a:srgbClr val="33475B"/>
                          </a:solidFill>
                          <a:latin typeface="Aptos"/>
                        </a:rPr>
                        <a:t>Rendimiento</a:t>
                      </a:r>
                    </a:p>
                  </a:txBody>
                  <a:tcPr anchor="ctr" marL="146304" marR="146304">
                    <a:solidFill>
                      <a:srgbClr val="F4F7FA"/>
                    </a:solidFill>
                  </a:tcPr>
                </a:tc>
                <a:tc>
                  <a:txBody>
                    <a:bodyPr wrap="square"/>
                    <a:lstStyle/>
                    <a:p>
                      <a:r>
                        <a:rPr sz="1413" b="0">
                          <a:solidFill>
                            <a:srgbClr val="33475B"/>
                          </a:solidFill>
                          <a:latin typeface="Aptos"/>
                        </a:rPr>
                        <a:t>Latencia p95 con la misma carga</a:t>
                      </a:r>
                    </a:p>
                  </a:txBody>
                  <a:tcPr anchor="ctr" marL="146304" marR="146304">
                    <a:solidFill>
                      <a:srgbClr val="F4F7FA"/>
                    </a:solidFill>
                  </a:tcPr>
                </a:tc>
              </a:tr>
              <a:tr h="488550">
                <a:tc>
                  <a:txBody>
                    <a:bodyPr wrap="square"/>
                    <a:lstStyle/>
                    <a:p>
                      <a:r>
                        <a:rPr sz="1413" b="1">
                          <a:solidFill>
                            <a:srgbClr val="33475B"/>
                          </a:solidFill>
                          <a:latin typeface="Aptos"/>
                        </a:rPr>
                        <a:t>Tolerancia a fallos</a:t>
                      </a:r>
                    </a:p>
                  </a:txBody>
                  <a:tcPr anchor="ctr" marL="146304" marR="146304">
                    <a:solidFill>
                      <a:srgbClr val="FFFFFF"/>
                    </a:solidFill>
                  </a:tcPr>
                </a:tc>
                <a:tc>
                  <a:txBody>
                    <a:bodyPr wrap="square"/>
                    <a:lstStyle/>
                    <a:p>
                      <a:r>
                        <a:rPr sz="1413" b="0">
                          <a:solidFill>
                            <a:srgbClr val="33475B"/>
                          </a:solidFill>
                          <a:latin typeface="Aptos"/>
                        </a:rPr>
                        <a:t>Apagar un componente y observar</a:t>
                      </a:r>
                    </a:p>
                  </a:txBody>
                  <a:tcPr anchor="ctr" marL="146304" marR="146304">
                    <a:solidFill>
                      <a:srgbClr val="FFFFFF"/>
                    </a:solidFill>
                  </a:tcPr>
                </a:tc>
              </a:tr>
              <a:tr h="488550">
                <a:tc>
                  <a:txBody>
                    <a:bodyPr wrap="square"/>
                    <a:lstStyle/>
                    <a:p>
                      <a:r>
                        <a:rPr sz="1413" b="1">
                          <a:solidFill>
                            <a:srgbClr val="33475B"/>
                          </a:solidFill>
                          <a:latin typeface="Aptos"/>
                        </a:rPr>
                        <a:t>Facilidad de prueba</a:t>
                      </a:r>
                    </a:p>
                  </a:txBody>
                  <a:tcPr anchor="ctr" marL="146304" marR="146304">
                    <a:solidFill>
                      <a:srgbClr val="F4F7FA"/>
                    </a:solidFill>
                  </a:tcPr>
                </a:tc>
                <a:tc>
                  <a:txBody>
                    <a:bodyPr wrap="square"/>
                    <a:lstStyle/>
                    <a:p>
                      <a:r>
                        <a:rPr sz="1413" b="0">
                          <a:solidFill>
                            <a:srgbClr val="33475B"/>
                          </a:solidFill>
                          <a:latin typeface="Aptos"/>
                        </a:rPr>
                        <a:t>Pruebas del dominio y cobertura</a:t>
                      </a:r>
                    </a:p>
                  </a:txBody>
                  <a:tcPr anchor="ctr" marL="146304" marR="146304">
                    <a:solidFill>
                      <a:srgbClr val="F4F7FA"/>
                    </a:solidFill>
                  </a:tcPr>
                </a:tc>
              </a:tr>
            </a:tbl>
          </a:graphicData>
        </a:graphic>
      </p:graphicFrame>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38 /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Mercado Campesino pasa a hexagonal</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02922"/>
            <a:ext cx="2478024" cy="2096963"/>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802922"/>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348132"/>
            <a:ext cx="2185416" cy="1425935"/>
          </a:xfrm>
          <a:prstGeom prst="rect">
            <a:avLst/>
          </a:prstGeom>
          <a:noFill/>
        </p:spPr>
        <p:txBody>
          <a:bodyPr wrap="square" anchor="t" lIns="0" rIns="0" tIns="0" bIns="0">
            <a:spAutoFit/>
          </a:bodyPr>
          <a:lstStyle/>
          <a:p>
            <a:pPr algn="ctr"/>
            <a:r>
              <a:rPr sz="1829" b="1">
                <a:solidFill>
                  <a:srgbClr val="0E2841"/>
                </a:solidFill>
                <a:latin typeface="Aptos Display"/>
              </a:rPr>
              <a:t>Pedido web</a:t>
            </a:r>
          </a:p>
          <a:p>
            <a:pPr algn="ctr">
              <a:lnSpc>
                <a:spcPct val="120000"/>
              </a:lnSpc>
              <a:spcBef>
                <a:spcPts val="700"/>
              </a:spcBef>
            </a:pPr>
            <a:r>
              <a:rPr sz="1416" b="0">
                <a:solidFill>
                  <a:srgbClr val="7A8B9E"/>
                </a:solidFill>
                <a:latin typeface="Aptos"/>
              </a:rPr>
              <a:t>adaptador REST</a:t>
            </a:r>
          </a:p>
        </p:txBody>
      </p:sp>
      <p:sp>
        <p:nvSpPr>
          <p:cNvPr id="10" name="Chevron 9"/>
          <p:cNvSpPr/>
          <p:nvPr/>
        </p:nvSpPr>
        <p:spPr>
          <a:xfrm>
            <a:off x="3136392" y="2473950"/>
            <a:ext cx="201168" cy="754906"/>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9000" y="1802922"/>
            <a:ext cx="2478024" cy="2096963"/>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1802922"/>
            <a:ext cx="2478024"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75304" y="2348132"/>
            <a:ext cx="2185416" cy="1425935"/>
          </a:xfrm>
          <a:prstGeom prst="rect">
            <a:avLst/>
          </a:prstGeom>
          <a:noFill/>
        </p:spPr>
        <p:txBody>
          <a:bodyPr wrap="square" anchor="t" lIns="0" rIns="0" tIns="0" bIns="0">
            <a:spAutoFit/>
          </a:bodyPr>
          <a:lstStyle/>
          <a:p>
            <a:pPr algn="ctr"/>
            <a:r>
              <a:rPr sz="1829" b="1">
                <a:solidFill>
                  <a:srgbClr val="0E2841"/>
                </a:solidFill>
                <a:latin typeface="Aptos Display"/>
              </a:rPr>
              <a:t>Registrar pedido</a:t>
            </a:r>
          </a:p>
          <a:p>
            <a:pPr algn="ctr">
              <a:lnSpc>
                <a:spcPct val="120000"/>
              </a:lnSpc>
              <a:spcBef>
                <a:spcPts val="700"/>
              </a:spcBef>
            </a:pPr>
            <a:r>
              <a:rPr sz="1416" b="0">
                <a:solidFill>
                  <a:srgbClr val="7A8B9E"/>
                </a:solidFill>
                <a:latin typeface="Aptos"/>
              </a:rPr>
              <a:t>puerto de entrada</a:t>
            </a:r>
          </a:p>
        </p:txBody>
      </p:sp>
      <p:sp>
        <p:nvSpPr>
          <p:cNvPr id="14" name="Chevron 13"/>
          <p:cNvSpPr/>
          <p:nvPr/>
        </p:nvSpPr>
        <p:spPr>
          <a:xfrm>
            <a:off x="5998464" y="2473950"/>
            <a:ext cx="201168" cy="754906"/>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91072" y="1802922"/>
            <a:ext cx="2478024" cy="2096963"/>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91072" y="1802922"/>
            <a:ext cx="2478024"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2348132"/>
            <a:ext cx="2185416" cy="1425935"/>
          </a:xfrm>
          <a:prstGeom prst="rect">
            <a:avLst/>
          </a:prstGeom>
          <a:noFill/>
        </p:spPr>
        <p:txBody>
          <a:bodyPr wrap="square" anchor="t" lIns="0" rIns="0" tIns="0" bIns="0">
            <a:spAutoFit/>
          </a:bodyPr>
          <a:lstStyle/>
          <a:p>
            <a:pPr algn="ctr"/>
            <a:r>
              <a:rPr sz="1829" b="1">
                <a:solidFill>
                  <a:srgbClr val="0E2841"/>
                </a:solidFill>
                <a:latin typeface="Aptos Display"/>
              </a:rPr>
              <a:t>Pedido</a:t>
            </a:r>
          </a:p>
          <a:p>
            <a:pPr algn="ctr">
              <a:lnSpc>
                <a:spcPct val="120000"/>
              </a:lnSpc>
              <a:spcBef>
                <a:spcPts val="700"/>
              </a:spcBef>
            </a:pPr>
            <a:r>
              <a:rPr sz="1416" b="0">
                <a:solidFill>
                  <a:srgbClr val="7A8B9E"/>
                </a:solidFill>
                <a:latin typeface="Aptos"/>
              </a:rPr>
              <a:t>dominio puro</a:t>
            </a:r>
          </a:p>
        </p:txBody>
      </p:sp>
      <p:sp>
        <p:nvSpPr>
          <p:cNvPr id="18" name="Chevron 17"/>
          <p:cNvSpPr/>
          <p:nvPr/>
        </p:nvSpPr>
        <p:spPr>
          <a:xfrm>
            <a:off x="8860536" y="2473950"/>
            <a:ext cx="201168" cy="754906"/>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3144" y="1802922"/>
            <a:ext cx="2478024" cy="2096963"/>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53144" y="1802922"/>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2348132"/>
            <a:ext cx="2185416" cy="1425935"/>
          </a:xfrm>
          <a:prstGeom prst="rect">
            <a:avLst/>
          </a:prstGeom>
          <a:noFill/>
        </p:spPr>
        <p:txBody>
          <a:bodyPr wrap="square" anchor="t" lIns="0" rIns="0" tIns="0" bIns="0">
            <a:spAutoFit/>
          </a:bodyPr>
          <a:lstStyle/>
          <a:p>
            <a:pPr algn="ctr"/>
            <a:r>
              <a:rPr sz="1829" b="1">
                <a:solidFill>
                  <a:srgbClr val="0E2841"/>
                </a:solidFill>
                <a:latin typeface="Aptos Display"/>
              </a:rPr>
              <a:t>Pedido confirmado</a:t>
            </a:r>
          </a:p>
          <a:p>
            <a:pPr algn="ctr">
              <a:lnSpc>
                <a:spcPct val="120000"/>
              </a:lnSpc>
              <a:spcBef>
                <a:spcPts val="700"/>
              </a:spcBef>
            </a:pPr>
            <a:r>
              <a:rPr sz="1416" b="0">
                <a:solidFill>
                  <a:srgbClr val="7A8B9E"/>
                </a:solidFill>
                <a:latin typeface="Aptos"/>
              </a:rPr>
              <a:t>evento publicado</a:t>
            </a:r>
          </a:p>
        </p:txBody>
      </p:sp>
      <p:sp>
        <p:nvSpPr>
          <p:cNvPr id="22" name="Oval 21"/>
          <p:cNvSpPr/>
          <p:nvPr/>
        </p:nvSpPr>
        <p:spPr>
          <a:xfrm>
            <a:off x="585216" y="4613656"/>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4331208"/>
            <a:ext cx="10698480" cy="665480"/>
          </a:xfrm>
          <a:prstGeom prst="rect">
            <a:avLst/>
          </a:prstGeom>
          <a:noFill/>
        </p:spPr>
        <p:txBody>
          <a:bodyPr wrap="square" anchor="ctr" lIns="0" rIns="0" tIns="0" bIns="0">
            <a:spAutoFit/>
          </a:bodyPr>
          <a:lstStyle/>
          <a:p>
            <a:pPr algn="l"/>
            <a:r>
              <a:rPr sz="2478" b="1">
                <a:solidFill>
                  <a:srgbClr val="0E2841"/>
                </a:solidFill>
                <a:latin typeface="Aptos"/>
              </a:rPr>
              <a:t>Avisos y rutas consumen el evento</a:t>
            </a:r>
          </a:p>
        </p:txBody>
      </p:sp>
      <p:sp>
        <p:nvSpPr>
          <p:cNvPr id="24" name="Oval 23"/>
          <p:cNvSpPr/>
          <p:nvPr/>
        </p:nvSpPr>
        <p:spPr>
          <a:xfrm>
            <a:off x="585216" y="5279136"/>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 y="4996688"/>
            <a:ext cx="10698480" cy="665480"/>
          </a:xfrm>
          <a:prstGeom prst="rect">
            <a:avLst/>
          </a:prstGeom>
          <a:noFill/>
        </p:spPr>
        <p:txBody>
          <a:bodyPr wrap="square" anchor="ctr" lIns="0" rIns="0" tIns="0" bIns="0">
            <a:spAutoFit/>
          </a:bodyPr>
          <a:lstStyle/>
          <a:p>
            <a:pPr algn="l"/>
            <a:r>
              <a:rPr sz="2478" b="1">
                <a:solidFill>
                  <a:srgbClr val="0E2841"/>
                </a:solidFill>
                <a:latin typeface="Aptos"/>
              </a:rPr>
              <a:t>El cierre del jueves publica PedidosCerrados</a:t>
            </a:r>
          </a:p>
        </p:txBody>
      </p:sp>
      <p:sp>
        <p:nvSpPr>
          <p:cNvPr id="26" name="Oval 25"/>
          <p:cNvSpPr/>
          <p:nvPr/>
        </p:nvSpPr>
        <p:spPr>
          <a:xfrm>
            <a:off x="585216" y="5944616"/>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5662168"/>
            <a:ext cx="10698480" cy="665480"/>
          </a:xfrm>
          <a:prstGeom prst="rect">
            <a:avLst/>
          </a:prstGeom>
          <a:noFill/>
        </p:spPr>
        <p:txBody>
          <a:bodyPr wrap="square" anchor="ctr" lIns="0" rIns="0" tIns="0" bIns="0">
            <a:spAutoFit/>
          </a:bodyPr>
          <a:lstStyle/>
          <a:p>
            <a:pPr algn="l"/>
            <a:r>
              <a:rPr sz="2478" b="1">
                <a:solidFill>
                  <a:srgbClr val="0E2841"/>
                </a:solidFill>
                <a:latin typeface="Aptos"/>
              </a:rPr>
              <a:t>Mismo cambio: avisar al productor</a:t>
            </a:r>
          </a:p>
        </p:txBody>
      </p:sp>
      <p:sp>
        <p:nvSpPr>
          <p:cNvPr id="28" name="TextBox 2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9" name="TextBox 2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39 / 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¿Qué medición v1 frente a v2 vale?</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Comparar la v2 con un sistema de la industria descrito en un artículo</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Medir solo la v2, porque la v1 ya se calificó en la Actividad 2</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Reportar la opinión del equipo sobre cuál versión quedó mejor</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La misma funcionalidad en v1 y v2, etiquetadas en git, contando archivos y líneas</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40 / 43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05</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5. Síntesis de la unidad</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Errores que cuestan nota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Oval 6"/>
          <p:cNvSpPr/>
          <p:nvPr/>
        </p:nvSpPr>
        <p:spPr>
          <a:xfrm>
            <a:off x="585216" y="2188158"/>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810511"/>
            <a:ext cx="10698480" cy="855878"/>
          </a:xfrm>
          <a:prstGeom prst="rect">
            <a:avLst/>
          </a:prstGeom>
          <a:noFill/>
        </p:spPr>
        <p:txBody>
          <a:bodyPr wrap="square" anchor="ctr" lIns="0" rIns="0" tIns="0" bIns="0">
            <a:spAutoFit/>
          </a:bodyPr>
          <a:lstStyle/>
          <a:p>
            <a:pPr algn="l"/>
            <a:r>
              <a:rPr sz="2772" b="1">
                <a:solidFill>
                  <a:srgbClr val="0E2841"/>
                </a:solidFill>
                <a:latin typeface="Aptos"/>
              </a:rPr>
              <a:t>Elegir el patrón por moda</a:t>
            </a:r>
          </a:p>
        </p:txBody>
      </p:sp>
      <p:sp>
        <p:nvSpPr>
          <p:cNvPr id="9" name="Oval 8"/>
          <p:cNvSpPr/>
          <p:nvPr/>
        </p:nvSpPr>
        <p:spPr>
          <a:xfrm>
            <a:off x="585216" y="3044037"/>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666390"/>
            <a:ext cx="10698480" cy="855878"/>
          </a:xfrm>
          <a:prstGeom prst="rect">
            <a:avLst/>
          </a:prstGeom>
          <a:noFill/>
        </p:spPr>
        <p:txBody>
          <a:bodyPr wrap="square" anchor="ctr" lIns="0" rIns="0" tIns="0" bIns="0">
            <a:spAutoFit/>
          </a:bodyPr>
          <a:lstStyle/>
          <a:p>
            <a:pPr algn="l"/>
            <a:r>
              <a:rPr sz="2772" b="1">
                <a:solidFill>
                  <a:srgbClr val="0E2841"/>
                </a:solidFill>
                <a:latin typeface="Aptos"/>
              </a:rPr>
              <a:t>Microservicios que comparten la base</a:t>
            </a:r>
          </a:p>
        </p:txBody>
      </p:sp>
      <p:sp>
        <p:nvSpPr>
          <p:cNvPr id="11" name="Oval 10"/>
          <p:cNvSpPr/>
          <p:nvPr/>
        </p:nvSpPr>
        <p:spPr>
          <a:xfrm>
            <a:off x="585216" y="3899915"/>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3522268"/>
            <a:ext cx="10698480" cy="855878"/>
          </a:xfrm>
          <a:prstGeom prst="rect">
            <a:avLst/>
          </a:prstGeom>
          <a:noFill/>
        </p:spPr>
        <p:txBody>
          <a:bodyPr wrap="square" anchor="ctr" lIns="0" rIns="0" tIns="0" bIns="0">
            <a:spAutoFit/>
          </a:bodyPr>
          <a:lstStyle/>
          <a:p>
            <a:pPr algn="l"/>
            <a:r>
              <a:rPr sz="2772" b="1">
                <a:solidFill>
                  <a:srgbClr val="0E2841"/>
                </a:solidFill>
                <a:latin typeface="Aptos"/>
              </a:rPr>
              <a:t>CQRS donde se exige el dato al instante</a:t>
            </a:r>
          </a:p>
        </p:txBody>
      </p:sp>
      <p:sp>
        <p:nvSpPr>
          <p:cNvPr id="13" name="Oval 12"/>
          <p:cNvSpPr/>
          <p:nvPr/>
        </p:nvSpPr>
        <p:spPr>
          <a:xfrm>
            <a:off x="585216" y="4755794"/>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4378147"/>
            <a:ext cx="10698480" cy="855878"/>
          </a:xfrm>
          <a:prstGeom prst="rect">
            <a:avLst/>
          </a:prstGeom>
          <a:noFill/>
        </p:spPr>
        <p:txBody>
          <a:bodyPr wrap="square" anchor="ctr" lIns="0" rIns="0" tIns="0" bIns="0">
            <a:spAutoFit/>
          </a:bodyPr>
          <a:lstStyle/>
          <a:p>
            <a:pPr algn="l"/>
            <a:r>
              <a:rPr sz="2772" b="1">
                <a:solidFill>
                  <a:srgbClr val="0E2841"/>
                </a:solidFill>
                <a:latin typeface="Aptos"/>
              </a:rPr>
              <a:t>Eventos que son órdenes disfrazadas</a:t>
            </a:r>
          </a:p>
        </p:txBody>
      </p:sp>
      <p:sp>
        <p:nvSpPr>
          <p:cNvPr id="15" name="Oval 14"/>
          <p:cNvSpPr/>
          <p:nvPr/>
        </p:nvSpPr>
        <p:spPr>
          <a:xfrm>
            <a:off x="585216" y="5611672"/>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5234025"/>
            <a:ext cx="10698480" cy="855878"/>
          </a:xfrm>
          <a:prstGeom prst="rect">
            <a:avLst/>
          </a:prstGeom>
          <a:noFill/>
        </p:spPr>
        <p:txBody>
          <a:bodyPr wrap="square" anchor="ctr" lIns="0" rIns="0" tIns="0" bIns="0">
            <a:spAutoFit/>
          </a:bodyPr>
          <a:lstStyle/>
          <a:p>
            <a:pPr algn="l"/>
            <a:r>
              <a:rPr sz="2772" b="1">
                <a:solidFill>
                  <a:srgbClr val="0E2841"/>
                </a:solidFill>
                <a:latin typeface="Aptos"/>
              </a:rPr>
              <a:t>Comparar v1 y v2 en condiciones distintas</a:t>
            </a:r>
          </a:p>
        </p:txBody>
      </p:sp>
      <p:sp>
        <p:nvSpPr>
          <p:cNvPr id="17" name="TextBox 16"/>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18" name="TextBox 17"/>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41 / 43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Tres ideas para llevarse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048256"/>
            <a:ext cx="3480816"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560320"/>
            <a:ext cx="3078480" cy="2395728"/>
          </a:xfrm>
          <a:prstGeom prst="rect">
            <a:avLst/>
          </a:prstGeom>
          <a:noFill/>
        </p:spPr>
        <p:txBody>
          <a:bodyPr wrap="square" anchor="t" lIns="0" rIns="0" tIns="0" bIns="0">
            <a:spAutoFit/>
          </a:bodyPr>
          <a:lstStyle/>
          <a:p>
            <a:pPr algn="l"/>
            <a:r>
              <a:rPr sz="2039" b="1">
                <a:solidFill>
                  <a:srgbClr val="0E2841"/>
                </a:solidFill>
                <a:latin typeface="Aptos Display"/>
              </a:rPr>
              <a:t>Cada patrón cobra</a:t>
            </a:r>
          </a:p>
          <a:p>
            <a:pPr algn="l">
              <a:lnSpc>
                <a:spcPct val="120000"/>
              </a:lnSpc>
              <a:spcBef>
                <a:spcPts val="700"/>
              </a:spcBef>
            </a:pPr>
            <a:r>
              <a:rPr sz="1560" b="0">
                <a:solidFill>
                  <a:srgbClr val="33475B"/>
                </a:solidFill>
                <a:latin typeface="Aptos"/>
              </a:rPr>
              <a:t>ningún beneficio sale gratis</a:t>
            </a:r>
          </a:p>
        </p:txBody>
      </p:sp>
      <p:sp>
        <p:nvSpPr>
          <p:cNvPr id="10" name="Rounded Rectangle 9"/>
          <p:cNvSpPr/>
          <p:nvPr/>
        </p:nvSpPr>
        <p:spPr>
          <a:xfrm>
            <a:off x="4358640" y="2048256"/>
            <a:ext cx="3480816"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59808" y="2304288"/>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9808" y="2560320"/>
            <a:ext cx="3078480" cy="2395728"/>
          </a:xfrm>
          <a:prstGeom prst="rect">
            <a:avLst/>
          </a:prstGeom>
          <a:noFill/>
        </p:spPr>
        <p:txBody>
          <a:bodyPr wrap="square" anchor="t" lIns="0" rIns="0" tIns="0" bIns="0">
            <a:spAutoFit/>
          </a:bodyPr>
          <a:lstStyle/>
          <a:p>
            <a:pPr algn="l"/>
            <a:r>
              <a:rPr sz="2039" b="1">
                <a:solidFill>
                  <a:srgbClr val="0E2841"/>
                </a:solidFill>
                <a:latin typeface="Aptos Display"/>
              </a:rPr>
              <a:t>La operación elige</a:t>
            </a:r>
          </a:p>
          <a:p>
            <a:pPr algn="l">
              <a:lnSpc>
                <a:spcPct val="120000"/>
              </a:lnSpc>
              <a:spcBef>
                <a:spcPts val="700"/>
              </a:spcBef>
            </a:pPr>
            <a:r>
              <a:rPr sz="1560" b="0">
                <a:solidFill>
                  <a:srgbClr val="33475B"/>
                </a:solidFill>
                <a:latin typeface="Aptos"/>
              </a:rPr>
              <a:t>CP o AP según su regla</a:t>
            </a:r>
          </a:p>
        </p:txBody>
      </p:sp>
      <p:sp>
        <p:nvSpPr>
          <p:cNvPr id="13" name="Rounded Rectangle 12"/>
          <p:cNvSpPr/>
          <p:nvPr/>
        </p:nvSpPr>
        <p:spPr>
          <a:xfrm>
            <a:off x="8150352" y="2048256"/>
            <a:ext cx="3480816"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51520" y="2304288"/>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1520" y="2560320"/>
            <a:ext cx="3078480" cy="2395728"/>
          </a:xfrm>
          <a:prstGeom prst="rect">
            <a:avLst/>
          </a:prstGeom>
          <a:noFill/>
        </p:spPr>
        <p:txBody>
          <a:bodyPr wrap="square" anchor="t" lIns="0" rIns="0" tIns="0" bIns="0">
            <a:spAutoFit/>
          </a:bodyPr>
          <a:lstStyle/>
          <a:p>
            <a:pPr algn="l"/>
            <a:r>
              <a:rPr sz="2039" b="1">
                <a:solidFill>
                  <a:srgbClr val="0E2841"/>
                </a:solidFill>
                <a:latin typeface="Aptos Display"/>
              </a:rPr>
              <a:t>La v1 es la evidencia</a:t>
            </a:r>
          </a:p>
          <a:p>
            <a:pPr algn="l">
              <a:lnSpc>
                <a:spcPct val="120000"/>
              </a:lnSpc>
              <a:spcBef>
                <a:spcPts val="700"/>
              </a:spcBef>
            </a:pPr>
            <a:r>
              <a:rPr sz="1560" b="0">
                <a:solidFill>
                  <a:srgbClr val="33475B"/>
                </a:solidFill>
                <a:latin typeface="Aptos"/>
              </a:rPr>
              <a:t>la v2 se compara contra ella</a:t>
            </a:r>
          </a:p>
        </p:txBody>
      </p:sp>
      <p:sp>
        <p:nvSpPr>
          <p:cNvPr id="16" name="TextBox 15"/>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17" name="TextBox 16"/>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42 / 43</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PATRONES MODERNOS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Bibliografía de la unidad</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Oval 6"/>
          <p:cNvSpPr/>
          <p:nvPr/>
        </p:nvSpPr>
        <p:spPr>
          <a:xfrm>
            <a:off x="585216" y="2188158"/>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810511"/>
            <a:ext cx="10698480" cy="855878"/>
          </a:xfrm>
          <a:prstGeom prst="rect">
            <a:avLst/>
          </a:prstGeom>
          <a:noFill/>
        </p:spPr>
        <p:txBody>
          <a:bodyPr wrap="square" anchor="ctr" lIns="0" rIns="0" tIns="0" bIns="0">
            <a:spAutoFit/>
          </a:bodyPr>
          <a:lstStyle/>
          <a:p>
            <a:pPr algn="l"/>
            <a:r>
              <a:rPr sz="2772" b="1">
                <a:solidFill>
                  <a:srgbClr val="0E2841"/>
                </a:solidFill>
                <a:latin typeface="Aptos"/>
              </a:rPr>
              <a:t>Newman (2021)</a:t>
            </a:r>
          </a:p>
        </p:txBody>
      </p:sp>
      <p:sp>
        <p:nvSpPr>
          <p:cNvPr id="9" name="Oval 8"/>
          <p:cNvSpPr/>
          <p:nvPr/>
        </p:nvSpPr>
        <p:spPr>
          <a:xfrm>
            <a:off x="585216" y="3044037"/>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666390"/>
            <a:ext cx="10698480" cy="855878"/>
          </a:xfrm>
          <a:prstGeom prst="rect">
            <a:avLst/>
          </a:prstGeom>
          <a:noFill/>
        </p:spPr>
        <p:txBody>
          <a:bodyPr wrap="square" anchor="ctr" lIns="0" rIns="0" tIns="0" bIns="0">
            <a:spAutoFit/>
          </a:bodyPr>
          <a:lstStyle/>
          <a:p>
            <a:pPr algn="l"/>
            <a:r>
              <a:rPr sz="2772" b="1">
                <a:solidFill>
                  <a:srgbClr val="0E2841"/>
                </a:solidFill>
                <a:latin typeface="Aptos"/>
              </a:rPr>
              <a:t>Richards y Ford (2020)</a:t>
            </a:r>
          </a:p>
        </p:txBody>
      </p:sp>
      <p:sp>
        <p:nvSpPr>
          <p:cNvPr id="11" name="Oval 10"/>
          <p:cNvSpPr/>
          <p:nvPr/>
        </p:nvSpPr>
        <p:spPr>
          <a:xfrm>
            <a:off x="585216" y="3899915"/>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3522268"/>
            <a:ext cx="10698480" cy="855878"/>
          </a:xfrm>
          <a:prstGeom prst="rect">
            <a:avLst/>
          </a:prstGeom>
          <a:noFill/>
        </p:spPr>
        <p:txBody>
          <a:bodyPr wrap="square" anchor="ctr" lIns="0" rIns="0" tIns="0" bIns="0">
            <a:spAutoFit/>
          </a:bodyPr>
          <a:lstStyle/>
          <a:p>
            <a:pPr algn="l"/>
            <a:r>
              <a:rPr sz="2772" b="1">
                <a:solidFill>
                  <a:srgbClr val="0E2841"/>
                </a:solidFill>
                <a:latin typeface="Aptos"/>
              </a:rPr>
              <a:t>Bass, Clements y Kazman (2021)</a:t>
            </a:r>
          </a:p>
        </p:txBody>
      </p:sp>
      <p:sp>
        <p:nvSpPr>
          <p:cNvPr id="13" name="Oval 12"/>
          <p:cNvSpPr/>
          <p:nvPr/>
        </p:nvSpPr>
        <p:spPr>
          <a:xfrm>
            <a:off x="585216" y="4755794"/>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4378147"/>
            <a:ext cx="10698480" cy="855878"/>
          </a:xfrm>
          <a:prstGeom prst="rect">
            <a:avLst/>
          </a:prstGeom>
          <a:noFill/>
        </p:spPr>
        <p:txBody>
          <a:bodyPr wrap="square" anchor="ctr" lIns="0" rIns="0" tIns="0" bIns="0">
            <a:spAutoFit/>
          </a:bodyPr>
          <a:lstStyle/>
          <a:p>
            <a:pPr algn="l"/>
            <a:r>
              <a:rPr sz="2772" b="1">
                <a:solidFill>
                  <a:srgbClr val="0E2841"/>
                </a:solidFill>
                <a:latin typeface="Aptos"/>
              </a:rPr>
              <a:t>Cockburn (2005); Fowler (2011)</a:t>
            </a:r>
          </a:p>
        </p:txBody>
      </p:sp>
      <p:sp>
        <p:nvSpPr>
          <p:cNvPr id="15" name="Oval 14"/>
          <p:cNvSpPr/>
          <p:nvPr/>
        </p:nvSpPr>
        <p:spPr>
          <a:xfrm>
            <a:off x="585216" y="5611672"/>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5234025"/>
            <a:ext cx="10698480" cy="855878"/>
          </a:xfrm>
          <a:prstGeom prst="rect">
            <a:avLst/>
          </a:prstGeom>
          <a:noFill/>
        </p:spPr>
        <p:txBody>
          <a:bodyPr wrap="square" anchor="ctr" lIns="0" rIns="0" tIns="0" bIns="0">
            <a:spAutoFit/>
          </a:bodyPr>
          <a:lstStyle/>
          <a:p>
            <a:pPr algn="l"/>
            <a:r>
              <a:rPr sz="2772" b="1">
                <a:solidFill>
                  <a:srgbClr val="0E2841"/>
                </a:solidFill>
                <a:latin typeface="Aptos"/>
              </a:rPr>
              <a:t>Brewer (2012); Gilbert y Lynch (2002)</a:t>
            </a:r>
          </a:p>
        </p:txBody>
      </p:sp>
      <p:sp>
        <p:nvSpPr>
          <p:cNvPr id="17" name="TextBox 16"/>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3</a:t>
            </a:r>
          </a:p>
        </p:txBody>
      </p:sp>
      <p:sp>
        <p:nvSpPr>
          <p:cNvPr id="18" name="TextBox 17"/>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43 / 43</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Institucional-con-advertencia-Vigilado-Mineducacion-Blanco.png"/>
          <p:cNvPicPr>
            <a:picLocks noChangeAspect="1"/>
          </p:cNvPicPr>
          <p:nvPr/>
        </p:nvPicPr>
        <p:blipFill>
          <a:blip r:embed="rId2"/>
          <a:stretch>
            <a:fillRect/>
          </a:stretch>
        </p:blipFill>
        <p:spPr>
          <a:xfrm>
            <a:off x="5144780" y="914400"/>
            <a:ext cx="1902439" cy="1737360"/>
          </a:xfrm>
          <a:prstGeom prst="rect">
            <a:avLst/>
          </a:prstGeom>
        </p:spPr>
      </p:pic>
      <p:sp>
        <p:nvSpPr>
          <p:cNvPr id="4" name="TextBox 3"/>
          <p:cNvSpPr txBox="1"/>
          <p:nvPr/>
        </p:nvSpPr>
        <p:spPr>
          <a:xfrm>
            <a:off x="457200" y="3200400"/>
            <a:ext cx="11274552" cy="1097280"/>
          </a:xfrm>
          <a:prstGeom prst="rect">
            <a:avLst/>
          </a:prstGeom>
          <a:noFill/>
        </p:spPr>
        <p:txBody>
          <a:bodyPr wrap="square" anchor="t" lIns="0" rIns="0" tIns="0" bIns="0">
            <a:spAutoFit/>
          </a:bodyPr>
          <a:lstStyle/>
          <a:p>
            <a:pPr algn="ctr"/>
            <a:r>
              <a:rPr sz="5400" b="1">
                <a:solidFill>
                  <a:srgbClr val="FFFFFF"/>
                </a:solidFill>
                <a:latin typeface="Aptos Display"/>
              </a:rPr>
              <a:t>¿Preguntas?</a:t>
            </a:r>
          </a:p>
        </p:txBody>
      </p:sp>
      <p:sp>
        <p:nvSpPr>
          <p:cNvPr id="5" name="TextBox 4"/>
          <p:cNvSpPr txBox="1"/>
          <p:nvPr/>
        </p:nvSpPr>
        <p:spPr>
          <a:xfrm>
            <a:off x="457200" y="4709160"/>
            <a:ext cx="11274552" cy="457200"/>
          </a:xfrm>
          <a:prstGeom prst="rect">
            <a:avLst/>
          </a:prstGeom>
          <a:noFill/>
        </p:spPr>
        <p:txBody>
          <a:bodyPr wrap="square" anchor="t" lIns="0" rIns="0" tIns="0" bIns="0">
            <a:spAutoFit/>
          </a:bodyPr>
          <a:lstStyle/>
          <a:p>
            <a:pPr algn="ctr"/>
            <a:r>
              <a:rPr sz="1400" b="0">
                <a:solidFill>
                  <a:srgbClr val="E8E8E8"/>
                </a:solidFill>
                <a:latin typeface="Aptos"/>
              </a:rPr>
              <a:t>Jesús Ariel González Bonilla  ·  ariel5253@hotmail.com</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7b9d0d2-0928-4bc7-b1e7-d815d07dd502" xsi:nil="true"/>
    <lcf76f155ced4ddcb4097134ff3c332f xmlns="3b21ab7c-7e7a-493b-a43f-a219844d5b04">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76AC4B3079F3F14986B23BC4E8B1044F" ma:contentTypeVersion="16" ma:contentTypeDescription="Crear nuevo documento." ma:contentTypeScope="" ma:versionID="04f898694b3caf94c38805e82f5c0fb9">
  <xsd:schema xmlns:xsd="http://www.w3.org/2001/XMLSchema" xmlns:xs="http://www.w3.org/2001/XMLSchema" xmlns:p="http://schemas.microsoft.com/office/2006/metadata/properties" xmlns:ns2="3b21ab7c-7e7a-493b-a43f-a219844d5b04" xmlns:ns3="c7b9d0d2-0928-4bc7-b1e7-d815d07dd502" targetNamespace="http://schemas.microsoft.com/office/2006/metadata/properties" ma:root="true" ma:fieldsID="1d46ddd55854086af038f8f8e7145c9b" ns2:_="" ns3:_="">
    <xsd:import namespace="3b21ab7c-7e7a-493b-a43f-a219844d5b04"/>
    <xsd:import namespace="c7b9d0d2-0928-4bc7-b1e7-d815d07dd50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21ab7c-7e7a-493b-a43f-a219844d5b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c63f703e-4260-42db-90e1-1bf1f8b4f72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7b9d0d2-0928-4bc7-b1e7-d815d07dd502"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TaxCatchAll" ma:index="14" nillable="true" ma:displayName="Taxonomy Catch All Column" ma:hidden="true" ma:list="{22966853-71d8-4c3c-a2a1-eb1a25e46692}" ma:internalName="TaxCatchAll" ma:showField="CatchAllData" ma:web="c7b9d0d2-0928-4bc7-b1e7-d815d07dd50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55C560-F379-4979-BDAB-85ADD41BF196}">
  <ds:schemaRefs>
    <ds:schemaRef ds:uri="http://schemas.microsoft.com/office/2006/metadata/properties"/>
    <ds:schemaRef ds:uri="http://schemas.microsoft.com/office/infopath/2007/PartnerControls"/>
    <ds:schemaRef ds:uri="c7b9d0d2-0928-4bc7-b1e7-d815d07dd502"/>
    <ds:schemaRef ds:uri="3b21ab7c-7e7a-493b-a43f-a219844d5b04"/>
  </ds:schemaRefs>
</ds:datastoreItem>
</file>

<file path=customXml/itemProps2.xml><?xml version="1.0" encoding="utf-8"?>
<ds:datastoreItem xmlns:ds="http://schemas.openxmlformats.org/officeDocument/2006/customXml" ds:itemID="{5203D28F-282C-474C-8EAC-7F31992D2966}">
  <ds:schemaRefs>
    <ds:schemaRef ds:uri="http://schemas.microsoft.com/sharepoint/v3/contenttype/forms"/>
  </ds:schemaRefs>
</ds:datastoreItem>
</file>

<file path=customXml/itemProps3.xml><?xml version="1.0" encoding="utf-8"?>
<ds:datastoreItem xmlns:ds="http://schemas.openxmlformats.org/officeDocument/2006/customXml" ds:itemID="{10F9C096-F130-4ECE-8018-26CD4E103B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21ab7c-7e7a-493b-a43f-a219844d5b04"/>
    <ds:schemaRef ds:uri="c7b9d0d2-0928-4bc7-b1e7-d815d07dd50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14</TotalTime>
  <Words>0</Words>
  <Application>Microsoft Office PowerPoint</Application>
  <PresentationFormat>Panorámica</PresentationFormat>
  <Paragraphs>0</Paragraphs>
  <Slides>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vt:i4>
      </vt:variant>
    </vt:vector>
  </HeadingPairs>
  <TitlesOfParts>
    <vt:vector size="7" baseType="lpstr">
      <vt:lpstr>Aptos</vt:lpstr>
      <vt:lpstr>Aptos Display</vt:lpstr>
      <vt:lpstr>Arial</vt:lpstr>
      <vt:lpstr>Tema de Office</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acomunicaciones</dc:creator>
  <cp:lastModifiedBy>Oficina de Comunicaciones</cp:lastModifiedBy>
  <cp:revision>6</cp:revision>
  <dcterms:created xsi:type="dcterms:W3CDTF">2026-01-26T14:49:45Z</dcterms:created>
  <dcterms:modified xsi:type="dcterms:W3CDTF">2026-02-13T20:05:23Z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0x01010076AC4B3079F3F14986B23BC4E8B1044F</vt:lpwstr>
  </property>
</Properties>
</file>
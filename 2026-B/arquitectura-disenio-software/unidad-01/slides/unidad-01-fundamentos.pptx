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7" r:id="rId4"/>
  </p:sldMasterIdLst>
  <p:sldIdLst>
    <p:sldId id="256" r:id="rId7"/>
    <p:sldId id="257" r:id="rId6"/>
    <p:sldId id="258" r:id="rId12"/>
    <p:sldId id="259" r:id="rId13"/>
    <p:sldId id="260" r:id="rId14"/>
    <p:sldId id="261" r:id="rId15"/>
    <p:sldId id="262" r:id="rId16"/>
    <p:sldId id="263" r:id="rId17"/>
    <p:sldId id="264" r:id="rId18"/>
    <p:sldId id="265" r:id="rId19"/>
    <p:sldId id="266" r:id="rId20"/>
    <p:sldId id="267" r:id="rId21"/>
    <p:sldId id="268" r:id="rId22"/>
    <p:sldId id="269" r:id="rId23"/>
    <p:sldId id="270" r:id="rId24"/>
    <p:sldId id="271" r:id="rId25"/>
    <p:sldId id="272" r:id="rId26"/>
    <p:sldId id="273" r:id="rId27"/>
    <p:sldId id="274" r:id="rId28"/>
    <p:sldId id="275" r:id="rId29"/>
    <p:sldId id="276" r:id="rId30"/>
    <p:sldId id="277" r:id="rId31"/>
    <p:sldId id="278" r:id="rId32"/>
    <p:sldId id="279" r:id="rId33"/>
    <p:sldId id="280" r:id="rId34"/>
    <p:sldId id="281" r:id="rId35"/>
    <p:sldId id="282" r:id="rId36"/>
    <p:sldId id="283" r:id="rId37"/>
    <p:sldId id="284" r:id="rId38"/>
    <p:sldId id="285" r:id="rId39"/>
    <p:sldId id="286" r:id="rId40"/>
    <p:sldId id="287" r:id="rId41"/>
    <p:sldId id="288" r:id="rId42"/>
    <p:sldId id="289" r:id="rId43"/>
    <p:sldId id="290" r:id="rId44"/>
    <p:sldId id="291" r:id="rId45"/>
    <p:sldId id="292" r:id="rId46"/>
    <p:sldId id="293" r:id="rId47"/>
    <p:sldId id="294" r:id="rId48"/>
    <p:sldId id="295" r:id="rId49"/>
    <p:sldId id="296" r:id="rId50"/>
    <p:sldId id="297" r:id="rId51"/>
    <p:sldId id="298" r:id="rId52"/>
    <p:sldId id="299" r:id="rId53"/>
    <p:sldId id="300" r:id="rId54"/>
    <p:sldId id="301" r:id="rId55"/>
    <p:sldId id="302" r:id="rId56"/>
    <p:sldId id="303" r:id="rId57"/>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38" autoAdjust="0"/>
    <p:restoredTop sz="94658"/>
  </p:normalViewPr>
  <p:slideViewPr>
    <p:cSldViewPr snapToGrid="0">
      <p:cViewPr varScale="1">
        <p:scale>
          <a:sx n="106" d="100"/>
          <a:sy n="106" d="100"/>
        </p:scale>
        <p:origin x="79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2.xml"/><Relationship Id="rId7" Type="http://schemas.openxmlformats.org/officeDocument/2006/relationships/slide" Target="slides/slide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 Id="rId12" Type="http://schemas.openxmlformats.org/officeDocument/2006/relationships/slide" Target="slides/slide3.xml"/><Relationship Id="rId13" Type="http://schemas.openxmlformats.org/officeDocument/2006/relationships/slide" Target="slides/slide4.xml"/><Relationship Id="rId14" Type="http://schemas.openxmlformats.org/officeDocument/2006/relationships/slide" Target="slides/slide5.xml"/><Relationship Id="rId15" Type="http://schemas.openxmlformats.org/officeDocument/2006/relationships/slide" Target="slides/slide6.xml"/><Relationship Id="rId16" Type="http://schemas.openxmlformats.org/officeDocument/2006/relationships/slide" Target="slides/slide7.xml"/><Relationship Id="rId17" Type="http://schemas.openxmlformats.org/officeDocument/2006/relationships/slide" Target="slides/slide8.xml"/><Relationship Id="rId18" Type="http://schemas.openxmlformats.org/officeDocument/2006/relationships/slide" Target="slides/slide9.xml"/><Relationship Id="rId19" Type="http://schemas.openxmlformats.org/officeDocument/2006/relationships/slide" Target="slides/slide10.xml"/><Relationship Id="rId20" Type="http://schemas.openxmlformats.org/officeDocument/2006/relationships/slide" Target="slides/slide11.xml"/><Relationship Id="rId21" Type="http://schemas.openxmlformats.org/officeDocument/2006/relationships/slide" Target="slides/slide12.xml"/><Relationship Id="rId22" Type="http://schemas.openxmlformats.org/officeDocument/2006/relationships/slide" Target="slides/slide13.xml"/><Relationship Id="rId23" Type="http://schemas.openxmlformats.org/officeDocument/2006/relationships/slide" Target="slides/slide14.xml"/><Relationship Id="rId24" Type="http://schemas.openxmlformats.org/officeDocument/2006/relationships/slide" Target="slides/slide15.xml"/><Relationship Id="rId25" Type="http://schemas.openxmlformats.org/officeDocument/2006/relationships/slide" Target="slides/slide16.xml"/><Relationship Id="rId26" Type="http://schemas.openxmlformats.org/officeDocument/2006/relationships/slide" Target="slides/slide17.xml"/><Relationship Id="rId27" Type="http://schemas.openxmlformats.org/officeDocument/2006/relationships/slide" Target="slides/slide18.xml"/><Relationship Id="rId28" Type="http://schemas.openxmlformats.org/officeDocument/2006/relationships/slide" Target="slides/slide19.xml"/><Relationship Id="rId29" Type="http://schemas.openxmlformats.org/officeDocument/2006/relationships/slide" Target="slides/slide20.xml"/><Relationship Id="rId30" Type="http://schemas.openxmlformats.org/officeDocument/2006/relationships/slide" Target="slides/slide21.xml"/><Relationship Id="rId31" Type="http://schemas.openxmlformats.org/officeDocument/2006/relationships/slide" Target="slides/slide22.xml"/><Relationship Id="rId32" Type="http://schemas.openxmlformats.org/officeDocument/2006/relationships/slide" Target="slides/slide23.xml"/><Relationship Id="rId33" Type="http://schemas.openxmlformats.org/officeDocument/2006/relationships/slide" Target="slides/slide24.xml"/><Relationship Id="rId34" Type="http://schemas.openxmlformats.org/officeDocument/2006/relationships/slide" Target="slides/slide25.xml"/><Relationship Id="rId35" Type="http://schemas.openxmlformats.org/officeDocument/2006/relationships/slide" Target="slides/slide26.xml"/><Relationship Id="rId36" Type="http://schemas.openxmlformats.org/officeDocument/2006/relationships/slide" Target="slides/slide27.xml"/><Relationship Id="rId37" Type="http://schemas.openxmlformats.org/officeDocument/2006/relationships/slide" Target="slides/slide28.xml"/><Relationship Id="rId38" Type="http://schemas.openxmlformats.org/officeDocument/2006/relationships/slide" Target="slides/slide29.xml"/><Relationship Id="rId39" Type="http://schemas.openxmlformats.org/officeDocument/2006/relationships/slide" Target="slides/slide30.xml"/><Relationship Id="rId40" Type="http://schemas.openxmlformats.org/officeDocument/2006/relationships/slide" Target="slides/slide31.xml"/><Relationship Id="rId41" Type="http://schemas.openxmlformats.org/officeDocument/2006/relationships/slide" Target="slides/slide32.xml"/><Relationship Id="rId42" Type="http://schemas.openxmlformats.org/officeDocument/2006/relationships/slide" Target="slides/slide33.xml"/><Relationship Id="rId43" Type="http://schemas.openxmlformats.org/officeDocument/2006/relationships/slide" Target="slides/slide34.xml"/><Relationship Id="rId44" Type="http://schemas.openxmlformats.org/officeDocument/2006/relationships/slide" Target="slides/slide35.xml"/><Relationship Id="rId45" Type="http://schemas.openxmlformats.org/officeDocument/2006/relationships/slide" Target="slides/slide36.xml"/><Relationship Id="rId46" Type="http://schemas.openxmlformats.org/officeDocument/2006/relationships/slide" Target="slides/slide37.xml"/><Relationship Id="rId47" Type="http://schemas.openxmlformats.org/officeDocument/2006/relationships/slide" Target="slides/slide38.xml"/><Relationship Id="rId48" Type="http://schemas.openxmlformats.org/officeDocument/2006/relationships/slide" Target="slides/slide39.xml"/><Relationship Id="rId49" Type="http://schemas.openxmlformats.org/officeDocument/2006/relationships/slide" Target="slides/slide40.xml"/><Relationship Id="rId50" Type="http://schemas.openxmlformats.org/officeDocument/2006/relationships/slide" Target="slides/slide41.xml"/><Relationship Id="rId51" Type="http://schemas.openxmlformats.org/officeDocument/2006/relationships/slide" Target="slides/slide42.xml"/><Relationship Id="rId52" Type="http://schemas.openxmlformats.org/officeDocument/2006/relationships/slide" Target="slides/slide43.xml"/><Relationship Id="rId53" Type="http://schemas.openxmlformats.org/officeDocument/2006/relationships/slide" Target="slides/slide44.xml"/><Relationship Id="rId54" Type="http://schemas.openxmlformats.org/officeDocument/2006/relationships/slide" Target="slides/slide45.xml"/><Relationship Id="rId55" Type="http://schemas.openxmlformats.org/officeDocument/2006/relationships/slide" Target="slides/slide46.xml"/><Relationship Id="rId56" Type="http://schemas.openxmlformats.org/officeDocument/2006/relationships/slide" Target="slides/slide47.xml"/><Relationship Id="rId57"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Abrir con la pregunta y esperar. Casi todos trabajan y tendrán el caso a la mano; pedir dos ejemplos concretos. Anotar las palabras que usen —«frágil», «acoplado», «monstruo»— porque son los síntomas que al final de la unidad van a saber nombrar con precisión. Idea que se instala desde el minuto uno: funcionalidad y arquitectura son dos preguntas distintas.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Leer en voz de capacidad, no de contenido. Aclarar qué es este documento: material de apoyo de la unidad completa, no el guion de la hora. En el encuentro se recorre una parte; el resto queda para estudiar. El taller del 30 % sale directo de aquí. Recorrido sugerido en vivo: la sección 1 completa, el intercambio y el ADR de la 3, la comparación de la 5 y los tres estilos de la 6.</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Criterio operativo, atribuido a Ralph Johnson. Contrastarlo con la definición formal de Bass, Clements y Kazman —el conjunto de estructuras necesarias para razonar sobre el sistema: elementos, relaciones y propiedades— y con ISO/IEC/IEEE 42010, que añade la idea de vistas: cada vista responde a las preocupaciones de un actor distinto. Provocar: «elegir React o Vue, ¿es arquitectura?» Casi siempre dicen que sí; llevarlos a que depende de cuánto código quede atado.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El error clásico en sustentaciones de posgrado: traer un diagrama de clases precioso y llamarlo arquitectura. Decirlo explícitamente porque se califica. Un diagrama de clases es la última columna. Si preguntan por C4: C1 y C2 son arquitectura, C4 es diseño.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Bisagra de toda la materia: los RNF deciden, no las modas. Pedirles un RNF de su propio trabajo dicho con número; al que lo diga sin número, devolvérselo. Tres minutos aquí ahorran media hora de correcciones después.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CONSULTA. Referencia para el Entregable D, donde cada elección del stack debe atarse a un RNF por su número. En vivo basta recorrer tres. Testabilidad es la que más se olvida y la que más delata una mala arquitectura: si para ejecutar una regla de negocio hay que levantar una base de datos, la separación falló.</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Respuesta correcta: Que revertirla más adelante resulte costoso o disruptivo. El costo de reversión, no el formato del documento ni el cargo de quien decide. EN VIVO. Votar a mano alzada antes de revelar. Si votan la del diagrama, repetir que el artefacto no define la categoría. Si votan la del arquitecto, entra bien la idea de que el equipo toma decisiones arquitectónicas muchas veces sin darse cuenta.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Cohesión = qué tan relacionadas están las cosas dentro del módulo, se busca alta. Acoplamiento = cuánto depende un módulo de los detalles internos de otro, se busca bajo. Regla práctica para reconocer una frontera mal puesta: si agregar una funcionalidad pequeña obliga a tocar cuatro módulos, la frontera está en el lugar equivocado. Los módulos siguen las razones de cambio, no las capas técnicas.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CONSULTA, mencionar al pasar. Cada porción del sistema atiende una preocupación. La versión que más rinde en arquitectura es política contra mecanismo. Conecta directo con la sección 6: los tres estilos modernos existen para sostener exactamente esta separación.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Comparar las dos pestañas lado a lado es el momento más útil de la sección. Preguntar qué pasa si mañana cambian de pasarela: con la primera se escribe un adaptador nuevo, con la segunda se reescribe el negocio.</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Dejar esta idea fija porque vuelve en la Unidad 3: en el proyecto se verifica que ninguna clase del paquete `domain` importe Spring ni JPA. La abstracción con fuga es la versión sutil de ese mismo problema.</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Respuesta correcta: Es una abstracción con fuga: expone el vocabulario del proveedor. Declarar una interfaz no basta; si su firma arrastra tipos del proveedor, el acoplamiento sigue ahí. EN VIVO si hay tiempo; si no, queda de repaso. La opción A es la que más se elige y por eso vale la pena lanzarla.</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Los cuatro casos están en el PDF institucional de la unidad y los van a citar en el taller. El trabajo aquí es vacunarlos contra el argumento de autoridad: «¿cuántos ingenieros tenía Netflix cuando migró?» Cientos. «¿Cuántos tiene el sistema de su empresa?» Copiar la decisión sin copiar el contexto es el error más caro de esta materia.</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No existe la decisión arquitectónica gratuita. Si alguien propone algo y solo enumera ventajas, no analizó: eligió. Ejercicio en vivo: agregar una fila entre todos. Esta tabla es el esqueleto del apartado «Decisiones clave» del Entregable C.</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El ADR convierte una opinión en un acuerdo verificable, y permite que dentro de dos años alguien entienda por qué el sistema es como es. Insistir: un ADR sin consecuencia negativa está incompleto, y es lo primero que se pregunta en la sustentación.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CONSULTA. Plantilla lista para copiar en el taller. Señalar en vivo la sección de alternativas: cada una con su razón de descarte, no una lista de opciones. Y las dos consecuencias negativas, que son las que demuestran que hubo análisis.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Respuesta correcta: Las alternativas descartadas y la razón del descarte. Sin alternativas evaluadas, lo documentado es la primera idea disponible. Es además lo que la rúbrica evalúa. EN VIVO. Enlazar con la práctica opcional de la unidad, que pide exactamente tres ADR y es la preparación directa del taller.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El material institucional los lista juntos —MVC y capas al lado de Singleton y Observer— y por eso conviene separarlos explícitamente. Confundirlos es uno de los errores más frecuentes al sustentar: Singleton no es una arquitectura, Capas no es un patrón de clase.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CONSULTA. En vivo basta detenerse en Capas y en cómo se degrada, porque es el que todos tienen. El material lo presenta como «el más popular»: aclarar que popular no significa adecuado para todo.</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CONSULTA. El Entregable C pide explícitamente dos de cada familia, aplicados a un punto concreto del sistema. No basta listarlos: hay que decir dónde se usarían —cálculo de tarifas, notificaciones, integraciones, reportes—. Referencia del material: Shvets, *Sumérgete en los patrones de diseño*.</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Agregar una modalidad nueva no obliga a tocar el código que la usa: ese es el punto. Conectar con ParkKbus, donde las tarifas cambian por sede, tipo de vehículo y franja horaria; sin Strategy eso termina en un `if` de cuarenta ramas.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CONSULTA. El hilo común de Strategy, Adapter y Observer: el núcleo del negocio nunca menciona a PostgreSQL, a la pasarela ni al proveedor de SMS. Esa es exactamente la idea que la sección 6 eleva a nivel de arquitectura, y conviene decirlo al pasar.</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Recorrer por la fila de latencia, que es la que más sorprende: de nanosegundos a milisegundos, y además la llamada puede no volver. Preguntar quién ha depurado un error que cruza cuatro servicios sin trazado distribuido. La fila del costo operativo es la que deciden mal los equipos pequeños.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CONSULTA. Sirve para el Entregable B, donde se pide la comparación en profundidad. Señalar que en el dibujo de la derecha cada flecha es una llamada que puede fallar, tardar o responder a medias; en el de la izquierda eso no existe.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Recomendación para el taller de ParkKbus: monolito modular primero, extracción selectiva después. Se extrae lo que cambia mucho —integraciones— o lo que consume mucho —reportería—; se deja junto lo que comparte transacción. Con dos desarrolladores y una ventana de dos horas de parada, es lo defendible.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Preguntar si alguien reconoce su propio sistema en la descripción; suele haber al menos uno y esa confesión vale más que veinte minutos de teoría. Señal de alarma concreta: si agregar una funcionalidad obliga a desplegar tres servicios, la frontera está mal trazada.</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Respuesta correcta: Monolito modular y extraer después lo que más lo justifique. Las restricciones son parte del problema; con dos desarrolladores el costo operativo de lo distribuido supera el beneficio. EN VIVO. Es la decisión central del taller del 30 %, así que conviene discutirla antes de escribirla. Si alguien defiende microservicios, preguntarle quién opera el clúster. Si alguien defiende no tocar nada, recordarle el RNF2 incumplido. Aceptar la híbrida bien argumentada: se califica el argumento, no la coincidencia.</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Respuesta correcta: Un monolito distribuido: costos de lo distribuido sin sus beneficios. Compartir base y despliegue elimina la independencia que justifica separar. CONSULTA o en vivo según el tiempo. Refuerza el slide anterior; si ya quedó claro, dejarla de repaso.</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Lo importante no es memorizar los tres, sino ver que atacan el mismo problema. Hexagonal y Onion no compiten: misma idea, distinta geometría, y ambas son reformulaciones de la *Clean Architecture* de Robert C. Martin. CQRS sí es independiente y se aplica encima de cualquiera.</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Regla de oro, y se verifica en el proyecto de la Unidad 3: ninguna clase de `domain` puede importar Spring ni JPA. Puerto de entrada = lo que la aplicación sabe hacer (`RegistrarIngreso`); puerto de salida = lo que necesita de terceros (`RepositorioDeTickets`). El ejemplo del material —reservas de vuelos con pagos y facturación como adaptadores— es exactamente esto.</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CONSULTA. Hacia adentro se gana abstracción; hacia afuera, detalle concreto. Las capas internas no conocen detalles de implementación de las externas. El material la relaciona con MVC: el modelo en el centro, controladores en medio, vistas afuera. En vivo basta decir que es Hexagonal con otra geometría.</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El malentendido más común es creer que CQRS exige dos motores. Adoptar la versión completa sin necesitarla multiplica la complejidad sin ganar nada. Conectar con ParkKbus: los reportes bloqueando la base operativa son un caso de libro para CQRS parcial, y es uno de los ADR que se piden.</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CONSULTA. Tabla de decisión para el Entregable C, que pide elegir y justificar al menos uno, con ventajas, desventajas y alcance real de adopción. La columna «evítalo» es la que casi nadie escribe y la que más sube la nota.</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Respuesta correcta: De los adaptadores hacia el núcleo de la aplicación. La regla de dependencia es innegociable: el núcleo declara puertos y los adaptadores los implementan. EN VIVO. Si se responde rápido, subir la apuesta: ¿dónde va entonces la anotación `@Entity` de JPA? Esa pregunta se retoma en la práctica de la Unidad 3 y es una trampa deliberada.</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Respuesta correcta: Puede aplicarse separando únicamente los modelos de lectura y escritura. Las dos bases y el Event Sourcing son variantes posibles, no requisitos. CONSULTA. Queda de repaso; refuerza el slide de CQRS.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El 1 y el 4 son el mismo error visto de dos formas. El 3 se corrige con el modelo C4, que el manual de la unidad enseña a construir en PlantUML sin instalar nada. El 5 es el que más penaliza la rúbrica.</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El 6 es el que más se repite: se propone una arquitectura preciosa que la organización no puede pagar ni operar. El 8 convierte una propuesta en un deseo: el Entregable F pide fases, qué se migra primero y cómo se valida.</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cierre. Reparto de la rúbrica para que prioricen: propuesta arquitectónica 25 %, modelado 20 %, diagnóstico 15 %, comparación 15 %, stack 15 %, migración y presupuesto 10 %.</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Ruta corta recomendada: hacer primero la práctica opcional —diagnóstico exprés y tres ADR, una página— porque alimenta directo los entregables A, B y C. Después el manual paso a paso, que construye los ocho diagramas C4 en PlantUML, que es donde más gente se atasca. Todo en la OVA de la unidad. Próximo encuentro: viernes 25 de septiembre, misma hora.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6C6517A-6E51-D8FF-5518-33DCF1BB8315}"/>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BA5F916A-7D6A-E8AF-439A-8D6840C6F01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O"/>
          </a:p>
        </p:txBody>
      </p:sp>
      <p:sp>
        <p:nvSpPr>
          <p:cNvPr id="4" name="Marcador de fecha 3">
            <a:extLst>
              <a:ext uri="{FF2B5EF4-FFF2-40B4-BE49-F238E27FC236}">
                <a16:creationId xmlns:a16="http://schemas.microsoft.com/office/drawing/2014/main" id="{C846680D-0A49-4B54-F51B-03AA27F6B2CE}"/>
              </a:ext>
            </a:extLst>
          </p:cNvPr>
          <p:cNvSpPr>
            <a:spLocks noGrp="1"/>
          </p:cNvSpPr>
          <p:nvPr>
            <p:ph type="dt" sz="half" idx="10"/>
          </p:nvPr>
        </p:nvSpPr>
        <p:spPr/>
        <p:txBody>
          <a:bodyPr/>
          <a:lstStyle/>
          <a:p>
            <a:fld id="{0720EEB8-BE6E-8941-AA31-476C523FF41C}" type="datetimeFigureOut">
              <a:rPr lang="es-CO" smtClean="0"/>
              <a:t>13/02/2026</a:t>
            </a:fld>
            <a:endParaRPr lang="es-CO"/>
          </a:p>
        </p:txBody>
      </p:sp>
      <p:sp>
        <p:nvSpPr>
          <p:cNvPr id="5" name="Marcador de pie de página 4">
            <a:extLst>
              <a:ext uri="{FF2B5EF4-FFF2-40B4-BE49-F238E27FC236}">
                <a16:creationId xmlns:a16="http://schemas.microsoft.com/office/drawing/2014/main" id="{5396F560-F0B8-AB29-82CA-A2DDE7D35682}"/>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B5D50BE2-EBBD-61B9-3E6C-B4C2BA988EBE}"/>
              </a:ext>
            </a:extLst>
          </p:cNvPr>
          <p:cNvSpPr>
            <a:spLocks noGrp="1"/>
          </p:cNvSpPr>
          <p:nvPr>
            <p:ph type="sldNum" sz="quarter" idx="12"/>
          </p:nvPr>
        </p:nvSpPr>
        <p:spPr/>
        <p:txBody>
          <a:bodyPr/>
          <a:lstStyle/>
          <a:p>
            <a:fld id="{4908E7FD-F6A8-D246-986A-AA7D283E6007}" type="slidenum">
              <a:rPr lang="es-CO" smtClean="0"/>
              <a:t>‹Nº›</a:t>
            </a:fld>
            <a:endParaRPr lang="es-CO"/>
          </a:p>
        </p:txBody>
      </p:sp>
    </p:spTree>
    <p:extLst>
      <p:ext uri="{BB962C8B-B14F-4D97-AF65-F5344CB8AC3E}">
        <p14:creationId xmlns:p14="http://schemas.microsoft.com/office/powerpoint/2010/main" val="41687660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28836D1-D4F9-8F5A-DCDD-25408D7D36DF}"/>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1551DC57-A21A-5278-EC55-4C245B3FC0B5}"/>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002E49EC-4920-0E2F-9C8B-0B674CB07209}"/>
              </a:ext>
            </a:extLst>
          </p:cNvPr>
          <p:cNvSpPr>
            <a:spLocks noGrp="1"/>
          </p:cNvSpPr>
          <p:nvPr>
            <p:ph type="dt" sz="half" idx="10"/>
          </p:nvPr>
        </p:nvSpPr>
        <p:spPr/>
        <p:txBody>
          <a:bodyPr/>
          <a:lstStyle/>
          <a:p>
            <a:fld id="{0720EEB8-BE6E-8941-AA31-476C523FF41C}" type="datetimeFigureOut">
              <a:rPr lang="es-CO" smtClean="0"/>
              <a:t>13/02/2026</a:t>
            </a:fld>
            <a:endParaRPr lang="es-CO"/>
          </a:p>
        </p:txBody>
      </p:sp>
      <p:sp>
        <p:nvSpPr>
          <p:cNvPr id="5" name="Marcador de pie de página 4">
            <a:extLst>
              <a:ext uri="{FF2B5EF4-FFF2-40B4-BE49-F238E27FC236}">
                <a16:creationId xmlns:a16="http://schemas.microsoft.com/office/drawing/2014/main" id="{8F31254A-3742-246E-D797-82A0482FE251}"/>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02D15C84-0D5E-FBD8-F4A6-A48214F7CB87}"/>
              </a:ext>
            </a:extLst>
          </p:cNvPr>
          <p:cNvSpPr>
            <a:spLocks noGrp="1"/>
          </p:cNvSpPr>
          <p:nvPr>
            <p:ph type="sldNum" sz="quarter" idx="12"/>
          </p:nvPr>
        </p:nvSpPr>
        <p:spPr/>
        <p:txBody>
          <a:bodyPr/>
          <a:lstStyle/>
          <a:p>
            <a:fld id="{4908E7FD-F6A8-D246-986A-AA7D283E6007}" type="slidenum">
              <a:rPr lang="es-CO" smtClean="0"/>
              <a:t>‹Nº›</a:t>
            </a:fld>
            <a:endParaRPr lang="es-CO"/>
          </a:p>
        </p:txBody>
      </p:sp>
    </p:spTree>
    <p:extLst>
      <p:ext uri="{BB962C8B-B14F-4D97-AF65-F5344CB8AC3E}">
        <p14:creationId xmlns:p14="http://schemas.microsoft.com/office/powerpoint/2010/main" val="15539809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75FBBEC-EF89-8C3C-71B9-577DC2668ABA}"/>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6B7EF770-ACB6-2BA3-E667-9EBABFB4AEB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9DAD28F8-48D0-258C-AD9D-D166F7F2D745}"/>
              </a:ext>
            </a:extLst>
          </p:cNvPr>
          <p:cNvSpPr>
            <a:spLocks noGrp="1"/>
          </p:cNvSpPr>
          <p:nvPr>
            <p:ph type="dt" sz="half" idx="10"/>
          </p:nvPr>
        </p:nvSpPr>
        <p:spPr/>
        <p:txBody>
          <a:bodyPr/>
          <a:lstStyle/>
          <a:p>
            <a:fld id="{0720EEB8-BE6E-8941-AA31-476C523FF41C}" type="datetimeFigureOut">
              <a:rPr lang="es-CO" smtClean="0"/>
              <a:t>13/02/2026</a:t>
            </a:fld>
            <a:endParaRPr lang="es-CO"/>
          </a:p>
        </p:txBody>
      </p:sp>
      <p:sp>
        <p:nvSpPr>
          <p:cNvPr id="5" name="Marcador de pie de página 4">
            <a:extLst>
              <a:ext uri="{FF2B5EF4-FFF2-40B4-BE49-F238E27FC236}">
                <a16:creationId xmlns:a16="http://schemas.microsoft.com/office/drawing/2014/main" id="{868163DA-7927-EC0F-B832-B0D9CEF24215}"/>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47D2D961-09A6-F702-5A58-9A2E9D96BDE2}"/>
              </a:ext>
            </a:extLst>
          </p:cNvPr>
          <p:cNvSpPr>
            <a:spLocks noGrp="1"/>
          </p:cNvSpPr>
          <p:nvPr>
            <p:ph type="sldNum" sz="quarter" idx="12"/>
          </p:nvPr>
        </p:nvSpPr>
        <p:spPr/>
        <p:txBody>
          <a:bodyPr/>
          <a:lstStyle/>
          <a:p>
            <a:fld id="{4908E7FD-F6A8-D246-986A-AA7D283E6007}" type="slidenum">
              <a:rPr lang="es-CO" smtClean="0"/>
              <a:t>‹Nº›</a:t>
            </a:fld>
            <a:endParaRPr lang="es-CO"/>
          </a:p>
        </p:txBody>
      </p:sp>
    </p:spTree>
    <p:extLst>
      <p:ext uri="{BB962C8B-B14F-4D97-AF65-F5344CB8AC3E}">
        <p14:creationId xmlns:p14="http://schemas.microsoft.com/office/powerpoint/2010/main" val="7144780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CEAE57A-7BC8-A4F0-8EC3-29FA071B4D37}"/>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66DB23D6-B010-B5CB-011A-B03D0B3E9DF7}"/>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a:extLst>
              <a:ext uri="{FF2B5EF4-FFF2-40B4-BE49-F238E27FC236}">
                <a16:creationId xmlns:a16="http://schemas.microsoft.com/office/drawing/2014/main" id="{180C2A42-464D-5E30-A614-F5201EA43188}"/>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a:extLst>
              <a:ext uri="{FF2B5EF4-FFF2-40B4-BE49-F238E27FC236}">
                <a16:creationId xmlns:a16="http://schemas.microsoft.com/office/drawing/2014/main" id="{6B7E369D-DA34-3508-5F83-FE255ACE6A7E}"/>
              </a:ext>
            </a:extLst>
          </p:cNvPr>
          <p:cNvSpPr>
            <a:spLocks noGrp="1"/>
          </p:cNvSpPr>
          <p:nvPr>
            <p:ph type="dt" sz="half" idx="10"/>
          </p:nvPr>
        </p:nvSpPr>
        <p:spPr/>
        <p:txBody>
          <a:bodyPr/>
          <a:lstStyle/>
          <a:p>
            <a:fld id="{0720EEB8-BE6E-8941-AA31-476C523FF41C}" type="datetimeFigureOut">
              <a:rPr lang="es-CO" smtClean="0"/>
              <a:t>13/02/2026</a:t>
            </a:fld>
            <a:endParaRPr lang="es-CO"/>
          </a:p>
        </p:txBody>
      </p:sp>
      <p:sp>
        <p:nvSpPr>
          <p:cNvPr id="6" name="Marcador de pie de página 5">
            <a:extLst>
              <a:ext uri="{FF2B5EF4-FFF2-40B4-BE49-F238E27FC236}">
                <a16:creationId xmlns:a16="http://schemas.microsoft.com/office/drawing/2014/main" id="{5FAF6228-C474-55C2-F2A3-A80C9ECB9BE4}"/>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CE2CA109-4F43-98C5-5BA6-85F5B496EC33}"/>
              </a:ext>
            </a:extLst>
          </p:cNvPr>
          <p:cNvSpPr>
            <a:spLocks noGrp="1"/>
          </p:cNvSpPr>
          <p:nvPr>
            <p:ph type="sldNum" sz="quarter" idx="12"/>
          </p:nvPr>
        </p:nvSpPr>
        <p:spPr/>
        <p:txBody>
          <a:bodyPr/>
          <a:lstStyle/>
          <a:p>
            <a:fld id="{4908E7FD-F6A8-D246-986A-AA7D283E6007}" type="slidenum">
              <a:rPr lang="es-CO" smtClean="0"/>
              <a:t>‹Nº›</a:t>
            </a:fld>
            <a:endParaRPr lang="es-CO"/>
          </a:p>
        </p:txBody>
      </p:sp>
    </p:spTree>
    <p:extLst>
      <p:ext uri="{BB962C8B-B14F-4D97-AF65-F5344CB8AC3E}">
        <p14:creationId xmlns:p14="http://schemas.microsoft.com/office/powerpoint/2010/main" val="2159088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23ADADB-6CDF-BDB1-1300-FAEA2D84BEEF}"/>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707B4924-BB64-D547-A28B-666362350C9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507D8AA5-BF4A-D02D-E702-0FBE685A5087}"/>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a:extLst>
              <a:ext uri="{FF2B5EF4-FFF2-40B4-BE49-F238E27FC236}">
                <a16:creationId xmlns:a16="http://schemas.microsoft.com/office/drawing/2014/main" id="{26BC7471-CDF8-0C0F-6D28-4001FC28380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533769A5-222B-5317-4503-6E9D363E28B6}"/>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a:extLst>
              <a:ext uri="{FF2B5EF4-FFF2-40B4-BE49-F238E27FC236}">
                <a16:creationId xmlns:a16="http://schemas.microsoft.com/office/drawing/2014/main" id="{A17FE0D7-3EEC-E3E6-7C86-CF7C18AB6C98}"/>
              </a:ext>
            </a:extLst>
          </p:cNvPr>
          <p:cNvSpPr>
            <a:spLocks noGrp="1"/>
          </p:cNvSpPr>
          <p:nvPr>
            <p:ph type="dt" sz="half" idx="10"/>
          </p:nvPr>
        </p:nvSpPr>
        <p:spPr/>
        <p:txBody>
          <a:bodyPr/>
          <a:lstStyle/>
          <a:p>
            <a:fld id="{0720EEB8-BE6E-8941-AA31-476C523FF41C}" type="datetimeFigureOut">
              <a:rPr lang="es-CO" smtClean="0"/>
              <a:t>13/02/2026</a:t>
            </a:fld>
            <a:endParaRPr lang="es-CO"/>
          </a:p>
        </p:txBody>
      </p:sp>
      <p:sp>
        <p:nvSpPr>
          <p:cNvPr id="8" name="Marcador de pie de página 7">
            <a:extLst>
              <a:ext uri="{FF2B5EF4-FFF2-40B4-BE49-F238E27FC236}">
                <a16:creationId xmlns:a16="http://schemas.microsoft.com/office/drawing/2014/main" id="{C8EFF3E5-4BD9-D039-6F0A-0A92B04A1CBC}"/>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8DF0DEE6-C861-6117-2772-892873D92EAD}"/>
              </a:ext>
            </a:extLst>
          </p:cNvPr>
          <p:cNvSpPr>
            <a:spLocks noGrp="1"/>
          </p:cNvSpPr>
          <p:nvPr>
            <p:ph type="sldNum" sz="quarter" idx="12"/>
          </p:nvPr>
        </p:nvSpPr>
        <p:spPr/>
        <p:txBody>
          <a:bodyPr/>
          <a:lstStyle/>
          <a:p>
            <a:fld id="{4908E7FD-F6A8-D246-986A-AA7D283E6007}" type="slidenum">
              <a:rPr lang="es-CO" smtClean="0"/>
              <a:t>‹Nº›</a:t>
            </a:fld>
            <a:endParaRPr lang="es-CO"/>
          </a:p>
        </p:txBody>
      </p:sp>
    </p:spTree>
    <p:extLst>
      <p:ext uri="{BB962C8B-B14F-4D97-AF65-F5344CB8AC3E}">
        <p14:creationId xmlns:p14="http://schemas.microsoft.com/office/powerpoint/2010/main" val="14483474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791AA1F-2C39-64AF-4C6F-BF1C44530D37}"/>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F0E135E8-59EC-9B87-4141-B4E0DEA152F1}"/>
              </a:ext>
            </a:extLst>
          </p:cNvPr>
          <p:cNvSpPr>
            <a:spLocks noGrp="1"/>
          </p:cNvSpPr>
          <p:nvPr>
            <p:ph type="dt" sz="half" idx="10"/>
          </p:nvPr>
        </p:nvSpPr>
        <p:spPr/>
        <p:txBody>
          <a:bodyPr/>
          <a:lstStyle/>
          <a:p>
            <a:fld id="{0720EEB8-BE6E-8941-AA31-476C523FF41C}" type="datetimeFigureOut">
              <a:rPr lang="es-CO" smtClean="0"/>
              <a:t>13/02/2026</a:t>
            </a:fld>
            <a:endParaRPr lang="es-CO"/>
          </a:p>
        </p:txBody>
      </p:sp>
      <p:sp>
        <p:nvSpPr>
          <p:cNvPr id="4" name="Marcador de pie de página 3">
            <a:extLst>
              <a:ext uri="{FF2B5EF4-FFF2-40B4-BE49-F238E27FC236}">
                <a16:creationId xmlns:a16="http://schemas.microsoft.com/office/drawing/2014/main" id="{22565AFD-1683-D460-140D-9F48CBCBAB0B}"/>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3E711735-1F41-F218-7243-AC89EA548BC9}"/>
              </a:ext>
            </a:extLst>
          </p:cNvPr>
          <p:cNvSpPr>
            <a:spLocks noGrp="1"/>
          </p:cNvSpPr>
          <p:nvPr>
            <p:ph type="sldNum" sz="quarter" idx="12"/>
          </p:nvPr>
        </p:nvSpPr>
        <p:spPr/>
        <p:txBody>
          <a:bodyPr/>
          <a:lstStyle/>
          <a:p>
            <a:fld id="{4908E7FD-F6A8-D246-986A-AA7D283E6007}" type="slidenum">
              <a:rPr lang="es-CO" smtClean="0"/>
              <a:t>‹Nº›</a:t>
            </a:fld>
            <a:endParaRPr lang="es-CO"/>
          </a:p>
        </p:txBody>
      </p:sp>
    </p:spTree>
    <p:extLst>
      <p:ext uri="{BB962C8B-B14F-4D97-AF65-F5344CB8AC3E}">
        <p14:creationId xmlns:p14="http://schemas.microsoft.com/office/powerpoint/2010/main" val="12611542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6188DA81-50FE-72AF-6F22-3D317B92F3BC}"/>
              </a:ext>
            </a:extLst>
          </p:cNvPr>
          <p:cNvSpPr>
            <a:spLocks noGrp="1"/>
          </p:cNvSpPr>
          <p:nvPr>
            <p:ph type="dt" sz="half" idx="10"/>
          </p:nvPr>
        </p:nvSpPr>
        <p:spPr/>
        <p:txBody>
          <a:bodyPr/>
          <a:lstStyle/>
          <a:p>
            <a:fld id="{0720EEB8-BE6E-8941-AA31-476C523FF41C}" type="datetimeFigureOut">
              <a:rPr lang="es-CO" smtClean="0"/>
              <a:t>13/02/2026</a:t>
            </a:fld>
            <a:endParaRPr lang="es-CO"/>
          </a:p>
        </p:txBody>
      </p:sp>
      <p:sp>
        <p:nvSpPr>
          <p:cNvPr id="3" name="Marcador de pie de página 2">
            <a:extLst>
              <a:ext uri="{FF2B5EF4-FFF2-40B4-BE49-F238E27FC236}">
                <a16:creationId xmlns:a16="http://schemas.microsoft.com/office/drawing/2014/main" id="{4DADFFC1-222F-FA4F-F745-4AECF65CE087}"/>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AFB47231-DA7E-E86D-0ECA-3CD935CB1700}"/>
              </a:ext>
            </a:extLst>
          </p:cNvPr>
          <p:cNvSpPr>
            <a:spLocks noGrp="1"/>
          </p:cNvSpPr>
          <p:nvPr>
            <p:ph type="sldNum" sz="quarter" idx="12"/>
          </p:nvPr>
        </p:nvSpPr>
        <p:spPr/>
        <p:txBody>
          <a:bodyPr/>
          <a:lstStyle/>
          <a:p>
            <a:fld id="{4908E7FD-F6A8-D246-986A-AA7D283E6007}" type="slidenum">
              <a:rPr lang="es-CO" smtClean="0"/>
              <a:t>‹Nº›</a:t>
            </a:fld>
            <a:endParaRPr lang="es-CO"/>
          </a:p>
        </p:txBody>
      </p:sp>
    </p:spTree>
    <p:extLst>
      <p:ext uri="{BB962C8B-B14F-4D97-AF65-F5344CB8AC3E}">
        <p14:creationId xmlns:p14="http://schemas.microsoft.com/office/powerpoint/2010/main" val="4691259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86A5293-4CAF-8D46-B44D-99EAF11FD55B}"/>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5AA782D5-A60C-369C-7F2E-20DC36F50E2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a:extLst>
              <a:ext uri="{FF2B5EF4-FFF2-40B4-BE49-F238E27FC236}">
                <a16:creationId xmlns:a16="http://schemas.microsoft.com/office/drawing/2014/main" id="{53C7E45F-8F4D-4A4A-AD2B-580AA0500F5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3E49A9D3-41A6-5F05-3785-C76553A3237C}"/>
              </a:ext>
            </a:extLst>
          </p:cNvPr>
          <p:cNvSpPr>
            <a:spLocks noGrp="1"/>
          </p:cNvSpPr>
          <p:nvPr>
            <p:ph type="dt" sz="half" idx="10"/>
          </p:nvPr>
        </p:nvSpPr>
        <p:spPr/>
        <p:txBody>
          <a:bodyPr/>
          <a:lstStyle/>
          <a:p>
            <a:fld id="{0720EEB8-BE6E-8941-AA31-476C523FF41C}" type="datetimeFigureOut">
              <a:rPr lang="es-CO" smtClean="0"/>
              <a:t>13/02/2026</a:t>
            </a:fld>
            <a:endParaRPr lang="es-CO"/>
          </a:p>
        </p:txBody>
      </p:sp>
      <p:sp>
        <p:nvSpPr>
          <p:cNvPr id="6" name="Marcador de pie de página 5">
            <a:extLst>
              <a:ext uri="{FF2B5EF4-FFF2-40B4-BE49-F238E27FC236}">
                <a16:creationId xmlns:a16="http://schemas.microsoft.com/office/drawing/2014/main" id="{F339118E-A5D9-04A8-223B-C952BE301095}"/>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0AFCCC82-59BC-CBA8-F9A5-1C4603AD8128}"/>
              </a:ext>
            </a:extLst>
          </p:cNvPr>
          <p:cNvSpPr>
            <a:spLocks noGrp="1"/>
          </p:cNvSpPr>
          <p:nvPr>
            <p:ph type="sldNum" sz="quarter" idx="12"/>
          </p:nvPr>
        </p:nvSpPr>
        <p:spPr/>
        <p:txBody>
          <a:bodyPr/>
          <a:lstStyle/>
          <a:p>
            <a:fld id="{4908E7FD-F6A8-D246-986A-AA7D283E6007}" type="slidenum">
              <a:rPr lang="es-CO" smtClean="0"/>
              <a:t>‹Nº›</a:t>
            </a:fld>
            <a:endParaRPr lang="es-CO"/>
          </a:p>
        </p:txBody>
      </p:sp>
    </p:spTree>
    <p:extLst>
      <p:ext uri="{BB962C8B-B14F-4D97-AF65-F5344CB8AC3E}">
        <p14:creationId xmlns:p14="http://schemas.microsoft.com/office/powerpoint/2010/main" val="33287719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40C677B-1ABC-81D6-857F-7E1F6785CB19}"/>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posición de imagen 2">
            <a:extLst>
              <a:ext uri="{FF2B5EF4-FFF2-40B4-BE49-F238E27FC236}">
                <a16:creationId xmlns:a16="http://schemas.microsoft.com/office/drawing/2014/main" id="{B8FFF9DA-1F76-6604-0F69-D17DFFA8AD8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a:extLst>
              <a:ext uri="{FF2B5EF4-FFF2-40B4-BE49-F238E27FC236}">
                <a16:creationId xmlns:a16="http://schemas.microsoft.com/office/drawing/2014/main" id="{94FD3A44-53F9-E2AD-4B37-3C2CD8A250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FEA3A846-4373-5BFE-DCED-CDECAACAAD8F}"/>
              </a:ext>
            </a:extLst>
          </p:cNvPr>
          <p:cNvSpPr>
            <a:spLocks noGrp="1"/>
          </p:cNvSpPr>
          <p:nvPr>
            <p:ph type="dt" sz="half" idx="10"/>
          </p:nvPr>
        </p:nvSpPr>
        <p:spPr/>
        <p:txBody>
          <a:bodyPr/>
          <a:lstStyle/>
          <a:p>
            <a:fld id="{0720EEB8-BE6E-8941-AA31-476C523FF41C}" type="datetimeFigureOut">
              <a:rPr lang="es-CO" smtClean="0"/>
              <a:t>13/02/2026</a:t>
            </a:fld>
            <a:endParaRPr lang="es-CO"/>
          </a:p>
        </p:txBody>
      </p:sp>
      <p:sp>
        <p:nvSpPr>
          <p:cNvPr id="6" name="Marcador de pie de página 5">
            <a:extLst>
              <a:ext uri="{FF2B5EF4-FFF2-40B4-BE49-F238E27FC236}">
                <a16:creationId xmlns:a16="http://schemas.microsoft.com/office/drawing/2014/main" id="{C0137096-4AD9-8D1E-B119-EDDF0F3EA803}"/>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A7ADAE5B-0E78-C71A-B918-853E86CE07AC}"/>
              </a:ext>
            </a:extLst>
          </p:cNvPr>
          <p:cNvSpPr>
            <a:spLocks noGrp="1"/>
          </p:cNvSpPr>
          <p:nvPr>
            <p:ph type="sldNum" sz="quarter" idx="12"/>
          </p:nvPr>
        </p:nvSpPr>
        <p:spPr/>
        <p:txBody>
          <a:bodyPr/>
          <a:lstStyle/>
          <a:p>
            <a:fld id="{4908E7FD-F6A8-D246-986A-AA7D283E6007}" type="slidenum">
              <a:rPr lang="es-CO" smtClean="0"/>
              <a:t>‹Nº›</a:t>
            </a:fld>
            <a:endParaRPr lang="es-CO"/>
          </a:p>
        </p:txBody>
      </p:sp>
    </p:spTree>
    <p:extLst>
      <p:ext uri="{BB962C8B-B14F-4D97-AF65-F5344CB8AC3E}">
        <p14:creationId xmlns:p14="http://schemas.microsoft.com/office/powerpoint/2010/main" val="34648443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9A2BA9E-020E-BCD8-9EA9-9BDFB1673E5A}"/>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9D2EE6B7-CD7D-EA57-7B4D-87C2F63C8D63}"/>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16BA0735-0CBD-5147-C06C-3B03006C1423}"/>
              </a:ext>
            </a:extLst>
          </p:cNvPr>
          <p:cNvSpPr>
            <a:spLocks noGrp="1"/>
          </p:cNvSpPr>
          <p:nvPr>
            <p:ph type="dt" sz="half" idx="10"/>
          </p:nvPr>
        </p:nvSpPr>
        <p:spPr/>
        <p:txBody>
          <a:bodyPr/>
          <a:lstStyle/>
          <a:p>
            <a:fld id="{0720EEB8-BE6E-8941-AA31-476C523FF41C}" type="datetimeFigureOut">
              <a:rPr lang="es-CO" smtClean="0"/>
              <a:t>13/02/2026</a:t>
            </a:fld>
            <a:endParaRPr lang="es-CO"/>
          </a:p>
        </p:txBody>
      </p:sp>
      <p:sp>
        <p:nvSpPr>
          <p:cNvPr id="5" name="Marcador de pie de página 4">
            <a:extLst>
              <a:ext uri="{FF2B5EF4-FFF2-40B4-BE49-F238E27FC236}">
                <a16:creationId xmlns:a16="http://schemas.microsoft.com/office/drawing/2014/main" id="{8CCAF2C5-C162-2021-6EDC-A716463031D0}"/>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26AD3F66-F4A3-A221-BA4A-2F327442751D}"/>
              </a:ext>
            </a:extLst>
          </p:cNvPr>
          <p:cNvSpPr>
            <a:spLocks noGrp="1"/>
          </p:cNvSpPr>
          <p:nvPr>
            <p:ph type="sldNum" sz="quarter" idx="12"/>
          </p:nvPr>
        </p:nvSpPr>
        <p:spPr/>
        <p:txBody>
          <a:bodyPr/>
          <a:lstStyle/>
          <a:p>
            <a:fld id="{4908E7FD-F6A8-D246-986A-AA7D283E6007}" type="slidenum">
              <a:rPr lang="es-CO" smtClean="0"/>
              <a:t>‹Nº›</a:t>
            </a:fld>
            <a:endParaRPr lang="es-CO"/>
          </a:p>
        </p:txBody>
      </p:sp>
    </p:spTree>
    <p:extLst>
      <p:ext uri="{BB962C8B-B14F-4D97-AF65-F5344CB8AC3E}">
        <p14:creationId xmlns:p14="http://schemas.microsoft.com/office/powerpoint/2010/main" val="31615940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E64F149B-9E13-3157-0B62-971D8EB526CD}"/>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BF87BBD2-5343-3A5D-564E-2D534BC7D0FB}"/>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3CB2F397-0E8A-92C8-93C4-9018446E3819}"/>
              </a:ext>
            </a:extLst>
          </p:cNvPr>
          <p:cNvSpPr>
            <a:spLocks noGrp="1"/>
          </p:cNvSpPr>
          <p:nvPr>
            <p:ph type="dt" sz="half" idx="10"/>
          </p:nvPr>
        </p:nvSpPr>
        <p:spPr/>
        <p:txBody>
          <a:bodyPr/>
          <a:lstStyle/>
          <a:p>
            <a:fld id="{0720EEB8-BE6E-8941-AA31-476C523FF41C}" type="datetimeFigureOut">
              <a:rPr lang="es-CO" smtClean="0"/>
              <a:t>13/02/2026</a:t>
            </a:fld>
            <a:endParaRPr lang="es-CO"/>
          </a:p>
        </p:txBody>
      </p:sp>
      <p:sp>
        <p:nvSpPr>
          <p:cNvPr id="5" name="Marcador de pie de página 4">
            <a:extLst>
              <a:ext uri="{FF2B5EF4-FFF2-40B4-BE49-F238E27FC236}">
                <a16:creationId xmlns:a16="http://schemas.microsoft.com/office/drawing/2014/main" id="{216F7EEE-EA06-5E8F-8174-D1B755A7BBEC}"/>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ED7410F1-59DC-8093-6A75-33AE1285CCFE}"/>
              </a:ext>
            </a:extLst>
          </p:cNvPr>
          <p:cNvSpPr>
            <a:spLocks noGrp="1"/>
          </p:cNvSpPr>
          <p:nvPr>
            <p:ph type="sldNum" sz="quarter" idx="12"/>
          </p:nvPr>
        </p:nvSpPr>
        <p:spPr/>
        <p:txBody>
          <a:bodyPr/>
          <a:lstStyle/>
          <a:p>
            <a:fld id="{4908E7FD-F6A8-D246-986A-AA7D283E6007}" type="slidenum">
              <a:rPr lang="es-CO" smtClean="0"/>
              <a:t>‹Nº›</a:t>
            </a:fld>
            <a:endParaRPr lang="es-CO"/>
          </a:p>
        </p:txBody>
      </p:sp>
    </p:spTree>
    <p:extLst>
      <p:ext uri="{BB962C8B-B14F-4D97-AF65-F5344CB8AC3E}">
        <p14:creationId xmlns:p14="http://schemas.microsoft.com/office/powerpoint/2010/main" val="370393169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31D6B204-4AEE-9E74-8DF2-926D69EDA93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8E631246-8F97-5699-6653-D3A77D76447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B73B2563-9278-5DCC-E5B5-CCE80A02803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720EEB8-BE6E-8941-AA31-476C523FF41C}" type="datetimeFigureOut">
              <a:rPr lang="es-CO" smtClean="0"/>
              <a:t>13/02/2026</a:t>
            </a:fld>
            <a:endParaRPr lang="es-CO"/>
          </a:p>
        </p:txBody>
      </p:sp>
      <p:sp>
        <p:nvSpPr>
          <p:cNvPr id="5" name="Marcador de pie de página 4">
            <a:extLst>
              <a:ext uri="{FF2B5EF4-FFF2-40B4-BE49-F238E27FC236}">
                <a16:creationId xmlns:a16="http://schemas.microsoft.com/office/drawing/2014/main" id="{74AD3EE7-759B-C8A2-7A15-CC1FFB8018B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CO"/>
          </a:p>
        </p:txBody>
      </p:sp>
      <p:sp>
        <p:nvSpPr>
          <p:cNvPr id="6" name="Marcador de número de diapositiva 5">
            <a:extLst>
              <a:ext uri="{FF2B5EF4-FFF2-40B4-BE49-F238E27FC236}">
                <a16:creationId xmlns:a16="http://schemas.microsoft.com/office/drawing/2014/main" id="{99BE85B8-1FF9-DDC6-E068-D7EEA7240D6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908E7FD-F6A8-D246-986A-AA7D283E6007}" type="slidenum">
              <a:rPr lang="es-CO" smtClean="0"/>
              <a:t>‹Nº›</a:t>
            </a:fld>
            <a:endParaRPr lang="es-CO"/>
          </a:p>
        </p:txBody>
      </p:sp>
    </p:spTree>
    <p:extLst>
      <p:ext uri="{BB962C8B-B14F-4D97-AF65-F5344CB8AC3E}">
        <p14:creationId xmlns:p14="http://schemas.microsoft.com/office/powerpoint/2010/main" val="1966904716"/>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8.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9.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E2841"/>
        </a:solidFill>
        <a:effectLst/>
      </p:bgPr>
    </p:bg>
    <p:spTree>
      <p:nvGrpSpPr>
        <p:cNvPr id="1" name=""/>
        <p:cNvGrpSpPr/>
        <p:nvPr/>
      </p:nvGrpSpPr>
      <p:grpSpPr/>
      <p:sp>
        <p:nvSpPr>
          <p:cNvPr id="2" name="Rectangle 1"/>
          <p:cNvSpPr/>
          <p:nvPr/>
        </p:nvSpPr>
        <p:spPr>
          <a:xfrm>
            <a:off x="0" y="0"/>
            <a:ext cx="45720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520440"/>
            <a:ext cx="11734800" cy="25146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Institucional-con-advertencia-Vigilado-Mineducacion-Blanco.png"/>
          <p:cNvPicPr>
            <a:picLocks noChangeAspect="1"/>
          </p:cNvPicPr>
          <p:nvPr/>
        </p:nvPicPr>
        <p:blipFill>
          <a:blip r:embed="rId2"/>
          <a:stretch>
            <a:fillRect/>
          </a:stretch>
        </p:blipFill>
        <p:spPr>
          <a:xfrm>
            <a:off x="4844395" y="548640"/>
            <a:ext cx="2503210" cy="2286000"/>
          </a:xfrm>
          <a:prstGeom prst="rect">
            <a:avLst/>
          </a:prstGeom>
        </p:spPr>
      </p:pic>
      <p:sp>
        <p:nvSpPr>
          <p:cNvPr id="5" name="Rectangle 4"/>
          <p:cNvSpPr/>
          <p:nvPr/>
        </p:nvSpPr>
        <p:spPr>
          <a:xfrm>
            <a:off x="457200" y="3429000"/>
            <a:ext cx="11734800" cy="762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3703320"/>
            <a:ext cx="10881360" cy="1280160"/>
          </a:xfrm>
          <a:prstGeom prst="rect">
            <a:avLst/>
          </a:prstGeom>
          <a:noFill/>
        </p:spPr>
        <p:txBody>
          <a:bodyPr wrap="square" anchor="t" lIns="0" rIns="0" tIns="0" bIns="0">
            <a:spAutoFit/>
          </a:bodyPr>
          <a:lstStyle/>
          <a:p>
            <a:pPr algn="ctr"/>
            <a:r>
              <a:rPr sz="3800" b="1">
                <a:solidFill>
                  <a:srgbClr val="FFFFFF"/>
                </a:solidFill>
                <a:latin typeface="Aptos Display"/>
              </a:rPr>
              <a:t>Fundamentos de arquitectura de software</a:t>
            </a:r>
          </a:p>
        </p:txBody>
      </p:sp>
      <p:sp>
        <p:nvSpPr>
          <p:cNvPr id="7" name="TextBox 6"/>
          <p:cNvSpPr txBox="1"/>
          <p:nvPr/>
        </p:nvSpPr>
        <p:spPr>
          <a:xfrm>
            <a:off x="640080" y="5029200"/>
            <a:ext cx="10881360" cy="457200"/>
          </a:xfrm>
          <a:prstGeom prst="rect">
            <a:avLst/>
          </a:prstGeom>
          <a:noFill/>
        </p:spPr>
        <p:txBody>
          <a:bodyPr wrap="square" anchor="t" lIns="0" rIns="0" tIns="0" bIns="0">
            <a:spAutoFit/>
          </a:bodyPr>
          <a:lstStyle/>
          <a:p>
            <a:pPr algn="ctr"/>
            <a:r>
              <a:rPr sz="1500" b="0">
                <a:solidFill>
                  <a:srgbClr val="E8E8E8"/>
                </a:solidFill>
                <a:latin typeface="Aptos"/>
              </a:rPr>
              <a:t>Arquitectura y Diseño de Software  ·  Jesús Ariel González Bonilla  ·  2026-B  ·  Corte 1  ·  Unidad 1</a:t>
            </a:r>
          </a:p>
        </p:txBody>
      </p:sp>
      <p:sp>
        <p:nvSpPr>
          <p:cNvPr id="8" name="TextBox 7"/>
          <p:cNvSpPr txBox="1"/>
          <p:nvPr/>
        </p:nvSpPr>
        <p:spPr>
          <a:xfrm>
            <a:off x="1371600" y="5532120"/>
            <a:ext cx="9418320" cy="457200"/>
          </a:xfrm>
          <a:prstGeom prst="rect">
            <a:avLst/>
          </a:prstGeom>
          <a:noFill/>
        </p:spPr>
        <p:txBody>
          <a:bodyPr wrap="square" anchor="t" lIns="0" rIns="0" tIns="0" bIns="0">
            <a:spAutoFit/>
          </a:bodyPr>
          <a:lstStyle/>
          <a:p>
            <a:pPr algn="ctr"/>
            <a:r>
              <a:rPr sz="1300" b="0">
                <a:solidFill>
                  <a:srgbClr val="E8E8E8"/>
                </a:solidFill>
                <a:latin typeface="Aptos"/>
              </a:rPr>
              <a:t>Patrones y estilos arquitectónicos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1 · FUNDAMENTOS · ESP. INGENIERÍA DE SOFTWARE</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2500" b="1">
                <a:solidFill>
                  <a:srgbClr val="0E2841"/>
                </a:solidFill>
                <a:latin typeface="Aptos Display"/>
              </a:rPr>
              <a:t>Un sistema puede funcionar perfectamente y estar mal construido</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572768"/>
            <a:ext cx="11064240" cy="2128723"/>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27632"/>
            <a:ext cx="63500" cy="2018995"/>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572768"/>
            <a:ext cx="10378440" cy="2128723"/>
          </a:xfrm>
          <a:prstGeom prst="rect">
            <a:avLst/>
          </a:prstGeom>
          <a:noFill/>
        </p:spPr>
        <p:txBody>
          <a:bodyPr wrap="square" anchor="ctr" lIns="0" rIns="0" tIns="0" bIns="0">
            <a:spAutoFit/>
          </a:bodyPr>
          <a:lstStyle/>
          <a:p>
            <a:pPr algn="l">
              <a:lnSpc>
                <a:spcPct val="125000"/>
              </a:lnSpc>
            </a:pPr>
            <a:r>
              <a:rPr sz="2903" b="1">
                <a:solidFill>
                  <a:srgbClr val="0E2841"/>
                </a:solidFill>
                <a:latin typeface="Aptos Display"/>
              </a:rPr>
              <a:t>¿Cuántos sistemas conocen que funcionan… y que nadie se atreve a tocar?</a:t>
            </a:r>
          </a:p>
        </p:txBody>
      </p:sp>
      <p:sp>
        <p:nvSpPr>
          <p:cNvPr id="10" name="Oval 9"/>
          <p:cNvSpPr/>
          <p:nvPr/>
        </p:nvSpPr>
        <p:spPr>
          <a:xfrm>
            <a:off x="585216" y="4256531"/>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9536" y="3902659"/>
            <a:ext cx="10698480" cy="808329"/>
          </a:xfrm>
          <a:prstGeom prst="rect">
            <a:avLst/>
          </a:prstGeom>
          <a:noFill/>
        </p:spPr>
        <p:txBody>
          <a:bodyPr wrap="square" anchor="ctr" lIns="0" rIns="0" tIns="0" bIns="0">
            <a:spAutoFit/>
          </a:bodyPr>
          <a:lstStyle/>
          <a:p>
            <a:pPr algn="l"/>
            <a:r>
              <a:rPr sz="2771" b="1">
                <a:solidFill>
                  <a:srgbClr val="0E2841"/>
                </a:solidFill>
                <a:latin typeface="Aptos"/>
              </a:rPr>
              <a:t>Cumple todos los requisitos funcionales</a:t>
            </a:r>
          </a:p>
        </p:txBody>
      </p:sp>
      <p:sp>
        <p:nvSpPr>
          <p:cNvPr id="12" name="Oval 11"/>
          <p:cNvSpPr/>
          <p:nvPr/>
        </p:nvSpPr>
        <p:spPr>
          <a:xfrm>
            <a:off x="585216" y="5064860"/>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 y="4710988"/>
            <a:ext cx="10698480" cy="808329"/>
          </a:xfrm>
          <a:prstGeom prst="rect">
            <a:avLst/>
          </a:prstGeom>
          <a:noFill/>
        </p:spPr>
        <p:txBody>
          <a:bodyPr wrap="square" anchor="ctr" lIns="0" rIns="0" tIns="0" bIns="0">
            <a:spAutoFit/>
          </a:bodyPr>
          <a:lstStyle/>
          <a:p>
            <a:pPr algn="l"/>
            <a:r>
              <a:rPr sz="2771" b="1">
                <a:solidFill>
                  <a:srgbClr val="0E2841"/>
                </a:solidFill>
                <a:latin typeface="Aptos"/>
              </a:rPr>
              <a:t>Nadie quiere desplegar un viernes</a:t>
            </a:r>
          </a:p>
        </p:txBody>
      </p:sp>
      <p:sp>
        <p:nvSpPr>
          <p:cNvPr id="14" name="Oval 13"/>
          <p:cNvSpPr/>
          <p:nvPr/>
        </p:nvSpPr>
        <p:spPr>
          <a:xfrm>
            <a:off x="585216" y="5873190"/>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9536" y="5519318"/>
            <a:ext cx="10698480" cy="808329"/>
          </a:xfrm>
          <a:prstGeom prst="rect">
            <a:avLst/>
          </a:prstGeom>
          <a:noFill/>
        </p:spPr>
        <p:txBody>
          <a:bodyPr wrap="square" anchor="ctr" lIns="0" rIns="0" tIns="0" bIns="0">
            <a:spAutoFit/>
          </a:bodyPr>
          <a:lstStyle/>
          <a:p>
            <a:pPr algn="l"/>
            <a:r>
              <a:rPr sz="2771" b="1">
                <a:solidFill>
                  <a:srgbClr val="0E2841"/>
                </a:solidFill>
                <a:latin typeface="Aptos"/>
              </a:rPr>
              <a:t>Un cambio pequeño toma tres semanas</a:t>
            </a:r>
          </a:p>
        </p:txBody>
      </p:sp>
      <p:sp>
        <p:nvSpPr>
          <p:cNvPr id="16" name="TextBox 15"/>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Arquitectura y Diseño de Software  ·  Unidad 1</a:t>
            </a:r>
          </a:p>
        </p:txBody>
      </p:sp>
      <p:sp>
        <p:nvSpPr>
          <p:cNvPr id="17" name="TextBox 16"/>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1 / 39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1 · FUNDAMENTOS · ESP. INGENIERÍA DE SOFTWARE</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Lo que vas a poder hacer al terminar la unidad</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Oval 6"/>
          <p:cNvSpPr/>
          <p:nvPr/>
        </p:nvSpPr>
        <p:spPr>
          <a:xfrm>
            <a:off x="585216" y="2116835"/>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9536" y="1810511"/>
            <a:ext cx="10698480" cy="713232"/>
          </a:xfrm>
          <a:prstGeom prst="rect">
            <a:avLst/>
          </a:prstGeom>
          <a:noFill/>
        </p:spPr>
        <p:txBody>
          <a:bodyPr wrap="square" anchor="ctr" lIns="0" rIns="0" tIns="0" bIns="0">
            <a:spAutoFit/>
          </a:bodyPr>
          <a:lstStyle/>
          <a:p>
            <a:pPr algn="l"/>
            <a:r>
              <a:rPr sz="2520" b="1">
                <a:solidFill>
                  <a:srgbClr val="0E2841"/>
                </a:solidFill>
                <a:latin typeface="Aptos"/>
              </a:rPr>
              <a:t>Distinguir arquitectura de diseño detallado</a:t>
            </a:r>
          </a:p>
        </p:txBody>
      </p:sp>
      <p:sp>
        <p:nvSpPr>
          <p:cNvPr id="9" name="Oval 8"/>
          <p:cNvSpPr/>
          <p:nvPr/>
        </p:nvSpPr>
        <p:spPr>
          <a:xfrm>
            <a:off x="585216" y="2830068"/>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2523744"/>
            <a:ext cx="10698480" cy="713232"/>
          </a:xfrm>
          <a:prstGeom prst="rect">
            <a:avLst/>
          </a:prstGeom>
          <a:noFill/>
        </p:spPr>
        <p:txBody>
          <a:bodyPr wrap="square" anchor="ctr" lIns="0" rIns="0" tIns="0" bIns="0">
            <a:spAutoFit/>
          </a:bodyPr>
          <a:lstStyle/>
          <a:p>
            <a:pPr algn="l"/>
            <a:r>
              <a:rPr sz="2520" b="1">
                <a:solidFill>
                  <a:srgbClr val="0E2841"/>
                </a:solidFill>
                <a:latin typeface="Aptos"/>
              </a:rPr>
              <a:t>Justificar decisiones con atributos de calidad</a:t>
            </a:r>
          </a:p>
        </p:txBody>
      </p:sp>
      <p:sp>
        <p:nvSpPr>
          <p:cNvPr id="11" name="Oval 10"/>
          <p:cNvSpPr/>
          <p:nvPr/>
        </p:nvSpPr>
        <p:spPr>
          <a:xfrm>
            <a:off x="585216" y="3543300"/>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9536" y="3236976"/>
            <a:ext cx="10698480" cy="713232"/>
          </a:xfrm>
          <a:prstGeom prst="rect">
            <a:avLst/>
          </a:prstGeom>
          <a:noFill/>
        </p:spPr>
        <p:txBody>
          <a:bodyPr wrap="square" anchor="ctr" lIns="0" rIns="0" tIns="0" bIns="0">
            <a:spAutoFit/>
          </a:bodyPr>
          <a:lstStyle/>
          <a:p>
            <a:pPr algn="l"/>
            <a:r>
              <a:rPr sz="2520" b="1">
                <a:solidFill>
                  <a:srgbClr val="0E2841"/>
                </a:solidFill>
                <a:latin typeface="Aptos"/>
              </a:rPr>
              <a:t>Aplicar modularidad, separación y abstracción</a:t>
            </a:r>
          </a:p>
        </p:txBody>
      </p:sp>
      <p:sp>
        <p:nvSpPr>
          <p:cNvPr id="13" name="Oval 12"/>
          <p:cNvSpPr/>
          <p:nvPr/>
        </p:nvSpPr>
        <p:spPr>
          <a:xfrm>
            <a:off x="585216" y="4256532"/>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9536" y="3950208"/>
            <a:ext cx="10698480" cy="713232"/>
          </a:xfrm>
          <a:prstGeom prst="rect">
            <a:avLst/>
          </a:prstGeom>
          <a:noFill/>
        </p:spPr>
        <p:txBody>
          <a:bodyPr wrap="square" anchor="ctr" lIns="0" rIns="0" tIns="0" bIns="0">
            <a:spAutoFit/>
          </a:bodyPr>
          <a:lstStyle/>
          <a:p>
            <a:pPr algn="l"/>
            <a:r>
              <a:rPr sz="2520" b="1">
                <a:solidFill>
                  <a:srgbClr val="0E2841"/>
                </a:solidFill>
                <a:latin typeface="Aptos"/>
              </a:rPr>
              <a:t>Separar patrón arquitectónico de patrón GoF</a:t>
            </a:r>
          </a:p>
        </p:txBody>
      </p:sp>
      <p:sp>
        <p:nvSpPr>
          <p:cNvPr id="15" name="Oval 14"/>
          <p:cNvSpPr/>
          <p:nvPr/>
        </p:nvSpPr>
        <p:spPr>
          <a:xfrm>
            <a:off x="585216" y="4969764"/>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9536" y="4663440"/>
            <a:ext cx="10698480" cy="713232"/>
          </a:xfrm>
          <a:prstGeom prst="rect">
            <a:avLst/>
          </a:prstGeom>
          <a:noFill/>
        </p:spPr>
        <p:txBody>
          <a:bodyPr wrap="square" anchor="ctr" lIns="0" rIns="0" tIns="0" bIns="0">
            <a:spAutoFit/>
          </a:bodyPr>
          <a:lstStyle/>
          <a:p>
            <a:pPr algn="l"/>
            <a:r>
              <a:rPr sz="2520" b="1">
                <a:solidFill>
                  <a:srgbClr val="0E2841"/>
                </a:solidFill>
                <a:latin typeface="Aptos"/>
              </a:rPr>
              <a:t>Elegir entre monolito y distribuido con criterio</a:t>
            </a:r>
          </a:p>
        </p:txBody>
      </p:sp>
      <p:sp>
        <p:nvSpPr>
          <p:cNvPr id="17" name="Oval 16"/>
          <p:cNvSpPr/>
          <p:nvPr/>
        </p:nvSpPr>
        <p:spPr>
          <a:xfrm>
            <a:off x="585216" y="5682996"/>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9536" y="5376672"/>
            <a:ext cx="10698480" cy="713232"/>
          </a:xfrm>
          <a:prstGeom prst="rect">
            <a:avLst/>
          </a:prstGeom>
          <a:noFill/>
        </p:spPr>
        <p:txBody>
          <a:bodyPr wrap="square" anchor="ctr" lIns="0" rIns="0" tIns="0" bIns="0">
            <a:spAutoFit/>
          </a:bodyPr>
          <a:lstStyle/>
          <a:p>
            <a:pPr algn="l"/>
            <a:r>
              <a:rPr sz="2520" b="1">
                <a:solidFill>
                  <a:srgbClr val="0E2841"/>
                </a:solidFill>
                <a:latin typeface="Aptos"/>
              </a:rPr>
              <a:t>Explicar Hexagonal, Onion y CQRS, y escribir un ADR</a:t>
            </a:r>
          </a:p>
        </p:txBody>
      </p:sp>
      <p:sp>
        <p:nvSpPr>
          <p:cNvPr id="19" name="TextBox 18"/>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Arquitectura y Diseño de Software  ·  Unidad 1</a:t>
            </a:r>
          </a:p>
        </p:txBody>
      </p:sp>
      <p:sp>
        <p:nvSpPr>
          <p:cNvPr id="20" name="TextBox 19"/>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2 / 39</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56082"/>
        </a:solidFill>
        <a:effectLst/>
      </p:bgPr>
    </p:bg>
    <p:spTree>
      <p:nvGrpSpPr>
        <p:cNvPr id="1" name=""/>
        <p:cNvGrpSpPr/>
        <p:nvPr/>
      </p:nvGrpSpPr>
      <p:grpSpPr/>
      <p:sp>
        <p:nvSpPr>
          <p:cNvPr id="2" name="TextBox 1"/>
          <p:cNvSpPr txBox="1"/>
          <p:nvPr/>
        </p:nvSpPr>
        <p:spPr>
          <a:xfrm>
            <a:off x="0" y="960120"/>
            <a:ext cx="12191695" cy="2011680"/>
          </a:xfrm>
          <a:prstGeom prst="rect">
            <a:avLst/>
          </a:prstGeom>
          <a:noFill/>
        </p:spPr>
        <p:txBody>
          <a:bodyPr wrap="square" anchor="t" lIns="0" rIns="0" tIns="0" bIns="0">
            <a:spAutoFit/>
          </a:bodyPr>
          <a:lstStyle/>
          <a:p>
            <a:pPr algn="ctr"/>
            <a:r>
              <a:rPr sz="12800" b="1">
                <a:solidFill>
                  <a:srgbClr val="0E2841"/>
                </a:solidFill>
                <a:latin typeface="Aptos Display"/>
              </a:rPr>
              <a:t>01</a:t>
            </a:r>
          </a:p>
        </p:txBody>
      </p:sp>
      <p:sp>
        <p:nvSpPr>
          <p:cNvPr id="3" name="Rectangle 2"/>
          <p:cNvSpPr/>
          <p:nvPr/>
        </p:nvSpPr>
        <p:spPr>
          <a:xfrm>
            <a:off x="5184648" y="3127248"/>
            <a:ext cx="1828800" cy="635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429000"/>
            <a:ext cx="10698480" cy="1097280"/>
          </a:xfrm>
          <a:prstGeom prst="rect">
            <a:avLst/>
          </a:prstGeom>
          <a:noFill/>
        </p:spPr>
        <p:txBody>
          <a:bodyPr wrap="square" anchor="t" lIns="0" rIns="0" tIns="0" bIns="0">
            <a:spAutoFit/>
          </a:bodyPr>
          <a:lstStyle/>
          <a:p>
            <a:pPr algn="ctr"/>
            <a:r>
              <a:rPr sz="4000" b="1">
                <a:solidFill>
                  <a:srgbClr val="FFFFFF"/>
                </a:solidFill>
                <a:latin typeface="Aptos Display"/>
              </a:rPr>
              <a:t>1. Qué es, y qué no es, la arquitectura</a:t>
            </a:r>
          </a:p>
        </p:txBody>
      </p:sp>
      <p:pic>
        <p:nvPicPr>
          <p:cNvPr id="5" name="Picture 4" descr="Logo-Institucional-con-advertencia-Vigilado-Mineducacion-Blanco.png"/>
          <p:cNvPicPr>
            <a:picLocks noChangeAspect="1"/>
          </p:cNvPicPr>
          <p:nvPr/>
        </p:nvPicPr>
        <p:blipFill>
          <a:blip r:embed="rId2"/>
          <a:stretch>
            <a:fillRect/>
          </a:stretch>
        </p:blipFill>
        <p:spPr>
          <a:xfrm>
            <a:off x="10938117" y="5943600"/>
            <a:ext cx="750963" cy="6858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1 · FUNDAMENTOS · ESP. INGENIERÍA DE SOFTWARE</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La arquitectura es lo que cuesta caro cambiar</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572768"/>
            <a:ext cx="11064240" cy="2128723"/>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27632"/>
            <a:ext cx="63500" cy="2018995"/>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572768"/>
            <a:ext cx="10378440" cy="2128723"/>
          </a:xfrm>
          <a:prstGeom prst="rect">
            <a:avLst/>
          </a:prstGeom>
          <a:noFill/>
        </p:spPr>
        <p:txBody>
          <a:bodyPr wrap="square" anchor="ctr" lIns="0" rIns="0" tIns="0" bIns="0">
            <a:spAutoFit/>
          </a:bodyPr>
          <a:lstStyle/>
          <a:p>
            <a:pPr algn="l">
              <a:lnSpc>
                <a:spcPct val="125000"/>
              </a:lnSpc>
            </a:pPr>
            <a:r>
              <a:rPr sz="2735" b="1">
                <a:solidFill>
                  <a:srgbClr val="0E2841"/>
                </a:solidFill>
                <a:latin typeface="Aptos Display"/>
              </a:rPr>
              <a:t>Si una decisión se revierte en una tarde, es diseño. Si revertirla cuesta tres meses y una migración de datos, es arquitectura.</a:t>
            </a:r>
          </a:p>
        </p:txBody>
      </p:sp>
      <p:sp>
        <p:nvSpPr>
          <p:cNvPr id="10" name="Oval 9"/>
          <p:cNvSpPr/>
          <p:nvPr/>
        </p:nvSpPr>
        <p:spPr>
          <a:xfrm>
            <a:off x="585216" y="4256531"/>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9536" y="3902659"/>
            <a:ext cx="10698480" cy="808329"/>
          </a:xfrm>
          <a:prstGeom prst="rect">
            <a:avLst/>
          </a:prstGeom>
          <a:noFill/>
        </p:spPr>
        <p:txBody>
          <a:bodyPr wrap="square" anchor="ctr" lIns="0" rIns="0" tIns="0" bIns="0">
            <a:spAutoFit/>
          </a:bodyPr>
          <a:lstStyle/>
          <a:p>
            <a:pPr algn="l"/>
            <a:r>
              <a:rPr sz="2610" b="1">
                <a:solidFill>
                  <a:srgbClr val="0E2841"/>
                </a:solidFill>
                <a:latin typeface="Aptos"/>
              </a:rPr>
              <a:t>No la define el diagrama</a:t>
            </a:r>
          </a:p>
        </p:txBody>
      </p:sp>
      <p:sp>
        <p:nvSpPr>
          <p:cNvPr id="12" name="Oval 11"/>
          <p:cNvSpPr/>
          <p:nvPr/>
        </p:nvSpPr>
        <p:spPr>
          <a:xfrm>
            <a:off x="585216" y="5064860"/>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 y="4710988"/>
            <a:ext cx="10698480" cy="808329"/>
          </a:xfrm>
          <a:prstGeom prst="rect">
            <a:avLst/>
          </a:prstGeom>
          <a:noFill/>
        </p:spPr>
        <p:txBody>
          <a:bodyPr wrap="square" anchor="ctr" lIns="0" rIns="0" tIns="0" bIns="0">
            <a:spAutoFit/>
          </a:bodyPr>
          <a:lstStyle/>
          <a:p>
            <a:pPr algn="l"/>
            <a:r>
              <a:rPr sz="2610" b="1">
                <a:solidFill>
                  <a:srgbClr val="0E2841"/>
                </a:solidFill>
                <a:latin typeface="Aptos"/>
              </a:rPr>
              <a:t>No la define el cargo de quien decide</a:t>
            </a:r>
          </a:p>
        </p:txBody>
      </p:sp>
      <p:sp>
        <p:nvSpPr>
          <p:cNvPr id="14" name="Oval 13"/>
          <p:cNvSpPr/>
          <p:nvPr/>
        </p:nvSpPr>
        <p:spPr>
          <a:xfrm>
            <a:off x="585216" y="5873190"/>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9536" y="5519318"/>
            <a:ext cx="10698480" cy="808329"/>
          </a:xfrm>
          <a:prstGeom prst="rect">
            <a:avLst/>
          </a:prstGeom>
          <a:noFill/>
        </p:spPr>
        <p:txBody>
          <a:bodyPr wrap="square" anchor="ctr" lIns="0" rIns="0" tIns="0" bIns="0">
            <a:spAutoFit/>
          </a:bodyPr>
          <a:lstStyle/>
          <a:p>
            <a:pPr algn="l"/>
            <a:r>
              <a:rPr sz="2610" b="1">
                <a:solidFill>
                  <a:srgbClr val="0E2841"/>
                </a:solidFill>
                <a:latin typeface="Aptos"/>
              </a:rPr>
              <a:t>La define el costo de deshacerla</a:t>
            </a:r>
          </a:p>
        </p:txBody>
      </p:sp>
      <p:sp>
        <p:nvSpPr>
          <p:cNvPr id="16" name="TextBox 15"/>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Arquitectura y Diseño de Software  ·  Unidad 1</a:t>
            </a:r>
          </a:p>
        </p:txBody>
      </p:sp>
      <p:sp>
        <p:nvSpPr>
          <p:cNvPr id="17" name="TextBox 16"/>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3 / 39</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1 · FUNDAMENTOS · ESP. INGENIERÍA DE SOFTWARE</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Arquitectura y diseño no son dos nombres para lo mismo</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graphicFrame>
        <p:nvGraphicFramePr>
          <p:cNvPr id="7" name="Table 6"/>
          <p:cNvGraphicFramePr>
            <a:graphicFrameLocks noGrp="1"/>
          </p:cNvGraphicFramePr>
          <p:nvPr/>
        </p:nvGraphicFramePr>
        <p:xfrm>
          <a:off x="566928" y="1762963"/>
          <a:ext cx="11064240" cy="4374486"/>
        </p:xfrm>
        <a:graphic>
          <a:graphicData uri="http://schemas.openxmlformats.org/drawingml/2006/table">
            <a:tbl>
              <a:tblPr firstRow="1">
                <a:tableStyleId>{5C22544A-7EE6-4342-B048-85BDC9FD1C3A}</a:tableStyleId>
              </a:tblPr>
              <a:tblGrid>
                <a:gridCol w="3688080"/>
                <a:gridCol w="3688080"/>
                <a:gridCol w="3688080"/>
              </a:tblGrid>
              <a:tr h="729081">
                <a:tc>
                  <a:txBody>
                    <a:bodyPr wrap="square"/>
                    <a:lstStyle/>
                    <a:p>
                      <a:r>
                        <a:rPr sz="1725" b="1">
                          <a:solidFill>
                            <a:srgbClr val="FFFFFF"/>
                          </a:solidFill>
                          <a:latin typeface="Aptos"/>
                        </a:rPr>
                        <a:t>Criterio</a:t>
                      </a:r>
                    </a:p>
                  </a:txBody>
                  <a:tcPr anchor="ctr" marL="146304" marR="146304">
                    <a:solidFill>
                      <a:srgbClr val="156082"/>
                    </a:solidFill>
                  </a:tcPr>
                </a:tc>
                <a:tc>
                  <a:txBody>
                    <a:bodyPr wrap="square"/>
                    <a:lstStyle/>
                    <a:p>
                      <a:r>
                        <a:rPr sz="1725" b="1">
                          <a:solidFill>
                            <a:srgbClr val="FFFFFF"/>
                          </a:solidFill>
                          <a:latin typeface="Aptos"/>
                        </a:rPr>
                        <a:t>Arquitectura</a:t>
                      </a:r>
                    </a:p>
                  </a:txBody>
                  <a:tcPr anchor="ctr" marL="146304" marR="146304">
                    <a:solidFill>
                      <a:srgbClr val="156082"/>
                    </a:solidFill>
                  </a:tcPr>
                </a:tc>
                <a:tc>
                  <a:txBody>
                    <a:bodyPr wrap="square"/>
                    <a:lstStyle/>
                    <a:p>
                      <a:r>
                        <a:rPr sz="1725" b="1">
                          <a:solidFill>
                            <a:srgbClr val="FFFFFF"/>
                          </a:solidFill>
                          <a:latin typeface="Aptos"/>
                        </a:rPr>
                        <a:t>Diseño detallado</a:t>
                      </a:r>
                    </a:p>
                  </a:txBody>
                  <a:tcPr anchor="ctr" marL="146304" marR="146304">
                    <a:solidFill>
                      <a:srgbClr val="156082"/>
                    </a:solidFill>
                  </a:tcPr>
                </a:tc>
              </a:tr>
              <a:tr h="729081">
                <a:tc>
                  <a:txBody>
                    <a:bodyPr wrap="square"/>
                    <a:lstStyle/>
                    <a:p>
                      <a:r>
                        <a:rPr sz="1609" b="1">
                          <a:solidFill>
                            <a:srgbClr val="33475B"/>
                          </a:solidFill>
                          <a:latin typeface="Aptos"/>
                        </a:rPr>
                        <a:t>Decide sobre</a:t>
                      </a:r>
                    </a:p>
                  </a:txBody>
                  <a:tcPr anchor="ctr" marL="146304" marR="146304">
                    <a:solidFill>
                      <a:srgbClr val="FFFFFF"/>
                    </a:solidFill>
                  </a:tcPr>
                </a:tc>
                <a:tc>
                  <a:txBody>
                    <a:bodyPr wrap="square"/>
                    <a:lstStyle/>
                    <a:p>
                      <a:r>
                        <a:rPr sz="1609" b="0">
                          <a:solidFill>
                            <a:srgbClr val="33475B"/>
                          </a:solidFill>
                          <a:latin typeface="Aptos"/>
                        </a:rPr>
                        <a:t>Componentes, límites, protocolos, despliegue</a:t>
                      </a:r>
                    </a:p>
                  </a:txBody>
                  <a:tcPr anchor="ctr" marL="146304" marR="146304">
                    <a:solidFill>
                      <a:srgbClr val="FFFFFF"/>
                    </a:solidFill>
                  </a:tcPr>
                </a:tc>
                <a:tc>
                  <a:txBody>
                    <a:bodyPr wrap="square"/>
                    <a:lstStyle/>
                    <a:p>
                      <a:r>
                        <a:rPr sz="1609" b="0">
                          <a:solidFill>
                            <a:srgbClr val="33475B"/>
                          </a:solidFill>
                          <a:latin typeface="Aptos"/>
                        </a:rPr>
                        <a:t>Clases, métodos, estructuras de datos</a:t>
                      </a:r>
                    </a:p>
                  </a:txBody>
                  <a:tcPr anchor="ctr" marL="146304" marR="146304">
                    <a:solidFill>
                      <a:srgbClr val="FFFFFF"/>
                    </a:solidFill>
                  </a:tcPr>
                </a:tc>
              </a:tr>
              <a:tr h="729081">
                <a:tc>
                  <a:txBody>
                    <a:bodyPr wrap="square"/>
                    <a:lstStyle/>
                    <a:p>
                      <a:r>
                        <a:rPr sz="1609" b="1">
                          <a:solidFill>
                            <a:srgbClr val="33475B"/>
                          </a:solidFill>
                          <a:latin typeface="Aptos"/>
                        </a:rPr>
                        <a:t>Impacto</a:t>
                      </a:r>
                    </a:p>
                  </a:txBody>
                  <a:tcPr anchor="ctr" marL="146304" marR="146304">
                    <a:solidFill>
                      <a:srgbClr val="F4F7FA"/>
                    </a:solidFill>
                  </a:tcPr>
                </a:tc>
                <a:tc>
                  <a:txBody>
                    <a:bodyPr wrap="square"/>
                    <a:lstStyle/>
                    <a:p>
                      <a:r>
                        <a:rPr sz="1609" b="0">
                          <a:solidFill>
                            <a:srgbClr val="33475B"/>
                          </a:solidFill>
                          <a:latin typeface="Aptos"/>
                        </a:rPr>
                        <a:t>Todo el sistema y sus equipos</a:t>
                      </a:r>
                    </a:p>
                  </a:txBody>
                  <a:tcPr anchor="ctr" marL="146304" marR="146304">
                    <a:solidFill>
                      <a:srgbClr val="F4F7FA"/>
                    </a:solidFill>
                  </a:tcPr>
                </a:tc>
                <a:tc>
                  <a:txBody>
                    <a:bodyPr wrap="square"/>
                    <a:lstStyle/>
                    <a:p>
                      <a:r>
                        <a:rPr sz="1609" b="0">
                          <a:solidFill>
                            <a:srgbClr val="33475B"/>
                          </a:solidFill>
                          <a:latin typeface="Aptos"/>
                        </a:rPr>
                        <a:t>Un módulo, a veces un archivo</a:t>
                      </a:r>
                    </a:p>
                  </a:txBody>
                  <a:tcPr anchor="ctr" marL="146304" marR="146304">
                    <a:solidFill>
                      <a:srgbClr val="F4F7FA"/>
                    </a:solidFill>
                  </a:tcPr>
                </a:tc>
              </a:tr>
              <a:tr h="729081">
                <a:tc>
                  <a:txBody>
                    <a:bodyPr wrap="square"/>
                    <a:lstStyle/>
                    <a:p>
                      <a:r>
                        <a:rPr sz="1609" b="1">
                          <a:solidFill>
                            <a:srgbClr val="33475B"/>
                          </a:solidFill>
                          <a:latin typeface="Aptos"/>
                        </a:rPr>
                        <a:t>Revertir cuesta</a:t>
                      </a:r>
                    </a:p>
                  </a:txBody>
                  <a:tcPr anchor="ctr" marL="146304" marR="146304">
                    <a:solidFill>
                      <a:srgbClr val="FFFFFF"/>
                    </a:solidFill>
                  </a:tcPr>
                </a:tc>
                <a:tc>
                  <a:txBody>
                    <a:bodyPr wrap="square"/>
                    <a:lstStyle/>
                    <a:p>
                      <a:r>
                        <a:rPr sz="1609" b="0">
                          <a:solidFill>
                            <a:srgbClr val="33475B"/>
                          </a:solidFill>
                          <a:latin typeface="Aptos"/>
                        </a:rPr>
                        <a:t>Semanas o meses</a:t>
                      </a:r>
                    </a:p>
                  </a:txBody>
                  <a:tcPr anchor="ctr" marL="146304" marR="146304">
                    <a:solidFill>
                      <a:srgbClr val="FFFFFF"/>
                    </a:solidFill>
                  </a:tcPr>
                </a:tc>
                <a:tc>
                  <a:txBody>
                    <a:bodyPr wrap="square"/>
                    <a:lstStyle/>
                    <a:p>
                      <a:r>
                        <a:rPr sz="1609" b="0">
                          <a:solidFill>
                            <a:srgbClr val="33475B"/>
                          </a:solidFill>
                          <a:latin typeface="Aptos"/>
                        </a:rPr>
                        <a:t>Horas o días</a:t>
                      </a:r>
                    </a:p>
                  </a:txBody>
                  <a:tcPr anchor="ctr" marL="146304" marR="146304">
                    <a:solidFill>
                      <a:srgbClr val="FFFFFF"/>
                    </a:solidFill>
                  </a:tcPr>
                </a:tc>
              </a:tr>
              <a:tr h="729081">
                <a:tc>
                  <a:txBody>
                    <a:bodyPr wrap="square"/>
                    <a:lstStyle/>
                    <a:p>
                      <a:r>
                        <a:rPr sz="1609" b="1">
                          <a:solidFill>
                            <a:srgbClr val="33475B"/>
                          </a:solidFill>
                          <a:latin typeface="Aptos"/>
                        </a:rPr>
                        <a:t>La guía</a:t>
                      </a:r>
                    </a:p>
                  </a:txBody>
                  <a:tcPr anchor="ctr" marL="146304" marR="146304">
                    <a:solidFill>
                      <a:srgbClr val="F4F7FA"/>
                    </a:solidFill>
                  </a:tcPr>
                </a:tc>
                <a:tc>
                  <a:txBody>
                    <a:bodyPr wrap="square"/>
                    <a:lstStyle/>
                    <a:p>
                      <a:r>
                        <a:rPr sz="1609" b="0">
                          <a:solidFill>
                            <a:srgbClr val="33475B"/>
                          </a:solidFill>
                          <a:latin typeface="Aptos"/>
                        </a:rPr>
                        <a:t>Atributos de calidad (RNF)</a:t>
                      </a:r>
                    </a:p>
                  </a:txBody>
                  <a:tcPr anchor="ctr" marL="146304" marR="146304">
                    <a:solidFill>
                      <a:srgbClr val="F4F7FA"/>
                    </a:solidFill>
                  </a:tcPr>
                </a:tc>
                <a:tc>
                  <a:txBody>
                    <a:bodyPr wrap="square"/>
                    <a:lstStyle/>
                    <a:p>
                      <a:r>
                        <a:rPr sz="1609" b="0">
                          <a:solidFill>
                            <a:srgbClr val="33475B"/>
                          </a:solidFill>
                          <a:latin typeface="Aptos"/>
                        </a:rPr>
                        <a:t>Requerimientos funcionales</a:t>
                      </a:r>
                    </a:p>
                  </a:txBody>
                  <a:tcPr anchor="ctr" marL="146304" marR="146304">
                    <a:solidFill>
                      <a:srgbClr val="F4F7FA"/>
                    </a:solidFill>
                  </a:tcPr>
                </a:tc>
              </a:tr>
              <a:tr h="729081">
                <a:tc>
                  <a:txBody>
                    <a:bodyPr wrap="square"/>
                    <a:lstStyle/>
                    <a:p>
                      <a:r>
                        <a:rPr sz="1609" b="1">
                          <a:solidFill>
                            <a:srgbClr val="33475B"/>
                          </a:solidFill>
                          <a:latin typeface="Aptos"/>
                        </a:rPr>
                        <a:t>Ejemplo</a:t>
                      </a:r>
                    </a:p>
                  </a:txBody>
                  <a:tcPr anchor="ctr" marL="146304" marR="146304">
                    <a:solidFill>
                      <a:srgbClr val="FFFFFF"/>
                    </a:solidFill>
                  </a:tcPr>
                </a:tc>
                <a:tc>
                  <a:txBody>
                    <a:bodyPr wrap="square"/>
                    <a:lstStyle/>
                    <a:p>
                      <a:r>
                        <a:rPr sz="1609" b="0">
                          <a:solidFill>
                            <a:srgbClr val="33475B"/>
                          </a:solidFill>
                          <a:latin typeface="Aptos"/>
                        </a:rPr>
                        <a:t>«Separamos reportería y la alimentamos por eventos»</a:t>
                      </a:r>
                    </a:p>
                  </a:txBody>
                  <a:tcPr anchor="ctr" marL="146304" marR="146304">
                    <a:solidFill>
                      <a:srgbClr val="FFFFFF"/>
                    </a:solidFill>
                  </a:tcPr>
                </a:tc>
                <a:tc>
                  <a:txBody>
                    <a:bodyPr wrap="square"/>
                    <a:lstStyle/>
                    <a:p>
                      <a:r>
                        <a:rPr sz="1609" b="0">
                          <a:solidFill>
                            <a:srgbClr val="33475B"/>
                          </a:solidFill>
                          <a:latin typeface="Aptos"/>
                        </a:rPr>
                        <a:t>«Extraemos el cálculo a </a:t>
                      </a:r>
                      <a:r>
                        <a:rPr sz="1513" b="0">
                          <a:solidFill>
                            <a:srgbClr val="156082"/>
                          </a:solidFill>
                          <a:latin typeface="Consolas"/>
                        </a:rPr>
                        <a:t>TarifaCalculator</a:t>
                      </a:r>
                      <a:r>
                        <a:rPr sz="1609" b="0">
                          <a:solidFill>
                            <a:srgbClr val="33475B"/>
                          </a:solidFill>
                          <a:latin typeface="Aptos"/>
                        </a:rPr>
                        <a:t>»</a:t>
                      </a:r>
                    </a:p>
                  </a:txBody>
                  <a:tcPr anchor="ctr" marL="146304" marR="146304">
                    <a:solidFill>
                      <a:srgbClr val="FFFFFF"/>
                    </a:solidFill>
                  </a:tcPr>
                </a:tc>
              </a:tr>
            </a:tbl>
          </a:graphicData>
        </a:graphic>
      </p:graphicFrame>
      <p:sp>
        <p:nvSpPr>
          <p:cNvPr id="8" name="TextBox 7"/>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Arquitectura y Diseño de Software  ·  Unidad 1</a:t>
            </a:r>
          </a:p>
        </p:txBody>
      </p:sp>
      <p:sp>
        <p:nvSpPr>
          <p:cNvPr id="9" name="TextBox 8"/>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4 / 39</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1 · FUNDAMENTOS · ESP. INGENIERÍA DE SOFTWARE</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Un atributo de calidad sin número no sirve para decidir</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858060"/>
            <a:ext cx="5367528" cy="4184294"/>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 Same Side Corner Rectangle 7"/>
          <p:cNvSpPr/>
          <p:nvPr/>
        </p:nvSpPr>
        <p:spPr>
          <a:xfrm>
            <a:off x="566928" y="1858060"/>
            <a:ext cx="5367528" cy="566928"/>
          </a:xfrm>
          <a:prstGeom prst="round2SameRect">
            <a:avLst>
              <a:gd name="adj1" fmla="val 14000"/>
              <a:gd name="adj2" fmla="val 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1858060"/>
            <a:ext cx="5001768" cy="566928"/>
          </a:xfrm>
          <a:prstGeom prst="rect">
            <a:avLst/>
          </a:prstGeom>
          <a:noFill/>
        </p:spPr>
        <p:txBody>
          <a:bodyPr wrap="square" anchor="ctr" lIns="0" rIns="0" tIns="0" bIns="0">
            <a:spAutoFit/>
          </a:bodyPr>
          <a:lstStyle/>
          <a:p>
            <a:pPr algn="l"/>
            <a:r>
              <a:rPr sz="1954" b="1">
                <a:solidFill>
                  <a:srgbClr val="FFFFFF"/>
                </a:solidFill>
                <a:latin typeface="Aptos Display"/>
              </a:rPr>
              <a:t>No es un requisito</a:t>
            </a:r>
          </a:p>
        </p:txBody>
      </p:sp>
      <p:sp>
        <p:nvSpPr>
          <p:cNvPr id="10" name="Oval 9"/>
          <p:cNvSpPr/>
          <p:nvPr/>
        </p:nvSpPr>
        <p:spPr>
          <a:xfrm>
            <a:off x="786384" y="3174796"/>
            <a:ext cx="91440" cy="9144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24128" y="2918764"/>
            <a:ext cx="4709160" cy="603504"/>
          </a:xfrm>
          <a:prstGeom prst="rect">
            <a:avLst/>
          </a:prstGeom>
          <a:noFill/>
        </p:spPr>
        <p:txBody>
          <a:bodyPr wrap="square" anchor="ctr" lIns="0" rIns="0" tIns="0" bIns="0">
            <a:spAutoFit/>
          </a:bodyPr>
          <a:lstStyle/>
          <a:p>
            <a:pPr algn="l"/>
            <a:r>
              <a:rPr sz="1609" b="0">
                <a:solidFill>
                  <a:srgbClr val="33475B"/>
                </a:solidFill>
                <a:latin typeface="Aptos"/>
              </a:rPr>
              <a:t>"El sistema debe ser rápido"</a:t>
            </a:r>
          </a:p>
        </p:txBody>
      </p:sp>
      <p:sp>
        <p:nvSpPr>
          <p:cNvPr id="12" name="Oval 11"/>
          <p:cNvSpPr/>
          <p:nvPr/>
        </p:nvSpPr>
        <p:spPr>
          <a:xfrm>
            <a:off x="786384" y="3778300"/>
            <a:ext cx="91440" cy="9144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24128" y="3522268"/>
            <a:ext cx="4709160" cy="603504"/>
          </a:xfrm>
          <a:prstGeom prst="rect">
            <a:avLst/>
          </a:prstGeom>
          <a:noFill/>
        </p:spPr>
        <p:txBody>
          <a:bodyPr wrap="square" anchor="ctr" lIns="0" rIns="0" tIns="0" bIns="0">
            <a:spAutoFit/>
          </a:bodyPr>
          <a:lstStyle/>
          <a:p>
            <a:pPr algn="l"/>
            <a:r>
              <a:rPr sz="1609" b="0">
                <a:solidFill>
                  <a:srgbClr val="33475B"/>
                </a:solidFill>
                <a:latin typeface="Aptos"/>
              </a:rPr>
              <a:t>No descarta ninguna arquitectura</a:t>
            </a:r>
          </a:p>
        </p:txBody>
      </p:sp>
      <p:sp>
        <p:nvSpPr>
          <p:cNvPr id="14" name="Oval 13"/>
          <p:cNvSpPr/>
          <p:nvPr/>
        </p:nvSpPr>
        <p:spPr>
          <a:xfrm>
            <a:off x="786384" y="4381804"/>
            <a:ext cx="91440" cy="9144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24128" y="4125772"/>
            <a:ext cx="4709160" cy="603504"/>
          </a:xfrm>
          <a:prstGeom prst="rect">
            <a:avLst/>
          </a:prstGeom>
          <a:noFill/>
        </p:spPr>
        <p:txBody>
          <a:bodyPr wrap="square" anchor="ctr" lIns="0" rIns="0" tIns="0" bIns="0">
            <a:spAutoFit/>
          </a:bodyPr>
          <a:lstStyle/>
          <a:p>
            <a:pPr algn="l"/>
            <a:r>
              <a:rPr sz="1609" b="0">
                <a:solidFill>
                  <a:srgbClr val="33475B"/>
                </a:solidFill>
                <a:latin typeface="Aptos"/>
              </a:rPr>
              <a:t>Nadie puede comprobarlo</a:t>
            </a:r>
          </a:p>
        </p:txBody>
      </p:sp>
      <p:sp>
        <p:nvSpPr>
          <p:cNvPr id="16" name="Rounded Rectangle 15"/>
          <p:cNvSpPr/>
          <p:nvPr/>
        </p:nvSpPr>
        <p:spPr>
          <a:xfrm>
            <a:off x="6263640" y="1858060"/>
            <a:ext cx="5367528" cy="4184294"/>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 Same Side Corner Rectangle 16"/>
          <p:cNvSpPr/>
          <p:nvPr/>
        </p:nvSpPr>
        <p:spPr>
          <a:xfrm>
            <a:off x="6263640" y="1858060"/>
            <a:ext cx="5367528" cy="566928"/>
          </a:xfrm>
          <a:prstGeom prst="round2SameRect">
            <a:avLst>
              <a:gd name="adj1" fmla="val 14000"/>
              <a:gd name="adj2" fmla="val 0"/>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46520" y="1858060"/>
            <a:ext cx="5001768" cy="566928"/>
          </a:xfrm>
          <a:prstGeom prst="rect">
            <a:avLst/>
          </a:prstGeom>
          <a:noFill/>
        </p:spPr>
        <p:txBody>
          <a:bodyPr wrap="square" anchor="ctr" lIns="0" rIns="0" tIns="0" bIns="0">
            <a:spAutoFit/>
          </a:bodyPr>
          <a:lstStyle/>
          <a:p>
            <a:pPr algn="l"/>
            <a:r>
              <a:rPr sz="1954" b="1">
                <a:solidFill>
                  <a:srgbClr val="FFFFFF"/>
                </a:solidFill>
                <a:latin typeface="Aptos Display"/>
              </a:rPr>
              <a:t>Sí es un requisito</a:t>
            </a:r>
          </a:p>
        </p:txBody>
      </p:sp>
      <p:sp>
        <p:nvSpPr>
          <p:cNvPr id="19" name="Oval 18"/>
          <p:cNvSpPr/>
          <p:nvPr/>
        </p:nvSpPr>
        <p:spPr>
          <a:xfrm>
            <a:off x="6483096" y="3174796"/>
            <a:ext cx="91440" cy="91440"/>
          </a:xfrm>
          <a:prstGeom prst="ellipse">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20840" y="2918764"/>
            <a:ext cx="4709160" cy="603504"/>
          </a:xfrm>
          <a:prstGeom prst="rect">
            <a:avLst/>
          </a:prstGeom>
          <a:noFill/>
        </p:spPr>
        <p:txBody>
          <a:bodyPr wrap="square" anchor="ctr" lIns="0" rIns="0" tIns="0" bIns="0">
            <a:spAutoFit/>
          </a:bodyPr>
          <a:lstStyle/>
          <a:p>
            <a:pPr algn="l"/>
            <a:r>
              <a:rPr sz="1609" b="0">
                <a:solidFill>
                  <a:srgbClr val="33475B"/>
                </a:solidFill>
                <a:latin typeface="Aptos"/>
              </a:rPr>
              <a:t>"Ingreso y salida en menos de 2 s en el p95"</a:t>
            </a:r>
          </a:p>
        </p:txBody>
      </p:sp>
      <p:sp>
        <p:nvSpPr>
          <p:cNvPr id="21" name="Oval 20"/>
          <p:cNvSpPr/>
          <p:nvPr/>
        </p:nvSpPr>
        <p:spPr>
          <a:xfrm>
            <a:off x="6483096" y="3778300"/>
            <a:ext cx="91440" cy="91440"/>
          </a:xfrm>
          <a:prstGeom prst="ellipse">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720840" y="3522268"/>
            <a:ext cx="4709160" cy="603504"/>
          </a:xfrm>
          <a:prstGeom prst="rect">
            <a:avLst/>
          </a:prstGeom>
          <a:noFill/>
        </p:spPr>
        <p:txBody>
          <a:bodyPr wrap="square" anchor="ctr" lIns="0" rIns="0" tIns="0" bIns="0">
            <a:spAutoFit/>
          </a:bodyPr>
          <a:lstStyle/>
          <a:p>
            <a:pPr algn="l"/>
            <a:r>
              <a:rPr sz="1609" b="0">
                <a:solidFill>
                  <a:srgbClr val="33475B"/>
                </a:solidFill>
                <a:latin typeface="Aptos"/>
              </a:rPr>
              <a:t>Descarta arquitecturas completas</a:t>
            </a:r>
          </a:p>
        </p:txBody>
      </p:sp>
      <p:sp>
        <p:nvSpPr>
          <p:cNvPr id="23" name="Oval 22"/>
          <p:cNvSpPr/>
          <p:nvPr/>
        </p:nvSpPr>
        <p:spPr>
          <a:xfrm>
            <a:off x="6483096" y="4381804"/>
            <a:ext cx="91440" cy="91440"/>
          </a:xfrm>
          <a:prstGeom prst="ellipse">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20840" y="4125772"/>
            <a:ext cx="4709160" cy="603504"/>
          </a:xfrm>
          <a:prstGeom prst="rect">
            <a:avLst/>
          </a:prstGeom>
          <a:noFill/>
        </p:spPr>
        <p:txBody>
          <a:bodyPr wrap="square" anchor="ctr" lIns="0" rIns="0" tIns="0" bIns="0">
            <a:spAutoFit/>
          </a:bodyPr>
          <a:lstStyle/>
          <a:p>
            <a:pPr algn="l"/>
            <a:r>
              <a:rPr sz="1609" b="0">
                <a:solidFill>
                  <a:srgbClr val="33475B"/>
                </a:solidFill>
                <a:latin typeface="Aptos"/>
              </a:rPr>
              <a:t>Se mide y se incumple</a:t>
            </a:r>
          </a:p>
        </p:txBody>
      </p:sp>
      <p:sp>
        <p:nvSpPr>
          <p:cNvPr id="25" name="TextBox 24"/>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Arquitectura y Diseño de Software  ·  Unidad 1</a:t>
            </a:r>
          </a:p>
        </p:txBody>
      </p:sp>
      <p:sp>
        <p:nvSpPr>
          <p:cNvPr id="26" name="TextBox 25"/>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5 / 39</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1 · FUNDAMENTOS · ESP. INGENIERÍA DE SOFTWARE</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Los siete atributos que vas a usar en el taller</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graphicFrame>
        <p:nvGraphicFramePr>
          <p:cNvPr id="7" name="Table 6"/>
          <p:cNvGraphicFramePr>
            <a:graphicFrameLocks noGrp="1"/>
          </p:cNvGraphicFramePr>
          <p:nvPr/>
        </p:nvGraphicFramePr>
        <p:xfrm>
          <a:off x="566928" y="1762963"/>
          <a:ext cx="11064240" cy="4374488"/>
        </p:xfrm>
        <a:graphic>
          <a:graphicData uri="http://schemas.openxmlformats.org/drawingml/2006/table">
            <a:tbl>
              <a:tblPr firstRow="1">
                <a:tableStyleId>{5C22544A-7EE6-4342-B048-85BDC9FD1C3A}</a:tableStyleId>
              </a:tblPr>
              <a:tblGrid>
                <a:gridCol w="3688080"/>
                <a:gridCol w="3688080"/>
                <a:gridCol w="3688080"/>
              </a:tblGrid>
              <a:tr h="546811">
                <a:tc>
                  <a:txBody>
                    <a:bodyPr wrap="square"/>
                    <a:lstStyle/>
                    <a:p>
                      <a:r>
                        <a:rPr sz="1590" b="1">
                          <a:solidFill>
                            <a:srgbClr val="FFFFFF"/>
                          </a:solidFill>
                          <a:latin typeface="Aptos"/>
                        </a:rPr>
                        <a:t>Atributo</a:t>
                      </a:r>
                    </a:p>
                  </a:txBody>
                  <a:tcPr anchor="ctr" marL="146304" marR="146304">
                    <a:solidFill>
                      <a:srgbClr val="156082"/>
                    </a:solidFill>
                  </a:tcPr>
                </a:tc>
                <a:tc>
                  <a:txBody>
                    <a:bodyPr wrap="square"/>
                    <a:lstStyle/>
                    <a:p>
                      <a:r>
                        <a:rPr sz="1590" b="1">
                          <a:solidFill>
                            <a:srgbClr val="FFFFFF"/>
                          </a:solidFill>
                          <a:latin typeface="Aptos"/>
                        </a:rPr>
                        <a:t>Pregunta que responde</a:t>
                      </a:r>
                    </a:p>
                  </a:txBody>
                  <a:tcPr anchor="ctr" marL="146304" marR="146304">
                    <a:solidFill>
                      <a:srgbClr val="156082"/>
                    </a:solidFill>
                  </a:tcPr>
                </a:tc>
                <a:tc>
                  <a:txBody>
                    <a:bodyPr wrap="square"/>
                    <a:lstStyle/>
                    <a:p>
                      <a:r>
                        <a:rPr sz="1590" b="1">
                          <a:solidFill>
                            <a:srgbClr val="FFFFFF"/>
                          </a:solidFill>
                          <a:latin typeface="Aptos"/>
                        </a:rPr>
                        <a:t>Se mide con</a:t>
                      </a:r>
                    </a:p>
                  </a:txBody>
                  <a:tcPr anchor="ctr" marL="146304" marR="146304">
                    <a:solidFill>
                      <a:srgbClr val="156082"/>
                    </a:solidFill>
                  </a:tcPr>
                </a:tc>
              </a:tr>
              <a:tr h="546811">
                <a:tc>
                  <a:txBody>
                    <a:bodyPr wrap="square"/>
                    <a:lstStyle/>
                    <a:p>
                      <a:r>
                        <a:rPr sz="1484" b="1">
                          <a:solidFill>
                            <a:srgbClr val="33475B"/>
                          </a:solidFill>
                          <a:latin typeface="Aptos"/>
                        </a:rPr>
                        <a:t>Rendimiento</a:t>
                      </a:r>
                    </a:p>
                  </a:txBody>
                  <a:tcPr anchor="ctr" marL="146304" marR="146304">
                    <a:solidFill>
                      <a:srgbClr val="FFFFFF"/>
                    </a:solidFill>
                  </a:tcPr>
                </a:tc>
                <a:tc>
                  <a:txBody>
                    <a:bodyPr wrap="square"/>
                    <a:lstStyle/>
                    <a:p>
                      <a:r>
                        <a:rPr sz="1484" b="0">
                          <a:solidFill>
                            <a:srgbClr val="33475B"/>
                          </a:solidFill>
                          <a:latin typeface="Aptos"/>
                        </a:rPr>
                        <a:t>¿Cuánto tarda una operación crítica?</a:t>
                      </a:r>
                    </a:p>
                  </a:txBody>
                  <a:tcPr anchor="ctr" marL="146304" marR="146304">
                    <a:solidFill>
                      <a:srgbClr val="FFFFFF"/>
                    </a:solidFill>
                  </a:tcPr>
                </a:tc>
                <a:tc>
                  <a:txBody>
                    <a:bodyPr wrap="square"/>
                    <a:lstStyle/>
                    <a:p>
                      <a:r>
                        <a:rPr sz="1484" b="0">
                          <a:solidFill>
                            <a:srgbClr val="33475B"/>
                          </a:solidFill>
                          <a:latin typeface="Aptos"/>
                        </a:rPr>
                        <a:t>Latencia p95/p99</a:t>
                      </a:r>
                    </a:p>
                  </a:txBody>
                  <a:tcPr anchor="ctr" marL="146304" marR="146304">
                    <a:solidFill>
                      <a:srgbClr val="FFFFFF"/>
                    </a:solidFill>
                  </a:tcPr>
                </a:tc>
              </a:tr>
              <a:tr h="546811">
                <a:tc>
                  <a:txBody>
                    <a:bodyPr wrap="square"/>
                    <a:lstStyle/>
                    <a:p>
                      <a:r>
                        <a:rPr sz="1484" b="1">
                          <a:solidFill>
                            <a:srgbClr val="33475B"/>
                          </a:solidFill>
                          <a:latin typeface="Aptos"/>
                        </a:rPr>
                        <a:t>Escalabilidad</a:t>
                      </a:r>
                    </a:p>
                  </a:txBody>
                  <a:tcPr anchor="ctr" marL="146304" marR="146304">
                    <a:solidFill>
                      <a:srgbClr val="F4F7FA"/>
                    </a:solidFill>
                  </a:tcPr>
                </a:tc>
                <a:tc>
                  <a:txBody>
                    <a:bodyPr wrap="square"/>
                    <a:lstStyle/>
                    <a:p>
                      <a:r>
                        <a:rPr sz="1484" b="0">
                          <a:solidFill>
                            <a:srgbClr val="33475B"/>
                          </a:solidFill>
                          <a:latin typeface="Aptos"/>
                        </a:rPr>
                        <a:t>¿Qué pasa si se duplica la carga?</a:t>
                      </a:r>
                    </a:p>
                  </a:txBody>
                  <a:tcPr anchor="ctr" marL="146304" marR="146304">
                    <a:solidFill>
                      <a:srgbClr val="F4F7FA"/>
                    </a:solidFill>
                  </a:tcPr>
                </a:tc>
                <a:tc>
                  <a:txBody>
                    <a:bodyPr wrap="square"/>
                    <a:lstStyle/>
                    <a:p>
                      <a:r>
                        <a:rPr sz="1484" b="0">
                          <a:solidFill>
                            <a:srgbClr val="33475B"/>
                          </a:solidFill>
                          <a:latin typeface="Aptos"/>
                        </a:rPr>
                        <a:t>Curva carga/recursos</a:t>
                      </a:r>
                    </a:p>
                  </a:txBody>
                  <a:tcPr anchor="ctr" marL="146304" marR="146304">
                    <a:solidFill>
                      <a:srgbClr val="F4F7FA"/>
                    </a:solidFill>
                  </a:tcPr>
                </a:tc>
              </a:tr>
              <a:tr h="546811">
                <a:tc>
                  <a:txBody>
                    <a:bodyPr wrap="square"/>
                    <a:lstStyle/>
                    <a:p>
                      <a:r>
                        <a:rPr sz="1484" b="1">
                          <a:solidFill>
                            <a:srgbClr val="33475B"/>
                          </a:solidFill>
                          <a:latin typeface="Aptos"/>
                        </a:rPr>
                        <a:t>Disponibilidad</a:t>
                      </a:r>
                    </a:p>
                  </a:txBody>
                  <a:tcPr anchor="ctr" marL="146304" marR="146304">
                    <a:solidFill>
                      <a:srgbClr val="FFFFFF"/>
                    </a:solidFill>
                  </a:tcPr>
                </a:tc>
                <a:tc>
                  <a:txBody>
                    <a:bodyPr wrap="square"/>
                    <a:lstStyle/>
                    <a:p>
                      <a:r>
                        <a:rPr sz="1484" b="0">
                          <a:solidFill>
                            <a:srgbClr val="33475B"/>
                          </a:solidFill>
                          <a:latin typeface="Aptos"/>
                        </a:rPr>
                        <a:t>¿Cuánto puede estar caído?</a:t>
                      </a:r>
                    </a:p>
                  </a:txBody>
                  <a:tcPr anchor="ctr" marL="146304" marR="146304">
                    <a:solidFill>
                      <a:srgbClr val="FFFFFF"/>
                    </a:solidFill>
                  </a:tcPr>
                </a:tc>
                <a:tc>
                  <a:txBody>
                    <a:bodyPr wrap="square"/>
                    <a:lstStyle/>
                    <a:p>
                      <a:r>
                        <a:rPr sz="1484" b="0">
                          <a:solidFill>
                            <a:srgbClr val="33475B"/>
                          </a:solidFill>
                          <a:latin typeface="Aptos"/>
                        </a:rPr>
                        <a:t>% mensual, MTBF/MTTR</a:t>
                      </a:r>
                    </a:p>
                  </a:txBody>
                  <a:tcPr anchor="ctr" marL="146304" marR="146304">
                    <a:solidFill>
                      <a:srgbClr val="FFFFFF"/>
                    </a:solidFill>
                  </a:tcPr>
                </a:tc>
              </a:tr>
              <a:tr h="546811">
                <a:tc>
                  <a:txBody>
                    <a:bodyPr wrap="square"/>
                    <a:lstStyle/>
                    <a:p>
                      <a:r>
                        <a:rPr sz="1484" b="1">
                          <a:solidFill>
                            <a:srgbClr val="33475B"/>
                          </a:solidFill>
                          <a:latin typeface="Aptos"/>
                        </a:rPr>
                        <a:t>Mantenibilidad</a:t>
                      </a:r>
                    </a:p>
                  </a:txBody>
                  <a:tcPr anchor="ctr" marL="146304" marR="146304">
                    <a:solidFill>
                      <a:srgbClr val="F4F7FA"/>
                    </a:solidFill>
                  </a:tcPr>
                </a:tc>
                <a:tc>
                  <a:txBody>
                    <a:bodyPr wrap="square"/>
                    <a:lstStyle/>
                    <a:p>
                      <a:r>
                        <a:rPr sz="1484" b="0">
                          <a:solidFill>
                            <a:srgbClr val="33475B"/>
                          </a:solidFill>
                          <a:latin typeface="Aptos"/>
                        </a:rPr>
                        <a:t>¿Cuánto cuesta un cambio típico?</a:t>
                      </a:r>
                    </a:p>
                  </a:txBody>
                  <a:tcPr anchor="ctr" marL="146304" marR="146304">
                    <a:solidFill>
                      <a:srgbClr val="F4F7FA"/>
                    </a:solidFill>
                  </a:tcPr>
                </a:tc>
                <a:tc>
                  <a:txBody>
                    <a:bodyPr wrap="square"/>
                    <a:lstStyle/>
                    <a:p>
                      <a:r>
                        <a:rPr sz="1484" b="0">
                          <a:solidFill>
                            <a:srgbClr val="33475B"/>
                          </a:solidFill>
                          <a:latin typeface="Aptos"/>
                        </a:rPr>
                        <a:t>Tiempo de ciclo</a:t>
                      </a:r>
                    </a:p>
                  </a:txBody>
                  <a:tcPr anchor="ctr" marL="146304" marR="146304">
                    <a:solidFill>
                      <a:srgbClr val="F4F7FA"/>
                    </a:solidFill>
                  </a:tcPr>
                </a:tc>
              </a:tr>
              <a:tr h="546811">
                <a:tc>
                  <a:txBody>
                    <a:bodyPr wrap="square"/>
                    <a:lstStyle/>
                    <a:p>
                      <a:r>
                        <a:rPr sz="1484" b="1">
                          <a:solidFill>
                            <a:srgbClr val="33475B"/>
                          </a:solidFill>
                          <a:latin typeface="Aptos"/>
                        </a:rPr>
                        <a:t>Testabilidad</a:t>
                      </a:r>
                    </a:p>
                  </a:txBody>
                  <a:tcPr anchor="ctr" marL="146304" marR="146304">
                    <a:solidFill>
                      <a:srgbClr val="FFFFFF"/>
                    </a:solidFill>
                  </a:tcPr>
                </a:tc>
                <a:tc>
                  <a:txBody>
                    <a:bodyPr wrap="square"/>
                    <a:lstStyle/>
                    <a:p>
                      <a:r>
                        <a:rPr sz="1484" b="0">
                          <a:solidFill>
                            <a:srgbClr val="33475B"/>
                          </a:solidFill>
                          <a:latin typeface="Aptos"/>
                        </a:rPr>
                        <a:t>¿Puedo probar el negocio sin infraestructura?</a:t>
                      </a:r>
                    </a:p>
                  </a:txBody>
                  <a:tcPr anchor="ctr" marL="146304" marR="146304">
                    <a:solidFill>
                      <a:srgbClr val="FFFFFF"/>
                    </a:solidFill>
                  </a:tcPr>
                </a:tc>
                <a:tc>
                  <a:txBody>
                    <a:bodyPr wrap="square"/>
                    <a:lstStyle/>
                    <a:p>
                      <a:r>
                        <a:rPr sz="1484" b="0">
                          <a:solidFill>
                            <a:srgbClr val="33475B"/>
                          </a:solidFill>
                          <a:latin typeface="Aptos"/>
                        </a:rPr>
                        <a:t>Tests sin BD</a:t>
                      </a:r>
                    </a:p>
                  </a:txBody>
                  <a:tcPr anchor="ctr" marL="146304" marR="146304">
                    <a:solidFill>
                      <a:srgbClr val="FFFFFF"/>
                    </a:solidFill>
                  </a:tcPr>
                </a:tc>
              </a:tr>
              <a:tr h="546811">
                <a:tc>
                  <a:txBody>
                    <a:bodyPr wrap="square"/>
                    <a:lstStyle/>
                    <a:p>
                      <a:r>
                        <a:rPr sz="1484" b="1">
                          <a:solidFill>
                            <a:srgbClr val="33475B"/>
                          </a:solidFill>
                          <a:latin typeface="Aptos"/>
                        </a:rPr>
                        <a:t>Seguridad</a:t>
                      </a:r>
                    </a:p>
                  </a:txBody>
                  <a:tcPr anchor="ctr" marL="146304" marR="146304">
                    <a:solidFill>
                      <a:srgbClr val="F4F7FA"/>
                    </a:solidFill>
                  </a:tcPr>
                </a:tc>
                <a:tc>
                  <a:txBody>
                    <a:bodyPr wrap="square"/>
                    <a:lstStyle/>
                    <a:p>
                      <a:r>
                        <a:rPr sz="1484" b="0">
                          <a:solidFill>
                            <a:srgbClr val="33475B"/>
                          </a:solidFill>
                          <a:latin typeface="Aptos"/>
                        </a:rPr>
                        <a:t>¿Quién puede hacer qué y con qué datos?</a:t>
                      </a:r>
                    </a:p>
                  </a:txBody>
                  <a:tcPr anchor="ctr" marL="146304" marR="146304">
                    <a:solidFill>
                      <a:srgbClr val="F4F7FA"/>
                    </a:solidFill>
                  </a:tcPr>
                </a:tc>
                <a:tc>
                  <a:txBody>
                    <a:bodyPr wrap="square"/>
                    <a:lstStyle/>
                    <a:p>
                      <a:r>
                        <a:rPr sz="1484" b="0">
                          <a:solidFill>
                            <a:srgbClr val="33475B"/>
                          </a:solidFill>
                          <a:latin typeface="Aptos"/>
                        </a:rPr>
                        <a:t>Controles</a:t>
                      </a:r>
                    </a:p>
                  </a:txBody>
                  <a:tcPr anchor="ctr" marL="146304" marR="146304">
                    <a:solidFill>
                      <a:srgbClr val="F4F7FA"/>
                    </a:solidFill>
                  </a:tcPr>
                </a:tc>
              </a:tr>
              <a:tr h="546811">
                <a:tc>
                  <a:txBody>
                    <a:bodyPr wrap="square"/>
                    <a:lstStyle/>
                    <a:p>
                      <a:r>
                        <a:rPr sz="1484" b="1">
                          <a:solidFill>
                            <a:srgbClr val="33475B"/>
                          </a:solidFill>
                          <a:latin typeface="Aptos"/>
                        </a:rPr>
                        <a:t>Observabilidad</a:t>
                      </a:r>
                    </a:p>
                  </a:txBody>
                  <a:tcPr anchor="ctr" marL="146304" marR="146304">
                    <a:solidFill>
                      <a:srgbClr val="FFFFFF"/>
                    </a:solidFill>
                  </a:tcPr>
                </a:tc>
                <a:tc>
                  <a:txBody>
                    <a:bodyPr wrap="square"/>
                    <a:lstStyle/>
                    <a:p>
                      <a:r>
                        <a:rPr sz="1484" b="0">
                          <a:solidFill>
                            <a:srgbClr val="33475B"/>
                          </a:solidFill>
                          <a:latin typeface="Aptos"/>
                        </a:rPr>
                        <a:t>¿Puedo saber qué pasó sin adivinar?</a:t>
                      </a:r>
                    </a:p>
                  </a:txBody>
                  <a:tcPr anchor="ctr" marL="146304" marR="146304">
                    <a:solidFill>
                      <a:srgbClr val="FFFFFF"/>
                    </a:solidFill>
                  </a:tcPr>
                </a:tc>
                <a:tc>
                  <a:txBody>
                    <a:bodyPr wrap="square"/>
                    <a:lstStyle/>
                    <a:p>
                      <a:r>
                        <a:rPr sz="1484" b="0">
                          <a:solidFill>
                            <a:srgbClr val="33475B"/>
                          </a:solidFill>
                          <a:latin typeface="Aptos"/>
                        </a:rPr>
                        <a:t>Logs, métricas, trazas</a:t>
                      </a:r>
                    </a:p>
                  </a:txBody>
                  <a:tcPr anchor="ctr" marL="146304" marR="146304">
                    <a:solidFill>
                      <a:srgbClr val="FFFFFF"/>
                    </a:solidFill>
                  </a:tcPr>
                </a:tc>
              </a:tr>
            </a:tbl>
          </a:graphicData>
        </a:graphic>
      </p:graphicFrame>
      <p:sp>
        <p:nvSpPr>
          <p:cNvPr id="8" name="TextBox 7"/>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Arquitectura y Diseño de Software  ·  Unidad 1</a:t>
            </a:r>
          </a:p>
        </p:txBody>
      </p:sp>
      <p:sp>
        <p:nvSpPr>
          <p:cNvPr id="9" name="TextBox 8"/>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6 / 39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009540"/>
                </a:solidFill>
                <a:latin typeface="Aptos"/>
              </a:rPr>
              <a:t>PREGUNTA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2500" b="1">
                <a:solidFill>
                  <a:srgbClr val="0E2841"/>
                </a:solidFill>
                <a:latin typeface="Aptos Display"/>
              </a:rPr>
              <a:t>Según el criterio visto, ¿qué convierte a una decisión en "arquitectónica"?</a:t>
            </a:r>
          </a:p>
        </p:txBody>
      </p:sp>
      <p:sp>
        <p:nvSpPr>
          <p:cNvPr id="5" name="Rectangle 4"/>
          <p:cNvSpPr/>
          <p:nvPr/>
        </p:nvSpPr>
        <p:spPr>
          <a:xfrm>
            <a:off x="566928" y="1389888"/>
            <a:ext cx="1371600"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810511"/>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86384" y="2049535"/>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 y="2049535"/>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A</a:t>
            </a:r>
          </a:p>
        </p:txBody>
      </p:sp>
      <p:sp>
        <p:nvSpPr>
          <p:cNvPr id="10" name="TextBox 9"/>
          <p:cNvSpPr txBox="1"/>
          <p:nvPr/>
        </p:nvSpPr>
        <p:spPr>
          <a:xfrm>
            <a:off x="1408176" y="1810511"/>
            <a:ext cx="9966960" cy="898672"/>
          </a:xfrm>
          <a:prstGeom prst="rect">
            <a:avLst/>
          </a:prstGeom>
          <a:noFill/>
        </p:spPr>
        <p:txBody>
          <a:bodyPr wrap="square" anchor="ctr" lIns="0" rIns="0" tIns="0" bIns="0">
            <a:spAutoFit/>
          </a:bodyPr>
          <a:lstStyle/>
          <a:p>
            <a:pPr algn="l"/>
            <a:r>
              <a:rPr sz="2100" b="0">
                <a:solidFill>
                  <a:srgbClr val="0E2841"/>
                </a:solidFill>
                <a:latin typeface="Aptos"/>
              </a:rPr>
              <a:t>Que aparezca dibujada en un diagrama UML del proyecto</a:t>
            </a:r>
          </a:p>
        </p:txBody>
      </p:sp>
      <p:sp>
        <p:nvSpPr>
          <p:cNvPr id="11" name="Rounded Rectangle 10"/>
          <p:cNvSpPr/>
          <p:nvPr/>
        </p:nvSpPr>
        <p:spPr>
          <a:xfrm>
            <a:off x="566928" y="2880360"/>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86384" y="3119384"/>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 y="3119384"/>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B</a:t>
            </a:r>
          </a:p>
        </p:txBody>
      </p:sp>
      <p:sp>
        <p:nvSpPr>
          <p:cNvPr id="14" name="TextBox 13"/>
          <p:cNvSpPr txBox="1"/>
          <p:nvPr/>
        </p:nvSpPr>
        <p:spPr>
          <a:xfrm>
            <a:off x="1408176" y="2880360"/>
            <a:ext cx="9966960" cy="898672"/>
          </a:xfrm>
          <a:prstGeom prst="rect">
            <a:avLst/>
          </a:prstGeom>
          <a:noFill/>
        </p:spPr>
        <p:txBody>
          <a:bodyPr wrap="square" anchor="ctr" lIns="0" rIns="0" tIns="0" bIns="0">
            <a:spAutoFit/>
          </a:bodyPr>
          <a:lstStyle/>
          <a:p>
            <a:pPr algn="l"/>
            <a:r>
              <a:rPr sz="2100" b="0">
                <a:solidFill>
                  <a:srgbClr val="0E2841"/>
                </a:solidFill>
                <a:latin typeface="Aptos"/>
              </a:rPr>
              <a:t>Que revertirla más adelante resulte costoso o disruptivo</a:t>
            </a:r>
          </a:p>
        </p:txBody>
      </p:sp>
      <p:sp>
        <p:nvSpPr>
          <p:cNvPr id="15" name="Rounded Rectangle 14"/>
          <p:cNvSpPr/>
          <p:nvPr/>
        </p:nvSpPr>
        <p:spPr>
          <a:xfrm>
            <a:off x="566928" y="3950208"/>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86384" y="4189232"/>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4189232"/>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C</a:t>
            </a:r>
          </a:p>
        </p:txBody>
      </p:sp>
      <p:sp>
        <p:nvSpPr>
          <p:cNvPr id="18" name="TextBox 17"/>
          <p:cNvSpPr txBox="1"/>
          <p:nvPr/>
        </p:nvSpPr>
        <p:spPr>
          <a:xfrm>
            <a:off x="1408176" y="3950208"/>
            <a:ext cx="9966960" cy="898672"/>
          </a:xfrm>
          <a:prstGeom prst="rect">
            <a:avLst/>
          </a:prstGeom>
          <a:noFill/>
        </p:spPr>
        <p:txBody>
          <a:bodyPr wrap="square" anchor="ctr" lIns="0" rIns="0" tIns="0" bIns="0">
            <a:spAutoFit/>
          </a:bodyPr>
          <a:lstStyle/>
          <a:p>
            <a:pPr algn="l"/>
            <a:r>
              <a:rPr sz="2100" b="0">
                <a:solidFill>
                  <a:srgbClr val="0E2841"/>
                </a:solidFill>
                <a:latin typeface="Aptos"/>
              </a:rPr>
              <a:t>Que la tome el arquitecto y no el equipo de desarrollo</a:t>
            </a:r>
          </a:p>
        </p:txBody>
      </p:sp>
      <p:sp>
        <p:nvSpPr>
          <p:cNvPr id="19" name="Rounded Rectangle 18"/>
          <p:cNvSpPr/>
          <p:nvPr/>
        </p:nvSpPr>
        <p:spPr>
          <a:xfrm>
            <a:off x="566928" y="5020056"/>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86384" y="5259080"/>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86384" y="5259080"/>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D</a:t>
            </a:r>
          </a:p>
        </p:txBody>
      </p:sp>
      <p:sp>
        <p:nvSpPr>
          <p:cNvPr id="22" name="TextBox 21"/>
          <p:cNvSpPr txBox="1"/>
          <p:nvPr/>
        </p:nvSpPr>
        <p:spPr>
          <a:xfrm>
            <a:off x="1408176" y="5020056"/>
            <a:ext cx="9966960" cy="898672"/>
          </a:xfrm>
          <a:prstGeom prst="rect">
            <a:avLst/>
          </a:prstGeom>
          <a:noFill/>
        </p:spPr>
        <p:txBody>
          <a:bodyPr wrap="square" anchor="ctr" lIns="0" rIns="0" tIns="0" bIns="0">
            <a:spAutoFit/>
          </a:bodyPr>
          <a:lstStyle/>
          <a:p>
            <a:pPr algn="l"/>
            <a:r>
              <a:rPr sz="2100" b="0">
                <a:solidFill>
                  <a:srgbClr val="0E2841"/>
                </a:solidFill>
                <a:latin typeface="Aptos"/>
              </a:rPr>
              <a:t>Que involucre elegir un lenguaje de programación</a:t>
            </a:r>
          </a:p>
        </p:txBody>
      </p:sp>
      <p:sp>
        <p:nvSpPr>
          <p:cNvPr id="23" name="TextBox 22"/>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Arquitectura y Diseño de Software  ·  Unidad 1</a:t>
            </a:r>
          </a:p>
        </p:txBody>
      </p:sp>
      <p:sp>
        <p:nvSpPr>
          <p:cNvPr id="24" name="TextBox 23"/>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7 / 39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56082"/>
        </a:solidFill>
        <a:effectLst/>
      </p:bgPr>
    </p:bg>
    <p:spTree>
      <p:nvGrpSpPr>
        <p:cNvPr id="1" name=""/>
        <p:cNvGrpSpPr/>
        <p:nvPr/>
      </p:nvGrpSpPr>
      <p:grpSpPr/>
      <p:sp>
        <p:nvSpPr>
          <p:cNvPr id="2" name="TextBox 1"/>
          <p:cNvSpPr txBox="1"/>
          <p:nvPr/>
        </p:nvSpPr>
        <p:spPr>
          <a:xfrm>
            <a:off x="0" y="960120"/>
            <a:ext cx="12191695" cy="2011680"/>
          </a:xfrm>
          <a:prstGeom prst="rect">
            <a:avLst/>
          </a:prstGeom>
          <a:noFill/>
        </p:spPr>
        <p:txBody>
          <a:bodyPr wrap="square" anchor="t" lIns="0" rIns="0" tIns="0" bIns="0">
            <a:spAutoFit/>
          </a:bodyPr>
          <a:lstStyle/>
          <a:p>
            <a:pPr algn="ctr"/>
            <a:r>
              <a:rPr sz="12800" b="1">
                <a:solidFill>
                  <a:srgbClr val="0E2841"/>
                </a:solidFill>
                <a:latin typeface="Aptos Display"/>
              </a:rPr>
              <a:t>02</a:t>
            </a:r>
          </a:p>
        </p:txBody>
      </p:sp>
      <p:sp>
        <p:nvSpPr>
          <p:cNvPr id="3" name="Rectangle 2"/>
          <p:cNvSpPr/>
          <p:nvPr/>
        </p:nvSpPr>
        <p:spPr>
          <a:xfrm>
            <a:off x="5184648" y="3127248"/>
            <a:ext cx="1828800" cy="635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429000"/>
            <a:ext cx="10698480" cy="1097280"/>
          </a:xfrm>
          <a:prstGeom prst="rect">
            <a:avLst/>
          </a:prstGeom>
          <a:noFill/>
        </p:spPr>
        <p:txBody>
          <a:bodyPr wrap="square" anchor="t" lIns="0" rIns="0" tIns="0" bIns="0">
            <a:spAutoFit/>
          </a:bodyPr>
          <a:lstStyle/>
          <a:p>
            <a:pPr algn="ctr"/>
            <a:r>
              <a:rPr sz="4000" b="1">
                <a:solidFill>
                  <a:srgbClr val="FFFFFF"/>
                </a:solidFill>
                <a:latin typeface="Aptos Display"/>
              </a:rPr>
              <a:t>2. Los tres principios fundamentales</a:t>
            </a:r>
          </a:p>
        </p:txBody>
      </p:sp>
      <p:pic>
        <p:nvPicPr>
          <p:cNvPr id="5" name="Picture 4" descr="Logo-Institucional-con-advertencia-Vigilado-Mineducacion-Blanco.png"/>
          <p:cNvPicPr>
            <a:picLocks noChangeAspect="1"/>
          </p:cNvPicPr>
          <p:nvPr/>
        </p:nvPicPr>
        <p:blipFill>
          <a:blip r:embed="rId2"/>
          <a:stretch>
            <a:fillRect/>
          </a:stretch>
        </p:blipFill>
        <p:spPr>
          <a:xfrm>
            <a:off x="10938117" y="5943600"/>
            <a:ext cx="750963" cy="6858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1 · FUNDAMENTOS · ESP. INGENIERÍA DE SOFTWARE</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Modularidad: alta cohesión, bajo acoplamiento</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858060"/>
            <a:ext cx="5367528" cy="4184294"/>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 Same Side Corner Rectangle 7"/>
          <p:cNvSpPr/>
          <p:nvPr/>
        </p:nvSpPr>
        <p:spPr>
          <a:xfrm>
            <a:off x="566928" y="1858060"/>
            <a:ext cx="5367528" cy="566928"/>
          </a:xfrm>
          <a:prstGeom prst="round2SameRect">
            <a:avLst>
              <a:gd name="adj1" fmla="val 14000"/>
              <a:gd name="adj2" fmla="val 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1858060"/>
            <a:ext cx="5001768" cy="566928"/>
          </a:xfrm>
          <a:prstGeom prst="rect">
            <a:avLst/>
          </a:prstGeom>
          <a:noFill/>
        </p:spPr>
        <p:txBody>
          <a:bodyPr wrap="square" anchor="ctr" lIns="0" rIns="0" tIns="0" bIns="0">
            <a:spAutoFit/>
          </a:bodyPr>
          <a:lstStyle/>
          <a:p>
            <a:pPr algn="l"/>
            <a:r>
              <a:rPr sz="1954" b="1">
                <a:solidFill>
                  <a:srgbClr val="FFFFFF"/>
                </a:solidFill>
                <a:latin typeface="Aptos Display"/>
              </a:rPr>
              <a:t>Bien trazado</a:t>
            </a:r>
          </a:p>
        </p:txBody>
      </p:sp>
      <p:sp>
        <p:nvSpPr>
          <p:cNvPr id="10" name="Oval 9"/>
          <p:cNvSpPr/>
          <p:nvPr/>
        </p:nvSpPr>
        <p:spPr>
          <a:xfrm>
            <a:off x="786384" y="3174796"/>
            <a:ext cx="91440" cy="9144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24128" y="2918764"/>
            <a:ext cx="4709160" cy="603504"/>
          </a:xfrm>
          <a:prstGeom prst="rect">
            <a:avLst/>
          </a:prstGeom>
          <a:noFill/>
        </p:spPr>
        <p:txBody>
          <a:bodyPr wrap="square" anchor="ctr" lIns="0" rIns="0" tIns="0" bIns="0">
            <a:spAutoFit/>
          </a:bodyPr>
          <a:lstStyle/>
          <a:p>
            <a:pPr algn="l"/>
            <a:r>
              <a:rPr sz="1609" b="0">
                <a:solidFill>
                  <a:srgbClr val="33475B"/>
                </a:solidFill>
                <a:latin typeface="Aptos"/>
              </a:rPr>
              <a:t>Tarifas y Pagos separados</a:t>
            </a:r>
          </a:p>
        </p:txBody>
      </p:sp>
      <p:sp>
        <p:nvSpPr>
          <p:cNvPr id="12" name="Oval 11"/>
          <p:cNvSpPr/>
          <p:nvPr/>
        </p:nvSpPr>
        <p:spPr>
          <a:xfrm>
            <a:off x="786384" y="3778300"/>
            <a:ext cx="91440" cy="9144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24128" y="3522268"/>
            <a:ext cx="4709160" cy="603504"/>
          </a:xfrm>
          <a:prstGeom prst="rect">
            <a:avLst/>
          </a:prstGeom>
          <a:noFill/>
        </p:spPr>
        <p:txBody>
          <a:bodyPr wrap="square" anchor="ctr" lIns="0" rIns="0" tIns="0" bIns="0">
            <a:spAutoFit/>
          </a:bodyPr>
          <a:lstStyle/>
          <a:p>
            <a:pPr algn="l"/>
            <a:r>
              <a:rPr sz="1609" b="0">
                <a:solidFill>
                  <a:srgbClr val="33475B"/>
                </a:solidFill>
                <a:latin typeface="Aptos"/>
              </a:rPr>
              <a:t>Una interfaz, un contrato</a:t>
            </a:r>
          </a:p>
        </p:txBody>
      </p:sp>
      <p:sp>
        <p:nvSpPr>
          <p:cNvPr id="14" name="Oval 13"/>
          <p:cNvSpPr/>
          <p:nvPr/>
        </p:nvSpPr>
        <p:spPr>
          <a:xfrm>
            <a:off x="786384" y="4381804"/>
            <a:ext cx="91440" cy="9144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24128" y="4125772"/>
            <a:ext cx="4709160" cy="603504"/>
          </a:xfrm>
          <a:prstGeom prst="rect">
            <a:avLst/>
          </a:prstGeom>
          <a:noFill/>
        </p:spPr>
        <p:txBody>
          <a:bodyPr wrap="square" anchor="ctr" lIns="0" rIns="0" tIns="0" bIns="0">
            <a:spAutoFit/>
          </a:bodyPr>
          <a:lstStyle/>
          <a:p>
            <a:pPr algn="l"/>
            <a:r>
              <a:rPr sz="1609" b="0">
                <a:solidFill>
                  <a:srgbClr val="33475B"/>
                </a:solidFill>
                <a:latin typeface="Aptos"/>
              </a:rPr>
              <a:t>Cambiar tarifas NO toca pagos</a:t>
            </a:r>
          </a:p>
        </p:txBody>
      </p:sp>
      <p:sp>
        <p:nvSpPr>
          <p:cNvPr id="16" name="Rounded Rectangle 15"/>
          <p:cNvSpPr/>
          <p:nvPr/>
        </p:nvSpPr>
        <p:spPr>
          <a:xfrm>
            <a:off x="6263640" y="1858060"/>
            <a:ext cx="5367528" cy="4184294"/>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 Same Side Corner Rectangle 16"/>
          <p:cNvSpPr/>
          <p:nvPr/>
        </p:nvSpPr>
        <p:spPr>
          <a:xfrm>
            <a:off x="6263640" y="1858060"/>
            <a:ext cx="5367528" cy="566928"/>
          </a:xfrm>
          <a:prstGeom prst="round2SameRect">
            <a:avLst>
              <a:gd name="adj1" fmla="val 14000"/>
              <a:gd name="adj2" fmla="val 0"/>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46520" y="1858060"/>
            <a:ext cx="5001768" cy="566928"/>
          </a:xfrm>
          <a:prstGeom prst="rect">
            <a:avLst/>
          </a:prstGeom>
          <a:noFill/>
        </p:spPr>
        <p:txBody>
          <a:bodyPr wrap="square" anchor="ctr" lIns="0" rIns="0" tIns="0" bIns="0">
            <a:spAutoFit/>
          </a:bodyPr>
          <a:lstStyle/>
          <a:p>
            <a:pPr algn="l"/>
            <a:r>
              <a:rPr sz="1954" b="1">
                <a:solidFill>
                  <a:srgbClr val="FFFFFF"/>
                </a:solidFill>
                <a:latin typeface="Aptos Display"/>
              </a:rPr>
              <a:t>Mal trazado</a:t>
            </a:r>
          </a:p>
        </p:txBody>
      </p:sp>
      <p:sp>
        <p:nvSpPr>
          <p:cNvPr id="19" name="Oval 18"/>
          <p:cNvSpPr/>
          <p:nvPr/>
        </p:nvSpPr>
        <p:spPr>
          <a:xfrm>
            <a:off x="6483096" y="3174796"/>
            <a:ext cx="91440" cy="91440"/>
          </a:xfrm>
          <a:prstGeom prst="ellipse">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20840" y="2918764"/>
            <a:ext cx="4709160" cy="603504"/>
          </a:xfrm>
          <a:prstGeom prst="rect">
            <a:avLst/>
          </a:prstGeom>
          <a:noFill/>
        </p:spPr>
        <p:txBody>
          <a:bodyPr wrap="square" anchor="ctr" lIns="0" rIns="0" tIns="0" bIns="0">
            <a:spAutoFit/>
          </a:bodyPr>
          <a:lstStyle/>
          <a:p>
            <a:pPr algn="l"/>
            <a:r>
              <a:rPr sz="1609" b="0">
                <a:solidFill>
                  <a:srgbClr val="33475B"/>
                </a:solidFill>
                <a:latin typeface="Aptos"/>
              </a:rPr>
              <a:t>Tarifas + Pagos + SMS + Reportes juntos</a:t>
            </a:r>
          </a:p>
        </p:txBody>
      </p:sp>
      <p:sp>
        <p:nvSpPr>
          <p:cNvPr id="21" name="Oval 20"/>
          <p:cNvSpPr/>
          <p:nvPr/>
        </p:nvSpPr>
        <p:spPr>
          <a:xfrm>
            <a:off x="6483096" y="3778300"/>
            <a:ext cx="91440" cy="91440"/>
          </a:xfrm>
          <a:prstGeom prst="ellipse">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720840" y="3522268"/>
            <a:ext cx="4709160" cy="603504"/>
          </a:xfrm>
          <a:prstGeom prst="rect">
            <a:avLst/>
          </a:prstGeom>
          <a:noFill/>
        </p:spPr>
        <p:txBody>
          <a:bodyPr wrap="square" anchor="ctr" lIns="0" rIns="0" tIns="0" bIns="0">
            <a:spAutoFit/>
          </a:bodyPr>
          <a:lstStyle/>
          <a:p>
            <a:pPr algn="l"/>
            <a:r>
              <a:rPr sz="1609" b="0">
                <a:solidFill>
                  <a:srgbClr val="33475B"/>
                </a:solidFill>
                <a:latin typeface="Aptos"/>
              </a:rPr>
              <a:t>Todo se llama a todo</a:t>
            </a:r>
          </a:p>
        </p:txBody>
      </p:sp>
      <p:sp>
        <p:nvSpPr>
          <p:cNvPr id="23" name="Oval 22"/>
          <p:cNvSpPr/>
          <p:nvPr/>
        </p:nvSpPr>
        <p:spPr>
          <a:xfrm>
            <a:off x="6483096" y="4381804"/>
            <a:ext cx="91440" cy="91440"/>
          </a:xfrm>
          <a:prstGeom prst="ellipse">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20840" y="4125772"/>
            <a:ext cx="4709160" cy="603504"/>
          </a:xfrm>
          <a:prstGeom prst="rect">
            <a:avLst/>
          </a:prstGeom>
          <a:noFill/>
        </p:spPr>
        <p:txBody>
          <a:bodyPr wrap="square" anchor="ctr" lIns="0" rIns="0" tIns="0" bIns="0">
            <a:spAutoFit/>
          </a:bodyPr>
          <a:lstStyle/>
          <a:p>
            <a:pPr algn="l"/>
            <a:r>
              <a:rPr sz="1609" b="0">
                <a:solidFill>
                  <a:srgbClr val="33475B"/>
                </a:solidFill>
                <a:latin typeface="Aptos"/>
              </a:rPr>
              <a:t>Cambiar algo rompe otra cosa</a:t>
            </a:r>
          </a:p>
        </p:txBody>
      </p:sp>
      <p:sp>
        <p:nvSpPr>
          <p:cNvPr id="25" name="TextBox 24"/>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Arquitectura y Diseño de Software  ·  Unidad 1</a:t>
            </a:r>
          </a:p>
        </p:txBody>
      </p:sp>
      <p:sp>
        <p:nvSpPr>
          <p:cNvPr id="26" name="TextBox 25"/>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8 / 39</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1 · FUNDAMENTOS · ESP. INGENIERÍA DE SOFTWARE</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Separación de preocupaciones: política y mecanismo</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2048256"/>
            <a:ext cx="2532888" cy="310896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2304288"/>
            <a:ext cx="384048" cy="508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2560320"/>
            <a:ext cx="2130552" cy="2395728"/>
          </a:xfrm>
          <a:prstGeom prst="rect">
            <a:avLst/>
          </a:prstGeom>
          <a:noFill/>
        </p:spPr>
        <p:txBody>
          <a:bodyPr wrap="square" anchor="t" lIns="0" rIns="0" tIns="0" bIns="0">
            <a:spAutoFit/>
          </a:bodyPr>
          <a:lstStyle/>
          <a:p>
            <a:pPr algn="l"/>
            <a:r>
              <a:rPr sz="2039" b="1">
                <a:solidFill>
                  <a:srgbClr val="0E2841"/>
                </a:solidFill>
                <a:latin typeface="Aptos Display"/>
              </a:rPr>
              <a:t>Política</a:t>
            </a:r>
          </a:p>
          <a:p>
            <a:pPr algn="l">
              <a:lnSpc>
                <a:spcPct val="120000"/>
              </a:lnSpc>
              <a:spcBef>
                <a:spcPts val="700"/>
              </a:spcBef>
            </a:pPr>
            <a:r>
              <a:rPr sz="1560" b="0">
                <a:solidFill>
                  <a:srgbClr val="33475B"/>
                </a:solidFill>
                <a:latin typeface="Aptos"/>
              </a:rPr>
              <a:t>Las reglas del negocio. Cómo se calcula una tarifa nocturna</a:t>
            </a:r>
          </a:p>
        </p:txBody>
      </p:sp>
      <p:sp>
        <p:nvSpPr>
          <p:cNvPr id="10" name="Rounded Rectangle 9"/>
          <p:cNvSpPr/>
          <p:nvPr/>
        </p:nvSpPr>
        <p:spPr>
          <a:xfrm>
            <a:off x="3410712" y="2048256"/>
            <a:ext cx="2532888" cy="310896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11880" y="2304288"/>
            <a:ext cx="384048"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11880" y="2560320"/>
            <a:ext cx="2130552" cy="2395728"/>
          </a:xfrm>
          <a:prstGeom prst="rect">
            <a:avLst/>
          </a:prstGeom>
          <a:noFill/>
        </p:spPr>
        <p:txBody>
          <a:bodyPr wrap="square" anchor="t" lIns="0" rIns="0" tIns="0" bIns="0">
            <a:spAutoFit/>
          </a:bodyPr>
          <a:lstStyle/>
          <a:p>
            <a:pPr algn="l"/>
            <a:r>
              <a:rPr sz="2039" b="1">
                <a:solidFill>
                  <a:srgbClr val="0E2841"/>
                </a:solidFill>
                <a:latin typeface="Aptos Display"/>
              </a:rPr>
              <a:t>Mecanismo</a:t>
            </a:r>
          </a:p>
          <a:p>
            <a:pPr algn="l">
              <a:lnSpc>
                <a:spcPct val="120000"/>
              </a:lnSpc>
              <a:spcBef>
                <a:spcPts val="700"/>
              </a:spcBef>
            </a:pPr>
            <a:r>
              <a:rPr sz="1560" b="0">
                <a:solidFill>
                  <a:srgbClr val="33475B"/>
                </a:solidFill>
                <a:latin typeface="Aptos"/>
              </a:rPr>
              <a:t>Los detalles técnicos. Que se guarde en PostgreSQL y se avise por SMS</a:t>
            </a:r>
          </a:p>
        </p:txBody>
      </p:sp>
      <p:sp>
        <p:nvSpPr>
          <p:cNvPr id="13" name="Rounded Rectangle 12"/>
          <p:cNvSpPr/>
          <p:nvPr/>
        </p:nvSpPr>
        <p:spPr>
          <a:xfrm>
            <a:off x="6254496" y="2048256"/>
            <a:ext cx="2532888" cy="310896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455664" y="2304288"/>
            <a:ext cx="384048"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0320"/>
            <a:ext cx="2130552" cy="2395728"/>
          </a:xfrm>
          <a:prstGeom prst="rect">
            <a:avLst/>
          </a:prstGeom>
          <a:noFill/>
        </p:spPr>
        <p:txBody>
          <a:bodyPr wrap="square" anchor="t" lIns="0" rIns="0" tIns="0" bIns="0">
            <a:spAutoFit/>
          </a:bodyPr>
          <a:lstStyle/>
          <a:p>
            <a:pPr algn="l"/>
            <a:r>
              <a:rPr sz="2039" b="1">
                <a:solidFill>
                  <a:srgbClr val="0E2841"/>
                </a:solidFill>
                <a:latin typeface="Aptos Display"/>
              </a:rPr>
              <a:t>La prueba</a:t>
            </a:r>
          </a:p>
          <a:p>
            <a:pPr algn="l">
              <a:lnSpc>
                <a:spcPct val="120000"/>
              </a:lnSpc>
              <a:spcBef>
                <a:spcPts val="700"/>
              </a:spcBef>
            </a:pPr>
            <a:r>
              <a:rPr sz="1560" b="0">
                <a:solidFill>
                  <a:srgbClr val="33475B"/>
                </a:solidFill>
                <a:latin typeface="Aptos"/>
              </a:rPr>
              <a:t>¿Puede existir la política sin el mecanismo?</a:t>
            </a:r>
          </a:p>
        </p:txBody>
      </p:sp>
      <p:sp>
        <p:nvSpPr>
          <p:cNvPr id="16" name="Rounded Rectangle 15"/>
          <p:cNvSpPr/>
          <p:nvPr/>
        </p:nvSpPr>
        <p:spPr>
          <a:xfrm>
            <a:off x="9098280" y="2048256"/>
            <a:ext cx="2532888" cy="310896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9299448" y="2304288"/>
            <a:ext cx="384048" cy="508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299448" y="2560320"/>
            <a:ext cx="2130552" cy="2395728"/>
          </a:xfrm>
          <a:prstGeom prst="rect">
            <a:avLst/>
          </a:prstGeom>
          <a:noFill/>
        </p:spPr>
        <p:txBody>
          <a:bodyPr wrap="square" anchor="t" lIns="0" rIns="0" tIns="0" bIns="0">
            <a:spAutoFit/>
          </a:bodyPr>
          <a:lstStyle/>
          <a:p>
            <a:pPr algn="l"/>
            <a:r>
              <a:rPr sz="2039" b="1">
                <a:solidFill>
                  <a:srgbClr val="0E2841"/>
                </a:solidFill>
                <a:latin typeface="Aptos Display"/>
              </a:rPr>
              <a:t>Si no puede</a:t>
            </a:r>
          </a:p>
          <a:p>
            <a:pPr algn="l">
              <a:lnSpc>
                <a:spcPct val="120000"/>
              </a:lnSpc>
              <a:spcBef>
                <a:spcPts val="700"/>
              </a:spcBef>
            </a:pPr>
            <a:r>
              <a:rPr sz="1560" b="0">
                <a:solidFill>
                  <a:srgbClr val="33475B"/>
                </a:solidFill>
                <a:latin typeface="Aptos"/>
              </a:rPr>
              <a:t>La separación falló, aunque haya carpetas separadas</a:t>
            </a:r>
          </a:p>
        </p:txBody>
      </p:sp>
      <p:sp>
        <p:nvSpPr>
          <p:cNvPr id="19" name="TextBox 18"/>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Arquitectura y Diseño de Software  ·  Unidad 1</a:t>
            </a:r>
          </a:p>
        </p:txBody>
      </p:sp>
      <p:sp>
        <p:nvSpPr>
          <p:cNvPr id="20" name="TextBox 19"/>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9 / 39</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1 · FUNDAMENTOS · ESP. INGENIERÍA DE SOFTWARE</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Abstracción: exponer el qué, ocultar el cómo</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572768"/>
            <a:ext cx="11064240" cy="2525887"/>
          </a:xfrm>
          <a:prstGeom prst="roundRect">
            <a:avLst>
              <a:gd name="adj" fmla="val 5000"/>
            </a:avLst>
          </a:prstGeom>
          <a:solidFill>
            <a:srgbClr val="0E2841"/>
          </a:solidFill>
          <a:ln>
            <a:noFill/>
          </a:ln>
          <a:effectLst>
            <a:outerShdw blurRad="203200" dist="50800" dir="5400000" rotWithShape="0">
              <a:srgbClr val="0E2841">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41248" y="1792224"/>
            <a:ext cx="38100" cy="18288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 y="1755648"/>
            <a:ext cx="7315200" cy="237744"/>
          </a:xfrm>
          <a:prstGeom prst="rect">
            <a:avLst/>
          </a:prstGeom>
          <a:noFill/>
        </p:spPr>
        <p:txBody>
          <a:bodyPr wrap="square" anchor="t" lIns="0" rIns="0" tIns="0" bIns="0">
            <a:spAutoFit/>
          </a:bodyPr>
          <a:lstStyle/>
          <a:p>
            <a:pPr algn="l"/>
            <a:r>
              <a:rPr sz="1118" b="1">
                <a:solidFill>
                  <a:srgbClr val="E97132"/>
                </a:solidFill>
                <a:latin typeface="Aptos"/>
              </a:rPr>
              <a:t>ABSTRACCIÓN CORRECTA</a:t>
            </a:r>
          </a:p>
        </p:txBody>
      </p:sp>
      <p:sp>
        <p:nvSpPr>
          <p:cNvPr id="10" name="TextBox 9"/>
          <p:cNvSpPr txBox="1"/>
          <p:nvPr/>
        </p:nvSpPr>
        <p:spPr>
          <a:xfrm>
            <a:off x="877824" y="2139696"/>
            <a:ext cx="10515600" cy="1794367"/>
          </a:xfrm>
          <a:prstGeom prst="rect">
            <a:avLst/>
          </a:prstGeom>
          <a:noFill/>
        </p:spPr>
        <p:txBody>
          <a:bodyPr wrap="none" lIns="0" tIns="0">
            <a:spAutoFit/>
          </a:bodyPr>
          <a:lstStyle/>
          <a:p>
            <a:pPr>
              <a:lnSpc>
                <a:spcPct val="125000"/>
              </a:lnSpc>
            </a:pPr>
            <a:r>
              <a:rPr sz="1410">
                <a:solidFill>
                  <a:srgbClr val="E8E8E8"/>
                </a:solidFill>
                <a:latin typeface="Consolas"/>
              </a:rPr>
              <a:t>// El núcleo declara QUÉ necesita, en su propio lenguaje.</a:t>
            </a:r>
          </a:p>
          <a:p>
            <a:pPr>
              <a:lnSpc>
                <a:spcPct val="125000"/>
              </a:lnSpc>
            </a:pPr>
            <a:r>
              <a:rPr sz="1410">
                <a:solidFill>
                  <a:srgbClr val="E8E8E8"/>
                </a:solidFill>
                <a:latin typeface="Consolas"/>
              </a:rPr>
              <a:t>public interface PasarelaDePagos {</a:t>
            </a:r>
          </a:p>
          <a:p>
            <a:pPr>
              <a:lnSpc>
                <a:spcPct val="125000"/>
              </a:lnSpc>
            </a:pPr>
            <a:r>
              <a:rPr sz="1410">
                <a:solidFill>
                  <a:srgbClr val="E8E8E8"/>
                </a:solidFill>
                <a:latin typeface="Consolas"/>
              </a:rPr>
              <a:t>    ResultadoPago cobrar(Dinero monto, MedioDePago medio);</a:t>
            </a:r>
          </a:p>
          <a:p>
            <a:pPr>
              <a:lnSpc>
                <a:spcPct val="125000"/>
              </a:lnSpc>
            </a:pPr>
            <a:r>
              <a:rPr sz="1410">
                <a:solidFill>
                  <a:srgbClr val="E8E8E8"/>
                </a:solidFill>
                <a:latin typeface="Consolas"/>
              </a:rPr>
              <a:t>}</a:t>
            </a:r>
          </a:p>
          <a:p>
            <a:pPr>
              <a:lnSpc>
                <a:spcPct val="125000"/>
              </a:lnSpc>
            </a:pPr>
            <a:r>
              <a:rPr sz="1410">
                <a:solidFill>
                  <a:srgbClr val="E8E8E8"/>
                </a:solidFill>
                <a:latin typeface="Consolas"/>
              </a:rPr>
              <a:t> </a:t>
            </a:r>
          </a:p>
          <a:p>
            <a:pPr>
              <a:lnSpc>
                <a:spcPct val="125000"/>
              </a:lnSpc>
            </a:pPr>
            <a:r>
              <a:rPr sz="1410">
                <a:solidFill>
                  <a:srgbClr val="E8E8E8"/>
                </a:solidFill>
                <a:latin typeface="Consolas"/>
              </a:rPr>
              <a:t>public class CerrarSalidaDeVehiculo {</a:t>
            </a:r>
          </a:p>
          <a:p>
            <a:pPr>
              <a:lnSpc>
                <a:spcPct val="125000"/>
              </a:lnSpc>
            </a:pPr>
            <a:r>
              <a:rPr sz="1410">
                <a:solidFill>
                  <a:srgbClr val="E8E8E8"/>
                </a:solidFill>
                <a:latin typeface="Consolas"/>
              </a:rPr>
              <a:t>    private final PasarelaDePagos pasarela;   // depende de la abstracción</a:t>
            </a:r>
          </a:p>
          <a:p>
            <a:pPr>
              <a:lnSpc>
                <a:spcPct val="125000"/>
              </a:lnSpc>
            </a:pPr>
            <a:r>
              <a:rPr sz="1410">
                <a:solidFill>
                  <a:srgbClr val="E8E8E8"/>
                </a:solidFill>
                <a:latin typeface="Consolas"/>
              </a:rPr>
              <a:t>}</a:t>
            </a:r>
          </a:p>
        </p:txBody>
      </p:sp>
      <p:sp>
        <p:nvSpPr>
          <p:cNvPr id="11" name="Rounded Rectangle 10"/>
          <p:cNvSpPr/>
          <p:nvPr/>
        </p:nvSpPr>
        <p:spPr>
          <a:xfrm>
            <a:off x="566928" y="4299823"/>
            <a:ext cx="11064240" cy="2027824"/>
          </a:xfrm>
          <a:prstGeom prst="roundRect">
            <a:avLst>
              <a:gd name="adj" fmla="val 5000"/>
            </a:avLst>
          </a:prstGeom>
          <a:solidFill>
            <a:srgbClr val="0E2841"/>
          </a:solidFill>
          <a:ln>
            <a:noFill/>
          </a:ln>
          <a:effectLst>
            <a:outerShdw blurRad="203200" dist="50800" dir="5400000" rotWithShape="0">
              <a:srgbClr val="0E2841">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1248" y="4519279"/>
            <a:ext cx="38100" cy="18288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87552" y="4482703"/>
            <a:ext cx="7315200" cy="237744"/>
          </a:xfrm>
          <a:prstGeom prst="rect">
            <a:avLst/>
          </a:prstGeom>
          <a:noFill/>
        </p:spPr>
        <p:txBody>
          <a:bodyPr wrap="square" anchor="t" lIns="0" rIns="0" tIns="0" bIns="0">
            <a:spAutoFit/>
          </a:bodyPr>
          <a:lstStyle/>
          <a:p>
            <a:pPr algn="l"/>
            <a:r>
              <a:rPr sz="1118" b="1">
                <a:solidFill>
                  <a:srgbClr val="E97132"/>
                </a:solidFill>
                <a:latin typeface="Aptos"/>
              </a:rPr>
              <a:t>ABSTRACCIÓN CON FUGA</a:t>
            </a:r>
          </a:p>
        </p:txBody>
      </p:sp>
      <p:sp>
        <p:nvSpPr>
          <p:cNvPr id="14" name="TextBox 13"/>
          <p:cNvSpPr txBox="1"/>
          <p:nvPr/>
        </p:nvSpPr>
        <p:spPr>
          <a:xfrm>
            <a:off x="877824" y="4866751"/>
            <a:ext cx="10515600" cy="1296304"/>
          </a:xfrm>
          <a:prstGeom prst="rect">
            <a:avLst/>
          </a:prstGeom>
          <a:noFill/>
        </p:spPr>
        <p:txBody>
          <a:bodyPr wrap="none" lIns="0" tIns="0">
            <a:spAutoFit/>
          </a:bodyPr>
          <a:lstStyle/>
          <a:p>
            <a:pPr>
              <a:lnSpc>
                <a:spcPct val="125000"/>
              </a:lnSpc>
            </a:pPr>
            <a:r>
              <a:rPr sz="1410">
                <a:solidFill>
                  <a:srgbClr val="E8E8E8"/>
                </a:solidFill>
                <a:latin typeface="Consolas"/>
              </a:rPr>
              <a:t>// La firma arrastra el vocabulario del proveedor: ya no abstrae.</a:t>
            </a:r>
          </a:p>
          <a:p>
            <a:pPr>
              <a:lnSpc>
                <a:spcPct val="125000"/>
              </a:lnSpc>
            </a:pPr>
            <a:r>
              <a:rPr sz="1410">
                <a:solidFill>
                  <a:srgbClr val="E8E8E8"/>
                </a:solidFill>
                <a:latin typeface="Consolas"/>
              </a:rPr>
              <a:t>public interface PasarelaDePagos {</a:t>
            </a:r>
          </a:p>
          <a:p>
            <a:pPr>
              <a:lnSpc>
                <a:spcPct val="125000"/>
              </a:lnSpc>
            </a:pPr>
            <a:r>
              <a:rPr sz="1410">
                <a:solidFill>
                  <a:srgbClr val="E8E8E8"/>
                </a:solidFill>
                <a:latin typeface="Consolas"/>
              </a:rPr>
              <a:t>    StripeChargeResponse charge(StripeChargeRequest req, String apiKey)</a:t>
            </a:r>
          </a:p>
          <a:p>
            <a:pPr>
              <a:lnSpc>
                <a:spcPct val="125000"/>
              </a:lnSpc>
            </a:pPr>
            <a:r>
              <a:rPr sz="1410">
                <a:solidFill>
                  <a:srgbClr val="E8E8E8"/>
                </a:solidFill>
                <a:latin typeface="Consolas"/>
              </a:rPr>
              <a:t>        throws StripeException;</a:t>
            </a:r>
          </a:p>
          <a:p>
            <a:pPr>
              <a:lnSpc>
                <a:spcPct val="125000"/>
              </a:lnSpc>
            </a:pPr>
            <a:r>
              <a:rPr sz="1410">
                <a:solidFill>
                  <a:srgbClr val="E8E8E8"/>
                </a:solidFill>
                <a:latin typeface="Consolas"/>
              </a:rPr>
              <a:t>}</a:t>
            </a:r>
          </a:p>
          <a:p>
            <a:pPr>
              <a:lnSpc>
                <a:spcPct val="125000"/>
              </a:lnSpc>
            </a:pPr>
            <a:r>
              <a:rPr sz="1410">
                <a:solidFill>
                  <a:srgbClr val="E8E8E8"/>
                </a:solidFill>
                <a:latin typeface="Consolas"/>
              </a:rPr>
              <a:t>// Cambiar de proveedor obliga a tocar TODO el negocio que la usa.</a:t>
            </a:r>
          </a:p>
        </p:txBody>
      </p:sp>
      <p:sp>
        <p:nvSpPr>
          <p:cNvPr id="15" name="TextBox 14"/>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Arquitectura y Diseño de Software  ·  Unidad 1</a:t>
            </a:r>
          </a:p>
        </p:txBody>
      </p:sp>
      <p:sp>
        <p:nvSpPr>
          <p:cNvPr id="16" name="TextBox 15"/>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10 / 39</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1 · FUNDAMENTOS · ESP. INGENIERÍA DE SOFTWARE</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Una interfaz no es automáticamente una abstracción</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572768"/>
            <a:ext cx="11064240" cy="2167128"/>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27632"/>
            <a:ext cx="63500" cy="20574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572768"/>
            <a:ext cx="10378440" cy="2167128"/>
          </a:xfrm>
          <a:prstGeom prst="rect">
            <a:avLst/>
          </a:prstGeom>
          <a:noFill/>
        </p:spPr>
        <p:txBody>
          <a:bodyPr wrap="square" anchor="ctr" lIns="0" rIns="0" tIns="0" bIns="0">
            <a:spAutoFit/>
          </a:bodyPr>
          <a:lstStyle/>
          <a:p>
            <a:pPr algn="l">
              <a:lnSpc>
                <a:spcPct val="125000"/>
              </a:lnSpc>
            </a:pPr>
            <a:r>
              <a:rPr sz="2603" b="1">
                <a:solidFill>
                  <a:srgbClr val="0E2841"/>
                </a:solidFill>
                <a:latin typeface="Aptos Display"/>
              </a:rPr>
              <a:t>Si la interfaz habla el idioma del proveedor —</a:t>
            </a:r>
            <a:r>
              <a:rPr sz="2447" b="1">
                <a:solidFill>
                  <a:srgbClr val="156082"/>
                </a:solidFill>
                <a:latin typeface="Consolas"/>
              </a:rPr>
              <a:t>StripeChargeRequest</a:t>
            </a:r>
            <a:r>
              <a:rPr sz="2603" b="1">
                <a:solidFill>
                  <a:srgbClr val="0E2841"/>
                </a:solidFill>
                <a:latin typeface="Aptos Display"/>
              </a:rPr>
              <a:t>, </a:t>
            </a:r>
            <a:r>
              <a:rPr sz="2447" b="1">
                <a:solidFill>
                  <a:srgbClr val="156082"/>
                </a:solidFill>
                <a:latin typeface="Consolas"/>
              </a:rPr>
              <a:t>apiKey</a:t>
            </a:r>
            <a:r>
              <a:rPr sz="2603" b="1">
                <a:solidFill>
                  <a:srgbClr val="0E2841"/>
                </a:solidFill>
                <a:latin typeface="Aptos Display"/>
              </a:rPr>
              <a:t>, </a:t>
            </a:r>
            <a:r>
              <a:rPr sz="2447" b="1">
                <a:solidFill>
                  <a:srgbClr val="156082"/>
                </a:solidFill>
                <a:latin typeface="Consolas"/>
              </a:rPr>
              <a:t>StripeException</a:t>
            </a:r>
            <a:r>
              <a:rPr sz="2603" b="1">
                <a:solidFill>
                  <a:srgbClr val="0E2841"/>
                </a:solidFill>
                <a:latin typeface="Aptos Display"/>
              </a:rPr>
              <a:t>— solo cambiaste el lugar del acoplamiento; no lo eliminaste.</a:t>
            </a:r>
          </a:p>
        </p:txBody>
      </p:sp>
      <p:sp>
        <p:nvSpPr>
          <p:cNvPr id="10" name="Oval 9"/>
          <p:cNvSpPr/>
          <p:nvPr/>
        </p:nvSpPr>
        <p:spPr>
          <a:xfrm>
            <a:off x="585216" y="4288536"/>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9536" y="3941064"/>
            <a:ext cx="10698480" cy="795528"/>
          </a:xfrm>
          <a:prstGeom prst="rect">
            <a:avLst/>
          </a:prstGeom>
          <a:noFill/>
        </p:spPr>
        <p:txBody>
          <a:bodyPr wrap="square" anchor="ctr" lIns="0" rIns="0" tIns="0" bIns="0">
            <a:spAutoFit/>
          </a:bodyPr>
          <a:lstStyle/>
          <a:p>
            <a:pPr algn="l"/>
            <a:r>
              <a:rPr sz="2485" b="1">
                <a:solidFill>
                  <a:srgbClr val="0E2841"/>
                </a:solidFill>
                <a:latin typeface="Aptos"/>
              </a:rPr>
              <a:t>Se llama </a:t>
            </a:r>
            <a:r>
              <a:rPr sz="2485" b="1" i="1">
                <a:solidFill>
                  <a:srgbClr val="0E2841"/>
                </a:solidFill>
                <a:latin typeface="Aptos"/>
              </a:rPr>
              <a:t>leaky abstraction</a:t>
            </a:r>
          </a:p>
        </p:txBody>
      </p:sp>
      <p:sp>
        <p:nvSpPr>
          <p:cNvPr id="12" name="Oval 11"/>
          <p:cNvSpPr/>
          <p:nvPr/>
        </p:nvSpPr>
        <p:spPr>
          <a:xfrm>
            <a:off x="585216" y="5084064"/>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 y="4736592"/>
            <a:ext cx="10698480" cy="795528"/>
          </a:xfrm>
          <a:prstGeom prst="rect">
            <a:avLst/>
          </a:prstGeom>
          <a:noFill/>
        </p:spPr>
        <p:txBody>
          <a:bodyPr wrap="square" anchor="ctr" lIns="0" rIns="0" tIns="0" bIns="0">
            <a:spAutoFit/>
          </a:bodyPr>
          <a:lstStyle/>
          <a:p>
            <a:pPr algn="l"/>
            <a:r>
              <a:rPr sz="2485" b="1">
                <a:solidFill>
                  <a:srgbClr val="0E2841"/>
                </a:solidFill>
                <a:latin typeface="Aptos"/>
              </a:rPr>
              <a:t>Se detecta leyendo la firma, no la implementación</a:t>
            </a:r>
          </a:p>
        </p:txBody>
      </p:sp>
      <p:sp>
        <p:nvSpPr>
          <p:cNvPr id="14" name="Oval 13"/>
          <p:cNvSpPr/>
          <p:nvPr/>
        </p:nvSpPr>
        <p:spPr>
          <a:xfrm>
            <a:off x="585216" y="5879592"/>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9536" y="5532120"/>
            <a:ext cx="10698480" cy="795528"/>
          </a:xfrm>
          <a:prstGeom prst="rect">
            <a:avLst/>
          </a:prstGeom>
          <a:noFill/>
        </p:spPr>
        <p:txBody>
          <a:bodyPr wrap="square" anchor="ctr" lIns="0" rIns="0" tIns="0" bIns="0">
            <a:spAutoFit/>
          </a:bodyPr>
          <a:lstStyle/>
          <a:p>
            <a:pPr algn="l"/>
            <a:r>
              <a:rPr sz="2485" b="1">
                <a:solidFill>
                  <a:srgbClr val="0E2841"/>
                </a:solidFill>
                <a:latin typeface="Aptos"/>
              </a:rPr>
              <a:t>Es el error más frecuente al «desacoplar»</a:t>
            </a:r>
          </a:p>
        </p:txBody>
      </p:sp>
      <p:sp>
        <p:nvSpPr>
          <p:cNvPr id="16" name="TextBox 15"/>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Arquitectura y Diseño de Software  ·  Unidad 1</a:t>
            </a:r>
          </a:p>
        </p:txBody>
      </p:sp>
      <p:sp>
        <p:nvSpPr>
          <p:cNvPr id="17" name="TextBox 16"/>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11 / 39</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009540"/>
                </a:solidFill>
                <a:latin typeface="Aptos"/>
              </a:rPr>
              <a:t>PREGUNTA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2500" b="1">
                <a:solidFill>
                  <a:srgbClr val="0E2841"/>
                </a:solidFill>
                <a:latin typeface="Aptos Display"/>
              </a:rPr>
              <a:t>Un equipo define </a:t>
            </a:r>
            <a:r>
              <a:rPr sz="2350" b="1">
                <a:solidFill>
                  <a:srgbClr val="156082"/>
                </a:solidFill>
                <a:latin typeface="Consolas"/>
              </a:rPr>
              <a:t>PasarelaDePagos</a:t>
            </a:r>
            <a:r>
              <a:rPr sz="2500" b="1">
                <a:solidFill>
                  <a:srgbClr val="0E2841"/>
                </a:solidFill>
                <a:latin typeface="Aptos Display"/>
              </a:rPr>
              <a:t> con el método </a:t>
            </a:r>
            <a:r>
              <a:rPr sz="2350" b="1">
                <a:solidFill>
                  <a:srgbClr val="156082"/>
                </a:solidFill>
                <a:latin typeface="Consolas"/>
              </a:rPr>
              <a:t>charge(StripeChargeRequest req, String apiKey)</a:t>
            </a:r>
            <a:r>
              <a:rPr sz="2500" b="1">
                <a:solidFill>
                  <a:srgbClr val="0E2841"/>
                </a:solidFill>
                <a:latin typeface="Aptos Display"/>
              </a:rPr>
              <a:t>. ¿Qué problema tiene?</a:t>
            </a:r>
          </a:p>
        </p:txBody>
      </p:sp>
      <p:sp>
        <p:nvSpPr>
          <p:cNvPr id="5" name="Rectangle 4"/>
          <p:cNvSpPr/>
          <p:nvPr/>
        </p:nvSpPr>
        <p:spPr>
          <a:xfrm>
            <a:off x="566928" y="1389888"/>
            <a:ext cx="1371600"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810511"/>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86384" y="2049535"/>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 y="2049535"/>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A</a:t>
            </a:r>
          </a:p>
        </p:txBody>
      </p:sp>
      <p:sp>
        <p:nvSpPr>
          <p:cNvPr id="10" name="TextBox 9"/>
          <p:cNvSpPr txBox="1"/>
          <p:nvPr/>
        </p:nvSpPr>
        <p:spPr>
          <a:xfrm>
            <a:off x="1408176" y="1810511"/>
            <a:ext cx="9966960" cy="898672"/>
          </a:xfrm>
          <a:prstGeom prst="rect">
            <a:avLst/>
          </a:prstGeom>
          <a:noFill/>
        </p:spPr>
        <p:txBody>
          <a:bodyPr wrap="square" anchor="ctr" lIns="0" rIns="0" tIns="0" bIns="0">
            <a:spAutoFit/>
          </a:bodyPr>
          <a:lstStyle/>
          <a:p>
            <a:pPr algn="l"/>
            <a:r>
              <a:rPr sz="2100" b="0">
                <a:solidFill>
                  <a:srgbClr val="0E2841"/>
                </a:solidFill>
                <a:latin typeface="Aptos"/>
              </a:rPr>
              <a:t>Ninguno: al ser una interfaz, el núcleo ya queda desacoplado</a:t>
            </a:r>
          </a:p>
        </p:txBody>
      </p:sp>
      <p:sp>
        <p:nvSpPr>
          <p:cNvPr id="11" name="Rounded Rectangle 10"/>
          <p:cNvSpPr/>
          <p:nvPr/>
        </p:nvSpPr>
        <p:spPr>
          <a:xfrm>
            <a:off x="566928" y="2880360"/>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86384" y="3119384"/>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 y="3119384"/>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B</a:t>
            </a:r>
          </a:p>
        </p:txBody>
      </p:sp>
      <p:sp>
        <p:nvSpPr>
          <p:cNvPr id="14" name="TextBox 13"/>
          <p:cNvSpPr txBox="1"/>
          <p:nvPr/>
        </p:nvSpPr>
        <p:spPr>
          <a:xfrm>
            <a:off x="1408176" y="2880360"/>
            <a:ext cx="9966960" cy="898672"/>
          </a:xfrm>
          <a:prstGeom prst="rect">
            <a:avLst/>
          </a:prstGeom>
          <a:noFill/>
        </p:spPr>
        <p:txBody>
          <a:bodyPr wrap="square" anchor="ctr" lIns="0" rIns="0" tIns="0" bIns="0">
            <a:spAutoFit/>
          </a:bodyPr>
          <a:lstStyle/>
          <a:p>
            <a:pPr algn="l"/>
            <a:r>
              <a:rPr sz="2100" b="0">
                <a:solidFill>
                  <a:srgbClr val="0E2841"/>
                </a:solidFill>
                <a:latin typeface="Aptos"/>
              </a:rPr>
              <a:t>Es una abstracción con fuga: expone el vocabulario del proveedor</a:t>
            </a:r>
          </a:p>
        </p:txBody>
      </p:sp>
      <p:sp>
        <p:nvSpPr>
          <p:cNvPr id="15" name="Rounded Rectangle 14"/>
          <p:cNvSpPr/>
          <p:nvPr/>
        </p:nvSpPr>
        <p:spPr>
          <a:xfrm>
            <a:off x="566928" y="3950208"/>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86384" y="4189232"/>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4189232"/>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C</a:t>
            </a:r>
          </a:p>
        </p:txBody>
      </p:sp>
      <p:sp>
        <p:nvSpPr>
          <p:cNvPr id="18" name="TextBox 17"/>
          <p:cNvSpPr txBox="1"/>
          <p:nvPr/>
        </p:nvSpPr>
        <p:spPr>
          <a:xfrm>
            <a:off x="1408176" y="3950208"/>
            <a:ext cx="9966960" cy="898672"/>
          </a:xfrm>
          <a:prstGeom prst="rect">
            <a:avLst/>
          </a:prstGeom>
          <a:noFill/>
        </p:spPr>
        <p:txBody>
          <a:bodyPr wrap="square" anchor="ctr" lIns="0" rIns="0" tIns="0" bIns="0">
            <a:spAutoFit/>
          </a:bodyPr>
          <a:lstStyle/>
          <a:p>
            <a:pPr algn="l"/>
            <a:r>
              <a:rPr sz="2100" b="0">
                <a:solidFill>
                  <a:srgbClr val="0E2841"/>
                </a:solidFill>
                <a:latin typeface="Aptos"/>
              </a:rPr>
              <a:t>Viola CQRS porque mezcla comandos con consultas</a:t>
            </a:r>
          </a:p>
        </p:txBody>
      </p:sp>
      <p:sp>
        <p:nvSpPr>
          <p:cNvPr id="19" name="Rounded Rectangle 18"/>
          <p:cNvSpPr/>
          <p:nvPr/>
        </p:nvSpPr>
        <p:spPr>
          <a:xfrm>
            <a:off x="566928" y="5020056"/>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86384" y="5259080"/>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86384" y="5259080"/>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D</a:t>
            </a:r>
          </a:p>
        </p:txBody>
      </p:sp>
      <p:sp>
        <p:nvSpPr>
          <p:cNvPr id="22" name="TextBox 21"/>
          <p:cNvSpPr txBox="1"/>
          <p:nvPr/>
        </p:nvSpPr>
        <p:spPr>
          <a:xfrm>
            <a:off x="1408176" y="5020056"/>
            <a:ext cx="9966960" cy="898672"/>
          </a:xfrm>
          <a:prstGeom prst="rect">
            <a:avLst/>
          </a:prstGeom>
          <a:noFill/>
        </p:spPr>
        <p:txBody>
          <a:bodyPr wrap="square" anchor="ctr" lIns="0" rIns="0" tIns="0" bIns="0">
            <a:spAutoFit/>
          </a:bodyPr>
          <a:lstStyle/>
          <a:p>
            <a:pPr algn="l"/>
            <a:r>
              <a:rPr sz="2100" b="0">
                <a:solidFill>
                  <a:srgbClr val="0E2841"/>
                </a:solidFill>
                <a:latin typeface="Aptos"/>
              </a:rPr>
              <a:t>Rompe la cohesión del módulo de pagos</a:t>
            </a:r>
          </a:p>
        </p:txBody>
      </p:sp>
      <p:sp>
        <p:nvSpPr>
          <p:cNvPr id="23" name="TextBox 22"/>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Arquitectura y Diseño de Software  ·  Unidad 1</a:t>
            </a:r>
          </a:p>
        </p:txBody>
      </p:sp>
      <p:sp>
        <p:nvSpPr>
          <p:cNvPr id="24" name="TextBox 23"/>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12 / 39</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56082"/>
        </a:solidFill>
        <a:effectLst/>
      </p:bgPr>
    </p:bg>
    <p:spTree>
      <p:nvGrpSpPr>
        <p:cNvPr id="1" name=""/>
        <p:cNvGrpSpPr/>
        <p:nvPr/>
      </p:nvGrpSpPr>
      <p:grpSpPr/>
      <p:sp>
        <p:nvSpPr>
          <p:cNvPr id="2" name="TextBox 1"/>
          <p:cNvSpPr txBox="1"/>
          <p:nvPr/>
        </p:nvSpPr>
        <p:spPr>
          <a:xfrm>
            <a:off x="0" y="960120"/>
            <a:ext cx="12191695" cy="2011680"/>
          </a:xfrm>
          <a:prstGeom prst="rect">
            <a:avLst/>
          </a:prstGeom>
          <a:noFill/>
        </p:spPr>
        <p:txBody>
          <a:bodyPr wrap="square" anchor="t" lIns="0" rIns="0" tIns="0" bIns="0">
            <a:spAutoFit/>
          </a:bodyPr>
          <a:lstStyle/>
          <a:p>
            <a:pPr algn="ctr"/>
            <a:r>
              <a:rPr sz="12800" b="1">
                <a:solidFill>
                  <a:srgbClr val="0E2841"/>
                </a:solidFill>
                <a:latin typeface="Aptos Display"/>
              </a:rPr>
              <a:t>03</a:t>
            </a:r>
          </a:p>
        </p:txBody>
      </p:sp>
      <p:sp>
        <p:nvSpPr>
          <p:cNvPr id="3" name="Rectangle 2"/>
          <p:cNvSpPr/>
          <p:nvPr/>
        </p:nvSpPr>
        <p:spPr>
          <a:xfrm>
            <a:off x="5184648" y="3127248"/>
            <a:ext cx="1828800" cy="635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429000"/>
            <a:ext cx="10698480" cy="1097280"/>
          </a:xfrm>
          <a:prstGeom prst="rect">
            <a:avLst/>
          </a:prstGeom>
          <a:noFill/>
        </p:spPr>
        <p:txBody>
          <a:bodyPr wrap="square" anchor="t" lIns="0" rIns="0" tIns="0" bIns="0">
            <a:spAutoFit/>
          </a:bodyPr>
          <a:lstStyle/>
          <a:p>
            <a:pPr algn="ctr"/>
            <a:r>
              <a:rPr sz="4000" b="1">
                <a:solidFill>
                  <a:srgbClr val="FFFFFF"/>
                </a:solidFill>
                <a:latin typeface="Aptos Display"/>
              </a:rPr>
              <a:t>3. Decidir es renunciar</a:t>
            </a:r>
          </a:p>
        </p:txBody>
      </p:sp>
      <p:pic>
        <p:nvPicPr>
          <p:cNvPr id="5" name="Picture 4" descr="Logo-Institucional-con-advertencia-Vigilado-Mineducacion-Blanco.png"/>
          <p:cNvPicPr>
            <a:picLocks noChangeAspect="1"/>
          </p:cNvPicPr>
          <p:nvPr/>
        </p:nvPicPr>
        <p:blipFill>
          <a:blip r:embed="rId2"/>
          <a:stretch>
            <a:fillRect/>
          </a:stretch>
        </p:blipFill>
        <p:spPr>
          <a:xfrm>
            <a:off x="10938117" y="5943600"/>
            <a:ext cx="750963" cy="6858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1 · FUNDAMENTOS · ESP. INGENIERÍA DE SOFTWARE</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Netflix no prueba que microservicios sea mejor</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graphicFrame>
        <p:nvGraphicFramePr>
          <p:cNvPr id="7" name="Table 6"/>
          <p:cNvGraphicFramePr>
            <a:graphicFrameLocks noGrp="1"/>
          </p:cNvGraphicFramePr>
          <p:nvPr/>
        </p:nvGraphicFramePr>
        <p:xfrm>
          <a:off x="566928" y="1572768"/>
          <a:ext cx="11064240" cy="3102860"/>
        </p:xfrm>
        <a:graphic>
          <a:graphicData uri="http://schemas.openxmlformats.org/drawingml/2006/table">
            <a:tbl>
              <a:tblPr firstRow="1">
                <a:tableStyleId>{5C22544A-7EE6-4342-B048-85BDC9FD1C3A}</a:tableStyleId>
              </a:tblPr>
              <a:tblGrid>
                <a:gridCol w="3688080"/>
                <a:gridCol w="3688080"/>
                <a:gridCol w="3688080"/>
              </a:tblGrid>
              <a:tr h="620572">
                <a:tc>
                  <a:txBody>
                    <a:bodyPr wrap="square"/>
                    <a:lstStyle/>
                    <a:p>
                      <a:r>
                        <a:rPr sz="1641" b="1">
                          <a:solidFill>
                            <a:srgbClr val="FFFFFF"/>
                          </a:solidFill>
                          <a:latin typeface="Aptos"/>
                        </a:rPr>
                        <a:t>Caso</a:t>
                      </a:r>
                    </a:p>
                  </a:txBody>
                  <a:tcPr anchor="ctr" marL="146304" marR="146304">
                    <a:solidFill>
                      <a:srgbClr val="156082"/>
                    </a:solidFill>
                  </a:tcPr>
                </a:tc>
                <a:tc>
                  <a:txBody>
                    <a:bodyPr wrap="square"/>
                    <a:lstStyle/>
                    <a:p>
                      <a:r>
                        <a:rPr sz="1641" b="1">
                          <a:solidFill>
                            <a:srgbClr val="FFFFFF"/>
                          </a:solidFill>
                          <a:latin typeface="Aptos"/>
                        </a:rPr>
                        <a:t>Decisión</a:t>
                      </a:r>
                    </a:p>
                  </a:txBody>
                  <a:tcPr anchor="ctr" marL="146304" marR="146304">
                    <a:solidFill>
                      <a:srgbClr val="156082"/>
                    </a:solidFill>
                  </a:tcPr>
                </a:tc>
                <a:tc>
                  <a:txBody>
                    <a:bodyPr wrap="square"/>
                    <a:lstStyle/>
                    <a:p>
                      <a:r>
                        <a:rPr sz="1641" b="1">
                          <a:solidFill>
                            <a:srgbClr val="FFFFFF"/>
                          </a:solidFill>
                          <a:latin typeface="Aptos"/>
                        </a:rPr>
                        <a:t>Efecto</a:t>
                      </a:r>
                    </a:p>
                  </a:txBody>
                  <a:tcPr anchor="ctr" marL="146304" marR="146304">
                    <a:solidFill>
                      <a:srgbClr val="156082"/>
                    </a:solidFill>
                  </a:tcPr>
                </a:tc>
              </a:tr>
              <a:tr h="620572">
                <a:tc>
                  <a:txBody>
                    <a:bodyPr wrap="square"/>
                    <a:lstStyle/>
                    <a:p>
                      <a:r>
                        <a:rPr sz="1531" b="1">
                          <a:solidFill>
                            <a:srgbClr val="33475B"/>
                          </a:solidFill>
                          <a:latin typeface="Aptos"/>
                        </a:rPr>
                        <a:t>Android</a:t>
                      </a:r>
                    </a:p>
                  </a:txBody>
                  <a:tcPr anchor="ctr" marL="146304" marR="146304">
                    <a:solidFill>
                      <a:srgbClr val="FFFFFF"/>
                    </a:solidFill>
                  </a:tcPr>
                </a:tc>
                <a:tc>
                  <a:txBody>
                    <a:bodyPr wrap="square"/>
                    <a:lstStyle/>
                    <a:p>
                      <a:r>
                        <a:rPr sz="1531" b="0">
                          <a:solidFill>
                            <a:srgbClr val="33475B"/>
                          </a:solidFill>
                          <a:latin typeface="Aptos"/>
                        </a:rPr>
                        <a:t>Construir sobre el kernel de Linux</a:t>
                      </a:r>
                    </a:p>
                  </a:txBody>
                  <a:tcPr anchor="ctr" marL="146304" marR="146304">
                    <a:solidFill>
                      <a:srgbClr val="FFFFFF"/>
                    </a:solidFill>
                  </a:tcPr>
                </a:tc>
                <a:tc>
                  <a:txBody>
                    <a:bodyPr wrap="square"/>
                    <a:lstStyle/>
                    <a:p>
                      <a:r>
                        <a:rPr sz="1531" b="0">
                          <a:solidFill>
                            <a:srgbClr val="33475B"/>
                          </a:solidFill>
                          <a:latin typeface="Aptos"/>
                        </a:rPr>
                        <a:t>Compatibilidad con hardware diverso</a:t>
                      </a:r>
                    </a:p>
                  </a:txBody>
                  <a:tcPr anchor="ctr" marL="146304" marR="146304">
                    <a:solidFill>
                      <a:srgbClr val="FFFFFF"/>
                    </a:solidFill>
                  </a:tcPr>
                </a:tc>
              </a:tr>
              <a:tr h="620572">
                <a:tc>
                  <a:txBody>
                    <a:bodyPr wrap="square"/>
                    <a:lstStyle/>
                    <a:p>
                      <a:r>
                        <a:rPr sz="1531" b="1">
                          <a:solidFill>
                            <a:srgbClr val="33475B"/>
                          </a:solidFill>
                          <a:latin typeface="Aptos"/>
                        </a:rPr>
                        <a:t>Netflix</a:t>
                      </a:r>
                    </a:p>
                  </a:txBody>
                  <a:tcPr anchor="ctr" marL="146304" marR="146304">
                    <a:solidFill>
                      <a:srgbClr val="F4F7FA"/>
                    </a:solidFill>
                  </a:tcPr>
                </a:tc>
                <a:tc>
                  <a:txBody>
                    <a:bodyPr wrap="square"/>
                    <a:lstStyle/>
                    <a:p>
                      <a:r>
                        <a:rPr sz="1531" b="0">
                          <a:solidFill>
                            <a:srgbClr val="33475B"/>
                          </a:solidFill>
                          <a:latin typeface="Aptos"/>
                        </a:rPr>
                        <a:t>Migrar de monolito a microservicios</a:t>
                      </a:r>
                    </a:p>
                  </a:txBody>
                  <a:tcPr anchor="ctr" marL="146304" marR="146304">
                    <a:solidFill>
                      <a:srgbClr val="F4F7FA"/>
                    </a:solidFill>
                  </a:tcPr>
                </a:tc>
                <a:tc>
                  <a:txBody>
                    <a:bodyPr wrap="square"/>
                    <a:lstStyle/>
                    <a:p>
                      <a:r>
                        <a:rPr sz="1531" b="0">
                          <a:solidFill>
                            <a:srgbClr val="33475B"/>
                          </a:solidFill>
                          <a:latin typeface="Aptos"/>
                        </a:rPr>
                        <a:t>Escalado y despliegue independientes</a:t>
                      </a:r>
                    </a:p>
                  </a:txBody>
                  <a:tcPr anchor="ctr" marL="146304" marR="146304">
                    <a:solidFill>
                      <a:srgbClr val="F4F7FA"/>
                    </a:solidFill>
                  </a:tcPr>
                </a:tc>
              </a:tr>
              <a:tr h="620572">
                <a:tc>
                  <a:txBody>
                    <a:bodyPr wrap="square"/>
                    <a:lstStyle/>
                    <a:p>
                      <a:r>
                        <a:rPr sz="1531" b="1">
                          <a:solidFill>
                            <a:srgbClr val="33475B"/>
                          </a:solidFill>
                          <a:latin typeface="Aptos"/>
                        </a:rPr>
                        <a:t>Amazon</a:t>
                      </a:r>
                    </a:p>
                  </a:txBody>
                  <a:tcPr anchor="ctr" marL="146304" marR="146304">
                    <a:solidFill>
                      <a:srgbClr val="FFFFFF"/>
                    </a:solidFill>
                  </a:tcPr>
                </a:tc>
                <a:tc>
                  <a:txBody>
                    <a:bodyPr wrap="square"/>
                    <a:lstStyle/>
                    <a:p>
                      <a:r>
                        <a:rPr sz="1531" b="0">
                          <a:solidFill>
                            <a:srgbClr val="33475B"/>
                          </a:solidFill>
                          <a:latin typeface="Aptos"/>
                        </a:rPr>
                        <a:t>Descomponer en servicios</a:t>
                      </a:r>
                    </a:p>
                  </a:txBody>
                  <a:tcPr anchor="ctr" marL="146304" marR="146304">
                    <a:solidFill>
                      <a:srgbClr val="FFFFFF"/>
                    </a:solidFill>
                  </a:tcPr>
                </a:tc>
                <a:tc>
                  <a:txBody>
                    <a:bodyPr wrap="square"/>
                    <a:lstStyle/>
                    <a:p>
                      <a:r>
                        <a:rPr sz="1531" b="0">
                          <a:solidFill>
                            <a:srgbClr val="33475B"/>
                          </a:solidFill>
                          <a:latin typeface="Aptos"/>
                        </a:rPr>
                        <a:t>Agilidad interna y, con el tiempo, AWS</a:t>
                      </a:r>
                    </a:p>
                  </a:txBody>
                  <a:tcPr anchor="ctr" marL="146304" marR="146304">
                    <a:solidFill>
                      <a:srgbClr val="FFFFFF"/>
                    </a:solidFill>
                  </a:tcPr>
                </a:tc>
              </a:tr>
              <a:tr h="620572">
                <a:tc>
                  <a:txBody>
                    <a:bodyPr wrap="square"/>
                    <a:lstStyle/>
                    <a:p>
                      <a:r>
                        <a:rPr sz="1531" b="1">
                          <a:solidFill>
                            <a:srgbClr val="33475B"/>
                          </a:solidFill>
                          <a:latin typeface="Aptos"/>
                        </a:rPr>
                        <a:t>Facebook</a:t>
                      </a:r>
                    </a:p>
                  </a:txBody>
                  <a:tcPr anchor="ctr" marL="146304" marR="146304">
                    <a:solidFill>
                      <a:srgbClr val="F4F7FA"/>
                    </a:solidFill>
                  </a:tcPr>
                </a:tc>
                <a:tc>
                  <a:txBody>
                    <a:bodyPr wrap="square"/>
                    <a:lstStyle/>
                    <a:p>
                      <a:r>
                        <a:rPr sz="1531" b="0">
                          <a:solidFill>
                            <a:srgbClr val="33475B"/>
                          </a:solidFill>
                          <a:latin typeface="Aptos"/>
                        </a:rPr>
                        <a:t>Pasar a componentes especializados</a:t>
                      </a:r>
                    </a:p>
                  </a:txBody>
                  <a:tcPr anchor="ctr" marL="146304" marR="146304">
                    <a:solidFill>
                      <a:srgbClr val="F4F7FA"/>
                    </a:solidFill>
                  </a:tcPr>
                </a:tc>
                <a:tc>
                  <a:txBody>
                    <a:bodyPr wrap="square"/>
                    <a:lstStyle/>
                    <a:p>
                      <a:r>
                        <a:rPr sz="1531" b="0">
                          <a:solidFill>
                            <a:srgbClr val="33475B"/>
                          </a:solidFill>
                          <a:latin typeface="Aptos"/>
                        </a:rPr>
                        <a:t>Sostuvo el crecimiento sin perder rendimiento</a:t>
                      </a:r>
                    </a:p>
                  </a:txBody>
                  <a:tcPr anchor="ctr" marL="146304" marR="146304">
                    <a:solidFill>
                      <a:srgbClr val="F4F7FA"/>
                    </a:solidFill>
                  </a:tcPr>
                </a:tc>
              </a:tr>
            </a:tbl>
          </a:graphicData>
        </a:graphic>
      </p:graphicFrame>
      <p:sp>
        <p:nvSpPr>
          <p:cNvPr id="8" name="Rounded Rectangle 7"/>
          <p:cNvSpPr/>
          <p:nvPr/>
        </p:nvSpPr>
        <p:spPr>
          <a:xfrm>
            <a:off x="566928" y="4876800"/>
            <a:ext cx="11064240" cy="1450848"/>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4931664"/>
            <a:ext cx="63500" cy="134112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876800"/>
            <a:ext cx="10378440" cy="1450848"/>
          </a:xfrm>
          <a:prstGeom prst="rect">
            <a:avLst/>
          </a:prstGeom>
          <a:noFill/>
        </p:spPr>
        <p:txBody>
          <a:bodyPr wrap="square" anchor="ctr" lIns="0" rIns="0" tIns="0" bIns="0">
            <a:spAutoFit/>
          </a:bodyPr>
          <a:lstStyle/>
          <a:p>
            <a:pPr algn="l">
              <a:lnSpc>
                <a:spcPct val="125000"/>
              </a:lnSpc>
            </a:pPr>
            <a:r>
              <a:rPr sz="2407" b="1">
                <a:solidFill>
                  <a:srgbClr val="0E2841"/>
                </a:solidFill>
                <a:latin typeface="Aptos Display"/>
              </a:rPr>
              <a:t>Prueban que </a:t>
            </a:r>
            <a:r>
              <a:rPr sz="2407" b="1">
                <a:solidFill>
                  <a:srgbClr val="0E2841"/>
                </a:solidFill>
                <a:latin typeface="Aptos Display"/>
              </a:rPr>
              <a:t>esas</a:t>
            </a:r>
            <a:r>
              <a:rPr sz="2407" b="1">
                <a:solidFill>
                  <a:srgbClr val="0E2841"/>
                </a:solidFill>
                <a:latin typeface="Aptos Display"/>
              </a:rPr>
              <a:t> organizaciones, con </a:t>
            </a:r>
            <a:r>
              <a:rPr sz="2407" b="1">
                <a:solidFill>
                  <a:srgbClr val="0E2841"/>
                </a:solidFill>
                <a:latin typeface="Aptos Display"/>
              </a:rPr>
              <a:t>ese</a:t>
            </a:r>
            <a:r>
              <a:rPr sz="2407" b="1">
                <a:solidFill>
                  <a:srgbClr val="0E2841"/>
                </a:solidFill>
                <a:latin typeface="Aptos Display"/>
              </a:rPr>
              <a:t> tamaño y </a:t>
            </a:r>
            <a:r>
              <a:rPr sz="2407" b="1">
                <a:solidFill>
                  <a:srgbClr val="0E2841"/>
                </a:solidFill>
                <a:latin typeface="Aptos Display"/>
              </a:rPr>
              <a:t>ese</a:t>
            </a:r>
            <a:r>
              <a:rPr sz="2407" b="1">
                <a:solidFill>
                  <a:srgbClr val="0E2841"/>
                </a:solidFill>
                <a:latin typeface="Aptos Display"/>
              </a:rPr>
              <a:t> tráfico, recibieron más beneficio que costo.</a:t>
            </a:r>
          </a:p>
        </p:txBody>
      </p:sp>
      <p:sp>
        <p:nvSpPr>
          <p:cNvPr id="11" name="TextBox 10"/>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Arquitectura y Diseño de Software  ·  Unidad 1</a:t>
            </a:r>
          </a:p>
        </p:txBody>
      </p:sp>
      <p:sp>
        <p:nvSpPr>
          <p:cNvPr id="12" name="TextBox 11"/>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13 / 39</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1 · FUNDAMENTOS · ESP. INGENIERÍA DE SOFTWARE</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Toda decisión compra algo y lo paga con otra cosa</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graphicFrame>
        <p:nvGraphicFramePr>
          <p:cNvPr id="7" name="Table 6"/>
          <p:cNvGraphicFramePr>
            <a:graphicFrameLocks noGrp="1"/>
          </p:cNvGraphicFramePr>
          <p:nvPr/>
        </p:nvGraphicFramePr>
        <p:xfrm>
          <a:off x="566928" y="1762963"/>
          <a:ext cx="11064240" cy="4374486"/>
        </p:xfrm>
        <a:graphic>
          <a:graphicData uri="http://schemas.openxmlformats.org/drawingml/2006/table">
            <a:tbl>
              <a:tblPr firstRow="1">
                <a:tableStyleId>{5C22544A-7EE6-4342-B048-85BDC9FD1C3A}</a:tableStyleId>
              </a:tblPr>
              <a:tblGrid>
                <a:gridCol w="3688080"/>
                <a:gridCol w="3688080"/>
                <a:gridCol w="3688080"/>
              </a:tblGrid>
              <a:tr h="729081">
                <a:tc>
                  <a:txBody>
                    <a:bodyPr wrap="square"/>
                    <a:lstStyle/>
                    <a:p>
                      <a:r>
                        <a:rPr sz="1725" b="1">
                          <a:solidFill>
                            <a:srgbClr val="FFFFFF"/>
                          </a:solidFill>
                          <a:latin typeface="Aptos"/>
                        </a:rPr>
                        <a:t>Decisión</a:t>
                      </a:r>
                    </a:p>
                  </a:txBody>
                  <a:tcPr anchor="ctr" marL="146304" marR="146304">
                    <a:solidFill>
                      <a:srgbClr val="156082"/>
                    </a:solidFill>
                  </a:tcPr>
                </a:tc>
                <a:tc>
                  <a:txBody>
                    <a:bodyPr wrap="square"/>
                    <a:lstStyle/>
                    <a:p>
                      <a:r>
                        <a:rPr sz="1725" b="1">
                          <a:solidFill>
                            <a:srgbClr val="FFFFFF"/>
                          </a:solidFill>
                          <a:latin typeface="Aptos"/>
                        </a:rPr>
                        <a:t>Compra</a:t>
                      </a:r>
                    </a:p>
                  </a:txBody>
                  <a:tcPr anchor="ctr" marL="146304" marR="146304">
                    <a:solidFill>
                      <a:srgbClr val="156082"/>
                    </a:solidFill>
                  </a:tcPr>
                </a:tc>
                <a:tc>
                  <a:txBody>
                    <a:bodyPr wrap="square"/>
                    <a:lstStyle/>
                    <a:p>
                      <a:r>
                        <a:rPr sz="1725" b="1">
                          <a:solidFill>
                            <a:srgbClr val="FFFFFF"/>
                          </a:solidFill>
                          <a:latin typeface="Aptos"/>
                        </a:rPr>
                        <a:t>Paga con</a:t>
                      </a:r>
                    </a:p>
                  </a:txBody>
                  <a:tcPr anchor="ctr" marL="146304" marR="146304">
                    <a:solidFill>
                      <a:srgbClr val="156082"/>
                    </a:solidFill>
                  </a:tcPr>
                </a:tc>
              </a:tr>
              <a:tr h="729081">
                <a:tc>
                  <a:txBody>
                    <a:bodyPr wrap="square"/>
                    <a:lstStyle/>
                    <a:p>
                      <a:r>
                        <a:rPr sz="1609" b="1">
                          <a:solidFill>
                            <a:srgbClr val="33475B"/>
                          </a:solidFill>
                          <a:latin typeface="Aptos"/>
                        </a:rPr>
                        <a:t>Separar en servicios</a:t>
                      </a:r>
                    </a:p>
                  </a:txBody>
                  <a:tcPr anchor="ctr" marL="146304" marR="146304">
                    <a:solidFill>
                      <a:srgbClr val="FFFFFF"/>
                    </a:solidFill>
                  </a:tcPr>
                </a:tc>
                <a:tc>
                  <a:txBody>
                    <a:bodyPr wrap="square"/>
                    <a:lstStyle/>
                    <a:p>
                      <a:r>
                        <a:rPr sz="1609" b="0">
                          <a:solidFill>
                            <a:srgbClr val="33475B"/>
                          </a:solidFill>
                          <a:latin typeface="Aptos"/>
                        </a:rPr>
                        <a:t>Escalado y despliegue independientes</a:t>
                      </a:r>
                    </a:p>
                  </a:txBody>
                  <a:tcPr anchor="ctr" marL="146304" marR="146304">
                    <a:solidFill>
                      <a:srgbClr val="FFFFFF"/>
                    </a:solidFill>
                  </a:tcPr>
                </a:tc>
                <a:tc>
                  <a:txBody>
                    <a:bodyPr wrap="square"/>
                    <a:lstStyle/>
                    <a:p>
                      <a:r>
                        <a:rPr sz="1609" b="0">
                          <a:solidFill>
                            <a:srgbClr val="33475B"/>
                          </a:solidFill>
                          <a:latin typeface="Aptos"/>
                        </a:rPr>
                        <a:t>Latencia, consistencia, operación</a:t>
                      </a:r>
                    </a:p>
                  </a:txBody>
                  <a:tcPr anchor="ctr" marL="146304" marR="146304">
                    <a:solidFill>
                      <a:srgbClr val="FFFFFF"/>
                    </a:solidFill>
                  </a:tcPr>
                </a:tc>
              </a:tr>
              <a:tr h="729081">
                <a:tc>
                  <a:txBody>
                    <a:bodyPr wrap="square"/>
                    <a:lstStyle/>
                    <a:p>
                      <a:r>
                        <a:rPr sz="1609" b="1">
                          <a:solidFill>
                            <a:srgbClr val="33475B"/>
                          </a:solidFill>
                          <a:latin typeface="Aptos"/>
                        </a:rPr>
                        <a:t>Caché de lecturas</a:t>
                      </a:r>
                    </a:p>
                  </a:txBody>
                  <a:tcPr anchor="ctr" marL="146304" marR="146304">
                    <a:solidFill>
                      <a:srgbClr val="F4F7FA"/>
                    </a:solidFill>
                  </a:tcPr>
                </a:tc>
                <a:tc>
                  <a:txBody>
                    <a:bodyPr wrap="square"/>
                    <a:lstStyle/>
                    <a:p>
                      <a:r>
                        <a:rPr sz="1609" b="0">
                          <a:solidFill>
                            <a:srgbClr val="33475B"/>
                          </a:solidFill>
                          <a:latin typeface="Aptos"/>
                        </a:rPr>
                        <a:t>Rendimiento</a:t>
                      </a:r>
                    </a:p>
                  </a:txBody>
                  <a:tcPr anchor="ctr" marL="146304" marR="146304">
                    <a:solidFill>
                      <a:srgbClr val="F4F7FA"/>
                    </a:solidFill>
                  </a:tcPr>
                </a:tc>
                <a:tc>
                  <a:txBody>
                    <a:bodyPr wrap="square"/>
                    <a:lstStyle/>
                    <a:p>
                      <a:r>
                        <a:rPr sz="1609" b="0">
                          <a:solidFill>
                            <a:srgbClr val="33475B"/>
                          </a:solidFill>
                          <a:latin typeface="Aptos"/>
                        </a:rPr>
                        <a:t>Datos potencialmente obsoletos</a:t>
                      </a:r>
                    </a:p>
                  </a:txBody>
                  <a:tcPr anchor="ctr" marL="146304" marR="146304">
                    <a:solidFill>
                      <a:srgbClr val="F4F7FA"/>
                    </a:solidFill>
                  </a:tcPr>
                </a:tc>
              </a:tr>
              <a:tr h="729081">
                <a:tc>
                  <a:txBody>
                    <a:bodyPr wrap="square"/>
                    <a:lstStyle/>
                    <a:p>
                      <a:r>
                        <a:rPr sz="1609" b="1">
                          <a:solidFill>
                            <a:srgbClr val="33475B"/>
                          </a:solidFill>
                          <a:latin typeface="Aptos"/>
                        </a:rPr>
                        <a:t>Mensajería asíncrona</a:t>
                      </a:r>
                    </a:p>
                  </a:txBody>
                  <a:tcPr anchor="ctr" marL="146304" marR="146304">
                    <a:solidFill>
                      <a:srgbClr val="FFFFFF"/>
                    </a:solidFill>
                  </a:tcPr>
                </a:tc>
                <a:tc>
                  <a:txBody>
                    <a:bodyPr wrap="square"/>
                    <a:lstStyle/>
                    <a:p>
                      <a:r>
                        <a:rPr sz="1609" b="0">
                          <a:solidFill>
                            <a:srgbClr val="33475B"/>
                          </a:solidFill>
                          <a:latin typeface="Aptos"/>
                        </a:rPr>
                        <a:t>Desacople y resiliencia</a:t>
                      </a:r>
                    </a:p>
                  </a:txBody>
                  <a:tcPr anchor="ctr" marL="146304" marR="146304">
                    <a:solidFill>
                      <a:srgbClr val="FFFFFF"/>
                    </a:solidFill>
                  </a:tcPr>
                </a:tc>
                <a:tc>
                  <a:txBody>
                    <a:bodyPr wrap="square"/>
                    <a:lstStyle/>
                    <a:p>
                      <a:r>
                        <a:rPr sz="1609" b="0">
                          <a:solidFill>
                            <a:srgbClr val="33475B"/>
                          </a:solidFill>
                          <a:latin typeface="Aptos"/>
                        </a:rPr>
                        <a:t>Depuración y orden</a:t>
                      </a:r>
                    </a:p>
                  </a:txBody>
                  <a:tcPr anchor="ctr" marL="146304" marR="146304">
                    <a:solidFill>
                      <a:srgbClr val="FFFFFF"/>
                    </a:solidFill>
                  </a:tcPr>
                </a:tc>
              </a:tr>
              <a:tr h="729081">
                <a:tc>
                  <a:txBody>
                    <a:bodyPr wrap="square"/>
                    <a:lstStyle/>
                    <a:p>
                      <a:r>
                        <a:rPr sz="1609" b="1">
                          <a:solidFill>
                            <a:srgbClr val="33475B"/>
                          </a:solidFill>
                          <a:latin typeface="Aptos"/>
                        </a:rPr>
                        <a:t>Base de datos única</a:t>
                      </a:r>
                    </a:p>
                  </a:txBody>
                  <a:tcPr anchor="ctr" marL="146304" marR="146304">
                    <a:solidFill>
                      <a:srgbClr val="F4F7FA"/>
                    </a:solidFill>
                  </a:tcPr>
                </a:tc>
                <a:tc>
                  <a:txBody>
                    <a:bodyPr wrap="square"/>
                    <a:lstStyle/>
                    <a:p>
                      <a:r>
                        <a:rPr sz="1609" b="0">
                          <a:solidFill>
                            <a:srgbClr val="33475B"/>
                          </a:solidFill>
                          <a:latin typeface="Aptos"/>
                        </a:rPr>
                        <a:t>Consistencia fuerte, consultas simples</a:t>
                      </a:r>
                    </a:p>
                  </a:txBody>
                  <a:tcPr anchor="ctr" marL="146304" marR="146304">
                    <a:solidFill>
                      <a:srgbClr val="F4F7FA"/>
                    </a:solidFill>
                  </a:tcPr>
                </a:tc>
                <a:tc>
                  <a:txBody>
                    <a:bodyPr wrap="square"/>
                    <a:lstStyle/>
                    <a:p>
                      <a:r>
                        <a:rPr sz="1609" b="0">
                          <a:solidFill>
                            <a:srgbClr val="33475B"/>
                          </a:solidFill>
                          <a:latin typeface="Aptos"/>
                        </a:rPr>
                        <a:t>Punto único de contención y falla</a:t>
                      </a:r>
                    </a:p>
                  </a:txBody>
                  <a:tcPr anchor="ctr" marL="146304" marR="146304">
                    <a:solidFill>
                      <a:srgbClr val="F4F7FA"/>
                    </a:solidFill>
                  </a:tcPr>
                </a:tc>
              </a:tr>
              <a:tr h="729081">
                <a:tc>
                  <a:txBody>
                    <a:bodyPr wrap="square"/>
                    <a:lstStyle/>
                    <a:p>
                      <a:r>
                        <a:rPr sz="1609" b="1">
                          <a:solidFill>
                            <a:srgbClr val="33475B"/>
                          </a:solidFill>
                          <a:latin typeface="Aptos"/>
                        </a:rPr>
                        <a:t>Monolito modular</a:t>
                      </a:r>
                    </a:p>
                  </a:txBody>
                  <a:tcPr anchor="ctr" marL="146304" marR="146304">
                    <a:solidFill>
                      <a:srgbClr val="FFFFFF"/>
                    </a:solidFill>
                  </a:tcPr>
                </a:tc>
                <a:tc>
                  <a:txBody>
                    <a:bodyPr wrap="square"/>
                    <a:lstStyle/>
                    <a:p>
                      <a:r>
                        <a:rPr sz="1609" b="0">
                          <a:solidFill>
                            <a:srgbClr val="33475B"/>
                          </a:solidFill>
                          <a:latin typeface="Aptos"/>
                        </a:rPr>
                        <a:t>Simplicidad operativa</a:t>
                      </a:r>
                    </a:p>
                  </a:txBody>
                  <a:tcPr anchor="ctr" marL="146304" marR="146304">
                    <a:solidFill>
                      <a:srgbClr val="FFFFFF"/>
                    </a:solidFill>
                  </a:tcPr>
                </a:tc>
                <a:tc>
                  <a:txBody>
                    <a:bodyPr wrap="square"/>
                    <a:lstStyle/>
                    <a:p>
                      <a:r>
                        <a:rPr sz="1609" b="0">
                          <a:solidFill>
                            <a:srgbClr val="33475B"/>
                          </a:solidFill>
                          <a:latin typeface="Aptos"/>
                        </a:rPr>
                        <a:t>Escalado grueso, todo o nada</a:t>
                      </a:r>
                    </a:p>
                  </a:txBody>
                  <a:tcPr anchor="ctr" marL="146304" marR="146304">
                    <a:solidFill>
                      <a:srgbClr val="FFFFFF"/>
                    </a:solidFill>
                  </a:tcPr>
                </a:tc>
              </a:tr>
            </a:tbl>
          </a:graphicData>
        </a:graphic>
      </p:graphicFrame>
      <p:sp>
        <p:nvSpPr>
          <p:cNvPr id="8" name="TextBox 7"/>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Arquitectura y Diseño de Software  ·  Unidad 1</a:t>
            </a:r>
          </a:p>
        </p:txBody>
      </p:sp>
      <p:sp>
        <p:nvSpPr>
          <p:cNvPr id="9" name="TextBox 8"/>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14 / 39</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1 · FUNDAMENTOS · ESP. INGENIERÍA DE SOFTWARE</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Sin alternativas descartadas, no hubo decisión</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2532888"/>
            <a:ext cx="2532888" cy="283464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68096" y="2368296"/>
            <a:ext cx="475488" cy="475488"/>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2368296"/>
            <a:ext cx="475488" cy="475488"/>
          </a:xfrm>
          <a:prstGeom prst="rect">
            <a:avLst/>
          </a:prstGeom>
          <a:noFill/>
        </p:spPr>
        <p:txBody>
          <a:bodyPr wrap="square" anchor="ctr" lIns="0" rIns="0" tIns="0" bIns="0">
            <a:spAutoFit/>
          </a:bodyPr>
          <a:lstStyle/>
          <a:p>
            <a:pPr algn="ctr"/>
            <a:r>
              <a:rPr sz="1700" b="1">
                <a:solidFill>
                  <a:srgbClr val="FFFFFF"/>
                </a:solidFill>
                <a:latin typeface="Aptos Display"/>
              </a:rPr>
              <a:t>1</a:t>
            </a:r>
          </a:p>
        </p:txBody>
      </p:sp>
      <p:sp>
        <p:nvSpPr>
          <p:cNvPr id="10" name="TextBox 9"/>
          <p:cNvSpPr txBox="1"/>
          <p:nvPr/>
        </p:nvSpPr>
        <p:spPr>
          <a:xfrm>
            <a:off x="768096" y="3008376"/>
            <a:ext cx="2130552" cy="2176272"/>
          </a:xfrm>
          <a:prstGeom prst="rect">
            <a:avLst/>
          </a:prstGeom>
          <a:noFill/>
        </p:spPr>
        <p:txBody>
          <a:bodyPr wrap="square" anchor="t" lIns="0" rIns="0" tIns="0" bIns="0">
            <a:spAutoFit/>
          </a:bodyPr>
          <a:lstStyle/>
          <a:p>
            <a:pPr algn="l"/>
            <a:r>
              <a:rPr sz="1980" b="1">
                <a:solidFill>
                  <a:srgbClr val="0E2841"/>
                </a:solidFill>
                <a:latin typeface="Aptos Display"/>
              </a:rPr>
              <a:t>Contexto</a:t>
            </a:r>
          </a:p>
          <a:p>
            <a:pPr algn="l">
              <a:lnSpc>
                <a:spcPct val="120000"/>
              </a:lnSpc>
              <a:spcBef>
                <a:spcPts val="700"/>
              </a:spcBef>
            </a:pPr>
            <a:r>
              <a:rPr sz="1560" b="0">
                <a:solidFill>
                  <a:srgbClr val="33475B"/>
                </a:solidFill>
                <a:latin typeface="Aptos"/>
              </a:rPr>
              <a:t>El hecho medible que obliga a decidir. Con número</a:t>
            </a:r>
          </a:p>
        </p:txBody>
      </p:sp>
      <p:sp>
        <p:nvSpPr>
          <p:cNvPr id="11" name="Rounded Rectangle 10"/>
          <p:cNvSpPr/>
          <p:nvPr/>
        </p:nvSpPr>
        <p:spPr>
          <a:xfrm>
            <a:off x="3410712" y="2532888"/>
            <a:ext cx="2532888" cy="283464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611880" y="2368296"/>
            <a:ext cx="475488" cy="475488"/>
          </a:xfrm>
          <a:prstGeom prst="ellipse">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11880" y="2368296"/>
            <a:ext cx="475488" cy="475488"/>
          </a:xfrm>
          <a:prstGeom prst="rect">
            <a:avLst/>
          </a:prstGeom>
          <a:noFill/>
        </p:spPr>
        <p:txBody>
          <a:bodyPr wrap="square" anchor="ctr" lIns="0" rIns="0" tIns="0" bIns="0">
            <a:spAutoFit/>
          </a:bodyPr>
          <a:lstStyle/>
          <a:p>
            <a:pPr algn="ctr"/>
            <a:r>
              <a:rPr sz="1700" b="1">
                <a:solidFill>
                  <a:srgbClr val="FFFFFF"/>
                </a:solidFill>
                <a:latin typeface="Aptos Display"/>
              </a:rPr>
              <a:t>2</a:t>
            </a:r>
          </a:p>
        </p:txBody>
      </p:sp>
      <p:sp>
        <p:nvSpPr>
          <p:cNvPr id="14" name="TextBox 13"/>
          <p:cNvSpPr txBox="1"/>
          <p:nvPr/>
        </p:nvSpPr>
        <p:spPr>
          <a:xfrm>
            <a:off x="3611880" y="3008376"/>
            <a:ext cx="2130552" cy="2176272"/>
          </a:xfrm>
          <a:prstGeom prst="rect">
            <a:avLst/>
          </a:prstGeom>
          <a:noFill/>
        </p:spPr>
        <p:txBody>
          <a:bodyPr wrap="square" anchor="t" lIns="0" rIns="0" tIns="0" bIns="0">
            <a:spAutoFit/>
          </a:bodyPr>
          <a:lstStyle/>
          <a:p>
            <a:pPr algn="l"/>
            <a:r>
              <a:rPr sz="1980" b="1">
                <a:solidFill>
                  <a:srgbClr val="0E2841"/>
                </a:solidFill>
                <a:latin typeface="Aptos Display"/>
              </a:rPr>
              <a:t>Decisión</a:t>
            </a:r>
          </a:p>
          <a:p>
            <a:pPr algn="l">
              <a:lnSpc>
                <a:spcPct val="120000"/>
              </a:lnSpc>
              <a:spcBef>
                <a:spcPts val="700"/>
              </a:spcBef>
            </a:pPr>
            <a:r>
              <a:rPr sz="1560" b="0">
                <a:solidFill>
                  <a:srgbClr val="33475B"/>
                </a:solidFill>
                <a:latin typeface="Aptos"/>
              </a:rPr>
              <a:t>Qué se hace, en una frase</a:t>
            </a:r>
          </a:p>
        </p:txBody>
      </p:sp>
      <p:sp>
        <p:nvSpPr>
          <p:cNvPr id="15" name="Rounded Rectangle 14"/>
          <p:cNvSpPr/>
          <p:nvPr/>
        </p:nvSpPr>
        <p:spPr>
          <a:xfrm>
            <a:off x="6254496" y="2532888"/>
            <a:ext cx="2532888" cy="283464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455664" y="2368296"/>
            <a:ext cx="475488" cy="475488"/>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55664" y="2368296"/>
            <a:ext cx="475488" cy="475488"/>
          </a:xfrm>
          <a:prstGeom prst="rect">
            <a:avLst/>
          </a:prstGeom>
          <a:noFill/>
        </p:spPr>
        <p:txBody>
          <a:bodyPr wrap="square" anchor="ctr" lIns="0" rIns="0" tIns="0" bIns="0">
            <a:spAutoFit/>
          </a:bodyPr>
          <a:lstStyle/>
          <a:p>
            <a:pPr algn="ctr"/>
            <a:r>
              <a:rPr sz="1700" b="1">
                <a:solidFill>
                  <a:srgbClr val="FFFFFF"/>
                </a:solidFill>
                <a:latin typeface="Aptos Display"/>
              </a:rPr>
              <a:t>3</a:t>
            </a:r>
          </a:p>
        </p:txBody>
      </p:sp>
      <p:sp>
        <p:nvSpPr>
          <p:cNvPr id="18" name="TextBox 17"/>
          <p:cNvSpPr txBox="1"/>
          <p:nvPr/>
        </p:nvSpPr>
        <p:spPr>
          <a:xfrm>
            <a:off x="6455664" y="3008376"/>
            <a:ext cx="2130552" cy="2176272"/>
          </a:xfrm>
          <a:prstGeom prst="rect">
            <a:avLst/>
          </a:prstGeom>
          <a:noFill/>
        </p:spPr>
        <p:txBody>
          <a:bodyPr wrap="square" anchor="t" lIns="0" rIns="0" tIns="0" bIns="0">
            <a:spAutoFit/>
          </a:bodyPr>
          <a:lstStyle/>
          <a:p>
            <a:pPr algn="l"/>
            <a:r>
              <a:rPr sz="1980" b="1">
                <a:solidFill>
                  <a:srgbClr val="0E2841"/>
                </a:solidFill>
                <a:latin typeface="Aptos Display"/>
              </a:rPr>
              <a:t>Alternativas</a:t>
            </a:r>
          </a:p>
          <a:p>
            <a:pPr algn="l">
              <a:lnSpc>
                <a:spcPct val="120000"/>
              </a:lnSpc>
              <a:spcBef>
                <a:spcPts val="700"/>
              </a:spcBef>
            </a:pPr>
            <a:r>
              <a:rPr sz="1560" b="0">
                <a:solidFill>
                  <a:srgbClr val="33475B"/>
                </a:solidFill>
                <a:latin typeface="Aptos"/>
              </a:rPr>
              <a:t>Qué se descartó y por qué. Es la sección que vale</a:t>
            </a:r>
          </a:p>
        </p:txBody>
      </p:sp>
      <p:sp>
        <p:nvSpPr>
          <p:cNvPr id="19" name="Rounded Rectangle 18"/>
          <p:cNvSpPr/>
          <p:nvPr/>
        </p:nvSpPr>
        <p:spPr>
          <a:xfrm>
            <a:off x="9098280" y="2532888"/>
            <a:ext cx="2532888" cy="283464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299448" y="2368296"/>
            <a:ext cx="475488" cy="475488"/>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99448" y="2368296"/>
            <a:ext cx="475488" cy="475488"/>
          </a:xfrm>
          <a:prstGeom prst="rect">
            <a:avLst/>
          </a:prstGeom>
          <a:noFill/>
        </p:spPr>
        <p:txBody>
          <a:bodyPr wrap="square" anchor="ctr" lIns="0" rIns="0" tIns="0" bIns="0">
            <a:spAutoFit/>
          </a:bodyPr>
          <a:lstStyle/>
          <a:p>
            <a:pPr algn="ctr"/>
            <a:r>
              <a:rPr sz="1700" b="1">
                <a:solidFill>
                  <a:srgbClr val="FFFFFF"/>
                </a:solidFill>
                <a:latin typeface="Aptos Display"/>
              </a:rPr>
              <a:t>4</a:t>
            </a:r>
          </a:p>
        </p:txBody>
      </p:sp>
      <p:sp>
        <p:nvSpPr>
          <p:cNvPr id="22" name="TextBox 21"/>
          <p:cNvSpPr txBox="1"/>
          <p:nvPr/>
        </p:nvSpPr>
        <p:spPr>
          <a:xfrm>
            <a:off x="9299448" y="3008376"/>
            <a:ext cx="2130552" cy="2176272"/>
          </a:xfrm>
          <a:prstGeom prst="rect">
            <a:avLst/>
          </a:prstGeom>
          <a:noFill/>
        </p:spPr>
        <p:txBody>
          <a:bodyPr wrap="square" anchor="t" lIns="0" rIns="0" tIns="0" bIns="0">
            <a:spAutoFit/>
          </a:bodyPr>
          <a:lstStyle/>
          <a:p>
            <a:pPr algn="l"/>
            <a:r>
              <a:rPr sz="1980" b="1">
                <a:solidFill>
                  <a:srgbClr val="0E2841"/>
                </a:solidFill>
                <a:latin typeface="Aptos Display"/>
              </a:rPr>
              <a:t>Consecuencias</a:t>
            </a:r>
          </a:p>
          <a:p>
            <a:pPr algn="l">
              <a:lnSpc>
                <a:spcPct val="120000"/>
              </a:lnSpc>
              <a:spcBef>
                <a:spcPts val="700"/>
              </a:spcBef>
            </a:pPr>
            <a:r>
              <a:rPr sz="1560" b="0">
                <a:solidFill>
                  <a:srgbClr val="33475B"/>
                </a:solidFill>
                <a:latin typeface="Aptos"/>
              </a:rPr>
              <a:t>Lo que mejora Y lo que se complica</a:t>
            </a:r>
          </a:p>
        </p:txBody>
      </p:sp>
      <p:sp>
        <p:nvSpPr>
          <p:cNvPr id="23" name="TextBox 22"/>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Arquitectura y Diseño de Software  ·  Unidad 1</a:t>
            </a:r>
          </a:p>
        </p:txBody>
      </p:sp>
      <p:sp>
        <p:nvSpPr>
          <p:cNvPr id="24" name="TextBox 23"/>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15 / 39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1 · FUNDAMENTOS · ESP. INGENIERÍA DE SOFTWARE</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Así se ve un ADR terminado</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883663"/>
            <a:ext cx="11064240" cy="4133088"/>
          </a:xfrm>
          <a:prstGeom prst="roundRect">
            <a:avLst>
              <a:gd name="adj" fmla="val 5000"/>
            </a:avLst>
          </a:prstGeom>
          <a:solidFill>
            <a:srgbClr val="0E2841"/>
          </a:solidFill>
          <a:ln>
            <a:noFill/>
          </a:ln>
          <a:effectLst>
            <a:outerShdw blurRad="203200" dist="50800" dir="5400000" rotWithShape="0">
              <a:srgbClr val="0E2841">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77824" y="2066543"/>
            <a:ext cx="10515600" cy="3785616"/>
          </a:xfrm>
          <a:prstGeom prst="rect">
            <a:avLst/>
          </a:prstGeom>
          <a:noFill/>
        </p:spPr>
        <p:txBody>
          <a:bodyPr wrap="none" lIns="0" tIns="0">
            <a:spAutoFit/>
          </a:bodyPr>
          <a:lstStyle/>
          <a:p>
            <a:pPr>
              <a:lnSpc>
                <a:spcPct val="125000"/>
              </a:lnSpc>
            </a:pPr>
            <a:r>
              <a:rPr sz="1450">
                <a:solidFill>
                  <a:srgbClr val="E8E8E8"/>
                </a:solidFill>
                <a:latin typeface="Consolas"/>
              </a:rPr>
              <a:t>  ADR-007 — Separar reportería del core operacional</a:t>
            </a:r>
          </a:p>
          <a:p>
            <a:pPr>
              <a:lnSpc>
                <a:spcPct val="125000"/>
              </a:lnSpc>
            </a:pPr>
            <a:r>
              <a:rPr sz="1450">
                <a:solidFill>
                  <a:srgbClr val="E8E8E8"/>
                </a:solidFill>
                <a:latin typeface="Consolas"/>
              </a:rPr>
              <a:t>  ─────────────────────────────────────────────────</a:t>
            </a:r>
          </a:p>
          <a:p>
            <a:pPr>
              <a:lnSpc>
                <a:spcPct val="125000"/>
              </a:lnSpc>
            </a:pPr>
            <a:r>
              <a:rPr sz="1450">
                <a:solidFill>
                  <a:srgbClr val="E8E8E8"/>
                </a:solidFill>
                <a:latin typeface="Consolas"/>
              </a:rPr>
              <a:t>  Estado      : Aceptada (2026-03-14)</a:t>
            </a:r>
          </a:p>
          <a:p>
            <a:pPr>
              <a:lnSpc>
                <a:spcPct val="125000"/>
              </a:lnSpc>
            </a:pPr>
            <a:r>
              <a:rPr sz="1450">
                <a:solidFill>
                  <a:srgbClr val="E8E8E8"/>
                </a:solidFill>
                <a:latin typeface="Consolas"/>
              </a:rPr>
              <a:t>  Contexto    : Los reportes bloquean la BD; el ingreso supera</a:t>
            </a:r>
          </a:p>
          <a:p>
            <a:pPr>
              <a:lnSpc>
                <a:spcPct val="125000"/>
              </a:lnSpc>
            </a:pPr>
            <a:r>
              <a:rPr sz="1450">
                <a:solidFill>
                  <a:srgbClr val="E8E8E8"/>
                </a:solidFill>
                <a:latin typeface="Consolas"/>
              </a:rPr>
              <a:t>                8 s en hora pico. El RNF2 exige &lt; 2 s.</a:t>
            </a:r>
          </a:p>
          <a:p>
            <a:pPr>
              <a:lnSpc>
                <a:spcPct val="125000"/>
              </a:lnSpc>
            </a:pPr>
            <a:r>
              <a:rPr sz="1450">
                <a:solidFill>
                  <a:srgbClr val="E8E8E8"/>
                </a:solidFill>
                <a:latin typeface="Consolas"/>
              </a:rPr>
              <a:t>  Decisión    : Reportería sobre réplica de lectura alimentada</a:t>
            </a:r>
          </a:p>
          <a:p>
            <a:pPr>
              <a:lnSpc>
                <a:spcPct val="125000"/>
              </a:lnSpc>
            </a:pPr>
            <a:r>
              <a:rPr sz="1450">
                <a:solidFill>
                  <a:srgbClr val="E8E8E8"/>
                </a:solidFill>
                <a:latin typeface="Consolas"/>
              </a:rPr>
              <a:t>                por eventos. El core publica, no consulta.</a:t>
            </a:r>
          </a:p>
          <a:p>
            <a:pPr>
              <a:lnSpc>
                <a:spcPct val="125000"/>
              </a:lnSpc>
            </a:pPr>
            <a:r>
              <a:rPr sz="1450">
                <a:solidFill>
                  <a:srgbClr val="E8E8E8"/>
                </a:solidFill>
                <a:latin typeface="Consolas"/>
              </a:rPr>
              <a:t>  Alternativas: (a) Optimizar índices — insuficiente: el problema</a:t>
            </a:r>
          </a:p>
          <a:p>
            <a:pPr>
              <a:lnSpc>
                <a:spcPct val="125000"/>
              </a:lnSpc>
            </a:pPr>
            <a:r>
              <a:rPr sz="1450">
                <a:solidFill>
                  <a:srgbClr val="E8E8E8"/>
                </a:solidFill>
                <a:latin typeface="Consolas"/>
              </a:rPr>
              <a:t>                    es contención, no plan de consulta.</a:t>
            </a:r>
          </a:p>
          <a:p>
            <a:pPr>
              <a:lnSpc>
                <a:spcPct val="125000"/>
              </a:lnSpc>
            </a:pPr>
            <a:r>
              <a:rPr sz="1450">
                <a:solidFill>
                  <a:srgbClr val="E8E8E8"/>
                </a:solidFill>
                <a:latin typeface="Consolas"/>
              </a:rPr>
              <a:t>                (b) Réplica síncrona — no elimina el impacto</a:t>
            </a:r>
          </a:p>
          <a:p>
            <a:pPr>
              <a:lnSpc>
                <a:spcPct val="125000"/>
              </a:lnSpc>
            </a:pPr>
            <a:r>
              <a:rPr sz="1450">
                <a:solidFill>
                  <a:srgbClr val="E8E8E8"/>
                </a:solidFill>
                <a:latin typeface="Consolas"/>
              </a:rPr>
              <a:t>                    sobre las escrituras.</a:t>
            </a:r>
          </a:p>
          <a:p>
            <a:pPr>
              <a:lnSpc>
                <a:spcPct val="125000"/>
              </a:lnSpc>
            </a:pPr>
            <a:r>
              <a:rPr sz="1450">
                <a:solidFill>
                  <a:srgbClr val="E8E8E8"/>
                </a:solidFill>
                <a:latin typeface="Consolas"/>
              </a:rPr>
              <a:t>  Consecuencias: + La operación crítica deja de degradarse.</a:t>
            </a:r>
          </a:p>
          <a:p>
            <a:pPr>
              <a:lnSpc>
                <a:spcPct val="125000"/>
              </a:lnSpc>
            </a:pPr>
            <a:r>
              <a:rPr sz="1450">
                <a:solidFill>
                  <a:srgbClr val="E8E8E8"/>
                </a:solidFill>
                <a:latin typeface="Consolas"/>
              </a:rPr>
              <a:t>                 - Los reportes quedan consistentes en ~30 s.</a:t>
            </a:r>
          </a:p>
          <a:p>
            <a:pPr>
              <a:lnSpc>
                <a:spcPct val="125000"/>
              </a:lnSpc>
            </a:pPr>
            <a:r>
              <a:rPr sz="1450">
                <a:solidFill>
                  <a:srgbClr val="E8E8E8"/>
                </a:solidFill>
                <a:latin typeface="Consolas"/>
              </a:rPr>
              <a:t>                 - Aparece un pipeline nuevo que hay que operar.</a:t>
            </a:r>
          </a:p>
        </p:txBody>
      </p:sp>
      <p:sp>
        <p:nvSpPr>
          <p:cNvPr id="9" name="TextBox 8"/>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Arquitectura y Diseño de Software  ·  Unidad 1</a:t>
            </a:r>
          </a:p>
        </p:txBody>
      </p:sp>
      <p:sp>
        <p:nvSpPr>
          <p:cNvPr id="10" name="TextBox 9"/>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16 / 39</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009540"/>
                </a:solidFill>
                <a:latin typeface="Aptos"/>
              </a:rPr>
              <a:t>PREGUNTA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2500" b="1">
                <a:solidFill>
                  <a:srgbClr val="0E2841"/>
                </a:solidFill>
                <a:latin typeface="Aptos Display"/>
              </a:rPr>
              <a:t>¿Qué sección de un ADR distingue una decisión real de una simple preferencia?</a:t>
            </a:r>
          </a:p>
        </p:txBody>
      </p:sp>
      <p:sp>
        <p:nvSpPr>
          <p:cNvPr id="5" name="Rectangle 4"/>
          <p:cNvSpPr/>
          <p:nvPr/>
        </p:nvSpPr>
        <p:spPr>
          <a:xfrm>
            <a:off x="566928" y="1389888"/>
            <a:ext cx="1371600"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810511"/>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86384" y="2049535"/>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 y="2049535"/>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A</a:t>
            </a:r>
          </a:p>
        </p:txBody>
      </p:sp>
      <p:sp>
        <p:nvSpPr>
          <p:cNvPr id="10" name="TextBox 9"/>
          <p:cNvSpPr txBox="1"/>
          <p:nvPr/>
        </p:nvSpPr>
        <p:spPr>
          <a:xfrm>
            <a:off x="1408176" y="1810511"/>
            <a:ext cx="9966960" cy="898672"/>
          </a:xfrm>
          <a:prstGeom prst="rect">
            <a:avLst/>
          </a:prstGeom>
          <a:noFill/>
        </p:spPr>
        <p:txBody>
          <a:bodyPr wrap="square" anchor="ctr" lIns="0" rIns="0" tIns="0" bIns="0">
            <a:spAutoFit/>
          </a:bodyPr>
          <a:lstStyle/>
          <a:p>
            <a:pPr algn="l"/>
            <a:r>
              <a:rPr sz="2100" b="0">
                <a:solidFill>
                  <a:srgbClr val="0E2841"/>
                </a:solidFill>
                <a:latin typeface="Aptos"/>
              </a:rPr>
              <a:t>El estado (propuesta, aceptada, reemplazada)</a:t>
            </a:r>
          </a:p>
        </p:txBody>
      </p:sp>
      <p:sp>
        <p:nvSpPr>
          <p:cNvPr id="11" name="Rounded Rectangle 10"/>
          <p:cNvSpPr/>
          <p:nvPr/>
        </p:nvSpPr>
        <p:spPr>
          <a:xfrm>
            <a:off x="566928" y="2880360"/>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86384" y="3119384"/>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 y="3119384"/>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B</a:t>
            </a:r>
          </a:p>
        </p:txBody>
      </p:sp>
      <p:sp>
        <p:nvSpPr>
          <p:cNvPr id="14" name="TextBox 13"/>
          <p:cNvSpPr txBox="1"/>
          <p:nvPr/>
        </p:nvSpPr>
        <p:spPr>
          <a:xfrm>
            <a:off x="1408176" y="2880360"/>
            <a:ext cx="9966960" cy="898672"/>
          </a:xfrm>
          <a:prstGeom prst="rect">
            <a:avLst/>
          </a:prstGeom>
          <a:noFill/>
        </p:spPr>
        <p:txBody>
          <a:bodyPr wrap="square" anchor="ctr" lIns="0" rIns="0" tIns="0" bIns="0">
            <a:spAutoFit/>
          </a:bodyPr>
          <a:lstStyle/>
          <a:p>
            <a:pPr algn="l"/>
            <a:r>
              <a:rPr sz="2100" b="0">
                <a:solidFill>
                  <a:srgbClr val="0E2841"/>
                </a:solidFill>
                <a:latin typeface="Aptos"/>
              </a:rPr>
              <a:t>La fecha en que se tomó y quién la firmó</a:t>
            </a:r>
          </a:p>
        </p:txBody>
      </p:sp>
      <p:sp>
        <p:nvSpPr>
          <p:cNvPr id="15" name="Rounded Rectangle 14"/>
          <p:cNvSpPr/>
          <p:nvPr/>
        </p:nvSpPr>
        <p:spPr>
          <a:xfrm>
            <a:off x="566928" y="3950208"/>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86384" y="4189232"/>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4189232"/>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C</a:t>
            </a:r>
          </a:p>
        </p:txBody>
      </p:sp>
      <p:sp>
        <p:nvSpPr>
          <p:cNvPr id="18" name="TextBox 17"/>
          <p:cNvSpPr txBox="1"/>
          <p:nvPr/>
        </p:nvSpPr>
        <p:spPr>
          <a:xfrm>
            <a:off x="1408176" y="3950208"/>
            <a:ext cx="9966960" cy="898672"/>
          </a:xfrm>
          <a:prstGeom prst="rect">
            <a:avLst/>
          </a:prstGeom>
          <a:noFill/>
        </p:spPr>
        <p:txBody>
          <a:bodyPr wrap="square" anchor="ctr" lIns="0" rIns="0" tIns="0" bIns="0">
            <a:spAutoFit/>
          </a:bodyPr>
          <a:lstStyle/>
          <a:p>
            <a:pPr algn="l"/>
            <a:r>
              <a:rPr sz="2100" b="0">
                <a:solidFill>
                  <a:srgbClr val="0E2841"/>
                </a:solidFill>
                <a:latin typeface="Aptos"/>
              </a:rPr>
              <a:t>Las alternativas descartadas y la razón del descarte</a:t>
            </a:r>
          </a:p>
        </p:txBody>
      </p:sp>
      <p:sp>
        <p:nvSpPr>
          <p:cNvPr id="19" name="Rounded Rectangle 18"/>
          <p:cNvSpPr/>
          <p:nvPr/>
        </p:nvSpPr>
        <p:spPr>
          <a:xfrm>
            <a:off x="566928" y="5020056"/>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86384" y="5259080"/>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86384" y="5259080"/>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D</a:t>
            </a:r>
          </a:p>
        </p:txBody>
      </p:sp>
      <p:sp>
        <p:nvSpPr>
          <p:cNvPr id="22" name="TextBox 21"/>
          <p:cNvSpPr txBox="1"/>
          <p:nvPr/>
        </p:nvSpPr>
        <p:spPr>
          <a:xfrm>
            <a:off x="1408176" y="5020056"/>
            <a:ext cx="9966960" cy="898672"/>
          </a:xfrm>
          <a:prstGeom prst="rect">
            <a:avLst/>
          </a:prstGeom>
          <a:noFill/>
        </p:spPr>
        <p:txBody>
          <a:bodyPr wrap="square" anchor="ctr" lIns="0" rIns="0" tIns="0" bIns="0">
            <a:spAutoFit/>
          </a:bodyPr>
          <a:lstStyle/>
          <a:p>
            <a:pPr algn="l"/>
            <a:r>
              <a:rPr sz="2100" b="0">
                <a:solidFill>
                  <a:srgbClr val="0E2841"/>
                </a:solidFill>
                <a:latin typeface="Aptos"/>
              </a:rPr>
              <a:t>El diagrama que acompaña al documento</a:t>
            </a:r>
          </a:p>
        </p:txBody>
      </p:sp>
      <p:sp>
        <p:nvSpPr>
          <p:cNvPr id="23" name="TextBox 22"/>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Arquitectura y Diseño de Software  ·  Unidad 1</a:t>
            </a:r>
          </a:p>
        </p:txBody>
      </p:sp>
      <p:sp>
        <p:nvSpPr>
          <p:cNvPr id="24" name="TextBox 23"/>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17 / 39</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56082"/>
        </a:solidFill>
        <a:effectLst/>
      </p:bgPr>
    </p:bg>
    <p:spTree>
      <p:nvGrpSpPr>
        <p:cNvPr id="1" name=""/>
        <p:cNvGrpSpPr/>
        <p:nvPr/>
      </p:nvGrpSpPr>
      <p:grpSpPr/>
      <p:sp>
        <p:nvSpPr>
          <p:cNvPr id="2" name="TextBox 1"/>
          <p:cNvSpPr txBox="1"/>
          <p:nvPr/>
        </p:nvSpPr>
        <p:spPr>
          <a:xfrm>
            <a:off x="0" y="960120"/>
            <a:ext cx="12191695" cy="2011680"/>
          </a:xfrm>
          <a:prstGeom prst="rect">
            <a:avLst/>
          </a:prstGeom>
          <a:noFill/>
        </p:spPr>
        <p:txBody>
          <a:bodyPr wrap="square" anchor="t" lIns="0" rIns="0" tIns="0" bIns="0">
            <a:spAutoFit/>
          </a:bodyPr>
          <a:lstStyle/>
          <a:p>
            <a:pPr algn="ctr"/>
            <a:r>
              <a:rPr sz="12800" b="1">
                <a:solidFill>
                  <a:srgbClr val="0E2841"/>
                </a:solidFill>
                <a:latin typeface="Aptos Display"/>
              </a:rPr>
              <a:t>04</a:t>
            </a:r>
          </a:p>
        </p:txBody>
      </p:sp>
      <p:sp>
        <p:nvSpPr>
          <p:cNvPr id="3" name="Rectangle 2"/>
          <p:cNvSpPr/>
          <p:nvPr/>
        </p:nvSpPr>
        <p:spPr>
          <a:xfrm>
            <a:off x="5184648" y="3127248"/>
            <a:ext cx="1828800" cy="635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429000"/>
            <a:ext cx="10698480" cy="1097280"/>
          </a:xfrm>
          <a:prstGeom prst="rect">
            <a:avLst/>
          </a:prstGeom>
          <a:noFill/>
        </p:spPr>
        <p:txBody>
          <a:bodyPr wrap="square" anchor="t" lIns="0" rIns="0" tIns="0" bIns="0">
            <a:spAutoFit/>
          </a:bodyPr>
          <a:lstStyle/>
          <a:p>
            <a:pPr algn="ctr"/>
            <a:r>
              <a:rPr sz="4000" b="1">
                <a:solidFill>
                  <a:srgbClr val="FFFFFF"/>
                </a:solidFill>
                <a:latin typeface="Aptos Display"/>
              </a:rPr>
              <a:t>4. Patrones: dos niveles que no se deben mezclar</a:t>
            </a:r>
          </a:p>
        </p:txBody>
      </p:sp>
      <p:pic>
        <p:nvPicPr>
          <p:cNvPr id="5" name="Picture 4" descr="Logo-Institucional-con-advertencia-Vigilado-Mineducacion-Blanco.png"/>
          <p:cNvPicPr>
            <a:picLocks noChangeAspect="1"/>
          </p:cNvPicPr>
          <p:nvPr/>
        </p:nvPicPr>
        <p:blipFill>
          <a:blip r:embed="rId2"/>
          <a:stretch>
            <a:fillRect/>
          </a:stretch>
        </p:blipFill>
        <p:spPr>
          <a:xfrm>
            <a:off x="10938117" y="5943600"/>
            <a:ext cx="750963" cy="6858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1 · FUNDAMENTOS · ESP. INGENIERÍA DE SOFTWARE</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2500" b="1">
                <a:solidFill>
                  <a:srgbClr val="0E2841"/>
                </a:solidFill>
                <a:latin typeface="Aptos Display"/>
              </a:rPr>
              <a:t>Patrón arquitectónico y patrón GoF operan en niveles distintos</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graphicFrame>
        <p:nvGraphicFramePr>
          <p:cNvPr id="7" name="Table 6"/>
          <p:cNvGraphicFramePr>
            <a:graphicFrameLocks noGrp="1"/>
          </p:cNvGraphicFramePr>
          <p:nvPr/>
        </p:nvGraphicFramePr>
        <p:xfrm>
          <a:off x="566928" y="1762963"/>
          <a:ext cx="11064240" cy="4374486"/>
        </p:xfrm>
        <a:graphic>
          <a:graphicData uri="http://schemas.openxmlformats.org/drawingml/2006/table">
            <a:tbl>
              <a:tblPr firstRow="1">
                <a:tableStyleId>{5C22544A-7EE6-4342-B048-85BDC9FD1C3A}</a:tableStyleId>
              </a:tblPr>
              <a:tblGrid>
                <a:gridCol w="3688080"/>
                <a:gridCol w="3688080"/>
                <a:gridCol w="3688080"/>
              </a:tblGrid>
              <a:tr h="729081">
                <a:tc>
                  <a:txBody>
                    <a:bodyPr wrap="square"/>
                    <a:lstStyle/>
                    <a:p/>
                  </a:txBody>
                  <a:tcPr anchor="ctr" marL="146304" marR="146304">
                    <a:solidFill>
                      <a:srgbClr val="156082"/>
                    </a:solidFill>
                  </a:tcPr>
                </a:tc>
                <a:tc>
                  <a:txBody>
                    <a:bodyPr wrap="square"/>
                    <a:lstStyle/>
                    <a:p>
                      <a:r>
                        <a:rPr sz="1725" b="1">
                          <a:solidFill>
                            <a:srgbClr val="FFFFFF"/>
                          </a:solidFill>
                          <a:latin typeface="Aptos"/>
                        </a:rPr>
                        <a:t>Patrón </a:t>
                      </a:r>
                      <a:r>
                        <a:rPr sz="1725" b="1">
                          <a:solidFill>
                            <a:srgbClr val="FFFFFF"/>
                          </a:solidFill>
                          <a:latin typeface="Aptos"/>
                        </a:rPr>
                        <a:t>arquitectónico</a:t>
                      </a:r>
                    </a:p>
                  </a:txBody>
                  <a:tcPr anchor="ctr" marL="146304" marR="146304">
                    <a:solidFill>
                      <a:srgbClr val="156082"/>
                    </a:solidFill>
                  </a:tcPr>
                </a:tc>
                <a:tc>
                  <a:txBody>
                    <a:bodyPr wrap="square"/>
                    <a:lstStyle/>
                    <a:p>
                      <a:r>
                        <a:rPr sz="1725" b="1">
                          <a:solidFill>
                            <a:srgbClr val="FFFFFF"/>
                          </a:solidFill>
                          <a:latin typeface="Aptos"/>
                        </a:rPr>
                        <a:t>Patrón de </a:t>
                      </a:r>
                      <a:r>
                        <a:rPr sz="1725" b="1">
                          <a:solidFill>
                            <a:srgbClr val="FFFFFF"/>
                          </a:solidFill>
                          <a:latin typeface="Aptos"/>
                        </a:rPr>
                        <a:t>diseño</a:t>
                      </a:r>
                      <a:r>
                        <a:rPr sz="1725" b="1">
                          <a:solidFill>
                            <a:srgbClr val="FFFFFF"/>
                          </a:solidFill>
                          <a:latin typeface="Aptos"/>
                        </a:rPr>
                        <a:t> (GoF)</a:t>
                      </a:r>
                    </a:p>
                  </a:txBody>
                  <a:tcPr anchor="ctr" marL="146304" marR="146304">
                    <a:solidFill>
                      <a:srgbClr val="156082"/>
                    </a:solidFill>
                  </a:tcPr>
                </a:tc>
              </a:tr>
              <a:tr h="729081">
                <a:tc>
                  <a:txBody>
                    <a:bodyPr wrap="square"/>
                    <a:lstStyle/>
                    <a:p>
                      <a:r>
                        <a:rPr sz="1609" b="1">
                          <a:solidFill>
                            <a:srgbClr val="33475B"/>
                          </a:solidFill>
                          <a:latin typeface="Aptos"/>
                        </a:rPr>
                        <a:t>Organiza</a:t>
                      </a:r>
                    </a:p>
                  </a:txBody>
                  <a:tcPr anchor="ctr" marL="146304" marR="146304">
                    <a:solidFill>
                      <a:srgbClr val="FFFFFF"/>
                    </a:solidFill>
                  </a:tcPr>
                </a:tc>
                <a:tc>
                  <a:txBody>
                    <a:bodyPr wrap="square"/>
                    <a:lstStyle/>
                    <a:p>
                      <a:r>
                        <a:rPr sz="1609" b="0">
                          <a:solidFill>
                            <a:srgbClr val="33475B"/>
                          </a:solidFill>
                          <a:latin typeface="Aptos"/>
                        </a:rPr>
                        <a:t>Componentes y capas del sistema</a:t>
                      </a:r>
                    </a:p>
                  </a:txBody>
                  <a:tcPr anchor="ctr" marL="146304" marR="146304">
                    <a:solidFill>
                      <a:srgbClr val="FFFFFF"/>
                    </a:solidFill>
                  </a:tcPr>
                </a:tc>
                <a:tc>
                  <a:txBody>
                    <a:bodyPr wrap="square"/>
                    <a:lstStyle/>
                    <a:p>
                      <a:r>
                        <a:rPr sz="1609" b="0">
                          <a:solidFill>
                            <a:srgbClr val="33475B"/>
                          </a:solidFill>
                          <a:latin typeface="Aptos"/>
                        </a:rPr>
                        <a:t>Clases y objetos</a:t>
                      </a:r>
                    </a:p>
                  </a:txBody>
                  <a:tcPr anchor="ctr" marL="146304" marR="146304">
                    <a:solidFill>
                      <a:srgbClr val="FFFFFF"/>
                    </a:solidFill>
                  </a:tcPr>
                </a:tc>
              </a:tr>
              <a:tr h="729081">
                <a:tc>
                  <a:txBody>
                    <a:bodyPr wrap="square"/>
                    <a:lstStyle/>
                    <a:p>
                      <a:r>
                        <a:rPr sz="1609" b="1">
                          <a:solidFill>
                            <a:srgbClr val="33475B"/>
                          </a:solidFill>
                          <a:latin typeface="Aptos"/>
                        </a:rPr>
                        <a:t>Alcance</a:t>
                      </a:r>
                    </a:p>
                  </a:txBody>
                  <a:tcPr anchor="ctr" marL="146304" marR="146304">
                    <a:solidFill>
                      <a:srgbClr val="F4F7FA"/>
                    </a:solidFill>
                  </a:tcPr>
                </a:tc>
                <a:tc>
                  <a:txBody>
                    <a:bodyPr wrap="square"/>
                    <a:lstStyle/>
                    <a:p>
                      <a:r>
                        <a:rPr sz="1609" b="0">
                          <a:solidFill>
                            <a:srgbClr val="33475B"/>
                          </a:solidFill>
                          <a:latin typeface="Aptos"/>
                        </a:rPr>
                        <a:t>Todo el sistema</a:t>
                      </a:r>
                    </a:p>
                  </a:txBody>
                  <a:tcPr anchor="ctr" marL="146304" marR="146304">
                    <a:solidFill>
                      <a:srgbClr val="F4F7FA"/>
                    </a:solidFill>
                  </a:tcPr>
                </a:tc>
                <a:tc>
                  <a:txBody>
                    <a:bodyPr wrap="square"/>
                    <a:lstStyle/>
                    <a:p>
                      <a:r>
                        <a:rPr sz="1609" b="0">
                          <a:solidFill>
                            <a:srgbClr val="33475B"/>
                          </a:solidFill>
                          <a:latin typeface="Aptos"/>
                        </a:rPr>
                        <a:t>Un módulo</a:t>
                      </a:r>
                    </a:p>
                  </a:txBody>
                  <a:tcPr anchor="ctr" marL="146304" marR="146304">
                    <a:solidFill>
                      <a:srgbClr val="F4F7FA"/>
                    </a:solidFill>
                  </a:tcPr>
                </a:tc>
              </a:tr>
              <a:tr h="729081">
                <a:tc>
                  <a:txBody>
                    <a:bodyPr wrap="square"/>
                    <a:lstStyle/>
                    <a:p>
                      <a:r>
                        <a:rPr sz="1609" b="1">
                          <a:solidFill>
                            <a:srgbClr val="33475B"/>
                          </a:solidFill>
                          <a:latin typeface="Aptos"/>
                        </a:rPr>
                        <a:t>Decide</a:t>
                      </a:r>
                    </a:p>
                  </a:txBody>
                  <a:tcPr anchor="ctr" marL="146304" marR="146304">
                    <a:solidFill>
                      <a:srgbClr val="FFFFFF"/>
                    </a:solidFill>
                  </a:tcPr>
                </a:tc>
                <a:tc>
                  <a:txBody>
                    <a:bodyPr wrap="square"/>
                    <a:lstStyle/>
                    <a:p>
                      <a:r>
                        <a:rPr sz="1609" b="0">
                          <a:solidFill>
                            <a:srgbClr val="33475B"/>
                          </a:solidFill>
                          <a:latin typeface="Aptos"/>
                        </a:rPr>
                        <a:t>Dónde vive la lógica, quién llama a quién</a:t>
                      </a:r>
                    </a:p>
                  </a:txBody>
                  <a:tcPr anchor="ctr" marL="146304" marR="146304">
                    <a:solidFill>
                      <a:srgbClr val="FFFFFF"/>
                    </a:solidFill>
                  </a:tcPr>
                </a:tc>
                <a:tc>
                  <a:txBody>
                    <a:bodyPr wrap="square"/>
                    <a:lstStyle/>
                    <a:p>
                      <a:r>
                        <a:rPr sz="1609" b="0">
                          <a:solidFill>
                            <a:srgbClr val="33475B"/>
                          </a:solidFill>
                          <a:latin typeface="Aptos"/>
                        </a:rPr>
                        <a:t>Cómo se resuelve un problema local</a:t>
                      </a:r>
                    </a:p>
                  </a:txBody>
                  <a:tcPr anchor="ctr" marL="146304" marR="146304">
                    <a:solidFill>
                      <a:srgbClr val="FFFFFF"/>
                    </a:solidFill>
                  </a:tcPr>
                </a:tc>
              </a:tr>
              <a:tr h="729081">
                <a:tc>
                  <a:txBody>
                    <a:bodyPr wrap="square"/>
                    <a:lstStyle/>
                    <a:p>
                      <a:r>
                        <a:rPr sz="1609" b="1">
                          <a:solidFill>
                            <a:srgbClr val="33475B"/>
                          </a:solidFill>
                          <a:latin typeface="Aptos"/>
                        </a:rPr>
                        <a:t>Ejemplos</a:t>
                      </a:r>
                    </a:p>
                  </a:txBody>
                  <a:tcPr anchor="ctr" marL="146304" marR="146304">
                    <a:solidFill>
                      <a:srgbClr val="F4F7FA"/>
                    </a:solidFill>
                  </a:tcPr>
                </a:tc>
                <a:tc>
                  <a:txBody>
                    <a:bodyPr wrap="square"/>
                    <a:lstStyle/>
                    <a:p>
                      <a:r>
                        <a:rPr sz="1609" b="0">
                          <a:solidFill>
                            <a:srgbClr val="33475B"/>
                          </a:solidFill>
                          <a:latin typeface="Aptos"/>
                        </a:rPr>
                        <a:t>Capas, MVC, Microservicios, Hexagonal, CQRS</a:t>
                      </a:r>
                    </a:p>
                  </a:txBody>
                  <a:tcPr anchor="ctr" marL="146304" marR="146304">
                    <a:solidFill>
                      <a:srgbClr val="F4F7FA"/>
                    </a:solidFill>
                  </a:tcPr>
                </a:tc>
                <a:tc>
                  <a:txBody>
                    <a:bodyPr wrap="square"/>
                    <a:lstStyle/>
                    <a:p>
                      <a:r>
                        <a:rPr sz="1609" b="0">
                          <a:solidFill>
                            <a:srgbClr val="33475B"/>
                          </a:solidFill>
                          <a:latin typeface="Aptos"/>
                        </a:rPr>
                        <a:t>Singleton, Factory, Adapter, Observer</a:t>
                      </a:r>
                    </a:p>
                  </a:txBody>
                  <a:tcPr anchor="ctr" marL="146304" marR="146304">
                    <a:solidFill>
                      <a:srgbClr val="F4F7FA"/>
                    </a:solidFill>
                  </a:tcPr>
                </a:tc>
              </a:tr>
              <a:tr h="729081">
                <a:tc>
                  <a:txBody>
                    <a:bodyPr wrap="square"/>
                    <a:lstStyle/>
                    <a:p>
                      <a:r>
                        <a:rPr sz="1609" b="1">
                          <a:solidFill>
                            <a:srgbClr val="33475B"/>
                          </a:solidFill>
                          <a:latin typeface="Aptos"/>
                        </a:rPr>
                        <a:t>Cambiarlo cuesta</a:t>
                      </a:r>
                    </a:p>
                  </a:txBody>
                  <a:tcPr anchor="ctr" marL="146304" marR="146304">
                    <a:solidFill>
                      <a:srgbClr val="FFFFFF"/>
                    </a:solidFill>
                  </a:tcPr>
                </a:tc>
                <a:tc>
                  <a:txBody>
                    <a:bodyPr wrap="square"/>
                    <a:lstStyle/>
                    <a:p>
                      <a:r>
                        <a:rPr sz="1609" b="0">
                          <a:solidFill>
                            <a:srgbClr val="33475B"/>
                          </a:solidFill>
                          <a:latin typeface="Aptos"/>
                        </a:rPr>
                        <a:t>Alto</a:t>
                      </a:r>
                    </a:p>
                  </a:txBody>
                  <a:tcPr anchor="ctr" marL="146304" marR="146304">
                    <a:solidFill>
                      <a:srgbClr val="FFFFFF"/>
                    </a:solidFill>
                  </a:tcPr>
                </a:tc>
                <a:tc>
                  <a:txBody>
                    <a:bodyPr wrap="square"/>
                    <a:lstStyle/>
                    <a:p>
                      <a:r>
                        <a:rPr sz="1609" b="0">
                          <a:solidFill>
                            <a:srgbClr val="33475B"/>
                          </a:solidFill>
                          <a:latin typeface="Aptos"/>
                        </a:rPr>
                        <a:t>Bajo</a:t>
                      </a:r>
                    </a:p>
                  </a:txBody>
                  <a:tcPr anchor="ctr" marL="146304" marR="146304">
                    <a:solidFill>
                      <a:srgbClr val="FFFFFF"/>
                    </a:solidFill>
                  </a:tcPr>
                </a:tc>
              </a:tr>
            </a:tbl>
          </a:graphicData>
        </a:graphic>
      </p:graphicFrame>
      <p:sp>
        <p:nvSpPr>
          <p:cNvPr id="8" name="TextBox 7"/>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Arquitectura y Diseño de Software  ·  Unidad 1</a:t>
            </a:r>
          </a:p>
        </p:txBody>
      </p:sp>
      <p:sp>
        <p:nvSpPr>
          <p:cNvPr id="9" name="TextBox 8"/>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18 / 39</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1 · FUNDAMENTOS · ESP. INGENIERÍA DE SOFTWARE</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Los tres patrones arquitectónicos del temario</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2048256"/>
            <a:ext cx="2532888" cy="310896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2304288"/>
            <a:ext cx="384048" cy="508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2560320"/>
            <a:ext cx="2130552" cy="2395728"/>
          </a:xfrm>
          <a:prstGeom prst="rect">
            <a:avLst/>
          </a:prstGeom>
          <a:noFill/>
        </p:spPr>
        <p:txBody>
          <a:bodyPr wrap="square" anchor="t" lIns="0" rIns="0" tIns="0" bIns="0">
            <a:spAutoFit/>
          </a:bodyPr>
          <a:lstStyle/>
          <a:p>
            <a:pPr algn="l"/>
            <a:r>
              <a:rPr sz="2039" b="1">
                <a:solidFill>
                  <a:srgbClr val="0E2841"/>
                </a:solidFill>
                <a:latin typeface="Aptos Display"/>
              </a:rPr>
              <a:t>Capas</a:t>
            </a:r>
          </a:p>
          <a:p>
            <a:pPr algn="l">
              <a:lnSpc>
                <a:spcPct val="120000"/>
              </a:lnSpc>
              <a:spcBef>
                <a:spcPts val="700"/>
              </a:spcBef>
            </a:pPr>
            <a:r>
              <a:rPr sz="1560" b="0">
                <a:solidFill>
                  <a:srgbClr val="33475B"/>
                </a:solidFill>
                <a:latin typeface="Aptos"/>
              </a:rPr>
              <a:t>Niveles jerárquicos; cada uno conoce solo al inferior. El más difundido</a:t>
            </a:r>
          </a:p>
        </p:txBody>
      </p:sp>
      <p:sp>
        <p:nvSpPr>
          <p:cNvPr id="10" name="Rounded Rectangle 9"/>
          <p:cNvSpPr/>
          <p:nvPr/>
        </p:nvSpPr>
        <p:spPr>
          <a:xfrm>
            <a:off x="3410712" y="2048256"/>
            <a:ext cx="2532888" cy="310896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11880" y="2304288"/>
            <a:ext cx="384048"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11880" y="2560320"/>
            <a:ext cx="2130552" cy="2395728"/>
          </a:xfrm>
          <a:prstGeom prst="rect">
            <a:avLst/>
          </a:prstGeom>
          <a:noFill/>
        </p:spPr>
        <p:txBody>
          <a:bodyPr wrap="square" anchor="t" lIns="0" rIns="0" tIns="0" bIns="0">
            <a:spAutoFit/>
          </a:bodyPr>
          <a:lstStyle/>
          <a:p>
            <a:pPr algn="l"/>
            <a:r>
              <a:rPr sz="2039" b="1">
                <a:solidFill>
                  <a:srgbClr val="0E2841"/>
                </a:solidFill>
                <a:latin typeface="Aptos Display"/>
              </a:rPr>
              <a:t>MVC</a:t>
            </a:r>
          </a:p>
          <a:p>
            <a:pPr algn="l">
              <a:lnSpc>
                <a:spcPct val="120000"/>
              </a:lnSpc>
              <a:spcBef>
                <a:spcPts val="700"/>
              </a:spcBef>
            </a:pPr>
            <a:r>
              <a:rPr sz="1560" b="0">
                <a:solidFill>
                  <a:srgbClr val="33475B"/>
                </a:solidFill>
                <a:latin typeface="Aptos"/>
              </a:rPr>
              <a:t>Modelo, vista y controlador. Nació para interfaces; hoy en servidor y en el front</a:t>
            </a:r>
          </a:p>
        </p:txBody>
      </p:sp>
      <p:sp>
        <p:nvSpPr>
          <p:cNvPr id="13" name="Rounded Rectangle 12"/>
          <p:cNvSpPr/>
          <p:nvPr/>
        </p:nvSpPr>
        <p:spPr>
          <a:xfrm>
            <a:off x="6254496" y="2048256"/>
            <a:ext cx="2532888" cy="310896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455664" y="2304288"/>
            <a:ext cx="384048"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0320"/>
            <a:ext cx="2130552" cy="2395728"/>
          </a:xfrm>
          <a:prstGeom prst="rect">
            <a:avLst/>
          </a:prstGeom>
          <a:noFill/>
        </p:spPr>
        <p:txBody>
          <a:bodyPr wrap="square" anchor="t" lIns="0" rIns="0" tIns="0" bIns="0">
            <a:spAutoFit/>
          </a:bodyPr>
          <a:lstStyle/>
          <a:p>
            <a:pPr algn="l"/>
            <a:r>
              <a:rPr sz="2039" b="1">
                <a:solidFill>
                  <a:srgbClr val="0E2841"/>
                </a:solidFill>
                <a:latin typeface="Aptos Display"/>
              </a:rPr>
              <a:t>Front-Back separado</a:t>
            </a:r>
          </a:p>
          <a:p>
            <a:pPr algn="l">
              <a:lnSpc>
                <a:spcPct val="120000"/>
              </a:lnSpc>
              <a:spcBef>
                <a:spcPts val="700"/>
              </a:spcBef>
            </a:pPr>
            <a:r>
              <a:rPr sz="1560" b="0">
                <a:solidFill>
                  <a:srgbClr val="33475B"/>
                </a:solidFill>
                <a:latin typeface="Aptos"/>
              </a:rPr>
              <a:t>Cliente y servidor se despliegan aparte, unidos por una API</a:t>
            </a:r>
          </a:p>
        </p:txBody>
      </p:sp>
      <p:sp>
        <p:nvSpPr>
          <p:cNvPr id="16" name="Rounded Rectangle 15"/>
          <p:cNvSpPr/>
          <p:nvPr/>
        </p:nvSpPr>
        <p:spPr>
          <a:xfrm>
            <a:off x="9098280" y="2048256"/>
            <a:ext cx="2532888" cy="310896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9299448" y="2304288"/>
            <a:ext cx="384048" cy="508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299448" y="2560320"/>
            <a:ext cx="2130552" cy="2395728"/>
          </a:xfrm>
          <a:prstGeom prst="rect">
            <a:avLst/>
          </a:prstGeom>
          <a:noFill/>
        </p:spPr>
        <p:txBody>
          <a:bodyPr wrap="square" anchor="t" lIns="0" rIns="0" tIns="0" bIns="0">
            <a:spAutoFit/>
          </a:bodyPr>
          <a:lstStyle/>
          <a:p>
            <a:pPr algn="l"/>
            <a:r>
              <a:rPr sz="2039" b="1">
                <a:solidFill>
                  <a:srgbClr val="0E2841"/>
                </a:solidFill>
                <a:latin typeface="Aptos Display"/>
              </a:rPr>
              <a:t>El riesgo de Capas</a:t>
            </a:r>
          </a:p>
          <a:p>
            <a:pPr algn="l">
              <a:lnSpc>
                <a:spcPct val="120000"/>
              </a:lnSpc>
              <a:spcBef>
                <a:spcPts val="700"/>
              </a:spcBef>
            </a:pPr>
            <a:r>
              <a:rPr sz="1560" b="0">
                <a:solidFill>
                  <a:srgbClr val="33475B"/>
                </a:solidFill>
                <a:latin typeface="Aptos"/>
              </a:rPr>
              <a:t>Basta que un controlador consulte la BD para romperlo</a:t>
            </a:r>
          </a:p>
        </p:txBody>
      </p:sp>
      <p:sp>
        <p:nvSpPr>
          <p:cNvPr id="19" name="TextBox 18"/>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Arquitectura y Diseño de Software  ·  Unidad 1</a:t>
            </a:r>
          </a:p>
        </p:txBody>
      </p:sp>
      <p:sp>
        <p:nvSpPr>
          <p:cNvPr id="20" name="TextBox 19"/>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19 / 39</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1 · FUNDAMENTOS · ESP. INGENIERÍA DE SOFTWARE</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Las tres familias de patrones GoF</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graphicFrame>
        <p:nvGraphicFramePr>
          <p:cNvPr id="7" name="Table 6"/>
          <p:cNvGraphicFramePr>
            <a:graphicFrameLocks noGrp="1"/>
          </p:cNvGraphicFramePr>
          <p:nvPr/>
        </p:nvGraphicFramePr>
        <p:xfrm>
          <a:off x="566928" y="1762963"/>
          <a:ext cx="11064240" cy="4374488"/>
        </p:xfrm>
        <a:graphic>
          <a:graphicData uri="http://schemas.openxmlformats.org/drawingml/2006/table">
            <a:tbl>
              <a:tblPr firstRow="1">
                <a:tableStyleId>{5C22544A-7EE6-4342-B048-85BDC9FD1C3A}</a:tableStyleId>
              </a:tblPr>
              <a:tblGrid>
                <a:gridCol w="3688080"/>
                <a:gridCol w="3688080"/>
                <a:gridCol w="3688080"/>
              </a:tblGrid>
              <a:tr h="1093622">
                <a:tc>
                  <a:txBody>
                    <a:bodyPr wrap="square"/>
                    <a:lstStyle/>
                    <a:p>
                      <a:r>
                        <a:rPr sz="1725" b="1">
                          <a:solidFill>
                            <a:srgbClr val="FFFFFF"/>
                          </a:solidFill>
                          <a:latin typeface="Aptos"/>
                        </a:rPr>
                        <a:t>Familia</a:t>
                      </a:r>
                    </a:p>
                  </a:txBody>
                  <a:tcPr anchor="ctr" marL="146304" marR="146304">
                    <a:solidFill>
                      <a:srgbClr val="156082"/>
                    </a:solidFill>
                  </a:tcPr>
                </a:tc>
                <a:tc>
                  <a:txBody>
                    <a:bodyPr wrap="square"/>
                    <a:lstStyle/>
                    <a:p>
                      <a:r>
                        <a:rPr sz="1725" b="1">
                          <a:solidFill>
                            <a:srgbClr val="FFFFFF"/>
                          </a:solidFill>
                          <a:latin typeface="Aptos"/>
                        </a:rPr>
                        <a:t>Qué resuelve</a:t>
                      </a:r>
                    </a:p>
                  </a:txBody>
                  <a:tcPr anchor="ctr" marL="146304" marR="146304">
                    <a:solidFill>
                      <a:srgbClr val="156082"/>
                    </a:solidFill>
                  </a:tcPr>
                </a:tc>
                <a:tc>
                  <a:txBody>
                    <a:bodyPr wrap="square"/>
                    <a:lstStyle/>
                    <a:p>
                      <a:r>
                        <a:rPr sz="1725" b="1">
                          <a:solidFill>
                            <a:srgbClr val="FFFFFF"/>
                          </a:solidFill>
                          <a:latin typeface="Aptos"/>
                        </a:rPr>
                        <a:t>Del temario</a:t>
                      </a:r>
                    </a:p>
                  </a:txBody>
                  <a:tcPr anchor="ctr" marL="146304" marR="146304">
                    <a:solidFill>
                      <a:srgbClr val="156082"/>
                    </a:solidFill>
                  </a:tcPr>
                </a:tc>
              </a:tr>
              <a:tr h="1093622">
                <a:tc>
                  <a:txBody>
                    <a:bodyPr wrap="square"/>
                    <a:lstStyle/>
                    <a:p>
                      <a:r>
                        <a:rPr sz="1609" b="1">
                          <a:solidFill>
                            <a:srgbClr val="33475B"/>
                          </a:solidFill>
                          <a:latin typeface="Aptos"/>
                        </a:rPr>
                        <a:t>Creacionales</a:t>
                      </a:r>
                    </a:p>
                  </a:txBody>
                  <a:tcPr anchor="ctr" marL="146304" marR="146304">
                    <a:solidFill>
                      <a:srgbClr val="FFFFFF"/>
                    </a:solidFill>
                  </a:tcPr>
                </a:tc>
                <a:tc>
                  <a:txBody>
                    <a:bodyPr wrap="square"/>
                    <a:lstStyle/>
                    <a:p>
                      <a:r>
                        <a:rPr sz="1609" b="0">
                          <a:solidFill>
                            <a:srgbClr val="33475B"/>
                          </a:solidFill>
                          <a:latin typeface="Aptos"/>
                        </a:rPr>
                        <a:t>Cómo se crean los objetos</a:t>
                      </a:r>
                    </a:p>
                  </a:txBody>
                  <a:tcPr anchor="ctr" marL="146304" marR="146304">
                    <a:solidFill>
                      <a:srgbClr val="FFFFFF"/>
                    </a:solidFill>
                  </a:tcPr>
                </a:tc>
                <a:tc>
                  <a:txBody>
                    <a:bodyPr wrap="square"/>
                    <a:lstStyle/>
                    <a:p>
                      <a:r>
                        <a:rPr sz="1609" b="0">
                          <a:solidFill>
                            <a:srgbClr val="33475B"/>
                          </a:solidFill>
                          <a:latin typeface="Aptos"/>
                        </a:rPr>
                        <a:t>Singleton, Factory Method, Abstract Factory</a:t>
                      </a:r>
                    </a:p>
                  </a:txBody>
                  <a:tcPr anchor="ctr" marL="146304" marR="146304">
                    <a:solidFill>
                      <a:srgbClr val="FFFFFF"/>
                    </a:solidFill>
                  </a:tcPr>
                </a:tc>
              </a:tr>
              <a:tr h="1093622">
                <a:tc>
                  <a:txBody>
                    <a:bodyPr wrap="square"/>
                    <a:lstStyle/>
                    <a:p>
                      <a:r>
                        <a:rPr sz="1609" b="1">
                          <a:solidFill>
                            <a:srgbClr val="33475B"/>
                          </a:solidFill>
                          <a:latin typeface="Aptos"/>
                        </a:rPr>
                        <a:t>Estructurales</a:t>
                      </a:r>
                    </a:p>
                  </a:txBody>
                  <a:tcPr anchor="ctr" marL="146304" marR="146304">
                    <a:solidFill>
                      <a:srgbClr val="F4F7FA"/>
                    </a:solidFill>
                  </a:tcPr>
                </a:tc>
                <a:tc>
                  <a:txBody>
                    <a:bodyPr wrap="square"/>
                    <a:lstStyle/>
                    <a:p>
                      <a:r>
                        <a:rPr sz="1609" b="0">
                          <a:solidFill>
                            <a:srgbClr val="33475B"/>
                          </a:solidFill>
                          <a:latin typeface="Aptos"/>
                        </a:rPr>
                        <a:t>Cómo se componen los objetos</a:t>
                      </a:r>
                    </a:p>
                  </a:txBody>
                  <a:tcPr anchor="ctr" marL="146304" marR="146304">
                    <a:solidFill>
                      <a:srgbClr val="F4F7FA"/>
                    </a:solidFill>
                  </a:tcPr>
                </a:tc>
                <a:tc>
                  <a:txBody>
                    <a:bodyPr wrap="square"/>
                    <a:lstStyle/>
                    <a:p>
                      <a:r>
                        <a:rPr sz="1609" b="0">
                          <a:solidFill>
                            <a:srgbClr val="33475B"/>
                          </a:solidFill>
                          <a:latin typeface="Aptos"/>
                        </a:rPr>
                        <a:t>Adapter, Decorator, Composite</a:t>
                      </a:r>
                    </a:p>
                  </a:txBody>
                  <a:tcPr anchor="ctr" marL="146304" marR="146304">
                    <a:solidFill>
                      <a:srgbClr val="F4F7FA"/>
                    </a:solidFill>
                  </a:tcPr>
                </a:tc>
              </a:tr>
              <a:tr h="1093622">
                <a:tc>
                  <a:txBody>
                    <a:bodyPr wrap="square"/>
                    <a:lstStyle/>
                    <a:p>
                      <a:r>
                        <a:rPr sz="1609" b="1">
                          <a:solidFill>
                            <a:srgbClr val="33475B"/>
                          </a:solidFill>
                          <a:latin typeface="Aptos"/>
                        </a:rPr>
                        <a:t>De comportamiento</a:t>
                      </a:r>
                    </a:p>
                  </a:txBody>
                  <a:tcPr anchor="ctr" marL="146304" marR="146304">
                    <a:solidFill>
                      <a:srgbClr val="FFFFFF"/>
                    </a:solidFill>
                  </a:tcPr>
                </a:tc>
                <a:tc>
                  <a:txBody>
                    <a:bodyPr wrap="square"/>
                    <a:lstStyle/>
                    <a:p>
                      <a:r>
                        <a:rPr sz="1609" b="0">
                          <a:solidFill>
                            <a:srgbClr val="33475B"/>
                          </a:solidFill>
                          <a:latin typeface="Aptos"/>
                        </a:rPr>
                        <a:t>Cómo interactúan y reparten responsabilidad</a:t>
                      </a:r>
                    </a:p>
                  </a:txBody>
                  <a:tcPr anchor="ctr" marL="146304" marR="146304">
                    <a:solidFill>
                      <a:srgbClr val="FFFFFF"/>
                    </a:solidFill>
                  </a:tcPr>
                </a:tc>
                <a:tc>
                  <a:txBody>
                    <a:bodyPr wrap="square"/>
                    <a:lstStyle/>
                    <a:p>
                      <a:r>
                        <a:rPr sz="1609" b="0">
                          <a:solidFill>
                            <a:srgbClr val="33475B"/>
                          </a:solidFill>
                          <a:latin typeface="Aptos"/>
                        </a:rPr>
                        <a:t>Observer, Strategy, Command</a:t>
                      </a:r>
                    </a:p>
                  </a:txBody>
                  <a:tcPr anchor="ctr" marL="146304" marR="146304">
                    <a:solidFill>
                      <a:srgbClr val="FFFFFF"/>
                    </a:solidFill>
                  </a:tcPr>
                </a:tc>
              </a:tr>
            </a:tbl>
          </a:graphicData>
        </a:graphic>
      </p:graphicFrame>
      <p:sp>
        <p:nvSpPr>
          <p:cNvPr id="8" name="TextBox 7"/>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Arquitectura y Diseño de Software  ·  Unidad 1</a:t>
            </a:r>
          </a:p>
        </p:txBody>
      </p:sp>
      <p:sp>
        <p:nvSpPr>
          <p:cNvPr id="9" name="TextBox 8"/>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20 / 39</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1 · FUNDAMENTOS · ESP. INGENIERÍA DE SOFTWARE</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Strategy: una familia de algoritmos intercambiables</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2267712"/>
            <a:ext cx="11064240" cy="3364992"/>
          </a:xfrm>
          <a:prstGeom prst="roundRect">
            <a:avLst>
              <a:gd name="adj" fmla="val 5000"/>
            </a:avLst>
          </a:prstGeom>
          <a:solidFill>
            <a:srgbClr val="0E2841"/>
          </a:solidFill>
          <a:ln>
            <a:noFill/>
          </a:ln>
          <a:effectLst>
            <a:outerShdw blurRad="203200" dist="50800" dir="5400000" rotWithShape="0">
              <a:srgbClr val="0E2841">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41248" y="2487168"/>
            <a:ext cx="38100" cy="18288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 y="2450592"/>
            <a:ext cx="7315200" cy="237744"/>
          </a:xfrm>
          <a:prstGeom prst="rect">
            <a:avLst/>
          </a:prstGeom>
          <a:noFill/>
        </p:spPr>
        <p:txBody>
          <a:bodyPr wrap="square" anchor="t" lIns="0" rIns="0" tIns="0" bIns="0">
            <a:spAutoFit/>
          </a:bodyPr>
          <a:lstStyle/>
          <a:p>
            <a:pPr algn="l"/>
            <a:r>
              <a:rPr sz="1150" b="1">
                <a:solidFill>
                  <a:srgbClr val="E97132"/>
                </a:solidFill>
                <a:latin typeface="Aptos"/>
              </a:rPr>
              <a:t>TARIFAS POR MODALIDAD</a:t>
            </a:r>
          </a:p>
        </p:txBody>
      </p:sp>
      <p:sp>
        <p:nvSpPr>
          <p:cNvPr id="10" name="TextBox 9"/>
          <p:cNvSpPr txBox="1"/>
          <p:nvPr/>
        </p:nvSpPr>
        <p:spPr>
          <a:xfrm>
            <a:off x="877824" y="2834640"/>
            <a:ext cx="10515600" cy="2633472"/>
          </a:xfrm>
          <a:prstGeom prst="rect">
            <a:avLst/>
          </a:prstGeom>
          <a:noFill/>
        </p:spPr>
        <p:txBody>
          <a:bodyPr wrap="none" lIns="0" tIns="0">
            <a:spAutoFit/>
          </a:bodyPr>
          <a:lstStyle/>
          <a:p>
            <a:pPr>
              <a:lnSpc>
                <a:spcPct val="125000"/>
              </a:lnSpc>
            </a:pPr>
            <a:r>
              <a:rPr sz="1450">
                <a:solidFill>
                  <a:srgbClr val="E8E8E8"/>
                </a:solidFill>
                <a:latin typeface="Consolas"/>
              </a:rPr>
              <a:t>public interface PoliticaDeTarifa {</a:t>
            </a:r>
          </a:p>
          <a:p>
            <a:pPr>
              <a:lnSpc>
                <a:spcPct val="125000"/>
              </a:lnSpc>
            </a:pPr>
            <a:r>
              <a:rPr sz="1450">
                <a:solidFill>
                  <a:srgbClr val="E8E8E8"/>
                </a:solidFill>
                <a:latin typeface="Consolas"/>
              </a:rPr>
              <a:t>    Dinero calcular(Duration permanencia, TipoVehiculo tipo);</a:t>
            </a:r>
          </a:p>
          <a:p>
            <a:pPr>
              <a:lnSpc>
                <a:spcPct val="125000"/>
              </a:lnSpc>
            </a:pPr>
            <a:r>
              <a:rPr sz="1450">
                <a:solidFill>
                  <a:srgbClr val="E8E8E8"/>
                </a:solidFill>
                <a:latin typeface="Consolas"/>
              </a:rPr>
              <a:t>}</a:t>
            </a:r>
          </a:p>
          <a:p>
            <a:pPr>
              <a:lnSpc>
                <a:spcPct val="125000"/>
              </a:lnSpc>
            </a:pPr>
            <a:r>
              <a:rPr sz="1450">
                <a:solidFill>
                  <a:srgbClr val="E8E8E8"/>
                </a:solidFill>
                <a:latin typeface="Consolas"/>
              </a:rPr>
              <a:t> </a:t>
            </a:r>
          </a:p>
          <a:p>
            <a:pPr>
              <a:lnSpc>
                <a:spcPct val="125000"/>
              </a:lnSpc>
            </a:pPr>
            <a:r>
              <a:rPr sz="1450">
                <a:solidFill>
                  <a:srgbClr val="E8E8E8"/>
                </a:solidFill>
                <a:latin typeface="Consolas"/>
              </a:rPr>
              <a:t>public class TarifaNocturna implements PoliticaDeTarifa { /* ... */ }</a:t>
            </a:r>
          </a:p>
          <a:p>
            <a:pPr>
              <a:lnSpc>
                <a:spcPct val="125000"/>
              </a:lnSpc>
            </a:pPr>
            <a:r>
              <a:rPr sz="1450">
                <a:solidFill>
                  <a:srgbClr val="E8E8E8"/>
                </a:solidFill>
                <a:latin typeface="Consolas"/>
              </a:rPr>
              <a:t>public class TarifaMensual  implements PoliticaDeTarifa { /* ... */ }</a:t>
            </a:r>
          </a:p>
          <a:p>
            <a:pPr>
              <a:lnSpc>
                <a:spcPct val="125000"/>
              </a:lnSpc>
            </a:pPr>
            <a:r>
              <a:rPr sz="1450">
                <a:solidFill>
                  <a:srgbClr val="E8E8E8"/>
                </a:solidFill>
                <a:latin typeface="Consolas"/>
              </a:rPr>
              <a:t> </a:t>
            </a:r>
          </a:p>
          <a:p>
            <a:pPr>
              <a:lnSpc>
                <a:spcPct val="125000"/>
              </a:lnSpc>
            </a:pPr>
            <a:r>
              <a:rPr sz="1450">
                <a:solidFill>
                  <a:srgbClr val="E8E8E8"/>
                </a:solidFill>
                <a:latin typeface="Consolas"/>
              </a:rPr>
              <a:t>public class Ticket {</a:t>
            </a:r>
          </a:p>
          <a:p>
            <a:pPr>
              <a:lnSpc>
                <a:spcPct val="125000"/>
              </a:lnSpc>
            </a:pPr>
            <a:r>
              <a:rPr sz="1450">
                <a:solidFill>
                  <a:srgbClr val="E8E8E8"/>
                </a:solidFill>
                <a:latin typeface="Consolas"/>
              </a:rPr>
              <a:t>    private final PoliticaDeTarifa politica;</a:t>
            </a:r>
          </a:p>
          <a:p>
            <a:pPr>
              <a:lnSpc>
                <a:spcPct val="125000"/>
              </a:lnSpc>
            </a:pPr>
            <a:r>
              <a:rPr sz="1450">
                <a:solidFill>
                  <a:srgbClr val="E8E8E8"/>
                </a:solidFill>
                <a:latin typeface="Consolas"/>
              </a:rPr>
              <a:t>    public Dinero calcularTotal() { return politica.calcular(permanencia(), tipo()); }</a:t>
            </a:r>
          </a:p>
          <a:p>
            <a:pPr>
              <a:lnSpc>
                <a:spcPct val="125000"/>
              </a:lnSpc>
            </a:pPr>
            <a:r>
              <a:rPr sz="1450">
                <a:solidFill>
                  <a:srgbClr val="E8E8E8"/>
                </a:solidFill>
                <a:latin typeface="Consolas"/>
              </a:rPr>
              <a:t>}</a:t>
            </a:r>
          </a:p>
        </p:txBody>
      </p:sp>
      <p:sp>
        <p:nvSpPr>
          <p:cNvPr id="11" name="TextBox 10"/>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Arquitectura y Diseño de Software  ·  Unidad 1</a:t>
            </a:r>
          </a:p>
        </p:txBody>
      </p:sp>
      <p:sp>
        <p:nvSpPr>
          <p:cNvPr id="12" name="TextBox 11"/>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21 / 39</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1 · FUNDAMENTOS · ESP. INGENIERÍA DE SOFTWARE</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Adapter y Observer: integraciones y notificaciones</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572768"/>
            <a:ext cx="11064240" cy="2394915"/>
          </a:xfrm>
          <a:prstGeom prst="roundRect">
            <a:avLst>
              <a:gd name="adj" fmla="val 5000"/>
            </a:avLst>
          </a:prstGeom>
          <a:solidFill>
            <a:srgbClr val="0E2841"/>
          </a:solidFill>
          <a:ln>
            <a:noFill/>
          </a:ln>
          <a:effectLst>
            <a:outerShdw blurRad="203200" dist="50800" dir="5400000" rotWithShape="0">
              <a:srgbClr val="0E2841">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41248" y="1792224"/>
            <a:ext cx="38100" cy="18288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 y="1755648"/>
            <a:ext cx="7315200" cy="237744"/>
          </a:xfrm>
          <a:prstGeom prst="rect">
            <a:avLst/>
          </a:prstGeom>
          <a:noFill/>
        </p:spPr>
        <p:txBody>
          <a:bodyPr wrap="square" anchor="t" lIns="0" rIns="0" tIns="0" bIns="0">
            <a:spAutoFit/>
          </a:bodyPr>
          <a:lstStyle/>
          <a:p>
            <a:pPr algn="l"/>
            <a:r>
              <a:rPr sz="1060" b="1">
                <a:solidFill>
                  <a:srgbClr val="E97132"/>
                </a:solidFill>
                <a:latin typeface="Aptos"/>
              </a:rPr>
              <a:t>ADAPTER</a:t>
            </a:r>
          </a:p>
        </p:txBody>
      </p:sp>
      <p:sp>
        <p:nvSpPr>
          <p:cNvPr id="10" name="TextBox 9"/>
          <p:cNvSpPr txBox="1"/>
          <p:nvPr/>
        </p:nvSpPr>
        <p:spPr>
          <a:xfrm>
            <a:off x="877824" y="2139696"/>
            <a:ext cx="10515600" cy="1663395"/>
          </a:xfrm>
          <a:prstGeom prst="rect">
            <a:avLst/>
          </a:prstGeom>
          <a:noFill/>
        </p:spPr>
        <p:txBody>
          <a:bodyPr wrap="none" lIns="0" tIns="0">
            <a:spAutoFit/>
          </a:bodyPr>
          <a:lstStyle/>
          <a:p>
            <a:pPr>
              <a:lnSpc>
                <a:spcPct val="125000"/>
              </a:lnSpc>
            </a:pPr>
            <a:r>
              <a:rPr sz="1337">
                <a:solidFill>
                  <a:srgbClr val="E8E8E8"/>
                </a:solidFill>
                <a:latin typeface="Consolas"/>
              </a:rPr>
              <a:t>// Traduce la interfaz del tercero al lenguaje del núcleo.</a:t>
            </a:r>
          </a:p>
          <a:p>
            <a:pPr>
              <a:lnSpc>
                <a:spcPct val="125000"/>
              </a:lnSpc>
            </a:pPr>
            <a:r>
              <a:rPr sz="1337">
                <a:solidFill>
                  <a:srgbClr val="E8E8E8"/>
                </a:solidFill>
                <a:latin typeface="Consolas"/>
              </a:rPr>
              <a:t>public class AdaptadorPasarelaX implements PasarelaDePagos {</a:t>
            </a:r>
          </a:p>
          <a:p>
            <a:pPr>
              <a:lnSpc>
                <a:spcPct val="125000"/>
              </a:lnSpc>
            </a:pPr>
            <a:r>
              <a:rPr sz="1337">
                <a:solidFill>
                  <a:srgbClr val="E8E8E8"/>
                </a:solidFill>
                <a:latin typeface="Consolas"/>
              </a:rPr>
              <a:t>    private final ClienteX clienteX;          // SDK del proveedor</a:t>
            </a:r>
          </a:p>
          <a:p>
            <a:pPr>
              <a:lnSpc>
                <a:spcPct val="125000"/>
              </a:lnSpc>
            </a:pPr>
            <a:r>
              <a:rPr sz="1337">
                <a:solidFill>
                  <a:srgbClr val="E8E8E8"/>
                </a:solidFill>
                <a:latin typeface="Consolas"/>
              </a:rPr>
              <a:t>    @Override public ResultadoPago cobrar(Dinero monto, MedioDePago medio) {</a:t>
            </a:r>
          </a:p>
          <a:p>
            <a:pPr>
              <a:lnSpc>
                <a:spcPct val="125000"/>
              </a:lnSpc>
            </a:pPr>
            <a:r>
              <a:rPr sz="1337">
                <a:solidFill>
                  <a:srgbClr val="E8E8E8"/>
                </a:solidFill>
                <a:latin typeface="Consolas"/>
              </a:rPr>
              <a:t>        var r = clienteX.charge(monto.enCentavos(), medio.token());</a:t>
            </a:r>
          </a:p>
          <a:p>
            <a:pPr>
              <a:lnSpc>
                <a:spcPct val="125000"/>
              </a:lnSpc>
            </a:pPr>
            <a:r>
              <a:rPr sz="1337">
                <a:solidFill>
                  <a:srgbClr val="E8E8E8"/>
                </a:solidFill>
                <a:latin typeface="Consolas"/>
              </a:rPr>
              <a:t>        return r.ok() ? ResultadoPago.exitoso(r.id()) : ResultadoPago.fallido(r.error());</a:t>
            </a:r>
          </a:p>
          <a:p>
            <a:pPr>
              <a:lnSpc>
                <a:spcPct val="125000"/>
              </a:lnSpc>
            </a:pPr>
            <a:r>
              <a:rPr sz="1337">
                <a:solidFill>
                  <a:srgbClr val="E8E8E8"/>
                </a:solidFill>
                <a:latin typeface="Consolas"/>
              </a:rPr>
              <a:t>    }</a:t>
            </a:r>
          </a:p>
          <a:p>
            <a:pPr>
              <a:lnSpc>
                <a:spcPct val="125000"/>
              </a:lnSpc>
            </a:pPr>
            <a:r>
              <a:rPr sz="1337">
                <a:solidFill>
                  <a:srgbClr val="E8E8E8"/>
                </a:solidFill>
                <a:latin typeface="Consolas"/>
              </a:rPr>
              <a:t>}</a:t>
            </a:r>
          </a:p>
        </p:txBody>
      </p:sp>
      <p:sp>
        <p:nvSpPr>
          <p:cNvPr id="11" name="Rounded Rectangle 10"/>
          <p:cNvSpPr/>
          <p:nvPr/>
        </p:nvSpPr>
        <p:spPr>
          <a:xfrm>
            <a:off x="566928" y="4168851"/>
            <a:ext cx="11064240" cy="2158796"/>
          </a:xfrm>
          <a:prstGeom prst="roundRect">
            <a:avLst>
              <a:gd name="adj" fmla="val 5000"/>
            </a:avLst>
          </a:prstGeom>
          <a:solidFill>
            <a:srgbClr val="0E2841"/>
          </a:solidFill>
          <a:ln>
            <a:noFill/>
          </a:ln>
          <a:effectLst>
            <a:outerShdw blurRad="203200" dist="50800" dir="5400000" rotWithShape="0">
              <a:srgbClr val="0E2841">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1248" y="4388307"/>
            <a:ext cx="38100" cy="18288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87552" y="4351731"/>
            <a:ext cx="7315200" cy="237744"/>
          </a:xfrm>
          <a:prstGeom prst="rect">
            <a:avLst/>
          </a:prstGeom>
          <a:noFill/>
        </p:spPr>
        <p:txBody>
          <a:bodyPr wrap="square" anchor="t" lIns="0" rIns="0" tIns="0" bIns="0">
            <a:spAutoFit/>
          </a:bodyPr>
          <a:lstStyle/>
          <a:p>
            <a:pPr algn="l"/>
            <a:r>
              <a:rPr sz="1060" b="1">
                <a:solidFill>
                  <a:srgbClr val="E97132"/>
                </a:solidFill>
                <a:latin typeface="Aptos"/>
              </a:rPr>
              <a:t>OBSERVER</a:t>
            </a:r>
          </a:p>
        </p:txBody>
      </p:sp>
      <p:sp>
        <p:nvSpPr>
          <p:cNvPr id="14" name="TextBox 13"/>
          <p:cNvSpPr txBox="1"/>
          <p:nvPr/>
        </p:nvSpPr>
        <p:spPr>
          <a:xfrm>
            <a:off x="877824" y="4735779"/>
            <a:ext cx="10515600" cy="1427276"/>
          </a:xfrm>
          <a:prstGeom prst="rect">
            <a:avLst/>
          </a:prstGeom>
          <a:noFill/>
        </p:spPr>
        <p:txBody>
          <a:bodyPr wrap="none" lIns="0" tIns="0">
            <a:spAutoFit/>
          </a:bodyPr>
          <a:lstStyle/>
          <a:p>
            <a:pPr>
              <a:lnSpc>
                <a:spcPct val="125000"/>
              </a:lnSpc>
            </a:pPr>
            <a:r>
              <a:rPr sz="1337">
                <a:solidFill>
                  <a:srgbClr val="E8E8E8"/>
                </a:solidFill>
                <a:latin typeface="Consolas"/>
              </a:rPr>
              <a:t>// El core publica un hecho; quien quiera reaccionar se suscribe.</a:t>
            </a:r>
          </a:p>
          <a:p>
            <a:pPr>
              <a:lnSpc>
                <a:spcPct val="125000"/>
              </a:lnSpc>
            </a:pPr>
            <a:r>
              <a:rPr sz="1337">
                <a:solidFill>
                  <a:srgbClr val="E8E8E8"/>
                </a:solidFill>
                <a:latin typeface="Consolas"/>
              </a:rPr>
              <a:t>public class SalidaRegistrada implements EventoDeDominio {</a:t>
            </a:r>
          </a:p>
          <a:p>
            <a:pPr>
              <a:lnSpc>
                <a:spcPct val="125000"/>
              </a:lnSpc>
            </a:pPr>
            <a:r>
              <a:rPr sz="1337">
                <a:solidFill>
                  <a:srgbClr val="E8E8E8"/>
                </a:solidFill>
                <a:latin typeface="Consolas"/>
              </a:rPr>
              <a:t>    public final UUID ticketId;</a:t>
            </a:r>
          </a:p>
          <a:p>
            <a:pPr>
              <a:lnSpc>
                <a:spcPct val="125000"/>
              </a:lnSpc>
            </a:pPr>
            <a:r>
              <a:rPr sz="1337">
                <a:solidFill>
                  <a:srgbClr val="E8E8E8"/>
                </a:solidFill>
                <a:latin typeface="Consolas"/>
              </a:rPr>
              <a:t>    public final Instant momento;</a:t>
            </a:r>
          </a:p>
          <a:p>
            <a:pPr>
              <a:lnSpc>
                <a:spcPct val="125000"/>
              </a:lnSpc>
            </a:pPr>
            <a:r>
              <a:rPr sz="1337">
                <a:solidFill>
                  <a:srgbClr val="E8E8E8"/>
                </a:solidFill>
                <a:latin typeface="Consolas"/>
              </a:rPr>
              <a:t>}</a:t>
            </a:r>
          </a:p>
          <a:p>
            <a:pPr>
              <a:lnSpc>
                <a:spcPct val="125000"/>
              </a:lnSpc>
            </a:pPr>
            <a:r>
              <a:rPr sz="1337">
                <a:solidFill>
                  <a:srgbClr val="E8E8E8"/>
                </a:solidFill>
                <a:latin typeface="Consolas"/>
              </a:rPr>
              <a:t>// Suscriptores: NotificadorSms, ActualizadorCupos, ProyeccionReportes.</a:t>
            </a:r>
          </a:p>
          <a:p>
            <a:pPr>
              <a:lnSpc>
                <a:spcPct val="125000"/>
              </a:lnSpc>
            </a:pPr>
            <a:r>
              <a:rPr sz="1337">
                <a:solidFill>
                  <a:srgbClr val="E8E8E8"/>
                </a:solidFill>
                <a:latin typeface="Consolas"/>
              </a:rPr>
              <a:t>// El core no sabe cuántos escuchan ni qué hacen.</a:t>
            </a:r>
          </a:p>
        </p:txBody>
      </p:sp>
      <p:sp>
        <p:nvSpPr>
          <p:cNvPr id="15" name="TextBox 14"/>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Arquitectura y Diseño de Software  ·  Unidad 1</a:t>
            </a:r>
          </a:p>
        </p:txBody>
      </p:sp>
      <p:sp>
        <p:nvSpPr>
          <p:cNvPr id="16" name="TextBox 15"/>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22 / 39</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56082"/>
        </a:solidFill>
        <a:effectLst/>
      </p:bgPr>
    </p:bg>
    <p:spTree>
      <p:nvGrpSpPr>
        <p:cNvPr id="1" name=""/>
        <p:cNvGrpSpPr/>
        <p:nvPr/>
      </p:nvGrpSpPr>
      <p:grpSpPr/>
      <p:sp>
        <p:nvSpPr>
          <p:cNvPr id="2" name="TextBox 1"/>
          <p:cNvSpPr txBox="1"/>
          <p:nvPr/>
        </p:nvSpPr>
        <p:spPr>
          <a:xfrm>
            <a:off x="0" y="960120"/>
            <a:ext cx="12191695" cy="2011680"/>
          </a:xfrm>
          <a:prstGeom prst="rect">
            <a:avLst/>
          </a:prstGeom>
          <a:noFill/>
        </p:spPr>
        <p:txBody>
          <a:bodyPr wrap="square" anchor="t" lIns="0" rIns="0" tIns="0" bIns="0">
            <a:spAutoFit/>
          </a:bodyPr>
          <a:lstStyle/>
          <a:p>
            <a:pPr algn="ctr"/>
            <a:r>
              <a:rPr sz="12800" b="1">
                <a:solidFill>
                  <a:srgbClr val="0E2841"/>
                </a:solidFill>
                <a:latin typeface="Aptos Display"/>
              </a:rPr>
              <a:t>05</a:t>
            </a:r>
          </a:p>
        </p:txBody>
      </p:sp>
      <p:sp>
        <p:nvSpPr>
          <p:cNvPr id="3" name="Rectangle 2"/>
          <p:cNvSpPr/>
          <p:nvPr/>
        </p:nvSpPr>
        <p:spPr>
          <a:xfrm>
            <a:off x="5184648" y="3127248"/>
            <a:ext cx="1828800" cy="635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429000"/>
            <a:ext cx="10698480" cy="1097280"/>
          </a:xfrm>
          <a:prstGeom prst="rect">
            <a:avLst/>
          </a:prstGeom>
          <a:noFill/>
        </p:spPr>
        <p:txBody>
          <a:bodyPr wrap="square" anchor="t" lIns="0" rIns="0" tIns="0" bIns="0">
            <a:spAutoFit/>
          </a:bodyPr>
          <a:lstStyle/>
          <a:p>
            <a:pPr algn="ctr"/>
            <a:r>
              <a:rPr sz="4000" b="1">
                <a:solidFill>
                  <a:srgbClr val="FFFFFF"/>
                </a:solidFill>
                <a:latin typeface="Aptos Display"/>
              </a:rPr>
              <a:t>5. Monolito o distribuido</a:t>
            </a:r>
          </a:p>
        </p:txBody>
      </p:sp>
      <p:pic>
        <p:nvPicPr>
          <p:cNvPr id="5" name="Picture 4" descr="Logo-Institucional-con-advertencia-Vigilado-Mineducacion-Blanco.png"/>
          <p:cNvPicPr>
            <a:picLocks noChangeAspect="1"/>
          </p:cNvPicPr>
          <p:nvPr/>
        </p:nvPicPr>
        <p:blipFill>
          <a:blip r:embed="rId2"/>
          <a:stretch>
            <a:fillRect/>
          </a:stretch>
        </p:blipFill>
        <p:spPr>
          <a:xfrm>
            <a:off x="10938117" y="5943600"/>
            <a:ext cx="750963" cy="68580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1 · FUNDAMENTOS · ESP. INGENIERÍA DE SOFTWARE</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El prestigio no es un criterio de diseño</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graphicFrame>
        <p:nvGraphicFramePr>
          <p:cNvPr id="7" name="Table 6"/>
          <p:cNvGraphicFramePr>
            <a:graphicFrameLocks noGrp="1"/>
          </p:cNvGraphicFramePr>
          <p:nvPr/>
        </p:nvGraphicFramePr>
        <p:xfrm>
          <a:off x="566928" y="1762963"/>
          <a:ext cx="11064240" cy="4374488"/>
        </p:xfrm>
        <a:graphic>
          <a:graphicData uri="http://schemas.openxmlformats.org/drawingml/2006/table">
            <a:tbl>
              <a:tblPr firstRow="1">
                <a:tableStyleId>{5C22544A-7EE6-4342-B048-85BDC9FD1C3A}</a:tableStyleId>
              </a:tblPr>
              <a:tblGrid>
                <a:gridCol w="3688080"/>
                <a:gridCol w="3688080"/>
                <a:gridCol w="3688080"/>
              </a:tblGrid>
              <a:tr h="546811">
                <a:tc>
                  <a:txBody>
                    <a:bodyPr wrap="square"/>
                    <a:lstStyle/>
                    <a:p>
                      <a:r>
                        <a:rPr sz="1590" b="1">
                          <a:solidFill>
                            <a:srgbClr val="FFFFFF"/>
                          </a:solidFill>
                          <a:latin typeface="Aptos"/>
                        </a:rPr>
                        <a:t>Criterio</a:t>
                      </a:r>
                    </a:p>
                  </a:txBody>
                  <a:tcPr anchor="ctr" marL="146304" marR="146304">
                    <a:solidFill>
                      <a:srgbClr val="156082"/>
                    </a:solidFill>
                  </a:tcPr>
                </a:tc>
                <a:tc>
                  <a:txBody>
                    <a:bodyPr wrap="square"/>
                    <a:lstStyle/>
                    <a:p>
                      <a:r>
                        <a:rPr sz="1590" b="1">
                          <a:solidFill>
                            <a:srgbClr val="FFFFFF"/>
                          </a:solidFill>
                          <a:latin typeface="Aptos"/>
                        </a:rPr>
                        <a:t>Monolito</a:t>
                      </a:r>
                    </a:p>
                  </a:txBody>
                  <a:tcPr anchor="ctr" marL="146304" marR="146304">
                    <a:solidFill>
                      <a:srgbClr val="156082"/>
                    </a:solidFill>
                  </a:tcPr>
                </a:tc>
                <a:tc>
                  <a:txBody>
                    <a:bodyPr wrap="square"/>
                    <a:lstStyle/>
                    <a:p>
                      <a:r>
                        <a:rPr sz="1590" b="1">
                          <a:solidFill>
                            <a:srgbClr val="FFFFFF"/>
                          </a:solidFill>
                          <a:latin typeface="Aptos"/>
                        </a:rPr>
                        <a:t>Distribuido</a:t>
                      </a:r>
                    </a:p>
                  </a:txBody>
                  <a:tcPr anchor="ctr" marL="146304" marR="146304">
                    <a:solidFill>
                      <a:srgbClr val="156082"/>
                    </a:solidFill>
                  </a:tcPr>
                </a:tc>
              </a:tr>
              <a:tr h="546811">
                <a:tc>
                  <a:txBody>
                    <a:bodyPr wrap="square"/>
                    <a:lstStyle/>
                    <a:p>
                      <a:r>
                        <a:rPr sz="1484" b="1">
                          <a:solidFill>
                            <a:srgbClr val="33475B"/>
                          </a:solidFill>
                          <a:latin typeface="Aptos"/>
                        </a:rPr>
                        <a:t>Despliegue</a:t>
                      </a:r>
                    </a:p>
                  </a:txBody>
                  <a:tcPr anchor="ctr" marL="146304" marR="146304">
                    <a:solidFill>
                      <a:srgbClr val="FFFFFF"/>
                    </a:solidFill>
                  </a:tcPr>
                </a:tc>
                <a:tc>
                  <a:txBody>
                    <a:bodyPr wrap="square"/>
                    <a:lstStyle/>
                    <a:p>
                      <a:r>
                        <a:rPr sz="1484" b="0">
                          <a:solidFill>
                            <a:srgbClr val="33475B"/>
                          </a:solidFill>
                          <a:latin typeface="Aptos"/>
                        </a:rPr>
                        <a:t>Una unidad: simple, todo o nada</a:t>
                      </a:r>
                    </a:p>
                  </a:txBody>
                  <a:tcPr anchor="ctr" marL="146304" marR="146304">
                    <a:solidFill>
                      <a:srgbClr val="FFFFFF"/>
                    </a:solidFill>
                  </a:tcPr>
                </a:tc>
                <a:tc>
                  <a:txBody>
                    <a:bodyPr wrap="square"/>
                    <a:lstStyle/>
                    <a:p>
                      <a:r>
                        <a:rPr sz="1484" b="0">
                          <a:solidFill>
                            <a:srgbClr val="33475B"/>
                          </a:solidFill>
                          <a:latin typeface="Aptos"/>
                        </a:rPr>
                        <a:t>Independiente, pero coordinado</a:t>
                      </a:r>
                    </a:p>
                  </a:txBody>
                  <a:tcPr anchor="ctr" marL="146304" marR="146304">
                    <a:solidFill>
                      <a:srgbClr val="FFFFFF"/>
                    </a:solidFill>
                  </a:tcPr>
                </a:tc>
              </a:tr>
              <a:tr h="546811">
                <a:tc>
                  <a:txBody>
                    <a:bodyPr wrap="square"/>
                    <a:lstStyle/>
                    <a:p>
                      <a:r>
                        <a:rPr sz="1484" b="1">
                          <a:solidFill>
                            <a:srgbClr val="33475B"/>
                          </a:solidFill>
                          <a:latin typeface="Aptos"/>
                        </a:rPr>
                        <a:t>Escalado</a:t>
                      </a:r>
                    </a:p>
                  </a:txBody>
                  <a:tcPr anchor="ctr" marL="146304" marR="146304">
                    <a:solidFill>
                      <a:srgbClr val="F4F7FA"/>
                    </a:solidFill>
                  </a:tcPr>
                </a:tc>
                <a:tc>
                  <a:txBody>
                    <a:bodyPr wrap="square"/>
                    <a:lstStyle/>
                    <a:p>
                      <a:r>
                        <a:rPr sz="1484" b="0">
                          <a:solidFill>
                            <a:srgbClr val="33475B"/>
                          </a:solidFill>
                          <a:latin typeface="Aptos"/>
                        </a:rPr>
                        <a:t>Se replica el sistema completo</a:t>
                      </a:r>
                    </a:p>
                  </a:txBody>
                  <a:tcPr anchor="ctr" marL="146304" marR="146304">
                    <a:solidFill>
                      <a:srgbClr val="F4F7FA"/>
                    </a:solidFill>
                  </a:tcPr>
                </a:tc>
                <a:tc>
                  <a:txBody>
                    <a:bodyPr wrap="square"/>
                    <a:lstStyle/>
                    <a:p>
                      <a:r>
                        <a:rPr sz="1484" b="0">
                          <a:solidFill>
                            <a:srgbClr val="33475B"/>
                          </a:solidFill>
                          <a:latin typeface="Aptos"/>
                        </a:rPr>
                        <a:t>Solo lo que lo necesita</a:t>
                      </a:r>
                    </a:p>
                  </a:txBody>
                  <a:tcPr anchor="ctr" marL="146304" marR="146304">
                    <a:solidFill>
                      <a:srgbClr val="F4F7FA"/>
                    </a:solidFill>
                  </a:tcPr>
                </a:tc>
              </a:tr>
              <a:tr h="546811">
                <a:tc>
                  <a:txBody>
                    <a:bodyPr wrap="square"/>
                    <a:lstStyle/>
                    <a:p>
                      <a:r>
                        <a:rPr sz="1484" b="1">
                          <a:solidFill>
                            <a:srgbClr val="33475B"/>
                          </a:solidFill>
                          <a:latin typeface="Aptos"/>
                        </a:rPr>
                        <a:t>Latencia interna</a:t>
                      </a:r>
                    </a:p>
                  </a:txBody>
                  <a:tcPr anchor="ctr" marL="146304" marR="146304">
                    <a:solidFill>
                      <a:srgbClr val="FFFFFF"/>
                    </a:solidFill>
                  </a:tcPr>
                </a:tc>
                <a:tc>
                  <a:txBody>
                    <a:bodyPr wrap="square"/>
                    <a:lstStyle/>
                    <a:p>
                      <a:r>
                        <a:rPr sz="1484" b="0">
                          <a:solidFill>
                            <a:srgbClr val="33475B"/>
                          </a:solidFill>
                          <a:latin typeface="Aptos"/>
                        </a:rPr>
                        <a:t>Memoria (ns)</a:t>
                      </a:r>
                    </a:p>
                  </a:txBody>
                  <a:tcPr anchor="ctr" marL="146304" marR="146304">
                    <a:solidFill>
                      <a:srgbClr val="FFFFFF"/>
                    </a:solidFill>
                  </a:tcPr>
                </a:tc>
                <a:tc>
                  <a:txBody>
                    <a:bodyPr wrap="square"/>
                    <a:lstStyle/>
                    <a:p>
                      <a:r>
                        <a:rPr sz="1484" b="0">
                          <a:solidFill>
                            <a:srgbClr val="33475B"/>
                          </a:solidFill>
                          <a:latin typeface="Aptos"/>
                        </a:rPr>
                        <a:t>Red (ms), y puede fallar</a:t>
                      </a:r>
                    </a:p>
                  </a:txBody>
                  <a:tcPr anchor="ctr" marL="146304" marR="146304">
                    <a:solidFill>
                      <a:srgbClr val="FFFFFF"/>
                    </a:solidFill>
                  </a:tcPr>
                </a:tc>
              </a:tr>
              <a:tr h="546811">
                <a:tc>
                  <a:txBody>
                    <a:bodyPr wrap="square"/>
                    <a:lstStyle/>
                    <a:p>
                      <a:r>
                        <a:rPr sz="1484" b="1">
                          <a:solidFill>
                            <a:srgbClr val="33475B"/>
                          </a:solidFill>
                          <a:latin typeface="Aptos"/>
                        </a:rPr>
                        <a:t>Consistencia</a:t>
                      </a:r>
                    </a:p>
                  </a:txBody>
                  <a:tcPr anchor="ctr" marL="146304" marR="146304">
                    <a:solidFill>
                      <a:srgbClr val="F4F7FA"/>
                    </a:solidFill>
                  </a:tcPr>
                </a:tc>
                <a:tc>
                  <a:txBody>
                    <a:bodyPr wrap="square"/>
                    <a:lstStyle/>
                    <a:p>
                      <a:r>
                        <a:rPr sz="1484" b="0">
                          <a:solidFill>
                            <a:srgbClr val="33475B"/>
                          </a:solidFill>
                          <a:latin typeface="Aptos"/>
                        </a:rPr>
                        <a:t>Transacción ACID natural</a:t>
                      </a:r>
                    </a:p>
                  </a:txBody>
                  <a:tcPr anchor="ctr" marL="146304" marR="146304">
                    <a:solidFill>
                      <a:srgbClr val="F4F7FA"/>
                    </a:solidFill>
                  </a:tcPr>
                </a:tc>
                <a:tc>
                  <a:txBody>
                    <a:bodyPr wrap="square"/>
                    <a:lstStyle/>
                    <a:p>
                      <a:r>
                        <a:rPr sz="1484" b="0">
                          <a:solidFill>
                            <a:srgbClr val="33475B"/>
                          </a:solidFill>
                          <a:latin typeface="Aptos"/>
                        </a:rPr>
                        <a:t>Eventual: Saga o compensación</a:t>
                      </a:r>
                    </a:p>
                  </a:txBody>
                  <a:tcPr anchor="ctr" marL="146304" marR="146304">
                    <a:solidFill>
                      <a:srgbClr val="F4F7FA"/>
                    </a:solidFill>
                  </a:tcPr>
                </a:tc>
              </a:tr>
              <a:tr h="546811">
                <a:tc>
                  <a:txBody>
                    <a:bodyPr wrap="square"/>
                    <a:lstStyle/>
                    <a:p>
                      <a:r>
                        <a:rPr sz="1484" b="1">
                          <a:solidFill>
                            <a:srgbClr val="33475B"/>
                          </a:solidFill>
                          <a:latin typeface="Aptos"/>
                        </a:rPr>
                        <a:t>Depuración</a:t>
                      </a:r>
                    </a:p>
                  </a:txBody>
                  <a:tcPr anchor="ctr" marL="146304" marR="146304">
                    <a:solidFill>
                      <a:srgbClr val="FFFFFF"/>
                    </a:solidFill>
                  </a:tcPr>
                </a:tc>
                <a:tc>
                  <a:txBody>
                    <a:bodyPr wrap="square"/>
                    <a:lstStyle/>
                    <a:p>
                      <a:r>
                        <a:rPr sz="1484" b="0">
                          <a:solidFill>
                            <a:srgbClr val="33475B"/>
                          </a:solidFill>
                          <a:latin typeface="Aptos"/>
                        </a:rPr>
                        <a:t>Una traza, un proceso</a:t>
                      </a:r>
                    </a:p>
                  </a:txBody>
                  <a:tcPr anchor="ctr" marL="146304" marR="146304">
                    <a:solidFill>
                      <a:srgbClr val="FFFFFF"/>
                    </a:solidFill>
                  </a:tcPr>
                </a:tc>
                <a:tc>
                  <a:txBody>
                    <a:bodyPr wrap="square"/>
                    <a:lstStyle/>
                    <a:p>
                      <a:r>
                        <a:rPr sz="1484" b="0">
                          <a:solidFill>
                            <a:srgbClr val="33475B"/>
                          </a:solidFill>
                          <a:latin typeface="Aptos"/>
                        </a:rPr>
                        <a:t>Trazado distribuido obligatorio</a:t>
                      </a:r>
                    </a:p>
                  </a:txBody>
                  <a:tcPr anchor="ctr" marL="146304" marR="146304">
                    <a:solidFill>
                      <a:srgbClr val="FFFFFF"/>
                    </a:solidFill>
                  </a:tcPr>
                </a:tc>
              </a:tr>
              <a:tr h="546811">
                <a:tc>
                  <a:txBody>
                    <a:bodyPr wrap="square"/>
                    <a:lstStyle/>
                    <a:p>
                      <a:r>
                        <a:rPr sz="1484" b="1">
                          <a:solidFill>
                            <a:srgbClr val="33475B"/>
                          </a:solidFill>
                          <a:latin typeface="Aptos"/>
                        </a:rPr>
                        <a:t>Costo operativo</a:t>
                      </a:r>
                    </a:p>
                  </a:txBody>
                  <a:tcPr anchor="ctr" marL="146304" marR="146304">
                    <a:solidFill>
                      <a:srgbClr val="F4F7FA"/>
                    </a:solidFill>
                  </a:tcPr>
                </a:tc>
                <a:tc>
                  <a:txBody>
                    <a:bodyPr wrap="square"/>
                    <a:lstStyle/>
                    <a:p>
                      <a:r>
                        <a:rPr sz="1484" b="0">
                          <a:solidFill>
                            <a:srgbClr val="33475B"/>
                          </a:solidFill>
                          <a:latin typeface="Aptos"/>
                        </a:rPr>
                        <a:t>Bajo</a:t>
                      </a:r>
                    </a:p>
                  </a:txBody>
                  <a:tcPr anchor="ctr" marL="146304" marR="146304">
                    <a:solidFill>
                      <a:srgbClr val="F4F7FA"/>
                    </a:solidFill>
                  </a:tcPr>
                </a:tc>
                <a:tc>
                  <a:txBody>
                    <a:bodyPr wrap="square"/>
                    <a:lstStyle/>
                    <a:p>
                      <a:r>
                        <a:rPr sz="1484" b="0">
                          <a:solidFill>
                            <a:srgbClr val="33475B"/>
                          </a:solidFill>
                          <a:latin typeface="Aptos"/>
                        </a:rPr>
                        <a:t>Alto</a:t>
                      </a:r>
                    </a:p>
                  </a:txBody>
                  <a:tcPr anchor="ctr" marL="146304" marR="146304">
                    <a:solidFill>
                      <a:srgbClr val="F4F7FA"/>
                    </a:solidFill>
                  </a:tcPr>
                </a:tc>
              </a:tr>
              <a:tr h="546811">
                <a:tc>
                  <a:txBody>
                    <a:bodyPr wrap="square"/>
                    <a:lstStyle/>
                    <a:p>
                      <a:r>
                        <a:rPr sz="1484" b="1">
                          <a:solidFill>
                            <a:srgbClr val="33475B"/>
                          </a:solidFill>
                          <a:latin typeface="Aptos"/>
                        </a:rPr>
                        <a:t>Equipo mínimo</a:t>
                      </a:r>
                    </a:p>
                  </a:txBody>
                  <a:tcPr anchor="ctr" marL="146304" marR="146304">
                    <a:solidFill>
                      <a:srgbClr val="FFFFFF"/>
                    </a:solidFill>
                  </a:tcPr>
                </a:tc>
                <a:tc>
                  <a:txBody>
                    <a:bodyPr wrap="square"/>
                    <a:lstStyle/>
                    <a:p>
                      <a:r>
                        <a:rPr sz="1484" b="0">
                          <a:solidFill>
                            <a:srgbClr val="33475B"/>
                          </a:solidFill>
                          <a:latin typeface="Aptos"/>
                        </a:rPr>
                        <a:t>Pequeño</a:t>
                      </a:r>
                    </a:p>
                  </a:txBody>
                  <a:tcPr anchor="ctr" marL="146304" marR="146304">
                    <a:solidFill>
                      <a:srgbClr val="FFFFFF"/>
                    </a:solidFill>
                  </a:tcPr>
                </a:tc>
                <a:tc>
                  <a:txBody>
                    <a:bodyPr wrap="square"/>
                    <a:lstStyle/>
                    <a:p>
                      <a:r>
                        <a:rPr sz="1484" b="0">
                          <a:solidFill>
                            <a:srgbClr val="33475B"/>
                          </a:solidFill>
                          <a:latin typeface="Aptos"/>
                        </a:rPr>
                        <a:t>Varios equipos con autonomía</a:t>
                      </a:r>
                    </a:p>
                  </a:txBody>
                  <a:tcPr anchor="ctr" marL="146304" marR="146304">
                    <a:solidFill>
                      <a:srgbClr val="FFFFFF"/>
                    </a:solidFill>
                  </a:tcPr>
                </a:tc>
              </a:tr>
            </a:tbl>
          </a:graphicData>
        </a:graphic>
      </p:graphicFrame>
      <p:sp>
        <p:nvSpPr>
          <p:cNvPr id="8" name="TextBox 7"/>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Arquitectura y Diseño de Software  ·  Unidad 1</a:t>
            </a:r>
          </a:p>
        </p:txBody>
      </p:sp>
      <p:sp>
        <p:nvSpPr>
          <p:cNvPr id="9" name="TextBox 8"/>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23 / 39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1 · FUNDAMENTOS · ESP. INGENIERÍA DE SOFTWARE</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Cómo se ven, uno al lado del otro</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2139696"/>
            <a:ext cx="11064240" cy="3621024"/>
          </a:xfrm>
          <a:prstGeom prst="roundRect">
            <a:avLst>
              <a:gd name="adj" fmla="val 5000"/>
            </a:avLst>
          </a:prstGeom>
          <a:solidFill>
            <a:srgbClr val="0E2841"/>
          </a:solidFill>
          <a:ln>
            <a:noFill/>
          </a:ln>
          <a:effectLst>
            <a:outerShdw blurRad="203200" dist="50800" dir="5400000" rotWithShape="0">
              <a:srgbClr val="0E2841">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77824" y="2322576"/>
            <a:ext cx="10515600" cy="3273552"/>
          </a:xfrm>
          <a:prstGeom prst="rect">
            <a:avLst/>
          </a:prstGeom>
          <a:noFill/>
        </p:spPr>
        <p:txBody>
          <a:bodyPr wrap="none" lIns="0" tIns="0">
            <a:spAutoFit/>
          </a:bodyPr>
          <a:lstStyle/>
          <a:p>
            <a:pPr>
              <a:lnSpc>
                <a:spcPct val="125000"/>
              </a:lnSpc>
            </a:pPr>
            <a:r>
              <a:rPr sz="1450">
                <a:solidFill>
                  <a:srgbClr val="E8E8E8"/>
                </a:solidFill>
                <a:latin typeface="Consolas"/>
              </a:rPr>
              <a:t>  MONOLITO                          DISTRIBUIDO</a:t>
            </a:r>
          </a:p>
          <a:p>
            <a:pPr>
              <a:lnSpc>
                <a:spcPct val="125000"/>
              </a:lnSpc>
            </a:pPr>
            <a:r>
              <a:rPr sz="1450">
                <a:solidFill>
                  <a:srgbClr val="E8E8E8"/>
                </a:solidFill>
                <a:latin typeface="Consolas"/>
              </a:rPr>
              <a:t>  ┌──────────────────────┐          ┌────────┐ ┌────────┐ ┌────────┐</a:t>
            </a:r>
          </a:p>
          <a:p>
            <a:pPr>
              <a:lnSpc>
                <a:spcPct val="125000"/>
              </a:lnSpc>
            </a:pPr>
            <a:r>
              <a:rPr sz="1450">
                <a:solidFill>
                  <a:srgbClr val="E8E8E8"/>
                </a:solidFill>
                <a:latin typeface="Consolas"/>
              </a:rPr>
              <a:t>  │ usuarios  tarifas    │          │usuarios│ │tarifas │ │reportes│</a:t>
            </a:r>
          </a:p>
          <a:p>
            <a:pPr>
              <a:lnSpc>
                <a:spcPct val="125000"/>
              </a:lnSpc>
            </a:pPr>
            <a:r>
              <a:rPr sz="1450">
                <a:solidFill>
                  <a:srgbClr val="E8E8E8"/>
                </a:solidFill>
                <a:latin typeface="Consolas"/>
              </a:rPr>
              <a:t>  │ pagos     reportes   │          └───┬────┘ └───┬────┘ └───┬────┘</a:t>
            </a:r>
          </a:p>
          <a:p>
            <a:pPr>
              <a:lnSpc>
                <a:spcPct val="125000"/>
              </a:lnSpc>
            </a:pPr>
            <a:r>
              <a:rPr sz="1450">
                <a:solidFill>
                  <a:srgbClr val="E8E8E8"/>
                </a:solidFill>
                <a:latin typeface="Consolas"/>
              </a:rPr>
              <a:t>  │ notificaciones       │              │  red    │  red    │</a:t>
            </a:r>
          </a:p>
          <a:p>
            <a:pPr>
              <a:lnSpc>
                <a:spcPct val="125000"/>
              </a:lnSpc>
            </a:pPr>
            <a:r>
              <a:rPr sz="1450">
                <a:solidFill>
                  <a:srgbClr val="E8E8E8"/>
                </a:solidFill>
                <a:latin typeface="Consolas"/>
              </a:rPr>
              <a:t>  └──────────┬───────────┘          ┌───┴─────────┴─────────┴───┐</a:t>
            </a:r>
          </a:p>
          <a:p>
            <a:pPr>
              <a:lnSpc>
                <a:spcPct val="125000"/>
              </a:lnSpc>
            </a:pPr>
            <a:r>
              <a:rPr sz="1450">
                <a:solidFill>
                  <a:srgbClr val="E8E8E8"/>
                </a:solidFill>
                <a:latin typeface="Consolas"/>
              </a:rPr>
              <a:t>             │                      │    mensajería / API       │</a:t>
            </a:r>
          </a:p>
          <a:p>
            <a:pPr>
              <a:lnSpc>
                <a:spcPct val="125000"/>
              </a:lnSpc>
            </a:pPr>
            <a:r>
              <a:rPr sz="1450">
                <a:solidFill>
                  <a:srgbClr val="E8E8E8"/>
                </a:solidFill>
                <a:latin typeface="Consolas"/>
              </a:rPr>
              <a:t>        ┌────┴────┐                 └──┬──────────┬──────────┬──┘</a:t>
            </a:r>
          </a:p>
          <a:p>
            <a:pPr>
              <a:lnSpc>
                <a:spcPct val="125000"/>
              </a:lnSpc>
            </a:pPr>
            <a:r>
              <a:rPr sz="1450">
                <a:solidFill>
                  <a:srgbClr val="E8E8E8"/>
                </a:solidFill>
                <a:latin typeface="Consolas"/>
              </a:rPr>
              <a:t>        │   BD    │                 ┌──┴──┐    ┌──┴──┐    ┌──┴──┐</a:t>
            </a:r>
          </a:p>
          <a:p>
            <a:pPr>
              <a:lnSpc>
                <a:spcPct val="125000"/>
              </a:lnSpc>
            </a:pPr>
            <a:r>
              <a:rPr sz="1450">
                <a:solidFill>
                  <a:srgbClr val="E8E8E8"/>
                </a:solidFill>
                <a:latin typeface="Consolas"/>
              </a:rPr>
              <a:t>        └─────────┘                 │ BD  │    │ BD  │    │ BD  │</a:t>
            </a:r>
          </a:p>
          <a:p>
            <a:pPr>
              <a:lnSpc>
                <a:spcPct val="125000"/>
              </a:lnSpc>
            </a:pPr>
            <a:r>
              <a:rPr sz="1450">
                <a:solidFill>
                  <a:srgbClr val="E8E8E8"/>
                </a:solidFill>
                <a:latin typeface="Consolas"/>
              </a:rPr>
              <a:t>                                    └─────┘    └─────┘    └─────┘</a:t>
            </a:r>
          </a:p>
          <a:p>
            <a:pPr>
              <a:lnSpc>
                <a:spcPct val="125000"/>
              </a:lnSpc>
            </a:pPr>
            <a:r>
              <a:rPr sz="1450">
                <a:solidFill>
                  <a:srgbClr val="E8E8E8"/>
                </a:solidFill>
                <a:latin typeface="Consolas"/>
              </a:rPr>
              <a:t>   1 despliegue · 1 traza · 1 BD    N despliegues · fallas parciales</a:t>
            </a:r>
          </a:p>
        </p:txBody>
      </p:sp>
      <p:sp>
        <p:nvSpPr>
          <p:cNvPr id="9" name="TextBox 8"/>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Arquitectura y Diseño de Software  ·  Unidad 1</a:t>
            </a:r>
          </a:p>
        </p:txBody>
      </p:sp>
      <p:sp>
        <p:nvSpPr>
          <p:cNvPr id="10" name="TextBox 9"/>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24 / 39</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1 · FUNDAMENTOS · ESP. INGENIERÍA DE SOFTWARE</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La tercera opción suele ser la respuesta</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858060"/>
            <a:ext cx="11064240" cy="857780"/>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931212"/>
            <a:ext cx="63500" cy="711476"/>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1858060"/>
            <a:ext cx="11064240" cy="857780"/>
          </a:xfrm>
          <a:prstGeom prst="rect">
            <a:avLst/>
          </a:prstGeom>
          <a:noFill/>
        </p:spPr>
        <p:txBody>
          <a:bodyPr wrap="square" anchor="ctr" lIns="0" rIns="0" tIns="0" bIns="0">
            <a:spAutoFit/>
          </a:bodyPr>
          <a:lstStyle/>
          <a:p>
            <a:pPr algn="ctr"/>
            <a:r>
              <a:rPr sz="1958" b="1">
                <a:solidFill>
                  <a:srgbClr val="0E2841"/>
                </a:solidFill>
                <a:latin typeface="Aptos Display"/>
              </a:rPr>
              <a:t>Monolito modular  ·  Un solo despliegue, fronteras internas estrictas</a:t>
            </a:r>
          </a:p>
        </p:txBody>
      </p:sp>
      <p:sp>
        <p:nvSpPr>
          <p:cNvPr id="10" name="Rounded Rectangle 9"/>
          <p:cNvSpPr/>
          <p:nvPr/>
        </p:nvSpPr>
        <p:spPr>
          <a:xfrm>
            <a:off x="1069848" y="2904134"/>
            <a:ext cx="10058400" cy="857780"/>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69848" y="2977286"/>
            <a:ext cx="63500" cy="711476"/>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69848" y="2904134"/>
            <a:ext cx="10058400" cy="857780"/>
          </a:xfrm>
          <a:prstGeom prst="rect">
            <a:avLst/>
          </a:prstGeom>
          <a:noFill/>
        </p:spPr>
        <p:txBody>
          <a:bodyPr wrap="square" anchor="ctr" lIns="0" rIns="0" tIns="0" bIns="0">
            <a:spAutoFit/>
          </a:bodyPr>
          <a:lstStyle/>
          <a:p>
            <a:pPr algn="ctr"/>
            <a:r>
              <a:rPr sz="1958" b="1">
                <a:solidFill>
                  <a:srgbClr val="0E2841"/>
                </a:solidFill>
                <a:latin typeface="Aptos Display"/>
              </a:rPr>
              <a:t>Módulos con interfaz  ·  Nadie consulta las tablas de otro módulo</a:t>
            </a:r>
          </a:p>
        </p:txBody>
      </p:sp>
      <p:sp>
        <p:nvSpPr>
          <p:cNvPr id="13" name="Rounded Rectangle 12"/>
          <p:cNvSpPr/>
          <p:nvPr/>
        </p:nvSpPr>
        <p:spPr>
          <a:xfrm>
            <a:off x="1572768" y="3950208"/>
            <a:ext cx="9052560" cy="857780"/>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572768" y="4023360"/>
            <a:ext cx="63500" cy="711476"/>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572768" y="3950208"/>
            <a:ext cx="9052560" cy="857780"/>
          </a:xfrm>
          <a:prstGeom prst="rect">
            <a:avLst/>
          </a:prstGeom>
          <a:noFill/>
        </p:spPr>
        <p:txBody>
          <a:bodyPr wrap="square" anchor="ctr" lIns="0" rIns="0" tIns="0" bIns="0">
            <a:spAutoFit/>
          </a:bodyPr>
          <a:lstStyle/>
          <a:p>
            <a:pPr algn="ctr"/>
            <a:r>
              <a:rPr sz="1958" b="1">
                <a:solidFill>
                  <a:srgbClr val="0E2841"/>
                </a:solidFill>
                <a:latin typeface="Aptos Display"/>
              </a:rPr>
              <a:t>Datos por módulo  ·  Mismo motor, esquemas separados</a:t>
            </a:r>
          </a:p>
        </p:txBody>
      </p:sp>
      <p:sp>
        <p:nvSpPr>
          <p:cNvPr id="16" name="Rounded Rectangle 15"/>
          <p:cNvSpPr/>
          <p:nvPr/>
        </p:nvSpPr>
        <p:spPr>
          <a:xfrm>
            <a:off x="2075688" y="4996281"/>
            <a:ext cx="8046720" cy="857780"/>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075688" y="5069433"/>
            <a:ext cx="63500" cy="711476"/>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075688" y="4996281"/>
            <a:ext cx="8046720" cy="857780"/>
          </a:xfrm>
          <a:prstGeom prst="rect">
            <a:avLst/>
          </a:prstGeom>
          <a:noFill/>
        </p:spPr>
        <p:txBody>
          <a:bodyPr wrap="square" anchor="ctr" lIns="0" rIns="0" tIns="0" bIns="0">
            <a:spAutoFit/>
          </a:bodyPr>
          <a:lstStyle/>
          <a:p>
            <a:pPr algn="ctr"/>
            <a:r>
              <a:rPr sz="1958" b="1">
                <a:solidFill>
                  <a:srgbClr val="0E2841"/>
                </a:solidFill>
                <a:latin typeface="Aptos Display"/>
              </a:rPr>
              <a:t>Extracción después  ·  Se saca lo que cambia mucho o lo que pesa mucho</a:t>
            </a:r>
          </a:p>
        </p:txBody>
      </p:sp>
      <p:sp>
        <p:nvSpPr>
          <p:cNvPr id="19" name="TextBox 18"/>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Arquitectura y Diseño de Software  ·  Unidad 1</a:t>
            </a:r>
          </a:p>
        </p:txBody>
      </p:sp>
      <p:sp>
        <p:nvSpPr>
          <p:cNvPr id="20" name="TextBox 19"/>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25 / 39</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1 · FUNDAMENTOS · ESP. INGENIERÍA DE SOFTWARE</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El peor resultado posible: el monolito distribuido</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572768"/>
            <a:ext cx="11064240" cy="1783080"/>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27632"/>
            <a:ext cx="63500" cy="1673352"/>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572768"/>
            <a:ext cx="10378440" cy="1783080"/>
          </a:xfrm>
          <a:prstGeom prst="rect">
            <a:avLst/>
          </a:prstGeom>
          <a:noFill/>
        </p:spPr>
        <p:txBody>
          <a:bodyPr wrap="square" anchor="ctr" lIns="0" rIns="0" tIns="0" bIns="0">
            <a:spAutoFit/>
          </a:bodyPr>
          <a:lstStyle/>
          <a:p>
            <a:pPr algn="l">
              <a:lnSpc>
                <a:spcPct val="125000"/>
              </a:lnSpc>
            </a:pPr>
            <a:r>
              <a:rPr sz="2545" b="1">
                <a:solidFill>
                  <a:srgbClr val="0E2841"/>
                </a:solidFill>
                <a:latin typeface="Aptos Display"/>
              </a:rPr>
              <a:t>Servicios separados que igual deben desplegarse juntos porque comparten base de datos y se llaman en cadena.</a:t>
            </a:r>
          </a:p>
        </p:txBody>
      </p:sp>
      <p:sp>
        <p:nvSpPr>
          <p:cNvPr id="10" name="Oval 9"/>
          <p:cNvSpPr/>
          <p:nvPr/>
        </p:nvSpPr>
        <p:spPr>
          <a:xfrm>
            <a:off x="585216" y="3853053"/>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9536" y="3557016"/>
            <a:ext cx="10698480" cy="692658"/>
          </a:xfrm>
          <a:prstGeom prst="rect">
            <a:avLst/>
          </a:prstGeom>
          <a:noFill/>
        </p:spPr>
        <p:txBody>
          <a:bodyPr wrap="square" anchor="ctr" lIns="0" rIns="0" tIns="0" bIns="0">
            <a:spAutoFit/>
          </a:bodyPr>
          <a:lstStyle/>
          <a:p>
            <a:pPr algn="l"/>
            <a:r>
              <a:rPr sz="2429" b="1">
                <a:solidFill>
                  <a:srgbClr val="0E2841"/>
                </a:solidFill>
                <a:latin typeface="Aptos"/>
              </a:rPr>
              <a:t>Se paga la latencia de red</a:t>
            </a:r>
          </a:p>
        </p:txBody>
      </p:sp>
      <p:sp>
        <p:nvSpPr>
          <p:cNvPr id="12" name="Oval 11"/>
          <p:cNvSpPr/>
          <p:nvPr/>
        </p:nvSpPr>
        <p:spPr>
          <a:xfrm>
            <a:off x="585216" y="4545711"/>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 y="4249674"/>
            <a:ext cx="10698480" cy="692658"/>
          </a:xfrm>
          <a:prstGeom prst="rect">
            <a:avLst/>
          </a:prstGeom>
          <a:noFill/>
        </p:spPr>
        <p:txBody>
          <a:bodyPr wrap="square" anchor="ctr" lIns="0" rIns="0" tIns="0" bIns="0">
            <a:spAutoFit/>
          </a:bodyPr>
          <a:lstStyle/>
          <a:p>
            <a:pPr algn="l"/>
            <a:r>
              <a:rPr sz="2429" b="1">
                <a:solidFill>
                  <a:srgbClr val="0E2841"/>
                </a:solidFill>
                <a:latin typeface="Aptos"/>
              </a:rPr>
              <a:t>Se paga la complejidad operativa</a:t>
            </a:r>
          </a:p>
        </p:txBody>
      </p:sp>
      <p:sp>
        <p:nvSpPr>
          <p:cNvPr id="14" name="Oval 13"/>
          <p:cNvSpPr/>
          <p:nvPr/>
        </p:nvSpPr>
        <p:spPr>
          <a:xfrm>
            <a:off x="585216" y="5238369"/>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9536" y="4942332"/>
            <a:ext cx="10698480" cy="692658"/>
          </a:xfrm>
          <a:prstGeom prst="rect">
            <a:avLst/>
          </a:prstGeom>
          <a:noFill/>
        </p:spPr>
        <p:txBody>
          <a:bodyPr wrap="square" anchor="ctr" lIns="0" rIns="0" tIns="0" bIns="0">
            <a:spAutoFit/>
          </a:bodyPr>
          <a:lstStyle/>
          <a:p>
            <a:pPr algn="l"/>
            <a:r>
              <a:rPr sz="2429" b="1">
                <a:solidFill>
                  <a:srgbClr val="0E2841"/>
                </a:solidFill>
                <a:latin typeface="Aptos"/>
              </a:rPr>
              <a:t>Se paga la falla parcial</a:t>
            </a:r>
          </a:p>
        </p:txBody>
      </p:sp>
      <p:sp>
        <p:nvSpPr>
          <p:cNvPr id="16" name="Oval 15"/>
          <p:cNvSpPr/>
          <p:nvPr/>
        </p:nvSpPr>
        <p:spPr>
          <a:xfrm>
            <a:off x="585216" y="5931027"/>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 y="5634990"/>
            <a:ext cx="10698480" cy="692658"/>
          </a:xfrm>
          <a:prstGeom prst="rect">
            <a:avLst/>
          </a:prstGeom>
          <a:noFill/>
        </p:spPr>
        <p:txBody>
          <a:bodyPr wrap="square" anchor="ctr" lIns="0" rIns="0" tIns="0" bIns="0">
            <a:spAutoFit/>
          </a:bodyPr>
          <a:lstStyle/>
          <a:p>
            <a:pPr algn="l"/>
            <a:r>
              <a:rPr sz="2429" b="1">
                <a:solidFill>
                  <a:srgbClr val="0E2841"/>
                </a:solidFill>
                <a:latin typeface="Aptos"/>
              </a:rPr>
              <a:t>No se recibe escalado ni despliegue independiente</a:t>
            </a:r>
          </a:p>
        </p:txBody>
      </p:sp>
      <p:sp>
        <p:nvSpPr>
          <p:cNvPr id="18" name="TextBox 17"/>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Arquitectura y Diseño de Software  ·  Unidad 1</a:t>
            </a:r>
          </a:p>
        </p:txBody>
      </p:sp>
      <p:sp>
        <p:nvSpPr>
          <p:cNvPr id="19" name="TextBox 18"/>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26 / 39</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009540"/>
                </a:solidFill>
                <a:latin typeface="Aptos"/>
              </a:rPr>
              <a:t>PREGUNTA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2500" b="1">
                <a:solidFill>
                  <a:srgbClr val="0E2841"/>
                </a:solidFill>
                <a:latin typeface="Aptos Display"/>
              </a:rPr>
              <a:t>ParkKbus debe responder en menos de 2 s, tiene 2 desarrolladores y no puede parar más de 2 horas. ¿Qué enfoque es el más defendible?</a:t>
            </a:r>
          </a:p>
        </p:txBody>
      </p:sp>
      <p:sp>
        <p:nvSpPr>
          <p:cNvPr id="5" name="Rectangle 4"/>
          <p:cNvSpPr/>
          <p:nvPr/>
        </p:nvSpPr>
        <p:spPr>
          <a:xfrm>
            <a:off x="566928" y="1389888"/>
            <a:ext cx="1371600"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810511"/>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86384" y="2049535"/>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 y="2049535"/>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A</a:t>
            </a:r>
          </a:p>
        </p:txBody>
      </p:sp>
      <p:sp>
        <p:nvSpPr>
          <p:cNvPr id="10" name="TextBox 9"/>
          <p:cNvSpPr txBox="1"/>
          <p:nvPr/>
        </p:nvSpPr>
        <p:spPr>
          <a:xfrm>
            <a:off x="1408176" y="1810511"/>
            <a:ext cx="9966960" cy="898672"/>
          </a:xfrm>
          <a:prstGeom prst="rect">
            <a:avLst/>
          </a:prstGeom>
          <a:noFill/>
        </p:spPr>
        <p:txBody>
          <a:bodyPr wrap="square" anchor="ctr" lIns="0" rIns="0" tIns="0" bIns="0">
            <a:spAutoFit/>
          </a:bodyPr>
          <a:lstStyle/>
          <a:p>
            <a:pPr algn="l"/>
            <a:r>
              <a:rPr sz="2100" b="0">
                <a:solidFill>
                  <a:srgbClr val="0E2841"/>
                </a:solidFill>
                <a:latin typeface="Aptos"/>
              </a:rPr>
              <a:t>Microservicios completos, porque es lo que hizo Netflix</a:t>
            </a:r>
          </a:p>
        </p:txBody>
      </p:sp>
      <p:sp>
        <p:nvSpPr>
          <p:cNvPr id="11" name="Rounded Rectangle 10"/>
          <p:cNvSpPr/>
          <p:nvPr/>
        </p:nvSpPr>
        <p:spPr>
          <a:xfrm>
            <a:off x="566928" y="2880360"/>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86384" y="3119384"/>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 y="3119384"/>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B</a:t>
            </a:r>
          </a:p>
        </p:txBody>
      </p:sp>
      <p:sp>
        <p:nvSpPr>
          <p:cNvPr id="14" name="TextBox 13"/>
          <p:cNvSpPr txBox="1"/>
          <p:nvPr/>
        </p:nvSpPr>
        <p:spPr>
          <a:xfrm>
            <a:off x="1408176" y="2880360"/>
            <a:ext cx="9966960" cy="898672"/>
          </a:xfrm>
          <a:prstGeom prst="rect">
            <a:avLst/>
          </a:prstGeom>
          <a:noFill/>
        </p:spPr>
        <p:txBody>
          <a:bodyPr wrap="square" anchor="ctr" lIns="0" rIns="0" tIns="0" bIns="0">
            <a:spAutoFit/>
          </a:bodyPr>
          <a:lstStyle/>
          <a:p>
            <a:pPr algn="l"/>
            <a:r>
              <a:rPr sz="2100" b="0">
                <a:solidFill>
                  <a:srgbClr val="0E2841"/>
                </a:solidFill>
                <a:latin typeface="Aptos"/>
              </a:rPr>
              <a:t>Mantener el monolito tal como está y solo optimizar índices</a:t>
            </a:r>
          </a:p>
        </p:txBody>
      </p:sp>
      <p:sp>
        <p:nvSpPr>
          <p:cNvPr id="15" name="Rounded Rectangle 14"/>
          <p:cNvSpPr/>
          <p:nvPr/>
        </p:nvSpPr>
        <p:spPr>
          <a:xfrm>
            <a:off x="566928" y="3950208"/>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86384" y="4189232"/>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4189232"/>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C</a:t>
            </a:r>
          </a:p>
        </p:txBody>
      </p:sp>
      <p:sp>
        <p:nvSpPr>
          <p:cNvPr id="18" name="TextBox 17"/>
          <p:cNvSpPr txBox="1"/>
          <p:nvPr/>
        </p:nvSpPr>
        <p:spPr>
          <a:xfrm>
            <a:off x="1408176" y="3950208"/>
            <a:ext cx="9966960" cy="898672"/>
          </a:xfrm>
          <a:prstGeom prst="rect">
            <a:avLst/>
          </a:prstGeom>
          <a:noFill/>
        </p:spPr>
        <p:txBody>
          <a:bodyPr wrap="square" anchor="ctr" lIns="0" rIns="0" tIns="0" bIns="0">
            <a:spAutoFit/>
          </a:bodyPr>
          <a:lstStyle/>
          <a:p>
            <a:pPr algn="l"/>
            <a:r>
              <a:rPr sz="2100" b="0">
                <a:solidFill>
                  <a:srgbClr val="0E2841"/>
                </a:solidFill>
                <a:latin typeface="Aptos"/>
              </a:rPr>
              <a:t>Monolito modular y extraer después lo que más lo justifique</a:t>
            </a:r>
          </a:p>
        </p:txBody>
      </p:sp>
      <p:sp>
        <p:nvSpPr>
          <p:cNvPr id="19" name="Rounded Rectangle 18"/>
          <p:cNvSpPr/>
          <p:nvPr/>
        </p:nvSpPr>
        <p:spPr>
          <a:xfrm>
            <a:off x="566928" y="5020056"/>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86384" y="5259080"/>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86384" y="5259080"/>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D</a:t>
            </a:r>
          </a:p>
        </p:txBody>
      </p:sp>
      <p:sp>
        <p:nvSpPr>
          <p:cNvPr id="22" name="TextBox 21"/>
          <p:cNvSpPr txBox="1"/>
          <p:nvPr/>
        </p:nvSpPr>
        <p:spPr>
          <a:xfrm>
            <a:off x="1408176" y="5020056"/>
            <a:ext cx="9966960" cy="898672"/>
          </a:xfrm>
          <a:prstGeom prst="rect">
            <a:avLst/>
          </a:prstGeom>
          <a:noFill/>
        </p:spPr>
        <p:txBody>
          <a:bodyPr wrap="square" anchor="ctr" lIns="0" rIns="0" tIns="0" bIns="0">
            <a:spAutoFit/>
          </a:bodyPr>
          <a:lstStyle/>
          <a:p>
            <a:pPr algn="l"/>
            <a:r>
              <a:rPr sz="2100" b="0">
                <a:solidFill>
                  <a:srgbClr val="0E2841"/>
                </a:solidFill>
                <a:latin typeface="Aptos"/>
              </a:rPr>
              <a:t>Reescribir el sistema desde cero con otro lenguaje</a:t>
            </a:r>
          </a:p>
        </p:txBody>
      </p:sp>
      <p:sp>
        <p:nvSpPr>
          <p:cNvPr id="23" name="TextBox 22"/>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Arquitectura y Diseño de Software  ·  Unidad 1</a:t>
            </a:r>
          </a:p>
        </p:txBody>
      </p:sp>
      <p:sp>
        <p:nvSpPr>
          <p:cNvPr id="24" name="TextBox 23"/>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27 / 39</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009540"/>
                </a:solidFill>
                <a:latin typeface="Aptos"/>
              </a:rPr>
              <a:t>PREGUNTA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2500" b="1">
                <a:solidFill>
                  <a:srgbClr val="0E2841"/>
                </a:solidFill>
                <a:latin typeface="Aptos Display"/>
              </a:rPr>
              <a:t>Un equipo separa el sistema en seis servicios, pero todos comparten la base de datos y se despliegan juntos. ¿Qué obtuvo?</a:t>
            </a:r>
          </a:p>
        </p:txBody>
      </p:sp>
      <p:sp>
        <p:nvSpPr>
          <p:cNvPr id="5" name="Rectangle 4"/>
          <p:cNvSpPr/>
          <p:nvPr/>
        </p:nvSpPr>
        <p:spPr>
          <a:xfrm>
            <a:off x="566928" y="1389888"/>
            <a:ext cx="1371600"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810511"/>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86384" y="2049535"/>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 y="2049535"/>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A</a:t>
            </a:r>
          </a:p>
        </p:txBody>
      </p:sp>
      <p:sp>
        <p:nvSpPr>
          <p:cNvPr id="10" name="TextBox 9"/>
          <p:cNvSpPr txBox="1"/>
          <p:nvPr/>
        </p:nvSpPr>
        <p:spPr>
          <a:xfrm>
            <a:off x="1408176" y="1810511"/>
            <a:ext cx="9966960" cy="898672"/>
          </a:xfrm>
          <a:prstGeom prst="rect">
            <a:avLst/>
          </a:prstGeom>
          <a:noFill/>
        </p:spPr>
        <p:txBody>
          <a:bodyPr wrap="square" anchor="ctr" lIns="0" rIns="0" tIns="0" bIns="0">
            <a:spAutoFit/>
          </a:bodyPr>
          <a:lstStyle/>
          <a:p>
            <a:pPr algn="l"/>
            <a:r>
              <a:rPr sz="2100" b="0">
                <a:solidFill>
                  <a:srgbClr val="0E2841"/>
                </a:solidFill>
                <a:latin typeface="Aptos"/>
              </a:rPr>
              <a:t>Una arquitectura de microservicios correctamente implementada</a:t>
            </a:r>
          </a:p>
        </p:txBody>
      </p:sp>
      <p:sp>
        <p:nvSpPr>
          <p:cNvPr id="11" name="Rounded Rectangle 10"/>
          <p:cNvSpPr/>
          <p:nvPr/>
        </p:nvSpPr>
        <p:spPr>
          <a:xfrm>
            <a:off x="566928" y="2880360"/>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86384" y="3119384"/>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 y="3119384"/>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B</a:t>
            </a:r>
          </a:p>
        </p:txBody>
      </p:sp>
      <p:sp>
        <p:nvSpPr>
          <p:cNvPr id="14" name="TextBox 13"/>
          <p:cNvSpPr txBox="1"/>
          <p:nvPr/>
        </p:nvSpPr>
        <p:spPr>
          <a:xfrm>
            <a:off x="1408176" y="2880360"/>
            <a:ext cx="9966960" cy="898672"/>
          </a:xfrm>
          <a:prstGeom prst="rect">
            <a:avLst/>
          </a:prstGeom>
          <a:noFill/>
        </p:spPr>
        <p:txBody>
          <a:bodyPr wrap="square" anchor="ctr" lIns="0" rIns="0" tIns="0" bIns="0">
            <a:spAutoFit/>
          </a:bodyPr>
          <a:lstStyle/>
          <a:p>
            <a:pPr algn="l"/>
            <a:r>
              <a:rPr sz="2100" b="0">
                <a:solidFill>
                  <a:srgbClr val="0E2841"/>
                </a:solidFill>
                <a:latin typeface="Aptos"/>
              </a:rPr>
              <a:t>Un monolito modular con fronteras internas bien trazadas</a:t>
            </a:r>
          </a:p>
        </p:txBody>
      </p:sp>
      <p:sp>
        <p:nvSpPr>
          <p:cNvPr id="15" name="Rounded Rectangle 14"/>
          <p:cNvSpPr/>
          <p:nvPr/>
        </p:nvSpPr>
        <p:spPr>
          <a:xfrm>
            <a:off x="566928" y="3950208"/>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86384" y="4189232"/>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4189232"/>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C</a:t>
            </a:r>
          </a:p>
        </p:txBody>
      </p:sp>
      <p:sp>
        <p:nvSpPr>
          <p:cNvPr id="18" name="TextBox 17"/>
          <p:cNvSpPr txBox="1"/>
          <p:nvPr/>
        </p:nvSpPr>
        <p:spPr>
          <a:xfrm>
            <a:off x="1408176" y="3950208"/>
            <a:ext cx="9966960" cy="898672"/>
          </a:xfrm>
          <a:prstGeom prst="rect">
            <a:avLst/>
          </a:prstGeom>
          <a:noFill/>
        </p:spPr>
        <p:txBody>
          <a:bodyPr wrap="square" anchor="ctr" lIns="0" rIns="0" tIns="0" bIns="0">
            <a:spAutoFit/>
          </a:bodyPr>
          <a:lstStyle/>
          <a:p>
            <a:pPr algn="l"/>
            <a:r>
              <a:rPr sz="2100" b="0">
                <a:solidFill>
                  <a:srgbClr val="0E2841"/>
                </a:solidFill>
                <a:latin typeface="Aptos"/>
              </a:rPr>
              <a:t>Un monolito distribuido: costos de lo distribuido sin sus beneficios</a:t>
            </a:r>
          </a:p>
        </p:txBody>
      </p:sp>
      <p:sp>
        <p:nvSpPr>
          <p:cNvPr id="19" name="Rounded Rectangle 18"/>
          <p:cNvSpPr/>
          <p:nvPr/>
        </p:nvSpPr>
        <p:spPr>
          <a:xfrm>
            <a:off x="566928" y="5020056"/>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86384" y="5259080"/>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86384" y="5259080"/>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D</a:t>
            </a:r>
          </a:p>
        </p:txBody>
      </p:sp>
      <p:sp>
        <p:nvSpPr>
          <p:cNvPr id="22" name="TextBox 21"/>
          <p:cNvSpPr txBox="1"/>
          <p:nvPr/>
        </p:nvSpPr>
        <p:spPr>
          <a:xfrm>
            <a:off x="1408176" y="5020056"/>
            <a:ext cx="9966960" cy="898672"/>
          </a:xfrm>
          <a:prstGeom prst="rect">
            <a:avLst/>
          </a:prstGeom>
          <a:noFill/>
        </p:spPr>
        <p:txBody>
          <a:bodyPr wrap="square" anchor="ctr" lIns="0" rIns="0" tIns="0" bIns="0">
            <a:spAutoFit/>
          </a:bodyPr>
          <a:lstStyle/>
          <a:p>
            <a:pPr algn="l"/>
            <a:r>
              <a:rPr sz="2100" b="0">
                <a:solidFill>
                  <a:srgbClr val="0E2841"/>
                </a:solidFill>
                <a:latin typeface="Aptos"/>
              </a:rPr>
              <a:t>Una implementación de CQRS con consistencia fuerte</a:t>
            </a:r>
          </a:p>
        </p:txBody>
      </p:sp>
      <p:sp>
        <p:nvSpPr>
          <p:cNvPr id="23" name="TextBox 22"/>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Arquitectura y Diseño de Software  ·  Unidad 1</a:t>
            </a:r>
          </a:p>
        </p:txBody>
      </p:sp>
      <p:sp>
        <p:nvSpPr>
          <p:cNvPr id="24" name="TextBox 23"/>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28 / 39</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156082"/>
        </a:solidFill>
        <a:effectLst/>
      </p:bgPr>
    </p:bg>
    <p:spTree>
      <p:nvGrpSpPr>
        <p:cNvPr id="1" name=""/>
        <p:cNvGrpSpPr/>
        <p:nvPr/>
      </p:nvGrpSpPr>
      <p:grpSpPr/>
      <p:sp>
        <p:nvSpPr>
          <p:cNvPr id="2" name="TextBox 1"/>
          <p:cNvSpPr txBox="1"/>
          <p:nvPr/>
        </p:nvSpPr>
        <p:spPr>
          <a:xfrm>
            <a:off x="0" y="960120"/>
            <a:ext cx="12191695" cy="2011680"/>
          </a:xfrm>
          <a:prstGeom prst="rect">
            <a:avLst/>
          </a:prstGeom>
          <a:noFill/>
        </p:spPr>
        <p:txBody>
          <a:bodyPr wrap="square" anchor="t" lIns="0" rIns="0" tIns="0" bIns="0">
            <a:spAutoFit/>
          </a:bodyPr>
          <a:lstStyle/>
          <a:p>
            <a:pPr algn="ctr"/>
            <a:r>
              <a:rPr sz="12800" b="1">
                <a:solidFill>
                  <a:srgbClr val="0E2841"/>
                </a:solidFill>
                <a:latin typeface="Aptos Display"/>
              </a:rPr>
              <a:t>06</a:t>
            </a:r>
          </a:p>
        </p:txBody>
      </p:sp>
      <p:sp>
        <p:nvSpPr>
          <p:cNvPr id="3" name="Rectangle 2"/>
          <p:cNvSpPr/>
          <p:nvPr/>
        </p:nvSpPr>
        <p:spPr>
          <a:xfrm>
            <a:off x="5184648" y="3127248"/>
            <a:ext cx="1828800" cy="635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429000"/>
            <a:ext cx="10698480" cy="1097280"/>
          </a:xfrm>
          <a:prstGeom prst="rect">
            <a:avLst/>
          </a:prstGeom>
          <a:noFill/>
        </p:spPr>
        <p:txBody>
          <a:bodyPr wrap="square" anchor="t" lIns="0" rIns="0" tIns="0" bIns="0">
            <a:spAutoFit/>
          </a:bodyPr>
          <a:lstStyle/>
          <a:p>
            <a:pPr algn="ctr"/>
            <a:r>
              <a:rPr sz="4000" b="1">
                <a:solidFill>
                  <a:srgbClr val="FFFFFF"/>
                </a:solidFill>
                <a:latin typeface="Aptos Display"/>
              </a:rPr>
              <a:t>6. Los estilos arquitectónicos modernos</a:t>
            </a:r>
          </a:p>
        </p:txBody>
      </p:sp>
      <p:pic>
        <p:nvPicPr>
          <p:cNvPr id="5" name="Picture 4" descr="Logo-Institucional-con-advertencia-Vigilado-Mineducacion-Blanco.png"/>
          <p:cNvPicPr>
            <a:picLocks noChangeAspect="1"/>
          </p:cNvPicPr>
          <p:nvPr/>
        </p:nvPicPr>
        <p:blipFill>
          <a:blip r:embed="rId2"/>
          <a:stretch>
            <a:fillRect/>
          </a:stretch>
        </p:blipFill>
        <p:spPr>
          <a:xfrm>
            <a:off x="10938117" y="5943600"/>
            <a:ext cx="750963" cy="685800"/>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1 · FUNDAMENTOS · ESP. INGENIERÍA DE SOFTWARE</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Los tres protegen exactamente lo mismo</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2048256"/>
            <a:ext cx="2532888" cy="310896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2304288"/>
            <a:ext cx="384048" cy="508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2560320"/>
            <a:ext cx="2130552" cy="2395728"/>
          </a:xfrm>
          <a:prstGeom prst="rect">
            <a:avLst/>
          </a:prstGeom>
          <a:noFill/>
        </p:spPr>
        <p:txBody>
          <a:bodyPr wrap="square" anchor="t" lIns="0" rIns="0" tIns="0" bIns="0">
            <a:spAutoFit/>
          </a:bodyPr>
          <a:lstStyle/>
          <a:p>
            <a:pPr algn="l"/>
            <a:r>
              <a:rPr sz="2039" b="1">
                <a:solidFill>
                  <a:srgbClr val="0E2841"/>
                </a:solidFill>
                <a:latin typeface="Aptos Display"/>
              </a:rPr>
              <a:t>Hexagonal</a:t>
            </a:r>
          </a:p>
          <a:p>
            <a:pPr algn="l">
              <a:lnSpc>
                <a:spcPct val="120000"/>
              </a:lnSpc>
              <a:spcBef>
                <a:spcPts val="700"/>
              </a:spcBef>
            </a:pPr>
            <a:r>
              <a:rPr sz="1560" b="0">
                <a:solidFill>
                  <a:srgbClr val="33475B"/>
                </a:solidFill>
                <a:latin typeface="Aptos"/>
              </a:rPr>
              <a:t>Puertos y adaptadores. El núcleo declara qué necesita</a:t>
            </a:r>
          </a:p>
        </p:txBody>
      </p:sp>
      <p:sp>
        <p:nvSpPr>
          <p:cNvPr id="10" name="Rounded Rectangle 9"/>
          <p:cNvSpPr/>
          <p:nvPr/>
        </p:nvSpPr>
        <p:spPr>
          <a:xfrm>
            <a:off x="3410712" y="2048256"/>
            <a:ext cx="2532888" cy="310896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11880" y="2304288"/>
            <a:ext cx="384048"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11880" y="2560320"/>
            <a:ext cx="2130552" cy="2395728"/>
          </a:xfrm>
          <a:prstGeom prst="rect">
            <a:avLst/>
          </a:prstGeom>
          <a:noFill/>
        </p:spPr>
        <p:txBody>
          <a:bodyPr wrap="square" anchor="t" lIns="0" rIns="0" tIns="0" bIns="0">
            <a:spAutoFit/>
          </a:bodyPr>
          <a:lstStyle/>
          <a:p>
            <a:pPr algn="l"/>
            <a:r>
              <a:rPr sz="2039" b="1">
                <a:solidFill>
                  <a:srgbClr val="0E2841"/>
                </a:solidFill>
                <a:latin typeface="Aptos Display"/>
              </a:rPr>
              <a:t>Onion</a:t>
            </a:r>
          </a:p>
          <a:p>
            <a:pPr algn="l">
              <a:lnSpc>
                <a:spcPct val="120000"/>
              </a:lnSpc>
              <a:spcBef>
                <a:spcPts val="700"/>
              </a:spcBef>
            </a:pPr>
            <a:r>
              <a:rPr sz="1560" b="0">
                <a:solidFill>
                  <a:srgbClr val="33475B"/>
                </a:solidFill>
                <a:latin typeface="Aptos"/>
              </a:rPr>
              <a:t>Anillos concéntricos. Hacia adentro, más abstracto</a:t>
            </a:r>
          </a:p>
        </p:txBody>
      </p:sp>
      <p:sp>
        <p:nvSpPr>
          <p:cNvPr id="13" name="Rounded Rectangle 12"/>
          <p:cNvSpPr/>
          <p:nvPr/>
        </p:nvSpPr>
        <p:spPr>
          <a:xfrm>
            <a:off x="6254496" y="2048256"/>
            <a:ext cx="2532888" cy="310896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455664" y="2304288"/>
            <a:ext cx="384048"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0320"/>
            <a:ext cx="2130552" cy="2395728"/>
          </a:xfrm>
          <a:prstGeom prst="rect">
            <a:avLst/>
          </a:prstGeom>
          <a:noFill/>
        </p:spPr>
        <p:txBody>
          <a:bodyPr wrap="square" anchor="t" lIns="0" rIns="0" tIns="0" bIns="0">
            <a:spAutoFit/>
          </a:bodyPr>
          <a:lstStyle/>
          <a:p>
            <a:pPr algn="l"/>
            <a:r>
              <a:rPr sz="2039" b="1">
                <a:solidFill>
                  <a:srgbClr val="0E2841"/>
                </a:solidFill>
                <a:latin typeface="Aptos Display"/>
              </a:rPr>
              <a:t>CQRS</a:t>
            </a:r>
          </a:p>
          <a:p>
            <a:pPr algn="l">
              <a:lnSpc>
                <a:spcPct val="120000"/>
              </a:lnSpc>
              <a:spcBef>
                <a:spcPts val="700"/>
              </a:spcBef>
            </a:pPr>
            <a:r>
              <a:rPr sz="1560" b="0">
                <a:solidFill>
                  <a:srgbClr val="33475B"/>
                </a:solidFill>
                <a:latin typeface="Aptos"/>
              </a:rPr>
              <a:t>Separa el modelo que escribe del que lee</a:t>
            </a:r>
          </a:p>
        </p:txBody>
      </p:sp>
      <p:sp>
        <p:nvSpPr>
          <p:cNvPr id="16" name="Rounded Rectangle 15"/>
          <p:cNvSpPr/>
          <p:nvPr/>
        </p:nvSpPr>
        <p:spPr>
          <a:xfrm>
            <a:off x="9098280" y="2048256"/>
            <a:ext cx="2532888" cy="310896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9299448" y="2304288"/>
            <a:ext cx="384048" cy="508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299448" y="2560320"/>
            <a:ext cx="2130552" cy="2395728"/>
          </a:xfrm>
          <a:prstGeom prst="rect">
            <a:avLst/>
          </a:prstGeom>
          <a:noFill/>
        </p:spPr>
        <p:txBody>
          <a:bodyPr wrap="square" anchor="t" lIns="0" rIns="0" tIns="0" bIns="0">
            <a:spAutoFit/>
          </a:bodyPr>
          <a:lstStyle/>
          <a:p>
            <a:pPr algn="l"/>
            <a:r>
              <a:rPr sz="2039" b="1">
                <a:solidFill>
                  <a:srgbClr val="0E2841"/>
                </a:solidFill>
                <a:latin typeface="Aptos Display"/>
              </a:rPr>
              <a:t>En común</a:t>
            </a:r>
          </a:p>
          <a:p>
            <a:pPr algn="l">
              <a:lnSpc>
                <a:spcPct val="120000"/>
              </a:lnSpc>
              <a:spcBef>
                <a:spcPts val="700"/>
              </a:spcBef>
            </a:pPr>
            <a:r>
              <a:rPr sz="1560" b="0">
                <a:solidFill>
                  <a:srgbClr val="33475B"/>
                </a:solidFill>
                <a:latin typeface="Aptos"/>
              </a:rPr>
              <a:t>Proteger las reglas del negocio de los detalles técnicos</a:t>
            </a:r>
          </a:p>
        </p:txBody>
      </p:sp>
      <p:sp>
        <p:nvSpPr>
          <p:cNvPr id="19" name="TextBox 18"/>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Arquitectura y Diseño de Software  ·  Unidad 1</a:t>
            </a:r>
          </a:p>
        </p:txBody>
      </p:sp>
      <p:sp>
        <p:nvSpPr>
          <p:cNvPr id="20" name="TextBox 19"/>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29 / 39</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1 · FUNDAMENTOS · ESP. INGENIERÍA DE SOFTWARE</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Hexagonal: el núcleo declara, los adaptadores implementan</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827886"/>
            <a:ext cx="1905609" cy="2324404"/>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827886"/>
            <a:ext cx="1905609" cy="508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2432231"/>
            <a:ext cx="1613001" cy="1580595"/>
          </a:xfrm>
          <a:prstGeom prst="rect">
            <a:avLst/>
          </a:prstGeom>
          <a:noFill/>
        </p:spPr>
        <p:txBody>
          <a:bodyPr wrap="square" anchor="t" lIns="0" rIns="0" tIns="0" bIns="0">
            <a:spAutoFit/>
          </a:bodyPr>
          <a:lstStyle/>
          <a:p>
            <a:pPr algn="ctr"/>
            <a:r>
              <a:rPr sz="1859" b="1">
                <a:solidFill>
                  <a:srgbClr val="0E2841"/>
                </a:solidFill>
                <a:latin typeface="Aptos Display"/>
              </a:rPr>
              <a:t>REST / CLI / Job</a:t>
            </a:r>
          </a:p>
          <a:p>
            <a:pPr algn="ctr">
              <a:lnSpc>
                <a:spcPct val="120000"/>
              </a:lnSpc>
              <a:spcBef>
                <a:spcPts val="700"/>
              </a:spcBef>
            </a:pPr>
            <a:r>
              <a:rPr sz="1439" b="0">
                <a:solidFill>
                  <a:srgbClr val="7A8B9E"/>
                </a:solidFill>
                <a:latin typeface="Aptos"/>
              </a:rPr>
              <a:t>Adaptadores primarios</a:t>
            </a:r>
          </a:p>
        </p:txBody>
      </p:sp>
      <p:sp>
        <p:nvSpPr>
          <p:cNvPr id="10" name="Chevron 9"/>
          <p:cNvSpPr/>
          <p:nvPr/>
        </p:nvSpPr>
        <p:spPr>
          <a:xfrm>
            <a:off x="2563977" y="2571695"/>
            <a:ext cx="201168" cy="836785"/>
          </a:xfrm>
          <a:prstGeom prst="chevron">
            <a:avLst/>
          </a:prstGeom>
          <a:solidFill>
            <a:srgbClr val="D9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856585" y="1827886"/>
            <a:ext cx="1905609" cy="2324404"/>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856585" y="1827886"/>
            <a:ext cx="1905609"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002889" y="2432231"/>
            <a:ext cx="1613001" cy="1580595"/>
          </a:xfrm>
          <a:prstGeom prst="rect">
            <a:avLst/>
          </a:prstGeom>
          <a:noFill/>
        </p:spPr>
        <p:txBody>
          <a:bodyPr wrap="square" anchor="t" lIns="0" rIns="0" tIns="0" bIns="0">
            <a:spAutoFit/>
          </a:bodyPr>
          <a:lstStyle/>
          <a:p>
            <a:pPr algn="ctr"/>
            <a:r>
              <a:rPr sz="1859" b="1">
                <a:solidFill>
                  <a:srgbClr val="0E2841"/>
                </a:solidFill>
                <a:latin typeface="Aptos Display"/>
              </a:rPr>
              <a:t>Puertos de entrada</a:t>
            </a:r>
          </a:p>
          <a:p>
            <a:pPr algn="ctr">
              <a:lnSpc>
                <a:spcPct val="120000"/>
              </a:lnSpc>
              <a:spcBef>
                <a:spcPts val="700"/>
              </a:spcBef>
            </a:pPr>
            <a:r>
              <a:rPr sz="1439" b="0">
                <a:solidFill>
                  <a:srgbClr val="7A8B9E"/>
                </a:solidFill>
                <a:latin typeface="Aptos"/>
              </a:rPr>
              <a:t>Lo que la app sabe hacer</a:t>
            </a:r>
          </a:p>
        </p:txBody>
      </p:sp>
      <p:sp>
        <p:nvSpPr>
          <p:cNvPr id="14" name="Chevron 13"/>
          <p:cNvSpPr/>
          <p:nvPr/>
        </p:nvSpPr>
        <p:spPr>
          <a:xfrm>
            <a:off x="4853634" y="2571695"/>
            <a:ext cx="201168" cy="836785"/>
          </a:xfrm>
          <a:prstGeom prst="chevron">
            <a:avLst/>
          </a:prstGeom>
          <a:solidFill>
            <a:srgbClr val="D9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146242" y="1827886"/>
            <a:ext cx="1905609" cy="2324404"/>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146242" y="1827886"/>
            <a:ext cx="1905609"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92546" y="2432231"/>
            <a:ext cx="1613001" cy="1580595"/>
          </a:xfrm>
          <a:prstGeom prst="rect">
            <a:avLst/>
          </a:prstGeom>
          <a:noFill/>
        </p:spPr>
        <p:txBody>
          <a:bodyPr wrap="square" anchor="t" lIns="0" rIns="0" tIns="0" bIns="0">
            <a:spAutoFit/>
          </a:bodyPr>
          <a:lstStyle/>
          <a:p>
            <a:pPr algn="ctr"/>
            <a:r>
              <a:rPr sz="1859" b="1">
                <a:solidFill>
                  <a:srgbClr val="0E2841"/>
                </a:solidFill>
                <a:latin typeface="Aptos Display"/>
              </a:rPr>
              <a:t>Núcleo</a:t>
            </a:r>
          </a:p>
          <a:p>
            <a:pPr algn="ctr">
              <a:lnSpc>
                <a:spcPct val="120000"/>
              </a:lnSpc>
              <a:spcBef>
                <a:spcPts val="700"/>
              </a:spcBef>
            </a:pPr>
            <a:r>
              <a:rPr sz="1439" b="0">
                <a:solidFill>
                  <a:srgbClr val="7A8B9E"/>
                </a:solidFill>
                <a:latin typeface="Aptos"/>
              </a:rPr>
              <a:t>Entidades, casos de uso, reglas</a:t>
            </a:r>
          </a:p>
        </p:txBody>
      </p:sp>
      <p:sp>
        <p:nvSpPr>
          <p:cNvPr id="18" name="Chevron 17"/>
          <p:cNvSpPr/>
          <p:nvPr/>
        </p:nvSpPr>
        <p:spPr>
          <a:xfrm>
            <a:off x="7143291" y="2571695"/>
            <a:ext cx="201168" cy="836785"/>
          </a:xfrm>
          <a:prstGeom prst="chevron">
            <a:avLst/>
          </a:prstGeom>
          <a:solidFill>
            <a:srgbClr val="D9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435899" y="1827886"/>
            <a:ext cx="1905609" cy="2324404"/>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435899" y="1827886"/>
            <a:ext cx="1905609" cy="508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82203" y="2432231"/>
            <a:ext cx="1613001" cy="1580595"/>
          </a:xfrm>
          <a:prstGeom prst="rect">
            <a:avLst/>
          </a:prstGeom>
          <a:noFill/>
        </p:spPr>
        <p:txBody>
          <a:bodyPr wrap="square" anchor="t" lIns="0" rIns="0" tIns="0" bIns="0">
            <a:spAutoFit/>
          </a:bodyPr>
          <a:lstStyle/>
          <a:p>
            <a:pPr algn="ctr"/>
            <a:r>
              <a:rPr sz="1859" b="1">
                <a:solidFill>
                  <a:srgbClr val="0E2841"/>
                </a:solidFill>
                <a:latin typeface="Aptos Display"/>
              </a:rPr>
              <a:t>Puertos de salida</a:t>
            </a:r>
          </a:p>
          <a:p>
            <a:pPr algn="ctr">
              <a:lnSpc>
                <a:spcPct val="120000"/>
              </a:lnSpc>
              <a:spcBef>
                <a:spcPts val="700"/>
              </a:spcBef>
            </a:pPr>
            <a:r>
              <a:rPr sz="1439" b="0">
                <a:solidFill>
                  <a:srgbClr val="7A8B9E"/>
                </a:solidFill>
                <a:latin typeface="Aptos"/>
              </a:rPr>
              <a:t>Lo que la app necesita</a:t>
            </a:r>
          </a:p>
        </p:txBody>
      </p:sp>
      <p:sp>
        <p:nvSpPr>
          <p:cNvPr id="22" name="Chevron 21"/>
          <p:cNvSpPr/>
          <p:nvPr/>
        </p:nvSpPr>
        <p:spPr>
          <a:xfrm>
            <a:off x="9432948" y="2571695"/>
            <a:ext cx="201168" cy="836785"/>
          </a:xfrm>
          <a:prstGeom prst="chevron">
            <a:avLst/>
          </a:prstGeom>
          <a:solidFill>
            <a:srgbClr val="D9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725556" y="1827886"/>
            <a:ext cx="1905609" cy="2324404"/>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725556" y="1827886"/>
            <a:ext cx="1905609"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871860" y="2432231"/>
            <a:ext cx="1613001" cy="1580595"/>
          </a:xfrm>
          <a:prstGeom prst="rect">
            <a:avLst/>
          </a:prstGeom>
          <a:noFill/>
        </p:spPr>
        <p:txBody>
          <a:bodyPr wrap="square" anchor="t" lIns="0" rIns="0" tIns="0" bIns="0">
            <a:spAutoFit/>
          </a:bodyPr>
          <a:lstStyle/>
          <a:p>
            <a:pPr algn="ctr"/>
            <a:r>
              <a:rPr sz="1859" b="1">
                <a:solidFill>
                  <a:srgbClr val="0E2841"/>
                </a:solidFill>
                <a:latin typeface="Aptos Display"/>
              </a:rPr>
              <a:t>PostgreSQL / Pasarela</a:t>
            </a:r>
          </a:p>
          <a:p>
            <a:pPr algn="ctr">
              <a:lnSpc>
                <a:spcPct val="120000"/>
              </a:lnSpc>
              <a:spcBef>
                <a:spcPts val="700"/>
              </a:spcBef>
            </a:pPr>
            <a:r>
              <a:rPr sz="1439" b="0">
                <a:solidFill>
                  <a:srgbClr val="7A8B9E"/>
                </a:solidFill>
                <a:latin typeface="Aptos"/>
              </a:rPr>
              <a:t>Adaptadores secundarios</a:t>
            </a:r>
          </a:p>
        </p:txBody>
      </p:sp>
      <p:sp>
        <p:nvSpPr>
          <p:cNvPr id="26" name="Rounded Rectangle 25"/>
          <p:cNvSpPr/>
          <p:nvPr/>
        </p:nvSpPr>
        <p:spPr>
          <a:xfrm>
            <a:off x="566928" y="4608576"/>
            <a:ext cx="11064240" cy="1719072"/>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66928" y="4663440"/>
            <a:ext cx="63500" cy="1609344"/>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4400" y="4608576"/>
            <a:ext cx="10378440" cy="1719072"/>
          </a:xfrm>
          <a:prstGeom prst="rect">
            <a:avLst/>
          </a:prstGeom>
          <a:noFill/>
        </p:spPr>
        <p:txBody>
          <a:bodyPr wrap="square" anchor="ctr" lIns="0" rIns="0" tIns="0" bIns="0">
            <a:spAutoFit/>
          </a:bodyPr>
          <a:lstStyle/>
          <a:p>
            <a:pPr algn="l">
              <a:lnSpc>
                <a:spcPct val="125000"/>
              </a:lnSpc>
            </a:pPr>
            <a:r>
              <a:rPr sz="2640" b="1">
                <a:solidFill>
                  <a:srgbClr val="0E2841"/>
                </a:solidFill>
                <a:latin typeface="Aptos Display"/>
              </a:rPr>
              <a:t>Las flechas de dependencia </a:t>
            </a:r>
            <a:r>
              <a:rPr sz="2640" b="1">
                <a:solidFill>
                  <a:srgbClr val="0E2841"/>
                </a:solidFill>
                <a:latin typeface="Aptos Display"/>
              </a:rPr>
              <a:t>siempre</a:t>
            </a:r>
            <a:r>
              <a:rPr sz="2640" b="1">
                <a:solidFill>
                  <a:srgbClr val="0E2841"/>
                </a:solidFill>
                <a:latin typeface="Aptos Display"/>
              </a:rPr>
              <a:t> apuntan hacia adentro. El núcleo no importa nada de infraestructura.</a:t>
            </a:r>
          </a:p>
        </p:txBody>
      </p:sp>
      <p:sp>
        <p:nvSpPr>
          <p:cNvPr id="29" name="TextBox 28"/>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Arquitectura y Diseño de Software  ·  Unidad 1</a:t>
            </a:r>
          </a:p>
        </p:txBody>
      </p:sp>
      <p:sp>
        <p:nvSpPr>
          <p:cNvPr id="30" name="TextBox 29"/>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30 / 39</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1 · FUNDAMENTOS · ESP. INGENIERÍA DE SOFTWARE</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Onion: la misma regla, dibujada como anillos</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858060"/>
            <a:ext cx="11064240" cy="857780"/>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931212"/>
            <a:ext cx="63500" cy="711476"/>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1858060"/>
            <a:ext cx="11064240" cy="857780"/>
          </a:xfrm>
          <a:prstGeom prst="rect">
            <a:avLst/>
          </a:prstGeom>
          <a:noFill/>
        </p:spPr>
        <p:txBody>
          <a:bodyPr wrap="square" anchor="ctr" lIns="0" rIns="0" tIns="0" bIns="0">
            <a:spAutoFit/>
          </a:bodyPr>
          <a:lstStyle/>
          <a:p>
            <a:pPr algn="ctr"/>
            <a:r>
              <a:rPr sz="1958" b="1">
                <a:solidFill>
                  <a:srgbClr val="0E2841"/>
                </a:solidFill>
                <a:latin typeface="Aptos Display"/>
              </a:rPr>
              <a:t>Infraestructura / UI / Persistencia  ·  Concreto, reemplazable</a:t>
            </a:r>
          </a:p>
        </p:txBody>
      </p:sp>
      <p:sp>
        <p:nvSpPr>
          <p:cNvPr id="10" name="Rounded Rectangle 9"/>
          <p:cNvSpPr/>
          <p:nvPr/>
        </p:nvSpPr>
        <p:spPr>
          <a:xfrm>
            <a:off x="1069848" y="2904134"/>
            <a:ext cx="10058400" cy="857780"/>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69848" y="2977286"/>
            <a:ext cx="63500" cy="711476"/>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69848" y="2904134"/>
            <a:ext cx="10058400" cy="857780"/>
          </a:xfrm>
          <a:prstGeom prst="rect">
            <a:avLst/>
          </a:prstGeom>
          <a:noFill/>
        </p:spPr>
        <p:txBody>
          <a:bodyPr wrap="square" anchor="ctr" lIns="0" rIns="0" tIns="0" bIns="0">
            <a:spAutoFit/>
          </a:bodyPr>
          <a:lstStyle/>
          <a:p>
            <a:pPr algn="ctr"/>
            <a:r>
              <a:rPr sz="1958" b="1">
                <a:solidFill>
                  <a:srgbClr val="0E2841"/>
                </a:solidFill>
                <a:latin typeface="Aptos Display"/>
              </a:rPr>
              <a:t>Servicios de aplicación  ·  Los casos de uso</a:t>
            </a:r>
          </a:p>
        </p:txBody>
      </p:sp>
      <p:sp>
        <p:nvSpPr>
          <p:cNvPr id="13" name="Rounded Rectangle 12"/>
          <p:cNvSpPr/>
          <p:nvPr/>
        </p:nvSpPr>
        <p:spPr>
          <a:xfrm>
            <a:off x="1572768" y="3950208"/>
            <a:ext cx="9052560" cy="857780"/>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572768" y="4023360"/>
            <a:ext cx="63500" cy="711476"/>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572768" y="3950208"/>
            <a:ext cx="9052560" cy="857780"/>
          </a:xfrm>
          <a:prstGeom prst="rect">
            <a:avLst/>
          </a:prstGeom>
          <a:noFill/>
        </p:spPr>
        <p:txBody>
          <a:bodyPr wrap="square" anchor="ctr" lIns="0" rIns="0" tIns="0" bIns="0">
            <a:spAutoFit/>
          </a:bodyPr>
          <a:lstStyle/>
          <a:p>
            <a:pPr algn="ctr"/>
            <a:r>
              <a:rPr sz="1958" b="1">
                <a:solidFill>
                  <a:srgbClr val="0E2841"/>
                </a:solidFill>
                <a:latin typeface="Aptos Display"/>
              </a:rPr>
              <a:t>Servicios de dominio  ·  Reglas que cruzan entidades</a:t>
            </a:r>
          </a:p>
        </p:txBody>
      </p:sp>
      <p:sp>
        <p:nvSpPr>
          <p:cNvPr id="16" name="Rounded Rectangle 15"/>
          <p:cNvSpPr/>
          <p:nvPr/>
        </p:nvSpPr>
        <p:spPr>
          <a:xfrm>
            <a:off x="2075688" y="4996281"/>
            <a:ext cx="8046720" cy="857780"/>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075688" y="5069433"/>
            <a:ext cx="63500" cy="711476"/>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075688" y="4996281"/>
            <a:ext cx="8046720" cy="857780"/>
          </a:xfrm>
          <a:prstGeom prst="rect">
            <a:avLst/>
          </a:prstGeom>
          <a:noFill/>
        </p:spPr>
        <p:txBody>
          <a:bodyPr wrap="square" anchor="ctr" lIns="0" rIns="0" tIns="0" bIns="0">
            <a:spAutoFit/>
          </a:bodyPr>
          <a:lstStyle/>
          <a:p>
            <a:pPr algn="ctr"/>
            <a:r>
              <a:rPr sz="1958" b="1">
                <a:solidFill>
                  <a:srgbClr val="0E2841"/>
                </a:solidFill>
                <a:latin typeface="Aptos Display"/>
              </a:rPr>
              <a:t>Entidades  ·  El corazón. Nada depende hacia afuera</a:t>
            </a:r>
          </a:p>
        </p:txBody>
      </p:sp>
      <p:sp>
        <p:nvSpPr>
          <p:cNvPr id="19" name="TextBox 18"/>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Arquitectura y Diseño de Software  ·  Unidad 1</a:t>
            </a:r>
          </a:p>
        </p:txBody>
      </p:sp>
      <p:sp>
        <p:nvSpPr>
          <p:cNvPr id="20" name="TextBox 19"/>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31 / 39</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1 · FUNDAMENTOS · ESP. INGENIERÍA DE SOFTWARE</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CQRS: separar lo que escribe de lo que lee</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572768"/>
            <a:ext cx="5367528" cy="3104692"/>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 Same Side Corner Rectangle 7"/>
          <p:cNvSpPr/>
          <p:nvPr/>
        </p:nvSpPr>
        <p:spPr>
          <a:xfrm>
            <a:off x="566928" y="1572768"/>
            <a:ext cx="5367528" cy="566928"/>
          </a:xfrm>
          <a:prstGeom prst="round2SameRect">
            <a:avLst>
              <a:gd name="adj1" fmla="val 14000"/>
              <a:gd name="adj2" fmla="val 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1572768"/>
            <a:ext cx="5001768" cy="566928"/>
          </a:xfrm>
          <a:prstGeom prst="rect">
            <a:avLst/>
          </a:prstGeom>
          <a:noFill/>
        </p:spPr>
        <p:txBody>
          <a:bodyPr wrap="square" anchor="ctr" lIns="0" rIns="0" tIns="0" bIns="0">
            <a:spAutoFit/>
          </a:bodyPr>
          <a:lstStyle/>
          <a:p>
            <a:pPr algn="l"/>
            <a:r>
              <a:rPr sz="1915" b="1">
                <a:solidFill>
                  <a:srgbClr val="FFFFFF"/>
                </a:solidFill>
                <a:latin typeface="Aptos Display"/>
              </a:rPr>
              <a:t>Comandos</a:t>
            </a:r>
          </a:p>
        </p:txBody>
      </p:sp>
      <p:sp>
        <p:nvSpPr>
          <p:cNvPr id="10" name="Oval 9"/>
          <p:cNvSpPr/>
          <p:nvPr/>
        </p:nvSpPr>
        <p:spPr>
          <a:xfrm>
            <a:off x="786384" y="2832506"/>
            <a:ext cx="91440" cy="9144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24128" y="2576474"/>
            <a:ext cx="4709160" cy="603504"/>
          </a:xfrm>
          <a:prstGeom prst="rect">
            <a:avLst/>
          </a:prstGeom>
          <a:noFill/>
        </p:spPr>
        <p:txBody>
          <a:bodyPr wrap="square" anchor="ctr" lIns="0" rIns="0" tIns="0" bIns="0">
            <a:spAutoFit/>
          </a:bodyPr>
          <a:lstStyle/>
          <a:p>
            <a:pPr algn="l"/>
            <a:r>
              <a:rPr sz="1577" b="0">
                <a:solidFill>
                  <a:srgbClr val="33475B"/>
                </a:solidFill>
                <a:latin typeface="Aptos"/>
              </a:rPr>
              <a:t>Cambian el estado</a:t>
            </a:r>
          </a:p>
        </p:txBody>
      </p:sp>
      <p:sp>
        <p:nvSpPr>
          <p:cNvPr id="12" name="Oval 11"/>
          <p:cNvSpPr/>
          <p:nvPr/>
        </p:nvSpPr>
        <p:spPr>
          <a:xfrm>
            <a:off x="786384" y="3436010"/>
            <a:ext cx="91440" cy="9144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24128" y="3179978"/>
            <a:ext cx="4709160" cy="603504"/>
          </a:xfrm>
          <a:prstGeom prst="rect">
            <a:avLst/>
          </a:prstGeom>
          <a:noFill/>
        </p:spPr>
        <p:txBody>
          <a:bodyPr wrap="square" anchor="ctr" lIns="0" rIns="0" tIns="0" bIns="0">
            <a:spAutoFit/>
          </a:bodyPr>
          <a:lstStyle/>
          <a:p>
            <a:pPr algn="l"/>
            <a:r>
              <a:rPr sz="1577" b="0">
                <a:solidFill>
                  <a:srgbClr val="33475B"/>
                </a:solidFill>
                <a:latin typeface="Aptos"/>
              </a:rPr>
              <a:t>Modelo rico, con invariantes</a:t>
            </a:r>
          </a:p>
        </p:txBody>
      </p:sp>
      <p:sp>
        <p:nvSpPr>
          <p:cNvPr id="14" name="Oval 13"/>
          <p:cNvSpPr/>
          <p:nvPr/>
        </p:nvSpPr>
        <p:spPr>
          <a:xfrm>
            <a:off x="786384" y="4039514"/>
            <a:ext cx="91440" cy="9144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24128" y="3783482"/>
            <a:ext cx="4709160" cy="603504"/>
          </a:xfrm>
          <a:prstGeom prst="rect">
            <a:avLst/>
          </a:prstGeom>
          <a:noFill/>
        </p:spPr>
        <p:txBody>
          <a:bodyPr wrap="square" anchor="ctr" lIns="0" rIns="0" tIns="0" bIns="0">
            <a:spAutoFit/>
          </a:bodyPr>
          <a:lstStyle/>
          <a:p>
            <a:pPr algn="l"/>
            <a:r>
              <a:rPr sz="1577" b="0">
                <a:solidFill>
                  <a:srgbClr val="33475B"/>
                </a:solidFill>
                <a:latin typeface="Aptos"/>
              </a:rPr>
              <a:t>Se optimiza para consistencia y auditoría</a:t>
            </a:r>
          </a:p>
        </p:txBody>
      </p:sp>
      <p:sp>
        <p:nvSpPr>
          <p:cNvPr id="16" name="Rounded Rectangle 15"/>
          <p:cNvSpPr/>
          <p:nvPr/>
        </p:nvSpPr>
        <p:spPr>
          <a:xfrm>
            <a:off x="6263640" y="1572768"/>
            <a:ext cx="5367528" cy="3104692"/>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 Same Side Corner Rectangle 16"/>
          <p:cNvSpPr/>
          <p:nvPr/>
        </p:nvSpPr>
        <p:spPr>
          <a:xfrm>
            <a:off x="6263640" y="1572768"/>
            <a:ext cx="5367528" cy="566928"/>
          </a:xfrm>
          <a:prstGeom prst="round2SameRect">
            <a:avLst>
              <a:gd name="adj1" fmla="val 14000"/>
              <a:gd name="adj2" fmla="val 0"/>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46520" y="1572768"/>
            <a:ext cx="5001768" cy="566928"/>
          </a:xfrm>
          <a:prstGeom prst="rect">
            <a:avLst/>
          </a:prstGeom>
          <a:noFill/>
        </p:spPr>
        <p:txBody>
          <a:bodyPr wrap="square" anchor="ctr" lIns="0" rIns="0" tIns="0" bIns="0">
            <a:spAutoFit/>
          </a:bodyPr>
          <a:lstStyle/>
          <a:p>
            <a:pPr algn="l"/>
            <a:r>
              <a:rPr sz="1915" b="1">
                <a:solidFill>
                  <a:srgbClr val="FFFFFF"/>
                </a:solidFill>
                <a:latin typeface="Aptos Display"/>
              </a:rPr>
              <a:t>Consultas</a:t>
            </a:r>
          </a:p>
        </p:txBody>
      </p:sp>
      <p:sp>
        <p:nvSpPr>
          <p:cNvPr id="19" name="Oval 18"/>
          <p:cNvSpPr/>
          <p:nvPr/>
        </p:nvSpPr>
        <p:spPr>
          <a:xfrm>
            <a:off x="6483096" y="2832506"/>
            <a:ext cx="91440" cy="91440"/>
          </a:xfrm>
          <a:prstGeom prst="ellipse">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20840" y="2576474"/>
            <a:ext cx="4709160" cy="603504"/>
          </a:xfrm>
          <a:prstGeom prst="rect">
            <a:avLst/>
          </a:prstGeom>
          <a:noFill/>
        </p:spPr>
        <p:txBody>
          <a:bodyPr wrap="square" anchor="ctr" lIns="0" rIns="0" tIns="0" bIns="0">
            <a:spAutoFit/>
          </a:bodyPr>
          <a:lstStyle/>
          <a:p>
            <a:pPr algn="l"/>
            <a:r>
              <a:rPr sz="1577" b="0">
                <a:solidFill>
                  <a:srgbClr val="33475B"/>
                </a:solidFill>
                <a:latin typeface="Aptos"/>
              </a:rPr>
              <a:t>No cambian nada</a:t>
            </a:r>
          </a:p>
        </p:txBody>
      </p:sp>
      <p:sp>
        <p:nvSpPr>
          <p:cNvPr id="21" name="Oval 20"/>
          <p:cNvSpPr/>
          <p:nvPr/>
        </p:nvSpPr>
        <p:spPr>
          <a:xfrm>
            <a:off x="6483096" y="3436010"/>
            <a:ext cx="91440" cy="91440"/>
          </a:xfrm>
          <a:prstGeom prst="ellipse">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720840" y="3179978"/>
            <a:ext cx="4709160" cy="603504"/>
          </a:xfrm>
          <a:prstGeom prst="rect">
            <a:avLst/>
          </a:prstGeom>
          <a:noFill/>
        </p:spPr>
        <p:txBody>
          <a:bodyPr wrap="square" anchor="ctr" lIns="0" rIns="0" tIns="0" bIns="0">
            <a:spAutoFit/>
          </a:bodyPr>
          <a:lstStyle/>
          <a:p>
            <a:pPr algn="l"/>
            <a:r>
              <a:rPr sz="1577" b="0">
                <a:solidFill>
                  <a:srgbClr val="33475B"/>
                </a:solidFill>
                <a:latin typeface="Aptos"/>
              </a:rPr>
              <a:t>Modelo plano, a la medida de la pantalla</a:t>
            </a:r>
          </a:p>
        </p:txBody>
      </p:sp>
      <p:sp>
        <p:nvSpPr>
          <p:cNvPr id="23" name="Oval 22"/>
          <p:cNvSpPr/>
          <p:nvPr/>
        </p:nvSpPr>
        <p:spPr>
          <a:xfrm>
            <a:off x="6483096" y="4039514"/>
            <a:ext cx="91440" cy="91440"/>
          </a:xfrm>
          <a:prstGeom prst="ellipse">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20840" y="3783482"/>
            <a:ext cx="4709160" cy="603504"/>
          </a:xfrm>
          <a:prstGeom prst="rect">
            <a:avLst/>
          </a:prstGeom>
          <a:noFill/>
        </p:spPr>
        <p:txBody>
          <a:bodyPr wrap="square" anchor="ctr" lIns="0" rIns="0" tIns="0" bIns="0">
            <a:spAutoFit/>
          </a:bodyPr>
          <a:lstStyle/>
          <a:p>
            <a:pPr algn="l"/>
            <a:r>
              <a:rPr sz="1577" b="0">
                <a:solidFill>
                  <a:srgbClr val="33475B"/>
                </a:solidFill>
                <a:latin typeface="Aptos"/>
              </a:rPr>
              <a:t>Se optimiza para latencia y volumen</a:t>
            </a:r>
          </a:p>
        </p:txBody>
      </p:sp>
      <p:sp>
        <p:nvSpPr>
          <p:cNvPr id="25" name="Rounded Rectangle 24"/>
          <p:cNvSpPr/>
          <p:nvPr/>
        </p:nvSpPr>
        <p:spPr>
          <a:xfrm>
            <a:off x="566928" y="4878628"/>
            <a:ext cx="11064240" cy="1449019"/>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66928" y="4933492"/>
            <a:ext cx="63500" cy="1339291"/>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4878628"/>
            <a:ext cx="10378440" cy="1449019"/>
          </a:xfrm>
          <a:prstGeom prst="rect">
            <a:avLst/>
          </a:prstGeom>
          <a:noFill/>
        </p:spPr>
        <p:txBody>
          <a:bodyPr wrap="square" anchor="ctr" lIns="0" rIns="0" tIns="0" bIns="0">
            <a:spAutoFit/>
          </a:bodyPr>
          <a:lstStyle/>
          <a:p>
            <a:pPr algn="l">
              <a:lnSpc>
                <a:spcPct val="125000"/>
              </a:lnSpc>
            </a:pPr>
            <a:r>
              <a:rPr sz="2479" b="1">
                <a:solidFill>
                  <a:srgbClr val="0E2841"/>
                </a:solidFill>
                <a:latin typeface="Aptos Display"/>
              </a:rPr>
              <a:t>No obliga a dos bases de datos ni a Event Sourcing: se puede aplicar separando solo los modelos.</a:t>
            </a:r>
          </a:p>
        </p:txBody>
      </p:sp>
      <p:sp>
        <p:nvSpPr>
          <p:cNvPr id="28" name="TextBox 27"/>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Arquitectura y Diseño de Software  ·  Unidad 1</a:t>
            </a:r>
          </a:p>
        </p:txBody>
      </p:sp>
      <p:sp>
        <p:nvSpPr>
          <p:cNvPr id="29" name="TextBox 28"/>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32 / 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1 · FUNDAMENTOS · ESP. INGENIERÍA DE SOFTWARE</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Cuándo usar cada uno, y cuándo no</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graphicFrame>
        <p:nvGraphicFramePr>
          <p:cNvPr id="7" name="Table 6"/>
          <p:cNvGraphicFramePr>
            <a:graphicFrameLocks noGrp="1"/>
          </p:cNvGraphicFramePr>
          <p:nvPr/>
        </p:nvGraphicFramePr>
        <p:xfrm>
          <a:off x="566928" y="1762963"/>
          <a:ext cx="11064240" cy="4374488"/>
        </p:xfrm>
        <a:graphic>
          <a:graphicData uri="http://schemas.openxmlformats.org/drawingml/2006/table">
            <a:tbl>
              <a:tblPr firstRow="1">
                <a:tableStyleId>{5C22544A-7EE6-4342-B048-85BDC9FD1C3A}</a:tableStyleId>
              </a:tblPr>
              <a:tblGrid>
                <a:gridCol w="3688080"/>
                <a:gridCol w="3688080"/>
                <a:gridCol w="3688080"/>
              </a:tblGrid>
              <a:tr h="1093622">
                <a:tc>
                  <a:txBody>
                    <a:bodyPr wrap="square"/>
                    <a:lstStyle/>
                    <a:p>
                      <a:r>
                        <a:rPr sz="1725" b="1">
                          <a:solidFill>
                            <a:srgbClr val="FFFFFF"/>
                          </a:solidFill>
                          <a:latin typeface="Aptos"/>
                        </a:rPr>
                        <a:t>Estilo</a:t>
                      </a:r>
                    </a:p>
                  </a:txBody>
                  <a:tcPr anchor="ctr" marL="146304" marR="146304">
                    <a:solidFill>
                      <a:srgbClr val="156082"/>
                    </a:solidFill>
                  </a:tcPr>
                </a:tc>
                <a:tc>
                  <a:txBody>
                    <a:bodyPr wrap="square"/>
                    <a:lstStyle/>
                    <a:p>
                      <a:r>
                        <a:rPr sz="1725" b="1">
                          <a:solidFill>
                            <a:srgbClr val="FFFFFF"/>
                          </a:solidFill>
                          <a:latin typeface="Aptos"/>
                        </a:rPr>
                        <a:t>Úsalo cuando</a:t>
                      </a:r>
                    </a:p>
                  </a:txBody>
                  <a:tcPr anchor="ctr" marL="146304" marR="146304">
                    <a:solidFill>
                      <a:srgbClr val="156082"/>
                    </a:solidFill>
                  </a:tcPr>
                </a:tc>
                <a:tc>
                  <a:txBody>
                    <a:bodyPr wrap="square"/>
                    <a:lstStyle/>
                    <a:p>
                      <a:r>
                        <a:rPr sz="1725" b="1">
                          <a:solidFill>
                            <a:srgbClr val="FFFFFF"/>
                          </a:solidFill>
                          <a:latin typeface="Aptos"/>
                        </a:rPr>
                        <a:t>Evítalo cuando</a:t>
                      </a:r>
                    </a:p>
                  </a:txBody>
                  <a:tcPr anchor="ctr" marL="146304" marR="146304">
                    <a:solidFill>
                      <a:srgbClr val="156082"/>
                    </a:solidFill>
                  </a:tcPr>
                </a:tc>
              </a:tr>
              <a:tr h="1093622">
                <a:tc>
                  <a:txBody>
                    <a:bodyPr wrap="square"/>
                    <a:lstStyle/>
                    <a:p>
                      <a:r>
                        <a:rPr sz="1609" b="1">
                          <a:solidFill>
                            <a:srgbClr val="33475B"/>
                          </a:solidFill>
                          <a:latin typeface="Aptos"/>
                        </a:rPr>
                        <a:t>Hexagonal</a:t>
                      </a:r>
                    </a:p>
                  </a:txBody>
                  <a:tcPr anchor="ctr" marL="146304" marR="146304">
                    <a:solidFill>
                      <a:srgbClr val="FFFFFF"/>
                    </a:solidFill>
                  </a:tcPr>
                </a:tc>
                <a:tc>
                  <a:txBody>
                    <a:bodyPr wrap="square"/>
                    <a:lstStyle/>
                    <a:p>
                      <a:r>
                        <a:rPr sz="1609" b="0">
                          <a:solidFill>
                            <a:srgbClr val="33475B"/>
                          </a:solidFill>
                          <a:latin typeface="Aptos"/>
                        </a:rPr>
                        <a:t>Hay muchas integraciones y quieres testear sin ellas</a:t>
                      </a:r>
                    </a:p>
                  </a:txBody>
                  <a:tcPr anchor="ctr" marL="146304" marR="146304">
                    <a:solidFill>
                      <a:srgbClr val="FFFFFF"/>
                    </a:solidFill>
                  </a:tcPr>
                </a:tc>
                <a:tc>
                  <a:txBody>
                    <a:bodyPr wrap="square"/>
                    <a:lstStyle/>
                    <a:p>
                      <a:r>
                        <a:rPr sz="1609" b="0">
                          <a:solidFill>
                            <a:srgbClr val="33475B"/>
                          </a:solidFill>
                          <a:latin typeface="Aptos"/>
                        </a:rPr>
                        <a:t>El sistema es un CRUD delgado sin reglas propias</a:t>
                      </a:r>
                    </a:p>
                  </a:txBody>
                  <a:tcPr anchor="ctr" marL="146304" marR="146304">
                    <a:solidFill>
                      <a:srgbClr val="FFFFFF"/>
                    </a:solidFill>
                  </a:tcPr>
                </a:tc>
              </a:tr>
              <a:tr h="1093622">
                <a:tc>
                  <a:txBody>
                    <a:bodyPr wrap="square"/>
                    <a:lstStyle/>
                    <a:p>
                      <a:r>
                        <a:rPr sz="1609" b="1">
                          <a:solidFill>
                            <a:srgbClr val="33475B"/>
                          </a:solidFill>
                          <a:latin typeface="Aptos"/>
                        </a:rPr>
                        <a:t>Onion</a:t>
                      </a:r>
                    </a:p>
                  </a:txBody>
                  <a:tcPr anchor="ctr" marL="146304" marR="146304">
                    <a:solidFill>
                      <a:srgbClr val="F4F7FA"/>
                    </a:solidFill>
                  </a:tcPr>
                </a:tc>
                <a:tc>
                  <a:txBody>
                    <a:bodyPr wrap="square"/>
                    <a:lstStyle/>
                    <a:p>
                      <a:r>
                        <a:rPr sz="1609" b="0">
                          <a:solidFill>
                            <a:srgbClr val="33475B"/>
                          </a:solidFill>
                          <a:latin typeface="Aptos"/>
                        </a:rPr>
                        <a:t>El dominio es rico y hay invariantes que proteger</a:t>
                      </a:r>
                    </a:p>
                  </a:txBody>
                  <a:tcPr anchor="ctr" marL="146304" marR="146304">
                    <a:solidFill>
                      <a:srgbClr val="F4F7FA"/>
                    </a:solidFill>
                  </a:tcPr>
                </a:tc>
                <a:tc>
                  <a:txBody>
                    <a:bodyPr wrap="square"/>
                    <a:lstStyle/>
                    <a:p>
                      <a:r>
                        <a:rPr sz="1609" b="0">
                          <a:solidFill>
                            <a:srgbClr val="33475B"/>
                          </a:solidFill>
                          <a:latin typeface="Aptos"/>
                        </a:rPr>
                        <a:t>La lógica vive en la base de datos y así seguirá</a:t>
                      </a:r>
                    </a:p>
                  </a:txBody>
                  <a:tcPr anchor="ctr" marL="146304" marR="146304">
                    <a:solidFill>
                      <a:srgbClr val="F4F7FA"/>
                    </a:solidFill>
                  </a:tcPr>
                </a:tc>
              </a:tr>
              <a:tr h="1093622">
                <a:tc>
                  <a:txBody>
                    <a:bodyPr wrap="square"/>
                    <a:lstStyle/>
                    <a:p>
                      <a:r>
                        <a:rPr sz="1609" b="1">
                          <a:solidFill>
                            <a:srgbClr val="33475B"/>
                          </a:solidFill>
                          <a:latin typeface="Aptos"/>
                        </a:rPr>
                        <a:t>CQRS</a:t>
                      </a:r>
                    </a:p>
                  </a:txBody>
                  <a:tcPr anchor="ctr" marL="146304" marR="146304">
                    <a:solidFill>
                      <a:srgbClr val="FFFFFF"/>
                    </a:solidFill>
                  </a:tcPr>
                </a:tc>
                <a:tc>
                  <a:txBody>
                    <a:bodyPr wrap="square"/>
                    <a:lstStyle/>
                    <a:p>
                      <a:r>
                        <a:rPr sz="1609" b="0">
                          <a:solidFill>
                            <a:srgbClr val="33475B"/>
                          </a:solidFill>
                          <a:latin typeface="Aptos"/>
                        </a:rPr>
                        <a:t>Las lecturas son masivas y golpean a las escrituras</a:t>
                      </a:r>
                    </a:p>
                  </a:txBody>
                  <a:tcPr anchor="ctr" marL="146304" marR="146304">
                    <a:solidFill>
                      <a:srgbClr val="FFFFFF"/>
                    </a:solidFill>
                  </a:tcPr>
                </a:tc>
                <a:tc>
                  <a:txBody>
                    <a:bodyPr wrap="square"/>
                    <a:lstStyle/>
                    <a:p>
                      <a:r>
                        <a:rPr sz="1609" b="0">
                          <a:solidFill>
                            <a:srgbClr val="33475B"/>
                          </a:solidFill>
                          <a:latin typeface="Aptos"/>
                        </a:rPr>
                        <a:t>Lecturas y escrituras tienen cargas parecidas</a:t>
                      </a:r>
                    </a:p>
                  </a:txBody>
                  <a:tcPr anchor="ctr" marL="146304" marR="146304">
                    <a:solidFill>
                      <a:srgbClr val="FFFFFF"/>
                    </a:solidFill>
                  </a:tcPr>
                </a:tc>
              </a:tr>
            </a:tbl>
          </a:graphicData>
        </a:graphic>
      </p:graphicFrame>
      <p:sp>
        <p:nvSpPr>
          <p:cNvPr id="8" name="TextBox 7"/>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Arquitectura y Diseño de Software  ·  Unidad 1</a:t>
            </a:r>
          </a:p>
        </p:txBody>
      </p:sp>
      <p:sp>
        <p:nvSpPr>
          <p:cNvPr id="9" name="TextBox 8"/>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33 / 39</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009540"/>
                </a:solidFill>
                <a:latin typeface="Aptos"/>
              </a:rPr>
              <a:t>PREGUNTA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2500" b="1">
                <a:solidFill>
                  <a:srgbClr val="0E2841"/>
                </a:solidFill>
                <a:latin typeface="Aptos Display"/>
              </a:rPr>
              <a:t>En arquitectura Hexagonal, ¿hacia dónde apuntan las dependencias?</a:t>
            </a:r>
          </a:p>
        </p:txBody>
      </p:sp>
      <p:sp>
        <p:nvSpPr>
          <p:cNvPr id="5" name="Rectangle 4"/>
          <p:cNvSpPr/>
          <p:nvPr/>
        </p:nvSpPr>
        <p:spPr>
          <a:xfrm>
            <a:off x="566928" y="1389888"/>
            <a:ext cx="1371600"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810511"/>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86384" y="2049535"/>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 y="2049535"/>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A</a:t>
            </a:r>
          </a:p>
        </p:txBody>
      </p:sp>
      <p:sp>
        <p:nvSpPr>
          <p:cNvPr id="10" name="TextBox 9"/>
          <p:cNvSpPr txBox="1"/>
          <p:nvPr/>
        </p:nvSpPr>
        <p:spPr>
          <a:xfrm>
            <a:off x="1408176" y="1810511"/>
            <a:ext cx="9966960" cy="898672"/>
          </a:xfrm>
          <a:prstGeom prst="rect">
            <a:avLst/>
          </a:prstGeom>
          <a:noFill/>
        </p:spPr>
        <p:txBody>
          <a:bodyPr wrap="square" anchor="ctr" lIns="0" rIns="0" tIns="0" bIns="0">
            <a:spAutoFit/>
          </a:bodyPr>
          <a:lstStyle/>
          <a:p>
            <a:pPr algn="l"/>
            <a:r>
              <a:rPr sz="2100" b="0">
                <a:solidFill>
                  <a:srgbClr val="0E2841"/>
                </a:solidFill>
                <a:latin typeface="Aptos"/>
              </a:rPr>
              <a:t>Del núcleo hacia los adaptadores de infraestructura</a:t>
            </a:r>
          </a:p>
        </p:txBody>
      </p:sp>
      <p:sp>
        <p:nvSpPr>
          <p:cNvPr id="11" name="Rounded Rectangle 10"/>
          <p:cNvSpPr/>
          <p:nvPr/>
        </p:nvSpPr>
        <p:spPr>
          <a:xfrm>
            <a:off x="566928" y="2880360"/>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86384" y="3119384"/>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 y="3119384"/>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B</a:t>
            </a:r>
          </a:p>
        </p:txBody>
      </p:sp>
      <p:sp>
        <p:nvSpPr>
          <p:cNvPr id="14" name="TextBox 13"/>
          <p:cNvSpPr txBox="1"/>
          <p:nvPr/>
        </p:nvSpPr>
        <p:spPr>
          <a:xfrm>
            <a:off x="1408176" y="2880360"/>
            <a:ext cx="9966960" cy="898672"/>
          </a:xfrm>
          <a:prstGeom prst="rect">
            <a:avLst/>
          </a:prstGeom>
          <a:noFill/>
        </p:spPr>
        <p:txBody>
          <a:bodyPr wrap="square" anchor="ctr" lIns="0" rIns="0" tIns="0" bIns="0">
            <a:spAutoFit/>
          </a:bodyPr>
          <a:lstStyle/>
          <a:p>
            <a:pPr algn="l"/>
            <a:r>
              <a:rPr sz="2100" b="0">
                <a:solidFill>
                  <a:srgbClr val="0E2841"/>
                </a:solidFill>
                <a:latin typeface="Aptos"/>
              </a:rPr>
              <a:t>De los adaptadores hacia el núcleo de la aplicación</a:t>
            </a:r>
          </a:p>
        </p:txBody>
      </p:sp>
      <p:sp>
        <p:nvSpPr>
          <p:cNvPr id="15" name="Rounded Rectangle 14"/>
          <p:cNvSpPr/>
          <p:nvPr/>
        </p:nvSpPr>
        <p:spPr>
          <a:xfrm>
            <a:off x="566928" y="3950208"/>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86384" y="4189232"/>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4189232"/>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C</a:t>
            </a:r>
          </a:p>
        </p:txBody>
      </p:sp>
      <p:sp>
        <p:nvSpPr>
          <p:cNvPr id="18" name="TextBox 17"/>
          <p:cNvSpPr txBox="1"/>
          <p:nvPr/>
        </p:nvSpPr>
        <p:spPr>
          <a:xfrm>
            <a:off x="1408176" y="3950208"/>
            <a:ext cx="9966960" cy="898672"/>
          </a:xfrm>
          <a:prstGeom prst="rect">
            <a:avLst/>
          </a:prstGeom>
          <a:noFill/>
        </p:spPr>
        <p:txBody>
          <a:bodyPr wrap="square" anchor="ctr" lIns="0" rIns="0" tIns="0" bIns="0">
            <a:spAutoFit/>
          </a:bodyPr>
          <a:lstStyle/>
          <a:p>
            <a:pPr algn="l"/>
            <a:r>
              <a:rPr sz="2100" b="0">
                <a:solidFill>
                  <a:srgbClr val="0E2841"/>
                </a:solidFill>
                <a:latin typeface="Aptos"/>
              </a:rPr>
              <a:t>En ambos sentidos, según convenga a cada caso de uso</a:t>
            </a:r>
          </a:p>
        </p:txBody>
      </p:sp>
      <p:sp>
        <p:nvSpPr>
          <p:cNvPr id="19" name="Rounded Rectangle 18"/>
          <p:cNvSpPr/>
          <p:nvPr/>
        </p:nvSpPr>
        <p:spPr>
          <a:xfrm>
            <a:off x="566928" y="5020056"/>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86384" y="5259080"/>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86384" y="5259080"/>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D</a:t>
            </a:r>
          </a:p>
        </p:txBody>
      </p:sp>
      <p:sp>
        <p:nvSpPr>
          <p:cNvPr id="22" name="TextBox 21"/>
          <p:cNvSpPr txBox="1"/>
          <p:nvPr/>
        </p:nvSpPr>
        <p:spPr>
          <a:xfrm>
            <a:off x="1408176" y="5020056"/>
            <a:ext cx="9966960" cy="898672"/>
          </a:xfrm>
          <a:prstGeom prst="rect">
            <a:avLst/>
          </a:prstGeom>
          <a:noFill/>
        </p:spPr>
        <p:txBody>
          <a:bodyPr wrap="square" anchor="ctr" lIns="0" rIns="0" tIns="0" bIns="0">
            <a:spAutoFit/>
          </a:bodyPr>
          <a:lstStyle/>
          <a:p>
            <a:pPr algn="l"/>
            <a:r>
              <a:rPr sz="2100" b="0">
                <a:solidFill>
                  <a:srgbClr val="0E2841"/>
                </a:solidFill>
                <a:latin typeface="Aptos"/>
              </a:rPr>
              <a:t>Desde la base de datos hacia los puertos de entrada</a:t>
            </a:r>
          </a:p>
        </p:txBody>
      </p:sp>
      <p:sp>
        <p:nvSpPr>
          <p:cNvPr id="23" name="TextBox 22"/>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Arquitectura y Diseño de Software  ·  Unidad 1</a:t>
            </a:r>
          </a:p>
        </p:txBody>
      </p:sp>
      <p:sp>
        <p:nvSpPr>
          <p:cNvPr id="24" name="TextBox 23"/>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34 / 39</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009540"/>
                </a:solidFill>
                <a:latin typeface="Aptos"/>
              </a:rPr>
              <a:t>PREGUNTA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¿Cuál de estas afirmaciones sobre CQRS es correcta?</a:t>
            </a:r>
          </a:p>
        </p:txBody>
      </p:sp>
      <p:sp>
        <p:nvSpPr>
          <p:cNvPr id="5" name="Rectangle 4"/>
          <p:cNvSpPr/>
          <p:nvPr/>
        </p:nvSpPr>
        <p:spPr>
          <a:xfrm>
            <a:off x="566928" y="1389888"/>
            <a:ext cx="1371600"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810511"/>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86384" y="2049535"/>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 y="2049535"/>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A</a:t>
            </a:r>
          </a:p>
        </p:txBody>
      </p:sp>
      <p:sp>
        <p:nvSpPr>
          <p:cNvPr id="10" name="TextBox 9"/>
          <p:cNvSpPr txBox="1"/>
          <p:nvPr/>
        </p:nvSpPr>
        <p:spPr>
          <a:xfrm>
            <a:off x="1408176" y="1810511"/>
            <a:ext cx="9966960" cy="898672"/>
          </a:xfrm>
          <a:prstGeom prst="rect">
            <a:avLst/>
          </a:prstGeom>
          <a:noFill/>
        </p:spPr>
        <p:txBody>
          <a:bodyPr wrap="square" anchor="ctr" lIns="0" rIns="0" tIns="0" bIns="0">
            <a:spAutoFit/>
          </a:bodyPr>
          <a:lstStyle/>
          <a:p>
            <a:pPr algn="l"/>
            <a:r>
              <a:rPr sz="2100" b="0">
                <a:solidFill>
                  <a:srgbClr val="0E2841"/>
                </a:solidFill>
                <a:latin typeface="Aptos"/>
              </a:rPr>
              <a:t>Exige siempre dos bases de datos separadas</a:t>
            </a:r>
          </a:p>
        </p:txBody>
      </p:sp>
      <p:sp>
        <p:nvSpPr>
          <p:cNvPr id="11" name="Rounded Rectangle 10"/>
          <p:cNvSpPr/>
          <p:nvPr/>
        </p:nvSpPr>
        <p:spPr>
          <a:xfrm>
            <a:off x="566928" y="2880360"/>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86384" y="3119384"/>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 y="3119384"/>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B</a:t>
            </a:r>
          </a:p>
        </p:txBody>
      </p:sp>
      <p:sp>
        <p:nvSpPr>
          <p:cNvPr id="14" name="TextBox 13"/>
          <p:cNvSpPr txBox="1"/>
          <p:nvPr/>
        </p:nvSpPr>
        <p:spPr>
          <a:xfrm>
            <a:off x="1408176" y="2880360"/>
            <a:ext cx="9966960" cy="898672"/>
          </a:xfrm>
          <a:prstGeom prst="rect">
            <a:avLst/>
          </a:prstGeom>
          <a:noFill/>
        </p:spPr>
        <p:txBody>
          <a:bodyPr wrap="square" anchor="ctr" lIns="0" rIns="0" tIns="0" bIns="0">
            <a:spAutoFit/>
          </a:bodyPr>
          <a:lstStyle/>
          <a:p>
            <a:pPr algn="l"/>
            <a:r>
              <a:rPr sz="2100" b="0">
                <a:solidFill>
                  <a:srgbClr val="0E2841"/>
                </a:solidFill>
                <a:latin typeface="Aptos"/>
              </a:rPr>
              <a:t>Solo puede implementarse junto con Event Sourcing</a:t>
            </a:r>
          </a:p>
        </p:txBody>
      </p:sp>
      <p:sp>
        <p:nvSpPr>
          <p:cNvPr id="15" name="Rounded Rectangle 14"/>
          <p:cNvSpPr/>
          <p:nvPr/>
        </p:nvSpPr>
        <p:spPr>
          <a:xfrm>
            <a:off x="566928" y="3950208"/>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86384" y="4189232"/>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4189232"/>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C</a:t>
            </a:r>
          </a:p>
        </p:txBody>
      </p:sp>
      <p:sp>
        <p:nvSpPr>
          <p:cNvPr id="18" name="TextBox 17"/>
          <p:cNvSpPr txBox="1"/>
          <p:nvPr/>
        </p:nvSpPr>
        <p:spPr>
          <a:xfrm>
            <a:off x="1408176" y="3950208"/>
            <a:ext cx="9966960" cy="898672"/>
          </a:xfrm>
          <a:prstGeom prst="rect">
            <a:avLst/>
          </a:prstGeom>
          <a:noFill/>
        </p:spPr>
        <p:txBody>
          <a:bodyPr wrap="square" anchor="ctr" lIns="0" rIns="0" tIns="0" bIns="0">
            <a:spAutoFit/>
          </a:bodyPr>
          <a:lstStyle/>
          <a:p>
            <a:pPr algn="l"/>
            <a:r>
              <a:rPr sz="2100" b="0">
                <a:solidFill>
                  <a:srgbClr val="0E2841"/>
                </a:solidFill>
                <a:latin typeface="Aptos"/>
              </a:rPr>
              <a:t>Puede aplicarse separando únicamente los modelos de lectura y escritura</a:t>
            </a:r>
          </a:p>
        </p:txBody>
      </p:sp>
      <p:sp>
        <p:nvSpPr>
          <p:cNvPr id="19" name="Rounded Rectangle 18"/>
          <p:cNvSpPr/>
          <p:nvPr/>
        </p:nvSpPr>
        <p:spPr>
          <a:xfrm>
            <a:off x="566928" y="5020056"/>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86384" y="5259080"/>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86384" y="5259080"/>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D</a:t>
            </a:r>
          </a:p>
        </p:txBody>
      </p:sp>
      <p:sp>
        <p:nvSpPr>
          <p:cNvPr id="22" name="TextBox 21"/>
          <p:cNvSpPr txBox="1"/>
          <p:nvPr/>
        </p:nvSpPr>
        <p:spPr>
          <a:xfrm>
            <a:off x="1408176" y="5020056"/>
            <a:ext cx="9966960" cy="898672"/>
          </a:xfrm>
          <a:prstGeom prst="rect">
            <a:avLst/>
          </a:prstGeom>
          <a:noFill/>
        </p:spPr>
        <p:txBody>
          <a:bodyPr wrap="square" anchor="ctr" lIns="0" rIns="0" tIns="0" bIns="0">
            <a:spAutoFit/>
          </a:bodyPr>
          <a:lstStyle/>
          <a:p>
            <a:pPr algn="l"/>
            <a:r>
              <a:rPr sz="2100" b="0">
                <a:solidFill>
                  <a:srgbClr val="0E2841"/>
                </a:solidFill>
                <a:latin typeface="Aptos"/>
              </a:rPr>
              <a:t>Sustituye a la arquitectura hexagonal en el núcleo</a:t>
            </a:r>
          </a:p>
        </p:txBody>
      </p:sp>
      <p:sp>
        <p:nvSpPr>
          <p:cNvPr id="23" name="TextBox 22"/>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Arquitectura y Diseño de Software  ·  Unidad 1</a:t>
            </a:r>
          </a:p>
        </p:txBody>
      </p:sp>
      <p:sp>
        <p:nvSpPr>
          <p:cNvPr id="24" name="TextBox 23"/>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35 / 39</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156082"/>
        </a:solidFill>
        <a:effectLst/>
      </p:bgPr>
    </p:bg>
    <p:spTree>
      <p:nvGrpSpPr>
        <p:cNvPr id="1" name=""/>
        <p:cNvGrpSpPr/>
        <p:nvPr/>
      </p:nvGrpSpPr>
      <p:grpSpPr/>
      <p:sp>
        <p:nvSpPr>
          <p:cNvPr id="2" name="TextBox 1"/>
          <p:cNvSpPr txBox="1"/>
          <p:nvPr/>
        </p:nvSpPr>
        <p:spPr>
          <a:xfrm>
            <a:off x="0" y="960120"/>
            <a:ext cx="12191695" cy="2011680"/>
          </a:xfrm>
          <a:prstGeom prst="rect">
            <a:avLst/>
          </a:prstGeom>
          <a:noFill/>
        </p:spPr>
        <p:txBody>
          <a:bodyPr wrap="square" anchor="t" lIns="0" rIns="0" tIns="0" bIns="0">
            <a:spAutoFit/>
          </a:bodyPr>
          <a:lstStyle/>
          <a:p>
            <a:pPr algn="ctr"/>
            <a:r>
              <a:rPr sz="12800" b="1">
                <a:solidFill>
                  <a:srgbClr val="0E2841"/>
                </a:solidFill>
                <a:latin typeface="Aptos Display"/>
              </a:rPr>
              <a:t>07</a:t>
            </a:r>
          </a:p>
        </p:txBody>
      </p:sp>
      <p:sp>
        <p:nvSpPr>
          <p:cNvPr id="3" name="Rectangle 2"/>
          <p:cNvSpPr/>
          <p:nvPr/>
        </p:nvSpPr>
        <p:spPr>
          <a:xfrm>
            <a:off x="5184648" y="3127248"/>
            <a:ext cx="1828800" cy="635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429000"/>
            <a:ext cx="10698480" cy="1097280"/>
          </a:xfrm>
          <a:prstGeom prst="rect">
            <a:avLst/>
          </a:prstGeom>
          <a:noFill/>
        </p:spPr>
        <p:txBody>
          <a:bodyPr wrap="square" anchor="t" lIns="0" rIns="0" tIns="0" bIns="0">
            <a:spAutoFit/>
          </a:bodyPr>
          <a:lstStyle/>
          <a:p>
            <a:pPr algn="ctr"/>
            <a:r>
              <a:rPr sz="4000" b="1">
                <a:solidFill>
                  <a:srgbClr val="FFFFFF"/>
                </a:solidFill>
                <a:latin typeface="Aptos Display"/>
              </a:rPr>
              <a:t>7. Errores, cierre y trabajo de la unidad</a:t>
            </a:r>
          </a:p>
        </p:txBody>
      </p:sp>
      <p:pic>
        <p:nvPicPr>
          <p:cNvPr id="5" name="Picture 4" descr="Logo-Institucional-con-advertencia-Vigilado-Mineducacion-Blanco.png"/>
          <p:cNvPicPr>
            <a:picLocks noChangeAspect="1"/>
          </p:cNvPicPr>
          <p:nvPr/>
        </p:nvPicPr>
        <p:blipFill>
          <a:blip r:embed="rId2"/>
          <a:stretch>
            <a:fillRect/>
          </a:stretch>
        </p:blipFill>
        <p:spPr>
          <a:xfrm>
            <a:off x="10938117" y="5943600"/>
            <a:ext cx="750963" cy="685800"/>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1 · FUNDAMENTOS · ESP. INGENIERÍA DE SOFTWARE</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Los cinco errores que más cuestan al sustentar</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572768"/>
            <a:ext cx="11064240" cy="790041"/>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27632"/>
            <a:ext cx="63500" cy="680313"/>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572768"/>
            <a:ext cx="10378440" cy="790041"/>
          </a:xfrm>
          <a:prstGeom prst="rect">
            <a:avLst/>
          </a:prstGeom>
          <a:noFill/>
        </p:spPr>
        <p:txBody>
          <a:bodyPr wrap="square" anchor="ctr" lIns="0" rIns="0" tIns="0" bIns="0">
            <a:spAutoFit/>
          </a:bodyPr>
          <a:lstStyle/>
          <a:p>
            <a:pPr algn="l">
              <a:lnSpc>
                <a:spcPct val="125000"/>
              </a:lnSpc>
            </a:pPr>
            <a:r>
              <a:rPr sz="2210" b="1">
                <a:solidFill>
                  <a:srgbClr val="0E2841"/>
                </a:solidFill>
                <a:latin typeface="Aptos Display"/>
              </a:rPr>
              <a:t>1. Elegir microservicios por defecto</a:t>
            </a:r>
          </a:p>
        </p:txBody>
      </p:sp>
      <p:sp>
        <p:nvSpPr>
          <p:cNvPr id="10" name="Rounded Rectangle 9"/>
          <p:cNvSpPr/>
          <p:nvPr/>
        </p:nvSpPr>
        <p:spPr>
          <a:xfrm>
            <a:off x="566928" y="2563977"/>
            <a:ext cx="11064240" cy="790041"/>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2618841"/>
            <a:ext cx="63500" cy="680313"/>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2563977"/>
            <a:ext cx="10378440" cy="790041"/>
          </a:xfrm>
          <a:prstGeom prst="rect">
            <a:avLst/>
          </a:prstGeom>
          <a:noFill/>
        </p:spPr>
        <p:txBody>
          <a:bodyPr wrap="square" anchor="ctr" lIns="0" rIns="0" tIns="0" bIns="0">
            <a:spAutoFit/>
          </a:bodyPr>
          <a:lstStyle/>
          <a:p>
            <a:pPr algn="l">
              <a:lnSpc>
                <a:spcPct val="125000"/>
              </a:lnSpc>
            </a:pPr>
            <a:r>
              <a:rPr sz="2210" b="1">
                <a:solidFill>
                  <a:srgbClr val="0E2841"/>
                </a:solidFill>
                <a:latin typeface="Aptos Display"/>
              </a:rPr>
              <a:t>2. Confundir patrón arquitectónico con patrón GoF</a:t>
            </a:r>
          </a:p>
        </p:txBody>
      </p:sp>
      <p:sp>
        <p:nvSpPr>
          <p:cNvPr id="13" name="Rounded Rectangle 12"/>
          <p:cNvSpPr/>
          <p:nvPr/>
        </p:nvSpPr>
        <p:spPr>
          <a:xfrm>
            <a:off x="566928" y="3555187"/>
            <a:ext cx="11064240" cy="790041"/>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66928" y="3610051"/>
            <a:ext cx="63500" cy="680313"/>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3555187"/>
            <a:ext cx="10378440" cy="790041"/>
          </a:xfrm>
          <a:prstGeom prst="rect">
            <a:avLst/>
          </a:prstGeom>
          <a:noFill/>
        </p:spPr>
        <p:txBody>
          <a:bodyPr wrap="square" anchor="ctr" lIns="0" rIns="0" tIns="0" bIns="0">
            <a:spAutoFit/>
          </a:bodyPr>
          <a:lstStyle/>
          <a:p>
            <a:pPr algn="l">
              <a:lnSpc>
                <a:spcPct val="125000"/>
              </a:lnSpc>
            </a:pPr>
            <a:r>
              <a:rPr sz="2210" b="1">
                <a:solidFill>
                  <a:srgbClr val="0E2841"/>
                </a:solidFill>
                <a:latin typeface="Aptos Display"/>
              </a:rPr>
              <a:t>3. Presentar un solo diagrama, sin vistas</a:t>
            </a:r>
          </a:p>
        </p:txBody>
      </p:sp>
      <p:sp>
        <p:nvSpPr>
          <p:cNvPr id="16" name="Rounded Rectangle 15"/>
          <p:cNvSpPr/>
          <p:nvPr/>
        </p:nvSpPr>
        <p:spPr>
          <a:xfrm>
            <a:off x="566928" y="4546396"/>
            <a:ext cx="11064240" cy="790041"/>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66928" y="4601260"/>
            <a:ext cx="63500" cy="680313"/>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546396"/>
            <a:ext cx="10378440" cy="790041"/>
          </a:xfrm>
          <a:prstGeom prst="rect">
            <a:avLst/>
          </a:prstGeom>
          <a:noFill/>
        </p:spPr>
        <p:txBody>
          <a:bodyPr wrap="square" anchor="ctr" lIns="0" rIns="0" tIns="0" bIns="0">
            <a:spAutoFit/>
          </a:bodyPr>
          <a:lstStyle/>
          <a:p>
            <a:pPr algn="l">
              <a:lnSpc>
                <a:spcPct val="125000"/>
              </a:lnSpc>
            </a:pPr>
            <a:r>
              <a:rPr sz="2210" b="1">
                <a:solidFill>
                  <a:srgbClr val="0E2841"/>
                </a:solidFill>
                <a:latin typeface="Aptos Display"/>
              </a:rPr>
              <a:t>4. Justificar con moda en vez de con RNF</a:t>
            </a:r>
          </a:p>
        </p:txBody>
      </p:sp>
      <p:sp>
        <p:nvSpPr>
          <p:cNvPr id="19" name="Rounded Rectangle 18"/>
          <p:cNvSpPr/>
          <p:nvPr/>
        </p:nvSpPr>
        <p:spPr>
          <a:xfrm>
            <a:off x="566928" y="5537606"/>
            <a:ext cx="11064240" cy="790041"/>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66928" y="5592470"/>
            <a:ext cx="63500" cy="680313"/>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5537606"/>
            <a:ext cx="10378440" cy="790041"/>
          </a:xfrm>
          <a:prstGeom prst="rect">
            <a:avLst/>
          </a:prstGeom>
          <a:noFill/>
        </p:spPr>
        <p:txBody>
          <a:bodyPr wrap="square" anchor="ctr" lIns="0" rIns="0" tIns="0" bIns="0">
            <a:spAutoFit/>
          </a:bodyPr>
          <a:lstStyle/>
          <a:p>
            <a:pPr algn="l">
              <a:lnSpc>
                <a:spcPct val="125000"/>
              </a:lnSpc>
            </a:pPr>
            <a:r>
              <a:rPr sz="2210" b="1">
                <a:solidFill>
                  <a:srgbClr val="0E2841"/>
                </a:solidFill>
                <a:latin typeface="Aptos Display"/>
              </a:rPr>
              <a:t>5. Omitir las alternativas descartadas</a:t>
            </a:r>
          </a:p>
        </p:txBody>
      </p:sp>
      <p:sp>
        <p:nvSpPr>
          <p:cNvPr id="22" name="TextBox 21"/>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Arquitectura y Diseño de Software  ·  Unidad 1</a:t>
            </a:r>
          </a:p>
        </p:txBody>
      </p:sp>
      <p:sp>
        <p:nvSpPr>
          <p:cNvPr id="23" name="TextBox 22"/>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36 / 39</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1 · FUNDAMENTOS · ESP. INGENIERÍA DE SOFTWARE</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…y los tres que arruinan la entrega</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572768"/>
            <a:ext cx="11064240" cy="960120"/>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27632"/>
            <a:ext cx="63500" cy="850392"/>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572768"/>
            <a:ext cx="10378440" cy="960120"/>
          </a:xfrm>
          <a:prstGeom prst="rect">
            <a:avLst/>
          </a:prstGeom>
          <a:noFill/>
        </p:spPr>
        <p:txBody>
          <a:bodyPr wrap="square" anchor="ctr" lIns="0" rIns="0" tIns="0" bIns="0">
            <a:spAutoFit/>
          </a:bodyPr>
          <a:lstStyle/>
          <a:p>
            <a:pPr algn="l">
              <a:lnSpc>
                <a:spcPct val="125000"/>
              </a:lnSpc>
            </a:pPr>
            <a:r>
              <a:rPr sz="2341" b="1">
                <a:solidFill>
                  <a:srgbClr val="0E2841"/>
                </a:solidFill>
                <a:latin typeface="Aptos Display"/>
              </a:rPr>
              <a:t>6. Ignorar las restricciones del negocio</a:t>
            </a:r>
          </a:p>
        </p:txBody>
      </p:sp>
      <p:sp>
        <p:nvSpPr>
          <p:cNvPr id="10" name="Rounded Rectangle 9"/>
          <p:cNvSpPr/>
          <p:nvPr/>
        </p:nvSpPr>
        <p:spPr>
          <a:xfrm>
            <a:off x="566928" y="2734056"/>
            <a:ext cx="11064240" cy="960120"/>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2788920"/>
            <a:ext cx="63500" cy="850392"/>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2734056"/>
            <a:ext cx="10378440" cy="960120"/>
          </a:xfrm>
          <a:prstGeom prst="rect">
            <a:avLst/>
          </a:prstGeom>
          <a:noFill/>
        </p:spPr>
        <p:txBody>
          <a:bodyPr wrap="square" anchor="ctr" lIns="0" rIns="0" tIns="0" bIns="0">
            <a:spAutoFit/>
          </a:bodyPr>
          <a:lstStyle/>
          <a:p>
            <a:pPr algn="l">
              <a:lnSpc>
                <a:spcPct val="125000"/>
              </a:lnSpc>
            </a:pPr>
            <a:r>
              <a:rPr sz="2341" b="1">
                <a:solidFill>
                  <a:srgbClr val="0E2841"/>
                </a:solidFill>
                <a:latin typeface="Aptos Display"/>
              </a:rPr>
              <a:t>7. Abstracciones con fuga</a:t>
            </a:r>
          </a:p>
        </p:txBody>
      </p:sp>
      <p:sp>
        <p:nvSpPr>
          <p:cNvPr id="13" name="Rounded Rectangle 12"/>
          <p:cNvSpPr/>
          <p:nvPr/>
        </p:nvSpPr>
        <p:spPr>
          <a:xfrm>
            <a:off x="566928" y="3895344"/>
            <a:ext cx="11064240" cy="960120"/>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66928" y="3950207"/>
            <a:ext cx="63500" cy="850392"/>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3895344"/>
            <a:ext cx="10378440" cy="960120"/>
          </a:xfrm>
          <a:prstGeom prst="rect">
            <a:avLst/>
          </a:prstGeom>
          <a:noFill/>
        </p:spPr>
        <p:txBody>
          <a:bodyPr wrap="square" anchor="ctr" lIns="0" rIns="0" tIns="0" bIns="0">
            <a:spAutoFit/>
          </a:bodyPr>
          <a:lstStyle/>
          <a:p>
            <a:pPr algn="l">
              <a:lnSpc>
                <a:spcPct val="125000"/>
              </a:lnSpc>
            </a:pPr>
            <a:r>
              <a:rPr sz="2341" b="1">
                <a:solidFill>
                  <a:srgbClr val="0E2841"/>
                </a:solidFill>
                <a:latin typeface="Aptos Display"/>
              </a:rPr>
              <a:t>8. No decir qué se migra primero</a:t>
            </a:r>
          </a:p>
        </p:txBody>
      </p:sp>
      <p:sp>
        <p:nvSpPr>
          <p:cNvPr id="16" name="Rounded Rectangle 15"/>
          <p:cNvSpPr/>
          <p:nvPr/>
        </p:nvSpPr>
        <p:spPr>
          <a:xfrm>
            <a:off x="566928" y="5056631"/>
            <a:ext cx="11064240" cy="1271016"/>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66928" y="5111495"/>
            <a:ext cx="63500" cy="1161288"/>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5056631"/>
            <a:ext cx="10378440" cy="1271016"/>
          </a:xfrm>
          <a:prstGeom prst="rect">
            <a:avLst/>
          </a:prstGeom>
          <a:noFill/>
        </p:spPr>
        <p:txBody>
          <a:bodyPr wrap="square" anchor="ctr" lIns="0" rIns="0" tIns="0" bIns="0">
            <a:spAutoFit/>
          </a:bodyPr>
          <a:lstStyle/>
          <a:p>
            <a:pPr algn="l">
              <a:lnSpc>
                <a:spcPct val="125000"/>
              </a:lnSpc>
            </a:pPr>
            <a:r>
              <a:rPr sz="2341" b="1">
                <a:solidFill>
                  <a:srgbClr val="0E2841"/>
                </a:solidFill>
                <a:latin typeface="Aptos Display"/>
              </a:rPr>
              <a:t>Presupuesto limitado, dos desarrolladores y una ventana de dos horas </a:t>
            </a:r>
            <a:r>
              <a:rPr sz="2341" b="1">
                <a:solidFill>
                  <a:srgbClr val="0E2841"/>
                </a:solidFill>
                <a:latin typeface="Aptos Display"/>
              </a:rPr>
              <a:t>son parte del problema</a:t>
            </a:r>
            <a:r>
              <a:rPr sz="2341" b="1">
                <a:solidFill>
                  <a:srgbClr val="0E2841"/>
                </a:solidFill>
                <a:latin typeface="Aptos Display"/>
              </a:rPr>
              <a:t>, no ruido.</a:t>
            </a:r>
          </a:p>
        </p:txBody>
      </p:sp>
      <p:sp>
        <p:nvSpPr>
          <p:cNvPr id="19" name="TextBox 18"/>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Arquitectura y Diseño de Software  ·  Unidad 1</a:t>
            </a:r>
          </a:p>
        </p:txBody>
      </p:sp>
      <p:sp>
        <p:nvSpPr>
          <p:cNvPr id="20" name="TextBox 19"/>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37 / 39</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1 · FUNDAMENTOS · ESP. INGENIERÍA DE SOFTWARE</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2500" b="1">
                <a:solidFill>
                  <a:srgbClr val="0E2841"/>
                </a:solidFill>
                <a:latin typeface="Aptos Display"/>
              </a:rPr>
              <a:t>Del concepto al taller: qué sección alimenta qué entregable</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graphicFrame>
        <p:nvGraphicFramePr>
          <p:cNvPr id="7" name="Table 6"/>
          <p:cNvGraphicFramePr>
            <a:graphicFrameLocks noGrp="1"/>
          </p:cNvGraphicFramePr>
          <p:nvPr/>
        </p:nvGraphicFramePr>
        <p:xfrm>
          <a:off x="566928" y="1762963"/>
          <a:ext cx="11064240" cy="4374488"/>
        </p:xfrm>
        <a:graphic>
          <a:graphicData uri="http://schemas.openxmlformats.org/drawingml/2006/table">
            <a:tbl>
              <a:tblPr firstRow="1">
                <a:tableStyleId>{5C22544A-7EE6-4342-B048-85BDC9FD1C3A}</a:tableStyleId>
              </a:tblPr>
              <a:tblGrid>
                <a:gridCol w="5532120"/>
                <a:gridCol w="5532120"/>
              </a:tblGrid>
              <a:tr h="546811">
                <a:tc>
                  <a:txBody>
                    <a:bodyPr wrap="square"/>
                    <a:lstStyle/>
                    <a:p>
                      <a:r>
                        <a:rPr sz="1590" b="1">
                          <a:solidFill>
                            <a:srgbClr val="FFFFFF"/>
                          </a:solidFill>
                          <a:latin typeface="Aptos"/>
                        </a:rPr>
                        <a:t>Entregable</a:t>
                      </a:r>
                    </a:p>
                  </a:txBody>
                  <a:tcPr anchor="ctr" marL="146304" marR="146304">
                    <a:solidFill>
                      <a:srgbClr val="156082"/>
                    </a:solidFill>
                  </a:tcPr>
                </a:tc>
                <a:tc>
                  <a:txBody>
                    <a:bodyPr wrap="square"/>
                    <a:lstStyle/>
                    <a:p>
                      <a:r>
                        <a:rPr sz="1590" b="1">
                          <a:solidFill>
                            <a:srgbClr val="FFFFFF"/>
                          </a:solidFill>
                          <a:latin typeface="Aptos"/>
                        </a:rPr>
                        <a:t>Se apoya en</a:t>
                      </a:r>
                    </a:p>
                  </a:txBody>
                  <a:tcPr anchor="ctr" marL="146304" marR="146304">
                    <a:solidFill>
                      <a:srgbClr val="156082"/>
                    </a:solidFill>
                  </a:tcPr>
                </a:tc>
              </a:tr>
              <a:tr h="546811">
                <a:tc>
                  <a:txBody>
                    <a:bodyPr wrap="square"/>
                    <a:lstStyle/>
                    <a:p>
                      <a:r>
                        <a:rPr sz="1484" b="1">
                          <a:solidFill>
                            <a:srgbClr val="33475B"/>
                          </a:solidFill>
                          <a:latin typeface="Aptos"/>
                        </a:rPr>
                        <a:t>A · Diagnóstico AS-IS</a:t>
                      </a:r>
                    </a:p>
                  </a:txBody>
                  <a:tcPr anchor="ctr" marL="146304" marR="146304">
                    <a:solidFill>
                      <a:srgbClr val="FFFFFF"/>
                    </a:solidFill>
                  </a:tcPr>
                </a:tc>
                <a:tc>
                  <a:txBody>
                    <a:bodyPr wrap="square"/>
                    <a:lstStyle/>
                    <a:p>
                      <a:r>
                        <a:rPr sz="1484" b="0">
                          <a:solidFill>
                            <a:srgbClr val="33475B"/>
                          </a:solidFill>
                          <a:latin typeface="Aptos"/>
                        </a:rPr>
                        <a:t>Sección 2: modularidad, separación, abstracción</a:t>
                      </a:r>
                    </a:p>
                  </a:txBody>
                  <a:tcPr anchor="ctr" marL="146304" marR="146304">
                    <a:solidFill>
                      <a:srgbClr val="FFFFFF"/>
                    </a:solidFill>
                  </a:tcPr>
                </a:tc>
              </a:tr>
              <a:tr h="546811">
                <a:tc>
                  <a:txBody>
                    <a:bodyPr wrap="square"/>
                    <a:lstStyle/>
                    <a:p>
                      <a:r>
                        <a:rPr sz="1484" b="1">
                          <a:solidFill>
                            <a:srgbClr val="33475B"/>
                          </a:solidFill>
                          <a:latin typeface="Aptos"/>
                        </a:rPr>
                        <a:t>B · Monolito vs distribuida</a:t>
                      </a:r>
                    </a:p>
                  </a:txBody>
                  <a:tcPr anchor="ctr" marL="146304" marR="146304">
                    <a:solidFill>
                      <a:srgbClr val="F4F7FA"/>
                    </a:solidFill>
                  </a:tcPr>
                </a:tc>
                <a:tc>
                  <a:txBody>
                    <a:bodyPr wrap="square"/>
                    <a:lstStyle/>
                    <a:p>
                      <a:r>
                        <a:rPr sz="1484" b="0">
                          <a:solidFill>
                            <a:srgbClr val="33475B"/>
                          </a:solidFill>
                          <a:latin typeface="Aptos"/>
                        </a:rPr>
                        <a:t>Sección 5 y el monolito modular</a:t>
                      </a:r>
                    </a:p>
                  </a:txBody>
                  <a:tcPr anchor="ctr" marL="146304" marR="146304">
                    <a:solidFill>
                      <a:srgbClr val="F4F7FA"/>
                    </a:solidFill>
                  </a:tcPr>
                </a:tc>
              </a:tr>
              <a:tr h="546811">
                <a:tc>
                  <a:txBody>
                    <a:bodyPr wrap="square"/>
                    <a:lstStyle/>
                    <a:p>
                      <a:r>
                        <a:rPr sz="1484" b="1">
                          <a:solidFill>
                            <a:srgbClr val="33475B"/>
                          </a:solidFill>
                          <a:latin typeface="Aptos"/>
                        </a:rPr>
                        <a:t>C · Propuesta TO-BE</a:t>
                      </a:r>
                    </a:p>
                  </a:txBody>
                  <a:tcPr anchor="ctr" marL="146304" marR="146304">
                    <a:solidFill>
                      <a:srgbClr val="FFFFFF"/>
                    </a:solidFill>
                  </a:tcPr>
                </a:tc>
                <a:tc>
                  <a:txBody>
                    <a:bodyPr wrap="square"/>
                    <a:lstStyle/>
                    <a:p>
                      <a:r>
                        <a:rPr sz="1484" b="0">
                          <a:solidFill>
                            <a:srgbClr val="33475B"/>
                          </a:solidFill>
                          <a:latin typeface="Aptos"/>
                        </a:rPr>
                        <a:t>Sección 6 (estilos) + sección 4 (patrones GoF)</a:t>
                      </a:r>
                    </a:p>
                  </a:txBody>
                  <a:tcPr anchor="ctr" marL="146304" marR="146304">
                    <a:solidFill>
                      <a:srgbClr val="FFFFFF"/>
                    </a:solidFill>
                  </a:tcPr>
                </a:tc>
              </a:tr>
              <a:tr h="546811">
                <a:tc>
                  <a:txBody>
                    <a:bodyPr wrap="square"/>
                    <a:lstStyle/>
                    <a:p>
                      <a:r>
                        <a:rPr sz="1484" b="1">
                          <a:solidFill>
                            <a:srgbClr val="33475B"/>
                          </a:solidFill>
                          <a:latin typeface="Aptos"/>
                        </a:rPr>
                        <a:t>D · Stack tecnológico</a:t>
                      </a:r>
                    </a:p>
                  </a:txBody>
                  <a:tcPr anchor="ctr" marL="146304" marR="146304">
                    <a:solidFill>
                      <a:srgbClr val="F4F7FA"/>
                    </a:solidFill>
                  </a:tcPr>
                </a:tc>
                <a:tc>
                  <a:txBody>
                    <a:bodyPr wrap="square"/>
                    <a:lstStyle/>
                    <a:p>
                      <a:r>
                        <a:rPr sz="1484" b="0">
                          <a:solidFill>
                            <a:srgbClr val="33475B"/>
                          </a:solidFill>
                          <a:latin typeface="Aptos"/>
                        </a:rPr>
                        <a:t>Sección 1: cada elección contra un RNF</a:t>
                      </a:r>
                    </a:p>
                  </a:txBody>
                  <a:tcPr anchor="ctr" marL="146304" marR="146304">
                    <a:solidFill>
                      <a:srgbClr val="F4F7FA"/>
                    </a:solidFill>
                  </a:tcPr>
                </a:tc>
              </a:tr>
              <a:tr h="546811">
                <a:tc>
                  <a:txBody>
                    <a:bodyPr wrap="square"/>
                    <a:lstStyle/>
                    <a:p>
                      <a:r>
                        <a:rPr sz="1484" b="1">
                          <a:solidFill>
                            <a:srgbClr val="33475B"/>
                          </a:solidFill>
                          <a:latin typeface="Aptos"/>
                        </a:rPr>
                        <a:t>E · Modelado C4</a:t>
                      </a:r>
                    </a:p>
                  </a:txBody>
                  <a:tcPr anchor="ctr" marL="146304" marR="146304">
                    <a:solidFill>
                      <a:srgbClr val="FFFFFF"/>
                    </a:solidFill>
                  </a:tcPr>
                </a:tc>
                <a:tc>
                  <a:txBody>
                    <a:bodyPr wrap="square"/>
                    <a:lstStyle/>
                    <a:p>
                      <a:r>
                        <a:rPr sz="1484" b="0">
                          <a:solidFill>
                            <a:srgbClr val="33475B"/>
                          </a:solidFill>
                          <a:latin typeface="Aptos"/>
                        </a:rPr>
                        <a:t>Error 3 + el manual de la unidad</a:t>
                      </a:r>
                    </a:p>
                  </a:txBody>
                  <a:tcPr anchor="ctr" marL="146304" marR="146304">
                    <a:solidFill>
                      <a:srgbClr val="FFFFFF"/>
                    </a:solidFill>
                  </a:tcPr>
                </a:tc>
              </a:tr>
              <a:tr h="546811">
                <a:tc>
                  <a:txBody>
                    <a:bodyPr wrap="square"/>
                    <a:lstStyle/>
                    <a:p>
                      <a:r>
                        <a:rPr sz="1484" b="1">
                          <a:solidFill>
                            <a:srgbClr val="33475B"/>
                          </a:solidFill>
                          <a:latin typeface="Aptos"/>
                        </a:rPr>
                        <a:t>F · Plan de migración</a:t>
                      </a:r>
                    </a:p>
                  </a:txBody>
                  <a:tcPr anchor="ctr" marL="146304" marR="146304">
                    <a:solidFill>
                      <a:srgbClr val="F4F7FA"/>
                    </a:solidFill>
                  </a:tcPr>
                </a:tc>
                <a:tc>
                  <a:txBody>
                    <a:bodyPr wrap="square"/>
                    <a:lstStyle/>
                    <a:p>
                      <a:r>
                        <a:rPr sz="1484" b="0">
                          <a:solidFill>
                            <a:srgbClr val="33475B"/>
                          </a:solidFill>
                          <a:latin typeface="Aptos"/>
                        </a:rPr>
                        <a:t>Sección 5: extracción selectiva</a:t>
                      </a:r>
                    </a:p>
                  </a:txBody>
                  <a:tcPr anchor="ctr" marL="146304" marR="146304">
                    <a:solidFill>
                      <a:srgbClr val="F4F7FA"/>
                    </a:solidFill>
                  </a:tcPr>
                </a:tc>
              </a:tr>
              <a:tr h="546811">
                <a:tc>
                  <a:txBody>
                    <a:bodyPr wrap="square"/>
                    <a:lstStyle/>
                    <a:p>
                      <a:r>
                        <a:rPr sz="1484" b="1">
                          <a:solidFill>
                            <a:srgbClr val="33475B"/>
                          </a:solidFill>
                          <a:latin typeface="Aptos"/>
                        </a:rPr>
                        <a:t>G · Presupuesto</a:t>
                      </a:r>
                    </a:p>
                  </a:txBody>
                  <a:tcPr anchor="ctr" marL="146304" marR="146304">
                    <a:solidFill>
                      <a:srgbClr val="FFFFFF"/>
                    </a:solidFill>
                  </a:tcPr>
                </a:tc>
                <a:tc>
                  <a:txBody>
                    <a:bodyPr wrap="square"/>
                    <a:lstStyle/>
                    <a:p>
                      <a:r>
                        <a:rPr sz="1484" b="0">
                          <a:solidFill>
                            <a:srgbClr val="33475B"/>
                          </a:solidFill>
                          <a:latin typeface="Aptos"/>
                        </a:rPr>
                        <a:t>Sección 3: toda decisión tiene costo</a:t>
                      </a:r>
                    </a:p>
                  </a:txBody>
                  <a:tcPr anchor="ctr" marL="146304" marR="146304">
                    <a:solidFill>
                      <a:srgbClr val="FFFFFF"/>
                    </a:solidFill>
                  </a:tcPr>
                </a:tc>
              </a:tr>
            </a:tbl>
          </a:graphicData>
        </a:graphic>
      </p:graphicFrame>
      <p:sp>
        <p:nvSpPr>
          <p:cNvPr id="8" name="TextBox 7"/>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Arquitectura y Diseño de Software  ·  Unidad 1</a:t>
            </a:r>
          </a:p>
        </p:txBody>
      </p:sp>
      <p:sp>
        <p:nvSpPr>
          <p:cNvPr id="9" name="TextBox 8"/>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38 / 39</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1 · FUNDAMENTOS · ESP. INGENIERÍA DE SOFTWARE</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Tres ideas para llevarte</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2048256"/>
            <a:ext cx="3480816" cy="310896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2304288"/>
            <a:ext cx="384048" cy="508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2560320"/>
            <a:ext cx="3078480" cy="2395728"/>
          </a:xfrm>
          <a:prstGeom prst="rect">
            <a:avLst/>
          </a:prstGeom>
          <a:noFill/>
        </p:spPr>
        <p:txBody>
          <a:bodyPr wrap="square" anchor="t" lIns="0" rIns="0" tIns="0" bIns="0">
            <a:spAutoFit/>
          </a:bodyPr>
          <a:lstStyle/>
          <a:p>
            <a:pPr algn="l"/>
            <a:r>
              <a:rPr sz="2039" b="1">
                <a:solidFill>
                  <a:srgbClr val="0E2841"/>
                </a:solidFill>
                <a:latin typeface="Aptos Display"/>
              </a:rPr>
              <a:t>El costo manda</a:t>
            </a:r>
          </a:p>
          <a:p>
            <a:pPr algn="l">
              <a:lnSpc>
                <a:spcPct val="120000"/>
              </a:lnSpc>
              <a:spcBef>
                <a:spcPts val="700"/>
              </a:spcBef>
            </a:pPr>
            <a:r>
              <a:rPr sz="1560" b="0">
                <a:solidFill>
                  <a:srgbClr val="33475B"/>
                </a:solidFill>
                <a:latin typeface="Aptos"/>
              </a:rPr>
              <a:t>Arquitectura es lo que cuesta caro cambiar</a:t>
            </a:r>
          </a:p>
        </p:txBody>
      </p:sp>
      <p:sp>
        <p:nvSpPr>
          <p:cNvPr id="10" name="Rounded Rectangle 9"/>
          <p:cNvSpPr/>
          <p:nvPr/>
        </p:nvSpPr>
        <p:spPr>
          <a:xfrm>
            <a:off x="4358640" y="2048256"/>
            <a:ext cx="3480816" cy="310896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59808" y="2304288"/>
            <a:ext cx="384048"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59808" y="2560320"/>
            <a:ext cx="3078480" cy="2395728"/>
          </a:xfrm>
          <a:prstGeom prst="rect">
            <a:avLst/>
          </a:prstGeom>
          <a:noFill/>
        </p:spPr>
        <p:txBody>
          <a:bodyPr wrap="square" anchor="t" lIns="0" rIns="0" tIns="0" bIns="0">
            <a:spAutoFit/>
          </a:bodyPr>
          <a:lstStyle/>
          <a:p>
            <a:pPr algn="l"/>
            <a:r>
              <a:rPr sz="2039" b="1">
                <a:solidFill>
                  <a:srgbClr val="0E2841"/>
                </a:solidFill>
                <a:latin typeface="Aptos Display"/>
              </a:rPr>
              <a:t>Los números deciden</a:t>
            </a:r>
          </a:p>
          <a:p>
            <a:pPr algn="l">
              <a:lnSpc>
                <a:spcPct val="120000"/>
              </a:lnSpc>
              <a:spcBef>
                <a:spcPts val="700"/>
              </a:spcBef>
            </a:pPr>
            <a:r>
              <a:rPr sz="1560" b="0">
                <a:solidFill>
                  <a:srgbClr val="33475B"/>
                </a:solidFill>
                <a:latin typeface="Aptos"/>
              </a:rPr>
              <a:t>Un RNF sin número no descarta nada</a:t>
            </a:r>
          </a:p>
        </p:txBody>
      </p:sp>
      <p:sp>
        <p:nvSpPr>
          <p:cNvPr id="13" name="Rounded Rectangle 12"/>
          <p:cNvSpPr/>
          <p:nvPr/>
        </p:nvSpPr>
        <p:spPr>
          <a:xfrm>
            <a:off x="8150352" y="2048256"/>
            <a:ext cx="3480816" cy="310896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51520" y="2304288"/>
            <a:ext cx="384048"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51520" y="2560320"/>
            <a:ext cx="3078480" cy="2395728"/>
          </a:xfrm>
          <a:prstGeom prst="rect">
            <a:avLst/>
          </a:prstGeom>
          <a:noFill/>
        </p:spPr>
        <p:txBody>
          <a:bodyPr wrap="square" anchor="t" lIns="0" rIns="0" tIns="0" bIns="0">
            <a:spAutoFit/>
          </a:bodyPr>
          <a:lstStyle/>
          <a:p>
            <a:pPr algn="l"/>
            <a:r>
              <a:rPr sz="2039" b="1">
                <a:solidFill>
                  <a:srgbClr val="0E2841"/>
                </a:solidFill>
                <a:latin typeface="Aptos Display"/>
              </a:rPr>
              <a:t>Escribe la decisión</a:t>
            </a:r>
          </a:p>
          <a:p>
            <a:pPr algn="l">
              <a:lnSpc>
                <a:spcPct val="120000"/>
              </a:lnSpc>
              <a:spcBef>
                <a:spcPts val="700"/>
              </a:spcBef>
            </a:pPr>
            <a:r>
              <a:rPr sz="1560" b="0">
                <a:solidFill>
                  <a:srgbClr val="33475B"/>
                </a:solidFill>
                <a:latin typeface="Aptos"/>
              </a:rPr>
              <a:t>Sin alternativas descartadas, no hubo decisión</a:t>
            </a:r>
          </a:p>
        </p:txBody>
      </p:sp>
      <p:sp>
        <p:nvSpPr>
          <p:cNvPr id="16" name="TextBox 15"/>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Arquitectura y Diseño de Software  ·  Unidad 1</a:t>
            </a:r>
          </a:p>
        </p:txBody>
      </p:sp>
      <p:sp>
        <p:nvSpPr>
          <p:cNvPr id="17" name="TextBox 16"/>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39 / 39</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0E2841"/>
        </a:solidFill>
        <a:effectLst/>
      </p:bgPr>
    </p:bg>
    <p:spTree>
      <p:nvGrpSpPr>
        <p:cNvPr id="1" name=""/>
        <p:cNvGrpSpPr/>
        <p:nvPr/>
      </p:nvGrpSpPr>
      <p:grpSpPr/>
      <p:sp>
        <p:nvSpPr>
          <p:cNvPr id="2" name="Rectangle 1"/>
          <p:cNvSpPr/>
          <p:nvPr/>
        </p:nvSpPr>
        <p:spPr>
          <a:xfrm>
            <a:off x="0" y="0"/>
            <a:ext cx="457200" cy="68580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Institucional-con-advertencia-Vigilado-Mineducacion-Blanco.png"/>
          <p:cNvPicPr>
            <a:picLocks noChangeAspect="1"/>
          </p:cNvPicPr>
          <p:nvPr/>
        </p:nvPicPr>
        <p:blipFill>
          <a:blip r:embed="rId2"/>
          <a:stretch>
            <a:fillRect/>
          </a:stretch>
        </p:blipFill>
        <p:spPr>
          <a:xfrm>
            <a:off x="5144780" y="914400"/>
            <a:ext cx="1902439" cy="1737360"/>
          </a:xfrm>
          <a:prstGeom prst="rect">
            <a:avLst/>
          </a:prstGeom>
        </p:spPr>
      </p:pic>
      <p:sp>
        <p:nvSpPr>
          <p:cNvPr id="4" name="TextBox 3"/>
          <p:cNvSpPr txBox="1"/>
          <p:nvPr/>
        </p:nvSpPr>
        <p:spPr>
          <a:xfrm>
            <a:off x="457200" y="3200400"/>
            <a:ext cx="11274552" cy="1097280"/>
          </a:xfrm>
          <a:prstGeom prst="rect">
            <a:avLst/>
          </a:prstGeom>
          <a:noFill/>
        </p:spPr>
        <p:txBody>
          <a:bodyPr wrap="square" anchor="t" lIns="0" rIns="0" tIns="0" bIns="0">
            <a:spAutoFit/>
          </a:bodyPr>
          <a:lstStyle/>
          <a:p>
            <a:pPr algn="ctr"/>
            <a:r>
              <a:rPr sz="5400" b="1">
                <a:solidFill>
                  <a:srgbClr val="FFFFFF"/>
                </a:solidFill>
                <a:latin typeface="Aptos Display"/>
              </a:rPr>
              <a:t>¿Preguntas?</a:t>
            </a:r>
          </a:p>
        </p:txBody>
      </p:sp>
      <p:sp>
        <p:nvSpPr>
          <p:cNvPr id="5" name="TextBox 4"/>
          <p:cNvSpPr txBox="1"/>
          <p:nvPr/>
        </p:nvSpPr>
        <p:spPr>
          <a:xfrm>
            <a:off x="457200" y="4709160"/>
            <a:ext cx="11274552" cy="457200"/>
          </a:xfrm>
          <a:prstGeom prst="rect">
            <a:avLst/>
          </a:prstGeom>
          <a:noFill/>
        </p:spPr>
        <p:txBody>
          <a:bodyPr wrap="square" anchor="t" lIns="0" rIns="0" tIns="0" bIns="0">
            <a:spAutoFit/>
          </a:bodyPr>
          <a:lstStyle/>
          <a:p>
            <a:pPr algn="ctr"/>
            <a:r>
              <a:rPr sz="1400" b="0">
                <a:solidFill>
                  <a:srgbClr val="E8E8E8"/>
                </a:solidFill>
                <a:latin typeface="Aptos"/>
              </a:rPr>
              <a:t>Jesús Ariel González Bonilla  ·  ariel5253@hotmail.com</a:t>
            </a:r>
          </a:p>
        </p:txBody>
      </p:sp>
    </p:spTree>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c7b9d0d2-0928-4bc7-b1e7-d815d07dd502" xsi:nil="true"/>
    <lcf76f155ced4ddcb4097134ff3c332f xmlns="3b21ab7c-7e7a-493b-a43f-a219844d5b04">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o" ma:contentTypeID="0x01010076AC4B3079F3F14986B23BC4E8B1044F" ma:contentTypeVersion="16" ma:contentTypeDescription="Crear nuevo documento." ma:contentTypeScope="" ma:versionID="04f898694b3caf94c38805e82f5c0fb9">
  <xsd:schema xmlns:xsd="http://www.w3.org/2001/XMLSchema" xmlns:xs="http://www.w3.org/2001/XMLSchema" xmlns:p="http://schemas.microsoft.com/office/2006/metadata/properties" xmlns:ns2="3b21ab7c-7e7a-493b-a43f-a219844d5b04" xmlns:ns3="c7b9d0d2-0928-4bc7-b1e7-d815d07dd502" targetNamespace="http://schemas.microsoft.com/office/2006/metadata/properties" ma:root="true" ma:fieldsID="1d46ddd55854086af038f8f8e7145c9b" ns2:_="" ns3:_="">
    <xsd:import namespace="3b21ab7c-7e7a-493b-a43f-a219844d5b04"/>
    <xsd:import namespace="c7b9d0d2-0928-4bc7-b1e7-d815d07dd502"/>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MediaServiceObjectDetectorVersions" minOccurs="0"/>
                <xsd:element ref="ns2:MediaServiceLocation"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b21ab7c-7e7a-493b-a43f-a219844d5b0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Etiquetas de imagen" ma:readOnly="false" ma:fieldId="{5cf76f15-5ced-4ddc-b409-7134ff3c332f}" ma:taxonomyMulti="true" ma:sspId="c63f703e-4260-42db-90e1-1bf1f8b4f728"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Location" ma:index="21" nillable="true" ma:displayName="Location" ma:indexed="true" ma:internalName="MediaServiceLocation"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ServiceBillingMetadata" ma:index="23"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7b9d0d2-0928-4bc7-b1e7-d815d07dd502" elementFormDefault="qualified">
    <xsd:import namespace="http://schemas.microsoft.com/office/2006/documentManagement/types"/>
    <xsd:import namespace="http://schemas.microsoft.com/office/infopath/2007/PartnerControls"/>
    <xsd:element name="SharedWithUsers" ma:index="10"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Detalles de uso compartido" ma:internalName="SharedWithDetails" ma:readOnly="true">
      <xsd:simpleType>
        <xsd:restriction base="dms:Note">
          <xsd:maxLength value="255"/>
        </xsd:restriction>
      </xsd:simpleType>
    </xsd:element>
    <xsd:element name="TaxCatchAll" ma:index="14" nillable="true" ma:displayName="Taxonomy Catch All Column" ma:hidden="true" ma:list="{22966853-71d8-4c3c-a2a1-eb1a25e46692}" ma:internalName="TaxCatchAll" ma:showField="CatchAllData" ma:web="c7b9d0d2-0928-4bc7-b1e7-d815d07dd50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A55C560-F379-4979-BDAB-85ADD41BF196}">
  <ds:schemaRefs>
    <ds:schemaRef ds:uri="http://schemas.microsoft.com/office/2006/metadata/properties"/>
    <ds:schemaRef ds:uri="http://schemas.microsoft.com/office/infopath/2007/PartnerControls"/>
    <ds:schemaRef ds:uri="c7b9d0d2-0928-4bc7-b1e7-d815d07dd502"/>
    <ds:schemaRef ds:uri="3b21ab7c-7e7a-493b-a43f-a219844d5b04"/>
  </ds:schemaRefs>
</ds:datastoreItem>
</file>

<file path=customXml/itemProps2.xml><?xml version="1.0" encoding="utf-8"?>
<ds:datastoreItem xmlns:ds="http://schemas.openxmlformats.org/officeDocument/2006/customXml" ds:itemID="{5203D28F-282C-474C-8EAC-7F31992D2966}">
  <ds:schemaRefs>
    <ds:schemaRef ds:uri="http://schemas.microsoft.com/sharepoint/v3/contenttype/forms"/>
  </ds:schemaRefs>
</ds:datastoreItem>
</file>

<file path=customXml/itemProps3.xml><?xml version="1.0" encoding="utf-8"?>
<ds:datastoreItem xmlns:ds="http://schemas.openxmlformats.org/officeDocument/2006/customXml" ds:itemID="{10F9C096-F130-4ECE-8018-26CD4E103B0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b21ab7c-7e7a-493b-a43f-a219844d5b04"/>
    <ds:schemaRef ds:uri="c7b9d0d2-0928-4bc7-b1e7-d815d07dd50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14</TotalTime>
  <Words>0</Words>
  <Application>Microsoft Office PowerPoint</Application>
  <PresentationFormat>Panorámica</PresentationFormat>
  <Paragraphs>0</Paragraphs>
  <Slides>3</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3</vt:i4>
      </vt:variant>
    </vt:vector>
  </HeadingPairs>
  <TitlesOfParts>
    <vt:vector size="7" baseType="lpstr">
      <vt:lpstr>Aptos</vt:lpstr>
      <vt:lpstr>Aptos Display</vt:lpstr>
      <vt:lpstr>Arial</vt:lpstr>
      <vt:lpstr>Tema de Office</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acomunicaciones</dc:creator>
  <cp:lastModifiedBy>Oficina de Comunicaciones</cp:lastModifiedBy>
  <cp:revision>6</cp:revision>
  <dcterms:created xsi:type="dcterms:W3CDTF">2026-01-26T14:49:45Z</dcterms:created>
  <dcterms:modified xsi:type="dcterms:W3CDTF">2026-02-13T20:05:23Z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0x01010076AC4B3079F3F14986B23BC4E8B1044F</vt:lpwstr>
  </property>
</Properties>
</file>
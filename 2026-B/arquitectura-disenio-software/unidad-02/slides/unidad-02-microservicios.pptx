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Abrir preguntando quién ha trabajado con microservicios y quién diría que salió bien. Suele haber más de los primeros que de los segundos, y esa brecha es la unidad entera. Recoger dos o tres síntomas —«hay que desplegar todo junto», «nadie sabe qué rompió qué»— y prometer que van a saber nombrarlos. Idea de fondo: el estilo no falla por la tecnología, falla por dónde se puso el corte.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Este documento cubre la unidad completa: en el encuentro se recorre una parte y el resto queda de consulta. La actividad calificable es el foro y vale 30 %; una intervención que aporta no explica qué son los microservicios, compromete una decisión que otro puede discutir. Recorrido en vivo sugerido: sección 1 completa, el corte de la 2, los dos ejes de la 3 y la Saga de la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«Pequeño» no es un criterio: no hay un número de líneas que convierta un módulo en microservicio. Estos tres se responden con sí o no. Aplicarlos en vivo a un sistema que alguien mencione. El tercero es el que más falla: si el nombre necesita «capa», «gestor» o «datos», el corte fue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Este es el punto que más cambia decisiones reales. Los microservicios no producen estas capacidades: las exigen. Sin CI/CD no hay despliegue independiente, solo despliegue manual multiplicado por seis. Preguntar cuántos tienen hoy trazado distribuido en producción; casi ninguno levanta la mano, y ahí entienden por qué la migración les dolió.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Existe un costo fijo de entrada que se paga completo desde el día uno, mientras los beneficios llegan después y solo si el contexto los habilita. Recordar Netflix: no empieza con microservicios, empieza con un monolito que ya no daba más y cientos de ingenieros que necesitaban autonomía. Primero el problema, después el estilo.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Es el caso que el material institucional desarrolla y que el foro va a citar. Lo que se evalúa no es repetirlo: es identificar qué del contexto de Netflix aplica al sistema del que se hable, y qué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Contar con despliegue automatizado y observabilidad distribuida. Los otros tres son resultados esperados; sin automatización ni trazado no se puede liberar de forma independiente ni diagnosticar. EN VIVO. Votar antes de revelar. Si eligen la primera, aprovechar: el escalado independiente es lo que se compra, no lo que hay que tener. Cerrar con la pregunta incómoda: ¿su organización tiene hoy los dos prerrequisitos?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Antipatrón número uno y el más fácil de cometer, porque la estructura técnica ya está ahí y parece una división natural. La prueba: si registrar una modalidad de tarifa obliga a desplegar tres servicios, la descomposición no compró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Detenerse en contexto delimitado, la idea más útil de DDD para esta unidad: la misma palabra significa cosas distintas en zonas distintas del negocio. En control de acceso «vehículo» es una placa y un tipo; en facturación es un dato del comprobante. Pedirles una palabra de su dominio que signifique dos cosas: siempre sale alguna y es el mejor momento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Es la receta que la práctica opcional pide ejecutar sobre ParkKbus. En vivo basta hacer el paso 1 entre todos y dejar el resto de tarea: listar los hechos en participio ordena la discusión más que cualquier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una de las formas más comunes de fracaso y aparece cuando el corte se hace por entidad en vez de por capacidad. Preguntar: «un servicio-usuarios al que llaman los otros seis, ¿es un microservicio?» Casi siempre dicen que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Hacerlo con la descomposición que alguien proponga. Si separaron «tarifas» de «tipos de vehículo» es muy probable que fallen: esos conceptos cambian juntos. Las otras dos pruebas están en la práctica opcional: la de los datos —¿algún servicio lee las tablas de otro?— y la de la cadena.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Descomposición por capas técnicas en lugar de capacidades. El corte sigue la estructura técnica: cualquier cambio funcional atraviesa los tres servicios. EN VIVO. Suele acertarse. La pregunta de seguimiento es la buena: ¿y cuál sería un corte correcto para ese mismo sistema? Ahí se ve quién entendió.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Los dos ejes que de verdad clasifican: si quien llama espera, y si el destinatario es uno o muchos. El protocolo viene después. Nótese que la casilla superior derecha está vacía: no existe «esperar respuesta de muchos» de forma razonable.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Regla práctica: síncrono cuando el usuario espera el resultado para continuar; asíncrono cuando el trabajo puede completarse después. Cobrar en la talanquera es síncrono; enviar el recibo no. El manual de la unidad hace comprobar esto con Docker y RabbitMQ en 40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Son las tres formas que enumera el material. Lo importante no es el catálogo sino que AMQP y MQTT son las reglas concretas sobre las que se implementa lo asíncrono; elegir entre ellos es una decisión de contexto, no de preferencia.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La diferencia es semántica, no de transporte: los dos pueden viajar por la misma cola. Señal de alarma: si el nombre del mensaje está en infinitivo —`EnviarRecibo`— es un comando aunque lo llamen evento. Los eventos van en participio: `SalidaRegistrada`, `PagoRecibido`.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CONSULTA, mencionar en vivo. Toda llamada de red puede fallar, tardar o responder a medias. Estos tres se implementan y configuran en la Unidad 3; aquí basta saber que una arquitectura distribuida sin ellos es más frágil que el monolito que reemplazó.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Síncrono, porque el resultado condiciona el paso siguiente. El usuario está esperando y la acción siguiente depende del resultado; el criterio no es el protocolo. EN VIVO. Algunos eligen asíncrono por reflejo, porque «desacoplar es mejor». Repreguntar: ¿abrimos la barrera antes de saber si el pago pasó? Y de paso: ¿qué debería hacer el sistema si la pasarela no responde? Esa es una decisión arquitectónica, y se retoma en la Unidad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El evento narra un hecho ocurrido; el comando ordena una acción a un destinatario. La diferencia es semántica, no de transporte; por describir algo ya ocurrido el evento admite cero o muchos suscriptores. CONSULTA. Repaso del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el atajo más tentador y el que mata el proyecto. Cada servicio debe ser dueño exclusivo de su esquema; nadie más lo lee ni lo escribe directamente, se pasa por su API o por sus eventos. Cuando alguien diga «pero es solo una consulta de lectura», responder que esa consulta se vuelve un contrato que nadie documentó.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Sin una transacción única el sistema queda temporalmente inconsistente entre un paso y el siguiente. Eso es aceptable **si el negocio lo tolera** y si se hace explícito. La columna de la derecha no es una degradación: es una decisión que hay que declarar y sostener ante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Por eso una factura no se borra: se emite una nota crédito. Preguntar cuál sería la compensación de «cobra pago» si falla la facturación: reverso o devolución, no un DELETE. La práctica opcional pide resolver exactamente este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La práctica pide justificar la elección con el número de pasos. Criterio simple: si nadie puede dibujar el flujo completo leyendo un solo archivo, probablemente hacía falta un orquestador.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el detalle que casi siempre se olvida y produce inconsistencias imposibles de rastrear: la base dice una cosa y el resto del sistema nunca se enteró. Idempotencia con un ejemplo doloroso: si el consumidor de pagos no lo es, un mensaje reentregado cobra dos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Se pierde el despliegue independiente: un cambio de esquema los afecta a ambos. El esquema se vuelve un contrato oculto; un ALTER TABLE obliga a coordinar despliegues.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Ejecutar la compensación definida: emitir una nota crédito. No existe rollback entre bases independientes; cada paso define su compensación en términos del negocio. CONSULTA o en vivo si sobra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la escritura en la base y la publicación del evento no queden desacopladas. Guardar y publicar son operaciones separadas y la segunda puede fallar; el precio del Outbox es la posible reentrega. CONSULTA. Ojo con la opción A: el Outbox no evita la reentrega, la **causa**; lo que la maneja es la idempotencia.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Los cuatro juntos producen el monolito distribuido, que es peor que el monolito original: mismo acoplamiento, más latencia, más piezas que operar. El 4 se nota en la latencia acumulada: cinco saltos de 50 ms son 250 ms antes de hacer nada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El 9 es el más caro de todos porque las fronteras se fijan antes de conocer el dominio, y mover una frontera después cuesta más que haberla puesto mal en un monolito modular. El 6 es el que produce cobros duplicados.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VIVO, cierre. Para que la intervención aporte y no repita: comprometer un número o un límite. «Separo tarifación porque sus reglas cambian cada mes y el resto no» es discutible y por lo tanto útil. «Los microservicios son escalables» no lo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Ruta recomendada: primero la práctica opcional —descomponer ParkKbus y someterlo a las tres preguntas incómodas—, luego el laboratorio del manual con Docker y RabbitMQ, que da evidencia capturada para sustentar. Una descomposición distinta a la de los compañeros no está mal: se evalúa el argumento. Próximo encuentro: viernes 2 de octubre, cierre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Arquitectura orientada a microservicios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Arquitectura y Diseño de Software  ·  Jesús Ariel González Bonilla  ·  2026-B  ·  Corte 1  · 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Descomposición y comunicación entre componentes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Partir un sistema es fácil; partirlo por donde toca es el oficio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2872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1899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28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3" b="1">
                <a:solidFill>
                  <a:srgbClr val="0E2841"/>
                </a:solidFill>
                <a:latin typeface="Aptos Display"/>
              </a:rPr>
              <a:t>Un corte mal puesto se paga en cada funcionalidad nueva, durante años.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5653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02659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1" b="1">
                <a:solidFill>
                  <a:srgbClr val="0E2841"/>
                </a:solidFill>
                <a:latin typeface="Aptos"/>
              </a:rPr>
              <a:t>Cualquiera puede dividir en seis servicios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6486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1098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1" b="1">
                <a:solidFill>
                  <a:srgbClr val="0E2841"/>
                </a:solidFill>
                <a:latin typeface="Aptos"/>
              </a:rPr>
              <a:t>Casi nadie acierta dónde va la frontera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319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1931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1" b="1">
                <a:solidFill>
                  <a:srgbClr val="0E2841"/>
                </a:solidFill>
                <a:latin typeface="Aptos"/>
              </a:rPr>
              <a:t>Y la frontera es lo más caro de mover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vas a poder hacer al terminar la unidad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1683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Verificar si algo es de verdad un microservicio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83006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Decidir dónde va el corte y defenderlo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54330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236976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Elegir entre síncrono y asíncrono con criterio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2565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8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Distinguir un evento de un comando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496976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663440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Mantener integridad sin transacción distribuida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568299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76672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Reconocer el monolito distribuido a tiempo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1. Qué es un microservicio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Tres criterios que sí se pueden verificar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Despliegue independiente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¿Puedo liberar sin coordinar con otro equipo?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Datos propios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¿Alguien más lee o escribe mi tabla?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Capacidad de negocio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¿Puedo nombrarlo sin decir «capa» ni «módulo de»?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Si falla uno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Todavía no es un microservicio, es otra cosa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sí trae el estilo, y de qué depende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624927"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Beneficio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Solo llega si ya tienes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Escalado individual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Carga </a:t>
                      </a:r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desigual</a:t>
                      </a:r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 entre capacidades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Despliegue independiente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CI/CD y pruebas de contrato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Resiliencia ante fallos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Timeouts, reintentos, circuit breaker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Autonomía de equipos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Equipos que ya existen y son dueños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Libertad tecnológica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Capacidad de operar varias pilas a la vez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Diagnóstico de fallas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Trazado distribuido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prima se paga completa desde el primer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Equipo pequeño, dominio incierto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El costo llega ya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Los beneficios no llegan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Gana el monolito modular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Organización grande, dominio estable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El costo se absorbe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El escalado y la autonomía pagan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Gana distribuir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caso Netflix, leído como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Monolito de streaming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Cambios lentos, fallos globales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Crecimiento global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Escalabilidad y confiabilidad al límite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Migración a microservicios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Cada componente con su base y su despliegue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Resultado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Escala, entrega rápida, fallo aislado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¿Cuál de estos es un PRERREQUISITO para adoptar microservicios, más que un beneficio?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Escalar cada componente de forma independiente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Usar una tecnología distinta en cada servicio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Contar con despliegue automatizado y observabilidad distribuida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Reducir el acoplamiento entre capacidades de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2. Dónde va el corte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corte se decide por negocio, no por capas técnicas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Corte técnico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servicio-web, servicio-lógica, servicio-bd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 cambio de negocio toca los tres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Pagas la red sin ganar nada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Corte por capacidad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Control de acceso, Tarifación, Facturación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 cambio de negocio toca uno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Escalas y despliegas por separado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Cinco formas de decidir dónde poner la frontera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4927"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Heurística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Corta por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Ejemplo en el parqueadero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Capacidad de negocio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Lo que la organización hace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Acceso · Tarifación · Facturación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Contexto delimitado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Dónde cambia el significado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«Vehículo» en acceso ≠ en facturación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Razón de cambio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Lo que se modifica junto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Tarifas vs. integración de cámaras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Volatilidad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Lo que cambia mucho vs. lo estable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Promociones vs. registro de ingresos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Perfil de carga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Lo que escala distinto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Reportería vs. operación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Autonomía de equipo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Quién es dueño de qué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Un servicio por equipo responsable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Cómo se llega al corte, en la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Lista los eventos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Vehículo ingresó, tarifa calculada, pago recibido, cupo liberado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1955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3123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123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123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Agrupa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Los que comparten vocabulario y reglas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6982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1815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815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8150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Nombra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Con un sustantivo de negocio. Si no sale natural, el grupo está mal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2009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93177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3177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3177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Verifica los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Cada grupo debe poder ser dueño de sus tablas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7036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68204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820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8204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Cuenta los saltos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Más de tres servicios en un caso frecuente, revisa el corte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antipatrón hermano: el </a:t>
            </a:r>
            <a:r>
              <a:rPr sz="3000" b="1" i="1">
                <a:solidFill>
                  <a:srgbClr val="0E2841"/>
                </a:solidFill>
                <a:latin typeface="Aptos Display"/>
              </a:rPr>
              <a:t>entity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2872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1899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28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35" b="1">
                <a:solidFill>
                  <a:srgbClr val="0E2841"/>
                </a:solidFill>
                <a:latin typeface="Aptos Display"/>
              </a:rPr>
              <a:t>Un servicio que solo hace CRUD sobre una tabla y al que todos los demás llaman en cadena no es un microservicio: es una base de datos con HTTP delante.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5653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02659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No encapsula una capacidad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6486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1098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Nadie puede cambiarlo sin romper a otros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319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1931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Multiplica los saltos de red sin aislar 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prueba del cambio derrumba la mitad de las propuestas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Enuncia un cambio real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«Agregar tarifa nocturna para motos»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Cuenta los servicios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¿Cuántos hay que tocar y desplegar?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Si es más de uno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corte no siguió la razón de cambio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Corrige la frontera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Antes de escribir una línea de 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Un equipo divide el sistema en "servicio-api", "servicio-negocio" y "servicio-datos". ¿Qué antipatrón aplicó?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Base de datos compartida entre servicios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Descomposición por capas técnicas en lugar de capacidades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Coreografía de Saga mal implementada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Comunicación síncrona en cadena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3. Cómo se hablan los servicios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pregunta no es el protocolo: es si esperas respuesta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779776"/>
            <a:ext cx="11064240" cy="2340864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962656"/>
            <a:ext cx="10515600" cy="199339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                  │  UNO A UNO              │  UNO A MUCHOS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──────────────────┼─────────────────────────┼──────────────────────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 SÍNCRONO         │  Request / Response     │   (no aplica)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 (espero)         │  REST, gRPC             │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──────────────────┼─────────────────────────┼──────────────────────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 ASÍNCRONO        │  Comando por cola       │  Publicar / Suscribir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E8E8E8"/>
                </a:solidFill>
                <a:latin typeface="Consolas"/>
              </a:rPr>
              <a:t>   (no espero)      │  AMQP, SQS              │  eventos, tópicos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Qué cambia según el estilo que elijas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4927">
                <a:tc>
                  <a:txBody>
                    <a:bodyPr wrap="square"/>
                    <a:lstStyle/>
                    <a:p/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Síncrono (REST, gRPC)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Aptos"/>
                        </a:rPr>
                        <a:t>Asíncrono (mensajería, eventos)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Quien llama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Espera la respuesta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Continúa de inmediato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Acoplamiento temporal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Alto</a:t>
                      </a:r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: ambos deben estar arriba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Bajo</a:t>
                      </a:r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: el receptor puede estar caído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Si el destino falla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El llamador falla o degrada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El mensaje espera en la cola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Consistencia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Inmediata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Eventual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Depuración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Una traza lineal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Requiere trazado distribuido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624927">
                <a:tc>
                  <a:txBody>
                    <a:bodyPr wrap="square"/>
                    <a:lstStyle/>
                    <a:p>
                      <a:r>
                        <a:rPr sz="1576" b="1">
                          <a:solidFill>
                            <a:srgbClr val="33475B"/>
                          </a:solidFill>
                          <a:latin typeface="Aptos"/>
                        </a:rPr>
                        <a:t>Uso típico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Consultas, validaciones en línea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6" b="0">
                          <a:solidFill>
                            <a:srgbClr val="33475B"/>
                          </a:solidFill>
                          <a:latin typeface="Aptos"/>
                        </a:rPr>
                        <a:t>Notificaciones, proyecciones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REST, mensajería y protocolos asincrónicos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REST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HTTP, sin estado, recursos por URL. Simple y universal. Su límite es el acoplamiento temporal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Mensajería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emisor deja el mensaje y sigue; el consumidor lo toma cuando puede. Absorbe picos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AMQP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Mensajería empresarial con enrutamiento. Es lo que usa RabbitMQ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MQTT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Para dispositivos con poco ancho de banda. Típico en IoT y sensores de placa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evento narra un hecho; un comando da una 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10528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92224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9" b="1">
                <a:solidFill>
                  <a:srgbClr val="E97132"/>
                </a:solidFill>
                <a:latin typeface="Aptos"/>
              </a:rPr>
              <a:t>EVENTO: ALGO QUE YA OCURRIÓ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39696"/>
            <a:ext cx="10515600" cy="373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eventos.publicar(new SalidaRegistrada(ticket.id(), Instant.now()));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// cero, uno o muchos suscriptores. El emisor no sabe quiénes 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9216"/>
            <a:ext cx="11064240" cy="2129409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098673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62097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9" b="1">
                <a:solidFill>
                  <a:srgbClr val="E97132"/>
                </a:solidFill>
                <a:latin typeface="Aptos"/>
              </a:rPr>
              <a:t>CONSUMIDOR IDEMPOTENTE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46145"/>
            <a:ext cx="10515600" cy="139788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@RabbitListener(queues = "salidas")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public void al(SalidaRegistrada evento) {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    if (yaProcesado(evento.id())) return;     // el mismo mensaje puede llegar dos veces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    notificador.enviarRecibo(evento.ticketId());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    marcarProcesado(evento.id());</a:t>
            </a:r>
          </a:p>
          <a:p>
            <a:pPr>
              <a:lnSpc>
                <a:spcPct val="125000"/>
              </a:lnSpc>
            </a:pPr>
            <a:r>
              <a:rPr sz="1462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09794"/>
            <a:ext cx="11064240" cy="111785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264657"/>
            <a:ext cx="63500" cy="100812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09794"/>
            <a:ext cx="10378440" cy="11178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8" b="1">
                <a:solidFill>
                  <a:srgbClr val="0E2841"/>
                </a:solidFill>
                <a:latin typeface="Aptos Display"/>
              </a:rPr>
              <a:t>Publicar comandos disfrazados de eventos reintroduce exactamente el acoplamiento que se quería eliminar.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Fallar bien: lo mínimo en comunicación síncrona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093622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Mecanismo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hace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Cuidado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Timeout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Corta la espera y libera el hilo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Sin él, un servicio lento propaga la caída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Reintento con backoff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Supera fallos transitorios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Solo para operaciones idempotentes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Circuit breaker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Deja de llamar a un destino que falla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Necesita una respuesta alternativa definida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El cobro en la talanquera debe confirmarse antes de abrir la barrera. ¿Qué estilo de comunicación corresponde?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Síncrono, porque el resultado condiciona el paso siguiente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Asíncrono, para desacoplar la pasarela del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Publicar/suscribir, para que varios servicios reaccionen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Indiferente: ambos estilos sirven igual aquí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distingue un evento de un comando?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El evento viaja por cola y el comando por 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El comando es asíncrono y el evento es síncrono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El evento narra un hecho ocurrido; el comando ordena una acción a un destinatario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El evento siempre tiene varios suscriptores y el comando ninguno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4. Los datos: el problema difícil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Compartir la base de datos anula el estilo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Dos servicios, una base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El esquema es un contrato oculto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Un ALTER TABLE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Rompe a los dos a la vez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Hay que desplegar juntos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Adiós autonomía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Monolito distribuido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Todos los costos, ningún beneficio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Consistencia fuerte y consistencia eventual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Consistencia fuerte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Consistencia eventual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Todos ven el mismo dato al instante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Convergen tras un intervalo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Requiere transacción compartida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Funciona con servicios independientes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Escala mal entre nodos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Escala bien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«El cupo se descontó ya»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«El recibo llega en unos segundos»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22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En una Saga, cada paso define su compensación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27886"/>
            <a:ext cx="2478024" cy="23244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7886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27886"/>
            <a:ext cx="2221992" cy="2324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20" b="1">
                <a:solidFill>
                  <a:srgbClr val="0E2841"/>
                </a:solidFill>
                <a:latin typeface="Aptos Display"/>
              </a:rPr>
              <a:t>Cierra ticket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2571695"/>
            <a:ext cx="201168" cy="836785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7886"/>
            <a:ext cx="2478024" cy="23244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7886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827886"/>
            <a:ext cx="2221992" cy="2324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20" b="1">
                <a:solidFill>
                  <a:srgbClr val="0E2841"/>
                </a:solidFill>
                <a:latin typeface="Aptos Display"/>
              </a:rPr>
              <a:t>Cobra pago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2571695"/>
            <a:ext cx="201168" cy="836785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827886"/>
            <a:ext cx="2478024" cy="23244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827886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27886"/>
            <a:ext cx="2221992" cy="2324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20" b="1">
                <a:solidFill>
                  <a:srgbClr val="0E2841"/>
                </a:solidFill>
                <a:latin typeface="Aptos Display"/>
              </a:rPr>
              <a:t>Emite factura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2571695"/>
            <a:ext cx="201168" cy="836785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1827886"/>
            <a:ext cx="2478024" cy="23244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827886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827886"/>
            <a:ext cx="2221992" cy="2324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20" b="1">
                <a:solidFill>
                  <a:srgbClr val="0E2841"/>
                </a:solidFill>
                <a:latin typeface="Aptos Display"/>
              </a:rPr>
              <a:t>Libera cupo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64240" cy="171907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663440"/>
            <a:ext cx="63500" cy="160934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08576"/>
            <a:ext cx="10378440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40" b="1">
                <a:solidFill>
                  <a:srgbClr val="0E2841"/>
                </a:solidFill>
                <a:latin typeface="Aptos Display"/>
              </a:rPr>
              <a:t>No existe rollback entre bases independientes: la compensación no deshace el pasado, agrega un hecho que anula su efecto.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23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Coreografía u orquestación: quién dirige la Saga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/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Coreografía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Orquestación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Quién decide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Cada servicio reacciona a eventos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Un coordinador dirige los pasos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Acoplamiento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Mínimo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orquestador conoce el flujo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Visibilidad del flujo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Disperso, difícil de leer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Centralizado y explícito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Recomendable para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2–3 pasos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Flujos largos o con reglas complejas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24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Guardar en la base y publicar el evento son dos operaciones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 problema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Guardas bien, la publicación falla, nadie se entera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Outbox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Guardas el dato Y el evento en la MISMA transacción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Un proceso lee la outbox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Y publica, reintentando hasta confirmar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 precio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evento puede salir dos veces. Consumidores idempotentes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25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¿Cuál es la consecuencia directa de que dos servicios compartan la misma base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Mejora la consistencia y por eso es una buena práctica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Obliga a implementar Saga entre ambos servicios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Se pierde el despliegue independiente: un cambio de esquema los afecta a ambos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Aumenta la latencia de red entre los servicios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26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Una Saga falla en el tercer paso, después de haber emitido la factura. ¿Qué corresponde hacer?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Ejecutar un rollback distribuido sobre los tres servicios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Ejecutar la compensación definida: emitir una nota crédito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Reintentar el paso indefinidamente hasta que tenga éxito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Marcar la operación como inconsistente y escalarla a soporte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27 /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problema resuelve el patrón Outbox?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Evita que el mismo mensaje se entregue dos veces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Que la escritura en la base y la publicación del evento no queden desacopladas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Reduce la latencia entre servicios asíncronos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Permite compartir base de datos sin acoplar servicios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28 / 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5. Errores, cierre y trabajo de la unidad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Los errores que producen el monolito distribuido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03784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92811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0378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21" b="1">
                <a:solidFill>
                  <a:srgbClr val="0E2841"/>
                </a:solidFill>
                <a:latin typeface="Aptos Display"/>
              </a:rPr>
              <a:t>1. Cortar por capas técnicas en vez de capacidades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1780"/>
            <a:ext cx="11064240" cy="103784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66644"/>
            <a:ext cx="63500" cy="92811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1780"/>
            <a:ext cx="10378440" cy="10378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21" b="1">
                <a:solidFill>
                  <a:srgbClr val="0E2841"/>
                </a:solidFill>
                <a:latin typeface="Aptos Display"/>
              </a:rPr>
              <a:t>2. Compartir la base de datos entre servicios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50791"/>
            <a:ext cx="11064240" cy="103784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105655"/>
            <a:ext cx="63500" cy="92811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1"/>
            <a:ext cx="10378440" cy="10378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21" b="1">
                <a:solidFill>
                  <a:srgbClr val="0E2841"/>
                </a:solidFill>
                <a:latin typeface="Aptos Display"/>
              </a:rPr>
              <a:t>3. Servicios CRUD anémicos que solo envuelven una tabla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89804"/>
            <a:ext cx="11064240" cy="103784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344668"/>
            <a:ext cx="63500" cy="92811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89804"/>
            <a:ext cx="10378440" cy="10378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21" b="1">
                <a:solidFill>
                  <a:srgbClr val="0E2841"/>
                </a:solidFill>
                <a:latin typeface="Aptos Display"/>
              </a:rPr>
              <a:t>4. Llamadas en cadena síncronas: cinco saltos, cinco riesgos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29 / 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…y los que aparecen después, en operación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7900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68031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7900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0" b="1">
                <a:solidFill>
                  <a:srgbClr val="0E2841"/>
                </a:solidFill>
                <a:latin typeface="Aptos Display"/>
              </a:rPr>
              <a:t>5. Publicar comandos como si fueran eventos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63977"/>
            <a:ext cx="11064240" cy="7900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18841"/>
            <a:ext cx="63500" cy="68031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3977"/>
            <a:ext cx="10378440" cy="7900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0" b="1">
                <a:solidFill>
                  <a:srgbClr val="0E2841"/>
                </a:solidFill>
                <a:latin typeface="Aptos Display"/>
              </a:rPr>
              <a:t>6. Consumidores no idempotentes que duplican efectos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55187"/>
            <a:ext cx="11064240" cy="7900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610051"/>
            <a:ext cx="63500" cy="68031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55187"/>
            <a:ext cx="10378440" cy="7900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0" b="1">
                <a:solidFill>
                  <a:srgbClr val="0E2841"/>
                </a:solidFill>
                <a:latin typeface="Aptos Display"/>
              </a:rPr>
              <a:t>7. Omitir timeouts, y que un servicio lento arrastre a los demás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46396"/>
            <a:ext cx="11064240" cy="7900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601260"/>
            <a:ext cx="63500" cy="68031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46396"/>
            <a:ext cx="10378440" cy="7900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0" b="1">
                <a:solidFill>
                  <a:srgbClr val="0E2841"/>
                </a:solidFill>
                <a:latin typeface="Aptos Display"/>
              </a:rPr>
              <a:t>8. Adoptar el estilo sin CI/CD ni observabilidad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37606"/>
            <a:ext cx="11064240" cy="7900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592470"/>
            <a:ext cx="63500" cy="68031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7606"/>
            <a:ext cx="10378440" cy="7900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10" b="1">
                <a:solidFill>
                  <a:srgbClr val="0E2841"/>
                </a:solidFill>
                <a:latin typeface="Aptos Display"/>
              </a:rPr>
              <a:t>9. Empezar por microservicios en un dominio que no se entiende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30 / 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Del concepto al foro: cuatro piezas de una intervención sólida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Pieza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De dónde sale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Una descomposición propuesta, con sus límites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Sección 2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La justificación del corte (heurística usada)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Sección 2, las cinco heurísticas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El estilo de comunicación de cada relación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Sección 3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Cómo se mantiene la integridad entre servicios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Sección 4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31 / 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MICROSERVICIOS · ESP.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Tres ideas para llevarte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El corte manda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Por capacidad de negocio, nunca por capa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808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808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Lo síncrono acopla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pregunta es si esperas respuesta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0352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1520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Repartir datos mueve el problema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Saga, compensación, idempotencia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Arquitectura y Diseño de Software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32 /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
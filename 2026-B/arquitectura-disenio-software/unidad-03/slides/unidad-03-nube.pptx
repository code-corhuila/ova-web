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4"/>
  </p:sldMasterIdLst>
  <p:sldIdLst>
    <p:sldId id="256" r:id="rId7"/>
    <p:sldId id="257" r:id="rId6"/>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58"/>
  </p:normalViewPr>
  <p:slideViewPr>
    <p:cSldViewPr snapToGrid="0">
      <p:cViewPr varScale="1">
        <p:scale>
          <a:sx n="106" d="100"/>
          <a:sy n="106"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Abrir con la pregunta y dejar el silencio. Siempre hay alguien que responde «se cae» y alguien que responde «no pasa nada»; la diferencia entre esos dos sistemas es la unidad. Lo que la nube cambia no es dónde corre el servidor: es qué puedes suponer, y casi todo lo que se suponía en un centro de datos propio dejó de ser cierto.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Última unidad del curso: marcar el arco. La 1 dio el criterio para decidir, la 2 el criterio para repartir, esta muestra qué exige la operación real. El proyecto en equipo vale 40 % y cada requisito del enunciado sale de una sección de aquí. Recorrido en vivo: la responsabilidad compartida, sin estado, el circuit breaker y los tres pilares.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La consecuencia práctica de la fila 2 es la regla más importante de la unidad: si la aplicación guarda algo importante en el disco o en la memoria de la instancia, no puede escalar horizontalmente. Todo lo demás se deriva de ahí.</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Modelo de responsabilidad compartida, dicho sin rodeos: las filtraciones conocidas en la nube —buckets públicos, credenciales en un repositorio, puertos abiertos— ocurrieron del lado del cliente. Preguntar quién ha visto una credencial commiteada por accidente. Casi todos. Y borrarla después no la saca del historial de Git.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La tabla se lee de izquierda a derecha como una cesión progresiva de control a cambio de menos operación. Para el proyecto se trabaja en la franja IaaS/PaaS con contenedores, que es donde el enunciado pide Docker y Kubernetes.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El material los enumera; lo que hay que retener es el criterio de elección, no la definición. En Colombia el caso de nube privada suele venir por residencia de datos o por contrato con entidad pública, y eso es un requisito, no una preferencia técnica.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Los tres resuelven lo mismo con nombres distintos; memorizar el catálogo no aporta. Lo que decide es el grado de atadura: contenedores y PostgreSQL dejan la puerta abierta; los servicios exclusivos la cierran a cambio de productividad. Ambas son legítimas; lo que no lo es, tomarla sin saberlo.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La fila que importa es la última: escalar vertical no mejora la disponibilidad, solo compra tiempo, y horizontal no es una opción si la aplicación guarda estado. Además el costo vertical crece más que proporcionalmente: duplicar la máquina cuesta más del doble.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Síntoma clásico: «funciona con una instancia, pero al poner dos los usuarios pierden la sesión de forma intermitente». La reacción típica es activar sticky sessions, que oculta el problema y reintroduce el punto único de falla. Aquí se entiende por qué el proyecto pide JWT: token firmado, API sin estado, escalado horizontal. Todo conectado.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Escalar automáticamente exige decidir tres cosas: la métrica que dispara, los umbrales de subida y bajada —distintos, para evitar oscilación— y los límites mínimo y máximo, que acotan el gasto. `minReplicas: 2` no es escalado, es disponibilidad: con una sola réplica cualquier reinicio es una caída. Es la corrección más barata que existe.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Sorpresa más común del primer despliegue serio. Conectar con CQRS de la Unidad 1: separar el modelo de lectura del de escritura es una de las salidas. Y con ParkKbus: los reportes bloqueando la base operativa eran este problema visto desde el otro lado.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El escalado horizontal: las instancias dejan de ser intercambiables. Si la sesión vive en una instancia concreta, las peticiones no pueden repartirse libremente. EN VIVO. Si alguien menciona sticky sessions como solución, es el mejor momento de la sección: sí funciona, y por eso es peligroso.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Un sistema puede tolerar la caída de un nodo y aun así necesitar que alguien lo levante. La resiliencia agrega la recuperación automática, que depende de detectar el fallo: por eso el endpoint de salud debe verificar de verdad la base de datos y la caché.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Tabla de referencia para el proyecto, que exige circuit breaker y retry explícitamente. Bulkhead es el menos conocido: aislar pools de conexiones por dependencia para que la lentitud de una no agote los hilos de todas.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Recorrer el ciclo: cierra, abre cuando se supera el umbral, espera, deja pasar unas pocas de prueba y decide. Los cuatro números que hay que justificar en el proyecto son umbral de fallos, tiempo en abierto, tamaño de ventana y mínimo de llamadas.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El error más común: configurar el breaker y no definir el fallback. Sin alternativa se convierte una espera larga en un error inmediato: mejora el consumo de recursos y el usuario sigue sin servicio. La pregunta —«¿qué hace el sistema cuando la pasarela no está?»— es de negocio, no técnica. Y ojo con la última línea del retry: reintentar un rechazo de pago es cobrar tres veces.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TechShop Cloud exige 99,9 %: 43 minutos al mes. Restaurar a mano consume ese presupuesto entero en un solo incidente, así que el número por sí solo descarta la instancia única y el respaldo manual. Es el mejor ejemplo de la materia de cómo un RNF decide la arquitectura sin que nadie opine.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Los define el negocio, no el equipo técnico. Un RPO de cero exige replicación síncrona y cuesta; un RPO de una hora permite respaldos por lotes. Preguntarle al negocio, no adivinar.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Tolerar es seguir operando pese al fallo; ser resiliente es recuperarse sin intervención. Un sistema puede tolerar la caída de un nodo y aun así necesitar que alguien lo levante a mano. EN VIVO.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Que el fallo sea inmediato en lugar de lento, pero siga siendo fallo. El breaker protege recursos al dejar de llamar, pero no inventa una respuesta. EN VIVO. Si aciertan rápido, subir la apuesta: ¿cuál sería un fallback aceptable para el checkout? Encolar y confirmar por correo es válido; rechazar también, si el negocio lo prefiere. Lo que no es válido es no haberlo decidido.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Una única instancia con respaldo y restauración manual. 99,9 % son unos 43 minutos al mes; restaurar a mano consume ese presupuesto en un solo incidente. CONSULTA.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Confundir los dos primeros produce la falla más frecuente y más grave: el usuario está autenticado, sí, pero eso no lo autoriza a borrar productos ajenos. Es el primer riesgo del OWASP Top Ten.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Pegar un token en jwt.io y leerlo en pantalla es la demostración que más impacta. Lo que sí resuelve el JWT es verificar sin consultar la base, y eso permite ser sin estado —volvemos al bloque 2—. Su límite: no se puede revocar antes de expirar; por eso expiración corta, 15 minutos, más refresh token.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La columna de PROVIDER muestra el matiz: «solo propios» es una condición sobre el **dato**, no sobre el usuario. Cuando aparece ese matiz, el RBAC necesita una comprobación adicional de pertenencia en el caso de uso. Si falta, hay control de acceso roto aunque el `@PreAuthorize` esté puesto.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Error que aparece cada semestre y no es un detalle: es conceptual. Un hash no es un cifrado con la clave perdida. Pregunta que lo cierra: ¿alguna vez necesitas leer la contraseña original? Nunca. Solo compararla.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En el proyecto: `JWT_SECRET` y la contraseña de la base llegan por variable de entorno, el `.env` va en `.gitignore`. Una credencial en el historial de Git sigue ahí aunque después se borre.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De la lista OWASP Top Ten, referenciada en el enunciado del proyecto. El 1 es el más frecuente y el que se verifica en la rúbrica; el 2 es el que produjo los incidentes públicos más sonados.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Porque va codificada, no cifrada: cualquiera con el token puede leerla. La firma garantiza integridad y autenticidad, no confidencialidad. EN VIVO.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Con una función de hash lenta y con sal, como bcrypt o Argon2. Cualquier cifrado es reversible; el hash con sal no se descifra, solo se compara. EN VIVO.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De la configuración, las identidades, el cifrado y sus datos. El proveedor asegura la infraestructura de la nube; el cliente asegura lo que pone en ella. CONSULTA.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No se puede recuperar automáticamente de un fallo que el sistema no detecta. Los tres pilares son complementarios: la métrica dice que algo va mal, la traza dice dónde, el registro dice qué.</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Regla mínima para el proyecto: un identificador de correlación que viaje en todas las llamadas y aparezca en todos los registros, y un endpoint de salud que verifique de verdad las dependencias, no que devuelva `OK` fijo. Un health check que siempre responde 200 mantiene en rotación instancias que no pueden atender.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Verificar las dependencias críticas, como base de datos y caché. Debe fallar cuando la instancia no es capaz de servir; esa señal es la que dispara la recuperación automática. EN VIVO. Cierra la sección y conecta con la definición de resiliencia del bloque 3: sin detección no hay recuperación automática. La opción A es tentadora y es exactamente lo que hace mucha gente para «que no moleste el balanceador».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cierre. Orden de trabajo que menos duele: dominio con pruebas, casos de uso, adaptadores, contenedor, seguridad, resiliencia, observabilidad. Empezar por Docker o por el JWT es la forma más rápida de terminar con una aplicación que despliega bien y no tiene dominio que proteger.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Cerrar el curso completo: Unidad 1 el criterio para decidir, Unidad 2 dónde repartir, Unidad 3 qué exige la operación. El proyecto vale 40 % y es en equipo: la práctica opcional es la reunión de diseño y el manual levanta el esqueleto ejecutable completo. Entrega en el aula.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C6517A-6E51-D8FF-5518-33DCF1BB831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BA5F916A-7D6A-E8AF-439A-8D6840C6F0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846680D-0A49-4B54-F51B-03AA27F6B2CE}"/>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5396F560-F0B8-AB29-82CA-A2DDE7D3568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5D50BE2-EBBD-61B9-3E6C-B4C2BA988EBE}"/>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4168766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8836D1-D4F9-8F5A-DCDD-25408D7D36D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551DC57-A21A-5278-EC55-4C245B3FC0B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02E49EC-4920-0E2F-9C8B-0B674CB07209}"/>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F31254A-3742-246E-D797-82A0482FE25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2D15C84-0D5E-FBD8-F4A6-A48214F7CB87}"/>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553980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5FBBEC-EF89-8C3C-71B9-577DC2668AB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6B7EF770-ACB6-2BA3-E667-9EBABFB4AE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DAD28F8-48D0-258C-AD9D-D166F7F2D745}"/>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68163DA-7927-EC0F-B832-B0D9CEF2421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7D2D961-09A6-F702-5A58-9A2E9D96BDE2}"/>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714478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EAE57A-7BC8-A4F0-8EC3-29FA071B4D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66DB23D6-B010-B5CB-011A-B03D0B3E9DF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180C2A42-464D-5E30-A614-F5201EA4318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6B7E369D-DA34-3508-5F83-FE255ACE6A7E}"/>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5FAF6228-C474-55C2-F2A3-A80C9ECB9BE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E2CA109-4F43-98C5-5BA6-85F5B496EC33}"/>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215908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ADADB-6CDF-BDB1-1300-FAEA2D84BEE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07B4924-BB64-D547-A28B-666362350C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07D8AA5-BF4A-D02D-E702-0FBE685A508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6BC7471-CDF8-0C0F-6D28-4001FC2838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33769A5-222B-5317-4503-6E9D363E28B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A17FE0D7-3EEC-E3E6-7C86-CF7C18AB6C98}"/>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8" name="Marcador de pie de página 7">
            <a:extLst>
              <a:ext uri="{FF2B5EF4-FFF2-40B4-BE49-F238E27FC236}">
                <a16:creationId xmlns:a16="http://schemas.microsoft.com/office/drawing/2014/main" id="{C8EFF3E5-4BD9-D039-6F0A-0A92B04A1CB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8DF0DEE6-C861-6117-2772-892873D92EAD}"/>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448347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91AA1F-2C39-64AF-4C6F-BF1C44530D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F0E135E8-59EC-9B87-4141-B4E0DEA152F1}"/>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4" name="Marcador de pie de página 3">
            <a:extLst>
              <a:ext uri="{FF2B5EF4-FFF2-40B4-BE49-F238E27FC236}">
                <a16:creationId xmlns:a16="http://schemas.microsoft.com/office/drawing/2014/main" id="{22565AFD-1683-D460-140D-9F48CBCBAB0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3E711735-1F41-F218-7243-AC89EA548BC9}"/>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261154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188DA81-50FE-72AF-6F22-3D317B92F3BC}"/>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3" name="Marcador de pie de página 2">
            <a:extLst>
              <a:ext uri="{FF2B5EF4-FFF2-40B4-BE49-F238E27FC236}">
                <a16:creationId xmlns:a16="http://schemas.microsoft.com/office/drawing/2014/main" id="{4DADFFC1-222F-FA4F-F745-4AECF65CE08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AFB47231-DA7E-E86D-0ECA-3CD935CB1700}"/>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469125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6A5293-4CAF-8D46-B44D-99EAF11FD55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AA782D5-A60C-369C-7F2E-20DC36F50E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53C7E45F-8F4D-4A4A-AD2B-580AA0500F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E49A9D3-41A6-5F05-3785-C76553A3237C}"/>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F339118E-A5D9-04A8-223B-C952BE30109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AFCCC82-59BC-CBA8-F9A5-1C4603AD8128}"/>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328771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0C677B-1ABC-81D6-857F-7E1F6785CB1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B8FFF9DA-1F76-6604-0F69-D17DFFA8AD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94FD3A44-53F9-E2AD-4B37-3C2CD8A25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EA3A846-4373-5BFE-DCED-CDECAACAAD8F}"/>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C0137096-4AD9-8D1E-B119-EDDF0F3EA80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7ADAE5B-0E78-C71A-B918-853E86CE07AC}"/>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464844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A2BA9E-020E-BCD8-9EA9-9BDFB1673E5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D2EE6B7-CD7D-EA57-7B4D-87C2F63C8D6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6BA0735-0CBD-5147-C06C-3B03006C1423}"/>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CCAF2C5-C162-2021-6EDC-A716463031D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6AD3F66-F4A3-A221-BA4A-2F327442751D}"/>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161594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64F149B-9E13-3157-0B62-971D8EB526C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F87BBD2-5343-3A5D-564E-2D534BC7D0F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CB2F397-0E8A-92C8-93C4-9018446E3819}"/>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216F7EEE-EA06-5E8F-8174-D1B755A7BBE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D7410F1-59DC-8093-6A75-33AE1285CCFE}"/>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7039316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1D6B204-4AEE-9E74-8DF2-926D69EDA9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E631246-8F97-5699-6653-D3A77D7644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73B2563-9278-5DCC-E5B5-CCE80A0280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74AD3EE7-759B-C8A2-7A15-CC1FFB8018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99BE85B8-1FF9-DDC6-E068-D7EEA7240D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08E7FD-F6A8-D246-986A-AA7D283E6007}" type="slidenum">
              <a:rPr lang="es-CO" smtClean="0"/>
              <a:t>‹Nº›</a:t>
            </a:fld>
            <a:endParaRPr lang="es-CO"/>
          </a:p>
        </p:txBody>
      </p:sp>
    </p:spTree>
    <p:extLst>
      <p:ext uri="{BB962C8B-B14F-4D97-AF65-F5344CB8AC3E}">
        <p14:creationId xmlns:p14="http://schemas.microsoft.com/office/powerpoint/2010/main" val="196690471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20440"/>
            <a:ext cx="11734800" cy="25146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Institucional-con-advertencia-Vigilado-Mineducacion-Blanco.png"/>
          <p:cNvPicPr>
            <a:picLocks noChangeAspect="1"/>
          </p:cNvPicPr>
          <p:nvPr/>
        </p:nvPicPr>
        <p:blipFill>
          <a:blip r:embed="rId2"/>
          <a:stretch>
            <a:fillRect/>
          </a:stretch>
        </p:blipFill>
        <p:spPr>
          <a:xfrm>
            <a:off x="4844395" y="548640"/>
            <a:ext cx="2503210" cy="2286000"/>
          </a:xfrm>
          <a:prstGeom prst="rect">
            <a:avLst/>
          </a:prstGeom>
        </p:spPr>
      </p:pic>
      <p:sp>
        <p:nvSpPr>
          <p:cNvPr id="5" name="Rectangle 4"/>
          <p:cNvSpPr/>
          <p:nvPr/>
        </p:nvSpPr>
        <p:spPr>
          <a:xfrm>
            <a:off x="457200" y="3429000"/>
            <a:ext cx="11734800" cy="76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703320"/>
            <a:ext cx="10881360" cy="1280160"/>
          </a:xfrm>
          <a:prstGeom prst="rect">
            <a:avLst/>
          </a:prstGeom>
          <a:noFill/>
        </p:spPr>
        <p:txBody>
          <a:bodyPr wrap="square" anchor="t" lIns="0" rIns="0" tIns="0" bIns="0">
            <a:spAutoFit/>
          </a:bodyPr>
          <a:lstStyle/>
          <a:p>
            <a:pPr algn="ctr"/>
            <a:r>
              <a:rPr sz="3800" b="1">
                <a:solidFill>
                  <a:srgbClr val="FFFFFF"/>
                </a:solidFill>
                <a:latin typeface="Aptos Display"/>
              </a:rPr>
              <a:t>Arquitectura en la nube</a:t>
            </a:r>
          </a:p>
        </p:txBody>
      </p:sp>
      <p:sp>
        <p:nvSpPr>
          <p:cNvPr id="7" name="TextBox 6"/>
          <p:cNvSpPr txBox="1"/>
          <p:nvPr/>
        </p:nvSpPr>
        <p:spPr>
          <a:xfrm>
            <a:off x="640080" y="5029200"/>
            <a:ext cx="10881360" cy="457200"/>
          </a:xfrm>
          <a:prstGeom prst="rect">
            <a:avLst/>
          </a:prstGeom>
          <a:noFill/>
        </p:spPr>
        <p:txBody>
          <a:bodyPr wrap="square" anchor="t" lIns="0" rIns="0" tIns="0" bIns="0">
            <a:spAutoFit/>
          </a:bodyPr>
          <a:lstStyle/>
          <a:p>
            <a:pPr algn="ctr"/>
            <a:r>
              <a:rPr sz="1500" b="0">
                <a:solidFill>
                  <a:srgbClr val="E8E8E8"/>
                </a:solidFill>
                <a:latin typeface="Aptos"/>
              </a:rPr>
              <a:t>Arquitectura y Diseño de Software  ·  Jesús Ariel González Bonilla  ·  2026-B  ·  Corte 1  ·  Unidad 3</a:t>
            </a:r>
          </a:p>
        </p:txBody>
      </p:sp>
      <p:sp>
        <p:nvSpPr>
          <p:cNvPr id="8" name="TextBox 7"/>
          <p:cNvSpPr txBox="1"/>
          <p:nvPr/>
        </p:nvSpPr>
        <p:spPr>
          <a:xfrm>
            <a:off x="1371600" y="5532120"/>
            <a:ext cx="9418320" cy="457200"/>
          </a:xfrm>
          <a:prstGeom prst="rect">
            <a:avLst/>
          </a:prstGeom>
          <a:noFill/>
        </p:spPr>
        <p:txBody>
          <a:bodyPr wrap="square" anchor="t" lIns="0" rIns="0" tIns="0" bIns="0">
            <a:spAutoFit/>
          </a:bodyPr>
          <a:lstStyle/>
          <a:p>
            <a:pPr algn="ctr"/>
            <a:r>
              <a:rPr sz="1300" b="0">
                <a:solidFill>
                  <a:srgbClr val="E8E8E8"/>
                </a:solidFill>
                <a:latin typeface="Aptos"/>
              </a:rPr>
              <a:t>Escalabilidad, tolerancia a fallos y seguridad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2500" b="1">
                <a:solidFill>
                  <a:srgbClr val="0E2841"/>
                </a:solidFill>
                <a:latin typeface="Aptos Display"/>
              </a:rPr>
              <a:t>La nube no hace que tu sistema escale; solo te deja intentarlo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128723"/>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2018995"/>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2128723"/>
          </a:xfrm>
          <a:prstGeom prst="rect">
            <a:avLst/>
          </a:prstGeom>
          <a:noFill/>
        </p:spPr>
        <p:txBody>
          <a:bodyPr wrap="square" anchor="ctr" lIns="0" rIns="0" tIns="0" bIns="0">
            <a:spAutoFit/>
          </a:bodyPr>
          <a:lstStyle/>
          <a:p>
            <a:pPr algn="l">
              <a:lnSpc>
                <a:spcPct val="125000"/>
              </a:lnSpc>
            </a:pPr>
            <a:r>
              <a:rPr sz="2903" b="1">
                <a:solidFill>
                  <a:srgbClr val="0E2841"/>
                </a:solidFill>
                <a:latin typeface="Aptos Display"/>
              </a:rPr>
              <a:t>¿Qué pasa si alguien apaga ahora mismo la máquina donde corre su aplicación?</a:t>
            </a:r>
          </a:p>
        </p:txBody>
      </p:sp>
      <p:sp>
        <p:nvSpPr>
          <p:cNvPr id="10" name="Oval 9"/>
          <p:cNvSpPr/>
          <p:nvPr/>
        </p:nvSpPr>
        <p:spPr>
          <a:xfrm>
            <a:off x="585216" y="4256531"/>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3902659"/>
            <a:ext cx="10698480" cy="808329"/>
          </a:xfrm>
          <a:prstGeom prst="rect">
            <a:avLst/>
          </a:prstGeom>
          <a:noFill/>
        </p:spPr>
        <p:txBody>
          <a:bodyPr wrap="square" anchor="ctr" lIns="0" rIns="0" tIns="0" bIns="0">
            <a:spAutoFit/>
          </a:bodyPr>
          <a:lstStyle/>
          <a:p>
            <a:pPr algn="l"/>
            <a:r>
              <a:rPr sz="2771" b="1">
                <a:solidFill>
                  <a:srgbClr val="0E2841"/>
                </a:solidFill>
                <a:latin typeface="Aptos"/>
              </a:rPr>
              <a:t>La instancia es desechable, no tiene nombre</a:t>
            </a:r>
          </a:p>
        </p:txBody>
      </p:sp>
      <p:sp>
        <p:nvSpPr>
          <p:cNvPr id="12" name="Oval 11"/>
          <p:cNvSpPr/>
          <p:nvPr/>
        </p:nvSpPr>
        <p:spPr>
          <a:xfrm>
            <a:off x="585216" y="506486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4710988"/>
            <a:ext cx="10698480" cy="808329"/>
          </a:xfrm>
          <a:prstGeom prst="rect">
            <a:avLst/>
          </a:prstGeom>
          <a:noFill/>
        </p:spPr>
        <p:txBody>
          <a:bodyPr wrap="square" anchor="ctr" lIns="0" rIns="0" tIns="0" bIns="0">
            <a:spAutoFit/>
          </a:bodyPr>
          <a:lstStyle/>
          <a:p>
            <a:pPr algn="l"/>
            <a:r>
              <a:rPr sz="2771" b="1">
                <a:solidFill>
                  <a:srgbClr val="0E2841"/>
                </a:solidFill>
                <a:latin typeface="Aptos"/>
              </a:rPr>
              <a:t>El disco local se pierde al reiniciar</a:t>
            </a:r>
          </a:p>
        </p:txBody>
      </p:sp>
      <p:sp>
        <p:nvSpPr>
          <p:cNvPr id="14" name="Oval 13"/>
          <p:cNvSpPr/>
          <p:nvPr/>
        </p:nvSpPr>
        <p:spPr>
          <a:xfrm>
            <a:off x="585216" y="587319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5519318"/>
            <a:ext cx="10698480" cy="808329"/>
          </a:xfrm>
          <a:prstGeom prst="rect">
            <a:avLst/>
          </a:prstGeom>
          <a:noFill/>
        </p:spPr>
        <p:txBody>
          <a:bodyPr wrap="square" anchor="ctr" lIns="0" rIns="0" tIns="0" bIns="0">
            <a:spAutoFit/>
          </a:bodyPr>
          <a:lstStyle/>
          <a:p>
            <a:pPr algn="l"/>
            <a:r>
              <a:rPr sz="2771" b="1">
                <a:solidFill>
                  <a:srgbClr val="0E2841"/>
                </a:solidFill>
                <a:latin typeface="Aptos"/>
              </a:rPr>
              <a:t>La red falla, y hay que diseñar para eso</a:t>
            </a:r>
          </a:p>
        </p:txBody>
      </p:sp>
      <p:sp>
        <p:nvSpPr>
          <p:cNvPr id="16" name="TextBox 1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17" name="TextBox 1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 / 35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 que vas a poder hacer al terminar la unidad</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Oval 6"/>
          <p:cNvSpPr/>
          <p:nvPr/>
        </p:nvSpPr>
        <p:spPr>
          <a:xfrm>
            <a:off x="585216" y="2116835"/>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810511"/>
            <a:ext cx="10698480" cy="713232"/>
          </a:xfrm>
          <a:prstGeom prst="rect">
            <a:avLst/>
          </a:prstGeom>
          <a:noFill/>
        </p:spPr>
        <p:txBody>
          <a:bodyPr wrap="square" anchor="ctr" lIns="0" rIns="0" tIns="0" bIns="0">
            <a:spAutoFit/>
          </a:bodyPr>
          <a:lstStyle/>
          <a:p>
            <a:pPr algn="l"/>
            <a:r>
              <a:rPr sz="2520" b="1">
                <a:solidFill>
                  <a:srgbClr val="0E2841"/>
                </a:solidFill>
                <a:latin typeface="Aptos"/>
              </a:rPr>
              <a:t>Elegir modelo de servicio y de despliegue con criterio</a:t>
            </a:r>
          </a:p>
        </p:txBody>
      </p:sp>
      <p:sp>
        <p:nvSpPr>
          <p:cNvPr id="9" name="Oval 8"/>
          <p:cNvSpPr/>
          <p:nvPr/>
        </p:nvSpPr>
        <p:spPr>
          <a:xfrm>
            <a:off x="585216" y="2830068"/>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523744"/>
            <a:ext cx="10698480" cy="713232"/>
          </a:xfrm>
          <a:prstGeom prst="rect">
            <a:avLst/>
          </a:prstGeom>
          <a:noFill/>
        </p:spPr>
        <p:txBody>
          <a:bodyPr wrap="square" anchor="ctr" lIns="0" rIns="0" tIns="0" bIns="0">
            <a:spAutoFit/>
          </a:bodyPr>
          <a:lstStyle/>
          <a:p>
            <a:pPr algn="l"/>
            <a:r>
              <a:rPr sz="2520" b="1">
                <a:solidFill>
                  <a:srgbClr val="0E2841"/>
                </a:solidFill>
                <a:latin typeface="Aptos"/>
              </a:rPr>
              <a:t>Diseñar aplicaciones que escalen horizontalmente</a:t>
            </a:r>
          </a:p>
        </p:txBody>
      </p:sp>
      <p:sp>
        <p:nvSpPr>
          <p:cNvPr id="11" name="Oval 10"/>
          <p:cNvSpPr/>
          <p:nvPr/>
        </p:nvSpPr>
        <p:spPr>
          <a:xfrm>
            <a:off x="585216" y="354330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3236976"/>
            <a:ext cx="10698480" cy="713232"/>
          </a:xfrm>
          <a:prstGeom prst="rect">
            <a:avLst/>
          </a:prstGeom>
          <a:noFill/>
        </p:spPr>
        <p:txBody>
          <a:bodyPr wrap="square" anchor="ctr" lIns="0" rIns="0" tIns="0" bIns="0">
            <a:spAutoFit/>
          </a:bodyPr>
          <a:lstStyle/>
          <a:p>
            <a:pPr algn="l"/>
            <a:r>
              <a:rPr sz="2520" b="1">
                <a:solidFill>
                  <a:srgbClr val="0E2841"/>
                </a:solidFill>
                <a:latin typeface="Aptos"/>
              </a:rPr>
              <a:t>Aplicar los patrones de resiliencia y saber qué resuelve cada uno</a:t>
            </a:r>
          </a:p>
        </p:txBody>
      </p:sp>
      <p:sp>
        <p:nvSpPr>
          <p:cNvPr id="13" name="Oval 12"/>
          <p:cNvSpPr/>
          <p:nvPr/>
        </p:nvSpPr>
        <p:spPr>
          <a:xfrm>
            <a:off x="585216" y="4256532"/>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3950208"/>
            <a:ext cx="10698480" cy="713232"/>
          </a:xfrm>
          <a:prstGeom prst="rect">
            <a:avLst/>
          </a:prstGeom>
          <a:noFill/>
        </p:spPr>
        <p:txBody>
          <a:bodyPr wrap="square" anchor="ctr" lIns="0" rIns="0" tIns="0" bIns="0">
            <a:spAutoFit/>
          </a:bodyPr>
          <a:lstStyle/>
          <a:p>
            <a:pPr algn="l"/>
            <a:r>
              <a:rPr sz="2520" b="1">
                <a:solidFill>
                  <a:srgbClr val="0E2841"/>
                </a:solidFill>
                <a:latin typeface="Aptos"/>
              </a:rPr>
              <a:t>Separar autenticación, autorización y cifrado</a:t>
            </a:r>
          </a:p>
        </p:txBody>
      </p:sp>
      <p:sp>
        <p:nvSpPr>
          <p:cNvPr id="15" name="Oval 14"/>
          <p:cNvSpPr/>
          <p:nvPr/>
        </p:nvSpPr>
        <p:spPr>
          <a:xfrm>
            <a:off x="585216" y="4969764"/>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4663440"/>
            <a:ext cx="10698480" cy="713232"/>
          </a:xfrm>
          <a:prstGeom prst="rect">
            <a:avLst/>
          </a:prstGeom>
          <a:noFill/>
        </p:spPr>
        <p:txBody>
          <a:bodyPr wrap="square" anchor="ctr" lIns="0" rIns="0" tIns="0" bIns="0">
            <a:spAutoFit/>
          </a:bodyPr>
          <a:lstStyle/>
          <a:p>
            <a:pPr algn="l"/>
            <a:r>
              <a:rPr sz="2520" b="1">
                <a:solidFill>
                  <a:srgbClr val="0E2841"/>
                </a:solidFill>
                <a:latin typeface="Aptos"/>
              </a:rPr>
              <a:t>Definir observabilidad que permita diagnosticar</a:t>
            </a:r>
          </a:p>
        </p:txBody>
      </p:sp>
      <p:sp>
        <p:nvSpPr>
          <p:cNvPr id="17" name="Oval 16"/>
          <p:cNvSpPr/>
          <p:nvPr/>
        </p:nvSpPr>
        <p:spPr>
          <a:xfrm>
            <a:off x="585216" y="5682996"/>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5376672"/>
            <a:ext cx="10698480" cy="713232"/>
          </a:xfrm>
          <a:prstGeom prst="rect">
            <a:avLst/>
          </a:prstGeom>
          <a:noFill/>
        </p:spPr>
        <p:txBody>
          <a:bodyPr wrap="square" anchor="ctr" lIns="0" rIns="0" tIns="0" bIns="0">
            <a:spAutoFit/>
          </a:bodyPr>
          <a:lstStyle/>
          <a:p>
            <a:pPr algn="l"/>
            <a:r>
              <a:rPr sz="2520" b="1">
                <a:solidFill>
                  <a:srgbClr val="0E2841"/>
                </a:solidFill>
                <a:latin typeface="Aptos"/>
              </a:rPr>
              <a:t>Arrancar el proyecto TechShop Cloud con criterio</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 / 35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01</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1. Qué cambia en la nube</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Casi todo lo que suponías dejó de ser cierto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5532120"/>
                <a:gridCol w="5532120"/>
              </a:tblGrid>
              <a:tr h="729081">
                <a:tc>
                  <a:txBody>
                    <a:bodyPr wrap="square"/>
                    <a:lstStyle/>
                    <a:p>
                      <a:r>
                        <a:rPr sz="1725" b="1">
                          <a:solidFill>
                            <a:srgbClr val="FFFFFF"/>
                          </a:solidFill>
                          <a:latin typeface="Aptos"/>
                        </a:rPr>
                        <a:t>Supuesto del centro de datos propio</a:t>
                      </a:r>
                    </a:p>
                  </a:txBody>
                  <a:tcPr anchor="ctr" marL="146304" marR="146304">
                    <a:solidFill>
                      <a:srgbClr val="156082"/>
                    </a:solidFill>
                  </a:tcPr>
                </a:tc>
                <a:tc>
                  <a:txBody>
                    <a:bodyPr wrap="square"/>
                    <a:lstStyle/>
                    <a:p>
                      <a:r>
                        <a:rPr sz="1725" b="1">
                          <a:solidFill>
                            <a:srgbClr val="FFFFFF"/>
                          </a:solidFill>
                          <a:latin typeface="Aptos"/>
                        </a:rPr>
                        <a:t>Supuesto en la nube</a:t>
                      </a:r>
                    </a:p>
                  </a:txBody>
                  <a:tcPr anchor="ctr" marL="146304" marR="146304">
                    <a:solidFill>
                      <a:srgbClr val="156082"/>
                    </a:solidFill>
                  </a:tcPr>
                </a:tc>
              </a:tr>
              <a:tr h="729081">
                <a:tc>
                  <a:txBody>
                    <a:bodyPr wrap="square"/>
                    <a:lstStyle/>
                    <a:p>
                      <a:r>
                        <a:rPr sz="1609" b="1">
                          <a:solidFill>
                            <a:srgbClr val="33475B"/>
                          </a:solidFill>
                          <a:latin typeface="Aptos"/>
                        </a:rPr>
                        <a:t>El servidor es estable y tiene nombre</a:t>
                      </a:r>
                    </a:p>
                  </a:txBody>
                  <a:tcPr anchor="ctr" marL="146304" marR="146304">
                    <a:solidFill>
                      <a:srgbClr val="FFFFFF"/>
                    </a:solidFill>
                  </a:tcPr>
                </a:tc>
                <a:tc>
                  <a:txBody>
                    <a:bodyPr wrap="square"/>
                    <a:lstStyle/>
                    <a:p>
                      <a:r>
                        <a:rPr sz="1609" b="0">
                          <a:solidFill>
                            <a:srgbClr val="33475B"/>
                          </a:solidFill>
                          <a:latin typeface="Aptos"/>
                        </a:rPr>
                        <a:t>Las instancias son desechables y sin identidad</a:t>
                      </a:r>
                    </a:p>
                  </a:txBody>
                  <a:tcPr anchor="ctr" marL="146304" marR="146304">
                    <a:solidFill>
                      <a:srgbClr val="FFFFFF"/>
                    </a:solidFill>
                  </a:tcPr>
                </a:tc>
              </a:tr>
              <a:tr h="729081">
                <a:tc>
                  <a:txBody>
                    <a:bodyPr wrap="square"/>
                    <a:lstStyle/>
                    <a:p>
                      <a:r>
                        <a:rPr sz="1609" b="1">
                          <a:solidFill>
                            <a:srgbClr val="33475B"/>
                          </a:solidFill>
                          <a:latin typeface="Aptos"/>
                        </a:rPr>
                        <a:t>El disco local persiste</a:t>
                      </a:r>
                    </a:p>
                  </a:txBody>
                  <a:tcPr anchor="ctr" marL="146304" marR="146304">
                    <a:solidFill>
                      <a:srgbClr val="F4F7FA"/>
                    </a:solidFill>
                  </a:tcPr>
                </a:tc>
                <a:tc>
                  <a:txBody>
                    <a:bodyPr wrap="square"/>
                    <a:lstStyle/>
                    <a:p>
                      <a:r>
                        <a:rPr sz="1609" b="0">
                          <a:solidFill>
                            <a:srgbClr val="33475B"/>
                          </a:solidFill>
                          <a:latin typeface="Aptos"/>
                        </a:rPr>
                        <a:t>El disco local se pierde al reiniciar</a:t>
                      </a:r>
                    </a:p>
                  </a:txBody>
                  <a:tcPr anchor="ctr" marL="146304" marR="146304">
                    <a:solidFill>
                      <a:srgbClr val="F4F7FA"/>
                    </a:solidFill>
                  </a:tcPr>
                </a:tc>
              </a:tr>
              <a:tr h="729081">
                <a:tc>
                  <a:txBody>
                    <a:bodyPr wrap="square"/>
                    <a:lstStyle/>
                    <a:p>
                      <a:r>
                        <a:rPr sz="1609" b="1">
                          <a:solidFill>
                            <a:srgbClr val="33475B"/>
                          </a:solidFill>
                          <a:latin typeface="Aptos"/>
                        </a:rPr>
                        <a:t>La red interna es confiable</a:t>
                      </a:r>
                    </a:p>
                  </a:txBody>
                  <a:tcPr anchor="ctr" marL="146304" marR="146304">
                    <a:solidFill>
                      <a:srgbClr val="FFFFFF"/>
                    </a:solidFill>
                  </a:tcPr>
                </a:tc>
                <a:tc>
                  <a:txBody>
                    <a:bodyPr wrap="square"/>
                    <a:lstStyle/>
                    <a:p>
                      <a:r>
                        <a:rPr sz="1609" b="0">
                          <a:solidFill>
                            <a:srgbClr val="33475B"/>
                          </a:solidFill>
                          <a:latin typeface="Aptos"/>
                        </a:rPr>
                        <a:t>La red falla y hay que diseñar para eso</a:t>
                      </a:r>
                    </a:p>
                  </a:txBody>
                  <a:tcPr anchor="ctr" marL="146304" marR="146304">
                    <a:solidFill>
                      <a:srgbClr val="FFFFFF"/>
                    </a:solidFill>
                  </a:tcPr>
                </a:tc>
              </a:tr>
              <a:tr h="729081">
                <a:tc>
                  <a:txBody>
                    <a:bodyPr wrap="square"/>
                    <a:lstStyle/>
                    <a:p>
                      <a:r>
                        <a:rPr sz="1609" b="1">
                          <a:solidFill>
                            <a:srgbClr val="33475B"/>
                          </a:solidFill>
                          <a:latin typeface="Aptos"/>
                        </a:rPr>
                        <a:t>Escalar es comprar hardware</a:t>
                      </a:r>
                    </a:p>
                  </a:txBody>
                  <a:tcPr anchor="ctr" marL="146304" marR="146304">
                    <a:solidFill>
                      <a:srgbClr val="F4F7FA"/>
                    </a:solidFill>
                  </a:tcPr>
                </a:tc>
                <a:tc>
                  <a:txBody>
                    <a:bodyPr wrap="square"/>
                    <a:lstStyle/>
                    <a:p>
                      <a:r>
                        <a:rPr sz="1609" b="0">
                          <a:solidFill>
                            <a:srgbClr val="33475B"/>
                          </a:solidFill>
                          <a:latin typeface="Aptos"/>
                        </a:rPr>
                        <a:t>Escalar es una decisión de diseño y de costo</a:t>
                      </a:r>
                    </a:p>
                  </a:txBody>
                  <a:tcPr anchor="ctr" marL="146304" marR="146304">
                    <a:solidFill>
                      <a:srgbClr val="F4F7FA"/>
                    </a:solidFill>
                  </a:tcPr>
                </a:tc>
              </a:tr>
              <a:tr h="729081">
                <a:tc>
                  <a:txBody>
                    <a:bodyPr wrap="square"/>
                    <a:lstStyle/>
                    <a:p>
                      <a:r>
                        <a:rPr sz="1609" b="1">
                          <a:solidFill>
                            <a:srgbClr val="33475B"/>
                          </a:solidFill>
                          <a:latin typeface="Aptos"/>
                        </a:rPr>
                        <a:t>La capacidad es fija</a:t>
                      </a:r>
                    </a:p>
                  </a:txBody>
                  <a:tcPr anchor="ctr" marL="146304" marR="146304">
                    <a:solidFill>
                      <a:srgbClr val="FFFFFF"/>
                    </a:solidFill>
                  </a:tcPr>
                </a:tc>
                <a:tc>
                  <a:txBody>
                    <a:bodyPr wrap="square"/>
                    <a:lstStyle/>
                    <a:p>
                      <a:r>
                        <a:rPr sz="1609" b="0">
                          <a:solidFill>
                            <a:srgbClr val="33475B"/>
                          </a:solidFill>
                          <a:latin typeface="Aptos"/>
                        </a:rPr>
                        <a:t>La capacidad varía, y la factura con ella</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 / 35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2500" b="1">
                <a:solidFill>
                  <a:srgbClr val="0E2841"/>
                </a:solidFill>
                <a:latin typeface="Aptos Display"/>
              </a:rPr>
              <a:t>El proveedor asegura la nube; tú aseguras lo que pones en ella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58060"/>
            <a:ext cx="5367528" cy="418429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 Same Side Corner Rectangle 7"/>
          <p:cNvSpPr/>
          <p:nvPr/>
        </p:nvSpPr>
        <p:spPr>
          <a:xfrm>
            <a:off x="566928" y="1858060"/>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858060"/>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Responde el proveedor</a:t>
            </a:r>
          </a:p>
        </p:txBody>
      </p:sp>
      <p:sp>
        <p:nvSpPr>
          <p:cNvPr id="10" name="Oval 9"/>
          <p:cNvSpPr/>
          <p:nvPr/>
        </p:nvSpPr>
        <p:spPr>
          <a:xfrm>
            <a:off x="786384" y="3174796"/>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918764"/>
            <a:ext cx="4709160" cy="603504"/>
          </a:xfrm>
          <a:prstGeom prst="rect">
            <a:avLst/>
          </a:prstGeom>
          <a:noFill/>
        </p:spPr>
        <p:txBody>
          <a:bodyPr wrap="square" anchor="ctr" lIns="0" rIns="0" tIns="0" bIns="0">
            <a:spAutoFit/>
          </a:bodyPr>
          <a:lstStyle/>
          <a:p>
            <a:pPr algn="l"/>
            <a:r>
              <a:rPr sz="1609" b="0">
                <a:solidFill>
                  <a:srgbClr val="33475B"/>
                </a:solidFill>
                <a:latin typeface="Aptos"/>
              </a:rPr>
              <a:t>Hardware, virtualización, seguridad física</a:t>
            </a:r>
          </a:p>
        </p:txBody>
      </p:sp>
      <p:sp>
        <p:nvSpPr>
          <p:cNvPr id="12" name="Oval 11"/>
          <p:cNvSpPr/>
          <p:nvPr/>
        </p:nvSpPr>
        <p:spPr>
          <a:xfrm>
            <a:off x="786384" y="3778300"/>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3522268"/>
            <a:ext cx="4709160" cy="603504"/>
          </a:xfrm>
          <a:prstGeom prst="rect">
            <a:avLst/>
          </a:prstGeom>
          <a:noFill/>
        </p:spPr>
        <p:txBody>
          <a:bodyPr wrap="square" anchor="ctr" lIns="0" rIns="0" tIns="0" bIns="0">
            <a:spAutoFit/>
          </a:bodyPr>
          <a:lstStyle/>
          <a:p>
            <a:pPr algn="l"/>
            <a:r>
              <a:rPr sz="1609" b="0">
                <a:solidFill>
                  <a:srgbClr val="33475B"/>
                </a:solidFill>
                <a:latin typeface="Aptos"/>
              </a:rPr>
              <a:t>Disponibilidad de la región</a:t>
            </a:r>
          </a:p>
        </p:txBody>
      </p:sp>
      <p:sp>
        <p:nvSpPr>
          <p:cNvPr id="14" name="Rounded Rectangle 13"/>
          <p:cNvSpPr/>
          <p:nvPr/>
        </p:nvSpPr>
        <p:spPr>
          <a:xfrm>
            <a:off x="6263640" y="1858060"/>
            <a:ext cx="5367528" cy="418429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 Same Side Corner Rectangle 14"/>
          <p:cNvSpPr/>
          <p:nvPr/>
        </p:nvSpPr>
        <p:spPr>
          <a:xfrm>
            <a:off x="6263640" y="1858060"/>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858060"/>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Respondes tú</a:t>
            </a:r>
          </a:p>
        </p:txBody>
      </p:sp>
      <p:sp>
        <p:nvSpPr>
          <p:cNvPr id="17" name="Oval 16"/>
          <p:cNvSpPr/>
          <p:nvPr/>
        </p:nvSpPr>
        <p:spPr>
          <a:xfrm>
            <a:off x="6483096" y="3174796"/>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20840" y="2918764"/>
            <a:ext cx="4709160" cy="603504"/>
          </a:xfrm>
          <a:prstGeom prst="rect">
            <a:avLst/>
          </a:prstGeom>
          <a:noFill/>
        </p:spPr>
        <p:txBody>
          <a:bodyPr wrap="square" anchor="ctr" lIns="0" rIns="0" tIns="0" bIns="0">
            <a:spAutoFit/>
          </a:bodyPr>
          <a:lstStyle/>
          <a:p>
            <a:pPr algn="l"/>
            <a:r>
              <a:rPr sz="1609" b="0">
                <a:solidFill>
                  <a:srgbClr val="33475B"/>
                </a:solidFill>
                <a:latin typeface="Aptos"/>
              </a:rPr>
              <a:t>Configuración, identidades, cifrado, tus datos</a:t>
            </a:r>
          </a:p>
        </p:txBody>
      </p:sp>
      <p:sp>
        <p:nvSpPr>
          <p:cNvPr id="19" name="Oval 18"/>
          <p:cNvSpPr/>
          <p:nvPr/>
        </p:nvSpPr>
        <p:spPr>
          <a:xfrm>
            <a:off x="6483096" y="3778300"/>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20840" y="3522268"/>
            <a:ext cx="4709160" cy="603504"/>
          </a:xfrm>
          <a:prstGeom prst="rect">
            <a:avLst/>
          </a:prstGeom>
          <a:noFill/>
        </p:spPr>
        <p:txBody>
          <a:bodyPr wrap="square" anchor="ctr" lIns="0" rIns="0" tIns="0" bIns="0">
            <a:spAutoFit/>
          </a:bodyPr>
          <a:lstStyle/>
          <a:p>
            <a:pPr algn="l"/>
            <a:r>
              <a:rPr sz="1609" b="0">
                <a:solidFill>
                  <a:srgbClr val="33475B"/>
                </a:solidFill>
                <a:latin typeface="Aptos"/>
              </a:rPr>
              <a:t>Y ahí ocurre casi todo incidente real</a:t>
            </a:r>
          </a:p>
        </p:txBody>
      </p:sp>
      <p:sp>
        <p:nvSpPr>
          <p:cNvPr id="21" name="TextBox 2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22" name="TextBox 2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 / 35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Modelos de servicio: dónde termina tu responsabilidad</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2766060"/>
                <a:gridCol w="2766060"/>
                <a:gridCol w="2766060"/>
                <a:gridCol w="2766060"/>
              </a:tblGrid>
              <a:tr h="729081">
                <a:tc>
                  <a:txBody>
                    <a:bodyPr wrap="square"/>
                    <a:lstStyle/>
                    <a:p/>
                  </a:txBody>
                  <a:tcPr anchor="ctr" marL="146304" marR="146304">
                    <a:solidFill>
                      <a:srgbClr val="156082"/>
                    </a:solidFill>
                  </a:tcPr>
                </a:tc>
                <a:tc>
                  <a:txBody>
                    <a:bodyPr wrap="square"/>
                    <a:lstStyle/>
                    <a:p>
                      <a:r>
                        <a:rPr sz="1725" b="1">
                          <a:solidFill>
                            <a:srgbClr val="FFFFFF"/>
                          </a:solidFill>
                          <a:latin typeface="Aptos"/>
                        </a:rPr>
                        <a:t>IaaS</a:t>
                      </a:r>
                    </a:p>
                  </a:txBody>
                  <a:tcPr anchor="ctr" marL="146304" marR="146304">
                    <a:solidFill>
                      <a:srgbClr val="156082"/>
                    </a:solidFill>
                  </a:tcPr>
                </a:tc>
                <a:tc>
                  <a:txBody>
                    <a:bodyPr wrap="square"/>
                    <a:lstStyle/>
                    <a:p>
                      <a:r>
                        <a:rPr sz="1725" b="1">
                          <a:solidFill>
                            <a:srgbClr val="FFFFFF"/>
                          </a:solidFill>
                          <a:latin typeface="Aptos"/>
                        </a:rPr>
                        <a:t>PaaS</a:t>
                      </a:r>
                    </a:p>
                  </a:txBody>
                  <a:tcPr anchor="ctr" marL="146304" marR="146304">
                    <a:solidFill>
                      <a:srgbClr val="156082"/>
                    </a:solidFill>
                  </a:tcPr>
                </a:tc>
                <a:tc>
                  <a:txBody>
                    <a:bodyPr wrap="square"/>
                    <a:lstStyle/>
                    <a:p>
                      <a:r>
                        <a:rPr sz="1725" b="1">
                          <a:solidFill>
                            <a:srgbClr val="FFFFFF"/>
                          </a:solidFill>
                          <a:latin typeface="Aptos"/>
                        </a:rPr>
                        <a:t>SaaS</a:t>
                      </a:r>
                    </a:p>
                  </a:txBody>
                  <a:tcPr anchor="ctr" marL="146304" marR="146304">
                    <a:solidFill>
                      <a:srgbClr val="156082"/>
                    </a:solidFill>
                  </a:tcPr>
                </a:tc>
              </a:tr>
              <a:tr h="729081">
                <a:tc>
                  <a:txBody>
                    <a:bodyPr wrap="square"/>
                    <a:lstStyle/>
                    <a:p>
                      <a:r>
                        <a:rPr sz="1609" b="1">
                          <a:solidFill>
                            <a:srgbClr val="33475B"/>
                          </a:solidFill>
                          <a:latin typeface="Aptos"/>
                        </a:rPr>
                        <a:t>Tú administras</a:t>
                      </a:r>
                    </a:p>
                  </a:txBody>
                  <a:tcPr anchor="ctr" marL="146304" marR="146304">
                    <a:solidFill>
                      <a:srgbClr val="FFFFFF"/>
                    </a:solidFill>
                  </a:tcPr>
                </a:tc>
                <a:tc>
                  <a:txBody>
                    <a:bodyPr wrap="square"/>
                    <a:lstStyle/>
                    <a:p>
                      <a:r>
                        <a:rPr sz="1609" b="0">
                          <a:solidFill>
                            <a:srgbClr val="33475B"/>
                          </a:solidFill>
                          <a:latin typeface="Aptos"/>
                        </a:rPr>
                        <a:t>SO, runtime, aplicación, datos</a:t>
                      </a:r>
                    </a:p>
                  </a:txBody>
                  <a:tcPr anchor="ctr" marL="146304" marR="146304">
                    <a:solidFill>
                      <a:srgbClr val="FFFFFF"/>
                    </a:solidFill>
                  </a:tcPr>
                </a:tc>
                <a:tc>
                  <a:txBody>
                    <a:bodyPr wrap="square"/>
                    <a:lstStyle/>
                    <a:p>
                      <a:r>
                        <a:rPr sz="1609" b="0">
                          <a:solidFill>
                            <a:srgbClr val="33475B"/>
                          </a:solidFill>
                          <a:latin typeface="Aptos"/>
                        </a:rPr>
                        <a:t>Aplicación y datos</a:t>
                      </a:r>
                    </a:p>
                  </a:txBody>
                  <a:tcPr anchor="ctr" marL="146304" marR="146304">
                    <a:solidFill>
                      <a:srgbClr val="FFFFFF"/>
                    </a:solidFill>
                  </a:tcPr>
                </a:tc>
                <a:tc>
                  <a:txBody>
                    <a:bodyPr wrap="square"/>
                    <a:lstStyle/>
                    <a:p>
                      <a:r>
                        <a:rPr sz="1609" b="0">
                          <a:solidFill>
                            <a:srgbClr val="33475B"/>
                          </a:solidFill>
                          <a:latin typeface="Aptos"/>
                        </a:rPr>
                        <a:t>Solo la configuración</a:t>
                      </a:r>
                    </a:p>
                  </a:txBody>
                  <a:tcPr anchor="ctr" marL="146304" marR="146304">
                    <a:solidFill>
                      <a:srgbClr val="FFFFFF"/>
                    </a:solidFill>
                  </a:tcPr>
                </a:tc>
              </a:tr>
              <a:tr h="729081">
                <a:tc>
                  <a:txBody>
                    <a:bodyPr wrap="square"/>
                    <a:lstStyle/>
                    <a:p>
                      <a:r>
                        <a:rPr sz="1609" b="1">
                          <a:solidFill>
                            <a:srgbClr val="33475B"/>
                          </a:solidFill>
                          <a:latin typeface="Aptos"/>
                        </a:rPr>
                        <a:t>El proveedor administra</a:t>
                      </a:r>
                    </a:p>
                  </a:txBody>
                  <a:tcPr anchor="ctr" marL="146304" marR="146304">
                    <a:solidFill>
                      <a:srgbClr val="F4F7FA"/>
                    </a:solidFill>
                  </a:tcPr>
                </a:tc>
                <a:tc>
                  <a:txBody>
                    <a:bodyPr wrap="square"/>
                    <a:lstStyle/>
                    <a:p>
                      <a:r>
                        <a:rPr sz="1609" b="0">
                          <a:solidFill>
                            <a:srgbClr val="33475B"/>
                          </a:solidFill>
                          <a:latin typeface="Aptos"/>
                        </a:rPr>
                        <a:t>Hardware y virtualización</a:t>
                      </a:r>
                    </a:p>
                  </a:txBody>
                  <a:tcPr anchor="ctr" marL="146304" marR="146304">
                    <a:solidFill>
                      <a:srgbClr val="F4F7FA"/>
                    </a:solidFill>
                  </a:tcPr>
                </a:tc>
                <a:tc>
                  <a:txBody>
                    <a:bodyPr wrap="square"/>
                    <a:lstStyle/>
                    <a:p>
                      <a:r>
                        <a:rPr sz="1609" b="0">
                          <a:solidFill>
                            <a:srgbClr val="33475B"/>
                          </a:solidFill>
                          <a:latin typeface="Aptos"/>
                        </a:rPr>
                        <a:t>+ SO y runtime</a:t>
                      </a:r>
                    </a:p>
                  </a:txBody>
                  <a:tcPr anchor="ctr" marL="146304" marR="146304">
                    <a:solidFill>
                      <a:srgbClr val="F4F7FA"/>
                    </a:solidFill>
                  </a:tcPr>
                </a:tc>
                <a:tc>
                  <a:txBody>
                    <a:bodyPr wrap="square"/>
                    <a:lstStyle/>
                    <a:p>
                      <a:r>
                        <a:rPr sz="1609" b="0">
                          <a:solidFill>
                            <a:srgbClr val="33475B"/>
                          </a:solidFill>
                          <a:latin typeface="Aptos"/>
                        </a:rPr>
                        <a:t>Todo</a:t>
                      </a:r>
                    </a:p>
                  </a:txBody>
                  <a:tcPr anchor="ctr" marL="146304" marR="146304">
                    <a:solidFill>
                      <a:srgbClr val="F4F7FA"/>
                    </a:solidFill>
                  </a:tcPr>
                </a:tc>
              </a:tr>
              <a:tr h="729081">
                <a:tc>
                  <a:txBody>
                    <a:bodyPr wrap="square"/>
                    <a:lstStyle/>
                    <a:p>
                      <a:r>
                        <a:rPr sz="1609" b="1">
                          <a:solidFill>
                            <a:srgbClr val="33475B"/>
                          </a:solidFill>
                          <a:latin typeface="Aptos"/>
                        </a:rPr>
                        <a:t>Ejemplo</a:t>
                      </a:r>
                    </a:p>
                  </a:txBody>
                  <a:tcPr anchor="ctr" marL="146304" marR="146304">
                    <a:solidFill>
                      <a:srgbClr val="FFFFFF"/>
                    </a:solidFill>
                  </a:tcPr>
                </a:tc>
                <a:tc>
                  <a:txBody>
                    <a:bodyPr wrap="square"/>
                    <a:lstStyle/>
                    <a:p>
                      <a:r>
                        <a:rPr sz="1609" b="0">
                          <a:solidFill>
                            <a:srgbClr val="33475B"/>
                          </a:solidFill>
                          <a:latin typeface="Aptos"/>
                        </a:rPr>
                        <a:t>EC2, Compute Engine</a:t>
                      </a:r>
                    </a:p>
                  </a:txBody>
                  <a:tcPr anchor="ctr" marL="146304" marR="146304">
                    <a:solidFill>
                      <a:srgbClr val="FFFFFF"/>
                    </a:solidFill>
                  </a:tcPr>
                </a:tc>
                <a:tc>
                  <a:txBody>
                    <a:bodyPr wrap="square"/>
                    <a:lstStyle/>
                    <a:p>
                      <a:r>
                        <a:rPr sz="1609" b="0">
                          <a:solidFill>
                            <a:srgbClr val="33475B"/>
                          </a:solidFill>
                          <a:latin typeface="Aptos"/>
                        </a:rPr>
                        <a:t>App Engine, Elastic Beanstalk</a:t>
                      </a:r>
                    </a:p>
                  </a:txBody>
                  <a:tcPr anchor="ctr" marL="146304" marR="146304">
                    <a:solidFill>
                      <a:srgbClr val="FFFFFF"/>
                    </a:solidFill>
                  </a:tcPr>
                </a:tc>
                <a:tc>
                  <a:txBody>
                    <a:bodyPr wrap="square"/>
                    <a:lstStyle/>
                    <a:p>
                      <a:r>
                        <a:rPr sz="1609" b="0">
                          <a:solidFill>
                            <a:srgbClr val="33475B"/>
                          </a:solidFill>
                          <a:latin typeface="Aptos"/>
                        </a:rPr>
                        <a:t>Gmail, Moodle alojado</a:t>
                      </a:r>
                    </a:p>
                  </a:txBody>
                  <a:tcPr anchor="ctr" marL="146304" marR="146304">
                    <a:solidFill>
                      <a:srgbClr val="FFFFFF"/>
                    </a:solidFill>
                  </a:tcPr>
                </a:tc>
              </a:tr>
              <a:tr h="729081">
                <a:tc>
                  <a:txBody>
                    <a:bodyPr wrap="square"/>
                    <a:lstStyle/>
                    <a:p>
                      <a:r>
                        <a:rPr sz="1609" b="1">
                          <a:solidFill>
                            <a:srgbClr val="33475B"/>
                          </a:solidFill>
                          <a:latin typeface="Aptos"/>
                        </a:rPr>
                        <a:t>Control</a:t>
                      </a:r>
                    </a:p>
                  </a:txBody>
                  <a:tcPr anchor="ctr" marL="146304" marR="146304">
                    <a:solidFill>
                      <a:srgbClr val="F4F7FA"/>
                    </a:solidFill>
                  </a:tcPr>
                </a:tc>
                <a:tc>
                  <a:txBody>
                    <a:bodyPr wrap="square"/>
                    <a:lstStyle/>
                    <a:p>
                      <a:r>
                        <a:rPr sz="1609" b="0">
                          <a:solidFill>
                            <a:srgbClr val="33475B"/>
                          </a:solidFill>
                          <a:latin typeface="Aptos"/>
                        </a:rPr>
                        <a:t>Máximo</a:t>
                      </a:r>
                    </a:p>
                  </a:txBody>
                  <a:tcPr anchor="ctr" marL="146304" marR="146304">
                    <a:solidFill>
                      <a:srgbClr val="F4F7FA"/>
                    </a:solidFill>
                  </a:tcPr>
                </a:tc>
                <a:tc>
                  <a:txBody>
                    <a:bodyPr wrap="square"/>
                    <a:lstStyle/>
                    <a:p>
                      <a:r>
                        <a:rPr sz="1609" b="0">
                          <a:solidFill>
                            <a:srgbClr val="33475B"/>
                          </a:solidFill>
                          <a:latin typeface="Aptos"/>
                        </a:rPr>
                        <a:t>Medio</a:t>
                      </a:r>
                    </a:p>
                  </a:txBody>
                  <a:tcPr anchor="ctr" marL="146304" marR="146304">
                    <a:solidFill>
                      <a:srgbClr val="F4F7FA"/>
                    </a:solidFill>
                  </a:tcPr>
                </a:tc>
                <a:tc>
                  <a:txBody>
                    <a:bodyPr wrap="square"/>
                    <a:lstStyle/>
                    <a:p>
                      <a:r>
                        <a:rPr sz="1609" b="0">
                          <a:solidFill>
                            <a:srgbClr val="33475B"/>
                          </a:solidFill>
                          <a:latin typeface="Aptos"/>
                        </a:rPr>
                        <a:t>Mínimo</a:t>
                      </a:r>
                    </a:p>
                  </a:txBody>
                  <a:tcPr anchor="ctr" marL="146304" marR="146304">
                    <a:solidFill>
                      <a:srgbClr val="F4F7FA"/>
                    </a:solidFill>
                  </a:tcPr>
                </a:tc>
              </a:tr>
              <a:tr h="729081">
                <a:tc>
                  <a:txBody>
                    <a:bodyPr wrap="square"/>
                    <a:lstStyle/>
                    <a:p>
                      <a:r>
                        <a:rPr sz="1609" b="1">
                          <a:solidFill>
                            <a:srgbClr val="33475B"/>
                          </a:solidFill>
                          <a:latin typeface="Aptos"/>
                        </a:rPr>
                        <a:t>Costo operativo del equipo</a:t>
                      </a:r>
                    </a:p>
                  </a:txBody>
                  <a:tcPr anchor="ctr" marL="146304" marR="146304">
                    <a:solidFill>
                      <a:srgbClr val="FFFFFF"/>
                    </a:solidFill>
                  </a:tcPr>
                </a:tc>
                <a:tc>
                  <a:txBody>
                    <a:bodyPr wrap="square"/>
                    <a:lstStyle/>
                    <a:p>
                      <a:r>
                        <a:rPr sz="1609" b="0">
                          <a:solidFill>
                            <a:srgbClr val="33475B"/>
                          </a:solidFill>
                          <a:latin typeface="Aptos"/>
                        </a:rPr>
                        <a:t>Alto</a:t>
                      </a:r>
                    </a:p>
                  </a:txBody>
                  <a:tcPr anchor="ctr" marL="146304" marR="146304">
                    <a:solidFill>
                      <a:srgbClr val="FFFFFF"/>
                    </a:solidFill>
                  </a:tcPr>
                </a:tc>
                <a:tc>
                  <a:txBody>
                    <a:bodyPr wrap="square"/>
                    <a:lstStyle/>
                    <a:p>
                      <a:r>
                        <a:rPr sz="1609" b="0">
                          <a:solidFill>
                            <a:srgbClr val="33475B"/>
                          </a:solidFill>
                          <a:latin typeface="Aptos"/>
                        </a:rPr>
                        <a:t>Medio</a:t>
                      </a:r>
                    </a:p>
                  </a:txBody>
                  <a:tcPr anchor="ctr" marL="146304" marR="146304">
                    <a:solidFill>
                      <a:srgbClr val="FFFFFF"/>
                    </a:solidFill>
                  </a:tcPr>
                </a:tc>
                <a:tc>
                  <a:txBody>
                    <a:bodyPr wrap="square"/>
                    <a:lstStyle/>
                    <a:p>
                      <a:r>
                        <a:rPr sz="1609" b="0">
                          <a:solidFill>
                            <a:srgbClr val="33475B"/>
                          </a:solidFill>
                          <a:latin typeface="Aptos"/>
                        </a:rPr>
                        <a:t>Bajo</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5 / 35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Modelos de despliegue: cuál elegir y por qué</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5"/>
        </p:xfrm>
        <a:graphic>
          <a:graphicData uri="http://schemas.openxmlformats.org/drawingml/2006/table">
            <a:tbl>
              <a:tblPr firstRow="1">
                <a:tableStyleId>{5C22544A-7EE6-4342-B048-85BDC9FD1C3A}</a:tableStyleId>
              </a:tblPr>
              <a:tblGrid>
                <a:gridCol w="3688080"/>
                <a:gridCol w="3688080"/>
                <a:gridCol w="3688080"/>
              </a:tblGrid>
              <a:tr h="874897">
                <a:tc>
                  <a:txBody>
                    <a:bodyPr wrap="square"/>
                    <a:lstStyle/>
                    <a:p>
                      <a:r>
                        <a:rPr sz="1725" b="1">
                          <a:solidFill>
                            <a:srgbClr val="FFFFFF"/>
                          </a:solidFill>
                          <a:latin typeface="Aptos"/>
                        </a:rPr>
                        <a:t>Modelo</a:t>
                      </a:r>
                    </a:p>
                  </a:txBody>
                  <a:tcPr anchor="ctr" marL="146304" marR="146304">
                    <a:solidFill>
                      <a:srgbClr val="156082"/>
                    </a:solidFill>
                  </a:tcPr>
                </a:tc>
                <a:tc>
                  <a:txBody>
                    <a:bodyPr wrap="square"/>
                    <a:lstStyle/>
                    <a:p>
                      <a:r>
                        <a:rPr sz="1725" b="1">
                          <a:solidFill>
                            <a:srgbClr val="FFFFFF"/>
                          </a:solidFill>
                          <a:latin typeface="Aptos"/>
                        </a:rPr>
                        <a:t>Elígelo cuando</a:t>
                      </a:r>
                    </a:p>
                  </a:txBody>
                  <a:tcPr anchor="ctr" marL="146304" marR="146304">
                    <a:solidFill>
                      <a:srgbClr val="156082"/>
                    </a:solidFill>
                  </a:tcPr>
                </a:tc>
                <a:tc>
                  <a:txBody>
                    <a:bodyPr wrap="square"/>
                    <a:lstStyle/>
                    <a:p>
                      <a:r>
                        <a:rPr sz="1725" b="1">
                          <a:solidFill>
                            <a:srgbClr val="FFFFFF"/>
                          </a:solidFill>
                          <a:latin typeface="Aptos"/>
                        </a:rPr>
                        <a:t>Costo típico</a:t>
                      </a:r>
                    </a:p>
                  </a:txBody>
                  <a:tcPr anchor="ctr" marL="146304" marR="146304">
                    <a:solidFill>
                      <a:srgbClr val="156082"/>
                    </a:solidFill>
                  </a:tcPr>
                </a:tc>
              </a:tr>
              <a:tr h="874897">
                <a:tc>
                  <a:txBody>
                    <a:bodyPr wrap="square"/>
                    <a:lstStyle/>
                    <a:p>
                      <a:r>
                        <a:rPr sz="1609" b="1">
                          <a:solidFill>
                            <a:srgbClr val="33475B"/>
                          </a:solidFill>
                          <a:latin typeface="Aptos"/>
                        </a:rPr>
                        <a:t>Pública</a:t>
                      </a:r>
                    </a:p>
                  </a:txBody>
                  <a:tcPr anchor="ctr" marL="146304" marR="146304">
                    <a:solidFill>
                      <a:srgbClr val="FFFFFF"/>
                    </a:solidFill>
                  </a:tcPr>
                </a:tc>
                <a:tc>
                  <a:txBody>
                    <a:bodyPr wrap="square"/>
                    <a:lstStyle/>
                    <a:p>
                      <a:r>
                        <a:rPr sz="1609" b="0">
                          <a:solidFill>
                            <a:srgbClr val="33475B"/>
                          </a:solidFill>
                          <a:latin typeface="Aptos"/>
                        </a:rPr>
                        <a:t>La elasticidad importa más que el control</a:t>
                      </a:r>
                    </a:p>
                  </a:txBody>
                  <a:tcPr anchor="ctr" marL="146304" marR="146304">
                    <a:solidFill>
                      <a:srgbClr val="FFFFFF"/>
                    </a:solidFill>
                  </a:tcPr>
                </a:tc>
                <a:tc>
                  <a:txBody>
                    <a:bodyPr wrap="square"/>
                    <a:lstStyle/>
                    <a:p>
                      <a:r>
                        <a:rPr sz="1609" b="0">
                          <a:solidFill>
                            <a:srgbClr val="33475B"/>
                          </a:solidFill>
                          <a:latin typeface="Aptos"/>
                        </a:rPr>
                        <a:t>Bajo, variable</a:t>
                      </a:r>
                    </a:p>
                  </a:txBody>
                  <a:tcPr anchor="ctr" marL="146304" marR="146304">
                    <a:solidFill>
                      <a:srgbClr val="FFFFFF"/>
                    </a:solidFill>
                  </a:tcPr>
                </a:tc>
              </a:tr>
              <a:tr h="874897">
                <a:tc>
                  <a:txBody>
                    <a:bodyPr wrap="square"/>
                    <a:lstStyle/>
                    <a:p>
                      <a:r>
                        <a:rPr sz="1609" b="1">
                          <a:solidFill>
                            <a:srgbClr val="33475B"/>
                          </a:solidFill>
                          <a:latin typeface="Aptos"/>
                        </a:rPr>
                        <a:t>Privada</a:t>
                      </a:r>
                    </a:p>
                  </a:txBody>
                  <a:tcPr anchor="ctr" marL="146304" marR="146304">
                    <a:solidFill>
                      <a:srgbClr val="F4F7FA"/>
                    </a:solidFill>
                  </a:tcPr>
                </a:tc>
                <a:tc>
                  <a:txBody>
                    <a:bodyPr wrap="square"/>
                    <a:lstStyle/>
                    <a:p>
                      <a:r>
                        <a:rPr sz="1609" b="0">
                          <a:solidFill>
                            <a:srgbClr val="33475B"/>
                          </a:solidFill>
                          <a:latin typeface="Aptos"/>
                        </a:rPr>
                        <a:t>Hay requisito legal o de residencia de datos</a:t>
                      </a:r>
                    </a:p>
                  </a:txBody>
                  <a:tcPr anchor="ctr" marL="146304" marR="146304">
                    <a:solidFill>
                      <a:srgbClr val="F4F7FA"/>
                    </a:solidFill>
                  </a:tcPr>
                </a:tc>
                <a:tc>
                  <a:txBody>
                    <a:bodyPr wrap="square"/>
                    <a:lstStyle/>
                    <a:p>
                      <a:r>
                        <a:rPr sz="1609" b="0">
                          <a:solidFill>
                            <a:srgbClr val="33475B"/>
                          </a:solidFill>
                          <a:latin typeface="Aptos"/>
                        </a:rPr>
                        <a:t>Alto, fijo</a:t>
                      </a:r>
                    </a:p>
                  </a:txBody>
                  <a:tcPr anchor="ctr" marL="146304" marR="146304">
                    <a:solidFill>
                      <a:srgbClr val="F4F7FA"/>
                    </a:solidFill>
                  </a:tcPr>
                </a:tc>
              </a:tr>
              <a:tr h="874897">
                <a:tc>
                  <a:txBody>
                    <a:bodyPr wrap="square"/>
                    <a:lstStyle/>
                    <a:p>
                      <a:r>
                        <a:rPr sz="1609" b="1">
                          <a:solidFill>
                            <a:srgbClr val="33475B"/>
                          </a:solidFill>
                          <a:latin typeface="Aptos"/>
                        </a:rPr>
                        <a:t>Híbrida</a:t>
                      </a:r>
                    </a:p>
                  </a:txBody>
                  <a:tcPr anchor="ctr" marL="146304" marR="146304">
                    <a:solidFill>
                      <a:srgbClr val="FFFFFF"/>
                    </a:solidFill>
                  </a:tcPr>
                </a:tc>
                <a:tc>
                  <a:txBody>
                    <a:bodyPr wrap="square"/>
                    <a:lstStyle/>
                    <a:p>
                      <a:r>
                        <a:rPr sz="1609" b="0">
                          <a:solidFill>
                            <a:srgbClr val="33475B"/>
                          </a:solidFill>
                          <a:latin typeface="Aptos"/>
                        </a:rPr>
                        <a:t>Un núcleo debe quedarse dentro y el resto puede salir</a:t>
                      </a:r>
                    </a:p>
                  </a:txBody>
                  <a:tcPr anchor="ctr" marL="146304" marR="146304">
                    <a:solidFill>
                      <a:srgbClr val="FFFFFF"/>
                    </a:solidFill>
                  </a:tcPr>
                </a:tc>
                <a:tc>
                  <a:txBody>
                    <a:bodyPr wrap="square"/>
                    <a:lstStyle/>
                    <a:p>
                      <a:r>
                        <a:rPr sz="1609" b="0">
                          <a:solidFill>
                            <a:srgbClr val="33475B"/>
                          </a:solidFill>
                          <a:latin typeface="Aptos"/>
                        </a:rPr>
                        <a:t>Medio, complejo</a:t>
                      </a:r>
                    </a:p>
                  </a:txBody>
                  <a:tcPr anchor="ctr" marL="146304" marR="146304">
                    <a:solidFill>
                      <a:srgbClr val="FFFFFF"/>
                    </a:solidFill>
                  </a:tcPr>
                </a:tc>
              </a:tr>
              <a:tr h="874897">
                <a:tc>
                  <a:txBody>
                    <a:bodyPr wrap="square"/>
                    <a:lstStyle/>
                    <a:p>
                      <a:r>
                        <a:rPr sz="1609" b="1">
                          <a:solidFill>
                            <a:srgbClr val="33475B"/>
                          </a:solidFill>
                          <a:latin typeface="Aptos"/>
                        </a:rPr>
                        <a:t>Comunitaria</a:t>
                      </a:r>
                    </a:p>
                  </a:txBody>
                  <a:tcPr anchor="ctr" marL="146304" marR="146304">
                    <a:solidFill>
                      <a:srgbClr val="F4F7FA"/>
                    </a:solidFill>
                  </a:tcPr>
                </a:tc>
                <a:tc>
                  <a:txBody>
                    <a:bodyPr wrap="square"/>
                    <a:lstStyle/>
                    <a:p>
                      <a:r>
                        <a:rPr sz="1609" b="0">
                          <a:solidFill>
                            <a:srgbClr val="33475B"/>
                          </a:solidFill>
                          <a:latin typeface="Aptos"/>
                        </a:rPr>
                        <a:t>Varias organizaciones comparten regulación</a:t>
                      </a:r>
                    </a:p>
                  </a:txBody>
                  <a:tcPr anchor="ctr" marL="146304" marR="146304">
                    <a:solidFill>
                      <a:srgbClr val="F4F7FA"/>
                    </a:solidFill>
                  </a:tcPr>
                </a:tc>
                <a:tc>
                  <a:txBody>
                    <a:bodyPr wrap="square"/>
                    <a:lstStyle/>
                    <a:p>
                      <a:r>
                        <a:rPr sz="1609" b="0">
                          <a:solidFill>
                            <a:srgbClr val="33475B"/>
                          </a:solidFill>
                          <a:latin typeface="Aptos"/>
                        </a:rPr>
                        <a:t>Compartido</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6 / 35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Elegir proveedor no es la decisión importante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627120"/>
        </p:xfrm>
        <a:graphic>
          <a:graphicData uri="http://schemas.openxmlformats.org/drawingml/2006/table">
            <a:tbl>
              <a:tblPr firstRow="1">
                <a:tableStyleId>{5C22544A-7EE6-4342-B048-85BDC9FD1C3A}</a:tableStyleId>
              </a:tblPr>
              <a:tblGrid>
                <a:gridCol w="2766060"/>
                <a:gridCol w="2766060"/>
                <a:gridCol w="2766060"/>
                <a:gridCol w="2766060"/>
              </a:tblGrid>
              <a:tr h="518160">
                <a:tc>
                  <a:txBody>
                    <a:bodyPr wrap="square"/>
                    <a:lstStyle/>
                    <a:p>
                      <a:r>
                        <a:rPr sz="1549" b="1">
                          <a:solidFill>
                            <a:srgbClr val="FFFFFF"/>
                          </a:solidFill>
                          <a:latin typeface="Aptos"/>
                        </a:rPr>
                        <a:t>Necesidad</a:t>
                      </a:r>
                    </a:p>
                  </a:txBody>
                  <a:tcPr anchor="ctr" marL="146304" marR="146304">
                    <a:solidFill>
                      <a:srgbClr val="156082"/>
                    </a:solidFill>
                  </a:tcPr>
                </a:tc>
                <a:tc>
                  <a:txBody>
                    <a:bodyPr wrap="square"/>
                    <a:lstStyle/>
                    <a:p>
                      <a:r>
                        <a:rPr sz="1549" b="1">
                          <a:solidFill>
                            <a:srgbClr val="FFFFFF"/>
                          </a:solidFill>
                          <a:latin typeface="Aptos"/>
                        </a:rPr>
                        <a:t>AWS</a:t>
                      </a:r>
                    </a:p>
                  </a:txBody>
                  <a:tcPr anchor="ctr" marL="146304" marR="146304">
                    <a:solidFill>
                      <a:srgbClr val="156082"/>
                    </a:solidFill>
                  </a:tcPr>
                </a:tc>
                <a:tc>
                  <a:txBody>
                    <a:bodyPr wrap="square"/>
                    <a:lstStyle/>
                    <a:p>
                      <a:r>
                        <a:rPr sz="1549" b="1">
                          <a:solidFill>
                            <a:srgbClr val="FFFFFF"/>
                          </a:solidFill>
                          <a:latin typeface="Aptos"/>
                        </a:rPr>
                        <a:t>Azure</a:t>
                      </a:r>
                    </a:p>
                  </a:txBody>
                  <a:tcPr anchor="ctr" marL="146304" marR="146304">
                    <a:solidFill>
                      <a:srgbClr val="156082"/>
                    </a:solidFill>
                  </a:tcPr>
                </a:tc>
                <a:tc>
                  <a:txBody>
                    <a:bodyPr wrap="square"/>
                    <a:lstStyle/>
                    <a:p>
                      <a:r>
                        <a:rPr sz="1549" b="1">
                          <a:solidFill>
                            <a:srgbClr val="FFFFFF"/>
                          </a:solidFill>
                          <a:latin typeface="Aptos"/>
                        </a:rPr>
                        <a:t>GCP</a:t>
                      </a:r>
                    </a:p>
                  </a:txBody>
                  <a:tcPr anchor="ctr" marL="146304" marR="146304">
                    <a:solidFill>
                      <a:srgbClr val="156082"/>
                    </a:solidFill>
                  </a:tcPr>
                </a:tc>
              </a:tr>
              <a:tr h="518160">
                <a:tc>
                  <a:txBody>
                    <a:bodyPr wrap="square"/>
                    <a:lstStyle/>
                    <a:p>
                      <a:r>
                        <a:rPr sz="1445" b="1">
                          <a:solidFill>
                            <a:srgbClr val="33475B"/>
                          </a:solidFill>
                          <a:latin typeface="Aptos"/>
                        </a:rPr>
                        <a:t>Cómputo virtual</a:t>
                      </a:r>
                    </a:p>
                  </a:txBody>
                  <a:tcPr anchor="ctr" marL="146304" marR="146304">
                    <a:solidFill>
                      <a:srgbClr val="FFFFFF"/>
                    </a:solidFill>
                  </a:tcPr>
                </a:tc>
                <a:tc>
                  <a:txBody>
                    <a:bodyPr wrap="square"/>
                    <a:lstStyle/>
                    <a:p>
                      <a:r>
                        <a:rPr sz="1445" b="0">
                          <a:solidFill>
                            <a:srgbClr val="33475B"/>
                          </a:solidFill>
                          <a:latin typeface="Aptos"/>
                        </a:rPr>
                        <a:t>EC2</a:t>
                      </a:r>
                    </a:p>
                  </a:txBody>
                  <a:tcPr anchor="ctr" marL="146304" marR="146304">
                    <a:solidFill>
                      <a:srgbClr val="FFFFFF"/>
                    </a:solidFill>
                  </a:tcPr>
                </a:tc>
                <a:tc>
                  <a:txBody>
                    <a:bodyPr wrap="square"/>
                    <a:lstStyle/>
                    <a:p>
                      <a:r>
                        <a:rPr sz="1445" b="0">
                          <a:solidFill>
                            <a:srgbClr val="33475B"/>
                          </a:solidFill>
                          <a:latin typeface="Aptos"/>
                        </a:rPr>
                        <a:t>Virtual Machines</a:t>
                      </a:r>
                    </a:p>
                  </a:txBody>
                  <a:tcPr anchor="ctr" marL="146304" marR="146304">
                    <a:solidFill>
                      <a:srgbClr val="FFFFFF"/>
                    </a:solidFill>
                  </a:tcPr>
                </a:tc>
                <a:tc>
                  <a:txBody>
                    <a:bodyPr wrap="square"/>
                    <a:lstStyle/>
                    <a:p>
                      <a:r>
                        <a:rPr sz="1445" b="0">
                          <a:solidFill>
                            <a:srgbClr val="33475B"/>
                          </a:solidFill>
                          <a:latin typeface="Aptos"/>
                        </a:rPr>
                        <a:t>Compute Engine</a:t>
                      </a:r>
                    </a:p>
                  </a:txBody>
                  <a:tcPr anchor="ctr" marL="146304" marR="146304">
                    <a:solidFill>
                      <a:srgbClr val="FFFFFF"/>
                    </a:solidFill>
                  </a:tcPr>
                </a:tc>
              </a:tr>
              <a:tr h="518160">
                <a:tc>
                  <a:txBody>
                    <a:bodyPr wrap="square"/>
                    <a:lstStyle/>
                    <a:p>
                      <a:r>
                        <a:rPr sz="1445" b="1">
                          <a:solidFill>
                            <a:srgbClr val="33475B"/>
                          </a:solidFill>
                          <a:latin typeface="Aptos"/>
                        </a:rPr>
                        <a:t>Contenedores gestionados</a:t>
                      </a:r>
                    </a:p>
                  </a:txBody>
                  <a:tcPr anchor="ctr" marL="146304" marR="146304">
                    <a:solidFill>
                      <a:srgbClr val="F4F7FA"/>
                    </a:solidFill>
                  </a:tcPr>
                </a:tc>
                <a:tc>
                  <a:txBody>
                    <a:bodyPr wrap="square"/>
                    <a:lstStyle/>
                    <a:p>
                      <a:r>
                        <a:rPr sz="1445" b="0">
                          <a:solidFill>
                            <a:srgbClr val="33475B"/>
                          </a:solidFill>
                          <a:latin typeface="Aptos"/>
                        </a:rPr>
                        <a:t>EKS / ECS</a:t>
                      </a:r>
                    </a:p>
                  </a:txBody>
                  <a:tcPr anchor="ctr" marL="146304" marR="146304">
                    <a:solidFill>
                      <a:srgbClr val="F4F7FA"/>
                    </a:solidFill>
                  </a:tcPr>
                </a:tc>
                <a:tc>
                  <a:txBody>
                    <a:bodyPr wrap="square"/>
                    <a:lstStyle/>
                    <a:p>
                      <a:r>
                        <a:rPr sz="1445" b="0">
                          <a:solidFill>
                            <a:srgbClr val="33475B"/>
                          </a:solidFill>
                          <a:latin typeface="Aptos"/>
                        </a:rPr>
                        <a:t>AKS</a:t>
                      </a:r>
                    </a:p>
                  </a:txBody>
                  <a:tcPr anchor="ctr" marL="146304" marR="146304">
                    <a:solidFill>
                      <a:srgbClr val="F4F7FA"/>
                    </a:solidFill>
                  </a:tcPr>
                </a:tc>
                <a:tc>
                  <a:txBody>
                    <a:bodyPr wrap="square"/>
                    <a:lstStyle/>
                    <a:p>
                      <a:r>
                        <a:rPr sz="1445" b="0">
                          <a:solidFill>
                            <a:srgbClr val="33475B"/>
                          </a:solidFill>
                          <a:latin typeface="Aptos"/>
                        </a:rPr>
                        <a:t>GKE</a:t>
                      </a:r>
                    </a:p>
                  </a:txBody>
                  <a:tcPr anchor="ctr" marL="146304" marR="146304">
                    <a:solidFill>
                      <a:srgbClr val="F4F7FA"/>
                    </a:solidFill>
                  </a:tcPr>
                </a:tc>
              </a:tr>
              <a:tr h="518160">
                <a:tc>
                  <a:txBody>
                    <a:bodyPr wrap="square"/>
                    <a:lstStyle/>
                    <a:p>
                      <a:r>
                        <a:rPr sz="1445" b="1">
                          <a:solidFill>
                            <a:srgbClr val="33475B"/>
                          </a:solidFill>
                          <a:latin typeface="Aptos"/>
                        </a:rPr>
                        <a:t>Identidad y permisos</a:t>
                      </a:r>
                    </a:p>
                  </a:txBody>
                  <a:tcPr anchor="ctr" marL="146304" marR="146304">
                    <a:solidFill>
                      <a:srgbClr val="FFFFFF"/>
                    </a:solidFill>
                  </a:tcPr>
                </a:tc>
                <a:tc>
                  <a:txBody>
                    <a:bodyPr wrap="square"/>
                    <a:lstStyle/>
                    <a:p>
                      <a:r>
                        <a:rPr sz="1445" b="0">
                          <a:solidFill>
                            <a:srgbClr val="33475B"/>
                          </a:solidFill>
                          <a:latin typeface="Aptos"/>
                        </a:rPr>
                        <a:t>IAM</a:t>
                      </a:r>
                    </a:p>
                  </a:txBody>
                  <a:tcPr anchor="ctr" marL="146304" marR="146304">
                    <a:solidFill>
                      <a:srgbClr val="FFFFFF"/>
                    </a:solidFill>
                  </a:tcPr>
                </a:tc>
                <a:tc>
                  <a:txBody>
                    <a:bodyPr wrap="square"/>
                    <a:lstStyle/>
                    <a:p>
                      <a:r>
                        <a:rPr sz="1445" b="0">
                          <a:solidFill>
                            <a:srgbClr val="33475B"/>
                          </a:solidFill>
                          <a:latin typeface="Aptos"/>
                        </a:rPr>
                        <a:t>Entra ID + RBAC</a:t>
                      </a:r>
                    </a:p>
                  </a:txBody>
                  <a:tcPr anchor="ctr" marL="146304" marR="146304">
                    <a:solidFill>
                      <a:srgbClr val="FFFFFF"/>
                    </a:solidFill>
                  </a:tcPr>
                </a:tc>
                <a:tc>
                  <a:txBody>
                    <a:bodyPr wrap="square"/>
                    <a:lstStyle/>
                    <a:p>
                      <a:r>
                        <a:rPr sz="1445" b="0">
                          <a:solidFill>
                            <a:srgbClr val="33475B"/>
                          </a:solidFill>
                          <a:latin typeface="Aptos"/>
                        </a:rPr>
                        <a:t>IAM</a:t>
                      </a:r>
                    </a:p>
                  </a:txBody>
                  <a:tcPr anchor="ctr" marL="146304" marR="146304">
                    <a:solidFill>
                      <a:srgbClr val="FFFFFF"/>
                    </a:solidFill>
                  </a:tcPr>
                </a:tc>
              </a:tr>
              <a:tr h="518160">
                <a:tc>
                  <a:txBody>
                    <a:bodyPr wrap="square"/>
                    <a:lstStyle/>
                    <a:p>
                      <a:r>
                        <a:rPr sz="1445" b="1">
                          <a:solidFill>
                            <a:srgbClr val="33475B"/>
                          </a:solidFill>
                          <a:latin typeface="Aptos"/>
                        </a:rPr>
                        <a:t>Gestión de claves</a:t>
                      </a:r>
                    </a:p>
                  </a:txBody>
                  <a:tcPr anchor="ctr" marL="146304" marR="146304">
                    <a:solidFill>
                      <a:srgbClr val="F4F7FA"/>
                    </a:solidFill>
                  </a:tcPr>
                </a:tc>
                <a:tc>
                  <a:txBody>
                    <a:bodyPr wrap="square"/>
                    <a:lstStyle/>
                    <a:p>
                      <a:r>
                        <a:rPr sz="1445" b="0">
                          <a:solidFill>
                            <a:srgbClr val="33475B"/>
                          </a:solidFill>
                          <a:latin typeface="Aptos"/>
                        </a:rPr>
                        <a:t>KMS</a:t>
                      </a:r>
                    </a:p>
                  </a:txBody>
                  <a:tcPr anchor="ctr" marL="146304" marR="146304">
                    <a:solidFill>
                      <a:srgbClr val="F4F7FA"/>
                    </a:solidFill>
                  </a:tcPr>
                </a:tc>
                <a:tc>
                  <a:txBody>
                    <a:bodyPr wrap="square"/>
                    <a:lstStyle/>
                    <a:p>
                      <a:r>
                        <a:rPr sz="1445" b="0">
                          <a:solidFill>
                            <a:srgbClr val="33475B"/>
                          </a:solidFill>
                          <a:latin typeface="Aptos"/>
                        </a:rPr>
                        <a:t>Key Vault</a:t>
                      </a:r>
                    </a:p>
                  </a:txBody>
                  <a:tcPr anchor="ctr" marL="146304" marR="146304">
                    <a:solidFill>
                      <a:srgbClr val="F4F7FA"/>
                    </a:solidFill>
                  </a:tcPr>
                </a:tc>
                <a:tc>
                  <a:txBody>
                    <a:bodyPr wrap="square"/>
                    <a:lstStyle/>
                    <a:p>
                      <a:r>
                        <a:rPr sz="1445" b="0">
                          <a:solidFill>
                            <a:srgbClr val="33475B"/>
                          </a:solidFill>
                          <a:latin typeface="Aptos"/>
                        </a:rPr>
                        <a:t>Cloud KMS</a:t>
                      </a:r>
                    </a:p>
                  </a:txBody>
                  <a:tcPr anchor="ctr" marL="146304" marR="146304">
                    <a:solidFill>
                      <a:srgbClr val="F4F7FA"/>
                    </a:solidFill>
                  </a:tcPr>
                </a:tc>
              </a:tr>
              <a:tr h="518160">
                <a:tc>
                  <a:txBody>
                    <a:bodyPr wrap="square"/>
                    <a:lstStyle/>
                    <a:p>
                      <a:r>
                        <a:rPr sz="1445" b="1">
                          <a:solidFill>
                            <a:srgbClr val="33475B"/>
                          </a:solidFill>
                          <a:latin typeface="Aptos"/>
                        </a:rPr>
                        <a:t>Mensajería</a:t>
                      </a:r>
                    </a:p>
                  </a:txBody>
                  <a:tcPr anchor="ctr" marL="146304" marR="146304">
                    <a:solidFill>
                      <a:srgbClr val="FFFFFF"/>
                    </a:solidFill>
                  </a:tcPr>
                </a:tc>
                <a:tc>
                  <a:txBody>
                    <a:bodyPr wrap="square"/>
                    <a:lstStyle/>
                    <a:p>
                      <a:r>
                        <a:rPr sz="1445" b="0">
                          <a:solidFill>
                            <a:srgbClr val="33475B"/>
                          </a:solidFill>
                          <a:latin typeface="Aptos"/>
                        </a:rPr>
                        <a:t>SQS / SNS</a:t>
                      </a:r>
                    </a:p>
                  </a:txBody>
                  <a:tcPr anchor="ctr" marL="146304" marR="146304">
                    <a:solidFill>
                      <a:srgbClr val="FFFFFF"/>
                    </a:solidFill>
                  </a:tcPr>
                </a:tc>
                <a:tc>
                  <a:txBody>
                    <a:bodyPr wrap="square"/>
                    <a:lstStyle/>
                    <a:p>
                      <a:r>
                        <a:rPr sz="1445" b="0">
                          <a:solidFill>
                            <a:srgbClr val="33475B"/>
                          </a:solidFill>
                          <a:latin typeface="Aptos"/>
                        </a:rPr>
                        <a:t>Service Bus</a:t>
                      </a:r>
                    </a:p>
                  </a:txBody>
                  <a:tcPr anchor="ctr" marL="146304" marR="146304">
                    <a:solidFill>
                      <a:srgbClr val="FFFFFF"/>
                    </a:solidFill>
                  </a:tcPr>
                </a:tc>
                <a:tc>
                  <a:txBody>
                    <a:bodyPr wrap="square"/>
                    <a:lstStyle/>
                    <a:p>
                      <a:r>
                        <a:rPr sz="1445" b="0">
                          <a:solidFill>
                            <a:srgbClr val="33475B"/>
                          </a:solidFill>
                          <a:latin typeface="Aptos"/>
                        </a:rPr>
                        <a:t>Pub/Sub</a:t>
                      </a:r>
                    </a:p>
                  </a:txBody>
                  <a:tcPr anchor="ctr" marL="146304" marR="146304">
                    <a:solidFill>
                      <a:srgbClr val="FFFFFF"/>
                    </a:solidFill>
                  </a:tcPr>
                </a:tc>
              </a:tr>
              <a:tr h="518160">
                <a:tc>
                  <a:txBody>
                    <a:bodyPr wrap="square"/>
                    <a:lstStyle/>
                    <a:p>
                      <a:r>
                        <a:rPr sz="1445" b="1">
                          <a:solidFill>
                            <a:srgbClr val="33475B"/>
                          </a:solidFill>
                          <a:latin typeface="Aptos"/>
                        </a:rPr>
                        <a:t>Base de datos relacional</a:t>
                      </a:r>
                    </a:p>
                  </a:txBody>
                  <a:tcPr anchor="ctr" marL="146304" marR="146304">
                    <a:solidFill>
                      <a:srgbClr val="F4F7FA"/>
                    </a:solidFill>
                  </a:tcPr>
                </a:tc>
                <a:tc>
                  <a:txBody>
                    <a:bodyPr wrap="square"/>
                    <a:lstStyle/>
                    <a:p>
                      <a:r>
                        <a:rPr sz="1445" b="0">
                          <a:solidFill>
                            <a:srgbClr val="33475B"/>
                          </a:solidFill>
                          <a:latin typeface="Aptos"/>
                        </a:rPr>
                        <a:t>RDS</a:t>
                      </a:r>
                    </a:p>
                  </a:txBody>
                  <a:tcPr anchor="ctr" marL="146304" marR="146304">
                    <a:solidFill>
                      <a:srgbClr val="F4F7FA"/>
                    </a:solidFill>
                  </a:tcPr>
                </a:tc>
                <a:tc>
                  <a:txBody>
                    <a:bodyPr wrap="square"/>
                    <a:lstStyle/>
                    <a:p>
                      <a:r>
                        <a:rPr sz="1445" b="0">
                          <a:solidFill>
                            <a:srgbClr val="33475B"/>
                          </a:solidFill>
                          <a:latin typeface="Aptos"/>
                        </a:rPr>
                        <a:t>Azure SQL</a:t>
                      </a:r>
                    </a:p>
                  </a:txBody>
                  <a:tcPr anchor="ctr" marL="146304" marR="146304">
                    <a:solidFill>
                      <a:srgbClr val="F4F7FA"/>
                    </a:solidFill>
                  </a:tcPr>
                </a:tc>
                <a:tc>
                  <a:txBody>
                    <a:bodyPr wrap="square"/>
                    <a:lstStyle/>
                    <a:p>
                      <a:r>
                        <a:rPr sz="1445" b="0">
                          <a:solidFill>
                            <a:srgbClr val="33475B"/>
                          </a:solidFill>
                          <a:latin typeface="Aptos"/>
                        </a:rPr>
                        <a:t>Cloud SQL</a:t>
                      </a:r>
                    </a:p>
                  </a:txBody>
                  <a:tcPr anchor="ctr" marL="146304" marR="146304">
                    <a:solidFill>
                      <a:srgbClr val="F4F7FA"/>
                    </a:solidFill>
                  </a:tcPr>
                </a:tc>
              </a:tr>
            </a:tbl>
          </a:graphicData>
        </a:graphic>
      </p:graphicFrame>
      <p:sp>
        <p:nvSpPr>
          <p:cNvPr id="8" name="Rounded Rectangle 7"/>
          <p:cNvSpPr/>
          <p:nvPr/>
        </p:nvSpPr>
        <p:spPr>
          <a:xfrm>
            <a:off x="566928" y="5401056"/>
            <a:ext cx="11064240" cy="92659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455919"/>
            <a:ext cx="63500" cy="81686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401056"/>
            <a:ext cx="10378440" cy="926592"/>
          </a:xfrm>
          <a:prstGeom prst="rect">
            <a:avLst/>
          </a:prstGeom>
          <a:noFill/>
        </p:spPr>
        <p:txBody>
          <a:bodyPr wrap="square" anchor="ctr" lIns="0" rIns="0" tIns="0" bIns="0">
            <a:spAutoFit/>
          </a:bodyPr>
          <a:lstStyle/>
          <a:p>
            <a:pPr algn="l">
              <a:lnSpc>
                <a:spcPct val="125000"/>
              </a:lnSpc>
            </a:pPr>
            <a:r>
              <a:rPr sz="2272" b="1">
                <a:solidFill>
                  <a:srgbClr val="0E2841"/>
                </a:solidFill>
                <a:latin typeface="Aptos Display"/>
              </a:rPr>
              <a:t>La decisión que sí es arquitectónica: cuánto atarse a servicios propietarios.</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7 / 35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02</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2. Escalabilidad</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Vertical y horizontal no son dos sabores de lo mismo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58060"/>
            <a:ext cx="5367528" cy="418429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 Same Side Corner Rectangle 7"/>
          <p:cNvSpPr/>
          <p:nvPr/>
        </p:nvSpPr>
        <p:spPr>
          <a:xfrm>
            <a:off x="566928" y="1858060"/>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858060"/>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Vertical</a:t>
            </a:r>
          </a:p>
        </p:txBody>
      </p:sp>
      <p:sp>
        <p:nvSpPr>
          <p:cNvPr id="10" name="Oval 9"/>
          <p:cNvSpPr/>
          <p:nvPr/>
        </p:nvSpPr>
        <p:spPr>
          <a:xfrm>
            <a:off x="786384" y="3174796"/>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918764"/>
            <a:ext cx="4709160" cy="603504"/>
          </a:xfrm>
          <a:prstGeom prst="rect">
            <a:avLst/>
          </a:prstGeom>
          <a:noFill/>
        </p:spPr>
        <p:txBody>
          <a:bodyPr wrap="square" anchor="ctr" lIns="0" rIns="0" tIns="0" bIns="0">
            <a:spAutoFit/>
          </a:bodyPr>
          <a:lstStyle/>
          <a:p>
            <a:pPr algn="l"/>
            <a:r>
              <a:rPr sz="1609" b="0">
                <a:solidFill>
                  <a:srgbClr val="33475B"/>
                </a:solidFill>
                <a:latin typeface="Aptos"/>
              </a:rPr>
              <a:t>Más CPU a la misma máquina</a:t>
            </a:r>
          </a:p>
        </p:txBody>
      </p:sp>
      <p:sp>
        <p:nvSpPr>
          <p:cNvPr id="12" name="Oval 11"/>
          <p:cNvSpPr/>
          <p:nvPr/>
        </p:nvSpPr>
        <p:spPr>
          <a:xfrm>
            <a:off x="786384" y="3778300"/>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3522268"/>
            <a:ext cx="4709160" cy="603504"/>
          </a:xfrm>
          <a:prstGeom prst="rect">
            <a:avLst/>
          </a:prstGeom>
          <a:noFill/>
        </p:spPr>
        <p:txBody>
          <a:bodyPr wrap="square" anchor="ctr" lIns="0" rIns="0" tIns="0" bIns="0">
            <a:spAutoFit/>
          </a:bodyPr>
          <a:lstStyle/>
          <a:p>
            <a:pPr algn="l"/>
            <a:r>
              <a:rPr sz="1609" b="0">
                <a:solidFill>
                  <a:srgbClr val="33475B"/>
                </a:solidFill>
                <a:latin typeface="Aptos"/>
              </a:rPr>
              <a:t>Tiene techo</a:t>
            </a:r>
          </a:p>
        </p:txBody>
      </p:sp>
      <p:sp>
        <p:nvSpPr>
          <p:cNvPr id="14" name="Oval 13"/>
          <p:cNvSpPr/>
          <p:nvPr/>
        </p:nvSpPr>
        <p:spPr>
          <a:xfrm>
            <a:off x="786384" y="4381804"/>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125772"/>
            <a:ext cx="4709160" cy="603504"/>
          </a:xfrm>
          <a:prstGeom prst="rect">
            <a:avLst/>
          </a:prstGeom>
          <a:noFill/>
        </p:spPr>
        <p:txBody>
          <a:bodyPr wrap="square" anchor="ctr" lIns="0" rIns="0" tIns="0" bIns="0">
            <a:spAutoFit/>
          </a:bodyPr>
          <a:lstStyle/>
          <a:p>
            <a:pPr algn="l"/>
            <a:r>
              <a:rPr sz="1609" b="0">
                <a:solidFill>
                  <a:srgbClr val="33475B"/>
                </a:solidFill>
                <a:latin typeface="Aptos"/>
              </a:rPr>
              <a:t>Sigue habiendo UN nodo</a:t>
            </a:r>
          </a:p>
        </p:txBody>
      </p:sp>
      <p:sp>
        <p:nvSpPr>
          <p:cNvPr id="16" name="Oval 15"/>
          <p:cNvSpPr/>
          <p:nvPr/>
        </p:nvSpPr>
        <p:spPr>
          <a:xfrm>
            <a:off x="786384" y="4985308"/>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4729276"/>
            <a:ext cx="4709160" cy="603504"/>
          </a:xfrm>
          <a:prstGeom prst="rect">
            <a:avLst/>
          </a:prstGeom>
          <a:noFill/>
        </p:spPr>
        <p:txBody>
          <a:bodyPr wrap="square" anchor="ctr" lIns="0" rIns="0" tIns="0" bIns="0">
            <a:spAutoFit/>
          </a:bodyPr>
          <a:lstStyle/>
          <a:p>
            <a:pPr algn="l"/>
            <a:r>
              <a:rPr sz="1609" b="0">
                <a:solidFill>
                  <a:srgbClr val="33475B"/>
                </a:solidFill>
                <a:latin typeface="Aptos"/>
              </a:rPr>
              <a:t>No mejora la tolerancia a fallos</a:t>
            </a:r>
          </a:p>
        </p:txBody>
      </p:sp>
      <p:sp>
        <p:nvSpPr>
          <p:cNvPr id="18" name="Rounded Rectangle 17"/>
          <p:cNvSpPr/>
          <p:nvPr/>
        </p:nvSpPr>
        <p:spPr>
          <a:xfrm>
            <a:off x="6263640" y="1858060"/>
            <a:ext cx="5367528" cy="418429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 Same Side Corner Rectangle 18"/>
          <p:cNvSpPr/>
          <p:nvPr/>
        </p:nvSpPr>
        <p:spPr>
          <a:xfrm>
            <a:off x="6263640" y="1858060"/>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1858060"/>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Horizontal</a:t>
            </a:r>
          </a:p>
        </p:txBody>
      </p:sp>
      <p:sp>
        <p:nvSpPr>
          <p:cNvPr id="21" name="Oval 20"/>
          <p:cNvSpPr/>
          <p:nvPr/>
        </p:nvSpPr>
        <p:spPr>
          <a:xfrm>
            <a:off x="6483096" y="3174796"/>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0840" y="2918764"/>
            <a:ext cx="4709160" cy="603504"/>
          </a:xfrm>
          <a:prstGeom prst="rect">
            <a:avLst/>
          </a:prstGeom>
          <a:noFill/>
        </p:spPr>
        <p:txBody>
          <a:bodyPr wrap="square" anchor="ctr" lIns="0" rIns="0" tIns="0" bIns="0">
            <a:spAutoFit/>
          </a:bodyPr>
          <a:lstStyle/>
          <a:p>
            <a:pPr algn="l"/>
            <a:r>
              <a:rPr sz="1609" b="0">
                <a:solidFill>
                  <a:srgbClr val="33475B"/>
                </a:solidFill>
                <a:latin typeface="Aptos"/>
              </a:rPr>
              <a:t>Más instancias iguales</a:t>
            </a:r>
          </a:p>
        </p:txBody>
      </p:sp>
      <p:sp>
        <p:nvSpPr>
          <p:cNvPr id="23" name="Oval 22"/>
          <p:cNvSpPr/>
          <p:nvPr/>
        </p:nvSpPr>
        <p:spPr>
          <a:xfrm>
            <a:off x="6483096" y="3778300"/>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0840" y="3522268"/>
            <a:ext cx="4709160" cy="603504"/>
          </a:xfrm>
          <a:prstGeom prst="rect">
            <a:avLst/>
          </a:prstGeom>
          <a:noFill/>
        </p:spPr>
        <p:txBody>
          <a:bodyPr wrap="square" anchor="ctr" lIns="0" rIns="0" tIns="0" bIns="0">
            <a:spAutoFit/>
          </a:bodyPr>
          <a:lstStyle/>
          <a:p>
            <a:pPr algn="l"/>
            <a:r>
              <a:rPr sz="1609" b="0">
                <a:solidFill>
                  <a:srgbClr val="33475B"/>
                </a:solidFill>
                <a:latin typeface="Aptos"/>
              </a:rPr>
              <a:t>Casi sin techo</a:t>
            </a:r>
          </a:p>
        </p:txBody>
      </p:sp>
      <p:sp>
        <p:nvSpPr>
          <p:cNvPr id="25" name="Oval 24"/>
          <p:cNvSpPr/>
          <p:nvPr/>
        </p:nvSpPr>
        <p:spPr>
          <a:xfrm>
            <a:off x="6483096" y="4381804"/>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20840" y="4125772"/>
            <a:ext cx="4709160" cy="603504"/>
          </a:xfrm>
          <a:prstGeom prst="rect">
            <a:avLst/>
          </a:prstGeom>
          <a:noFill/>
        </p:spPr>
        <p:txBody>
          <a:bodyPr wrap="square" anchor="ctr" lIns="0" rIns="0" tIns="0" bIns="0">
            <a:spAutoFit/>
          </a:bodyPr>
          <a:lstStyle/>
          <a:p>
            <a:pPr algn="l"/>
            <a:r>
              <a:rPr sz="1609" b="0">
                <a:solidFill>
                  <a:srgbClr val="33475B"/>
                </a:solidFill>
                <a:latin typeface="Aptos"/>
              </a:rPr>
              <a:t>Si una cae, quedan las otras</a:t>
            </a:r>
          </a:p>
        </p:txBody>
      </p:sp>
      <p:sp>
        <p:nvSpPr>
          <p:cNvPr id="27" name="Oval 26"/>
          <p:cNvSpPr/>
          <p:nvPr/>
        </p:nvSpPr>
        <p:spPr>
          <a:xfrm>
            <a:off x="6483096" y="4985308"/>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20840" y="4729276"/>
            <a:ext cx="4709160" cy="603504"/>
          </a:xfrm>
          <a:prstGeom prst="rect">
            <a:avLst/>
          </a:prstGeom>
          <a:noFill/>
        </p:spPr>
        <p:txBody>
          <a:bodyPr wrap="square" anchor="ctr" lIns="0" rIns="0" tIns="0" bIns="0">
            <a:spAutoFit/>
          </a:bodyPr>
          <a:lstStyle/>
          <a:p>
            <a:pPr algn="l"/>
            <a:r>
              <a:rPr sz="1609" b="0">
                <a:solidFill>
                  <a:srgbClr val="33475B"/>
                </a:solidFill>
                <a:latin typeface="Aptos"/>
              </a:rPr>
              <a:t>Exige aplicación sin estado</a:t>
            </a:r>
          </a:p>
        </p:txBody>
      </p:sp>
      <p:sp>
        <p:nvSpPr>
          <p:cNvPr id="29" name="TextBox 2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30" name="TextBox 2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8 / 35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2500" b="1">
                <a:solidFill>
                  <a:srgbClr val="0E2841"/>
                </a:solidFill>
                <a:latin typeface="Aptos Display"/>
              </a:rPr>
              <a:t>Sin estado no es una buena práctica: es el requisito que habilita todo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5532120"/>
                <a:gridCol w="5532120"/>
              </a:tblGrid>
              <a:tr h="729081">
                <a:tc>
                  <a:txBody>
                    <a:bodyPr wrap="square"/>
                    <a:lstStyle/>
                    <a:p>
                      <a:r>
                        <a:rPr sz="1725" b="1">
                          <a:solidFill>
                            <a:srgbClr val="FFFFFF"/>
                          </a:solidFill>
                          <a:latin typeface="Aptos"/>
                        </a:rPr>
                        <a:t>Estado mal ubicado</a:t>
                      </a:r>
                    </a:p>
                  </a:txBody>
                  <a:tcPr anchor="ctr" marL="146304" marR="146304">
                    <a:solidFill>
                      <a:srgbClr val="156082"/>
                    </a:solidFill>
                  </a:tcPr>
                </a:tc>
                <a:tc>
                  <a:txBody>
                    <a:bodyPr wrap="square"/>
                    <a:lstStyle/>
                    <a:p>
                      <a:r>
                        <a:rPr sz="1725" b="1">
                          <a:solidFill>
                            <a:srgbClr val="FFFFFF"/>
                          </a:solidFill>
                          <a:latin typeface="Aptos"/>
                        </a:rPr>
                        <a:t>Dónde debe vivir</a:t>
                      </a:r>
                    </a:p>
                  </a:txBody>
                  <a:tcPr anchor="ctr" marL="146304" marR="146304">
                    <a:solidFill>
                      <a:srgbClr val="156082"/>
                    </a:solidFill>
                  </a:tcPr>
                </a:tc>
              </a:tr>
              <a:tr h="729081">
                <a:tc>
                  <a:txBody>
                    <a:bodyPr wrap="square"/>
                    <a:lstStyle/>
                    <a:p>
                      <a:r>
                        <a:rPr sz="1609" b="1">
                          <a:solidFill>
                            <a:srgbClr val="33475B"/>
                          </a:solidFill>
                          <a:latin typeface="Aptos"/>
                        </a:rPr>
                        <a:t>Sesión de usuario en memoria</a:t>
                      </a:r>
                    </a:p>
                  </a:txBody>
                  <a:tcPr anchor="ctr" marL="146304" marR="146304">
                    <a:solidFill>
                      <a:srgbClr val="FFFFFF"/>
                    </a:solidFill>
                  </a:tcPr>
                </a:tc>
                <a:tc>
                  <a:txBody>
                    <a:bodyPr wrap="square"/>
                    <a:lstStyle/>
                    <a:p>
                      <a:r>
                        <a:rPr sz="1609" b="0">
                          <a:solidFill>
                            <a:srgbClr val="33475B"/>
                          </a:solidFill>
                          <a:latin typeface="Aptos"/>
                        </a:rPr>
                        <a:t>Token firmado (JWT) o caché distribuida</a:t>
                      </a:r>
                    </a:p>
                  </a:txBody>
                  <a:tcPr anchor="ctr" marL="146304" marR="146304">
                    <a:solidFill>
                      <a:srgbClr val="FFFFFF"/>
                    </a:solidFill>
                  </a:tcPr>
                </a:tc>
              </a:tr>
              <a:tr h="729081">
                <a:tc>
                  <a:txBody>
                    <a:bodyPr wrap="square"/>
                    <a:lstStyle/>
                    <a:p>
                      <a:r>
                        <a:rPr sz="1609" b="1">
                          <a:solidFill>
                            <a:srgbClr val="33475B"/>
                          </a:solidFill>
                          <a:latin typeface="Aptos"/>
                        </a:rPr>
                        <a:t>Archivos subidos en disco local</a:t>
                      </a:r>
                    </a:p>
                  </a:txBody>
                  <a:tcPr anchor="ctr" marL="146304" marR="146304">
                    <a:solidFill>
                      <a:srgbClr val="F4F7FA"/>
                    </a:solidFill>
                  </a:tcPr>
                </a:tc>
                <a:tc>
                  <a:txBody>
                    <a:bodyPr wrap="square"/>
                    <a:lstStyle/>
                    <a:p>
                      <a:r>
                        <a:rPr sz="1609" b="0">
                          <a:solidFill>
                            <a:srgbClr val="33475B"/>
                          </a:solidFill>
                          <a:latin typeface="Aptos"/>
                        </a:rPr>
                        <a:t>Almacenamiento de objetos (S3, Blob)</a:t>
                      </a:r>
                    </a:p>
                  </a:txBody>
                  <a:tcPr anchor="ctr" marL="146304" marR="146304">
                    <a:solidFill>
                      <a:srgbClr val="F4F7FA"/>
                    </a:solidFill>
                  </a:tcPr>
                </a:tc>
              </a:tr>
              <a:tr h="729081">
                <a:tc>
                  <a:txBody>
                    <a:bodyPr wrap="square"/>
                    <a:lstStyle/>
                    <a:p>
                      <a:r>
                        <a:rPr sz="1609" b="1">
                          <a:solidFill>
                            <a:srgbClr val="33475B"/>
                          </a:solidFill>
                          <a:latin typeface="Aptos"/>
                        </a:rPr>
                        <a:t>Caché local por instancia</a:t>
                      </a:r>
                    </a:p>
                  </a:txBody>
                  <a:tcPr anchor="ctr" marL="146304" marR="146304">
                    <a:solidFill>
                      <a:srgbClr val="FFFFFF"/>
                    </a:solidFill>
                  </a:tcPr>
                </a:tc>
                <a:tc>
                  <a:txBody>
                    <a:bodyPr wrap="square"/>
                    <a:lstStyle/>
                    <a:p>
                      <a:r>
                        <a:rPr sz="1609" b="0">
                          <a:solidFill>
                            <a:srgbClr val="33475B"/>
                          </a:solidFill>
                          <a:latin typeface="Aptos"/>
                        </a:rPr>
                        <a:t>Caché compartida</a:t>
                      </a:r>
                    </a:p>
                  </a:txBody>
                  <a:tcPr anchor="ctr" marL="146304" marR="146304">
                    <a:solidFill>
                      <a:srgbClr val="FFFFFF"/>
                    </a:solidFill>
                  </a:tcPr>
                </a:tc>
              </a:tr>
              <a:tr h="729081">
                <a:tc>
                  <a:txBody>
                    <a:bodyPr wrap="square"/>
                    <a:lstStyle/>
                    <a:p>
                      <a:r>
                        <a:rPr sz="1609" b="1">
                          <a:solidFill>
                            <a:srgbClr val="33475B"/>
                          </a:solidFill>
                          <a:latin typeface="Aptos"/>
                        </a:rPr>
                        <a:t>Contador o acumulado en variable</a:t>
                      </a:r>
                    </a:p>
                  </a:txBody>
                  <a:tcPr anchor="ctr" marL="146304" marR="146304">
                    <a:solidFill>
                      <a:srgbClr val="F4F7FA"/>
                    </a:solidFill>
                  </a:tcPr>
                </a:tc>
                <a:tc>
                  <a:txBody>
                    <a:bodyPr wrap="square"/>
                    <a:lstStyle/>
                    <a:p>
                      <a:r>
                        <a:rPr sz="1609" b="0">
                          <a:solidFill>
                            <a:srgbClr val="33475B"/>
                          </a:solidFill>
                          <a:latin typeface="Aptos"/>
                        </a:rPr>
                        <a:t>Base de datos o caché</a:t>
                      </a:r>
                    </a:p>
                  </a:txBody>
                  <a:tcPr anchor="ctr" marL="146304" marR="146304">
                    <a:solidFill>
                      <a:srgbClr val="F4F7FA"/>
                    </a:solidFill>
                  </a:tcPr>
                </a:tc>
              </a:tr>
              <a:tr h="729081">
                <a:tc>
                  <a:txBody>
                    <a:bodyPr wrap="square"/>
                    <a:lstStyle/>
                    <a:p>
                      <a:r>
                        <a:rPr sz="1609" b="1">
                          <a:solidFill>
                            <a:srgbClr val="33475B"/>
                          </a:solidFill>
                          <a:latin typeface="Aptos"/>
                        </a:rPr>
                        <a:t>Tareas programadas en un nodo</a:t>
                      </a:r>
                    </a:p>
                  </a:txBody>
                  <a:tcPr anchor="ctr" marL="146304" marR="146304">
                    <a:solidFill>
                      <a:srgbClr val="FFFFFF"/>
                    </a:solidFill>
                  </a:tcPr>
                </a:tc>
                <a:tc>
                  <a:txBody>
                    <a:bodyPr wrap="square"/>
                    <a:lstStyle/>
                    <a:p>
                      <a:r>
                        <a:rPr sz="1609" b="0">
                          <a:solidFill>
                            <a:srgbClr val="33475B"/>
                          </a:solidFill>
                          <a:latin typeface="Aptos"/>
                        </a:rPr>
                        <a:t>Programador externo o bloqueo distribuido</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9 / 35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Autoescalado: tres definiciones explícitas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651760"/>
            <a:ext cx="11064240" cy="2596896"/>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834640"/>
            <a:ext cx="10515600" cy="2249424"/>
          </a:xfrm>
          <a:prstGeom prst="rect">
            <a:avLst/>
          </a:prstGeom>
          <a:noFill/>
        </p:spPr>
        <p:txBody>
          <a:bodyPr wrap="none" lIns="0" tIns="0">
            <a:spAutoFit/>
          </a:bodyPr>
          <a:lstStyle/>
          <a:p>
            <a:pPr>
              <a:lnSpc>
                <a:spcPct val="125000"/>
              </a:lnSpc>
            </a:pPr>
            <a:r>
              <a:rPr sz="1450">
                <a:solidFill>
                  <a:srgbClr val="E8E8E8"/>
                </a:solidFill>
                <a:latin typeface="Consolas"/>
              </a:rPr>
              <a:t>apiVersion: autoscaling/v2</a:t>
            </a:r>
          </a:p>
          <a:p>
            <a:pPr>
              <a:lnSpc>
                <a:spcPct val="125000"/>
              </a:lnSpc>
            </a:pPr>
            <a:r>
              <a:rPr sz="1450">
                <a:solidFill>
                  <a:srgbClr val="E8E8E8"/>
                </a:solidFill>
                <a:latin typeface="Consolas"/>
              </a:rPr>
              <a:t>kind: HorizontalPodAutoscaler</a:t>
            </a:r>
          </a:p>
          <a:p>
            <a:pPr>
              <a:lnSpc>
                <a:spcPct val="125000"/>
              </a:lnSpc>
            </a:pPr>
            <a:r>
              <a:rPr sz="1450">
                <a:solidFill>
                  <a:srgbClr val="E8E8E8"/>
                </a:solidFill>
                <a:latin typeface="Consolas"/>
              </a:rPr>
              <a:t>spec:</a:t>
            </a:r>
          </a:p>
          <a:p>
            <a:pPr>
              <a:lnSpc>
                <a:spcPct val="125000"/>
              </a:lnSpc>
            </a:pPr>
            <a:r>
              <a:rPr sz="1450">
                <a:solidFill>
                  <a:srgbClr val="E8E8E8"/>
                </a:solidFill>
                <a:latin typeface="Consolas"/>
              </a:rPr>
              <a:t>  minReplicas: 2          # nunca una sola: no habría tolerancia a fallos</a:t>
            </a:r>
          </a:p>
          <a:p>
            <a:pPr>
              <a:lnSpc>
                <a:spcPct val="125000"/>
              </a:lnSpc>
            </a:pPr>
            <a:r>
              <a:rPr sz="1450">
                <a:solidFill>
                  <a:srgbClr val="E8E8E8"/>
                </a:solidFill>
                <a:latin typeface="Consolas"/>
              </a:rPr>
              <a:t>  maxReplicas: 10         # techo de gasto</a:t>
            </a:r>
          </a:p>
          <a:p>
            <a:pPr>
              <a:lnSpc>
                <a:spcPct val="125000"/>
              </a:lnSpc>
            </a:pPr>
            <a:r>
              <a:rPr sz="1450">
                <a:solidFill>
                  <a:srgbClr val="E8E8E8"/>
                </a:solidFill>
                <a:latin typeface="Consolas"/>
              </a:rPr>
              <a:t>  metrics:</a:t>
            </a:r>
          </a:p>
          <a:p>
            <a:pPr>
              <a:lnSpc>
                <a:spcPct val="125000"/>
              </a:lnSpc>
            </a:pPr>
            <a:r>
              <a:rPr sz="1450">
                <a:solidFill>
                  <a:srgbClr val="E8E8E8"/>
                </a:solidFill>
                <a:latin typeface="Consolas"/>
              </a:rPr>
              <a:t>    - type: Resource</a:t>
            </a:r>
          </a:p>
          <a:p>
            <a:pPr>
              <a:lnSpc>
                <a:spcPct val="125000"/>
              </a:lnSpc>
            </a:pPr>
            <a:r>
              <a:rPr sz="1450">
                <a:solidFill>
                  <a:srgbClr val="E8E8E8"/>
                </a:solidFill>
                <a:latin typeface="Consolas"/>
              </a:rPr>
              <a:t>      resource: { name: cpu, target: { averageUtilization: 70 } }</a:t>
            </a:r>
          </a:p>
        </p:txBody>
      </p:sp>
      <p:sp>
        <p:nvSpPr>
          <p:cNvPr id="9" name="TextBox 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10" name="TextBox 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10 / 35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2500" b="1">
                <a:solidFill>
                  <a:srgbClr val="0E2841"/>
                </a:solidFill>
                <a:latin typeface="Aptos Display"/>
              </a:rPr>
              <a:t>Escalar la aplicación mueve el cuello de botella, no lo elimina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624328"/>
            <a:ext cx="2478024" cy="26517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2624328"/>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3313785"/>
            <a:ext cx="2185416" cy="1803197"/>
          </a:xfrm>
          <a:prstGeom prst="rect">
            <a:avLst/>
          </a:prstGeom>
          <a:noFill/>
        </p:spPr>
        <p:txBody>
          <a:bodyPr wrap="square" anchor="t" lIns="0" rIns="0" tIns="0" bIns="0">
            <a:spAutoFit/>
          </a:bodyPr>
          <a:lstStyle/>
          <a:p>
            <a:pPr algn="ctr"/>
            <a:r>
              <a:rPr sz="1859" b="1">
                <a:solidFill>
                  <a:srgbClr val="0E2841"/>
                </a:solidFill>
                <a:latin typeface="Aptos Display"/>
              </a:rPr>
              <a:t>Escalas la API</a:t>
            </a:r>
          </a:p>
          <a:p>
            <a:pPr algn="ctr">
              <a:lnSpc>
                <a:spcPct val="120000"/>
              </a:lnSpc>
              <a:spcBef>
                <a:spcPts val="700"/>
              </a:spcBef>
            </a:pPr>
            <a:r>
              <a:rPr sz="1439" b="0">
                <a:solidFill>
                  <a:srgbClr val="7A8B9E"/>
                </a:solidFill>
                <a:latin typeface="Aptos"/>
              </a:rPr>
              <a:t>De 1 a 4 instancias</a:t>
            </a:r>
          </a:p>
        </p:txBody>
      </p:sp>
      <p:sp>
        <p:nvSpPr>
          <p:cNvPr id="10" name="Chevron 9"/>
          <p:cNvSpPr/>
          <p:nvPr/>
        </p:nvSpPr>
        <p:spPr>
          <a:xfrm>
            <a:off x="3136392" y="3472891"/>
            <a:ext cx="201168" cy="954633"/>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2624328"/>
            <a:ext cx="2478024" cy="26517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2624328"/>
            <a:ext cx="2478024"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5304" y="3313785"/>
            <a:ext cx="2185416" cy="1803197"/>
          </a:xfrm>
          <a:prstGeom prst="rect">
            <a:avLst/>
          </a:prstGeom>
          <a:noFill/>
        </p:spPr>
        <p:txBody>
          <a:bodyPr wrap="square" anchor="t" lIns="0" rIns="0" tIns="0" bIns="0">
            <a:spAutoFit/>
          </a:bodyPr>
          <a:lstStyle/>
          <a:p>
            <a:pPr algn="ctr"/>
            <a:r>
              <a:rPr sz="1859" b="1">
                <a:solidFill>
                  <a:srgbClr val="0E2841"/>
                </a:solidFill>
                <a:latin typeface="Aptos Display"/>
              </a:rPr>
              <a:t>Cuatro veces las conexiones</a:t>
            </a:r>
          </a:p>
          <a:p>
            <a:pPr algn="ctr">
              <a:lnSpc>
                <a:spcPct val="120000"/>
              </a:lnSpc>
              <a:spcBef>
                <a:spcPts val="700"/>
              </a:spcBef>
            </a:pPr>
            <a:r>
              <a:rPr sz="1439" b="0">
                <a:solidFill>
                  <a:srgbClr val="7A8B9E"/>
                </a:solidFill>
                <a:latin typeface="Aptos"/>
              </a:rPr>
              <a:t>Contra la misma base</a:t>
            </a:r>
          </a:p>
        </p:txBody>
      </p:sp>
      <p:sp>
        <p:nvSpPr>
          <p:cNvPr id="14" name="Chevron 13"/>
          <p:cNvSpPr/>
          <p:nvPr/>
        </p:nvSpPr>
        <p:spPr>
          <a:xfrm>
            <a:off x="5998464" y="3472891"/>
            <a:ext cx="201168" cy="954633"/>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91072" y="2624328"/>
            <a:ext cx="2478024" cy="26517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91072" y="2624328"/>
            <a:ext cx="2478024"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3313785"/>
            <a:ext cx="2185416" cy="1803197"/>
          </a:xfrm>
          <a:prstGeom prst="rect">
            <a:avLst/>
          </a:prstGeom>
          <a:noFill/>
        </p:spPr>
        <p:txBody>
          <a:bodyPr wrap="square" anchor="t" lIns="0" rIns="0" tIns="0" bIns="0">
            <a:spAutoFit/>
          </a:bodyPr>
          <a:lstStyle/>
          <a:p>
            <a:pPr algn="ctr"/>
            <a:r>
              <a:rPr sz="1859" b="1">
                <a:solidFill>
                  <a:srgbClr val="0E2841"/>
                </a:solidFill>
                <a:latin typeface="Aptos Display"/>
              </a:rPr>
              <a:t>Nuevo cuello</a:t>
            </a:r>
          </a:p>
          <a:p>
            <a:pPr algn="ctr">
              <a:lnSpc>
                <a:spcPct val="120000"/>
              </a:lnSpc>
              <a:spcBef>
                <a:spcPts val="700"/>
              </a:spcBef>
            </a:pPr>
            <a:r>
              <a:rPr sz="1439" b="0">
                <a:solidFill>
                  <a:srgbClr val="7A8B9E"/>
                </a:solidFill>
                <a:latin typeface="Aptos"/>
              </a:rPr>
              <a:t>Ahora la base es el límite</a:t>
            </a:r>
          </a:p>
        </p:txBody>
      </p:sp>
      <p:sp>
        <p:nvSpPr>
          <p:cNvPr id="18" name="Chevron 17"/>
          <p:cNvSpPr/>
          <p:nvPr/>
        </p:nvSpPr>
        <p:spPr>
          <a:xfrm>
            <a:off x="8860536" y="3472891"/>
            <a:ext cx="201168" cy="954633"/>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3144" y="2624328"/>
            <a:ext cx="2478024" cy="26517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53144" y="2624328"/>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3313785"/>
            <a:ext cx="2185416" cy="1803197"/>
          </a:xfrm>
          <a:prstGeom prst="rect">
            <a:avLst/>
          </a:prstGeom>
          <a:noFill/>
        </p:spPr>
        <p:txBody>
          <a:bodyPr wrap="square" anchor="t" lIns="0" rIns="0" tIns="0" bIns="0">
            <a:spAutoFit/>
          </a:bodyPr>
          <a:lstStyle/>
          <a:p>
            <a:pPr algn="ctr"/>
            <a:r>
              <a:rPr sz="1859" b="1">
                <a:solidFill>
                  <a:srgbClr val="0E2841"/>
                </a:solidFill>
                <a:latin typeface="Aptos Display"/>
              </a:rPr>
              <a:t>Respuestas</a:t>
            </a:r>
          </a:p>
          <a:p>
            <a:pPr algn="ctr">
              <a:lnSpc>
                <a:spcPct val="120000"/>
              </a:lnSpc>
              <a:spcBef>
                <a:spcPts val="700"/>
              </a:spcBef>
            </a:pPr>
            <a:r>
              <a:rPr sz="1439" b="0">
                <a:solidFill>
                  <a:srgbClr val="7A8B9E"/>
                </a:solidFill>
                <a:latin typeface="Aptos"/>
              </a:rPr>
              <a:t>Réplicas de lectura, caché, pool, CQRS</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11 / 35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2500" b="1">
                <a:solidFill>
                  <a:srgbClr val="0E2841"/>
                </a:solidFill>
                <a:latin typeface="Aptos Display"/>
              </a:rPr>
              <a:t>Una API guarda la sesión del usuario en la memoria de la instancia. ¿Qué impide eso?</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El cifrado en reposo de los datos de sesión</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El escalado horizontal: las instancias dejan de ser intercambiables</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La autenticación mediante JWT con refresh token</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El uso de contenedores para el despliegue</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12 / 35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03</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3. Cuando algo falla</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Tolerar no es lo mismo que recuperarse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Tolerancia a fallos</a:t>
            </a:r>
          </a:p>
          <a:p>
            <a:pPr algn="l">
              <a:lnSpc>
                <a:spcPct val="120000"/>
              </a:lnSpc>
              <a:spcBef>
                <a:spcPts val="700"/>
              </a:spcBef>
            </a:pPr>
            <a:r>
              <a:rPr sz="1560" b="0">
                <a:solidFill>
                  <a:srgbClr val="33475B"/>
                </a:solidFill>
                <a:latin typeface="Aptos"/>
              </a:rPr>
              <a:t>El sistema sigue operando aunque un componente caiga</a:t>
            </a:r>
          </a:p>
        </p:txBody>
      </p:sp>
      <p:sp>
        <p:nvSpPr>
          <p:cNvPr id="10" name="Rounded Rectangle 9"/>
          <p:cNvSpPr/>
          <p:nvPr/>
        </p:nvSpPr>
        <p:spPr>
          <a:xfrm>
            <a:off x="3410712"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2304288"/>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Resiliencia</a:t>
            </a:r>
          </a:p>
          <a:p>
            <a:pPr algn="l">
              <a:lnSpc>
                <a:spcPct val="120000"/>
              </a:lnSpc>
              <a:spcBef>
                <a:spcPts val="700"/>
              </a:spcBef>
            </a:pPr>
            <a:r>
              <a:rPr sz="1560" b="0">
                <a:solidFill>
                  <a:srgbClr val="33475B"/>
                </a:solidFill>
                <a:latin typeface="Aptos"/>
              </a:rPr>
              <a:t>Además se recupera solo, sin intervención humana</a:t>
            </a:r>
          </a:p>
        </p:txBody>
      </p:sp>
      <p:sp>
        <p:nvSpPr>
          <p:cNvPr id="13" name="Rounded Rectangle 12"/>
          <p:cNvSpPr/>
          <p:nvPr/>
        </p:nvSpPr>
        <p:spPr>
          <a:xfrm>
            <a:off x="6254496"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2304288"/>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La diferencia</a:t>
            </a:r>
          </a:p>
          <a:p>
            <a:pPr algn="l">
              <a:lnSpc>
                <a:spcPct val="120000"/>
              </a:lnSpc>
              <a:spcBef>
                <a:spcPts val="700"/>
              </a:spcBef>
            </a:pPr>
            <a:r>
              <a:rPr sz="1560" b="0">
                <a:solidFill>
                  <a:srgbClr val="33475B"/>
                </a:solidFill>
                <a:latin typeface="Aptos"/>
              </a:rPr>
              <a:t>Alguien levantándolo a mano de madrugada</a:t>
            </a:r>
          </a:p>
        </p:txBody>
      </p:sp>
      <p:sp>
        <p:nvSpPr>
          <p:cNvPr id="16" name="Rounded Rectangle 15"/>
          <p:cNvSpPr/>
          <p:nvPr/>
        </p:nvSpPr>
        <p:spPr>
          <a:xfrm>
            <a:off x="9098280"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El prerrequisito</a:t>
            </a:r>
          </a:p>
          <a:p>
            <a:pPr algn="l">
              <a:lnSpc>
                <a:spcPct val="120000"/>
              </a:lnSpc>
              <a:spcBef>
                <a:spcPts val="700"/>
              </a:spcBef>
            </a:pPr>
            <a:r>
              <a:rPr sz="1560" b="0">
                <a:solidFill>
                  <a:srgbClr val="33475B"/>
                </a:solidFill>
                <a:latin typeface="Aptos"/>
              </a:rPr>
              <a:t>Detectar el fallo. Sin observabilidad no hay recuperación</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13 / 35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Los siete patrones de resiliencia, y qué resuelve cada uno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8"/>
        </p:xfrm>
        <a:graphic>
          <a:graphicData uri="http://schemas.openxmlformats.org/drawingml/2006/table">
            <a:tbl>
              <a:tblPr firstRow="1">
                <a:tableStyleId>{5C22544A-7EE6-4342-B048-85BDC9FD1C3A}</a:tableStyleId>
              </a:tblPr>
              <a:tblGrid>
                <a:gridCol w="3688080"/>
                <a:gridCol w="3688080"/>
                <a:gridCol w="3688080"/>
              </a:tblGrid>
              <a:tr h="546811">
                <a:tc>
                  <a:txBody>
                    <a:bodyPr wrap="square"/>
                    <a:lstStyle/>
                    <a:p>
                      <a:r>
                        <a:rPr sz="1590" b="1">
                          <a:solidFill>
                            <a:srgbClr val="FFFFFF"/>
                          </a:solidFill>
                          <a:latin typeface="Aptos"/>
                        </a:rPr>
                        <a:t>Patrón</a:t>
                      </a:r>
                    </a:p>
                  </a:txBody>
                  <a:tcPr anchor="ctr" marL="146304" marR="146304">
                    <a:solidFill>
                      <a:srgbClr val="156082"/>
                    </a:solidFill>
                  </a:tcPr>
                </a:tc>
                <a:tc>
                  <a:txBody>
                    <a:bodyPr wrap="square"/>
                    <a:lstStyle/>
                    <a:p>
                      <a:r>
                        <a:rPr sz="1590" b="1">
                          <a:solidFill>
                            <a:srgbClr val="FFFFFF"/>
                          </a:solidFill>
                          <a:latin typeface="Aptos"/>
                        </a:rPr>
                        <a:t>Qué resuelve</a:t>
                      </a:r>
                    </a:p>
                  </a:txBody>
                  <a:tcPr anchor="ctr" marL="146304" marR="146304">
                    <a:solidFill>
                      <a:srgbClr val="156082"/>
                    </a:solidFill>
                  </a:tcPr>
                </a:tc>
                <a:tc>
                  <a:txBody>
                    <a:bodyPr wrap="square"/>
                    <a:lstStyle/>
                    <a:p>
                      <a:r>
                        <a:rPr sz="1590" b="1">
                          <a:solidFill>
                            <a:srgbClr val="FFFFFF"/>
                          </a:solidFill>
                          <a:latin typeface="Aptos"/>
                        </a:rPr>
                        <a:t>Riesgo si se usa mal</a:t>
                      </a:r>
                    </a:p>
                  </a:txBody>
                  <a:tcPr anchor="ctr" marL="146304" marR="146304">
                    <a:solidFill>
                      <a:srgbClr val="156082"/>
                    </a:solidFill>
                  </a:tcPr>
                </a:tc>
              </a:tr>
              <a:tr h="546811">
                <a:tc>
                  <a:txBody>
                    <a:bodyPr wrap="square"/>
                    <a:lstStyle/>
                    <a:p>
                      <a:r>
                        <a:rPr sz="1484" b="1">
                          <a:solidFill>
                            <a:srgbClr val="33475B"/>
                          </a:solidFill>
                          <a:latin typeface="Aptos"/>
                        </a:rPr>
                        <a:t>Timeout</a:t>
                      </a:r>
                    </a:p>
                  </a:txBody>
                  <a:tcPr anchor="ctr" marL="146304" marR="146304">
                    <a:solidFill>
                      <a:srgbClr val="FFFFFF"/>
                    </a:solidFill>
                  </a:tcPr>
                </a:tc>
                <a:tc>
                  <a:txBody>
                    <a:bodyPr wrap="square"/>
                    <a:lstStyle/>
                    <a:p>
                      <a:r>
                        <a:rPr sz="1484" b="0">
                          <a:solidFill>
                            <a:srgbClr val="33475B"/>
                          </a:solidFill>
                          <a:latin typeface="Aptos"/>
                        </a:rPr>
                        <a:t>Evita esperar indefinidamente</a:t>
                      </a:r>
                    </a:p>
                  </a:txBody>
                  <a:tcPr anchor="ctr" marL="146304" marR="146304">
                    <a:solidFill>
                      <a:srgbClr val="FFFFFF"/>
                    </a:solidFill>
                  </a:tcPr>
                </a:tc>
                <a:tc>
                  <a:txBody>
                    <a:bodyPr wrap="square"/>
                    <a:lstStyle/>
                    <a:p>
                      <a:r>
                        <a:rPr sz="1484" b="0">
                          <a:solidFill>
                            <a:srgbClr val="33475B"/>
                          </a:solidFill>
                          <a:latin typeface="Aptos"/>
                        </a:rPr>
                        <a:t>Muy corto: falla lo que iba a funcionar</a:t>
                      </a:r>
                    </a:p>
                  </a:txBody>
                  <a:tcPr anchor="ctr" marL="146304" marR="146304">
                    <a:solidFill>
                      <a:srgbClr val="FFFFFF"/>
                    </a:solidFill>
                  </a:tcPr>
                </a:tc>
              </a:tr>
              <a:tr h="546811">
                <a:tc>
                  <a:txBody>
                    <a:bodyPr wrap="square"/>
                    <a:lstStyle/>
                    <a:p>
                      <a:r>
                        <a:rPr sz="1484" b="1">
                          <a:solidFill>
                            <a:srgbClr val="33475B"/>
                          </a:solidFill>
                          <a:latin typeface="Aptos"/>
                        </a:rPr>
                        <a:t>Reintento con backoff</a:t>
                      </a:r>
                    </a:p>
                  </a:txBody>
                  <a:tcPr anchor="ctr" marL="146304" marR="146304">
                    <a:solidFill>
                      <a:srgbClr val="F4F7FA"/>
                    </a:solidFill>
                  </a:tcPr>
                </a:tc>
                <a:tc>
                  <a:txBody>
                    <a:bodyPr wrap="square"/>
                    <a:lstStyle/>
                    <a:p>
                      <a:r>
                        <a:rPr sz="1484" b="0">
                          <a:solidFill>
                            <a:srgbClr val="33475B"/>
                          </a:solidFill>
                          <a:latin typeface="Aptos"/>
                        </a:rPr>
                        <a:t>Supera fallos transitorios</a:t>
                      </a:r>
                    </a:p>
                  </a:txBody>
                  <a:tcPr anchor="ctr" marL="146304" marR="146304">
                    <a:solidFill>
                      <a:srgbClr val="F4F7FA"/>
                    </a:solidFill>
                  </a:tcPr>
                </a:tc>
                <a:tc>
                  <a:txBody>
                    <a:bodyPr wrap="square"/>
                    <a:lstStyle/>
                    <a:p>
                      <a:r>
                        <a:rPr sz="1484" b="0">
                          <a:solidFill>
                            <a:srgbClr val="33475B"/>
                          </a:solidFill>
                          <a:latin typeface="Aptos"/>
                        </a:rPr>
                        <a:t>Sin backoff, agrava la saturación</a:t>
                      </a:r>
                    </a:p>
                  </a:txBody>
                  <a:tcPr anchor="ctr" marL="146304" marR="146304">
                    <a:solidFill>
                      <a:srgbClr val="F4F7FA"/>
                    </a:solidFill>
                  </a:tcPr>
                </a:tc>
              </a:tr>
              <a:tr h="546811">
                <a:tc>
                  <a:txBody>
                    <a:bodyPr wrap="square"/>
                    <a:lstStyle/>
                    <a:p>
                      <a:r>
                        <a:rPr sz="1484" b="1">
                          <a:solidFill>
                            <a:srgbClr val="33475B"/>
                          </a:solidFill>
                          <a:latin typeface="Aptos"/>
                        </a:rPr>
                        <a:t>Circuit breaker</a:t>
                      </a:r>
                    </a:p>
                  </a:txBody>
                  <a:tcPr anchor="ctr" marL="146304" marR="146304">
                    <a:solidFill>
                      <a:srgbClr val="FFFFFF"/>
                    </a:solidFill>
                  </a:tcPr>
                </a:tc>
                <a:tc>
                  <a:txBody>
                    <a:bodyPr wrap="square"/>
                    <a:lstStyle/>
                    <a:p>
                      <a:r>
                        <a:rPr sz="1484" b="0">
                          <a:solidFill>
                            <a:srgbClr val="33475B"/>
                          </a:solidFill>
                          <a:latin typeface="Aptos"/>
                        </a:rPr>
                        <a:t>Deja de golpear a un servicio caído</a:t>
                      </a:r>
                    </a:p>
                  </a:txBody>
                  <a:tcPr anchor="ctr" marL="146304" marR="146304">
                    <a:solidFill>
                      <a:srgbClr val="FFFFFF"/>
                    </a:solidFill>
                  </a:tcPr>
                </a:tc>
                <a:tc>
                  <a:txBody>
                    <a:bodyPr wrap="square"/>
                    <a:lstStyle/>
                    <a:p>
                      <a:r>
                        <a:rPr sz="1484" b="0">
                          <a:solidFill>
                            <a:srgbClr val="33475B"/>
                          </a:solidFill>
                          <a:latin typeface="Aptos"/>
                        </a:rPr>
                        <a:t>Sin </a:t>
                      </a:r>
                      <a:r>
                        <a:rPr sz="1484" b="0" i="1">
                          <a:solidFill>
                            <a:srgbClr val="33475B"/>
                          </a:solidFill>
                          <a:latin typeface="Aptos"/>
                        </a:rPr>
                        <a:t>fallback</a:t>
                      </a:r>
                      <a:r>
                        <a:rPr sz="1484" b="0">
                          <a:solidFill>
                            <a:srgbClr val="33475B"/>
                          </a:solidFill>
                          <a:latin typeface="Aptos"/>
                        </a:rPr>
                        <a:t>, solo falla más rápido</a:t>
                      </a:r>
                    </a:p>
                  </a:txBody>
                  <a:tcPr anchor="ctr" marL="146304" marR="146304">
                    <a:solidFill>
                      <a:srgbClr val="FFFFFF"/>
                    </a:solidFill>
                  </a:tcPr>
                </a:tc>
              </a:tr>
              <a:tr h="546811">
                <a:tc>
                  <a:txBody>
                    <a:bodyPr wrap="square"/>
                    <a:lstStyle/>
                    <a:p>
                      <a:r>
                        <a:rPr sz="1484" b="1">
                          <a:solidFill>
                            <a:srgbClr val="33475B"/>
                          </a:solidFill>
                          <a:latin typeface="Aptos"/>
                        </a:rPr>
                        <a:t>Bulkhead</a:t>
                      </a:r>
                    </a:p>
                  </a:txBody>
                  <a:tcPr anchor="ctr" marL="146304" marR="146304">
                    <a:solidFill>
                      <a:srgbClr val="F4F7FA"/>
                    </a:solidFill>
                  </a:tcPr>
                </a:tc>
                <a:tc>
                  <a:txBody>
                    <a:bodyPr wrap="square"/>
                    <a:lstStyle/>
                    <a:p>
                      <a:r>
                        <a:rPr sz="1484" b="0">
                          <a:solidFill>
                            <a:srgbClr val="33475B"/>
                          </a:solidFill>
                          <a:latin typeface="Aptos"/>
                        </a:rPr>
                        <a:t>Aísla recursos para que un fallo no consuma todo</a:t>
                      </a:r>
                    </a:p>
                  </a:txBody>
                  <a:tcPr anchor="ctr" marL="146304" marR="146304">
                    <a:solidFill>
                      <a:srgbClr val="F4F7FA"/>
                    </a:solidFill>
                  </a:tcPr>
                </a:tc>
                <a:tc>
                  <a:txBody>
                    <a:bodyPr wrap="square"/>
                    <a:lstStyle/>
                    <a:p>
                      <a:r>
                        <a:rPr sz="1484" b="0">
                          <a:solidFill>
                            <a:srgbClr val="33475B"/>
                          </a:solidFill>
                          <a:latin typeface="Aptos"/>
                        </a:rPr>
                        <a:t>Mal dimensionado, desperdicia capacidad</a:t>
                      </a:r>
                    </a:p>
                  </a:txBody>
                  <a:tcPr anchor="ctr" marL="146304" marR="146304">
                    <a:solidFill>
                      <a:srgbClr val="F4F7FA"/>
                    </a:solidFill>
                  </a:tcPr>
                </a:tc>
              </a:tr>
              <a:tr h="546811">
                <a:tc>
                  <a:txBody>
                    <a:bodyPr wrap="square"/>
                    <a:lstStyle/>
                    <a:p>
                      <a:r>
                        <a:rPr sz="1484" b="1">
                          <a:solidFill>
                            <a:srgbClr val="33475B"/>
                          </a:solidFill>
                          <a:latin typeface="Aptos"/>
                        </a:rPr>
                        <a:t>Degradación elegante</a:t>
                      </a:r>
                    </a:p>
                  </a:txBody>
                  <a:tcPr anchor="ctr" marL="146304" marR="146304">
                    <a:solidFill>
                      <a:srgbClr val="FFFFFF"/>
                    </a:solidFill>
                  </a:tcPr>
                </a:tc>
                <a:tc>
                  <a:txBody>
                    <a:bodyPr wrap="square"/>
                    <a:lstStyle/>
                    <a:p>
                      <a:r>
                        <a:rPr sz="1484" b="0">
                          <a:solidFill>
                            <a:srgbClr val="33475B"/>
                          </a:solidFill>
                          <a:latin typeface="Aptos"/>
                        </a:rPr>
                        <a:t>Ofrece menos función en vez de ninguna</a:t>
                      </a:r>
                    </a:p>
                  </a:txBody>
                  <a:tcPr anchor="ctr" marL="146304" marR="146304">
                    <a:solidFill>
                      <a:srgbClr val="FFFFFF"/>
                    </a:solidFill>
                  </a:tcPr>
                </a:tc>
                <a:tc>
                  <a:txBody>
                    <a:bodyPr wrap="square"/>
                    <a:lstStyle/>
                    <a:p>
                      <a:r>
                        <a:rPr sz="1484" b="0">
                          <a:solidFill>
                            <a:srgbClr val="33475B"/>
                          </a:solidFill>
                          <a:latin typeface="Aptos"/>
                        </a:rPr>
                        <a:t>Requiere decidir qué es prescindible</a:t>
                      </a:r>
                    </a:p>
                  </a:txBody>
                  <a:tcPr anchor="ctr" marL="146304" marR="146304">
                    <a:solidFill>
                      <a:srgbClr val="FFFFFF"/>
                    </a:solidFill>
                  </a:tcPr>
                </a:tc>
              </a:tr>
              <a:tr h="546811">
                <a:tc>
                  <a:txBody>
                    <a:bodyPr wrap="square"/>
                    <a:lstStyle/>
                    <a:p>
                      <a:r>
                        <a:rPr sz="1484" b="1">
                          <a:solidFill>
                            <a:srgbClr val="33475B"/>
                          </a:solidFill>
                          <a:latin typeface="Aptos"/>
                        </a:rPr>
                        <a:t>Health check</a:t>
                      </a:r>
                    </a:p>
                  </a:txBody>
                  <a:tcPr anchor="ctr" marL="146304" marR="146304">
                    <a:solidFill>
                      <a:srgbClr val="F4F7FA"/>
                    </a:solidFill>
                  </a:tcPr>
                </a:tc>
                <a:tc>
                  <a:txBody>
                    <a:bodyPr wrap="square"/>
                    <a:lstStyle/>
                    <a:p>
                      <a:r>
                        <a:rPr sz="1484" b="0">
                          <a:solidFill>
                            <a:srgbClr val="33475B"/>
                          </a:solidFill>
                          <a:latin typeface="Aptos"/>
                        </a:rPr>
                        <a:t>Permite sacar de rotación lo enfermo</a:t>
                      </a:r>
                    </a:p>
                  </a:txBody>
                  <a:tcPr anchor="ctr" marL="146304" marR="146304">
                    <a:solidFill>
                      <a:srgbClr val="F4F7FA"/>
                    </a:solidFill>
                  </a:tcPr>
                </a:tc>
                <a:tc>
                  <a:txBody>
                    <a:bodyPr wrap="square"/>
                    <a:lstStyle/>
                    <a:p>
                      <a:r>
                        <a:rPr sz="1484" b="0">
                          <a:solidFill>
                            <a:srgbClr val="33475B"/>
                          </a:solidFill>
                          <a:latin typeface="Aptos"/>
                        </a:rPr>
                        <a:t>Si solo responde «vivo», no detecta nada</a:t>
                      </a:r>
                    </a:p>
                  </a:txBody>
                  <a:tcPr anchor="ctr" marL="146304" marR="146304">
                    <a:solidFill>
                      <a:srgbClr val="F4F7FA"/>
                    </a:solidFill>
                  </a:tcPr>
                </a:tc>
              </a:tr>
              <a:tr h="546811">
                <a:tc>
                  <a:txBody>
                    <a:bodyPr wrap="square"/>
                    <a:lstStyle/>
                    <a:p>
                      <a:r>
                        <a:rPr sz="1484" b="1">
                          <a:solidFill>
                            <a:srgbClr val="33475B"/>
                          </a:solidFill>
                          <a:latin typeface="Aptos"/>
                        </a:rPr>
                        <a:t>Idempotencia</a:t>
                      </a:r>
                    </a:p>
                  </a:txBody>
                  <a:tcPr anchor="ctr" marL="146304" marR="146304">
                    <a:solidFill>
                      <a:srgbClr val="FFFFFF"/>
                    </a:solidFill>
                  </a:tcPr>
                </a:tc>
                <a:tc>
                  <a:txBody>
                    <a:bodyPr wrap="square"/>
                    <a:lstStyle/>
                    <a:p>
                      <a:r>
                        <a:rPr sz="1484" b="0">
                          <a:solidFill>
                            <a:srgbClr val="33475B"/>
                          </a:solidFill>
                          <a:latin typeface="Aptos"/>
                        </a:rPr>
                        <a:t>Hace seguro el reintento</a:t>
                      </a:r>
                    </a:p>
                  </a:txBody>
                  <a:tcPr anchor="ctr" marL="146304" marR="146304">
                    <a:solidFill>
                      <a:srgbClr val="FFFFFF"/>
                    </a:solidFill>
                  </a:tcPr>
                </a:tc>
                <a:tc>
                  <a:txBody>
                    <a:bodyPr wrap="square"/>
                    <a:lstStyle/>
                    <a:p>
                      <a:r>
                        <a:rPr sz="1484" b="0">
                          <a:solidFill>
                            <a:srgbClr val="33475B"/>
                          </a:solidFill>
                          <a:latin typeface="Aptos"/>
                        </a:rPr>
                        <a:t>Sin ella, se duplican cobros</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14 / 35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circuit breaker tiene tres estados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139696"/>
            <a:ext cx="11064240" cy="3621024"/>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322576"/>
            <a:ext cx="10515600" cy="3273552"/>
          </a:xfrm>
          <a:prstGeom prst="rect">
            <a:avLst/>
          </a:prstGeom>
          <a:noFill/>
        </p:spPr>
        <p:txBody>
          <a:bodyPr wrap="none" lIns="0" tIns="0">
            <a:spAutoFit/>
          </a:bodyPr>
          <a:lstStyle/>
          <a:p>
            <a:pPr>
              <a:lnSpc>
                <a:spcPct val="125000"/>
              </a:lnSpc>
            </a:pPr>
            <a:r>
              <a:rPr sz="1450">
                <a:solidFill>
                  <a:srgbClr val="E8E8E8"/>
                </a:solidFill>
                <a:latin typeface="Consolas"/>
              </a:rPr>
              <a:t>        fallos &gt;= umbral</a:t>
            </a:r>
          </a:p>
          <a:p>
            <a:pPr>
              <a:lnSpc>
                <a:spcPct val="125000"/>
              </a:lnSpc>
            </a:pPr>
            <a:r>
              <a:rPr sz="1450">
                <a:solidFill>
                  <a:srgbClr val="E8E8E8"/>
                </a:solidFill>
                <a:latin typeface="Consolas"/>
              </a:rPr>
              <a:t>   ┌──────────────────────────┐</a:t>
            </a:r>
          </a:p>
          <a:p>
            <a:pPr>
              <a:lnSpc>
                <a:spcPct val="125000"/>
              </a:lnSpc>
            </a:pPr>
            <a:r>
              <a:rPr sz="1450">
                <a:solidFill>
                  <a:srgbClr val="E8E8E8"/>
                </a:solidFill>
                <a:latin typeface="Consolas"/>
              </a:rPr>
              <a:t>   │                          v</a:t>
            </a:r>
          </a:p>
          <a:p>
            <a:pPr>
              <a:lnSpc>
                <a:spcPct val="125000"/>
              </a:lnSpc>
            </a:pPr>
            <a:r>
              <a:rPr sz="1450">
                <a:solidFill>
                  <a:srgbClr val="E8E8E8"/>
                </a:solidFill>
                <a:latin typeface="Consolas"/>
              </a:rPr>
              <a:t>┌──────┐               ┌───────────┐   pasa el tiempo   ┌────────────┐</a:t>
            </a:r>
          </a:p>
          <a:p>
            <a:pPr>
              <a:lnSpc>
                <a:spcPct val="125000"/>
              </a:lnSpc>
            </a:pPr>
            <a:r>
              <a:rPr sz="1450">
                <a:solidFill>
                  <a:srgbClr val="E8E8E8"/>
                </a:solidFill>
                <a:latin typeface="Consolas"/>
              </a:rPr>
              <a:t>│CERRADO│              │  ABIERTO  │ -----------------&gt; │SEMIABIERTO │</a:t>
            </a:r>
          </a:p>
          <a:p>
            <a:pPr>
              <a:lnSpc>
                <a:spcPct val="125000"/>
              </a:lnSpc>
            </a:pPr>
            <a:r>
              <a:rPr sz="1450">
                <a:solidFill>
                  <a:srgbClr val="E8E8E8"/>
                </a:solidFill>
                <a:latin typeface="Consolas"/>
              </a:rPr>
              <a:t>│ pasa  │              │  no llama │   de espera        │ deja pasar │</a:t>
            </a:r>
          </a:p>
          <a:p>
            <a:pPr>
              <a:lnSpc>
                <a:spcPct val="125000"/>
              </a:lnSpc>
            </a:pPr>
            <a:r>
              <a:rPr sz="1450">
                <a:solidFill>
                  <a:srgbClr val="E8E8E8"/>
                </a:solidFill>
                <a:latin typeface="Consolas"/>
              </a:rPr>
              <a:t>│ todo  │              │ devuelve  │                    │ unas pocas │</a:t>
            </a:r>
          </a:p>
          <a:p>
            <a:pPr>
              <a:lnSpc>
                <a:spcPct val="125000"/>
              </a:lnSpc>
            </a:pPr>
            <a:r>
              <a:rPr sz="1450">
                <a:solidFill>
                  <a:srgbClr val="E8E8E8"/>
                </a:solidFill>
                <a:latin typeface="Consolas"/>
              </a:rPr>
              <a:t>└───^---┘              │ fallback  │                    └─────┬──────┘</a:t>
            </a:r>
          </a:p>
          <a:p>
            <a:pPr>
              <a:lnSpc>
                <a:spcPct val="125000"/>
              </a:lnSpc>
            </a:pPr>
            <a:r>
              <a:rPr sz="1450">
                <a:solidFill>
                  <a:srgbClr val="E8E8E8"/>
                </a:solidFill>
                <a:latin typeface="Consolas"/>
              </a:rPr>
              <a:t>    │                  └───────────┘                          │</a:t>
            </a:r>
          </a:p>
          <a:p>
            <a:pPr>
              <a:lnSpc>
                <a:spcPct val="125000"/>
              </a:lnSpc>
            </a:pPr>
            <a:r>
              <a:rPr sz="1450">
                <a:solidFill>
                  <a:srgbClr val="E8E8E8"/>
                </a:solidFill>
                <a:latin typeface="Consolas"/>
              </a:rPr>
              <a:t>    │      si las de prueba tienen éxito                      │</a:t>
            </a:r>
          </a:p>
          <a:p>
            <a:pPr>
              <a:lnSpc>
                <a:spcPct val="125000"/>
              </a:lnSpc>
            </a:pPr>
            <a:r>
              <a:rPr sz="1450">
                <a:solidFill>
                  <a:srgbClr val="E8E8E8"/>
                </a:solidFill>
                <a:latin typeface="Consolas"/>
              </a:rPr>
              <a:t>    └─────────────────────────────────────────────────────────┘</a:t>
            </a:r>
          </a:p>
          <a:p>
            <a:pPr>
              <a:lnSpc>
                <a:spcPct val="125000"/>
              </a:lnSpc>
            </a:pPr>
            <a:r>
              <a:rPr sz="1450">
                <a:solidFill>
                  <a:srgbClr val="E8E8E8"/>
                </a:solidFill>
                <a:latin typeface="Consolas"/>
              </a:rPr>
              <a:t>                 si fallan, vuelve a ABIERTO</a:t>
            </a:r>
          </a:p>
        </p:txBody>
      </p:sp>
      <p:sp>
        <p:nvSpPr>
          <p:cNvPr id="9" name="TextBox 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10" name="TextBox 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15 / 35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Un circuit breaker sin fallback solo cambia cómo fallas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276856"/>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118" b="1">
                <a:solidFill>
                  <a:srgbClr val="E97132"/>
                </a:solidFill>
                <a:latin typeface="Aptos"/>
              </a:rPr>
              <a:t>LA PREGUNTA QUE HAY QUE RESPONDER</a:t>
            </a:r>
          </a:p>
        </p:txBody>
      </p:sp>
      <p:sp>
        <p:nvSpPr>
          <p:cNvPr id="10" name="TextBox 9"/>
          <p:cNvSpPr txBox="1"/>
          <p:nvPr/>
        </p:nvSpPr>
        <p:spPr>
          <a:xfrm>
            <a:off x="877824" y="2139696"/>
            <a:ext cx="10515600" cy="1545336"/>
          </a:xfrm>
          <a:prstGeom prst="rect">
            <a:avLst/>
          </a:prstGeom>
          <a:noFill/>
        </p:spPr>
        <p:txBody>
          <a:bodyPr wrap="none" lIns="0" tIns="0">
            <a:spAutoFit/>
          </a:bodyPr>
          <a:lstStyle/>
          <a:p>
            <a:pPr>
              <a:lnSpc>
                <a:spcPct val="125000"/>
              </a:lnSpc>
            </a:pPr>
            <a:r>
              <a:rPr sz="1410">
                <a:solidFill>
                  <a:srgbClr val="E8E8E8"/>
                </a:solidFill>
                <a:latin typeface="Consolas"/>
              </a:rPr>
              <a:t>@CircuitBreaker(name = "pagos", fallbackMethod = "pagoDiferido")</a:t>
            </a:r>
          </a:p>
          <a:p>
            <a:pPr>
              <a:lnSpc>
                <a:spcPct val="125000"/>
              </a:lnSpc>
            </a:pPr>
            <a:r>
              <a:rPr sz="1410">
                <a:solidFill>
                  <a:srgbClr val="E8E8E8"/>
                </a:solidFill>
                <a:latin typeface="Consolas"/>
              </a:rPr>
              <a:t>public ResultadoPago cobrar(Pedido p) { return pasarela.cobrar(p); }</a:t>
            </a:r>
          </a:p>
          <a:p>
            <a:pPr>
              <a:lnSpc>
                <a:spcPct val="125000"/>
              </a:lnSpc>
            </a:pPr>
            <a:r>
              <a:rPr sz="1410">
                <a:solidFill>
                  <a:srgbClr val="E8E8E8"/>
                </a:solidFill>
                <a:latin typeface="Consolas"/>
              </a:rPr>
              <a:t> </a:t>
            </a:r>
          </a:p>
          <a:p>
            <a:pPr>
              <a:lnSpc>
                <a:spcPct val="125000"/>
              </a:lnSpc>
            </a:pPr>
            <a:r>
              <a:rPr sz="1410">
                <a:solidFill>
                  <a:srgbClr val="E8E8E8"/>
                </a:solidFill>
                <a:latin typeface="Consolas"/>
              </a:rPr>
              <a:t>private ResultadoPago pagoDiferido(Pedido p, Throwable causa) {</a:t>
            </a:r>
          </a:p>
          <a:p>
            <a:pPr>
              <a:lnSpc>
                <a:spcPct val="125000"/>
              </a:lnSpc>
            </a:pPr>
            <a:r>
              <a:rPr sz="1410">
                <a:solidFill>
                  <a:srgbClr val="E8E8E8"/>
                </a:solidFill>
                <a:latin typeface="Consolas"/>
              </a:rPr>
              <a:t>    colaDePagos.encolar(p);                    // degradación elegante</a:t>
            </a:r>
          </a:p>
          <a:p>
            <a:pPr>
              <a:lnSpc>
                <a:spcPct val="125000"/>
              </a:lnSpc>
            </a:pPr>
            <a:r>
              <a:rPr sz="1410">
                <a:solidFill>
                  <a:srgbClr val="E8E8E8"/>
                </a:solidFill>
                <a:latin typeface="Consolas"/>
              </a:rPr>
              <a:t>    return ResultadoPago.pendiente("Cobro en proceso");</a:t>
            </a:r>
          </a:p>
          <a:p>
            <a:pPr>
              <a:lnSpc>
                <a:spcPct val="125000"/>
              </a:lnSpc>
            </a:pPr>
            <a:r>
              <a:rPr sz="1410">
                <a:solidFill>
                  <a:srgbClr val="E8E8E8"/>
                </a:solidFill>
                <a:latin typeface="Consolas"/>
              </a:rPr>
              <a:t>}</a:t>
            </a:r>
          </a:p>
        </p:txBody>
      </p:sp>
      <p:sp>
        <p:nvSpPr>
          <p:cNvPr id="11" name="Rounded Rectangle 10"/>
          <p:cNvSpPr/>
          <p:nvPr/>
        </p:nvSpPr>
        <p:spPr>
          <a:xfrm>
            <a:off x="566928" y="4050792"/>
            <a:ext cx="11064240" cy="2276856"/>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1248" y="4270248"/>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4233672"/>
            <a:ext cx="7315200" cy="237744"/>
          </a:xfrm>
          <a:prstGeom prst="rect">
            <a:avLst/>
          </a:prstGeom>
          <a:noFill/>
        </p:spPr>
        <p:txBody>
          <a:bodyPr wrap="square" anchor="t" lIns="0" rIns="0" tIns="0" bIns="0">
            <a:spAutoFit/>
          </a:bodyPr>
          <a:lstStyle/>
          <a:p>
            <a:pPr algn="l"/>
            <a:r>
              <a:rPr sz="1118" b="1">
                <a:solidFill>
                  <a:srgbClr val="E97132"/>
                </a:solidFill>
                <a:latin typeface="Aptos"/>
              </a:rPr>
              <a:t>REINTENTO CON BACKOFF</a:t>
            </a:r>
          </a:p>
        </p:txBody>
      </p:sp>
      <p:sp>
        <p:nvSpPr>
          <p:cNvPr id="14" name="TextBox 13"/>
          <p:cNvSpPr txBox="1"/>
          <p:nvPr/>
        </p:nvSpPr>
        <p:spPr>
          <a:xfrm>
            <a:off x="877824" y="4617720"/>
            <a:ext cx="10515600" cy="1545336"/>
          </a:xfrm>
          <a:prstGeom prst="rect">
            <a:avLst/>
          </a:prstGeom>
          <a:noFill/>
        </p:spPr>
        <p:txBody>
          <a:bodyPr wrap="none" lIns="0" tIns="0">
            <a:spAutoFit/>
          </a:bodyPr>
          <a:lstStyle/>
          <a:p>
            <a:pPr>
              <a:lnSpc>
                <a:spcPct val="125000"/>
              </a:lnSpc>
            </a:pPr>
            <a:r>
              <a:rPr sz="1410">
                <a:solidFill>
                  <a:srgbClr val="E8E8E8"/>
                </a:solidFill>
                <a:latin typeface="Consolas"/>
              </a:rPr>
              <a:t>RetryConfig retry = RetryConfig.custom()</a:t>
            </a:r>
          </a:p>
          <a:p>
            <a:pPr>
              <a:lnSpc>
                <a:spcPct val="125000"/>
              </a:lnSpc>
            </a:pPr>
            <a:r>
              <a:rPr sz="1410">
                <a:solidFill>
                  <a:srgbClr val="E8E8E8"/>
                </a:solidFill>
                <a:latin typeface="Consolas"/>
              </a:rPr>
              <a:t>    .maxAttempts(3)</a:t>
            </a:r>
          </a:p>
          <a:p>
            <a:pPr>
              <a:lnSpc>
                <a:spcPct val="125000"/>
              </a:lnSpc>
            </a:pPr>
            <a:r>
              <a:rPr sz="1410">
                <a:solidFill>
                  <a:srgbClr val="E8E8E8"/>
                </a:solidFill>
                <a:latin typeface="Consolas"/>
              </a:rPr>
              <a:t>    .intervalFunction(IntervalFunction.ofExponentialBackoff(</a:t>
            </a:r>
          </a:p>
          <a:p>
            <a:pPr>
              <a:lnSpc>
                <a:spcPct val="125000"/>
              </a:lnSpc>
            </a:pPr>
            <a:r>
              <a:rPr sz="1410">
                <a:solidFill>
                  <a:srgbClr val="E8E8E8"/>
                </a:solidFill>
                <a:latin typeface="Consolas"/>
              </a:rPr>
              <a:t>        Duration.ofMillis(200), 2.0))       // 200 ms, 400 ms, 800 ms</a:t>
            </a:r>
          </a:p>
          <a:p>
            <a:pPr>
              <a:lnSpc>
                <a:spcPct val="125000"/>
              </a:lnSpc>
            </a:pPr>
            <a:r>
              <a:rPr sz="1410">
                <a:solidFill>
                  <a:srgbClr val="E8E8E8"/>
                </a:solidFill>
                <a:latin typeface="Consolas"/>
              </a:rPr>
              <a:t>    .retryExceptions(IOException.class, TimeoutException.class)</a:t>
            </a:r>
          </a:p>
          <a:p>
            <a:pPr>
              <a:lnSpc>
                <a:spcPct val="125000"/>
              </a:lnSpc>
            </a:pPr>
            <a:r>
              <a:rPr sz="1410">
                <a:solidFill>
                  <a:srgbClr val="E8E8E8"/>
                </a:solidFill>
                <a:latin typeface="Consolas"/>
              </a:rPr>
              <a:t>    .ignoreExceptions(PagoRechazado.class)  // un rechazo NO se reintenta</a:t>
            </a:r>
          </a:p>
          <a:p>
            <a:pPr>
              <a:lnSpc>
                <a:spcPct val="125000"/>
              </a:lnSpc>
            </a:pPr>
            <a:r>
              <a:rPr sz="1410">
                <a:solidFill>
                  <a:srgbClr val="E8E8E8"/>
                </a:solidFill>
                <a:latin typeface="Consolas"/>
              </a:rPr>
              <a:t>    .build();</a:t>
            </a:r>
          </a:p>
        </p:txBody>
      </p:sp>
      <p:sp>
        <p:nvSpPr>
          <p:cNvPr id="15" name="TextBox 1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16" name="TextBox 1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16 / 35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número de disponibilidad decide la arquitectura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5"/>
        </p:xfrm>
        <a:graphic>
          <a:graphicData uri="http://schemas.openxmlformats.org/drawingml/2006/table">
            <a:tbl>
              <a:tblPr firstRow="1">
                <a:tableStyleId>{5C22544A-7EE6-4342-B048-85BDC9FD1C3A}</a:tableStyleId>
              </a:tblPr>
              <a:tblGrid>
                <a:gridCol w="3688080"/>
                <a:gridCol w="3688080"/>
                <a:gridCol w="3688080"/>
              </a:tblGrid>
              <a:tr h="874897">
                <a:tc>
                  <a:txBody>
                    <a:bodyPr wrap="square"/>
                    <a:lstStyle/>
                    <a:p>
                      <a:r>
                        <a:rPr sz="1725" b="1">
                          <a:solidFill>
                            <a:srgbClr val="FFFFFF"/>
                          </a:solidFill>
                          <a:latin typeface="Aptos"/>
                        </a:rPr>
                        <a:t>Disponibilidad</a:t>
                      </a:r>
                    </a:p>
                  </a:txBody>
                  <a:tcPr anchor="ctr" marL="146304" marR="146304">
                    <a:solidFill>
                      <a:srgbClr val="156082"/>
                    </a:solidFill>
                  </a:tcPr>
                </a:tc>
                <a:tc>
                  <a:txBody>
                    <a:bodyPr wrap="square"/>
                    <a:lstStyle/>
                    <a:p>
                      <a:r>
                        <a:rPr sz="1725" b="1">
                          <a:solidFill>
                            <a:srgbClr val="FFFFFF"/>
                          </a:solidFill>
                          <a:latin typeface="Aptos"/>
                        </a:rPr>
                        <a:t>Caída máxima al mes</a:t>
                      </a:r>
                    </a:p>
                  </a:txBody>
                  <a:tcPr anchor="ctr" marL="146304" marR="146304">
                    <a:solidFill>
                      <a:srgbClr val="156082"/>
                    </a:solidFill>
                  </a:tcPr>
                </a:tc>
                <a:tc>
                  <a:txBody>
                    <a:bodyPr wrap="square"/>
                    <a:lstStyle/>
                    <a:p>
                      <a:r>
                        <a:rPr sz="1725" b="1">
                          <a:solidFill>
                            <a:srgbClr val="FFFFFF"/>
                          </a:solidFill>
                          <a:latin typeface="Aptos"/>
                        </a:rPr>
                        <a:t>Lo que implica</a:t>
                      </a:r>
                    </a:p>
                  </a:txBody>
                  <a:tcPr anchor="ctr" marL="146304" marR="146304">
                    <a:solidFill>
                      <a:srgbClr val="156082"/>
                    </a:solidFill>
                  </a:tcPr>
                </a:tc>
              </a:tr>
              <a:tr h="874897">
                <a:tc>
                  <a:txBody>
                    <a:bodyPr wrap="square"/>
                    <a:lstStyle/>
                    <a:p>
                      <a:r>
                        <a:rPr sz="1609" b="1">
                          <a:solidFill>
                            <a:srgbClr val="33475B"/>
                          </a:solidFill>
                          <a:latin typeface="Aptos"/>
                        </a:rPr>
                        <a:t>99 %</a:t>
                      </a:r>
                    </a:p>
                  </a:txBody>
                  <a:tcPr anchor="ctr" marL="146304" marR="146304">
                    <a:solidFill>
                      <a:srgbClr val="FFFFFF"/>
                    </a:solidFill>
                  </a:tcPr>
                </a:tc>
                <a:tc>
                  <a:txBody>
                    <a:bodyPr wrap="square"/>
                    <a:lstStyle/>
                    <a:p>
                      <a:r>
                        <a:rPr sz="1609" b="0">
                          <a:solidFill>
                            <a:srgbClr val="33475B"/>
                          </a:solidFill>
                          <a:latin typeface="Aptos"/>
                        </a:rPr>
                        <a:t>7 h 18 min</a:t>
                      </a:r>
                    </a:p>
                  </a:txBody>
                  <a:tcPr anchor="ctr" marL="146304" marR="146304">
                    <a:solidFill>
                      <a:srgbClr val="FFFFFF"/>
                    </a:solidFill>
                  </a:tcPr>
                </a:tc>
                <a:tc>
                  <a:txBody>
                    <a:bodyPr wrap="square"/>
                    <a:lstStyle/>
                    <a:p>
                      <a:r>
                        <a:rPr sz="1609" b="0">
                          <a:solidFill>
                            <a:srgbClr val="33475B"/>
                          </a:solidFill>
                          <a:latin typeface="Aptos"/>
                        </a:rPr>
                        <a:t>Un nodo, respaldo diario</a:t>
                      </a:r>
                    </a:p>
                  </a:txBody>
                  <a:tcPr anchor="ctr" marL="146304" marR="146304">
                    <a:solidFill>
                      <a:srgbClr val="FFFFFF"/>
                    </a:solidFill>
                  </a:tcPr>
                </a:tc>
              </a:tr>
              <a:tr h="874897">
                <a:tc>
                  <a:txBody>
                    <a:bodyPr wrap="square"/>
                    <a:lstStyle/>
                    <a:p>
                      <a:r>
                        <a:rPr sz="1609" b="1">
                          <a:solidFill>
                            <a:srgbClr val="33475B"/>
                          </a:solidFill>
                          <a:latin typeface="Aptos"/>
                        </a:rPr>
                        <a:t>99,5 %</a:t>
                      </a:r>
                    </a:p>
                  </a:txBody>
                  <a:tcPr anchor="ctr" marL="146304" marR="146304">
                    <a:solidFill>
                      <a:srgbClr val="F4F7FA"/>
                    </a:solidFill>
                  </a:tcPr>
                </a:tc>
                <a:tc>
                  <a:txBody>
                    <a:bodyPr wrap="square"/>
                    <a:lstStyle/>
                    <a:p>
                      <a:r>
                        <a:rPr sz="1609" b="0">
                          <a:solidFill>
                            <a:srgbClr val="33475B"/>
                          </a:solidFill>
                          <a:latin typeface="Aptos"/>
                        </a:rPr>
                        <a:t>3 h 39 min</a:t>
                      </a:r>
                    </a:p>
                  </a:txBody>
                  <a:tcPr anchor="ctr" marL="146304" marR="146304">
                    <a:solidFill>
                      <a:srgbClr val="F4F7FA"/>
                    </a:solidFill>
                  </a:tcPr>
                </a:tc>
                <a:tc>
                  <a:txBody>
                    <a:bodyPr wrap="square"/>
                    <a:lstStyle/>
                    <a:p>
                      <a:r>
                        <a:rPr sz="1609" b="0">
                          <a:solidFill>
                            <a:srgbClr val="33475B"/>
                          </a:solidFill>
                          <a:latin typeface="Aptos"/>
                        </a:rPr>
                        <a:t>Redundancia básica, restauración probada</a:t>
                      </a:r>
                    </a:p>
                  </a:txBody>
                  <a:tcPr anchor="ctr" marL="146304" marR="146304">
                    <a:solidFill>
                      <a:srgbClr val="F4F7FA"/>
                    </a:solidFill>
                  </a:tcPr>
                </a:tc>
              </a:tr>
              <a:tr h="874897">
                <a:tc>
                  <a:txBody>
                    <a:bodyPr wrap="square"/>
                    <a:lstStyle/>
                    <a:p>
                      <a:r>
                        <a:rPr sz="1609" b="1">
                          <a:solidFill>
                            <a:srgbClr val="33475B"/>
                          </a:solidFill>
                          <a:latin typeface="Aptos"/>
                        </a:rPr>
                        <a:t>99,9 %</a:t>
                      </a:r>
                    </a:p>
                  </a:txBody>
                  <a:tcPr anchor="ctr" marL="146304" marR="146304">
                    <a:solidFill>
                      <a:srgbClr val="FFFFFF"/>
                    </a:solidFill>
                  </a:tcPr>
                </a:tc>
                <a:tc>
                  <a:txBody>
                    <a:bodyPr wrap="square"/>
                    <a:lstStyle/>
                    <a:p>
                      <a:r>
                        <a:rPr sz="1609" b="0">
                          <a:solidFill>
                            <a:srgbClr val="33475B"/>
                          </a:solidFill>
                          <a:latin typeface="Aptos"/>
                        </a:rPr>
                        <a:t>43 min</a:t>
                      </a:r>
                    </a:p>
                  </a:txBody>
                  <a:tcPr anchor="ctr" marL="146304" marR="146304">
                    <a:solidFill>
                      <a:srgbClr val="FFFFFF"/>
                    </a:solidFill>
                  </a:tcPr>
                </a:tc>
                <a:tc>
                  <a:txBody>
                    <a:bodyPr wrap="square"/>
                    <a:lstStyle/>
                    <a:p>
                      <a:r>
                        <a:rPr sz="1609" b="0">
                          <a:solidFill>
                            <a:srgbClr val="33475B"/>
                          </a:solidFill>
                          <a:latin typeface="Aptos"/>
                        </a:rPr>
                        <a:t>Multi-zona, conmutación automática</a:t>
                      </a:r>
                    </a:p>
                  </a:txBody>
                  <a:tcPr anchor="ctr" marL="146304" marR="146304">
                    <a:solidFill>
                      <a:srgbClr val="FFFFFF"/>
                    </a:solidFill>
                  </a:tcPr>
                </a:tc>
              </a:tr>
              <a:tr h="874897">
                <a:tc>
                  <a:txBody>
                    <a:bodyPr wrap="square"/>
                    <a:lstStyle/>
                    <a:p>
                      <a:r>
                        <a:rPr sz="1609" b="1">
                          <a:solidFill>
                            <a:srgbClr val="33475B"/>
                          </a:solidFill>
                          <a:latin typeface="Aptos"/>
                        </a:rPr>
                        <a:t>99,99 %</a:t>
                      </a:r>
                    </a:p>
                  </a:txBody>
                  <a:tcPr anchor="ctr" marL="146304" marR="146304">
                    <a:solidFill>
                      <a:srgbClr val="F4F7FA"/>
                    </a:solidFill>
                  </a:tcPr>
                </a:tc>
                <a:tc>
                  <a:txBody>
                    <a:bodyPr wrap="square"/>
                    <a:lstStyle/>
                    <a:p>
                      <a:r>
                        <a:rPr sz="1609" b="0">
                          <a:solidFill>
                            <a:srgbClr val="33475B"/>
                          </a:solidFill>
                          <a:latin typeface="Aptos"/>
                        </a:rPr>
                        <a:t>4 min</a:t>
                      </a:r>
                    </a:p>
                  </a:txBody>
                  <a:tcPr anchor="ctr" marL="146304" marR="146304">
                    <a:solidFill>
                      <a:srgbClr val="F4F7FA"/>
                    </a:solidFill>
                  </a:tcPr>
                </a:tc>
                <a:tc>
                  <a:txBody>
                    <a:bodyPr wrap="square"/>
                    <a:lstStyle/>
                    <a:p>
                      <a:r>
                        <a:rPr sz="1609" b="0">
                          <a:solidFill>
                            <a:srgbClr val="33475B"/>
                          </a:solidFill>
                          <a:latin typeface="Aptos"/>
                        </a:rPr>
                        <a:t>Multi-región, sin intervención humana</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17 / 35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RTO y RPO: dos números que define el negocio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58060"/>
            <a:ext cx="5367528" cy="418429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 Same Side Corner Rectangle 7"/>
          <p:cNvSpPr/>
          <p:nvPr/>
        </p:nvSpPr>
        <p:spPr>
          <a:xfrm>
            <a:off x="566928" y="1858060"/>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858060"/>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RTO</a:t>
            </a:r>
          </a:p>
        </p:txBody>
      </p:sp>
      <p:sp>
        <p:nvSpPr>
          <p:cNvPr id="10" name="Oval 9"/>
          <p:cNvSpPr/>
          <p:nvPr/>
        </p:nvSpPr>
        <p:spPr>
          <a:xfrm>
            <a:off x="786384" y="3174796"/>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918764"/>
            <a:ext cx="4709160" cy="603504"/>
          </a:xfrm>
          <a:prstGeom prst="rect">
            <a:avLst/>
          </a:prstGeom>
          <a:noFill/>
        </p:spPr>
        <p:txBody>
          <a:bodyPr wrap="square" anchor="ctr" lIns="0" rIns="0" tIns="0" bIns="0">
            <a:spAutoFit/>
          </a:bodyPr>
          <a:lstStyle/>
          <a:p>
            <a:pPr algn="l"/>
            <a:r>
              <a:rPr sz="1609" b="0">
                <a:solidFill>
                  <a:srgbClr val="33475B"/>
                </a:solidFill>
                <a:latin typeface="Aptos"/>
              </a:rPr>
              <a:t>Tiempo máximo aceptable sin servicio</a:t>
            </a:r>
          </a:p>
        </p:txBody>
      </p:sp>
      <p:sp>
        <p:nvSpPr>
          <p:cNvPr id="12" name="Oval 11"/>
          <p:cNvSpPr/>
          <p:nvPr/>
        </p:nvSpPr>
        <p:spPr>
          <a:xfrm>
            <a:off x="786384" y="3778300"/>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3522268"/>
            <a:ext cx="4709160" cy="603504"/>
          </a:xfrm>
          <a:prstGeom prst="rect">
            <a:avLst/>
          </a:prstGeom>
          <a:noFill/>
        </p:spPr>
        <p:txBody>
          <a:bodyPr wrap="square" anchor="ctr" lIns="0" rIns="0" tIns="0" bIns="0">
            <a:spAutoFit/>
          </a:bodyPr>
          <a:lstStyle/>
          <a:p>
            <a:pPr algn="l"/>
            <a:r>
              <a:rPr sz="1609" b="0">
                <a:solidFill>
                  <a:srgbClr val="33475B"/>
                </a:solidFill>
                <a:latin typeface="Aptos"/>
              </a:rPr>
              <a:t>¿Cuánto podemos estar caídos?</a:t>
            </a:r>
          </a:p>
        </p:txBody>
      </p:sp>
      <p:sp>
        <p:nvSpPr>
          <p:cNvPr id="14" name="Oval 13"/>
          <p:cNvSpPr/>
          <p:nvPr/>
        </p:nvSpPr>
        <p:spPr>
          <a:xfrm>
            <a:off x="786384" y="4381804"/>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125772"/>
            <a:ext cx="4709160" cy="603504"/>
          </a:xfrm>
          <a:prstGeom prst="rect">
            <a:avLst/>
          </a:prstGeom>
          <a:noFill/>
        </p:spPr>
        <p:txBody>
          <a:bodyPr wrap="square" anchor="ctr" lIns="0" rIns="0" tIns="0" bIns="0">
            <a:spAutoFit/>
          </a:bodyPr>
          <a:lstStyle/>
          <a:p>
            <a:pPr algn="l"/>
            <a:r>
              <a:rPr sz="1609" b="0">
                <a:solidFill>
                  <a:srgbClr val="33475B"/>
                </a:solidFill>
                <a:latin typeface="Aptos"/>
              </a:rPr>
              <a:t>Decide la estrategia de conmutación</a:t>
            </a:r>
          </a:p>
        </p:txBody>
      </p:sp>
      <p:sp>
        <p:nvSpPr>
          <p:cNvPr id="16" name="Rounded Rectangle 15"/>
          <p:cNvSpPr/>
          <p:nvPr/>
        </p:nvSpPr>
        <p:spPr>
          <a:xfrm>
            <a:off x="6263640" y="1858060"/>
            <a:ext cx="5367528" cy="418429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 Same Side Corner Rectangle 16"/>
          <p:cNvSpPr/>
          <p:nvPr/>
        </p:nvSpPr>
        <p:spPr>
          <a:xfrm>
            <a:off x="6263640" y="1858060"/>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858060"/>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RPO</a:t>
            </a:r>
          </a:p>
        </p:txBody>
      </p:sp>
      <p:sp>
        <p:nvSpPr>
          <p:cNvPr id="19" name="Oval 18"/>
          <p:cNvSpPr/>
          <p:nvPr/>
        </p:nvSpPr>
        <p:spPr>
          <a:xfrm>
            <a:off x="6483096" y="3174796"/>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20840" y="2918764"/>
            <a:ext cx="4709160" cy="603504"/>
          </a:xfrm>
          <a:prstGeom prst="rect">
            <a:avLst/>
          </a:prstGeom>
          <a:noFill/>
        </p:spPr>
        <p:txBody>
          <a:bodyPr wrap="square" anchor="ctr" lIns="0" rIns="0" tIns="0" bIns="0">
            <a:spAutoFit/>
          </a:bodyPr>
          <a:lstStyle/>
          <a:p>
            <a:pPr algn="l"/>
            <a:r>
              <a:rPr sz="1609" b="0">
                <a:solidFill>
                  <a:srgbClr val="33475B"/>
                </a:solidFill>
                <a:latin typeface="Aptos"/>
              </a:rPr>
              <a:t>Cantidad máxima de datos que se puede perder</a:t>
            </a:r>
          </a:p>
        </p:txBody>
      </p:sp>
      <p:sp>
        <p:nvSpPr>
          <p:cNvPr id="21" name="Oval 20"/>
          <p:cNvSpPr/>
          <p:nvPr/>
        </p:nvSpPr>
        <p:spPr>
          <a:xfrm>
            <a:off x="6483096" y="3778300"/>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0840" y="3522268"/>
            <a:ext cx="4709160" cy="603504"/>
          </a:xfrm>
          <a:prstGeom prst="rect">
            <a:avLst/>
          </a:prstGeom>
          <a:noFill/>
        </p:spPr>
        <p:txBody>
          <a:bodyPr wrap="square" anchor="ctr" lIns="0" rIns="0" tIns="0" bIns="0">
            <a:spAutoFit/>
          </a:bodyPr>
          <a:lstStyle/>
          <a:p>
            <a:pPr algn="l"/>
            <a:r>
              <a:rPr sz="1609" b="0">
                <a:solidFill>
                  <a:srgbClr val="33475B"/>
                </a:solidFill>
                <a:latin typeface="Aptos"/>
              </a:rPr>
              <a:t>¿Cuántos minutos de datos?</a:t>
            </a:r>
          </a:p>
        </p:txBody>
      </p:sp>
      <p:sp>
        <p:nvSpPr>
          <p:cNvPr id="23" name="Oval 22"/>
          <p:cNvSpPr/>
          <p:nvPr/>
        </p:nvSpPr>
        <p:spPr>
          <a:xfrm>
            <a:off x="6483096" y="4381804"/>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0840" y="4125772"/>
            <a:ext cx="4709160" cy="603504"/>
          </a:xfrm>
          <a:prstGeom prst="rect">
            <a:avLst/>
          </a:prstGeom>
          <a:noFill/>
        </p:spPr>
        <p:txBody>
          <a:bodyPr wrap="square" anchor="ctr" lIns="0" rIns="0" tIns="0" bIns="0">
            <a:spAutoFit/>
          </a:bodyPr>
          <a:lstStyle/>
          <a:p>
            <a:pPr algn="l"/>
            <a:r>
              <a:rPr sz="1609" b="0">
                <a:solidFill>
                  <a:srgbClr val="33475B"/>
                </a:solidFill>
                <a:latin typeface="Aptos"/>
              </a:rPr>
              <a:t>Decide la frecuencia de respaldo</a:t>
            </a:r>
          </a:p>
        </p:txBody>
      </p:sp>
      <p:sp>
        <p:nvSpPr>
          <p:cNvPr id="25" name="TextBox 2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26" name="TextBox 2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18 / 35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2500" b="1">
                <a:solidFill>
                  <a:srgbClr val="0E2841"/>
                </a:solidFill>
                <a:latin typeface="Aptos Display"/>
              </a:rPr>
              <a:t>¿Qué diferencia hay entre tolerancia a fallos y resiliencia?</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Son sinónimos usados en contextos distintos</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La tolerancia aplica a hardware y la resiliencia a software</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Tolerar es seguir operando pese al fallo; ser resiliente es recuperarse sin intervención</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La resiliencia se mide con el RPO y la tolerancia con el RTO</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19 / 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2500" b="1">
                <a:solidFill>
                  <a:srgbClr val="0E2841"/>
                </a:solidFill>
                <a:latin typeface="Aptos Display"/>
              </a:rPr>
              <a:t>Un equipo configura un circuit breaker sobre la pasarela, sin método de fallback. ¿Qué logró?</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Que los pagos se reintenten automáticamente con backoff</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Que la pasarela deje de fallar bajo carga alta</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Que el fallo sea inmediato en lugar de lento, pero siga siendo fallo</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Que el sistema escale cuando la pasarela se degrada</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20 / 35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2500" b="1">
                <a:solidFill>
                  <a:srgbClr val="0E2841"/>
                </a:solidFill>
                <a:latin typeface="Aptos Display"/>
              </a:rPr>
              <a:t>El RNF exige 99,9 % de disponibilidad. ¿Qué queda descartado de entrada?</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El uso de contenedores en lugar de máquinas virtuales</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La consistencia eventual entre servicios</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Una única instancia con respaldo y restauración manual</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El autoescalado basado en uso de CPU</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21 / 35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04</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4. Seguridad</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2500" b="1">
                <a:solidFill>
                  <a:srgbClr val="0E2841"/>
                </a:solidFill>
                <a:latin typeface="Aptos Display"/>
              </a:rPr>
              <a:t>Autenticar, autorizar y cifrar son tres problemas distintos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Autenticación</a:t>
            </a:r>
          </a:p>
          <a:p>
            <a:pPr algn="l">
              <a:lnSpc>
                <a:spcPct val="120000"/>
              </a:lnSpc>
              <a:spcBef>
                <a:spcPts val="700"/>
              </a:spcBef>
            </a:pPr>
            <a:r>
              <a:rPr sz="1560" b="0">
                <a:solidFill>
                  <a:srgbClr val="33475B"/>
                </a:solidFill>
                <a:latin typeface="Aptos"/>
              </a:rPr>
              <a:t>¿Quién eres? Contraseña + MFA, certificados, JWT</a:t>
            </a:r>
          </a:p>
        </p:txBody>
      </p:sp>
      <p:sp>
        <p:nvSpPr>
          <p:cNvPr id="10" name="Rounded Rectangle 9"/>
          <p:cNvSpPr/>
          <p:nvPr/>
        </p:nvSpPr>
        <p:spPr>
          <a:xfrm>
            <a:off x="3410712"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2304288"/>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Autorización</a:t>
            </a:r>
          </a:p>
          <a:p>
            <a:pPr algn="l">
              <a:lnSpc>
                <a:spcPct val="120000"/>
              </a:lnSpc>
              <a:spcBef>
                <a:spcPts val="700"/>
              </a:spcBef>
            </a:pPr>
            <a:r>
              <a:rPr sz="1560" b="0">
                <a:solidFill>
                  <a:srgbClr val="33475B"/>
                </a:solidFill>
                <a:latin typeface="Aptos"/>
              </a:rPr>
              <a:t>¿Qué puedes hacer? RBAC, ABAC, mínimo privilegio</a:t>
            </a:r>
          </a:p>
        </p:txBody>
      </p:sp>
      <p:sp>
        <p:nvSpPr>
          <p:cNvPr id="13" name="Rounded Rectangle 12"/>
          <p:cNvSpPr/>
          <p:nvPr/>
        </p:nvSpPr>
        <p:spPr>
          <a:xfrm>
            <a:off x="6254496"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2304288"/>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Cifrado</a:t>
            </a:r>
          </a:p>
          <a:p>
            <a:pPr algn="l">
              <a:lnSpc>
                <a:spcPct val="120000"/>
              </a:lnSpc>
              <a:spcBef>
                <a:spcPts val="700"/>
              </a:spcBef>
            </a:pPr>
            <a:r>
              <a:rPr sz="1560" b="0">
                <a:solidFill>
                  <a:srgbClr val="33475B"/>
                </a:solidFill>
                <a:latin typeface="Aptos"/>
              </a:rPr>
              <a:t>¿Quién puede leerlo? TLS en tránsito, AES-256 en reposo</a:t>
            </a:r>
          </a:p>
        </p:txBody>
      </p:sp>
      <p:sp>
        <p:nvSpPr>
          <p:cNvPr id="16" name="Rounded Rectangle 15"/>
          <p:cNvSpPr/>
          <p:nvPr/>
        </p:nvSpPr>
        <p:spPr>
          <a:xfrm>
            <a:off x="9098280"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El fallo típico</a:t>
            </a:r>
          </a:p>
          <a:p>
            <a:pPr algn="l">
              <a:lnSpc>
                <a:spcPct val="120000"/>
              </a:lnSpc>
              <a:spcBef>
                <a:spcPts val="700"/>
              </a:spcBef>
            </a:pPr>
            <a:r>
              <a:rPr sz="1560" b="0">
                <a:solidFill>
                  <a:srgbClr val="33475B"/>
                </a:solidFill>
                <a:latin typeface="Aptos"/>
              </a:rPr>
              <a:t>Validar el token y no comprobar el rol</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22 / 35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JWT va codificado, no cifrado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762049"/>
            <a:ext cx="3432048" cy="1724558"/>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762049"/>
            <a:ext cx="3432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210434"/>
            <a:ext cx="3139440" cy="1172700"/>
          </a:xfrm>
          <a:prstGeom prst="rect">
            <a:avLst/>
          </a:prstGeom>
          <a:noFill/>
        </p:spPr>
        <p:txBody>
          <a:bodyPr wrap="square" anchor="t" lIns="0" rIns="0" tIns="0" bIns="0">
            <a:spAutoFit/>
          </a:bodyPr>
          <a:lstStyle/>
          <a:p>
            <a:pPr algn="ctr"/>
            <a:r>
              <a:rPr sz="1722" b="1">
                <a:solidFill>
                  <a:srgbClr val="0E2841"/>
                </a:solidFill>
                <a:latin typeface="Aptos Display"/>
              </a:rPr>
              <a:t>Cabecera</a:t>
            </a:r>
          </a:p>
          <a:p>
            <a:pPr algn="ctr">
              <a:lnSpc>
                <a:spcPct val="120000"/>
              </a:lnSpc>
              <a:spcBef>
                <a:spcPts val="700"/>
              </a:spcBef>
            </a:pPr>
            <a:r>
              <a:rPr sz="1333" b="0">
                <a:solidFill>
                  <a:srgbClr val="7A8B9E"/>
                </a:solidFill>
                <a:latin typeface="Aptos"/>
              </a:rPr>
              <a:t>Algoritmo</a:t>
            </a:r>
          </a:p>
        </p:txBody>
      </p:sp>
      <p:sp>
        <p:nvSpPr>
          <p:cNvPr id="10" name="Chevron 9"/>
          <p:cNvSpPr/>
          <p:nvPr/>
        </p:nvSpPr>
        <p:spPr>
          <a:xfrm>
            <a:off x="4090416" y="2313907"/>
            <a:ext cx="201168" cy="620840"/>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83024" y="1762049"/>
            <a:ext cx="3432048" cy="1724558"/>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3024" y="1762049"/>
            <a:ext cx="3432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9328" y="2210434"/>
            <a:ext cx="3139440" cy="1172700"/>
          </a:xfrm>
          <a:prstGeom prst="rect">
            <a:avLst/>
          </a:prstGeom>
          <a:noFill/>
        </p:spPr>
        <p:txBody>
          <a:bodyPr wrap="square" anchor="t" lIns="0" rIns="0" tIns="0" bIns="0">
            <a:spAutoFit/>
          </a:bodyPr>
          <a:lstStyle/>
          <a:p>
            <a:pPr algn="ctr"/>
            <a:r>
              <a:rPr sz="1722" b="1">
                <a:solidFill>
                  <a:srgbClr val="0E2841"/>
                </a:solidFill>
                <a:latin typeface="Aptos Display"/>
              </a:rPr>
              <a:t>Carga útil</a:t>
            </a:r>
          </a:p>
          <a:p>
            <a:pPr algn="ctr">
              <a:lnSpc>
                <a:spcPct val="120000"/>
              </a:lnSpc>
              <a:spcBef>
                <a:spcPts val="700"/>
              </a:spcBef>
            </a:pPr>
            <a:r>
              <a:rPr sz="1333" b="0">
                <a:solidFill>
                  <a:srgbClr val="7A8B9E"/>
                </a:solidFill>
                <a:latin typeface="Aptos"/>
              </a:rPr>
              <a:t>sub, roles, exp. CUALQUIERA la lee</a:t>
            </a:r>
          </a:p>
        </p:txBody>
      </p:sp>
      <p:sp>
        <p:nvSpPr>
          <p:cNvPr id="14" name="Chevron 13"/>
          <p:cNvSpPr/>
          <p:nvPr/>
        </p:nvSpPr>
        <p:spPr>
          <a:xfrm>
            <a:off x="7906512" y="2313907"/>
            <a:ext cx="201168" cy="620840"/>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99120" y="1762049"/>
            <a:ext cx="3432048" cy="1724558"/>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99120" y="1762049"/>
            <a:ext cx="3432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5424" y="2210434"/>
            <a:ext cx="3139440" cy="1172700"/>
          </a:xfrm>
          <a:prstGeom prst="rect">
            <a:avLst/>
          </a:prstGeom>
          <a:noFill/>
        </p:spPr>
        <p:txBody>
          <a:bodyPr wrap="square" anchor="t" lIns="0" rIns="0" tIns="0" bIns="0">
            <a:spAutoFit/>
          </a:bodyPr>
          <a:lstStyle/>
          <a:p>
            <a:pPr algn="ctr"/>
            <a:r>
              <a:rPr sz="1722" b="1">
                <a:solidFill>
                  <a:srgbClr val="0E2841"/>
                </a:solidFill>
                <a:latin typeface="Aptos Display"/>
              </a:rPr>
              <a:t>Firma</a:t>
            </a:r>
          </a:p>
          <a:p>
            <a:pPr algn="ctr">
              <a:lnSpc>
                <a:spcPct val="120000"/>
              </a:lnSpc>
              <a:spcBef>
                <a:spcPts val="700"/>
              </a:spcBef>
            </a:pPr>
            <a:r>
              <a:rPr sz="1333" b="0">
                <a:solidFill>
                  <a:srgbClr val="7A8B9E"/>
                </a:solidFill>
                <a:latin typeface="Aptos"/>
              </a:rPr>
              <a:t>Solo garantiza integridad</a:t>
            </a:r>
          </a:p>
        </p:txBody>
      </p:sp>
      <p:graphicFrame>
        <p:nvGraphicFramePr>
          <p:cNvPr id="18" name="Table 17"/>
          <p:cNvGraphicFramePr>
            <a:graphicFrameLocks noGrp="1"/>
          </p:cNvGraphicFramePr>
          <p:nvPr/>
        </p:nvGraphicFramePr>
        <p:xfrm>
          <a:off x="566928" y="3877056"/>
          <a:ext cx="11064240" cy="2450592"/>
        </p:xfrm>
        <a:graphic>
          <a:graphicData uri="http://schemas.openxmlformats.org/drawingml/2006/table">
            <a:tbl>
              <a:tblPr firstRow="1">
                <a:tableStyleId>{5C22544A-7EE6-4342-B048-85BDC9FD1C3A}</a:tableStyleId>
              </a:tblPr>
              <a:tblGrid>
                <a:gridCol w="5532120"/>
                <a:gridCol w="5532120"/>
              </a:tblGrid>
              <a:tr h="612648">
                <a:tc>
                  <a:txBody>
                    <a:bodyPr wrap="square"/>
                    <a:lstStyle/>
                    <a:p>
                      <a:r>
                        <a:rPr sz="1667" b="1">
                          <a:solidFill>
                            <a:srgbClr val="FFFFFF"/>
                          </a:solidFill>
                          <a:latin typeface="Aptos"/>
                        </a:rPr>
                        <a:t>Sí hace</a:t>
                      </a:r>
                    </a:p>
                  </a:txBody>
                  <a:tcPr anchor="ctr" marL="146304" marR="146304">
                    <a:solidFill>
                      <a:srgbClr val="156082"/>
                    </a:solidFill>
                  </a:tcPr>
                </a:tc>
                <a:tc>
                  <a:txBody>
                    <a:bodyPr wrap="square"/>
                    <a:lstStyle/>
                    <a:p>
                      <a:r>
                        <a:rPr sz="1667" b="1">
                          <a:solidFill>
                            <a:srgbClr val="FFFFFF"/>
                          </a:solidFill>
                          <a:latin typeface="Aptos"/>
                        </a:rPr>
                        <a:t>No hace</a:t>
                      </a:r>
                    </a:p>
                  </a:txBody>
                  <a:tcPr anchor="ctr" marL="146304" marR="146304">
                    <a:solidFill>
                      <a:srgbClr val="156082"/>
                    </a:solidFill>
                  </a:tcPr>
                </a:tc>
              </a:tr>
              <a:tr h="612648">
                <a:tc>
                  <a:txBody>
                    <a:bodyPr wrap="square"/>
                    <a:lstStyle/>
                    <a:p>
                      <a:r>
                        <a:rPr sz="1556" b="1">
                          <a:solidFill>
                            <a:srgbClr val="33475B"/>
                          </a:solidFill>
                          <a:latin typeface="Aptos"/>
                        </a:rPr>
                        <a:t>Probar que el emisor firmó el token</a:t>
                      </a:r>
                    </a:p>
                  </a:txBody>
                  <a:tcPr anchor="ctr" marL="146304" marR="146304">
                    <a:solidFill>
                      <a:srgbClr val="FFFFFF"/>
                    </a:solidFill>
                  </a:tcPr>
                </a:tc>
                <a:tc>
                  <a:txBody>
                    <a:bodyPr wrap="square"/>
                    <a:lstStyle/>
                    <a:p>
                      <a:r>
                        <a:rPr sz="1556" b="0">
                          <a:solidFill>
                            <a:srgbClr val="33475B"/>
                          </a:solidFill>
                          <a:latin typeface="Aptos"/>
                        </a:rPr>
                        <a:t>Ocultar su contenido</a:t>
                      </a:r>
                    </a:p>
                  </a:txBody>
                  <a:tcPr anchor="ctr" marL="146304" marR="146304">
                    <a:solidFill>
                      <a:srgbClr val="FFFFFF"/>
                    </a:solidFill>
                  </a:tcPr>
                </a:tc>
              </a:tr>
              <a:tr h="612648">
                <a:tc>
                  <a:txBody>
                    <a:bodyPr wrap="square"/>
                    <a:lstStyle/>
                    <a:p>
                      <a:r>
                        <a:rPr sz="1556" b="1">
                          <a:solidFill>
                            <a:srgbClr val="33475B"/>
                          </a:solidFill>
                          <a:latin typeface="Aptos"/>
                        </a:rPr>
                        <a:t>Transportar identidad y roles</a:t>
                      </a:r>
                    </a:p>
                  </a:txBody>
                  <a:tcPr anchor="ctr" marL="146304" marR="146304">
                    <a:solidFill>
                      <a:srgbClr val="F4F7FA"/>
                    </a:solidFill>
                  </a:tcPr>
                </a:tc>
                <a:tc>
                  <a:txBody>
                    <a:bodyPr wrap="square"/>
                    <a:lstStyle/>
                    <a:p>
                      <a:r>
                        <a:rPr sz="1556" b="0">
                          <a:solidFill>
                            <a:srgbClr val="33475B"/>
                          </a:solidFill>
                          <a:latin typeface="Aptos"/>
                        </a:rPr>
                        <a:t>Poder revocarse antes de expirar</a:t>
                      </a:r>
                    </a:p>
                  </a:txBody>
                  <a:tcPr anchor="ctr" marL="146304" marR="146304">
                    <a:solidFill>
                      <a:srgbClr val="F4F7FA"/>
                    </a:solidFill>
                  </a:tcPr>
                </a:tc>
              </a:tr>
              <a:tr h="612648">
                <a:tc>
                  <a:txBody>
                    <a:bodyPr wrap="square"/>
                    <a:lstStyle/>
                    <a:p>
                      <a:r>
                        <a:rPr sz="1556" b="1">
                          <a:solidFill>
                            <a:srgbClr val="33475B"/>
                          </a:solidFill>
                          <a:latin typeface="Aptos"/>
                        </a:rPr>
                        <a:t>Evitar consultar la sesión en BD</a:t>
                      </a:r>
                    </a:p>
                  </a:txBody>
                  <a:tcPr anchor="ctr" marL="146304" marR="146304">
                    <a:solidFill>
                      <a:srgbClr val="FFFFFF"/>
                    </a:solidFill>
                  </a:tcPr>
                </a:tc>
                <a:tc>
                  <a:txBody>
                    <a:bodyPr wrap="square"/>
                    <a:lstStyle/>
                    <a:p>
                      <a:r>
                        <a:rPr sz="1556" b="0">
                          <a:solidFill>
                            <a:srgbClr val="33475B"/>
                          </a:solidFill>
                          <a:latin typeface="Aptos"/>
                        </a:rPr>
                        <a:t>Sustituir a HTTPS</a:t>
                      </a:r>
                    </a:p>
                  </a:txBody>
                  <a:tcPr anchor="ctr" marL="146304" marR="146304">
                    <a:solidFill>
                      <a:srgbClr val="FFFFFF"/>
                    </a:solidFill>
                  </a:tcPr>
                </a:tc>
              </a:tr>
            </a:tbl>
          </a:graphicData>
        </a:graphic>
      </p:graphicFrame>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23 / 35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Autorización: el rol no siempre alcanza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9"/>
        </p:xfrm>
        <a:graphic>
          <a:graphicData uri="http://schemas.openxmlformats.org/drawingml/2006/table">
            <a:tbl>
              <a:tblPr firstRow="1">
                <a:tableStyleId>{5C22544A-7EE6-4342-B048-85BDC9FD1C3A}</a:tableStyleId>
              </a:tblPr>
              <a:tblGrid>
                <a:gridCol w="2766060"/>
                <a:gridCol w="2766060"/>
                <a:gridCol w="2766060"/>
                <a:gridCol w="2766060"/>
              </a:tblGrid>
              <a:tr h="624927">
                <a:tc>
                  <a:txBody>
                    <a:bodyPr wrap="square"/>
                    <a:lstStyle/>
                    <a:p>
                      <a:r>
                        <a:rPr sz="1688" b="1">
                          <a:solidFill>
                            <a:srgbClr val="FFFFFF"/>
                          </a:solidFill>
                          <a:latin typeface="Aptos"/>
                        </a:rPr>
                        <a:t>Recurso</a:t>
                      </a:r>
                    </a:p>
                  </a:txBody>
                  <a:tcPr anchor="ctr" marL="146304" marR="146304">
                    <a:solidFill>
                      <a:srgbClr val="156082"/>
                    </a:solidFill>
                  </a:tcPr>
                </a:tc>
                <a:tc>
                  <a:txBody>
                    <a:bodyPr wrap="square"/>
                    <a:lstStyle/>
                    <a:p>
                      <a:r>
                        <a:rPr sz="1688" b="1">
                          <a:solidFill>
                            <a:srgbClr val="FFFFFF"/>
                          </a:solidFill>
                          <a:latin typeface="Aptos"/>
                        </a:rPr>
                        <a:t>ADMIN</a:t>
                      </a:r>
                    </a:p>
                  </a:txBody>
                  <a:tcPr anchor="ctr" marL="146304" marR="146304">
                    <a:solidFill>
                      <a:srgbClr val="156082"/>
                    </a:solidFill>
                  </a:tcPr>
                </a:tc>
                <a:tc>
                  <a:txBody>
                    <a:bodyPr wrap="square"/>
                    <a:lstStyle/>
                    <a:p>
                      <a:r>
                        <a:rPr sz="1688" b="1">
                          <a:solidFill>
                            <a:srgbClr val="FFFFFF"/>
                          </a:solidFill>
                          <a:latin typeface="Aptos"/>
                        </a:rPr>
                        <a:t>PROVIDER</a:t>
                      </a:r>
                    </a:p>
                  </a:txBody>
                  <a:tcPr anchor="ctr" marL="146304" marR="146304">
                    <a:solidFill>
                      <a:srgbClr val="156082"/>
                    </a:solidFill>
                  </a:tcPr>
                </a:tc>
                <a:tc>
                  <a:txBody>
                    <a:bodyPr wrap="square"/>
                    <a:lstStyle/>
                    <a:p>
                      <a:r>
                        <a:rPr sz="1688" b="1">
                          <a:solidFill>
                            <a:srgbClr val="FFFFFF"/>
                          </a:solidFill>
                          <a:latin typeface="Aptos"/>
                        </a:rPr>
                        <a:t>USER</a:t>
                      </a:r>
                    </a:p>
                  </a:txBody>
                  <a:tcPr anchor="ctr" marL="146304" marR="146304">
                    <a:solidFill>
                      <a:srgbClr val="156082"/>
                    </a:solidFill>
                  </a:tcPr>
                </a:tc>
              </a:tr>
              <a:tr h="624927">
                <a:tc>
                  <a:txBody>
                    <a:bodyPr wrap="square"/>
                    <a:lstStyle/>
                    <a:p>
                      <a:r>
                        <a:rPr sz="1576" b="1">
                          <a:solidFill>
                            <a:srgbClr val="33475B"/>
                          </a:solidFill>
                          <a:latin typeface="Aptos"/>
                        </a:rPr>
                        <a:t>Crear producto</a:t>
                      </a:r>
                    </a:p>
                  </a:txBody>
                  <a:tcPr anchor="ctr" marL="146304" marR="146304">
                    <a:solidFill>
                      <a:srgbClr val="FFFFFF"/>
                    </a:solidFill>
                  </a:tcPr>
                </a:tc>
                <a:tc>
                  <a:txBody>
                    <a:bodyPr wrap="square"/>
                    <a:lstStyle/>
                    <a:p>
                      <a:r>
                        <a:rPr sz="1576" b="0">
                          <a:solidFill>
                            <a:srgbClr val="33475B"/>
                          </a:solidFill>
                          <a:latin typeface="Aptos"/>
                        </a:rPr>
                        <a:t>Sí</a:t>
                      </a:r>
                    </a:p>
                  </a:txBody>
                  <a:tcPr anchor="ctr" marL="146304" marR="146304">
                    <a:solidFill>
                      <a:srgbClr val="FFFFFF"/>
                    </a:solidFill>
                  </a:tcPr>
                </a:tc>
                <a:tc>
                  <a:txBody>
                    <a:bodyPr wrap="square"/>
                    <a:lstStyle/>
                    <a:p>
                      <a:r>
                        <a:rPr sz="1576" b="0">
                          <a:solidFill>
                            <a:srgbClr val="33475B"/>
                          </a:solidFill>
                          <a:latin typeface="Aptos"/>
                        </a:rPr>
                        <a:t>Sí (solo propios)</a:t>
                      </a:r>
                    </a:p>
                  </a:txBody>
                  <a:tcPr anchor="ctr" marL="146304" marR="146304">
                    <a:solidFill>
                      <a:srgbClr val="FFFFFF"/>
                    </a:solidFill>
                  </a:tcPr>
                </a:tc>
                <a:tc>
                  <a:txBody>
                    <a:bodyPr wrap="square"/>
                    <a:lstStyle/>
                    <a:p>
                      <a:r>
                        <a:rPr sz="1576" b="0">
                          <a:solidFill>
                            <a:srgbClr val="33475B"/>
                          </a:solidFill>
                          <a:latin typeface="Aptos"/>
                        </a:rPr>
                        <a:t>No</a:t>
                      </a:r>
                    </a:p>
                  </a:txBody>
                  <a:tcPr anchor="ctr" marL="146304" marR="146304">
                    <a:solidFill>
                      <a:srgbClr val="FFFFFF"/>
                    </a:solidFill>
                  </a:tcPr>
                </a:tc>
              </a:tr>
              <a:tr h="624927">
                <a:tc>
                  <a:txBody>
                    <a:bodyPr wrap="square"/>
                    <a:lstStyle/>
                    <a:p>
                      <a:r>
                        <a:rPr sz="1576" b="1">
                          <a:solidFill>
                            <a:srgbClr val="33475B"/>
                          </a:solidFill>
                          <a:latin typeface="Aptos"/>
                        </a:rPr>
                        <a:t>Editar producto</a:t>
                      </a:r>
                    </a:p>
                  </a:txBody>
                  <a:tcPr anchor="ctr" marL="146304" marR="146304">
                    <a:solidFill>
                      <a:srgbClr val="F4F7FA"/>
                    </a:solidFill>
                  </a:tcPr>
                </a:tc>
                <a:tc>
                  <a:txBody>
                    <a:bodyPr wrap="square"/>
                    <a:lstStyle/>
                    <a:p>
                      <a:r>
                        <a:rPr sz="1576" b="0">
                          <a:solidFill>
                            <a:srgbClr val="33475B"/>
                          </a:solidFill>
                          <a:latin typeface="Aptos"/>
                        </a:rPr>
                        <a:t>Sí</a:t>
                      </a:r>
                    </a:p>
                  </a:txBody>
                  <a:tcPr anchor="ctr" marL="146304" marR="146304">
                    <a:solidFill>
                      <a:srgbClr val="F4F7FA"/>
                    </a:solidFill>
                  </a:tcPr>
                </a:tc>
                <a:tc>
                  <a:txBody>
                    <a:bodyPr wrap="square"/>
                    <a:lstStyle/>
                    <a:p>
                      <a:r>
                        <a:rPr sz="1576" b="0">
                          <a:solidFill>
                            <a:srgbClr val="33475B"/>
                          </a:solidFill>
                          <a:latin typeface="Aptos"/>
                        </a:rPr>
                        <a:t>Sí (solo propios)</a:t>
                      </a:r>
                    </a:p>
                  </a:txBody>
                  <a:tcPr anchor="ctr" marL="146304" marR="146304">
                    <a:solidFill>
                      <a:srgbClr val="F4F7FA"/>
                    </a:solidFill>
                  </a:tcPr>
                </a:tc>
                <a:tc>
                  <a:txBody>
                    <a:bodyPr wrap="square"/>
                    <a:lstStyle/>
                    <a:p>
                      <a:r>
                        <a:rPr sz="1576" b="0">
                          <a:solidFill>
                            <a:srgbClr val="33475B"/>
                          </a:solidFill>
                          <a:latin typeface="Aptos"/>
                        </a:rPr>
                        <a:t>No</a:t>
                      </a:r>
                    </a:p>
                  </a:txBody>
                  <a:tcPr anchor="ctr" marL="146304" marR="146304">
                    <a:solidFill>
                      <a:srgbClr val="F4F7FA"/>
                    </a:solidFill>
                  </a:tcPr>
                </a:tc>
              </a:tr>
              <a:tr h="624927">
                <a:tc>
                  <a:txBody>
                    <a:bodyPr wrap="square"/>
                    <a:lstStyle/>
                    <a:p>
                      <a:r>
                        <a:rPr sz="1576" b="1">
                          <a:solidFill>
                            <a:srgbClr val="33475B"/>
                          </a:solidFill>
                          <a:latin typeface="Aptos"/>
                        </a:rPr>
                        <a:t>Ver catálogo</a:t>
                      </a:r>
                    </a:p>
                  </a:txBody>
                  <a:tcPr anchor="ctr" marL="146304" marR="146304">
                    <a:solidFill>
                      <a:srgbClr val="FFFFFF"/>
                    </a:solidFill>
                  </a:tcPr>
                </a:tc>
                <a:tc>
                  <a:txBody>
                    <a:bodyPr wrap="square"/>
                    <a:lstStyle/>
                    <a:p>
                      <a:r>
                        <a:rPr sz="1576" b="0">
                          <a:solidFill>
                            <a:srgbClr val="33475B"/>
                          </a:solidFill>
                          <a:latin typeface="Aptos"/>
                        </a:rPr>
                        <a:t>Sí</a:t>
                      </a:r>
                    </a:p>
                  </a:txBody>
                  <a:tcPr anchor="ctr" marL="146304" marR="146304">
                    <a:solidFill>
                      <a:srgbClr val="FFFFFF"/>
                    </a:solidFill>
                  </a:tcPr>
                </a:tc>
                <a:tc>
                  <a:txBody>
                    <a:bodyPr wrap="square"/>
                    <a:lstStyle/>
                    <a:p>
                      <a:r>
                        <a:rPr sz="1576" b="0">
                          <a:solidFill>
                            <a:srgbClr val="33475B"/>
                          </a:solidFill>
                          <a:latin typeface="Aptos"/>
                        </a:rPr>
                        <a:t>Sí</a:t>
                      </a:r>
                    </a:p>
                  </a:txBody>
                  <a:tcPr anchor="ctr" marL="146304" marR="146304">
                    <a:solidFill>
                      <a:srgbClr val="FFFFFF"/>
                    </a:solidFill>
                  </a:tcPr>
                </a:tc>
                <a:tc>
                  <a:txBody>
                    <a:bodyPr wrap="square"/>
                    <a:lstStyle/>
                    <a:p>
                      <a:r>
                        <a:rPr sz="1576" b="0">
                          <a:solidFill>
                            <a:srgbClr val="33475B"/>
                          </a:solidFill>
                          <a:latin typeface="Aptos"/>
                        </a:rPr>
                        <a:t>Sí</a:t>
                      </a:r>
                    </a:p>
                  </a:txBody>
                  <a:tcPr anchor="ctr" marL="146304" marR="146304">
                    <a:solidFill>
                      <a:srgbClr val="FFFFFF"/>
                    </a:solidFill>
                  </a:tcPr>
                </a:tc>
              </a:tr>
              <a:tr h="624927">
                <a:tc>
                  <a:txBody>
                    <a:bodyPr wrap="square"/>
                    <a:lstStyle/>
                    <a:p>
                      <a:r>
                        <a:rPr sz="1576" b="1">
                          <a:solidFill>
                            <a:srgbClr val="33475B"/>
                          </a:solidFill>
                          <a:latin typeface="Aptos"/>
                        </a:rPr>
                        <a:t>Realizar pedido</a:t>
                      </a:r>
                    </a:p>
                  </a:txBody>
                  <a:tcPr anchor="ctr" marL="146304" marR="146304">
                    <a:solidFill>
                      <a:srgbClr val="F4F7FA"/>
                    </a:solidFill>
                  </a:tcPr>
                </a:tc>
                <a:tc>
                  <a:txBody>
                    <a:bodyPr wrap="square"/>
                    <a:lstStyle/>
                    <a:p>
                      <a:r>
                        <a:rPr sz="1576" b="0">
                          <a:solidFill>
                            <a:srgbClr val="33475B"/>
                          </a:solidFill>
                          <a:latin typeface="Aptos"/>
                        </a:rPr>
                        <a:t>Sí</a:t>
                      </a:r>
                    </a:p>
                  </a:txBody>
                  <a:tcPr anchor="ctr" marL="146304" marR="146304">
                    <a:solidFill>
                      <a:srgbClr val="F4F7FA"/>
                    </a:solidFill>
                  </a:tcPr>
                </a:tc>
                <a:tc>
                  <a:txBody>
                    <a:bodyPr wrap="square"/>
                    <a:lstStyle/>
                    <a:p>
                      <a:r>
                        <a:rPr sz="1576" b="0">
                          <a:solidFill>
                            <a:srgbClr val="33475B"/>
                          </a:solidFill>
                          <a:latin typeface="Aptos"/>
                        </a:rPr>
                        <a:t>Sí</a:t>
                      </a:r>
                    </a:p>
                  </a:txBody>
                  <a:tcPr anchor="ctr" marL="146304" marR="146304">
                    <a:solidFill>
                      <a:srgbClr val="F4F7FA"/>
                    </a:solidFill>
                  </a:tcPr>
                </a:tc>
                <a:tc>
                  <a:txBody>
                    <a:bodyPr wrap="square"/>
                    <a:lstStyle/>
                    <a:p>
                      <a:r>
                        <a:rPr sz="1576" b="0">
                          <a:solidFill>
                            <a:srgbClr val="33475B"/>
                          </a:solidFill>
                          <a:latin typeface="Aptos"/>
                        </a:rPr>
                        <a:t>Sí</a:t>
                      </a:r>
                    </a:p>
                  </a:txBody>
                  <a:tcPr anchor="ctr" marL="146304" marR="146304">
                    <a:solidFill>
                      <a:srgbClr val="F4F7FA"/>
                    </a:solidFill>
                  </a:tcPr>
                </a:tc>
              </a:tr>
              <a:tr h="624927">
                <a:tc>
                  <a:txBody>
                    <a:bodyPr wrap="square"/>
                    <a:lstStyle/>
                    <a:p>
                      <a:r>
                        <a:rPr sz="1576" b="1">
                          <a:solidFill>
                            <a:srgbClr val="33475B"/>
                          </a:solidFill>
                          <a:latin typeface="Aptos"/>
                        </a:rPr>
                        <a:t>Ver pedidos de otros</a:t>
                      </a:r>
                    </a:p>
                  </a:txBody>
                  <a:tcPr anchor="ctr" marL="146304" marR="146304">
                    <a:solidFill>
                      <a:srgbClr val="FFFFFF"/>
                    </a:solidFill>
                  </a:tcPr>
                </a:tc>
                <a:tc>
                  <a:txBody>
                    <a:bodyPr wrap="square"/>
                    <a:lstStyle/>
                    <a:p>
                      <a:r>
                        <a:rPr sz="1576" b="0">
                          <a:solidFill>
                            <a:srgbClr val="33475B"/>
                          </a:solidFill>
                          <a:latin typeface="Aptos"/>
                        </a:rPr>
                        <a:t>Sí</a:t>
                      </a:r>
                    </a:p>
                  </a:txBody>
                  <a:tcPr anchor="ctr" marL="146304" marR="146304">
                    <a:solidFill>
                      <a:srgbClr val="FFFFFF"/>
                    </a:solidFill>
                  </a:tcPr>
                </a:tc>
                <a:tc>
                  <a:txBody>
                    <a:bodyPr wrap="square"/>
                    <a:lstStyle/>
                    <a:p>
                      <a:r>
                        <a:rPr sz="1576" b="0">
                          <a:solidFill>
                            <a:srgbClr val="33475B"/>
                          </a:solidFill>
                          <a:latin typeface="Aptos"/>
                        </a:rPr>
                        <a:t>No</a:t>
                      </a:r>
                    </a:p>
                  </a:txBody>
                  <a:tcPr anchor="ctr" marL="146304" marR="146304">
                    <a:solidFill>
                      <a:srgbClr val="FFFFFF"/>
                    </a:solidFill>
                  </a:tcPr>
                </a:tc>
                <a:tc>
                  <a:txBody>
                    <a:bodyPr wrap="square"/>
                    <a:lstStyle/>
                    <a:p>
                      <a:r>
                        <a:rPr sz="1576" b="0">
                          <a:solidFill>
                            <a:srgbClr val="33475B"/>
                          </a:solidFill>
                          <a:latin typeface="Aptos"/>
                        </a:rPr>
                        <a:t>No</a:t>
                      </a:r>
                    </a:p>
                  </a:txBody>
                  <a:tcPr anchor="ctr" marL="146304" marR="146304">
                    <a:solidFill>
                      <a:srgbClr val="FFFFFF"/>
                    </a:solidFill>
                  </a:tcPr>
                </a:tc>
              </a:tr>
              <a:tr h="624927">
                <a:tc>
                  <a:txBody>
                    <a:bodyPr wrap="square"/>
                    <a:lstStyle/>
                    <a:p>
                      <a:r>
                        <a:rPr sz="1576" b="1">
                          <a:solidFill>
                            <a:srgbClr val="33475B"/>
                          </a:solidFill>
                          <a:latin typeface="Aptos"/>
                        </a:rPr>
                        <a:t>Cambiar roles</a:t>
                      </a:r>
                    </a:p>
                  </a:txBody>
                  <a:tcPr anchor="ctr" marL="146304" marR="146304">
                    <a:solidFill>
                      <a:srgbClr val="F4F7FA"/>
                    </a:solidFill>
                  </a:tcPr>
                </a:tc>
                <a:tc>
                  <a:txBody>
                    <a:bodyPr wrap="square"/>
                    <a:lstStyle/>
                    <a:p>
                      <a:r>
                        <a:rPr sz="1576" b="0">
                          <a:solidFill>
                            <a:srgbClr val="33475B"/>
                          </a:solidFill>
                          <a:latin typeface="Aptos"/>
                        </a:rPr>
                        <a:t>Sí</a:t>
                      </a:r>
                    </a:p>
                  </a:txBody>
                  <a:tcPr anchor="ctr" marL="146304" marR="146304">
                    <a:solidFill>
                      <a:srgbClr val="F4F7FA"/>
                    </a:solidFill>
                  </a:tcPr>
                </a:tc>
                <a:tc>
                  <a:txBody>
                    <a:bodyPr wrap="square"/>
                    <a:lstStyle/>
                    <a:p>
                      <a:r>
                        <a:rPr sz="1576" b="0">
                          <a:solidFill>
                            <a:srgbClr val="33475B"/>
                          </a:solidFill>
                          <a:latin typeface="Aptos"/>
                        </a:rPr>
                        <a:t>No</a:t>
                      </a:r>
                    </a:p>
                  </a:txBody>
                  <a:tcPr anchor="ctr" marL="146304" marR="146304">
                    <a:solidFill>
                      <a:srgbClr val="F4F7FA"/>
                    </a:solidFill>
                  </a:tcPr>
                </a:tc>
                <a:tc>
                  <a:txBody>
                    <a:bodyPr wrap="square"/>
                    <a:lstStyle/>
                    <a:p>
                      <a:r>
                        <a:rPr sz="1576" b="0">
                          <a:solidFill>
                            <a:srgbClr val="33475B"/>
                          </a:solidFill>
                          <a:latin typeface="Aptos"/>
                        </a:rPr>
                        <a:t>No</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24 / 35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Las contraseñas no se cifran: se hashean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58060"/>
            <a:ext cx="5367528" cy="418429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 Same Side Corner Rectangle 7"/>
          <p:cNvSpPr/>
          <p:nvPr/>
        </p:nvSpPr>
        <p:spPr>
          <a:xfrm>
            <a:off x="566928" y="1858060"/>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858060"/>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Cifrar con AES</a:t>
            </a:r>
          </a:p>
        </p:txBody>
      </p:sp>
      <p:sp>
        <p:nvSpPr>
          <p:cNvPr id="10" name="Oval 9"/>
          <p:cNvSpPr/>
          <p:nvPr/>
        </p:nvSpPr>
        <p:spPr>
          <a:xfrm>
            <a:off x="786384" y="3174796"/>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918764"/>
            <a:ext cx="4709160" cy="603504"/>
          </a:xfrm>
          <a:prstGeom prst="rect">
            <a:avLst/>
          </a:prstGeom>
          <a:noFill/>
        </p:spPr>
        <p:txBody>
          <a:bodyPr wrap="square" anchor="ctr" lIns="0" rIns="0" tIns="0" bIns="0">
            <a:spAutoFit/>
          </a:bodyPr>
          <a:lstStyle/>
          <a:p>
            <a:pPr algn="l"/>
            <a:r>
              <a:rPr sz="1609" b="0">
                <a:solidFill>
                  <a:srgbClr val="33475B"/>
                </a:solidFill>
                <a:latin typeface="Aptos"/>
              </a:rPr>
              <a:t>Es reversible por definición</a:t>
            </a:r>
          </a:p>
        </p:txBody>
      </p:sp>
      <p:sp>
        <p:nvSpPr>
          <p:cNvPr id="12" name="Oval 11"/>
          <p:cNvSpPr/>
          <p:nvPr/>
        </p:nvSpPr>
        <p:spPr>
          <a:xfrm>
            <a:off x="786384" y="3778300"/>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3522268"/>
            <a:ext cx="4709160" cy="603504"/>
          </a:xfrm>
          <a:prstGeom prst="rect">
            <a:avLst/>
          </a:prstGeom>
          <a:noFill/>
        </p:spPr>
        <p:txBody>
          <a:bodyPr wrap="square" anchor="ctr" lIns="0" rIns="0" tIns="0" bIns="0">
            <a:spAutoFit/>
          </a:bodyPr>
          <a:lstStyle/>
          <a:p>
            <a:pPr algn="l"/>
            <a:r>
              <a:rPr sz="1609" b="0">
                <a:solidFill>
                  <a:srgbClr val="33475B"/>
                </a:solidFill>
                <a:latin typeface="Aptos"/>
              </a:rPr>
              <a:t>Quien obtenga la clave obtiene TODAS</a:t>
            </a:r>
          </a:p>
        </p:txBody>
      </p:sp>
      <p:sp>
        <p:nvSpPr>
          <p:cNvPr id="14" name="Oval 13"/>
          <p:cNvSpPr/>
          <p:nvPr/>
        </p:nvSpPr>
        <p:spPr>
          <a:xfrm>
            <a:off x="786384" y="4381804"/>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125772"/>
            <a:ext cx="4709160" cy="603504"/>
          </a:xfrm>
          <a:prstGeom prst="rect">
            <a:avLst/>
          </a:prstGeom>
          <a:noFill/>
        </p:spPr>
        <p:txBody>
          <a:bodyPr wrap="square" anchor="ctr" lIns="0" rIns="0" tIns="0" bIns="0">
            <a:spAutoFit/>
          </a:bodyPr>
          <a:lstStyle/>
          <a:p>
            <a:pPr algn="l"/>
            <a:r>
              <a:rPr sz="1609" b="0">
                <a:solidFill>
                  <a:srgbClr val="33475B"/>
                </a:solidFill>
                <a:latin typeface="Aptos"/>
              </a:rPr>
              <a:t>Error conceptual</a:t>
            </a:r>
          </a:p>
        </p:txBody>
      </p:sp>
      <p:sp>
        <p:nvSpPr>
          <p:cNvPr id="16" name="Rounded Rectangle 15"/>
          <p:cNvSpPr/>
          <p:nvPr/>
        </p:nvSpPr>
        <p:spPr>
          <a:xfrm>
            <a:off x="6263640" y="1858060"/>
            <a:ext cx="5367528" cy="418429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 Same Side Corner Rectangle 16"/>
          <p:cNvSpPr/>
          <p:nvPr/>
        </p:nvSpPr>
        <p:spPr>
          <a:xfrm>
            <a:off x="6263640" y="1858060"/>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858060"/>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Hashear con bcrypt</a:t>
            </a:r>
          </a:p>
        </p:txBody>
      </p:sp>
      <p:sp>
        <p:nvSpPr>
          <p:cNvPr id="19" name="Oval 18"/>
          <p:cNvSpPr/>
          <p:nvPr/>
        </p:nvSpPr>
        <p:spPr>
          <a:xfrm>
            <a:off x="6483096" y="3174796"/>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20840" y="2918764"/>
            <a:ext cx="4709160" cy="603504"/>
          </a:xfrm>
          <a:prstGeom prst="rect">
            <a:avLst/>
          </a:prstGeom>
          <a:noFill/>
        </p:spPr>
        <p:txBody>
          <a:bodyPr wrap="square" anchor="ctr" lIns="0" rIns="0" tIns="0" bIns="0">
            <a:spAutoFit/>
          </a:bodyPr>
          <a:lstStyle/>
          <a:p>
            <a:pPr algn="l"/>
            <a:r>
              <a:rPr sz="1609" b="0">
                <a:solidFill>
                  <a:srgbClr val="33475B"/>
                </a:solidFill>
                <a:latin typeface="Aptos"/>
              </a:rPr>
              <a:t>No se descifra, se compara</a:t>
            </a:r>
          </a:p>
        </p:txBody>
      </p:sp>
      <p:sp>
        <p:nvSpPr>
          <p:cNvPr id="21" name="Oval 20"/>
          <p:cNvSpPr/>
          <p:nvPr/>
        </p:nvSpPr>
        <p:spPr>
          <a:xfrm>
            <a:off x="6483096" y="3778300"/>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0840" y="3522268"/>
            <a:ext cx="4709160" cy="603504"/>
          </a:xfrm>
          <a:prstGeom prst="rect">
            <a:avLst/>
          </a:prstGeom>
          <a:noFill/>
        </p:spPr>
        <p:txBody>
          <a:bodyPr wrap="square" anchor="ctr" lIns="0" rIns="0" tIns="0" bIns="0">
            <a:spAutoFit/>
          </a:bodyPr>
          <a:lstStyle/>
          <a:p>
            <a:pPr algn="l"/>
            <a:r>
              <a:rPr sz="1609" b="0">
                <a:solidFill>
                  <a:srgbClr val="33475B"/>
                </a:solidFill>
                <a:latin typeface="Aptos"/>
              </a:rPr>
              <a:t>Con sal, y lento a propósito</a:t>
            </a:r>
          </a:p>
        </p:txBody>
      </p:sp>
      <p:sp>
        <p:nvSpPr>
          <p:cNvPr id="23" name="Oval 22"/>
          <p:cNvSpPr/>
          <p:nvPr/>
        </p:nvSpPr>
        <p:spPr>
          <a:xfrm>
            <a:off x="6483096" y="4381804"/>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0840" y="4125772"/>
            <a:ext cx="4709160" cy="603504"/>
          </a:xfrm>
          <a:prstGeom prst="rect">
            <a:avLst/>
          </a:prstGeom>
          <a:noFill/>
        </p:spPr>
        <p:txBody>
          <a:bodyPr wrap="square" anchor="ctr" lIns="0" rIns="0" tIns="0" bIns="0">
            <a:spAutoFit/>
          </a:bodyPr>
          <a:lstStyle/>
          <a:p>
            <a:pPr algn="l"/>
            <a:r>
              <a:rPr sz="1609" b="0">
                <a:solidFill>
                  <a:srgbClr val="33475B"/>
                </a:solidFill>
                <a:latin typeface="Aptos"/>
              </a:rPr>
              <a:t>Encarece la fuerza bruta</a:t>
            </a:r>
          </a:p>
        </p:txBody>
      </p:sp>
      <p:sp>
        <p:nvSpPr>
          <p:cNvPr id="25" name="TextBox 2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26" name="TextBox 2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25 / 35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Dónde va cada tipo de cifrado, y dónde van los secretos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5"/>
        </p:xfrm>
        <a:graphic>
          <a:graphicData uri="http://schemas.openxmlformats.org/drawingml/2006/table">
            <a:tbl>
              <a:tblPr firstRow="1">
                <a:tableStyleId>{5C22544A-7EE6-4342-B048-85BDC9FD1C3A}</a:tableStyleId>
              </a:tblPr>
              <a:tblGrid>
                <a:gridCol w="3688080"/>
                <a:gridCol w="3688080"/>
                <a:gridCol w="3688080"/>
              </a:tblGrid>
              <a:tr h="874897">
                <a:tc>
                  <a:txBody>
                    <a:bodyPr wrap="square"/>
                    <a:lstStyle/>
                    <a:p>
                      <a:r>
                        <a:rPr sz="1725" b="1">
                          <a:solidFill>
                            <a:srgbClr val="FFFFFF"/>
                          </a:solidFill>
                          <a:latin typeface="Aptos"/>
                        </a:rPr>
                        <a:t>Dónde</a:t>
                      </a:r>
                    </a:p>
                  </a:txBody>
                  <a:tcPr anchor="ctr" marL="146304" marR="146304">
                    <a:solidFill>
                      <a:srgbClr val="156082"/>
                    </a:solidFill>
                  </a:tcPr>
                </a:tc>
                <a:tc>
                  <a:txBody>
                    <a:bodyPr wrap="square"/>
                    <a:lstStyle/>
                    <a:p>
                      <a:r>
                        <a:rPr sz="1725" b="1">
                          <a:solidFill>
                            <a:srgbClr val="FFFFFF"/>
                          </a:solidFill>
                          <a:latin typeface="Aptos"/>
                        </a:rPr>
                        <a:t>Qué se usa</a:t>
                      </a:r>
                    </a:p>
                  </a:txBody>
                  <a:tcPr anchor="ctr" marL="146304" marR="146304">
                    <a:solidFill>
                      <a:srgbClr val="156082"/>
                    </a:solidFill>
                  </a:tcPr>
                </a:tc>
                <a:tc>
                  <a:txBody>
                    <a:bodyPr wrap="square"/>
                    <a:lstStyle/>
                    <a:p>
                      <a:r>
                        <a:rPr sz="1725" b="1">
                          <a:solidFill>
                            <a:srgbClr val="FFFFFF"/>
                          </a:solidFill>
                          <a:latin typeface="Aptos"/>
                        </a:rPr>
                        <a:t>Detalle</a:t>
                      </a:r>
                    </a:p>
                  </a:txBody>
                  <a:tcPr anchor="ctr" marL="146304" marR="146304">
                    <a:solidFill>
                      <a:srgbClr val="156082"/>
                    </a:solidFill>
                  </a:tcPr>
                </a:tc>
              </a:tr>
              <a:tr h="874897">
                <a:tc>
                  <a:txBody>
                    <a:bodyPr wrap="square"/>
                    <a:lstStyle/>
                    <a:p>
                      <a:r>
                        <a:rPr sz="1609" b="1">
                          <a:solidFill>
                            <a:srgbClr val="33475B"/>
                          </a:solidFill>
                          <a:latin typeface="Aptos"/>
                        </a:rPr>
                        <a:t>En tránsito</a:t>
                      </a:r>
                    </a:p>
                  </a:txBody>
                  <a:tcPr anchor="ctr" marL="146304" marR="146304">
                    <a:solidFill>
                      <a:srgbClr val="FFFFFF"/>
                    </a:solidFill>
                  </a:tcPr>
                </a:tc>
                <a:tc>
                  <a:txBody>
                    <a:bodyPr wrap="square"/>
                    <a:lstStyle/>
                    <a:p>
                      <a:r>
                        <a:rPr sz="1609" b="0">
                          <a:solidFill>
                            <a:srgbClr val="33475B"/>
                          </a:solidFill>
                          <a:latin typeface="Aptos"/>
                        </a:rPr>
                        <a:t>TLS 1.2+</a:t>
                      </a:r>
                    </a:p>
                  </a:txBody>
                  <a:tcPr anchor="ctr" marL="146304" marR="146304">
                    <a:solidFill>
                      <a:srgbClr val="FFFFFF"/>
                    </a:solidFill>
                  </a:tcPr>
                </a:tc>
                <a:tc>
                  <a:txBody>
                    <a:bodyPr wrap="square"/>
                    <a:lstStyle/>
                    <a:p>
                      <a:r>
                        <a:rPr sz="1609" b="0">
                          <a:solidFill>
                            <a:srgbClr val="33475B"/>
                          </a:solidFill>
                          <a:latin typeface="Aptos"/>
                        </a:rPr>
                        <a:t>Entre cliente y API, y entre servicios</a:t>
                      </a:r>
                    </a:p>
                  </a:txBody>
                  <a:tcPr anchor="ctr" marL="146304" marR="146304">
                    <a:solidFill>
                      <a:srgbClr val="FFFFFF"/>
                    </a:solidFill>
                  </a:tcPr>
                </a:tc>
              </a:tr>
              <a:tr h="874897">
                <a:tc>
                  <a:txBody>
                    <a:bodyPr wrap="square"/>
                    <a:lstStyle/>
                    <a:p>
                      <a:r>
                        <a:rPr sz="1609" b="1">
                          <a:solidFill>
                            <a:srgbClr val="33475B"/>
                          </a:solidFill>
                          <a:latin typeface="Aptos"/>
                        </a:rPr>
                        <a:t>En reposo</a:t>
                      </a:r>
                    </a:p>
                  </a:txBody>
                  <a:tcPr anchor="ctr" marL="146304" marR="146304">
                    <a:solidFill>
                      <a:srgbClr val="F4F7FA"/>
                    </a:solidFill>
                  </a:tcPr>
                </a:tc>
                <a:tc>
                  <a:txBody>
                    <a:bodyPr wrap="square"/>
                    <a:lstStyle/>
                    <a:p>
                      <a:r>
                        <a:rPr sz="1609" b="0">
                          <a:solidFill>
                            <a:srgbClr val="33475B"/>
                          </a:solidFill>
                          <a:latin typeface="Aptos"/>
                        </a:rPr>
                        <a:t>AES-256</a:t>
                      </a:r>
                    </a:p>
                  </a:txBody>
                  <a:tcPr anchor="ctr" marL="146304" marR="146304">
                    <a:solidFill>
                      <a:srgbClr val="F4F7FA"/>
                    </a:solidFill>
                  </a:tcPr>
                </a:tc>
                <a:tc>
                  <a:txBody>
                    <a:bodyPr wrap="square"/>
                    <a:lstStyle/>
                    <a:p>
                      <a:r>
                        <a:rPr sz="1609" b="0">
                          <a:solidFill>
                            <a:srgbClr val="33475B"/>
                          </a:solidFill>
                          <a:latin typeface="Aptos"/>
                        </a:rPr>
                        <a:t>Disco, respaldos y campos sensibles</a:t>
                      </a:r>
                    </a:p>
                  </a:txBody>
                  <a:tcPr anchor="ctr" marL="146304" marR="146304">
                    <a:solidFill>
                      <a:srgbClr val="F4F7FA"/>
                    </a:solidFill>
                  </a:tcPr>
                </a:tc>
              </a:tr>
              <a:tr h="874897">
                <a:tc>
                  <a:txBody>
                    <a:bodyPr wrap="square"/>
                    <a:lstStyle/>
                    <a:p>
                      <a:r>
                        <a:rPr sz="1609" b="1">
                          <a:solidFill>
                            <a:srgbClr val="33475B"/>
                          </a:solidFill>
                          <a:latin typeface="Aptos"/>
                        </a:rPr>
                        <a:t>Contraseñas</a:t>
                      </a:r>
                    </a:p>
                  </a:txBody>
                  <a:tcPr anchor="ctr" marL="146304" marR="146304">
                    <a:solidFill>
                      <a:srgbClr val="FFFFFF"/>
                    </a:solidFill>
                  </a:tcPr>
                </a:tc>
                <a:tc>
                  <a:txBody>
                    <a:bodyPr wrap="square"/>
                    <a:lstStyle/>
                    <a:p>
                      <a:r>
                        <a:rPr sz="1609" b="0">
                          <a:solidFill>
                            <a:srgbClr val="33475B"/>
                          </a:solidFill>
                          <a:latin typeface="Aptos"/>
                        </a:rPr>
                        <a:t>bcrypt / Argon2</a:t>
                      </a:r>
                    </a:p>
                  </a:txBody>
                  <a:tcPr anchor="ctr" marL="146304" marR="146304">
                    <a:solidFill>
                      <a:srgbClr val="FFFFFF"/>
                    </a:solidFill>
                  </a:tcPr>
                </a:tc>
                <a:tc>
                  <a:txBody>
                    <a:bodyPr wrap="square"/>
                    <a:lstStyle/>
                    <a:p>
                      <a:r>
                        <a:rPr sz="1609" b="0">
                          <a:solidFill>
                            <a:srgbClr val="33475B"/>
                          </a:solidFill>
                          <a:latin typeface="Aptos"/>
                        </a:rPr>
                        <a:t>Nunca AES: un hash no se descifra</a:t>
                      </a:r>
                    </a:p>
                  </a:txBody>
                  <a:tcPr anchor="ctr" marL="146304" marR="146304">
                    <a:solidFill>
                      <a:srgbClr val="FFFFFF"/>
                    </a:solidFill>
                  </a:tcPr>
                </a:tc>
              </a:tr>
              <a:tr h="874897">
                <a:tc>
                  <a:txBody>
                    <a:bodyPr wrap="square"/>
                    <a:lstStyle/>
                    <a:p>
                      <a:r>
                        <a:rPr sz="1609" b="1">
                          <a:solidFill>
                            <a:srgbClr val="33475B"/>
                          </a:solidFill>
                          <a:latin typeface="Aptos"/>
                        </a:rPr>
                        <a:t>Claves y secretos</a:t>
                      </a:r>
                    </a:p>
                  </a:txBody>
                  <a:tcPr anchor="ctr" marL="146304" marR="146304">
                    <a:solidFill>
                      <a:srgbClr val="F4F7FA"/>
                    </a:solidFill>
                  </a:tcPr>
                </a:tc>
                <a:tc>
                  <a:txBody>
                    <a:bodyPr wrap="square"/>
                    <a:lstStyle/>
                    <a:p>
                      <a:r>
                        <a:rPr sz="1609" b="0">
                          <a:solidFill>
                            <a:srgbClr val="33475B"/>
                          </a:solidFill>
                          <a:latin typeface="Aptos"/>
                        </a:rPr>
                        <a:t>KMS / Key Vault / Secret Manager</a:t>
                      </a:r>
                    </a:p>
                  </a:txBody>
                  <a:tcPr anchor="ctr" marL="146304" marR="146304">
                    <a:solidFill>
                      <a:srgbClr val="F4F7FA"/>
                    </a:solidFill>
                  </a:tcPr>
                </a:tc>
                <a:tc>
                  <a:txBody>
                    <a:bodyPr wrap="square"/>
                    <a:lstStyle/>
                    <a:p>
                      <a:r>
                        <a:rPr sz="1609" b="0">
                          <a:solidFill>
                            <a:srgbClr val="33475B"/>
                          </a:solidFill>
                          <a:latin typeface="Aptos"/>
                        </a:rPr>
                        <a:t>Jamás en el código ni en el repositorio</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26 / 35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Los cinco riesgos que más aparecen en proyectos como este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89198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78225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891982"/>
          </a:xfrm>
          <a:prstGeom prst="rect">
            <a:avLst/>
          </a:prstGeom>
          <a:noFill/>
        </p:spPr>
        <p:txBody>
          <a:bodyPr wrap="square" anchor="ctr" lIns="0" rIns="0" tIns="0" bIns="0">
            <a:spAutoFit/>
          </a:bodyPr>
          <a:lstStyle/>
          <a:p>
            <a:pPr algn="l">
              <a:lnSpc>
                <a:spcPct val="125000"/>
              </a:lnSpc>
            </a:pPr>
            <a:r>
              <a:rPr sz="1803" b="1">
                <a:solidFill>
                  <a:srgbClr val="0E2841"/>
                </a:solidFill>
                <a:latin typeface="Aptos Display"/>
              </a:rPr>
              <a:t>1. </a:t>
            </a:r>
            <a:r>
              <a:rPr sz="1803" b="1">
                <a:solidFill>
                  <a:srgbClr val="0E2841"/>
                </a:solidFill>
                <a:latin typeface="Aptos Display"/>
              </a:rPr>
              <a:t>Control de acceso roto</a:t>
            </a:r>
            <a:r>
              <a:rPr sz="1803" b="1">
                <a:solidFill>
                  <a:srgbClr val="0E2841"/>
                </a:solidFill>
                <a:latin typeface="Aptos Display"/>
              </a:rPr>
              <a:t> — se valida el token pero no el permiso sobre el recurso</a:t>
            </a:r>
          </a:p>
        </p:txBody>
      </p:sp>
      <p:sp>
        <p:nvSpPr>
          <p:cNvPr id="10" name="Rounded Rectangle 9"/>
          <p:cNvSpPr/>
          <p:nvPr/>
        </p:nvSpPr>
        <p:spPr>
          <a:xfrm>
            <a:off x="566928" y="2665918"/>
            <a:ext cx="11064240" cy="89198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720782"/>
            <a:ext cx="63500" cy="78225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665918"/>
            <a:ext cx="10378440" cy="891982"/>
          </a:xfrm>
          <a:prstGeom prst="rect">
            <a:avLst/>
          </a:prstGeom>
          <a:noFill/>
        </p:spPr>
        <p:txBody>
          <a:bodyPr wrap="square" anchor="ctr" lIns="0" rIns="0" tIns="0" bIns="0">
            <a:spAutoFit/>
          </a:bodyPr>
          <a:lstStyle/>
          <a:p>
            <a:pPr algn="l">
              <a:lnSpc>
                <a:spcPct val="125000"/>
              </a:lnSpc>
            </a:pPr>
            <a:r>
              <a:rPr sz="1803" b="1">
                <a:solidFill>
                  <a:srgbClr val="0E2841"/>
                </a:solidFill>
                <a:latin typeface="Aptos Display"/>
              </a:rPr>
              <a:t>2. </a:t>
            </a:r>
            <a:r>
              <a:rPr sz="1803" b="1">
                <a:solidFill>
                  <a:srgbClr val="0E2841"/>
                </a:solidFill>
                <a:latin typeface="Aptos Display"/>
              </a:rPr>
              <a:t>Configuración insegura</a:t>
            </a:r>
            <a:r>
              <a:rPr sz="1803" b="1">
                <a:solidFill>
                  <a:srgbClr val="0E2841"/>
                </a:solidFill>
                <a:latin typeface="Aptos Display"/>
              </a:rPr>
              <a:t> — credenciales por defecto, puertos abiertos, depuración activa</a:t>
            </a:r>
          </a:p>
        </p:txBody>
      </p:sp>
      <p:sp>
        <p:nvSpPr>
          <p:cNvPr id="13" name="Rounded Rectangle 12"/>
          <p:cNvSpPr/>
          <p:nvPr/>
        </p:nvSpPr>
        <p:spPr>
          <a:xfrm>
            <a:off x="566928" y="3759068"/>
            <a:ext cx="11064240" cy="63713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3813932"/>
            <a:ext cx="63500" cy="52740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759068"/>
            <a:ext cx="10378440" cy="637130"/>
          </a:xfrm>
          <a:prstGeom prst="rect">
            <a:avLst/>
          </a:prstGeom>
          <a:noFill/>
        </p:spPr>
        <p:txBody>
          <a:bodyPr wrap="square" anchor="ctr" lIns="0" rIns="0" tIns="0" bIns="0">
            <a:spAutoFit/>
          </a:bodyPr>
          <a:lstStyle/>
          <a:p>
            <a:pPr algn="l">
              <a:lnSpc>
                <a:spcPct val="125000"/>
              </a:lnSpc>
            </a:pPr>
            <a:r>
              <a:rPr sz="1803" b="1">
                <a:solidFill>
                  <a:srgbClr val="0E2841"/>
                </a:solidFill>
                <a:latin typeface="Aptos Display"/>
              </a:rPr>
              <a:t>3. </a:t>
            </a:r>
            <a:r>
              <a:rPr sz="1803" b="1">
                <a:solidFill>
                  <a:srgbClr val="0E2841"/>
                </a:solidFill>
                <a:latin typeface="Aptos Display"/>
              </a:rPr>
              <a:t>Componentes vulnerables</a:t>
            </a:r>
            <a:r>
              <a:rPr sz="1803" b="1">
                <a:solidFill>
                  <a:srgbClr val="0E2841"/>
                </a:solidFill>
                <a:latin typeface="Aptos Display"/>
              </a:rPr>
              <a:t> — dependencias sin actualizar</a:t>
            </a:r>
          </a:p>
        </p:txBody>
      </p:sp>
      <p:sp>
        <p:nvSpPr>
          <p:cNvPr id="16" name="Rounded Rectangle 15"/>
          <p:cNvSpPr/>
          <p:nvPr/>
        </p:nvSpPr>
        <p:spPr>
          <a:xfrm>
            <a:off x="566928" y="4597367"/>
            <a:ext cx="11064240" cy="89198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4652231"/>
            <a:ext cx="63500" cy="78225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7367"/>
            <a:ext cx="10378440" cy="891982"/>
          </a:xfrm>
          <a:prstGeom prst="rect">
            <a:avLst/>
          </a:prstGeom>
          <a:noFill/>
        </p:spPr>
        <p:txBody>
          <a:bodyPr wrap="square" anchor="ctr" lIns="0" rIns="0" tIns="0" bIns="0">
            <a:spAutoFit/>
          </a:bodyPr>
          <a:lstStyle/>
          <a:p>
            <a:pPr algn="l">
              <a:lnSpc>
                <a:spcPct val="125000"/>
              </a:lnSpc>
            </a:pPr>
            <a:r>
              <a:rPr sz="1803" b="1">
                <a:solidFill>
                  <a:srgbClr val="0E2841"/>
                </a:solidFill>
                <a:latin typeface="Aptos Display"/>
              </a:rPr>
              <a:t>4. </a:t>
            </a:r>
            <a:r>
              <a:rPr sz="1803" b="1">
                <a:solidFill>
                  <a:srgbClr val="0E2841"/>
                </a:solidFill>
                <a:latin typeface="Aptos Display"/>
              </a:rPr>
              <a:t>Fallos de identificación</a:t>
            </a:r>
            <a:r>
              <a:rPr sz="1803" b="1">
                <a:solidFill>
                  <a:srgbClr val="0E2841"/>
                </a:solidFill>
                <a:latin typeface="Aptos Display"/>
              </a:rPr>
              <a:t> — tokens eternos, sin MFA, sin bloqueo por intentos</a:t>
            </a:r>
          </a:p>
        </p:txBody>
      </p:sp>
      <p:sp>
        <p:nvSpPr>
          <p:cNvPr id="19" name="Rounded Rectangle 18"/>
          <p:cNvSpPr/>
          <p:nvPr/>
        </p:nvSpPr>
        <p:spPr>
          <a:xfrm>
            <a:off x="566928" y="5690517"/>
            <a:ext cx="11064240" cy="63713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5745381"/>
            <a:ext cx="63500" cy="52740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690517"/>
            <a:ext cx="10378440" cy="637130"/>
          </a:xfrm>
          <a:prstGeom prst="rect">
            <a:avLst/>
          </a:prstGeom>
          <a:noFill/>
        </p:spPr>
        <p:txBody>
          <a:bodyPr wrap="square" anchor="ctr" lIns="0" rIns="0" tIns="0" bIns="0">
            <a:spAutoFit/>
          </a:bodyPr>
          <a:lstStyle/>
          <a:p>
            <a:pPr algn="l">
              <a:lnSpc>
                <a:spcPct val="125000"/>
              </a:lnSpc>
            </a:pPr>
            <a:r>
              <a:rPr sz="1803" b="1">
                <a:solidFill>
                  <a:srgbClr val="0E2841"/>
                </a:solidFill>
                <a:latin typeface="Aptos Display"/>
              </a:rPr>
              <a:t>5. </a:t>
            </a:r>
            <a:r>
              <a:rPr sz="1803" b="1">
                <a:solidFill>
                  <a:srgbClr val="0E2841"/>
                </a:solidFill>
                <a:latin typeface="Aptos Display"/>
              </a:rPr>
              <a:t>Registro insuficiente</a:t>
            </a:r>
            <a:r>
              <a:rPr sz="1803" b="1">
                <a:solidFill>
                  <a:srgbClr val="0E2841"/>
                </a:solidFill>
                <a:latin typeface="Aptos Display"/>
              </a:rPr>
              <a:t> — no queda rastro de quién hizo qué</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27 / 35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2500" b="1">
                <a:solidFill>
                  <a:srgbClr val="0E2841"/>
                </a:solidFill>
                <a:latin typeface="Aptos Display"/>
              </a:rPr>
              <a:t>¿Por qué no deben guardarse datos sensibles en la carga útil de un JWT?</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Porque aumentan el tamaño del token y la latencia</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Porque va codificada, no cifrada: cualquiera con el token puede leerla</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Porque impide validar la firma del token en el servidor</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Porque los datos sensibles invalidan el campo de expiración</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28 / 35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2500" b="1">
                <a:solidFill>
                  <a:srgbClr val="0E2841"/>
                </a:solidFill>
                <a:latin typeface="Aptos Display"/>
              </a:rPr>
              <a:t>¿Cuál es la forma correcta de almacenar contraseñas de usuarios?</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Cifradas con AES-256 usando una clave en el gestor de secretos</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Con una función de hash lenta y con sal, como bcrypt o Argon2</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Codificadas en Base64 dentro de una columna protegida</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Cifradas con la misma clave privada que firma los JWT</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29 / 35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2500" b="1">
                <a:solidFill>
                  <a:srgbClr val="0E2841"/>
                </a:solidFill>
                <a:latin typeface="Aptos Display"/>
              </a:rPr>
              <a:t>En el modelo de responsabilidad compartida, ¿de qué responde el cliente?</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Del hardware, la virtualización y la seguridad física del centro de datos</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De la disponibilidad de la región y de la red del proveedor</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De la configuración, las identidades, el cifrado y sus datos</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De aplicar los parches del hipervisor y del sistema anfitrión</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30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05</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5. Observabilidad, cierre y proyecto</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Sin observabilidad no hay resiliencia posible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8"/>
        </p:xfrm>
        <a:graphic>
          <a:graphicData uri="http://schemas.openxmlformats.org/drawingml/2006/table">
            <a:tbl>
              <a:tblPr firstRow="1">
                <a:tableStyleId>{5C22544A-7EE6-4342-B048-85BDC9FD1C3A}</a:tableStyleId>
              </a:tblPr>
              <a:tblGrid>
                <a:gridCol w="3688080"/>
                <a:gridCol w="3688080"/>
                <a:gridCol w="3688080"/>
              </a:tblGrid>
              <a:tr h="1093622">
                <a:tc>
                  <a:txBody>
                    <a:bodyPr wrap="square"/>
                    <a:lstStyle/>
                    <a:p>
                      <a:r>
                        <a:rPr sz="1725" b="1">
                          <a:solidFill>
                            <a:srgbClr val="FFFFFF"/>
                          </a:solidFill>
                          <a:latin typeface="Aptos"/>
                        </a:rPr>
                        <a:t>Pilar</a:t>
                      </a:r>
                    </a:p>
                  </a:txBody>
                  <a:tcPr anchor="ctr" marL="146304" marR="146304">
                    <a:solidFill>
                      <a:srgbClr val="156082"/>
                    </a:solidFill>
                  </a:tcPr>
                </a:tc>
                <a:tc>
                  <a:txBody>
                    <a:bodyPr wrap="square"/>
                    <a:lstStyle/>
                    <a:p>
                      <a:r>
                        <a:rPr sz="1725" b="1">
                          <a:solidFill>
                            <a:srgbClr val="FFFFFF"/>
                          </a:solidFill>
                          <a:latin typeface="Aptos"/>
                        </a:rPr>
                        <a:t>Responde</a:t>
                      </a:r>
                    </a:p>
                  </a:txBody>
                  <a:tcPr anchor="ctr" marL="146304" marR="146304">
                    <a:solidFill>
                      <a:srgbClr val="156082"/>
                    </a:solidFill>
                  </a:tcPr>
                </a:tc>
                <a:tc>
                  <a:txBody>
                    <a:bodyPr wrap="square"/>
                    <a:lstStyle/>
                    <a:p>
                      <a:r>
                        <a:rPr sz="1725" b="1">
                          <a:solidFill>
                            <a:srgbClr val="FFFFFF"/>
                          </a:solidFill>
                          <a:latin typeface="Aptos"/>
                        </a:rPr>
                        <a:t>Herramienta típica</a:t>
                      </a:r>
                    </a:p>
                  </a:txBody>
                  <a:tcPr anchor="ctr" marL="146304" marR="146304">
                    <a:solidFill>
                      <a:srgbClr val="156082"/>
                    </a:solidFill>
                  </a:tcPr>
                </a:tc>
              </a:tr>
              <a:tr h="1093622">
                <a:tc>
                  <a:txBody>
                    <a:bodyPr wrap="square"/>
                    <a:lstStyle/>
                    <a:p>
                      <a:r>
                        <a:rPr sz="1609" b="1">
                          <a:solidFill>
                            <a:srgbClr val="33475B"/>
                          </a:solidFill>
                          <a:latin typeface="Aptos"/>
                        </a:rPr>
                        <a:t>Métricas</a:t>
                      </a:r>
                    </a:p>
                  </a:txBody>
                  <a:tcPr anchor="ctr" marL="146304" marR="146304">
                    <a:solidFill>
                      <a:srgbClr val="FFFFFF"/>
                    </a:solidFill>
                  </a:tcPr>
                </a:tc>
                <a:tc>
                  <a:txBody>
                    <a:bodyPr wrap="square"/>
                    <a:lstStyle/>
                    <a:p>
                      <a:r>
                        <a:rPr sz="1609" b="0">
                          <a:solidFill>
                            <a:srgbClr val="33475B"/>
                          </a:solidFill>
                          <a:latin typeface="Aptos"/>
                        </a:rPr>
                        <a:t>¿Cómo va el sistema ahora?</a:t>
                      </a:r>
                    </a:p>
                  </a:txBody>
                  <a:tcPr anchor="ctr" marL="146304" marR="146304">
                    <a:solidFill>
                      <a:srgbClr val="FFFFFF"/>
                    </a:solidFill>
                  </a:tcPr>
                </a:tc>
                <a:tc>
                  <a:txBody>
                    <a:bodyPr wrap="square"/>
                    <a:lstStyle/>
                    <a:p>
                      <a:r>
                        <a:rPr sz="1609" b="0">
                          <a:solidFill>
                            <a:srgbClr val="33475B"/>
                          </a:solidFill>
                          <a:latin typeface="Aptos"/>
                        </a:rPr>
                        <a:t>Prometheus, CloudWatch</a:t>
                      </a:r>
                    </a:p>
                  </a:txBody>
                  <a:tcPr anchor="ctr" marL="146304" marR="146304">
                    <a:solidFill>
                      <a:srgbClr val="FFFFFF"/>
                    </a:solidFill>
                  </a:tcPr>
                </a:tc>
              </a:tr>
              <a:tr h="1093622">
                <a:tc>
                  <a:txBody>
                    <a:bodyPr wrap="square"/>
                    <a:lstStyle/>
                    <a:p>
                      <a:r>
                        <a:rPr sz="1609" b="1">
                          <a:solidFill>
                            <a:srgbClr val="33475B"/>
                          </a:solidFill>
                          <a:latin typeface="Aptos"/>
                        </a:rPr>
                        <a:t>Registros</a:t>
                      </a:r>
                    </a:p>
                  </a:txBody>
                  <a:tcPr anchor="ctr" marL="146304" marR="146304">
                    <a:solidFill>
                      <a:srgbClr val="F4F7FA"/>
                    </a:solidFill>
                  </a:tcPr>
                </a:tc>
                <a:tc>
                  <a:txBody>
                    <a:bodyPr wrap="square"/>
                    <a:lstStyle/>
                    <a:p>
                      <a:r>
                        <a:rPr sz="1609" b="0">
                          <a:solidFill>
                            <a:srgbClr val="33475B"/>
                          </a:solidFill>
                          <a:latin typeface="Aptos"/>
                        </a:rPr>
                        <a:t>¿Qué pasó exactamente?</a:t>
                      </a:r>
                    </a:p>
                  </a:txBody>
                  <a:tcPr anchor="ctr" marL="146304" marR="146304">
                    <a:solidFill>
                      <a:srgbClr val="F4F7FA"/>
                    </a:solidFill>
                  </a:tcPr>
                </a:tc>
                <a:tc>
                  <a:txBody>
                    <a:bodyPr wrap="square"/>
                    <a:lstStyle/>
                    <a:p>
                      <a:r>
                        <a:rPr sz="1609" b="0">
                          <a:solidFill>
                            <a:srgbClr val="33475B"/>
                          </a:solidFill>
                          <a:latin typeface="Aptos"/>
                        </a:rPr>
                        <a:t>Logs estructurados centralizados</a:t>
                      </a:r>
                    </a:p>
                  </a:txBody>
                  <a:tcPr anchor="ctr" marL="146304" marR="146304">
                    <a:solidFill>
                      <a:srgbClr val="F4F7FA"/>
                    </a:solidFill>
                  </a:tcPr>
                </a:tc>
              </a:tr>
              <a:tr h="1093622">
                <a:tc>
                  <a:txBody>
                    <a:bodyPr wrap="square"/>
                    <a:lstStyle/>
                    <a:p>
                      <a:r>
                        <a:rPr sz="1609" b="1">
                          <a:solidFill>
                            <a:srgbClr val="33475B"/>
                          </a:solidFill>
                          <a:latin typeface="Aptos"/>
                        </a:rPr>
                        <a:t>Trazas</a:t>
                      </a:r>
                    </a:p>
                  </a:txBody>
                  <a:tcPr anchor="ctr" marL="146304" marR="146304">
                    <a:solidFill>
                      <a:srgbClr val="FFFFFF"/>
                    </a:solidFill>
                  </a:tcPr>
                </a:tc>
                <a:tc>
                  <a:txBody>
                    <a:bodyPr wrap="square"/>
                    <a:lstStyle/>
                    <a:p>
                      <a:r>
                        <a:rPr sz="1609" b="0">
                          <a:solidFill>
                            <a:srgbClr val="33475B"/>
                          </a:solidFill>
                          <a:latin typeface="Aptos"/>
                        </a:rPr>
                        <a:t>¿Por dónde pasó esta petición?</a:t>
                      </a:r>
                    </a:p>
                  </a:txBody>
                  <a:tcPr anchor="ctr" marL="146304" marR="146304">
                    <a:solidFill>
                      <a:srgbClr val="FFFFFF"/>
                    </a:solidFill>
                  </a:tcPr>
                </a:tc>
                <a:tc>
                  <a:txBody>
                    <a:bodyPr wrap="square"/>
                    <a:lstStyle/>
                    <a:p>
                      <a:r>
                        <a:rPr sz="1609" b="0">
                          <a:solidFill>
                            <a:srgbClr val="33475B"/>
                          </a:solidFill>
                          <a:latin typeface="Aptos"/>
                        </a:rPr>
                        <a:t>OpenTelemetry, Jaeger</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31 / 35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Un identificador de correlación en todos los saltos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880360"/>
            <a:ext cx="11064240" cy="2139696"/>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3063240"/>
            <a:ext cx="10515600" cy="1792224"/>
          </a:xfrm>
          <a:prstGeom prst="rect">
            <a:avLst/>
          </a:prstGeom>
          <a:noFill/>
        </p:spPr>
        <p:txBody>
          <a:bodyPr wrap="none" lIns="0" tIns="0">
            <a:spAutoFit/>
          </a:bodyPr>
          <a:lstStyle/>
          <a:p>
            <a:pPr>
              <a:lnSpc>
                <a:spcPct val="125000"/>
              </a:lnSpc>
            </a:pPr>
            <a:r>
              <a:rPr sz="1465">
                <a:solidFill>
                  <a:srgbClr val="E8E8E8"/>
                </a:solidFill>
                <a:latin typeface="Consolas"/>
              </a:rPr>
              <a:t>  Petición  --&gt; [API]---&gt;[Catálogo]---&gt;[Inventario]---&gt;[BD]</a:t>
            </a:r>
          </a:p>
          <a:p>
            <a:pPr>
              <a:lnSpc>
                <a:spcPct val="125000"/>
              </a:lnSpc>
            </a:pPr>
            <a:r>
              <a:rPr sz="1465">
                <a:solidFill>
                  <a:srgbClr val="E8E8E8"/>
                </a:solidFill>
                <a:latin typeface="Consolas"/>
              </a:rPr>
              <a:t>                 │          │              │</a:t>
            </a:r>
          </a:p>
          <a:p>
            <a:pPr>
              <a:lnSpc>
                <a:spcPct val="125000"/>
              </a:lnSpc>
            </a:pPr>
            <a:r>
              <a:rPr sz="1465">
                <a:solidFill>
                  <a:srgbClr val="E8E8E8"/>
                </a:solidFill>
                <a:latin typeface="Consolas"/>
              </a:rPr>
              <a:t>              trace-id: 7f3a9c … el MISMO en los cuatro saltos</a:t>
            </a:r>
          </a:p>
          <a:p>
            <a:pPr>
              <a:lnSpc>
                <a:spcPct val="125000"/>
              </a:lnSpc>
            </a:pPr>
            <a:r>
              <a:rPr sz="1465">
                <a:solidFill>
                  <a:srgbClr val="E8E8E8"/>
                </a:solidFill>
                <a:latin typeface="Consolas"/>
              </a:rPr>
              <a:t>              ------------------------------------------------</a:t>
            </a:r>
          </a:p>
          <a:p>
            <a:pPr>
              <a:lnSpc>
                <a:spcPct val="125000"/>
              </a:lnSpc>
            </a:pPr>
            <a:r>
              <a:rPr sz="1465">
                <a:solidFill>
                  <a:srgbClr val="E8E8E8"/>
                </a:solidFill>
                <a:latin typeface="Consolas"/>
              </a:rPr>
              <a:t>              Sin trace-id compartido, diagnosticar un fallo</a:t>
            </a:r>
          </a:p>
          <a:p>
            <a:pPr>
              <a:lnSpc>
                <a:spcPct val="125000"/>
              </a:lnSpc>
            </a:pPr>
            <a:r>
              <a:rPr sz="1465">
                <a:solidFill>
                  <a:srgbClr val="E8E8E8"/>
                </a:solidFill>
                <a:latin typeface="Consolas"/>
              </a:rPr>
              <a:t>              entre servicios es adivinar.</a:t>
            </a:r>
          </a:p>
        </p:txBody>
      </p:sp>
      <p:sp>
        <p:nvSpPr>
          <p:cNvPr id="9" name="TextBox 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10" name="TextBox 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32 / 35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¿Qué hace que un endpoint de salud sea realmente útil?</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Responder siempre 200 para que el balanceador no saque la instancia</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Devolver la versión de la aplicación y su tiempo de actividad</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Verificar las dependencias críticas, como base de datos y caché</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Exponer las métricas de CPU y memoria de la instancia</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33 / 35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Del concepto al proyecto: qué sección cubre qué requisito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3688080"/>
                <a:gridCol w="3688080"/>
                <a:gridCol w="3688080"/>
              </a:tblGrid>
              <a:tr h="486054">
                <a:tc>
                  <a:txBody>
                    <a:bodyPr wrap="square"/>
                    <a:lstStyle/>
                    <a:p>
                      <a:r>
                        <a:rPr sz="1513" b="1">
                          <a:solidFill>
                            <a:srgbClr val="FFFFFF"/>
                          </a:solidFill>
                          <a:latin typeface="Aptos"/>
                        </a:rPr>
                        <a:t>Requisito del proyecto</a:t>
                      </a:r>
                    </a:p>
                  </a:txBody>
                  <a:tcPr anchor="ctr" marL="146304" marR="146304">
                    <a:solidFill>
                      <a:srgbClr val="156082"/>
                    </a:solidFill>
                  </a:tcPr>
                </a:tc>
                <a:tc>
                  <a:txBody>
                    <a:bodyPr wrap="square"/>
                    <a:lstStyle/>
                    <a:p>
                      <a:r>
                        <a:rPr sz="1513" b="1">
                          <a:solidFill>
                            <a:srgbClr val="FFFFFF"/>
                          </a:solidFill>
                          <a:latin typeface="Aptos"/>
                        </a:rPr>
                        <a:t>Sección</a:t>
                      </a:r>
                    </a:p>
                  </a:txBody>
                  <a:tcPr anchor="ctr" marL="146304" marR="146304">
                    <a:solidFill>
                      <a:srgbClr val="156082"/>
                    </a:solidFill>
                  </a:tcPr>
                </a:tc>
                <a:tc>
                  <a:txBody>
                    <a:bodyPr wrap="square"/>
                    <a:lstStyle/>
                    <a:p>
                      <a:r>
                        <a:rPr sz="1513" b="1">
                          <a:solidFill>
                            <a:srgbClr val="FFFFFF"/>
                          </a:solidFill>
                          <a:latin typeface="Aptos"/>
                        </a:rPr>
                        <a:t>Peso en la rúbrica</a:t>
                      </a:r>
                    </a:p>
                  </a:txBody>
                  <a:tcPr anchor="ctr" marL="146304" marR="146304">
                    <a:solidFill>
                      <a:srgbClr val="156082"/>
                    </a:solidFill>
                  </a:tcPr>
                </a:tc>
              </a:tr>
              <a:tr h="486054">
                <a:tc>
                  <a:txBody>
                    <a:bodyPr wrap="square"/>
                    <a:lstStyle/>
                    <a:p>
                      <a:r>
                        <a:rPr sz="1412" b="1">
                          <a:solidFill>
                            <a:srgbClr val="33475B"/>
                          </a:solidFill>
                          <a:latin typeface="Aptos"/>
                        </a:rPr>
                        <a:t>Arquitectura hexagonal + DDD</a:t>
                      </a:r>
                    </a:p>
                  </a:txBody>
                  <a:tcPr anchor="ctr" marL="146304" marR="146304">
                    <a:solidFill>
                      <a:srgbClr val="FFFFFF"/>
                    </a:solidFill>
                  </a:tcPr>
                </a:tc>
                <a:tc>
                  <a:txBody>
                    <a:bodyPr wrap="square"/>
                    <a:lstStyle/>
                    <a:p>
                      <a:r>
                        <a:rPr sz="1412" b="0">
                          <a:solidFill>
                            <a:srgbClr val="33475B"/>
                          </a:solidFill>
                          <a:latin typeface="Aptos"/>
                        </a:rPr>
                        <a:t>Unidad 1</a:t>
                      </a:r>
                    </a:p>
                  </a:txBody>
                  <a:tcPr anchor="ctr" marL="146304" marR="146304">
                    <a:solidFill>
                      <a:srgbClr val="FFFFFF"/>
                    </a:solidFill>
                  </a:tcPr>
                </a:tc>
                <a:tc>
                  <a:txBody>
                    <a:bodyPr wrap="square"/>
                    <a:lstStyle/>
                    <a:p>
                      <a:r>
                        <a:rPr sz="1412" b="0">
                          <a:solidFill>
                            <a:srgbClr val="33475B"/>
                          </a:solidFill>
                          <a:latin typeface="Aptos"/>
                        </a:rPr>
                        <a:t>Arquitectura 30 %</a:t>
                      </a:r>
                    </a:p>
                  </a:txBody>
                  <a:tcPr anchor="ctr" marL="146304" marR="146304">
                    <a:solidFill>
                      <a:srgbClr val="FFFFFF"/>
                    </a:solidFill>
                  </a:tcPr>
                </a:tc>
              </a:tr>
              <a:tr h="486054">
                <a:tc>
                  <a:txBody>
                    <a:bodyPr wrap="square"/>
                    <a:lstStyle/>
                    <a:p>
                      <a:r>
                        <a:rPr sz="1412" b="1">
                          <a:solidFill>
                            <a:srgbClr val="33475B"/>
                          </a:solidFill>
                          <a:latin typeface="Aptos"/>
                        </a:rPr>
                        <a:t>Casos de uso con responsabilidades separadas</a:t>
                      </a:r>
                    </a:p>
                  </a:txBody>
                  <a:tcPr anchor="ctr" marL="146304" marR="146304">
                    <a:solidFill>
                      <a:srgbClr val="F4F7FA"/>
                    </a:solidFill>
                  </a:tcPr>
                </a:tc>
                <a:tc>
                  <a:txBody>
                    <a:bodyPr wrap="square"/>
                    <a:lstStyle/>
                    <a:p>
                      <a:r>
                        <a:rPr sz="1412" b="0">
                          <a:solidFill>
                            <a:srgbClr val="33475B"/>
                          </a:solidFill>
                          <a:latin typeface="Aptos"/>
                        </a:rPr>
                        <a:t>Unidad 1</a:t>
                      </a:r>
                    </a:p>
                  </a:txBody>
                  <a:tcPr anchor="ctr" marL="146304" marR="146304">
                    <a:solidFill>
                      <a:srgbClr val="F4F7FA"/>
                    </a:solidFill>
                  </a:tcPr>
                </a:tc>
                <a:tc>
                  <a:txBody>
                    <a:bodyPr wrap="square"/>
                    <a:lstStyle/>
                    <a:p>
                      <a:r>
                        <a:rPr sz="1412" b="0">
                          <a:solidFill>
                            <a:srgbClr val="33475B"/>
                          </a:solidFill>
                          <a:latin typeface="Aptos"/>
                        </a:rPr>
                        <a:t>Funcionalidad 25 %</a:t>
                      </a:r>
                    </a:p>
                  </a:txBody>
                  <a:tcPr anchor="ctr" marL="146304" marR="146304">
                    <a:solidFill>
                      <a:srgbClr val="F4F7FA"/>
                    </a:solidFill>
                  </a:tcPr>
                </a:tc>
              </a:tr>
              <a:tr h="486054">
                <a:tc>
                  <a:txBody>
                    <a:bodyPr wrap="square"/>
                    <a:lstStyle/>
                    <a:p>
                      <a:r>
                        <a:rPr sz="1412" b="1">
                          <a:solidFill>
                            <a:srgbClr val="33475B"/>
                          </a:solidFill>
                          <a:latin typeface="Aptos"/>
                        </a:rPr>
                        <a:t>TDD con cobertura &gt; 80 %</a:t>
                      </a:r>
                    </a:p>
                  </a:txBody>
                  <a:tcPr anchor="ctr" marL="146304" marR="146304">
                    <a:solidFill>
                      <a:srgbClr val="FFFFFF"/>
                    </a:solidFill>
                  </a:tcPr>
                </a:tc>
                <a:tc>
                  <a:txBody>
                    <a:bodyPr wrap="square"/>
                    <a:lstStyle/>
                    <a:p>
                      <a:r>
                        <a:rPr sz="1412" b="0">
                          <a:solidFill>
                            <a:srgbClr val="33475B"/>
                          </a:solidFill>
                          <a:latin typeface="Aptos"/>
                        </a:rPr>
                        <a:t>Manual de la unidad</a:t>
                      </a:r>
                    </a:p>
                  </a:txBody>
                  <a:tcPr anchor="ctr" marL="146304" marR="146304">
                    <a:solidFill>
                      <a:srgbClr val="FFFFFF"/>
                    </a:solidFill>
                  </a:tcPr>
                </a:tc>
                <a:tc>
                  <a:txBody>
                    <a:bodyPr wrap="square"/>
                    <a:lstStyle/>
                    <a:p>
                      <a:r>
                        <a:rPr sz="1412" b="0">
                          <a:solidFill>
                            <a:srgbClr val="33475B"/>
                          </a:solidFill>
                          <a:latin typeface="Aptos"/>
                        </a:rPr>
                        <a:t>Pruebas 20 %</a:t>
                      </a:r>
                    </a:p>
                  </a:txBody>
                  <a:tcPr anchor="ctr" marL="146304" marR="146304">
                    <a:solidFill>
                      <a:srgbClr val="FFFFFF"/>
                    </a:solidFill>
                  </a:tcPr>
                </a:tc>
              </a:tr>
              <a:tr h="486054">
                <a:tc>
                  <a:txBody>
                    <a:bodyPr wrap="square"/>
                    <a:lstStyle/>
                    <a:p>
                      <a:r>
                        <a:rPr sz="1412" b="1">
                          <a:solidFill>
                            <a:srgbClr val="33475B"/>
                          </a:solidFill>
                          <a:latin typeface="Aptos"/>
                        </a:rPr>
                        <a:t>Docker y Kubernetes</a:t>
                      </a:r>
                    </a:p>
                  </a:txBody>
                  <a:tcPr anchor="ctr" marL="146304" marR="146304">
                    <a:solidFill>
                      <a:srgbClr val="F4F7FA"/>
                    </a:solidFill>
                  </a:tcPr>
                </a:tc>
                <a:tc>
                  <a:txBody>
                    <a:bodyPr wrap="square"/>
                    <a:lstStyle/>
                    <a:p>
                      <a:r>
                        <a:rPr sz="1412" b="0">
                          <a:solidFill>
                            <a:srgbClr val="33475B"/>
                          </a:solidFill>
                          <a:latin typeface="Aptos"/>
                        </a:rPr>
                        <a:t>Sección 2 y manual</a:t>
                      </a:r>
                    </a:p>
                  </a:txBody>
                  <a:tcPr anchor="ctr" marL="146304" marR="146304">
                    <a:solidFill>
                      <a:srgbClr val="F4F7FA"/>
                    </a:solidFill>
                  </a:tcPr>
                </a:tc>
                <a:tc>
                  <a:txBody>
                    <a:bodyPr wrap="square"/>
                    <a:lstStyle/>
                    <a:p>
                      <a:r>
                        <a:rPr sz="1412" b="0">
                          <a:solidFill>
                            <a:srgbClr val="33475B"/>
                          </a:solidFill>
                          <a:latin typeface="Aptos"/>
                        </a:rPr>
                        <a:t>Arquitectura 30 %</a:t>
                      </a:r>
                    </a:p>
                  </a:txBody>
                  <a:tcPr anchor="ctr" marL="146304" marR="146304">
                    <a:solidFill>
                      <a:srgbClr val="F4F7FA"/>
                    </a:solidFill>
                  </a:tcPr>
                </a:tc>
              </a:tr>
              <a:tr h="486054">
                <a:tc>
                  <a:txBody>
                    <a:bodyPr wrap="square"/>
                    <a:lstStyle/>
                    <a:p>
                      <a:r>
                        <a:rPr sz="1412" b="1">
                          <a:solidFill>
                            <a:srgbClr val="33475B"/>
                          </a:solidFill>
                          <a:latin typeface="Aptos"/>
                        </a:rPr>
                        <a:t>Escalado horizontal automático</a:t>
                      </a:r>
                    </a:p>
                  </a:txBody>
                  <a:tcPr anchor="ctr" marL="146304" marR="146304">
                    <a:solidFill>
                      <a:srgbClr val="FFFFFF"/>
                    </a:solidFill>
                  </a:tcPr>
                </a:tc>
                <a:tc>
                  <a:txBody>
                    <a:bodyPr wrap="square"/>
                    <a:lstStyle/>
                    <a:p>
                      <a:r>
                        <a:rPr sz="1412" b="0">
                          <a:solidFill>
                            <a:srgbClr val="33475B"/>
                          </a:solidFill>
                          <a:latin typeface="Aptos"/>
                        </a:rPr>
                        <a:t>Sección 2</a:t>
                      </a:r>
                    </a:p>
                  </a:txBody>
                  <a:tcPr anchor="ctr" marL="146304" marR="146304">
                    <a:solidFill>
                      <a:srgbClr val="FFFFFF"/>
                    </a:solidFill>
                  </a:tcPr>
                </a:tc>
                <a:tc>
                  <a:txBody>
                    <a:bodyPr wrap="square"/>
                    <a:lstStyle/>
                    <a:p>
                      <a:r>
                        <a:rPr sz="1412" b="0">
                          <a:solidFill>
                            <a:srgbClr val="33475B"/>
                          </a:solidFill>
                          <a:latin typeface="Aptos"/>
                        </a:rPr>
                        <a:t>Arquitectura 30 %</a:t>
                      </a:r>
                    </a:p>
                  </a:txBody>
                  <a:tcPr anchor="ctr" marL="146304" marR="146304">
                    <a:solidFill>
                      <a:srgbClr val="FFFFFF"/>
                    </a:solidFill>
                  </a:tcPr>
                </a:tc>
              </a:tr>
              <a:tr h="486054">
                <a:tc>
                  <a:txBody>
                    <a:bodyPr wrap="square"/>
                    <a:lstStyle/>
                    <a:p>
                      <a:r>
                        <a:rPr sz="1412" b="1">
                          <a:solidFill>
                            <a:srgbClr val="33475B"/>
                          </a:solidFill>
                          <a:latin typeface="Aptos"/>
                        </a:rPr>
                        <a:t>JWT + RBAC + AES-256</a:t>
                      </a:r>
                    </a:p>
                  </a:txBody>
                  <a:tcPr anchor="ctr" marL="146304" marR="146304">
                    <a:solidFill>
                      <a:srgbClr val="F4F7FA"/>
                    </a:solidFill>
                  </a:tcPr>
                </a:tc>
                <a:tc>
                  <a:txBody>
                    <a:bodyPr wrap="square"/>
                    <a:lstStyle/>
                    <a:p>
                      <a:r>
                        <a:rPr sz="1412" b="0">
                          <a:solidFill>
                            <a:srgbClr val="33475B"/>
                          </a:solidFill>
                          <a:latin typeface="Aptos"/>
                        </a:rPr>
                        <a:t>Sección 4</a:t>
                      </a:r>
                    </a:p>
                  </a:txBody>
                  <a:tcPr anchor="ctr" marL="146304" marR="146304">
                    <a:solidFill>
                      <a:srgbClr val="F4F7FA"/>
                    </a:solidFill>
                  </a:tcPr>
                </a:tc>
                <a:tc>
                  <a:txBody>
                    <a:bodyPr wrap="square"/>
                    <a:lstStyle/>
                    <a:p>
                      <a:r>
                        <a:rPr sz="1412" b="0">
                          <a:solidFill>
                            <a:srgbClr val="33475B"/>
                          </a:solidFill>
                          <a:latin typeface="Aptos"/>
                        </a:rPr>
                        <a:t>Seguridad 15 %</a:t>
                      </a:r>
                    </a:p>
                  </a:txBody>
                  <a:tcPr anchor="ctr" marL="146304" marR="146304">
                    <a:solidFill>
                      <a:srgbClr val="F4F7FA"/>
                    </a:solidFill>
                  </a:tcPr>
                </a:tc>
              </a:tr>
              <a:tr h="486054">
                <a:tc>
                  <a:txBody>
                    <a:bodyPr wrap="square"/>
                    <a:lstStyle/>
                    <a:p>
                      <a:r>
                        <a:rPr sz="1412" b="1">
                          <a:solidFill>
                            <a:srgbClr val="33475B"/>
                          </a:solidFill>
                          <a:latin typeface="Aptos"/>
                        </a:rPr>
                        <a:t>Circuit breaker y reintento</a:t>
                      </a:r>
                    </a:p>
                  </a:txBody>
                  <a:tcPr anchor="ctr" marL="146304" marR="146304">
                    <a:solidFill>
                      <a:srgbClr val="FFFFFF"/>
                    </a:solidFill>
                  </a:tcPr>
                </a:tc>
                <a:tc>
                  <a:txBody>
                    <a:bodyPr wrap="square"/>
                    <a:lstStyle/>
                    <a:p>
                      <a:r>
                        <a:rPr sz="1412" b="0">
                          <a:solidFill>
                            <a:srgbClr val="33475B"/>
                          </a:solidFill>
                          <a:latin typeface="Aptos"/>
                        </a:rPr>
                        <a:t>Sección 3</a:t>
                      </a:r>
                    </a:p>
                  </a:txBody>
                  <a:tcPr anchor="ctr" marL="146304" marR="146304">
                    <a:solidFill>
                      <a:srgbClr val="FFFFFF"/>
                    </a:solidFill>
                  </a:tcPr>
                </a:tc>
                <a:tc>
                  <a:txBody>
                    <a:bodyPr wrap="square"/>
                    <a:lstStyle/>
                    <a:p>
                      <a:r>
                        <a:rPr sz="1412" b="0">
                          <a:solidFill>
                            <a:srgbClr val="33475B"/>
                          </a:solidFill>
                          <a:latin typeface="Aptos"/>
                        </a:rPr>
                        <a:t>Seguridad 15 %</a:t>
                      </a:r>
                    </a:p>
                  </a:txBody>
                  <a:tcPr anchor="ctr" marL="146304" marR="146304">
                    <a:solidFill>
                      <a:srgbClr val="FFFFFF"/>
                    </a:solidFill>
                  </a:tcPr>
                </a:tc>
              </a:tr>
              <a:tr h="486054">
                <a:tc>
                  <a:txBody>
                    <a:bodyPr wrap="square"/>
                    <a:lstStyle/>
                    <a:p>
                      <a:r>
                        <a:rPr sz="1412" b="1">
                          <a:solidFill>
                            <a:srgbClr val="33475B"/>
                          </a:solidFill>
                          <a:latin typeface="Aptos"/>
                        </a:rPr>
                        <a:t>Monitoreo y observabilidad</a:t>
                      </a:r>
                    </a:p>
                  </a:txBody>
                  <a:tcPr anchor="ctr" marL="146304" marR="146304">
                    <a:solidFill>
                      <a:srgbClr val="F4F7FA"/>
                    </a:solidFill>
                  </a:tcPr>
                </a:tc>
                <a:tc>
                  <a:txBody>
                    <a:bodyPr wrap="square"/>
                    <a:lstStyle/>
                    <a:p>
                      <a:r>
                        <a:rPr sz="1412" b="0">
                          <a:solidFill>
                            <a:srgbClr val="33475B"/>
                          </a:solidFill>
                          <a:latin typeface="Aptos"/>
                        </a:rPr>
                        <a:t>Sección 5</a:t>
                      </a:r>
                    </a:p>
                  </a:txBody>
                  <a:tcPr anchor="ctr" marL="146304" marR="146304">
                    <a:solidFill>
                      <a:srgbClr val="F4F7FA"/>
                    </a:solidFill>
                  </a:tcPr>
                </a:tc>
                <a:tc>
                  <a:txBody>
                    <a:bodyPr wrap="square"/>
                    <a:lstStyle/>
                    <a:p>
                      <a:r>
                        <a:rPr sz="1412" b="0">
                          <a:solidFill>
                            <a:srgbClr val="33475B"/>
                          </a:solidFill>
                          <a:latin typeface="Aptos"/>
                        </a:rPr>
                        <a:t>Documentación 10 %</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34 / 35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NUBE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Tres ideas para llevarte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048256"/>
            <a:ext cx="3480816"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560320"/>
            <a:ext cx="3078480" cy="2395728"/>
          </a:xfrm>
          <a:prstGeom prst="rect">
            <a:avLst/>
          </a:prstGeom>
          <a:noFill/>
        </p:spPr>
        <p:txBody>
          <a:bodyPr wrap="square" anchor="t" lIns="0" rIns="0" tIns="0" bIns="0">
            <a:spAutoFit/>
          </a:bodyPr>
          <a:lstStyle/>
          <a:p>
            <a:pPr algn="l"/>
            <a:r>
              <a:rPr sz="2039" b="1">
                <a:solidFill>
                  <a:srgbClr val="0E2841"/>
                </a:solidFill>
                <a:latin typeface="Aptos Display"/>
              </a:rPr>
              <a:t>Sin estado o no escalas</a:t>
            </a:r>
          </a:p>
          <a:p>
            <a:pPr algn="l">
              <a:lnSpc>
                <a:spcPct val="120000"/>
              </a:lnSpc>
              <a:spcBef>
                <a:spcPts val="700"/>
              </a:spcBef>
            </a:pPr>
            <a:r>
              <a:rPr sz="1560" b="0">
                <a:solidFill>
                  <a:srgbClr val="33475B"/>
                </a:solidFill>
                <a:latin typeface="Aptos"/>
              </a:rPr>
              <a:t>Todo lo demás se deriva de ahí</a:t>
            </a:r>
          </a:p>
        </p:txBody>
      </p:sp>
      <p:sp>
        <p:nvSpPr>
          <p:cNvPr id="10" name="Rounded Rectangle 9"/>
          <p:cNvSpPr/>
          <p:nvPr/>
        </p:nvSpPr>
        <p:spPr>
          <a:xfrm>
            <a:off x="4358640" y="2048256"/>
            <a:ext cx="3480816"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59808" y="2304288"/>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9808" y="2560320"/>
            <a:ext cx="3078480" cy="2395728"/>
          </a:xfrm>
          <a:prstGeom prst="rect">
            <a:avLst/>
          </a:prstGeom>
          <a:noFill/>
        </p:spPr>
        <p:txBody>
          <a:bodyPr wrap="square" anchor="t" lIns="0" rIns="0" tIns="0" bIns="0">
            <a:spAutoFit/>
          </a:bodyPr>
          <a:lstStyle/>
          <a:p>
            <a:pPr algn="l"/>
            <a:r>
              <a:rPr sz="2039" b="1">
                <a:solidFill>
                  <a:srgbClr val="0E2841"/>
                </a:solidFill>
                <a:latin typeface="Aptos Display"/>
              </a:rPr>
              <a:t>Decide qué pasa al fallar</a:t>
            </a:r>
          </a:p>
          <a:p>
            <a:pPr algn="l">
              <a:lnSpc>
                <a:spcPct val="120000"/>
              </a:lnSpc>
              <a:spcBef>
                <a:spcPts val="700"/>
              </a:spcBef>
            </a:pPr>
            <a:r>
              <a:rPr sz="1560" b="0">
                <a:solidFill>
                  <a:srgbClr val="33475B"/>
                </a:solidFill>
                <a:latin typeface="Aptos"/>
              </a:rPr>
              <a:t>El fallback es una decisión de negocio</a:t>
            </a:r>
          </a:p>
        </p:txBody>
      </p:sp>
      <p:sp>
        <p:nvSpPr>
          <p:cNvPr id="13" name="Rounded Rectangle 12"/>
          <p:cNvSpPr/>
          <p:nvPr/>
        </p:nvSpPr>
        <p:spPr>
          <a:xfrm>
            <a:off x="8150352" y="2048256"/>
            <a:ext cx="3480816"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51520" y="2304288"/>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1520" y="2560320"/>
            <a:ext cx="3078480" cy="2395728"/>
          </a:xfrm>
          <a:prstGeom prst="rect">
            <a:avLst/>
          </a:prstGeom>
          <a:noFill/>
        </p:spPr>
        <p:txBody>
          <a:bodyPr wrap="square" anchor="t" lIns="0" rIns="0" tIns="0" bIns="0">
            <a:spAutoFit/>
          </a:bodyPr>
          <a:lstStyle/>
          <a:p>
            <a:pPr algn="l"/>
            <a:r>
              <a:rPr sz="2039" b="1">
                <a:solidFill>
                  <a:srgbClr val="0E2841"/>
                </a:solidFill>
                <a:latin typeface="Aptos Display"/>
              </a:rPr>
              <a:t>Los números mandan</a:t>
            </a:r>
          </a:p>
          <a:p>
            <a:pPr algn="l">
              <a:lnSpc>
                <a:spcPct val="120000"/>
              </a:lnSpc>
              <a:spcBef>
                <a:spcPts val="700"/>
              </a:spcBef>
            </a:pPr>
            <a:r>
              <a:rPr sz="1560" b="0">
                <a:solidFill>
                  <a:srgbClr val="33475B"/>
                </a:solidFill>
                <a:latin typeface="Aptos"/>
              </a:rPr>
              <a:t>99,9 % descarta arquitecturas por aritmética</a:t>
            </a:r>
          </a:p>
        </p:txBody>
      </p:sp>
      <p:sp>
        <p:nvSpPr>
          <p:cNvPr id="16" name="TextBox 1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3</a:t>
            </a:r>
          </a:p>
        </p:txBody>
      </p:sp>
      <p:sp>
        <p:nvSpPr>
          <p:cNvPr id="17" name="TextBox 1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35 / 35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Institucional-con-advertencia-Vigilado-Mineducacion-Blanco.png"/>
          <p:cNvPicPr>
            <a:picLocks noChangeAspect="1"/>
          </p:cNvPicPr>
          <p:nvPr/>
        </p:nvPicPr>
        <p:blipFill>
          <a:blip r:embed="rId2"/>
          <a:stretch>
            <a:fillRect/>
          </a:stretch>
        </p:blipFill>
        <p:spPr>
          <a:xfrm>
            <a:off x="5144780" y="914400"/>
            <a:ext cx="1902439" cy="1737360"/>
          </a:xfrm>
          <a:prstGeom prst="rect">
            <a:avLst/>
          </a:prstGeom>
        </p:spPr>
      </p:pic>
      <p:sp>
        <p:nvSpPr>
          <p:cNvPr id="4" name="TextBox 3"/>
          <p:cNvSpPr txBox="1"/>
          <p:nvPr/>
        </p:nvSpPr>
        <p:spPr>
          <a:xfrm>
            <a:off x="457200" y="3200400"/>
            <a:ext cx="11274552" cy="1097280"/>
          </a:xfrm>
          <a:prstGeom prst="rect">
            <a:avLst/>
          </a:prstGeom>
          <a:noFill/>
        </p:spPr>
        <p:txBody>
          <a:bodyPr wrap="square" anchor="t" lIns="0" rIns="0" tIns="0" bIns="0">
            <a:spAutoFit/>
          </a:bodyPr>
          <a:lstStyle/>
          <a:p>
            <a:pPr algn="ctr"/>
            <a:r>
              <a:rPr sz="5400" b="1">
                <a:solidFill>
                  <a:srgbClr val="FFFFFF"/>
                </a:solidFill>
                <a:latin typeface="Aptos Display"/>
              </a:rPr>
              <a:t>¿Preguntas?</a:t>
            </a:r>
          </a:p>
        </p:txBody>
      </p:sp>
      <p:sp>
        <p:nvSpPr>
          <p:cNvPr id="5" name="TextBox 4"/>
          <p:cNvSpPr txBox="1"/>
          <p:nvPr/>
        </p:nvSpPr>
        <p:spPr>
          <a:xfrm>
            <a:off x="457200" y="4709160"/>
            <a:ext cx="11274552" cy="457200"/>
          </a:xfrm>
          <a:prstGeom prst="rect">
            <a:avLst/>
          </a:prstGeom>
          <a:noFill/>
        </p:spPr>
        <p:txBody>
          <a:bodyPr wrap="square" anchor="t" lIns="0" rIns="0" tIns="0" bIns="0">
            <a:spAutoFit/>
          </a:bodyPr>
          <a:lstStyle/>
          <a:p>
            <a:pPr algn="ctr"/>
            <a:r>
              <a:rPr sz="1400" b="0">
                <a:solidFill>
                  <a:srgbClr val="E8E8E8"/>
                </a:solidFill>
                <a:latin typeface="Aptos"/>
              </a:rPr>
              <a:t>Jesús Ariel González Bonilla  ·  ariel5253@hotmail.com</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7b9d0d2-0928-4bc7-b1e7-d815d07dd502" xsi:nil="true"/>
    <lcf76f155ced4ddcb4097134ff3c332f xmlns="3b21ab7c-7e7a-493b-a43f-a219844d5b04">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76AC4B3079F3F14986B23BC4E8B1044F" ma:contentTypeVersion="16" ma:contentTypeDescription="Crear nuevo documento." ma:contentTypeScope="" ma:versionID="04f898694b3caf94c38805e82f5c0fb9">
  <xsd:schema xmlns:xsd="http://www.w3.org/2001/XMLSchema" xmlns:xs="http://www.w3.org/2001/XMLSchema" xmlns:p="http://schemas.microsoft.com/office/2006/metadata/properties" xmlns:ns2="3b21ab7c-7e7a-493b-a43f-a219844d5b04" xmlns:ns3="c7b9d0d2-0928-4bc7-b1e7-d815d07dd502" targetNamespace="http://schemas.microsoft.com/office/2006/metadata/properties" ma:root="true" ma:fieldsID="1d46ddd55854086af038f8f8e7145c9b" ns2:_="" ns3:_="">
    <xsd:import namespace="3b21ab7c-7e7a-493b-a43f-a219844d5b04"/>
    <xsd:import namespace="c7b9d0d2-0928-4bc7-b1e7-d815d07dd50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21ab7c-7e7a-493b-a43f-a219844d5b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c63f703e-4260-42db-90e1-1bf1f8b4f72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7b9d0d2-0928-4bc7-b1e7-d815d07dd502"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TaxCatchAll" ma:index="14" nillable="true" ma:displayName="Taxonomy Catch All Column" ma:hidden="true" ma:list="{22966853-71d8-4c3c-a2a1-eb1a25e46692}" ma:internalName="TaxCatchAll" ma:showField="CatchAllData" ma:web="c7b9d0d2-0928-4bc7-b1e7-d815d07dd50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55C560-F379-4979-BDAB-85ADD41BF196}">
  <ds:schemaRefs>
    <ds:schemaRef ds:uri="http://schemas.microsoft.com/office/2006/metadata/properties"/>
    <ds:schemaRef ds:uri="http://schemas.microsoft.com/office/infopath/2007/PartnerControls"/>
    <ds:schemaRef ds:uri="c7b9d0d2-0928-4bc7-b1e7-d815d07dd502"/>
    <ds:schemaRef ds:uri="3b21ab7c-7e7a-493b-a43f-a219844d5b04"/>
  </ds:schemaRefs>
</ds:datastoreItem>
</file>

<file path=customXml/itemProps2.xml><?xml version="1.0" encoding="utf-8"?>
<ds:datastoreItem xmlns:ds="http://schemas.openxmlformats.org/officeDocument/2006/customXml" ds:itemID="{5203D28F-282C-474C-8EAC-7F31992D2966}">
  <ds:schemaRefs>
    <ds:schemaRef ds:uri="http://schemas.microsoft.com/sharepoint/v3/contenttype/forms"/>
  </ds:schemaRefs>
</ds:datastoreItem>
</file>

<file path=customXml/itemProps3.xml><?xml version="1.0" encoding="utf-8"?>
<ds:datastoreItem xmlns:ds="http://schemas.openxmlformats.org/officeDocument/2006/customXml" ds:itemID="{10F9C096-F130-4ECE-8018-26CD4E103B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21ab7c-7e7a-493b-a43f-a219844d5b04"/>
    <ds:schemaRef ds:uri="c7b9d0d2-0928-4bc7-b1e7-d815d07dd5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14</TotalTime>
  <Words>0</Words>
  <Application>Microsoft Office PowerPoint</Application>
  <PresentationFormat>Panorámica</PresentationFormat>
  <Paragraphs>0</Paragraphs>
  <Slides>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vt:i4>
      </vt:variant>
    </vt:vector>
  </HeadingPairs>
  <TitlesOfParts>
    <vt:vector size="7" baseType="lpstr">
      <vt:lpstr>Aptos</vt:lpstr>
      <vt:lpstr>Aptos Display</vt:lpstr>
      <vt:lpstr>Arial</vt:lpstr>
      <vt:lpstr>Tema de Office</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acomunicaciones</dc:creator>
  <cp:lastModifiedBy>Oficina de Comunicaciones</cp:lastModifiedBy>
  <cp:revision>6</cp:revision>
  <dcterms:created xsi:type="dcterms:W3CDTF">2026-01-26T14:49:45Z</dcterms:created>
  <dcterms:modified xsi:type="dcterms:W3CDTF">2026-02-13T20:05:23Z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0x01010076AC4B3079F3F14986B23BC4E8B1044F</vt:lpwstr>
  </property>
</Properties>
</file>